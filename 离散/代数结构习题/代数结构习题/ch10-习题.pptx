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handoutMasterIdLst>
    <p:handoutMasterId r:id="rId35"/>
  </p:handoutMasterIdLst>
  <p:sldIdLst>
    <p:sldId id="315" r:id="rId2"/>
    <p:sldId id="316" r:id="rId3"/>
    <p:sldId id="583" r:id="rId4"/>
    <p:sldId id="424" r:id="rId5"/>
    <p:sldId id="576" r:id="rId6"/>
    <p:sldId id="577" r:id="rId7"/>
    <p:sldId id="578" r:id="rId8"/>
    <p:sldId id="426" r:id="rId9"/>
    <p:sldId id="579" r:id="rId10"/>
    <p:sldId id="428" r:id="rId11"/>
    <p:sldId id="544" r:id="rId12"/>
    <p:sldId id="538" r:id="rId13"/>
    <p:sldId id="581" r:id="rId14"/>
    <p:sldId id="539" r:id="rId15"/>
    <p:sldId id="580" r:id="rId16"/>
    <p:sldId id="430" r:id="rId17"/>
    <p:sldId id="433" r:id="rId18"/>
    <p:sldId id="434" r:id="rId19"/>
    <p:sldId id="582" r:id="rId20"/>
    <p:sldId id="585" r:id="rId21"/>
    <p:sldId id="586" r:id="rId22"/>
    <p:sldId id="540" r:id="rId23"/>
    <p:sldId id="541" r:id="rId24"/>
    <p:sldId id="545" r:id="rId25"/>
    <p:sldId id="568" r:id="rId26"/>
    <p:sldId id="569" r:id="rId27"/>
    <p:sldId id="546" r:id="rId28"/>
    <p:sldId id="587" r:id="rId29"/>
    <p:sldId id="588" r:id="rId30"/>
    <p:sldId id="589" r:id="rId31"/>
    <p:sldId id="570" r:id="rId32"/>
    <p:sldId id="571" r:id="rId3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AF1D1D"/>
    <a:srgbClr val="99FF33"/>
    <a:srgbClr val="CC0000"/>
    <a:srgbClr val="D72323"/>
    <a:srgbClr val="CC7900"/>
    <a:srgbClr val="FF0000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816" autoAdjust="0"/>
    <p:restoredTop sz="67674" autoAdjust="0"/>
  </p:normalViewPr>
  <p:slideViewPr>
    <p:cSldViewPr>
      <p:cViewPr varScale="1">
        <p:scale>
          <a:sx n="46" d="100"/>
          <a:sy n="46" d="100"/>
        </p:scale>
        <p:origin x="1152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2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E903AF2-2AD0-41D9-8935-E661315C6E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BBE0771-4452-41CA-A700-9A3176AA7E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95A4DF39-DBDA-4457-89A0-D0D2DF3C465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89129CA7-18D0-4494-AFAF-460DB1570FB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732E99A-22E9-44F4-9A8D-1F1533542D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ABD76BF-CAAC-44F9-A9D2-E29EE4DA50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C9C22F-BA33-43A6-966B-7DD1299023C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A9ECA0A-F28A-4976-AD6B-D605D4096E4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C6FB3B3-F0F3-4046-BE3A-360272D7E07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1833BC0-DCC9-4EB1-AB7E-6FADAA9908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F5A42A3-5C49-4B02-B0D3-FD5EC837E2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505D7D-FBDE-4A76-B27A-968B46D7A0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5E8AED8E-5DAC-4D59-A2F8-1B8E0DAE9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928800A-4876-430C-85F1-7E30EA817193}" type="slidenum">
              <a:rPr lang="en-US" altLang="zh-CN" sz="1200" smtClean="0"/>
              <a:pPr>
                <a:spcBef>
                  <a:spcPct val="0"/>
                </a:spcBef>
              </a:pPr>
              <a:t>1</a:t>
            </a:fld>
            <a:endParaRPr lang="en-US" altLang="zh-CN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FC67BF68-F5A9-403D-8C85-D567FBCDF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FAE5C12-4454-4A45-8815-7B7004136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4BEC403A-ACFE-4FE4-989F-1CBEA7FA8B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A4496A-697C-48B2-A0F7-D63A725FEBEC}" type="slidenum">
              <a:rPr lang="en-US" altLang="zh-CN" sz="1200" smtClean="0"/>
              <a:pPr>
                <a:spcBef>
                  <a:spcPct val="0"/>
                </a:spcBef>
              </a:pPr>
              <a:t>2</a:t>
            </a:fld>
            <a:endParaRPr lang="en-US" altLang="zh-CN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AF68E55-BD0B-45B9-807F-53C9B1C7BB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FA319CF-88BA-41F2-BAA0-CEAFD81DB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62D18FB3-30D1-4B1D-BBB0-163C23A7AA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5CE2D720-34F4-4CCD-B8DC-39F1A4C6A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0B0ACB84-49F6-4107-BB1B-ED70ADB47A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B4DF01A-FC8A-4822-8087-3ECCD8B46ADD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4832C12A-7700-4B26-9131-D6C832BB35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F1C4A907-70AF-4C74-8A7A-1C372118B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33DEA4E2-BC60-470E-91E3-AA2ECDB83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2FAB35-ED12-4A8F-AEA1-476D7A8CC3FD}" type="slidenum">
              <a:rPr lang="en-US" altLang="zh-CN" smtClean="0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BAB1A278-665E-494A-9762-7F1462C1CD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F6B94F19-04A4-4B38-9496-35C1759AC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i="1">
                <a:latin typeface="Arial" panose="020B0604020202020204" pitchFamily="34" charset="0"/>
              </a:rPr>
              <a:t>V</a:t>
            </a:r>
            <a:r>
              <a:rPr lang="en-US" altLang="zh-CN" baseline="-25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Arial" panose="020B0604020202020204" pitchFamily="34" charset="0"/>
              </a:rPr>
              <a:t>= &lt;Z, +&gt;</a:t>
            </a:r>
            <a:r>
              <a:rPr lang="zh-CN" altLang="en-US">
                <a:latin typeface="Arial" panose="020B0604020202020204" pitchFamily="34" charset="0"/>
              </a:rPr>
              <a:t>的单位元是</a:t>
            </a:r>
            <a:r>
              <a:rPr lang="en-US" altLang="zh-CN">
                <a:latin typeface="Arial" panose="020B0604020202020204" pitchFamily="34" charset="0"/>
              </a:rPr>
              <a:t>0, </a:t>
            </a:r>
            <a:r>
              <a:rPr lang="en-US" altLang="zh-CN" i="1">
                <a:latin typeface="Arial" panose="020B0604020202020204" pitchFamily="34" charset="0"/>
              </a:rPr>
              <a:t>V</a:t>
            </a:r>
            <a:r>
              <a:rPr lang="en-US" altLang="zh-CN" baseline="-25000"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 = &lt;Z, 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>
                <a:latin typeface="Arial" panose="020B0604020202020204" pitchFamily="34" charset="0"/>
              </a:rPr>
              <a:t>&gt;</a:t>
            </a:r>
            <a:r>
              <a:rPr lang="zh-CN" altLang="en-US">
                <a:latin typeface="Arial" panose="020B0604020202020204" pitchFamily="34" charset="0"/>
              </a:rPr>
              <a:t>的单位元是</a:t>
            </a:r>
            <a:r>
              <a:rPr lang="en-US" altLang="zh-CN">
                <a:latin typeface="Arial" panose="020B0604020202020204" pitchFamily="34" charset="0"/>
              </a:rPr>
              <a:t>1</a:t>
            </a:r>
          </a:p>
          <a:p>
            <a:r>
              <a:rPr lang="en-US" altLang="zh-CN">
                <a:latin typeface="Arial" panose="020B0604020202020204" pitchFamily="34" charset="0"/>
              </a:rPr>
              <a:t>(1) 1</a:t>
            </a:r>
            <a:r>
              <a:rPr lang="zh-CN" altLang="en-US">
                <a:latin typeface="Arial" panose="020B0604020202020204" pitchFamily="34" charset="0"/>
              </a:rPr>
              <a:t>不属于</a:t>
            </a:r>
            <a:r>
              <a:rPr lang="en-US" altLang="zh-CN">
                <a:latin typeface="Arial" panose="020B0604020202020204" pitchFamily="34" charset="0"/>
              </a:rPr>
              <a:t>S={……-4,-2,0,2,4,……}</a:t>
            </a:r>
          </a:p>
          <a:p>
            <a:r>
              <a:rPr lang="en-US" altLang="zh-CN">
                <a:latin typeface="Arial" panose="020B0604020202020204" pitchFamily="34" charset="0"/>
              </a:rPr>
              <a:t>(2) S={……-3,-1,1,3,……} </a:t>
            </a:r>
            <a:r>
              <a:rPr lang="zh-CN" altLang="en-US">
                <a:latin typeface="Arial" panose="020B0604020202020204" pitchFamily="34" charset="0"/>
              </a:rPr>
              <a:t>关于加法不封闭 且无单位元</a:t>
            </a:r>
            <a:r>
              <a:rPr lang="en-US" altLang="zh-CN">
                <a:latin typeface="Arial" panose="020B0604020202020204" pitchFamily="34" charset="0"/>
              </a:rPr>
              <a:t>0</a:t>
            </a:r>
          </a:p>
          <a:p>
            <a:r>
              <a:rPr lang="en-US" altLang="zh-CN">
                <a:latin typeface="Arial" panose="020B0604020202020204" pitchFamily="34" charset="0"/>
              </a:rPr>
              <a:t>(3) S</a:t>
            </a:r>
            <a:r>
              <a:rPr lang="zh-CN" altLang="en-US">
                <a:latin typeface="Arial" panose="020B0604020202020204" pitchFamily="34" charset="0"/>
              </a:rPr>
              <a:t>关于加法不封闭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8514BEFD-E703-48F2-B989-035716A5BB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B67362A-68ED-496D-91E9-0B691F897EFD}" type="slidenum">
              <a:rPr lang="en-US" altLang="zh-CN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0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群中元素的阶</a:t>
            </a:r>
            <a:r>
              <a:rPr lang="en-US" altLang="zh-CN" sz="20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-</a:t>
            </a:r>
            <a:r>
              <a:rPr lang="zh-CN" altLang="en-US" sz="2000" b="0" i="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百度文库有详细解释</a:t>
            </a:r>
            <a:endParaRPr lang="en-US" altLang="zh-CN" sz="2000" b="0" i="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zh-CN" altLang="en-US" dirty="0"/>
              <a:t>无限群中元素的阶可能无限</a:t>
            </a:r>
            <a:r>
              <a:rPr lang="en-US" altLang="zh-CN" dirty="0"/>
              <a:t>,</a:t>
            </a:r>
            <a:r>
              <a:rPr lang="zh-CN" altLang="en-US" dirty="0"/>
              <a:t>也可能有限</a:t>
            </a:r>
            <a:r>
              <a:rPr lang="en-US" altLang="zh-CN" dirty="0"/>
              <a:t>, </a:t>
            </a:r>
            <a:r>
              <a:rPr lang="zh-CN" altLang="en-US" dirty="0"/>
              <a:t>甚至可能都有限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有限群中元素的阶都有限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505D7D-FBDE-4A76-B27A-968B46D7A0F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5145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7985ACC7-94AB-4252-9920-9ECDDFD069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6EFBF698-C406-4AC4-9155-68DF691799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9C56007D-E6FE-41EF-8300-5AADC63321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431D286-238B-4A30-88BC-C1337A472F1C}" type="slidenum">
              <a:rPr lang="en-US" altLang="zh-CN" smtClean="0">
                <a:latin typeface="Arial" panose="020B0604020202020204" pitchFamily="34" charset="0"/>
              </a:rPr>
              <a:pPr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2090767C-46A9-4297-8AFF-9F5DD1D50F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595D6A3C-8353-4938-B414-83894FFD88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类似课后作业</a:t>
            </a:r>
            <a:r>
              <a:rPr lang="en-US" altLang="zh-CN">
                <a:latin typeface="Arial" panose="020B0604020202020204" pitchFamily="34" charset="0"/>
              </a:rPr>
              <a:t>21</a:t>
            </a:r>
            <a:r>
              <a:rPr lang="zh-CN" altLang="en-US">
                <a:latin typeface="Arial" panose="020B0604020202020204" pitchFamily="34" charset="0"/>
              </a:rPr>
              <a:t>，但是不如课后作业好</a:t>
            </a: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5B848A04-ACDE-42B6-A99C-3C0732539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684B355-2DDE-4483-A2AE-9E40C08F8243}" type="slidenum">
              <a:rPr lang="en-US" altLang="zh-CN" smtClean="0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A90E2C3D-08A4-48A9-B754-CB435C0CEB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4A3CDE0E-71CE-4110-A438-D11976212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9289F95A-2906-4A01-BD21-5458B8F29C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5C0501B-12EF-4BED-BB70-78E2E274BC9C}" type="slidenum">
              <a:rPr lang="en-US" altLang="zh-CN" smtClean="0">
                <a:latin typeface="Arial" panose="020B0604020202020204" pitchFamily="34" charset="0"/>
              </a:rPr>
              <a:pPr/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803F3FC0-7AE9-495C-97A3-EDAE4596A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4ACCAF7B-0FD0-4BD3-B670-0022E5DCC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A664E456-0D05-4E96-93E3-53C4BBD80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ADC3D85-C9F0-45F0-AF17-F4F682F939E6}" type="slidenum">
              <a:rPr lang="en-US" altLang="zh-CN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92B18905-9233-460A-985D-9B2C97070A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6921B092-4AB1-42CF-981B-2AD2823F0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A8C38761-DA2F-4009-A934-7B90D77208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91B4797-21F3-4178-8809-C004686C23E1}" type="slidenum">
              <a:rPr lang="en-US" altLang="zh-CN" smtClean="0">
                <a:latin typeface="Arial" panose="020B0604020202020204" pitchFamily="34" charset="0"/>
              </a:rPr>
              <a:pPr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根据拉格朗日定理，子群的阶只可能是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</a:p>
          <a:p>
            <a:r>
              <a:rPr lang="zh-CN" altLang="en-US" dirty="0"/>
              <a:t>又因为群中元素的阶是群阶的因子，故各子群中元素的选取可以据此选取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505D7D-FBDE-4A76-B27A-968B46D7A0F2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0921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F6D0D384-46C4-4DC6-9937-A2A6FD2826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19797ED5-EB73-463F-98FA-7CC3872F27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Lagrange</a:t>
            </a:r>
            <a:r>
              <a:rPr lang="zh-CN" altLang="en-US">
                <a:latin typeface="Arial" panose="020B0604020202020204" pitchFamily="34" charset="0"/>
              </a:rPr>
              <a:t>定理的推论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：</a:t>
            </a:r>
            <a:r>
              <a:rPr lang="en-US" altLang="zh-CN" i="1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中元素的阶只能是</a:t>
            </a:r>
            <a:r>
              <a:rPr lang="en-US" altLang="zh-CN">
                <a:latin typeface="Arial" panose="020B0604020202020204" pitchFamily="34" charset="0"/>
              </a:rPr>
              <a:t>n</a:t>
            </a:r>
            <a:r>
              <a:rPr lang="zh-CN" altLang="en-US">
                <a:latin typeface="Arial" panose="020B0604020202020204" pitchFamily="34" charset="0"/>
              </a:rPr>
              <a:t>的因子</a:t>
            </a:r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832F0F15-7491-4516-B8F3-34053ADBA1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92EEF86-0DDA-4F95-A032-E94C1F73BA6A}" type="slidenum">
              <a:rPr lang="en-US" altLang="zh-CN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53A770CD-3E48-40BB-925B-E729234CF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568C06BF-FBFC-45B5-B38B-62EBC9220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</a:rPr>
              <a:t>*</a:t>
            </a:r>
            <a:r>
              <a:rPr lang="en-US" altLang="zh-CN" i="1">
                <a:latin typeface="Arial" panose="020B0604020202020204" pitchFamily="34" charset="0"/>
              </a:rPr>
              <a:t>b=e</a:t>
            </a:r>
            <a:r>
              <a:rPr lang="zh-CN" altLang="en-US" i="1">
                <a:latin typeface="Arial" panose="020B0604020202020204" pitchFamily="34" charset="0"/>
              </a:rPr>
              <a:t>，又因为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en-US" altLang="zh-CN" baseline="30000">
                <a:latin typeface="Arial" panose="020B0604020202020204" pitchFamily="34" charset="0"/>
              </a:rPr>
              <a:t>2 </a:t>
            </a:r>
            <a:r>
              <a:rPr lang="en-US" altLang="zh-CN">
                <a:latin typeface="Arial" panose="020B0604020202020204" pitchFamily="34" charset="0"/>
              </a:rPr>
              <a:t>= </a:t>
            </a:r>
            <a:r>
              <a:rPr lang="en-US" altLang="zh-CN" i="1">
                <a:latin typeface="Arial" panose="020B0604020202020204" pitchFamily="34" charset="0"/>
              </a:rPr>
              <a:t>e </a:t>
            </a:r>
            <a:r>
              <a:rPr lang="zh-CN" altLang="en-US" i="1">
                <a:latin typeface="Arial" panose="020B0604020202020204" pitchFamily="34" charset="0"/>
              </a:rPr>
              <a:t>，故</a:t>
            </a:r>
            <a:r>
              <a:rPr lang="en-US" altLang="zh-CN" i="1">
                <a:latin typeface="Arial" panose="020B0604020202020204" pitchFamily="34" charset="0"/>
              </a:rPr>
              <a:t>a=b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557E65DE-0790-4D4B-8B49-27EE8BE74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7494E51-3A43-4C18-81FD-41CF8C8EF4D2}" type="slidenum">
              <a:rPr lang="en-US" altLang="zh-CN" smtClean="0">
                <a:latin typeface="Arial" panose="020B0604020202020204" pitchFamily="34" charset="0"/>
              </a:rPr>
              <a:pPr/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E7E755AC-3A5A-4415-81BA-C4E321AE68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3FF533A9-C020-4BA1-9931-B9667EA6B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</a:rPr>
              <a:t>10.14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,+,·&gt;</a:t>
            </a:r>
            <a:r>
              <a:rPr lang="zh-CN" altLang="en-US">
                <a:latin typeface="Arial" panose="020B0604020202020204" pitchFamily="34" charset="0"/>
              </a:rPr>
              <a:t>是代数系统，</a:t>
            </a:r>
            <a:r>
              <a:rPr lang="en-US" altLang="zh-CN">
                <a:latin typeface="Arial" panose="020B0604020202020204" pitchFamily="34" charset="0"/>
              </a:rPr>
              <a:t>+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·</a:t>
            </a:r>
            <a:r>
              <a:rPr lang="zh-CN" altLang="en-US">
                <a:latin typeface="Arial" panose="020B0604020202020204" pitchFamily="34" charset="0"/>
              </a:rPr>
              <a:t>是二元运算</a:t>
            </a:r>
            <a:r>
              <a:rPr lang="en-US" altLang="zh-CN">
                <a:latin typeface="Arial" panose="020B0604020202020204" pitchFamily="34" charset="0"/>
              </a:rPr>
              <a:t>. </a:t>
            </a:r>
            <a:r>
              <a:rPr lang="zh-CN" altLang="en-US">
                <a:latin typeface="Arial" panose="020B0604020202020204" pitchFamily="34" charset="0"/>
              </a:rPr>
              <a:t>如果满足以下条件</a:t>
            </a:r>
            <a:r>
              <a:rPr lang="en-US" altLang="zh-CN">
                <a:latin typeface="Arial" panose="020B0604020202020204" pitchFamily="34" charset="0"/>
              </a:rPr>
              <a:t>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(1) 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,+&gt;</a:t>
            </a:r>
            <a:r>
              <a:rPr lang="zh-CN" altLang="en-US">
                <a:latin typeface="Arial" panose="020B0604020202020204" pitchFamily="34" charset="0"/>
              </a:rPr>
              <a:t>构成交换群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(2) 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,·&gt;</a:t>
            </a:r>
            <a:r>
              <a:rPr lang="zh-CN" altLang="en-US">
                <a:latin typeface="Arial" panose="020B0604020202020204" pitchFamily="34" charset="0"/>
              </a:rPr>
              <a:t>构成半群（</a:t>
            </a:r>
            <a:r>
              <a:rPr lang="zh-CN" altLang="en-US">
                <a:solidFill>
                  <a:srgbClr val="00B050"/>
                </a:solidFill>
                <a:latin typeface="Arial" panose="020B0604020202020204" pitchFamily="34" charset="0"/>
              </a:rPr>
              <a:t>可结合性</a:t>
            </a:r>
            <a:r>
              <a:rPr lang="zh-CN" altLang="en-US">
                <a:latin typeface="Arial" panose="020B0604020202020204" pitchFamily="34" charset="0"/>
              </a:rPr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(3) · </a:t>
            </a:r>
            <a:r>
              <a:rPr lang="zh-CN" altLang="en-US">
                <a:latin typeface="Arial" panose="020B0604020202020204" pitchFamily="34" charset="0"/>
              </a:rPr>
              <a:t>运算关于</a:t>
            </a:r>
            <a:r>
              <a:rPr lang="en-US" altLang="zh-CN">
                <a:latin typeface="Arial" panose="020B0604020202020204" pitchFamily="34" charset="0"/>
              </a:rPr>
              <a:t>+</a:t>
            </a:r>
            <a:r>
              <a:rPr lang="zh-CN" altLang="en-US">
                <a:latin typeface="Arial" panose="020B0604020202020204" pitchFamily="34" charset="0"/>
              </a:rPr>
              <a:t>运算适合分配律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Arial" panose="020B0604020202020204" pitchFamily="34" charset="0"/>
              </a:rPr>
              <a:t>则称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,+,·&gt;</a:t>
            </a:r>
            <a:r>
              <a:rPr lang="zh-CN" altLang="en-US">
                <a:latin typeface="Arial" panose="020B0604020202020204" pitchFamily="34" charset="0"/>
              </a:rPr>
              <a:t>是一个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环</a:t>
            </a:r>
            <a:r>
              <a:rPr lang="en-US" altLang="zh-CN">
                <a:latin typeface="Arial" panose="020B0604020202020204" pitchFamily="34" charset="0"/>
              </a:rPr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(4) </a:t>
            </a:r>
            <a:r>
              <a:rPr lang="zh-CN" altLang="en-US">
                <a:latin typeface="Arial" panose="020B0604020202020204" pitchFamily="34" charset="0"/>
              </a:rPr>
              <a:t>若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既是交换环、含幺环、也是无零因子环，则称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整环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(5)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是整环，且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中至少含有两个元素</a:t>
            </a:r>
            <a:r>
              <a:rPr lang="en-US" altLang="zh-CN">
                <a:latin typeface="Arial" panose="020B0604020202020204" pitchFamily="34" charset="0"/>
              </a:rPr>
              <a:t>. </a:t>
            </a:r>
            <a:r>
              <a:rPr lang="zh-CN" altLang="en-US">
                <a:latin typeface="Arial" panose="020B0604020202020204" pitchFamily="34" charset="0"/>
              </a:rPr>
              <a:t>若</a:t>
            </a:r>
            <a:r>
              <a:rPr lang="zh-CN" altLang="en-US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*</a:t>
            </a:r>
            <a:r>
              <a:rPr lang="zh-CN" altLang="en-US">
                <a:latin typeface="Arial" panose="020B0604020202020204" pitchFamily="34" charset="0"/>
              </a:rPr>
              <a:t>，其中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*=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Arial" panose="020B0604020202020204" pitchFamily="34" charset="0"/>
              </a:rPr>
              <a:t>{0}</a:t>
            </a:r>
            <a:r>
              <a:rPr lang="zh-CN" altLang="en-US">
                <a:latin typeface="Arial" panose="020B0604020202020204" pitchFamily="34" charset="0"/>
              </a:rPr>
              <a:t>，都有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zh-CN" altLang="en-US" baseline="30000">
                <a:latin typeface="Arial" panose="020B0604020202020204" pitchFamily="34" charset="0"/>
              </a:rPr>
              <a:t>－</a:t>
            </a:r>
            <a:r>
              <a:rPr lang="en-US" altLang="zh-CN" baseline="30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，则称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域</a:t>
            </a:r>
            <a:r>
              <a:rPr lang="en-US" altLang="zh-CN">
                <a:latin typeface="Arial" panose="020B0604020202020204" pitchFamily="34" charset="0"/>
              </a:rPr>
              <a:t>.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D469B236-0F6A-4244-AB6B-8478C19B8E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1EC4A5E-6E3E-4910-B61D-3886196EF803}" type="slidenum">
              <a:rPr lang="en-US" altLang="zh-CN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88A27553-8A2C-4A39-A0A0-CE197884E7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0BD3FE5A-6A5D-4601-B83C-CF7D66FC4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</a:rPr>
              <a:t>10.14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,+,·&gt;</a:t>
            </a:r>
            <a:r>
              <a:rPr lang="zh-CN" altLang="en-US">
                <a:latin typeface="Arial" panose="020B0604020202020204" pitchFamily="34" charset="0"/>
              </a:rPr>
              <a:t>是代数系统，</a:t>
            </a:r>
            <a:r>
              <a:rPr lang="en-US" altLang="zh-CN">
                <a:latin typeface="Arial" panose="020B0604020202020204" pitchFamily="34" charset="0"/>
              </a:rPr>
              <a:t>+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·</a:t>
            </a:r>
            <a:r>
              <a:rPr lang="zh-CN" altLang="en-US">
                <a:latin typeface="Arial" panose="020B0604020202020204" pitchFamily="34" charset="0"/>
              </a:rPr>
              <a:t>是二元运算</a:t>
            </a:r>
            <a:r>
              <a:rPr lang="en-US" altLang="zh-CN">
                <a:latin typeface="Arial" panose="020B0604020202020204" pitchFamily="34" charset="0"/>
              </a:rPr>
              <a:t>. </a:t>
            </a:r>
            <a:r>
              <a:rPr lang="zh-CN" altLang="en-US">
                <a:latin typeface="Arial" panose="020B0604020202020204" pitchFamily="34" charset="0"/>
              </a:rPr>
              <a:t>如果满足以下条件</a:t>
            </a:r>
            <a:r>
              <a:rPr lang="en-US" altLang="zh-CN">
                <a:latin typeface="Arial" panose="020B0604020202020204" pitchFamily="34" charset="0"/>
              </a:rPr>
              <a:t>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(1) 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,+&gt;</a:t>
            </a:r>
            <a:r>
              <a:rPr lang="zh-CN" altLang="en-US">
                <a:latin typeface="Arial" panose="020B0604020202020204" pitchFamily="34" charset="0"/>
              </a:rPr>
              <a:t>构成交换群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(2) 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,·&gt;</a:t>
            </a:r>
            <a:r>
              <a:rPr lang="zh-CN" altLang="en-US">
                <a:latin typeface="Arial" panose="020B0604020202020204" pitchFamily="34" charset="0"/>
              </a:rPr>
              <a:t>构成半群（</a:t>
            </a:r>
            <a:r>
              <a:rPr lang="zh-CN" altLang="en-US">
                <a:solidFill>
                  <a:srgbClr val="00B050"/>
                </a:solidFill>
                <a:latin typeface="Arial" panose="020B0604020202020204" pitchFamily="34" charset="0"/>
              </a:rPr>
              <a:t>可结合性</a:t>
            </a:r>
            <a:r>
              <a:rPr lang="zh-CN" altLang="en-US">
                <a:latin typeface="Arial" panose="020B0604020202020204" pitchFamily="34" charset="0"/>
              </a:rPr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(3) · </a:t>
            </a:r>
            <a:r>
              <a:rPr lang="zh-CN" altLang="en-US">
                <a:latin typeface="Arial" panose="020B0604020202020204" pitchFamily="34" charset="0"/>
              </a:rPr>
              <a:t>运算关于</a:t>
            </a:r>
            <a:r>
              <a:rPr lang="en-US" altLang="zh-CN">
                <a:latin typeface="Arial" panose="020B0604020202020204" pitchFamily="34" charset="0"/>
              </a:rPr>
              <a:t>+</a:t>
            </a:r>
            <a:r>
              <a:rPr lang="zh-CN" altLang="en-US">
                <a:latin typeface="Arial" panose="020B0604020202020204" pitchFamily="34" charset="0"/>
              </a:rPr>
              <a:t>运算适合分配律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Arial" panose="020B0604020202020204" pitchFamily="34" charset="0"/>
              </a:rPr>
              <a:t>则称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,+,·&gt;</a:t>
            </a:r>
            <a:r>
              <a:rPr lang="zh-CN" altLang="en-US">
                <a:latin typeface="Arial" panose="020B0604020202020204" pitchFamily="34" charset="0"/>
              </a:rPr>
              <a:t>是一个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环</a:t>
            </a:r>
            <a:r>
              <a:rPr lang="en-US" altLang="zh-CN">
                <a:latin typeface="Arial" panose="020B0604020202020204" pitchFamily="34" charset="0"/>
              </a:rPr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(4) </a:t>
            </a:r>
            <a:r>
              <a:rPr lang="zh-CN" altLang="en-US">
                <a:latin typeface="Arial" panose="020B0604020202020204" pitchFamily="34" charset="0"/>
              </a:rPr>
              <a:t>若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既是交换环、含幺环、也是无零因子环，则称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整环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(5)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是整环，且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中至少含有两个元素</a:t>
            </a:r>
            <a:r>
              <a:rPr lang="en-US" altLang="zh-CN">
                <a:latin typeface="Arial" panose="020B0604020202020204" pitchFamily="34" charset="0"/>
              </a:rPr>
              <a:t>. </a:t>
            </a:r>
            <a:r>
              <a:rPr lang="zh-CN" altLang="en-US">
                <a:latin typeface="Arial" panose="020B0604020202020204" pitchFamily="34" charset="0"/>
              </a:rPr>
              <a:t>若</a:t>
            </a:r>
            <a:r>
              <a:rPr lang="zh-CN" altLang="en-US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*</a:t>
            </a:r>
            <a:r>
              <a:rPr lang="zh-CN" altLang="en-US">
                <a:latin typeface="Arial" panose="020B0604020202020204" pitchFamily="34" charset="0"/>
              </a:rPr>
              <a:t>，其中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*=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Arial" panose="020B0604020202020204" pitchFamily="34" charset="0"/>
              </a:rPr>
              <a:t>{0}</a:t>
            </a:r>
            <a:r>
              <a:rPr lang="zh-CN" altLang="en-US">
                <a:latin typeface="Arial" panose="020B0604020202020204" pitchFamily="34" charset="0"/>
              </a:rPr>
              <a:t>，都有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zh-CN" altLang="en-US" baseline="30000">
                <a:latin typeface="Arial" panose="020B0604020202020204" pitchFamily="34" charset="0"/>
              </a:rPr>
              <a:t>－</a:t>
            </a:r>
            <a:r>
              <a:rPr lang="en-US" altLang="zh-CN" baseline="30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，则称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域</a:t>
            </a:r>
            <a:r>
              <a:rPr lang="en-US" altLang="zh-CN">
                <a:latin typeface="Arial" panose="020B0604020202020204" pitchFamily="34" charset="0"/>
              </a:rPr>
              <a:t>.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B27A7BEB-83DC-4DEB-A6B2-A72B836B85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4946D33-928A-43FE-9741-4BCA792BEDD0}" type="slidenum">
              <a:rPr lang="en-US" altLang="zh-CN" smtClean="0">
                <a:latin typeface="Arial" panose="020B0604020202020204" pitchFamily="34" charset="0"/>
              </a:rPr>
              <a:pPr/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E2CF8273-C94C-4414-B1C7-AA65FB1A3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00705EA0-CAE7-4B4C-9853-5D4435605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</a:rPr>
              <a:t>10.14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,+,·&gt;</a:t>
            </a:r>
            <a:r>
              <a:rPr lang="zh-CN" altLang="en-US">
                <a:latin typeface="Arial" panose="020B0604020202020204" pitchFamily="34" charset="0"/>
              </a:rPr>
              <a:t>是代数系统，</a:t>
            </a:r>
            <a:r>
              <a:rPr lang="en-US" altLang="zh-CN">
                <a:latin typeface="Arial" panose="020B0604020202020204" pitchFamily="34" charset="0"/>
              </a:rPr>
              <a:t>+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·</a:t>
            </a:r>
            <a:r>
              <a:rPr lang="zh-CN" altLang="en-US">
                <a:latin typeface="Arial" panose="020B0604020202020204" pitchFamily="34" charset="0"/>
              </a:rPr>
              <a:t>是二元运算</a:t>
            </a:r>
            <a:r>
              <a:rPr lang="en-US" altLang="zh-CN">
                <a:latin typeface="Arial" panose="020B0604020202020204" pitchFamily="34" charset="0"/>
              </a:rPr>
              <a:t>. </a:t>
            </a:r>
            <a:r>
              <a:rPr lang="zh-CN" altLang="en-US">
                <a:latin typeface="Arial" panose="020B0604020202020204" pitchFamily="34" charset="0"/>
              </a:rPr>
              <a:t>如果满足以下条件</a:t>
            </a:r>
            <a:r>
              <a:rPr lang="en-US" altLang="zh-CN">
                <a:latin typeface="Arial" panose="020B0604020202020204" pitchFamily="34" charset="0"/>
              </a:rPr>
              <a:t>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(1) 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,+&gt;</a:t>
            </a:r>
            <a:r>
              <a:rPr lang="zh-CN" altLang="en-US">
                <a:latin typeface="Arial" panose="020B0604020202020204" pitchFamily="34" charset="0"/>
              </a:rPr>
              <a:t>构成交换群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(2) 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,·&gt;</a:t>
            </a:r>
            <a:r>
              <a:rPr lang="zh-CN" altLang="en-US">
                <a:latin typeface="Arial" panose="020B0604020202020204" pitchFamily="34" charset="0"/>
              </a:rPr>
              <a:t>构成半群（</a:t>
            </a:r>
            <a:r>
              <a:rPr lang="zh-CN" altLang="en-US">
                <a:solidFill>
                  <a:srgbClr val="00B050"/>
                </a:solidFill>
                <a:latin typeface="Arial" panose="020B0604020202020204" pitchFamily="34" charset="0"/>
              </a:rPr>
              <a:t>可结合性</a:t>
            </a:r>
            <a:r>
              <a:rPr lang="zh-CN" altLang="en-US">
                <a:latin typeface="Arial" panose="020B0604020202020204" pitchFamily="34" charset="0"/>
              </a:rPr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(3) · </a:t>
            </a:r>
            <a:r>
              <a:rPr lang="zh-CN" altLang="en-US">
                <a:latin typeface="Arial" panose="020B0604020202020204" pitchFamily="34" charset="0"/>
              </a:rPr>
              <a:t>运算关于</a:t>
            </a:r>
            <a:r>
              <a:rPr lang="en-US" altLang="zh-CN">
                <a:latin typeface="Arial" panose="020B0604020202020204" pitchFamily="34" charset="0"/>
              </a:rPr>
              <a:t>+</a:t>
            </a:r>
            <a:r>
              <a:rPr lang="zh-CN" altLang="en-US">
                <a:latin typeface="Arial" panose="020B0604020202020204" pitchFamily="34" charset="0"/>
              </a:rPr>
              <a:t>运算适合分配律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Arial" panose="020B0604020202020204" pitchFamily="34" charset="0"/>
              </a:rPr>
              <a:t>则称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,+,·&gt;</a:t>
            </a:r>
            <a:r>
              <a:rPr lang="zh-CN" altLang="en-US">
                <a:latin typeface="Arial" panose="020B0604020202020204" pitchFamily="34" charset="0"/>
              </a:rPr>
              <a:t>是一个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环</a:t>
            </a:r>
            <a:r>
              <a:rPr lang="en-US" altLang="zh-CN">
                <a:latin typeface="Arial" panose="020B0604020202020204" pitchFamily="34" charset="0"/>
              </a:rPr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(4) </a:t>
            </a:r>
            <a:r>
              <a:rPr lang="zh-CN" altLang="en-US">
                <a:latin typeface="Arial" panose="020B0604020202020204" pitchFamily="34" charset="0"/>
              </a:rPr>
              <a:t>若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既是交换环、含幺环、也是无零因子环，则称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整环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(5)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是整环，且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中至少含有两个元素</a:t>
            </a:r>
            <a:r>
              <a:rPr lang="en-US" altLang="zh-CN">
                <a:latin typeface="Arial" panose="020B0604020202020204" pitchFamily="34" charset="0"/>
              </a:rPr>
              <a:t>. </a:t>
            </a:r>
            <a:r>
              <a:rPr lang="zh-CN" altLang="en-US">
                <a:latin typeface="Arial" panose="020B0604020202020204" pitchFamily="34" charset="0"/>
              </a:rPr>
              <a:t>若</a:t>
            </a:r>
            <a:r>
              <a:rPr lang="zh-CN" altLang="en-US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*</a:t>
            </a:r>
            <a:r>
              <a:rPr lang="zh-CN" altLang="en-US">
                <a:latin typeface="Arial" panose="020B0604020202020204" pitchFamily="34" charset="0"/>
              </a:rPr>
              <a:t>，其中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*=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Arial" panose="020B0604020202020204" pitchFamily="34" charset="0"/>
              </a:rPr>
              <a:t>{0}</a:t>
            </a:r>
            <a:r>
              <a:rPr lang="zh-CN" altLang="en-US">
                <a:latin typeface="Arial" panose="020B0604020202020204" pitchFamily="34" charset="0"/>
              </a:rPr>
              <a:t>，都有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zh-CN" altLang="en-US" baseline="30000">
                <a:latin typeface="Arial" panose="020B0604020202020204" pitchFamily="34" charset="0"/>
              </a:rPr>
              <a:t>－</a:t>
            </a:r>
            <a:r>
              <a:rPr lang="en-US" altLang="zh-CN" baseline="30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，则称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域</a:t>
            </a:r>
            <a:r>
              <a:rPr lang="en-US" altLang="zh-CN">
                <a:latin typeface="Arial" panose="020B0604020202020204" pitchFamily="34" charset="0"/>
              </a:rPr>
              <a:t>.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6FE87178-D984-4652-B895-999D965CDA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E8600D5-E437-4FD4-AD17-6B2040DF00CB}" type="slidenum">
              <a:rPr lang="en-US" altLang="zh-CN" smtClean="0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A5FF4EE2-FF6B-4B08-AE29-0269F17307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>
            <a:extLst>
              <a:ext uri="{FF2B5EF4-FFF2-40B4-BE49-F238E27FC236}">
                <a16:creationId xmlns:a16="http://schemas.microsoft.com/office/drawing/2014/main" id="{5902C794-7AF2-4922-A6AC-14D57C816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</a:rPr>
              <a:t>10.14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,+,·&gt;</a:t>
            </a:r>
            <a:r>
              <a:rPr lang="zh-CN" altLang="en-US">
                <a:latin typeface="Arial" panose="020B0604020202020204" pitchFamily="34" charset="0"/>
              </a:rPr>
              <a:t>是代数系统，</a:t>
            </a:r>
            <a:r>
              <a:rPr lang="en-US" altLang="zh-CN">
                <a:latin typeface="Arial" panose="020B0604020202020204" pitchFamily="34" charset="0"/>
              </a:rPr>
              <a:t>+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·</a:t>
            </a:r>
            <a:r>
              <a:rPr lang="zh-CN" altLang="en-US">
                <a:latin typeface="Arial" panose="020B0604020202020204" pitchFamily="34" charset="0"/>
              </a:rPr>
              <a:t>是二元运算</a:t>
            </a:r>
            <a:r>
              <a:rPr lang="en-US" altLang="zh-CN">
                <a:latin typeface="Arial" panose="020B0604020202020204" pitchFamily="34" charset="0"/>
              </a:rPr>
              <a:t>. </a:t>
            </a:r>
            <a:r>
              <a:rPr lang="zh-CN" altLang="en-US">
                <a:latin typeface="Arial" panose="020B0604020202020204" pitchFamily="34" charset="0"/>
              </a:rPr>
              <a:t>如果满足以下条件</a:t>
            </a:r>
            <a:r>
              <a:rPr lang="en-US" altLang="zh-CN">
                <a:latin typeface="Arial" panose="020B0604020202020204" pitchFamily="34" charset="0"/>
              </a:rPr>
              <a:t>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(1) 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,+&gt;</a:t>
            </a:r>
            <a:r>
              <a:rPr lang="zh-CN" altLang="en-US">
                <a:latin typeface="Arial" panose="020B0604020202020204" pitchFamily="34" charset="0"/>
              </a:rPr>
              <a:t>构成交换群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(2) 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,·&gt;</a:t>
            </a:r>
            <a:r>
              <a:rPr lang="zh-CN" altLang="en-US">
                <a:latin typeface="Arial" panose="020B0604020202020204" pitchFamily="34" charset="0"/>
              </a:rPr>
              <a:t>构成半群（</a:t>
            </a:r>
            <a:r>
              <a:rPr lang="zh-CN" altLang="en-US">
                <a:solidFill>
                  <a:srgbClr val="00B050"/>
                </a:solidFill>
                <a:latin typeface="Arial" panose="020B0604020202020204" pitchFamily="34" charset="0"/>
              </a:rPr>
              <a:t>可结合性</a:t>
            </a:r>
            <a:r>
              <a:rPr lang="zh-CN" altLang="en-US">
                <a:latin typeface="Arial" panose="020B0604020202020204" pitchFamily="34" charset="0"/>
              </a:rPr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(3) · </a:t>
            </a:r>
            <a:r>
              <a:rPr lang="zh-CN" altLang="en-US">
                <a:latin typeface="Arial" panose="020B0604020202020204" pitchFamily="34" charset="0"/>
              </a:rPr>
              <a:t>运算关于</a:t>
            </a:r>
            <a:r>
              <a:rPr lang="en-US" altLang="zh-CN">
                <a:latin typeface="Arial" panose="020B0604020202020204" pitchFamily="34" charset="0"/>
              </a:rPr>
              <a:t>+</a:t>
            </a:r>
            <a:r>
              <a:rPr lang="zh-CN" altLang="en-US">
                <a:latin typeface="Arial" panose="020B0604020202020204" pitchFamily="34" charset="0"/>
              </a:rPr>
              <a:t>运算适合分配律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Arial" panose="020B0604020202020204" pitchFamily="34" charset="0"/>
              </a:rPr>
              <a:t>则称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,+,·&gt;</a:t>
            </a:r>
            <a:r>
              <a:rPr lang="zh-CN" altLang="en-US">
                <a:latin typeface="Arial" panose="020B0604020202020204" pitchFamily="34" charset="0"/>
              </a:rPr>
              <a:t>是一个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环</a:t>
            </a:r>
            <a:r>
              <a:rPr lang="en-US" altLang="zh-CN">
                <a:latin typeface="Arial" panose="020B0604020202020204" pitchFamily="34" charset="0"/>
              </a:rPr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(4) </a:t>
            </a:r>
            <a:r>
              <a:rPr lang="zh-CN" altLang="en-US">
                <a:latin typeface="Arial" panose="020B0604020202020204" pitchFamily="34" charset="0"/>
              </a:rPr>
              <a:t>若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既是交换环、含幺环、也是无零因子环，则称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整环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Arial" panose="020B0604020202020204" pitchFamily="34" charset="0"/>
              </a:rPr>
              <a:t>(5)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是整环，且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中至少含有两个元素</a:t>
            </a:r>
            <a:r>
              <a:rPr lang="en-US" altLang="zh-CN">
                <a:latin typeface="Arial" panose="020B0604020202020204" pitchFamily="34" charset="0"/>
              </a:rPr>
              <a:t>. </a:t>
            </a:r>
            <a:r>
              <a:rPr lang="zh-CN" altLang="en-US">
                <a:latin typeface="Arial" panose="020B0604020202020204" pitchFamily="34" charset="0"/>
              </a:rPr>
              <a:t>若</a:t>
            </a:r>
            <a:r>
              <a:rPr lang="zh-CN" altLang="en-US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*</a:t>
            </a:r>
            <a:r>
              <a:rPr lang="zh-CN" altLang="en-US">
                <a:latin typeface="Arial" panose="020B0604020202020204" pitchFamily="34" charset="0"/>
              </a:rPr>
              <a:t>，其中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</a:rPr>
              <a:t>*=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Arial" panose="020B0604020202020204" pitchFamily="34" charset="0"/>
              </a:rPr>
              <a:t>{0}</a:t>
            </a:r>
            <a:r>
              <a:rPr lang="zh-CN" altLang="en-US">
                <a:latin typeface="Arial" panose="020B0604020202020204" pitchFamily="34" charset="0"/>
              </a:rPr>
              <a:t>，都有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zh-CN" altLang="en-US" baseline="30000">
                <a:latin typeface="Arial" panose="020B0604020202020204" pitchFamily="34" charset="0"/>
              </a:rPr>
              <a:t>－</a:t>
            </a:r>
            <a:r>
              <a:rPr lang="en-US" altLang="zh-CN" baseline="30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，则称</a:t>
            </a:r>
            <a:r>
              <a:rPr lang="en-US" altLang="zh-CN" i="1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域</a:t>
            </a:r>
            <a:r>
              <a:rPr lang="en-US" altLang="zh-CN">
                <a:latin typeface="Arial" panose="020B0604020202020204" pitchFamily="34" charset="0"/>
              </a:rPr>
              <a:t>.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4343EA4A-1833-433D-946F-83C31BC5D7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B4ADD32-468F-4040-A04A-08799A9FBA66}" type="slidenum">
              <a:rPr lang="en-US" altLang="zh-CN" smtClean="0">
                <a:latin typeface="Arial" panose="020B0604020202020204" pitchFamily="34" charset="0"/>
              </a:rPr>
              <a:pPr/>
              <a:t>30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7CB321-8B86-4F21-B31A-D49848B764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354178-B4C7-4AB8-B071-036A54F598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F7A5E5-491F-46F4-A8C0-4031C9520D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9342-4D56-40F8-9628-5D418296E4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372530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D4A7E98-9D6D-42F3-935F-8AB3B6230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5785659-ED7E-4EB3-A35D-1FFA1F3575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A8AEDC8-7574-41C2-96EF-5AE549C549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4A0AD1-ACE7-47B0-8E6D-78C5B79304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3825695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439D31-6038-48E5-8372-EBC89CF5A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B95FE5A-916A-4F70-AE56-CCA0BC39AB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F91D5A1-E027-48FC-95F7-74B76A83E3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FEDE4-5831-406A-8E17-4CC9638DE2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426120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839B14-8E4E-4C83-8C3F-E79DA12B3B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4B86AD8-90A8-4F2D-A3A3-491DC8DA7C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099B839-92ED-4185-BF7B-618B1BAE6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EC257-56B1-4E42-8F00-DA5A896D8C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3255321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980FC8-4194-450A-B2E6-10498D5CB6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108FDF-A33A-4761-BBFE-222CB56F41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B14353-C04C-497F-A0C6-1F11E95C2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AA2DB-EFE2-484D-8699-C730C5640E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2532257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CC69F70-FEA9-45F4-BF19-2F2808C61F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B0D2CDC-7E83-4CAE-B81C-5DEE5EF7C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3D4B931-96C7-4DC8-B3C2-E99B470FE3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AEA2C-C92F-4DEE-9F76-CD605AC341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5434806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44E88A9-D3CB-40C1-A106-1079EB675C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A9F7A4E-4143-45D5-B1ED-C214F05A12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1DEBC43-08C8-4A19-8EF3-D2CF34E29B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0602B-5D09-43EF-80DE-062902DF7F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0496009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74F9C7-E464-4EC6-8752-96FADFC36C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98C5356-B9F8-4E4C-8CC8-AA27B98E6D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D98D2EB-E359-465E-9899-5AFA7607A8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91A2A8-553A-4888-939A-0C0C0C0E32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8446031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CF71E03-3D44-4DB0-A055-E552C79EA5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9D0B2E6-B62F-41B2-98A3-6BD2944F02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F22683-C9F9-4096-AF37-680244B993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8CB08-62BB-4824-93C1-C216478B89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140722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FC083F9-C2F6-47BD-B3A4-16B94244FE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AF11E0F-B907-40A8-95CB-6634F9171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DF1E154-941F-4B49-A54D-C9DB3DD23E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888EC-25AB-40E0-91EF-600C3BCAC2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8944185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88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88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67C97D5-1494-4986-92E5-2E04303EF1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47DF8F-B43B-49DE-8643-74875C3301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C0AA106-D327-491C-B4EB-9ECB187C81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710F9-D81D-453C-9CBE-5ED28F13C2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9947652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667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667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34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900146-6320-4CC2-8C4D-8C9C313CD0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55DBD-9434-40AD-89C4-748D71C7B0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7E969A-DE1C-4D3C-9A00-4FF7401DDD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E7428-2393-4926-B561-DF219F014D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968924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88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74745E5-9009-43E8-9E59-464DBE0DB6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755ACA3-9271-4C44-AD6A-3E2D179388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08DB294-9597-416D-B7C4-3FFF7EA014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D6406-2492-4117-BF3D-ECBB35DBE8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531144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DA435DC-27C9-4EF4-ACD1-878848FCB3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A2F06BA-E943-4DE0-8ADD-77E5459894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A86BCA1-E24B-4B06-B92B-0D3950E7E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7602E-10B0-43E6-94E9-4CA21F0EF1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2384756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85EFC7-FD60-4CF1-B865-D7030FC99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CCE1575-FAE7-4195-8EC5-3B1CAED959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CCFF29C-1B34-4755-AF0A-5187B322B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1EA49-4C8C-4771-836B-000EB50693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2072918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29F5108-6935-4C8A-9C01-2451ECCAA7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4B6606B-6F1F-4089-8678-D3A70B31FD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107D3A2-6543-4295-A01D-4F21B02F3A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48098-08A8-4E76-B04A-9B69D79B2A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007620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270000"/>
            <a:ext cx="8001000" cy="48228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82D2EE7-684D-4C67-8E3B-85091CD182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FBA9E7C-4D64-4AF4-8B9C-815F96B1EA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65E1A4B-8D1B-4561-B86D-271BF0529A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05A64-DCD5-4652-84E6-3A78C59722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611423"/>
      </p:ext>
    </p:extLst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C0094C-AA11-4CB3-91FC-4C76BC48A7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A38E19F-3CC9-4459-BDDB-1CADF0EAA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63EDE4AC-31CA-46FA-B081-62692EF2C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56E6F0-E785-49AA-B8C0-9EAD278043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3830240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0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CFD14D7-09D3-403E-867B-6CEAD8CFA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40F99C6-D31A-4149-8CA2-EBCBFBB6D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E3ED75FD-0BC3-4E34-B2CB-3CF3BF14C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15FEF7DC-E24A-47DB-A2A7-82B3C5C27B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8" name="Rectangle 6">
            <a:extLst>
              <a:ext uri="{FF2B5EF4-FFF2-40B4-BE49-F238E27FC236}">
                <a16:creationId xmlns:a16="http://schemas.microsoft.com/office/drawing/2014/main" id="{825154A3-052E-4B05-84BB-0C4F79C5AA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>
            <a:extLst>
              <a:ext uri="{FF2B5EF4-FFF2-40B4-BE49-F238E27FC236}">
                <a16:creationId xmlns:a16="http://schemas.microsoft.com/office/drawing/2014/main" id="{9F8208E3-E1FA-47DC-81CE-D5589CC7E37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0" name="Rectangle 8">
            <a:extLst>
              <a:ext uri="{FF2B5EF4-FFF2-40B4-BE49-F238E27FC236}">
                <a16:creationId xmlns:a16="http://schemas.microsoft.com/office/drawing/2014/main" id="{2C8D89BC-1A63-4EDD-B845-97A594D886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DC5B220-A106-43C8-AB98-C5E41D82C7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8" r:id="rId1"/>
    <p:sldLayoutId id="2147484371" r:id="rId2"/>
    <p:sldLayoutId id="2147484372" r:id="rId3"/>
    <p:sldLayoutId id="2147484373" r:id="rId4"/>
    <p:sldLayoutId id="2147484374" r:id="rId5"/>
    <p:sldLayoutId id="2147484375" r:id="rId6"/>
    <p:sldLayoutId id="2147484376" r:id="rId7"/>
    <p:sldLayoutId id="2147484377" r:id="rId8"/>
    <p:sldLayoutId id="2147484378" r:id="rId9"/>
    <p:sldLayoutId id="2147484379" r:id="rId10"/>
    <p:sldLayoutId id="2147484380" r:id="rId11"/>
    <p:sldLayoutId id="2147484381" r:id="rId12"/>
    <p:sldLayoutId id="2147484382" r:id="rId13"/>
    <p:sldLayoutId id="2147484383" r:id="rId14"/>
    <p:sldLayoutId id="2147484384" r:id="rId15"/>
    <p:sldLayoutId id="2147484385" r:id="rId16"/>
    <p:sldLayoutId id="2147484386" r:id="rId17"/>
    <p:sldLayoutId id="2147484387" r:id="rId18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 bldLvl="3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emf"/><Relationship Id="rId4" Type="http://schemas.openxmlformats.org/officeDocument/2006/relationships/image" Target="../media/image1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D50C17F3-4FDA-4D90-A2E0-3A38314F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FADE27-3BD6-4A98-AB08-2C880277736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9C3DDF8-0436-4505-864E-E31EB3ABC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第十章 习题课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4DA5B45-EE98-4F65-B890-63B24C96D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255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kern="0"/>
              <a:t>主要内容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半群、独异点与群的定义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群的基本性质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子群的判别定理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陪集的定义及其性质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拉格朗日定理及其应用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循环群的生成元和子群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置换群与</a:t>
            </a:r>
            <a:r>
              <a:rPr lang="en-US" altLang="zh-CN" kern="0"/>
              <a:t>Polya</a:t>
            </a:r>
            <a:r>
              <a:rPr lang="zh-CN" altLang="en-US" kern="0"/>
              <a:t>定理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环的定义与性质</a:t>
            </a:r>
          </a:p>
          <a:p>
            <a:pPr lvl="1"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特殊的环</a:t>
            </a:r>
            <a:endParaRPr lang="zh-CN" altLang="en-US" kern="0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64C4ADAB-4B97-461D-9FF7-419BBC10F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A245F7-3608-4611-9B1A-83E1CD9AFAA9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57C2218E-426F-4177-8564-D239F76E1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基本要求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BCD2EA-7445-45EC-AA10-2ECAC5D76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68413"/>
            <a:ext cx="8435975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判断或证明给定集合和运算是否构成半群、独异点和群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熟悉群的基本性质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能够证明</a:t>
            </a:r>
            <a:r>
              <a:rPr lang="en-US" altLang="zh-CN" i="1" kern="0">
                <a:solidFill>
                  <a:srgbClr val="0066FF"/>
                </a:solidFill>
              </a:rPr>
              <a:t>G</a:t>
            </a:r>
            <a:r>
              <a:rPr lang="zh-CN" altLang="en-US" kern="0">
                <a:solidFill>
                  <a:srgbClr val="0066FF"/>
                </a:solidFill>
              </a:rPr>
              <a:t>的子集构成</a:t>
            </a:r>
            <a:r>
              <a:rPr lang="en-US" altLang="zh-CN" i="1" kern="0">
                <a:solidFill>
                  <a:srgbClr val="0066FF"/>
                </a:solidFill>
              </a:rPr>
              <a:t>G</a:t>
            </a:r>
            <a:r>
              <a:rPr lang="zh-CN" altLang="en-US" kern="0">
                <a:solidFill>
                  <a:srgbClr val="0066FF"/>
                </a:solidFill>
              </a:rPr>
              <a:t>的子群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熟悉陪集的定义和性质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熟悉拉格朗日定理及其推论，能够简单应用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熟悉循环群的生成元及其子群性质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熟悉</a:t>
            </a:r>
            <a:r>
              <a:rPr lang="en-US" altLang="zh-CN" i="1" kern="0"/>
              <a:t>n</a:t>
            </a:r>
            <a:r>
              <a:rPr lang="zh-CN" altLang="en-US" kern="0"/>
              <a:t>元置换的表示方法、乘法以及</a:t>
            </a:r>
            <a:r>
              <a:rPr lang="en-US" altLang="zh-CN" i="1" kern="0"/>
              <a:t>n</a:t>
            </a:r>
            <a:r>
              <a:rPr lang="zh-CN" altLang="en-US" kern="0"/>
              <a:t>元置换群</a:t>
            </a:r>
            <a:endParaRPr lang="en-US" altLang="zh-CN" kern="0"/>
          </a:p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/>
              <a:t>会用</a:t>
            </a:r>
            <a:r>
              <a:rPr lang="en-US" altLang="zh-CN" kern="0"/>
              <a:t>Polya</a:t>
            </a:r>
            <a:r>
              <a:rPr lang="zh-CN" altLang="en-US" kern="0"/>
              <a:t>定理进行计数</a:t>
            </a:r>
          </a:p>
          <a:p>
            <a:pPr eaLnBrk="1" hangingPunct="1">
              <a:spcBef>
                <a:spcPct val="0"/>
              </a:spcBef>
              <a:buClr>
                <a:srgbClr val="FF9900"/>
              </a:buClr>
              <a:defRPr/>
            </a:pPr>
            <a:r>
              <a:rPr lang="zh-CN" altLang="en-US" kern="0">
                <a:solidFill>
                  <a:srgbClr val="0066FF"/>
                </a:solidFill>
              </a:rPr>
              <a:t>能判断给定代数系统是否为环和域</a:t>
            </a:r>
            <a:endParaRPr lang="zh-CN" altLang="en-US" kern="0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>
            <a:extLst>
              <a:ext uri="{FF2B5EF4-FFF2-40B4-BE49-F238E27FC236}">
                <a16:creationId xmlns:a16="http://schemas.microsoft.com/office/drawing/2014/main" id="{CE566CCF-09EF-44AF-BDC6-BB7A28632B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9594F0B-3835-4902-AE38-F4FF1322583D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BB39A-DB18-4263-819C-F9B8DA963BDC}"/>
              </a:ext>
            </a:extLst>
          </p:cNvPr>
          <p:cNvSpPr/>
          <p:nvPr/>
        </p:nvSpPr>
        <p:spPr>
          <a:xfrm>
            <a:off x="684213" y="1412875"/>
            <a:ext cx="4572000" cy="11080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469900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10.1&amp;10.2</a:t>
            </a:r>
            <a:r>
              <a:rPr lang="zh-CN" altLang="en-US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习题</a:t>
            </a:r>
            <a:endParaRPr lang="en-US" altLang="zh-CN" sz="3000" b="1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908050" lvl="1" indent="-436563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练习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1~6</a:t>
            </a:r>
            <a:endParaRPr lang="zh-CN" altLang="en-US" sz="3000" b="1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ACA70C2C-AB45-4DC3-9779-AB1DB3E7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928DB3-6199-49BA-91FC-609EEB195FA0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A4628AD-1774-436B-B22D-F19F12F67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889C8F8-54A1-4E20-8DC2-08FDC9B31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3579813"/>
            <a:ext cx="80010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66FF"/>
                </a:solidFill>
              </a:rPr>
              <a:t>方法：根据定义验证，注意运算的封闭性</a:t>
            </a:r>
          </a:p>
          <a:p>
            <a:pPr eaLnBrk="1" hangingPunct="1">
              <a:defRPr/>
            </a:pPr>
            <a:endParaRPr lang="en-US" altLang="zh-CN" kern="0" dirty="0">
              <a:solidFill>
                <a:srgbClr val="0066FF"/>
              </a:solidFill>
            </a:endParaRPr>
          </a:p>
        </p:txBody>
      </p:sp>
      <p:pic>
        <p:nvPicPr>
          <p:cNvPr id="10245" name="图片 2">
            <a:extLst>
              <a:ext uri="{FF2B5EF4-FFF2-40B4-BE49-F238E27FC236}">
                <a16:creationId xmlns:a16="http://schemas.microsoft.com/office/drawing/2014/main" id="{B1C5A6F4-E162-4DCD-9F34-B4A3C8F43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4216400"/>
            <a:ext cx="537210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05A25047-72CF-4C4D-B063-40E7FD16A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217613"/>
            <a:ext cx="8785225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kern="0"/>
              <a:t>判断下列集合和运算是否构成半群、独异点和群</a:t>
            </a:r>
            <a:r>
              <a:rPr lang="en-US" altLang="zh-CN" kern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/>
              <a:t>(1) </a:t>
            </a:r>
            <a:r>
              <a:rPr lang="en-US" altLang="zh-CN" i="1" kern="0"/>
              <a:t>a</a:t>
            </a:r>
            <a:r>
              <a:rPr lang="en-US" altLang="zh-CN" kern="0"/>
              <a:t> </a:t>
            </a:r>
            <a:r>
              <a:rPr lang="zh-CN" altLang="en-US" kern="0"/>
              <a:t>是正整数，</a:t>
            </a:r>
            <a:r>
              <a:rPr lang="en-US" altLang="zh-CN" i="1" kern="0"/>
              <a:t>G</a:t>
            </a:r>
            <a:r>
              <a:rPr lang="en-US" altLang="zh-CN" kern="0"/>
              <a:t> = {</a:t>
            </a:r>
            <a:r>
              <a:rPr lang="en-US" altLang="zh-CN" i="1" kern="0"/>
              <a:t>a</a:t>
            </a:r>
            <a:r>
              <a:rPr lang="en-US" altLang="zh-CN" i="1" kern="0" baseline="30000"/>
              <a:t>n</a:t>
            </a:r>
            <a:r>
              <a:rPr lang="en-US" altLang="zh-CN" kern="0"/>
              <a:t> | </a:t>
            </a:r>
            <a:r>
              <a:rPr lang="en-US" altLang="zh-CN" i="1" kern="0"/>
              <a:t>n</a:t>
            </a:r>
            <a:r>
              <a:rPr lang="en-US" altLang="zh-CN" kern="0">
                <a:sym typeface="Symbol" panose="05050102010706020507" pitchFamily="18" charset="2"/>
              </a:rPr>
              <a:t></a:t>
            </a:r>
            <a:r>
              <a:rPr lang="en-US" altLang="zh-CN" kern="0"/>
              <a:t>Z</a:t>
            </a:r>
            <a:r>
              <a:rPr lang="en-US" altLang="zh-CN" kern="0">
                <a:sym typeface="Symbol" panose="05050102010706020507" pitchFamily="18" charset="2"/>
              </a:rPr>
              <a:t>}, </a:t>
            </a:r>
            <a:r>
              <a:rPr lang="zh-CN" altLang="en-US" kern="0">
                <a:sym typeface="Symbol" panose="05050102010706020507" pitchFamily="18" charset="2"/>
              </a:rPr>
              <a:t>运算是普通乘法</a:t>
            </a:r>
            <a:r>
              <a:rPr lang="en-US" altLang="zh-CN" kern="0">
                <a:sym typeface="Symbol" panose="05050102010706020507" pitchFamily="18" charset="2"/>
              </a:rPr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>
                <a:sym typeface="Symbol" panose="05050102010706020507" pitchFamily="18" charset="2"/>
              </a:rPr>
              <a:t>(2) Q</a:t>
            </a:r>
            <a:r>
              <a:rPr lang="zh-CN" altLang="en-US" kern="0" baseline="30000">
                <a:sym typeface="Symbol" panose="05050102010706020507" pitchFamily="18" charset="2"/>
              </a:rPr>
              <a:t>*</a:t>
            </a:r>
            <a:r>
              <a:rPr lang="zh-CN" altLang="en-US" kern="0">
                <a:sym typeface="Symbol" panose="05050102010706020507" pitchFamily="18" charset="2"/>
              </a:rPr>
              <a:t>是正有理数集，运算为普通加法</a:t>
            </a:r>
            <a:r>
              <a:rPr lang="en-US" altLang="zh-CN" kern="0">
                <a:sym typeface="Symbol" panose="05050102010706020507" pitchFamily="18" charset="2"/>
              </a:rPr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>
                <a:sym typeface="Symbol" panose="05050102010706020507" pitchFamily="18" charset="2"/>
              </a:rPr>
              <a:t>(3) </a:t>
            </a:r>
            <a:r>
              <a:rPr lang="zh-CN" altLang="en-US" kern="0">
                <a:sym typeface="Symbol" panose="05050102010706020507" pitchFamily="18" charset="2"/>
              </a:rPr>
              <a:t>一元实系数多项式的集合关于多项式加法</a:t>
            </a:r>
            <a:r>
              <a:rPr lang="en-US" altLang="zh-CN" kern="0">
                <a:sym typeface="Symbol" panose="05050102010706020507" pitchFamily="18" charset="2"/>
              </a:rPr>
              <a:t>.</a:t>
            </a:r>
            <a:endParaRPr lang="en-US" altLang="zh-CN" kern="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87B36FED-6CCF-44DC-A56A-FD5DB338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3F8D5A-0A3A-4DB9-B365-786885A9DFD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255C74F-B263-4671-89C4-52FF968A4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</a:t>
            </a:r>
            <a:r>
              <a:rPr lang="zh-CN" altLang="en-US"/>
              <a:t>详解</a:t>
            </a:r>
            <a:endParaRPr lang="en-US" altLang="zh-CN"/>
          </a:p>
        </p:txBody>
      </p:sp>
      <p:pic>
        <p:nvPicPr>
          <p:cNvPr id="11268" name="图片 1">
            <a:extLst>
              <a:ext uri="{FF2B5EF4-FFF2-40B4-BE49-F238E27FC236}">
                <a16:creationId xmlns:a16="http://schemas.microsoft.com/office/drawing/2014/main" id="{20F23BFB-2BA3-4571-99DC-D22988CE4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6575"/>
            <a:ext cx="9144000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8FCD9DF-AAB3-4C4C-AD30-E6F8FAD89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4300" y="1422400"/>
            <a:ext cx="86487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/>
              <a:t>(1) </a:t>
            </a:r>
            <a:r>
              <a:rPr lang="en-US" altLang="zh-CN" i="1" kern="0"/>
              <a:t>a</a:t>
            </a:r>
            <a:r>
              <a:rPr lang="en-US" altLang="zh-CN" kern="0"/>
              <a:t> </a:t>
            </a:r>
            <a:r>
              <a:rPr lang="zh-CN" altLang="en-US" kern="0"/>
              <a:t>是正整数，</a:t>
            </a:r>
            <a:r>
              <a:rPr lang="en-US" altLang="zh-CN" i="1" kern="0"/>
              <a:t>G</a:t>
            </a:r>
            <a:r>
              <a:rPr lang="en-US" altLang="zh-CN" kern="0"/>
              <a:t> = {</a:t>
            </a:r>
            <a:r>
              <a:rPr lang="en-US" altLang="zh-CN" i="1" kern="0"/>
              <a:t>a</a:t>
            </a:r>
            <a:r>
              <a:rPr lang="en-US" altLang="zh-CN" i="1" kern="0" baseline="30000"/>
              <a:t>n</a:t>
            </a:r>
            <a:r>
              <a:rPr lang="en-US" altLang="zh-CN" kern="0"/>
              <a:t> | </a:t>
            </a:r>
            <a:r>
              <a:rPr lang="en-US" altLang="zh-CN" i="1" kern="0"/>
              <a:t>n</a:t>
            </a:r>
            <a:r>
              <a:rPr lang="en-US" altLang="zh-CN" kern="0">
                <a:sym typeface="Symbol" panose="05050102010706020507" pitchFamily="18" charset="2"/>
              </a:rPr>
              <a:t></a:t>
            </a:r>
            <a:r>
              <a:rPr lang="en-US" altLang="zh-CN" kern="0"/>
              <a:t>Z</a:t>
            </a:r>
            <a:r>
              <a:rPr lang="en-US" altLang="zh-CN" kern="0">
                <a:sym typeface="Symbol" panose="05050102010706020507" pitchFamily="18" charset="2"/>
              </a:rPr>
              <a:t>}, </a:t>
            </a:r>
            <a:r>
              <a:rPr lang="zh-CN" altLang="en-US" kern="0">
                <a:sym typeface="Symbol" panose="05050102010706020507" pitchFamily="18" charset="2"/>
              </a:rPr>
              <a:t>运算是普通乘法</a:t>
            </a:r>
            <a:r>
              <a:rPr lang="en-US" altLang="zh-CN" kern="0">
                <a:sym typeface="Symbol" panose="05050102010706020507" pitchFamily="18" charset="2"/>
              </a:rPr>
              <a:t>.</a:t>
            </a:r>
            <a:endParaRPr lang="en-US" altLang="zh-CN" kern="0" dirty="0">
              <a:sym typeface="Symbol" panose="05050102010706020507" pitchFamily="18" charset="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C9EAEBD-7627-44C5-B601-1A46DA9C6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2328863"/>
            <a:ext cx="8001000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FF0000"/>
                </a:solidFill>
              </a:rPr>
              <a:t>是半群、独异点和群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8D7B74C2-AA14-494D-B36A-CC4DB758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463432-DB12-4455-8B38-9EF86DBDE004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53CC4659-CE1C-4528-8737-51F6F8388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</a:t>
            </a:r>
            <a:r>
              <a:rPr lang="zh-CN" altLang="en-US"/>
              <a:t>详解</a:t>
            </a: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092A139-77E8-4445-A3A4-4F8BF1448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266825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ym typeface="Symbol" panose="05050102010706020507" pitchFamily="18" charset="2"/>
              </a:rPr>
              <a:t>(2) Q</a:t>
            </a:r>
            <a:r>
              <a:rPr lang="zh-CN" altLang="en-US" kern="0" baseline="30000" dirty="0">
                <a:sym typeface="Symbol" panose="05050102010706020507" pitchFamily="18" charset="2"/>
              </a:rPr>
              <a:t>*</a:t>
            </a:r>
            <a:r>
              <a:rPr lang="zh-CN" altLang="en-US" kern="0" dirty="0">
                <a:sym typeface="Symbol" panose="05050102010706020507" pitchFamily="18" charset="2"/>
              </a:rPr>
              <a:t>是正有理数集，运算为普通加法</a:t>
            </a:r>
            <a:r>
              <a:rPr lang="en-US" altLang="zh-CN" kern="0" dirty="0">
                <a:sym typeface="Symbol" panose="05050102010706020507" pitchFamily="18" charset="2"/>
              </a:rPr>
              <a:t>.</a:t>
            </a:r>
          </a:p>
        </p:txBody>
      </p:sp>
      <p:pic>
        <p:nvPicPr>
          <p:cNvPr id="13317" name="图片 2">
            <a:extLst>
              <a:ext uri="{FF2B5EF4-FFF2-40B4-BE49-F238E27FC236}">
                <a16:creationId xmlns:a16="http://schemas.microsoft.com/office/drawing/2014/main" id="{93E15859-74A1-4AA4-8F47-0EF034312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3081338"/>
            <a:ext cx="90868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E7C3A002-2368-4164-B396-0BD455DBE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1901825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FF0000"/>
                </a:solidFill>
              </a:rPr>
              <a:t>     </a:t>
            </a:r>
            <a:r>
              <a:rPr lang="zh-CN" altLang="en-US" kern="0" dirty="0">
                <a:solidFill>
                  <a:srgbClr val="FF0000"/>
                </a:solidFill>
              </a:rPr>
              <a:t>是半群，但不是独异点和群</a:t>
            </a:r>
          </a:p>
          <a:p>
            <a:pPr eaLnBrk="1" hangingPunct="1">
              <a:defRPr/>
            </a:pPr>
            <a:endParaRPr lang="en-US" altLang="zh-CN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26C16BC4-AAB4-4807-BDCA-51E4807B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BC291F-F8C9-4481-A512-77865E1BB67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0D913A92-3C5D-4E96-A8BD-7114F19F3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</a:t>
            </a:r>
            <a:r>
              <a:rPr lang="zh-CN" altLang="en-US"/>
              <a:t>详解</a:t>
            </a: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D48727C-2012-49ED-A84E-CFF49B1E0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50950"/>
            <a:ext cx="8353425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>
                <a:sym typeface="Symbol" panose="05050102010706020507" pitchFamily="18" charset="2"/>
              </a:rPr>
              <a:t>(3) </a:t>
            </a:r>
            <a:r>
              <a:rPr lang="zh-CN" altLang="en-US" kern="0">
                <a:sym typeface="Symbol" panose="05050102010706020507" pitchFamily="18" charset="2"/>
              </a:rPr>
              <a:t>一元实系数多项式的集合关于多项式加法</a:t>
            </a:r>
            <a:r>
              <a:rPr lang="en-US" altLang="zh-CN" kern="0">
                <a:sym typeface="Symbol" panose="05050102010706020507" pitchFamily="18" charset="2"/>
              </a:rPr>
              <a:t>.</a:t>
            </a:r>
            <a:endParaRPr lang="en-US" altLang="zh-CN" kern="0" dirty="0">
              <a:sym typeface="Symbol" panose="05050102010706020507" pitchFamily="18" charset="2"/>
            </a:endParaRPr>
          </a:p>
        </p:txBody>
      </p:sp>
      <p:pic>
        <p:nvPicPr>
          <p:cNvPr id="14341" name="图片 2">
            <a:extLst>
              <a:ext uri="{FF2B5EF4-FFF2-40B4-BE49-F238E27FC236}">
                <a16:creationId xmlns:a16="http://schemas.microsoft.com/office/drawing/2014/main" id="{3DA1A712-F134-44F1-8D09-F61D9009D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2781300"/>
            <a:ext cx="890587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F5E15DCE-8ADC-469B-A065-E08CF5C89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438" y="189865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FF0000"/>
                </a:solidFill>
              </a:rPr>
              <a:t> </a:t>
            </a:r>
            <a:r>
              <a:rPr lang="zh-CN" altLang="en-US" kern="0" dirty="0">
                <a:solidFill>
                  <a:srgbClr val="FF0000"/>
                </a:solidFill>
              </a:rPr>
              <a:t>是半群、独异点和群</a:t>
            </a:r>
          </a:p>
          <a:p>
            <a:pPr eaLnBrk="1" hangingPunct="1">
              <a:defRPr/>
            </a:pPr>
            <a:endParaRPr lang="zh-CN" altLang="en-US" kern="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zh-CN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5B9B775E-1560-4BB0-A305-AAE5CFC8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CDC76E-3443-424A-B5F9-B078C2B194F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F8B2411-4221-4E24-984F-42AD1C213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2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C6416E9-A39C-44FC-BB70-C6059AC2B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= &lt;Z, +&gt;,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 = &lt;Z, </a:t>
            </a:r>
            <a:r>
              <a:rPr lang="en-US" altLang="zh-CN">
                <a:sym typeface="Symbol" panose="05050102010706020507" pitchFamily="18" charset="2"/>
              </a:rPr>
              <a:t></a:t>
            </a:r>
            <a:r>
              <a:rPr lang="en-US" altLang="zh-CN"/>
              <a:t>&gt;,</a:t>
            </a:r>
            <a:r>
              <a:rPr lang="zh-CN" altLang="en-US">
                <a:sym typeface="Symbol" panose="05050102010706020507" pitchFamily="18" charset="2"/>
              </a:rPr>
              <a:t>其中</a:t>
            </a:r>
            <a:r>
              <a:rPr lang="en-US" altLang="zh-CN">
                <a:sym typeface="Symbol" panose="05050102010706020507" pitchFamily="18" charset="2"/>
              </a:rPr>
              <a:t>Z</a:t>
            </a:r>
            <a:r>
              <a:rPr lang="zh-CN" altLang="en-US">
                <a:sym typeface="Symbol" panose="05050102010706020507" pitchFamily="18" charset="2"/>
              </a:rPr>
              <a:t>为整数集合</a:t>
            </a:r>
            <a:r>
              <a:rPr lang="en-US" altLang="zh-CN">
                <a:sym typeface="Symbol" panose="05050102010706020507" pitchFamily="18" charset="2"/>
              </a:rPr>
              <a:t>, + </a:t>
            </a:r>
            <a:r>
              <a:rPr lang="zh-CN" altLang="en-US">
                <a:sym typeface="Symbol" panose="05050102010706020507" pitchFamily="18" charset="2"/>
              </a:rPr>
              <a:t>和</a:t>
            </a:r>
            <a:r>
              <a:rPr lang="zh-CN" altLang="en-US"/>
              <a:t> </a:t>
            </a:r>
            <a:r>
              <a:rPr lang="zh-CN" altLang="en-US">
                <a:sym typeface="Symbol" panose="05050102010706020507" pitchFamily="18" charset="2"/>
              </a:rPr>
              <a:t>分别代表普通加法和乘法</a:t>
            </a:r>
            <a:r>
              <a:rPr lang="en-US" altLang="zh-CN">
                <a:sym typeface="Symbol" panose="05050102010706020507" pitchFamily="18" charset="2"/>
              </a:rPr>
              <a:t>. </a:t>
            </a:r>
            <a:r>
              <a:rPr lang="zh-CN" altLang="en-US">
                <a:sym typeface="Symbol" panose="05050102010706020507" pitchFamily="18" charset="2"/>
              </a:rPr>
              <a:t>显然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是半群和独异点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br>
              <a:rPr lang="en-US" altLang="zh-CN">
                <a:sym typeface="Symbol" panose="05050102010706020507" pitchFamily="18" charset="2"/>
              </a:rPr>
            </a:br>
            <a:r>
              <a:rPr lang="zh-CN" altLang="en-US">
                <a:sym typeface="Symbol" panose="05050102010706020507" pitchFamily="18" charset="2"/>
              </a:rPr>
              <a:t>判断下述集合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zh-CN" altLang="en-US">
                <a:sym typeface="Symbol" panose="05050102010706020507" pitchFamily="18" charset="2"/>
              </a:rPr>
              <a:t>是否构成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 i="1">
                <a:sym typeface="Symbol" panose="05050102010706020507" pitchFamily="18" charset="2"/>
              </a:rPr>
              <a:t>V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的子半群和子独异点</a:t>
            </a:r>
            <a:r>
              <a:rPr lang="en-US" altLang="zh-CN">
                <a:sym typeface="Symbol" panose="05050102010706020507" pitchFamily="18" charset="2"/>
              </a:rPr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(1) 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>
                <a:sym typeface="Symbol" panose="05050102010706020507" pitchFamily="18" charset="2"/>
              </a:rPr>
              <a:t>= {2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 |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Z</a:t>
            </a:r>
            <a:r>
              <a:rPr lang="en-US" altLang="zh-CN">
                <a:sym typeface="Symbol" panose="05050102010706020507" pitchFamily="18" charset="2"/>
              </a:rPr>
              <a:t>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(2) 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>
                <a:sym typeface="Symbol" panose="05050102010706020507" pitchFamily="18" charset="2"/>
              </a:rPr>
              <a:t>= {2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+1 |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Z</a:t>
            </a:r>
            <a:r>
              <a:rPr lang="en-US" altLang="zh-CN">
                <a:sym typeface="Symbol" panose="05050102010706020507" pitchFamily="18" charset="2"/>
              </a:rPr>
              <a:t>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(3) 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>
                <a:sym typeface="Symbol" panose="05050102010706020507" pitchFamily="18" charset="2"/>
              </a:rPr>
              <a:t>= {</a:t>
            </a:r>
            <a:r>
              <a:rPr lang="en-US" altLang="zh-CN"/>
              <a:t>1, 0, 1}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>
            <a:extLst>
              <a:ext uri="{FF2B5EF4-FFF2-40B4-BE49-F238E27FC236}">
                <a16:creationId xmlns:a16="http://schemas.microsoft.com/office/drawing/2014/main" id="{9A6BB97E-C35A-41A4-A4E5-4657FCD4A5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B4AA9F2-E763-42A5-92D9-6C8F89366A7C}" type="slidenum">
              <a:rPr lang="en-US" altLang="zh-CN" smtClean="0"/>
              <a:pPr/>
              <a:t>9</a:t>
            </a:fld>
            <a:endParaRPr lang="en-US" altLang="zh-CN"/>
          </a:p>
        </p:txBody>
      </p:sp>
      <p:pic>
        <p:nvPicPr>
          <p:cNvPr id="17411" name="图片 5">
            <a:extLst>
              <a:ext uri="{FF2B5EF4-FFF2-40B4-BE49-F238E27FC236}">
                <a16:creationId xmlns:a16="http://schemas.microsoft.com/office/drawing/2014/main" id="{CC16517B-1479-46BD-B3C2-244F82574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1196975"/>
            <a:ext cx="90043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05D57FC-3B4E-4E20-AB22-01BE236AA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69888"/>
            <a:ext cx="8001000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/>
              <a:t>练习</a:t>
            </a:r>
            <a:r>
              <a:rPr lang="en-US" altLang="zh-CN" kern="0" dirty="0"/>
              <a:t>2</a:t>
            </a:r>
            <a:r>
              <a:rPr lang="zh-CN" altLang="en-US" kern="0" dirty="0"/>
              <a:t>解答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09E3983-72EB-4933-8878-61791E803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3500438"/>
            <a:ext cx="8326437" cy="322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kern="0" dirty="0"/>
              <a:t>(1) </a:t>
            </a:r>
            <a:r>
              <a:rPr lang="en-US" altLang="zh-CN" i="1" kern="0" dirty="0"/>
              <a:t>S</a:t>
            </a:r>
            <a:r>
              <a:rPr lang="zh-CN" altLang="en-US" kern="0" dirty="0"/>
              <a:t>关于</a:t>
            </a:r>
            <a:r>
              <a:rPr lang="en-US" altLang="zh-CN" i="1" kern="0" dirty="0"/>
              <a:t>V</a:t>
            </a:r>
            <a:r>
              <a:rPr lang="en-US" altLang="zh-CN" kern="0" baseline="-25000" dirty="0"/>
              <a:t>1</a:t>
            </a:r>
            <a:r>
              <a:rPr lang="zh-CN" altLang="en-US" kern="0" dirty="0"/>
              <a:t>构成子半群和子独异点，</a:t>
            </a:r>
            <a:endParaRPr lang="en-US" altLang="zh-CN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     </a:t>
            </a:r>
            <a:r>
              <a:rPr lang="zh-CN" altLang="en-US" kern="0" dirty="0"/>
              <a:t>但是，关于</a:t>
            </a:r>
            <a:r>
              <a:rPr lang="en-US" altLang="zh-CN" i="1" kern="0" dirty="0"/>
              <a:t>V</a:t>
            </a:r>
            <a:r>
              <a:rPr lang="en-US" altLang="zh-CN" kern="0" baseline="-25000" dirty="0"/>
              <a:t>2</a:t>
            </a:r>
            <a:r>
              <a:rPr lang="zh-CN" altLang="en-US" kern="0" dirty="0"/>
              <a:t>仅构成子半群，</a:t>
            </a:r>
            <a:r>
              <a:rPr lang="zh-CN" altLang="en-US" kern="0" dirty="0">
                <a:solidFill>
                  <a:srgbClr val="0066FF"/>
                </a:solidFill>
              </a:rPr>
              <a:t>不构成子独异点</a:t>
            </a:r>
            <a:r>
              <a:rPr lang="zh-CN" altLang="en-US" kern="0" dirty="0"/>
              <a:t>。</a:t>
            </a:r>
          </a:p>
          <a:p>
            <a:pPr eaLnBrk="1" hangingPunct="1">
              <a:defRPr/>
            </a:pPr>
            <a:r>
              <a:rPr lang="en-US" altLang="zh-CN" kern="0" dirty="0"/>
              <a:t>(2) </a:t>
            </a:r>
            <a:r>
              <a:rPr lang="en-US" altLang="zh-CN" i="1" kern="0" dirty="0"/>
              <a:t>S</a:t>
            </a:r>
            <a:r>
              <a:rPr lang="zh-CN" altLang="en-US" kern="0" dirty="0"/>
              <a:t>关于</a:t>
            </a:r>
            <a:r>
              <a:rPr lang="en-US" altLang="zh-CN" i="1" kern="0" dirty="0"/>
              <a:t>V</a:t>
            </a:r>
            <a:r>
              <a:rPr lang="en-US" altLang="zh-CN" kern="0" baseline="-25000" dirty="0"/>
              <a:t>1</a:t>
            </a:r>
            <a:r>
              <a:rPr lang="zh-CN" altLang="en-US" kern="0" dirty="0">
                <a:solidFill>
                  <a:srgbClr val="0066FF"/>
                </a:solidFill>
              </a:rPr>
              <a:t>不构成子半群</a:t>
            </a:r>
            <a:r>
              <a:rPr lang="zh-CN" altLang="en-US" kern="0" dirty="0"/>
              <a:t>也</a:t>
            </a:r>
            <a:r>
              <a:rPr lang="zh-CN" altLang="en-US" kern="0" dirty="0">
                <a:solidFill>
                  <a:srgbClr val="0066FF"/>
                </a:solidFill>
              </a:rPr>
              <a:t>不构成子独异点</a:t>
            </a:r>
            <a:r>
              <a:rPr lang="zh-CN" altLang="en-US" kern="0" dirty="0"/>
              <a:t>，  </a:t>
            </a:r>
            <a:endParaRPr lang="en-US" altLang="zh-CN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i="1" kern="0" dirty="0"/>
              <a:t>          </a:t>
            </a:r>
            <a:r>
              <a:rPr lang="zh-CN" altLang="en-US" kern="0" dirty="0"/>
              <a:t>关于</a:t>
            </a:r>
            <a:r>
              <a:rPr lang="en-US" altLang="zh-CN" i="1" kern="0" dirty="0"/>
              <a:t>V</a:t>
            </a:r>
            <a:r>
              <a:rPr lang="en-US" altLang="zh-CN" kern="0" baseline="-25000" dirty="0"/>
              <a:t>2</a:t>
            </a:r>
            <a:r>
              <a:rPr lang="zh-CN" altLang="en-US" kern="0" dirty="0"/>
              <a:t>构成子半群和子独异点。</a:t>
            </a:r>
          </a:p>
          <a:p>
            <a:pPr eaLnBrk="1" hangingPunct="1">
              <a:defRPr/>
            </a:pPr>
            <a:r>
              <a:rPr lang="en-US" altLang="zh-CN" kern="0" dirty="0"/>
              <a:t>(3) </a:t>
            </a:r>
            <a:r>
              <a:rPr lang="en-US" altLang="zh-CN" i="1" kern="0" dirty="0"/>
              <a:t>S</a:t>
            </a:r>
            <a:r>
              <a:rPr lang="zh-CN" altLang="en-US" kern="0" dirty="0"/>
              <a:t>关于</a:t>
            </a:r>
            <a:r>
              <a:rPr lang="en-US" altLang="zh-CN" i="1" kern="0" dirty="0"/>
              <a:t>V</a:t>
            </a:r>
            <a:r>
              <a:rPr lang="en-US" altLang="zh-CN" kern="0" baseline="-25000" dirty="0"/>
              <a:t>1</a:t>
            </a:r>
            <a:r>
              <a:rPr lang="zh-CN" altLang="en-US" kern="0" dirty="0">
                <a:solidFill>
                  <a:srgbClr val="0066FF"/>
                </a:solidFill>
              </a:rPr>
              <a:t>不构成子半群和子独异点</a:t>
            </a:r>
            <a:r>
              <a:rPr lang="zh-CN" altLang="en-US" kern="0" dirty="0"/>
              <a:t>，</a:t>
            </a:r>
            <a:endParaRPr lang="en-US" altLang="zh-CN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           </a:t>
            </a:r>
            <a:r>
              <a:rPr lang="zh-CN" altLang="en-US" kern="0" dirty="0"/>
              <a:t>关于</a:t>
            </a:r>
            <a:r>
              <a:rPr lang="en-US" altLang="zh-CN" i="1" kern="0" dirty="0"/>
              <a:t>V</a:t>
            </a:r>
            <a:r>
              <a:rPr lang="en-US" altLang="zh-CN" kern="0" baseline="-25000" dirty="0"/>
              <a:t>2</a:t>
            </a:r>
            <a:r>
              <a:rPr lang="zh-CN" altLang="en-US" kern="0" dirty="0"/>
              <a:t>构成子半群和子独异点。</a:t>
            </a:r>
          </a:p>
          <a:p>
            <a:pPr eaLnBrk="1" hangingPunct="1">
              <a:defRPr/>
            </a:pPr>
            <a:endParaRPr lang="en-US" altLang="zh-CN" kern="0" dirty="0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19DF2343-CD55-4CA3-A763-E4552A88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5EE15B-0A30-43D6-AA5E-7799C21C36D4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D9C18A0-F659-49D0-AD55-4319623E73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3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3EAC6D8-795A-4125-97A8-F7AC7CDCA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</a:t>
            </a:r>
            <a:r>
              <a:rPr lang="en-US" altLang="zh-CN"/>
              <a:t>Z</a:t>
            </a:r>
            <a:r>
              <a:rPr lang="en-US" altLang="zh-CN" baseline="-25000"/>
              <a:t>18</a:t>
            </a:r>
            <a:r>
              <a:rPr lang="en-US" altLang="zh-CN"/>
              <a:t> </a:t>
            </a:r>
            <a:r>
              <a:rPr lang="zh-CN" altLang="en-US"/>
              <a:t>为模</a:t>
            </a:r>
            <a:r>
              <a:rPr lang="en-US" altLang="zh-CN"/>
              <a:t>18</a:t>
            </a:r>
            <a:r>
              <a:rPr lang="zh-CN" altLang="en-US"/>
              <a:t>整数加群</a:t>
            </a:r>
            <a:r>
              <a:rPr lang="en-US" altLang="zh-CN"/>
              <a:t>, </a:t>
            </a:r>
            <a:r>
              <a:rPr lang="zh-CN" altLang="en-US"/>
              <a:t>求所有元素的阶</a:t>
            </a:r>
            <a:r>
              <a:rPr lang="en-US" altLang="zh-CN"/>
              <a:t>.</a:t>
            </a:r>
          </a:p>
          <a:p>
            <a:pPr eaLnBrk="1" hangingPunct="1"/>
            <a:r>
              <a:rPr lang="zh-CN" altLang="en-US"/>
              <a:t>解：</a:t>
            </a:r>
          </a:p>
          <a:p>
            <a:pPr marL="742950" lvl="1" indent="-285750" eaLnBrk="1" hangingPunct="1">
              <a:buFont typeface="Wingdings" panose="05000000000000000000" pitchFamily="2" charset="2"/>
              <a:buNone/>
            </a:pPr>
            <a:r>
              <a:rPr lang="en-US" altLang="zh-CN"/>
              <a:t>|0| = 1</a:t>
            </a:r>
          </a:p>
          <a:p>
            <a:pPr marL="742950" lvl="1" indent="-285750" eaLnBrk="1" hangingPunct="1">
              <a:buFont typeface="Wingdings" panose="05000000000000000000" pitchFamily="2" charset="2"/>
              <a:buNone/>
            </a:pPr>
            <a:r>
              <a:rPr lang="en-US" altLang="zh-CN"/>
              <a:t>|9| = 2</a:t>
            </a:r>
            <a:endParaRPr lang="zh-CN" altLang="en-US"/>
          </a:p>
          <a:p>
            <a:pPr marL="742950" lvl="1" indent="-285750" eaLnBrk="1" hangingPunct="1">
              <a:buFont typeface="Wingdings" panose="05000000000000000000" pitchFamily="2" charset="2"/>
              <a:buNone/>
            </a:pPr>
            <a:r>
              <a:rPr lang="en-US" altLang="zh-CN"/>
              <a:t>|6| = |12| = 3</a:t>
            </a:r>
          </a:p>
          <a:p>
            <a:pPr marL="742950" lvl="1" indent="-285750" eaLnBrk="1" hangingPunct="1">
              <a:buFont typeface="Wingdings" panose="05000000000000000000" pitchFamily="2" charset="2"/>
              <a:buNone/>
            </a:pPr>
            <a:r>
              <a:rPr lang="en-US" altLang="zh-CN"/>
              <a:t>|3| = |15| = 6</a:t>
            </a:r>
          </a:p>
          <a:p>
            <a:pPr marL="742950" lvl="1" indent="-285750" eaLnBrk="1" hangingPunct="1">
              <a:buFont typeface="Wingdings" panose="05000000000000000000" pitchFamily="2" charset="2"/>
              <a:buNone/>
            </a:pPr>
            <a:r>
              <a:rPr lang="en-US" altLang="zh-CN"/>
              <a:t>|2| = |4| = |8| = |10| = |14| = |16| = 9</a:t>
            </a:r>
          </a:p>
          <a:p>
            <a:pPr marL="742950" lvl="1" indent="-285750" eaLnBrk="1" hangingPunct="1">
              <a:buFont typeface="Wingdings" panose="05000000000000000000" pitchFamily="2" charset="2"/>
              <a:buNone/>
            </a:pPr>
            <a:r>
              <a:rPr lang="en-US" altLang="zh-CN"/>
              <a:t>|1| = |5| = |7| = |11| = |13| = |17| =18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F8D6A44C-2CEF-4230-94D5-D5CA7ECB9BC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8359C76-AC33-475E-AC43-3B34B0E1C900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7F31955-AF2C-4C40-BB3E-C2E9BA8AB2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说明</a:t>
            </a:r>
          </a:p>
        </p:txBody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BDAFB187-BBE6-49EA-BDAA-1D8774FD08C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66738" y="1270000"/>
            <a:ext cx="8108950" cy="4822825"/>
          </a:xfrm>
        </p:spPr>
        <p:txBody>
          <a:bodyPr/>
          <a:lstStyle/>
          <a:p>
            <a:pPr eaLnBrk="1" hangingPunct="1">
              <a:buClr>
                <a:srgbClr val="FF9900"/>
              </a:buClr>
              <a:defRPr/>
            </a:pPr>
            <a:r>
              <a:rPr lang="zh-CN" altLang="en-US" dirty="0"/>
              <a:t>群中元素的阶可能存在，也可能不存在</a:t>
            </a:r>
            <a:r>
              <a:rPr lang="en-US" altLang="zh-CN" dirty="0"/>
              <a:t>. </a:t>
            </a:r>
          </a:p>
          <a:p>
            <a:pPr eaLnBrk="1" hangingPunct="1">
              <a:buClr>
                <a:srgbClr val="FF9900"/>
              </a:buClr>
              <a:defRPr/>
            </a:pPr>
            <a:r>
              <a:rPr lang="zh-CN" altLang="en-US" dirty="0">
                <a:solidFill>
                  <a:srgbClr val="0066FF"/>
                </a:solidFill>
              </a:rPr>
              <a:t>对于有限群，每个元素的阶都存在，而且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indent="0" eaLnBrk="1" hangingPunct="1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66FF"/>
                </a:solidFill>
              </a:rPr>
              <a:t>     </a:t>
            </a:r>
            <a:r>
              <a:rPr lang="zh-CN" altLang="en-US" dirty="0">
                <a:solidFill>
                  <a:srgbClr val="0066FF"/>
                </a:solidFill>
              </a:rPr>
              <a:t>是群的阶的因子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</a:p>
          <a:p>
            <a:pPr eaLnBrk="1" hangingPunct="1">
              <a:buClr>
                <a:srgbClr val="FF9900"/>
              </a:buClr>
              <a:defRPr/>
            </a:pPr>
            <a:r>
              <a:rPr lang="zh-CN" altLang="en-US" dirty="0"/>
              <a:t>对于无限群，单位元的阶存在，是</a:t>
            </a:r>
            <a:r>
              <a:rPr lang="en-US" altLang="zh-CN" dirty="0"/>
              <a:t>1</a:t>
            </a:r>
            <a:r>
              <a:rPr lang="zh-CN" altLang="en-US" dirty="0"/>
              <a:t>；而其它元素的阶可能存在，也可能不存在</a:t>
            </a:r>
            <a:r>
              <a:rPr lang="en-US" altLang="zh-CN" dirty="0"/>
              <a:t>.</a:t>
            </a:r>
            <a:r>
              <a:rPr lang="zh-CN" altLang="en-US" dirty="0"/>
              <a:t>（可能所有元素的阶都存在，但是群还是无限群）</a:t>
            </a:r>
            <a:r>
              <a:rPr lang="en-US" altLang="zh-CN" dirty="0"/>
              <a:t>.</a:t>
            </a:r>
          </a:p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1570E0F6-12C8-450E-A3F4-EFFD84524F2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CE198CB-FC05-4ABC-89C1-FCC4CF99617E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BDA78A2-C90E-4207-AF7F-03EA71313B9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4</a:t>
            </a:r>
          </a:p>
        </p:txBody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44EB1F73-0394-40F8-B50B-D008FBE617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(1) </a:t>
            </a:r>
            <a:r>
              <a:rPr lang="zh-CN" altLang="en-US"/>
              <a:t>设</a:t>
            </a:r>
            <a:r>
              <a:rPr lang="en-US" altLang="zh-CN" i="1"/>
              <a:t>G</a:t>
            </a:r>
            <a:r>
              <a:rPr lang="zh-CN" altLang="en-US"/>
              <a:t>为模</a:t>
            </a:r>
            <a:r>
              <a:rPr lang="en-US" altLang="zh-CN"/>
              <a:t>12</a:t>
            </a:r>
            <a:r>
              <a:rPr lang="zh-CN" altLang="en-US"/>
              <a:t>加群</a:t>
            </a:r>
            <a:r>
              <a:rPr lang="en-US" altLang="zh-CN"/>
              <a:t>, </a:t>
            </a:r>
            <a:r>
              <a:rPr lang="zh-CN" altLang="en-US"/>
              <a:t>求</a:t>
            </a:r>
            <a:r>
              <a:rPr lang="en-US" altLang="zh-CN"/>
              <a:t>&lt;3&gt; </a:t>
            </a:r>
            <a:r>
              <a:rPr lang="zh-CN" altLang="en-US"/>
              <a:t>在</a:t>
            </a:r>
            <a:r>
              <a:rPr lang="en-US" altLang="zh-CN" i="1"/>
              <a:t>G</a:t>
            </a:r>
            <a:r>
              <a:rPr lang="zh-CN" altLang="en-US"/>
              <a:t>中所有的左陪集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(2) </a:t>
            </a:r>
            <a:r>
              <a:rPr lang="zh-CN" altLang="en-US"/>
              <a:t>设 </a:t>
            </a:r>
            <a:r>
              <a:rPr lang="en-US" altLang="zh-CN" i="1"/>
              <a:t>X</a:t>
            </a:r>
            <a:r>
              <a:rPr lang="en-US" altLang="zh-CN"/>
              <a:t>= {</a:t>
            </a:r>
            <a:r>
              <a:rPr lang="en-US" altLang="zh-CN" i="1"/>
              <a:t>x</a:t>
            </a:r>
            <a:r>
              <a:rPr lang="en-US" altLang="zh-CN"/>
              <a:t> |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R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 </a:t>
            </a:r>
            <a:r>
              <a:rPr lang="en-US" altLang="zh-CN"/>
              <a:t>0,1}, </a:t>
            </a:r>
            <a:r>
              <a:rPr lang="zh-CN" altLang="en-US">
                <a:sym typeface="Symbol" panose="05050102010706020507" pitchFamily="18" charset="2"/>
              </a:rPr>
              <a:t>在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zh-CN" altLang="en-US">
                <a:sym typeface="Symbol" panose="05050102010706020507" pitchFamily="18" charset="2"/>
              </a:rPr>
              <a:t>上如下定义</a:t>
            </a:r>
            <a:r>
              <a:rPr lang="en-US" altLang="zh-CN">
                <a:sym typeface="Symbol" panose="05050102010706020507" pitchFamily="18" charset="2"/>
              </a:rPr>
              <a:t>6</a:t>
            </a:r>
            <a:r>
              <a:rPr lang="zh-CN" altLang="en-US">
                <a:sym typeface="Symbol" panose="05050102010706020507" pitchFamily="18" charset="2"/>
              </a:rPr>
              <a:t>个函数：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i="1">
                <a:sym typeface="Symbol" panose="05050102010706020507" pitchFamily="18" charset="2"/>
              </a:rPr>
              <a:t>  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 = 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zh-CN" altLang="en-US">
                <a:sym typeface="Symbol" panose="05050102010706020507" pitchFamily="18" charset="2"/>
              </a:rPr>
              <a:t>，    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 =1/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,     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 = 1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>
                <a:sym typeface="Symbol" panose="05050102010706020507" pitchFamily="18" charset="2"/>
              </a:rPr>
              <a:t>  f</a:t>
            </a:r>
            <a:r>
              <a:rPr lang="en-US" altLang="zh-CN" baseline="-25000"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 = 1/(1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), 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5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 = 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1)/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, 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) = 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/(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1),</a:t>
            </a:r>
            <a:r>
              <a:rPr lang="en-US" altLang="zh-CN">
                <a:sym typeface="Symbol" panose="05050102010706020507" pitchFamily="18" charset="2"/>
              </a:rPr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 i="1">
                <a:sym typeface="Symbol" panose="05050102010706020507" pitchFamily="18" charset="2"/>
              </a:rPr>
              <a:t>G </a:t>
            </a:r>
            <a:r>
              <a:rPr lang="en-US" altLang="zh-CN">
                <a:sym typeface="Symbol" panose="05050102010706020507" pitchFamily="18" charset="2"/>
              </a:rPr>
              <a:t>= {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5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}</a:t>
            </a:r>
            <a:r>
              <a:rPr lang="zh-CN" altLang="en-US">
                <a:sym typeface="Symbol" panose="05050102010706020507" pitchFamily="18" charset="2"/>
              </a:rPr>
              <a:t>关于函数合成运算构成群</a:t>
            </a:r>
            <a:r>
              <a:rPr lang="en-US" altLang="zh-CN">
                <a:sym typeface="Symbol" panose="05050102010706020507" pitchFamily="18" charset="2"/>
              </a:rPr>
              <a:t>. </a:t>
            </a:r>
            <a:r>
              <a:rPr lang="zh-CN" altLang="en-US">
                <a:sym typeface="Symbol" panose="05050102010706020507" pitchFamily="18" charset="2"/>
              </a:rPr>
              <a:t>求子群</a:t>
            </a:r>
            <a:r>
              <a:rPr lang="en-US" altLang="zh-CN" i="1">
                <a:sym typeface="Symbol" panose="05050102010706020507" pitchFamily="18" charset="2"/>
              </a:rPr>
              <a:t>H</a:t>
            </a:r>
            <a:r>
              <a:rPr lang="en-US" altLang="zh-CN">
                <a:sym typeface="Symbol" panose="05050102010706020507" pitchFamily="18" charset="2"/>
              </a:rPr>
              <a:t>={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f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} </a:t>
            </a:r>
            <a:r>
              <a:rPr lang="zh-CN" altLang="en-US">
                <a:sym typeface="Symbol" panose="05050102010706020507" pitchFamily="18" charset="2"/>
              </a:rPr>
              <a:t>的所有的右陪集</a:t>
            </a:r>
            <a:r>
              <a:rPr lang="en-US" altLang="zh-CN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E6061A40-798D-4E1C-BE27-DB26C8637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05F4AE-679D-49EB-822B-89109770D1E6}" type="slidenum">
              <a:rPr lang="en-US" altLang="zh-CN" smtClean="0"/>
              <a:pPr/>
              <a:t>13</a:t>
            </a:fld>
            <a:endParaRPr lang="en-US" altLang="zh-CN"/>
          </a:p>
        </p:txBody>
      </p:sp>
      <p:pic>
        <p:nvPicPr>
          <p:cNvPr id="22531" name="图片 6">
            <a:extLst>
              <a:ext uri="{FF2B5EF4-FFF2-40B4-BE49-F238E27FC236}">
                <a16:creationId xmlns:a16="http://schemas.microsoft.com/office/drawing/2014/main" id="{F3892C2B-4A1D-459E-A31A-9DB01BFEA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1412875"/>
            <a:ext cx="6599237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9">
            <a:extLst>
              <a:ext uri="{FF2B5EF4-FFF2-40B4-BE49-F238E27FC236}">
                <a16:creationId xmlns:a16="http://schemas.microsoft.com/office/drawing/2014/main" id="{F3BCEB7D-E10A-4E22-89C6-81F20FA1F935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381000"/>
            <a:ext cx="8001000" cy="7477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800" i="1" kern="0" dirty="0"/>
              <a:t>G</a:t>
            </a:r>
            <a:r>
              <a:rPr lang="en-US" altLang="zh-CN" sz="2800" kern="0" dirty="0"/>
              <a:t>=&lt;Z</a:t>
            </a:r>
            <a:r>
              <a:rPr lang="en-US" altLang="zh-CN" sz="2800" kern="0" baseline="-25000" dirty="0"/>
              <a:t>12</a:t>
            </a:r>
            <a:r>
              <a:rPr lang="en-US" altLang="zh-CN" sz="2800" kern="0" dirty="0"/>
              <a:t>, </a:t>
            </a:r>
            <a:r>
              <a:rPr lang="en-US" altLang="zh-CN" sz="2800" kern="0" dirty="0">
                <a:sym typeface="Symbol" panose="05050102010706020507" pitchFamily="18" charset="2"/>
              </a:rPr>
              <a:t>&gt;</a:t>
            </a:r>
            <a:endParaRPr lang="zh-CN" altLang="en-US" sz="2800" kern="0" dirty="0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D9A0DFFF-457E-4172-8EC2-37A657FDD90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32E532D-8B5C-456E-B841-8C7F5712A726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DD60F5F-A8D5-4B68-A172-9E070F38B4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4</a:t>
            </a:r>
            <a:r>
              <a:rPr lang="zh-CN" altLang="en-US"/>
              <a:t>解答</a:t>
            </a:r>
          </a:p>
        </p:txBody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D823F94B-0417-4805-B648-E039A3D794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解：</a:t>
            </a:r>
            <a:r>
              <a:rPr lang="en-US" altLang="zh-CN"/>
              <a:t>(1) &lt;3&gt; = {0, 3, 6, 9}, &lt;3&gt;</a:t>
            </a:r>
            <a:r>
              <a:rPr lang="zh-CN" altLang="en-US"/>
              <a:t>的不同左陪集有</a:t>
            </a:r>
            <a:r>
              <a:rPr lang="en-US" altLang="zh-CN"/>
              <a:t>3</a:t>
            </a:r>
            <a:r>
              <a:rPr lang="zh-CN" altLang="en-US"/>
              <a:t>个，即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</a:t>
            </a:r>
            <a:r>
              <a:rPr lang="en-US" altLang="zh-CN"/>
              <a:t>0&lt;3&gt; = &lt;3&gt;,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1&lt;3&gt; = {1, 4, 7, 10}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=4&lt;3&gt; = 7&lt;3&gt; = 10&lt;3&gt;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2&lt;3&gt;= {2, 5, 8, 11}</a:t>
            </a:r>
          </a:p>
          <a:p>
            <a:pPr marL="1143000" lvl="2" indent="-228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= 5&lt;3&gt; = 8&lt;3&gt; = 11&lt;3&gt;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5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5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2" grpId="0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75570EC4-6739-41FB-AEDB-C3DD6ED5FA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F0D8B45-C224-4D2E-96EA-0537F488080F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0CACAA-2056-48A6-8ED6-50626FF6D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/>
              <a:t>练习</a:t>
            </a:r>
            <a:r>
              <a:rPr lang="en-US" altLang="zh-CN" kern="0"/>
              <a:t>4</a:t>
            </a:r>
            <a:r>
              <a:rPr lang="zh-CN" altLang="en-US" kern="0"/>
              <a:t>解答</a:t>
            </a:r>
            <a:endParaRPr lang="zh-CN" altLang="en-US" kern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D0684B8-09FD-404C-8E1A-0150DB46C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660525"/>
            <a:ext cx="3852863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解：</a:t>
            </a:r>
            <a:r>
              <a:rPr lang="en-US" altLang="zh-CN" kern="0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(2) {</a:t>
            </a:r>
            <a:r>
              <a:rPr lang="en-US" altLang="zh-CN" i="1" kern="0" dirty="0"/>
              <a:t>f</a:t>
            </a:r>
            <a:r>
              <a:rPr lang="en-US" altLang="zh-CN" kern="0" baseline="-25000" dirty="0"/>
              <a:t>1</a:t>
            </a:r>
            <a:r>
              <a:rPr lang="en-US" altLang="zh-CN" kern="0" dirty="0"/>
              <a:t>, </a:t>
            </a:r>
            <a:r>
              <a:rPr lang="en-US" altLang="zh-CN" i="1" kern="0" dirty="0"/>
              <a:t>f</a:t>
            </a:r>
            <a:r>
              <a:rPr lang="en-US" altLang="zh-CN" kern="0" baseline="-25000" dirty="0"/>
              <a:t>2</a:t>
            </a:r>
            <a:r>
              <a:rPr lang="en-US" altLang="zh-CN" kern="0" dirty="0"/>
              <a:t>}</a:t>
            </a:r>
            <a:r>
              <a:rPr lang="zh-CN" altLang="en-US" kern="0" dirty="0"/>
              <a:t>有</a:t>
            </a:r>
            <a:r>
              <a:rPr lang="en-US" altLang="zh-CN" kern="0" dirty="0"/>
              <a:t>3</a:t>
            </a:r>
            <a:r>
              <a:rPr lang="zh-CN" altLang="en-US" kern="0" dirty="0"/>
              <a:t>个不同的右陪集：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i="1" kern="0" dirty="0"/>
              <a:t>     H</a:t>
            </a:r>
            <a:r>
              <a:rPr lang="zh-CN" altLang="en-US" kern="0" dirty="0"/>
              <a:t>，</a:t>
            </a:r>
            <a:endParaRPr lang="en-US" altLang="zh-CN" kern="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i="1" kern="0" dirty="0"/>
              <a:t>     Hf</a:t>
            </a:r>
            <a:r>
              <a:rPr lang="en-US" altLang="zh-CN" kern="0" baseline="-25000" dirty="0"/>
              <a:t>3</a:t>
            </a:r>
            <a:r>
              <a:rPr lang="en-US" altLang="zh-CN" kern="0" dirty="0"/>
              <a:t> = {</a:t>
            </a:r>
            <a:r>
              <a:rPr lang="en-US" altLang="zh-CN" i="1" kern="0" dirty="0"/>
              <a:t>f</a:t>
            </a:r>
            <a:r>
              <a:rPr lang="en-US" altLang="zh-CN" kern="0" baseline="-25000" dirty="0"/>
              <a:t>3</a:t>
            </a:r>
            <a:r>
              <a:rPr lang="en-US" altLang="zh-CN" kern="0" dirty="0"/>
              <a:t>, </a:t>
            </a:r>
            <a:r>
              <a:rPr lang="en-US" altLang="zh-CN" i="1" kern="0" dirty="0"/>
              <a:t>f</a:t>
            </a:r>
            <a:r>
              <a:rPr lang="en-US" altLang="zh-CN" kern="0" baseline="-25000" dirty="0"/>
              <a:t>5</a:t>
            </a:r>
            <a:r>
              <a:rPr lang="en-US" altLang="zh-CN" kern="0" dirty="0"/>
              <a:t>},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i="1" kern="0" dirty="0"/>
              <a:t>     Hf</a:t>
            </a:r>
            <a:r>
              <a:rPr lang="en-US" altLang="zh-CN" kern="0" baseline="-25000" dirty="0"/>
              <a:t>4</a:t>
            </a:r>
            <a:r>
              <a:rPr lang="en-US" altLang="zh-CN" kern="0" dirty="0"/>
              <a:t> = {</a:t>
            </a:r>
            <a:r>
              <a:rPr lang="en-US" altLang="zh-CN" i="1" kern="0" dirty="0"/>
              <a:t>f</a:t>
            </a:r>
            <a:r>
              <a:rPr lang="en-US" altLang="zh-CN" kern="0" baseline="-25000" dirty="0"/>
              <a:t>4</a:t>
            </a:r>
            <a:r>
              <a:rPr lang="en-US" altLang="zh-CN" kern="0" dirty="0"/>
              <a:t>, </a:t>
            </a:r>
            <a:r>
              <a:rPr lang="en-US" altLang="zh-CN" i="1" kern="0" dirty="0"/>
              <a:t>f</a:t>
            </a:r>
            <a:r>
              <a:rPr lang="en-US" altLang="zh-CN" kern="0" baseline="-25000" dirty="0"/>
              <a:t>6</a:t>
            </a:r>
            <a:r>
              <a:rPr lang="en-US" altLang="zh-CN" kern="0" dirty="0"/>
              <a:t>}. </a:t>
            </a:r>
          </a:p>
        </p:txBody>
      </p:sp>
      <p:graphicFrame>
        <p:nvGraphicFramePr>
          <p:cNvPr id="7" name="Group 93">
            <a:extLst>
              <a:ext uri="{FF2B5EF4-FFF2-40B4-BE49-F238E27FC236}">
                <a16:creationId xmlns:a16="http://schemas.microsoft.com/office/drawing/2014/main" id="{E183B76D-3E97-4BC3-87CE-494C5A1BD03F}"/>
              </a:ext>
            </a:extLst>
          </p:cNvPr>
          <p:cNvGraphicFramePr>
            <a:graphicFrameLocks/>
          </p:cNvGraphicFramePr>
          <p:nvPr/>
        </p:nvGraphicFramePr>
        <p:xfrm>
          <a:off x="4716463" y="1989138"/>
          <a:ext cx="3573462" cy="3843340"/>
        </p:xfrm>
        <a:graphic>
          <a:graphicData uri="http://schemas.openxmlformats.org/drawingml/2006/table">
            <a:tbl>
              <a:tblPr/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0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◦</a:t>
                      </a:r>
                    </a:p>
                  </a:txBody>
                  <a:tcPr marL="90000" marR="90000" marT="46809" marB="468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C7EA16F2-BDA7-4C07-9C1F-9997EEC1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9FD820-6DE5-4BCF-9228-290A17EE675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BA7956F-29FB-40EA-BFB5-E1FE20B74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5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8C0CC93-8B1F-4D8A-BAAF-AA544BE83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证明偶数阶群必含</a:t>
            </a:r>
            <a:r>
              <a:rPr lang="en-US" altLang="zh-CN"/>
              <a:t>2</a:t>
            </a:r>
            <a:r>
              <a:rPr lang="zh-CN" altLang="en-US"/>
              <a:t>阶元</a:t>
            </a:r>
            <a:r>
              <a:rPr lang="en-US" altLang="zh-CN"/>
              <a:t>.</a:t>
            </a:r>
          </a:p>
          <a:p>
            <a:pPr eaLnBrk="1" hangingPunct="1"/>
            <a:r>
              <a:rPr lang="zh-CN" altLang="en-US"/>
              <a:t>证：由 </a:t>
            </a:r>
            <a:r>
              <a:rPr lang="en-US" altLang="zh-CN" i="1"/>
              <a:t>x</a:t>
            </a:r>
            <a:r>
              <a:rPr lang="en-US" altLang="zh-CN" baseline="30000"/>
              <a:t>2 </a:t>
            </a:r>
            <a:r>
              <a:rPr lang="en-US" altLang="zh-CN"/>
              <a:t>= </a:t>
            </a:r>
            <a:r>
              <a:rPr lang="en-US" altLang="zh-CN" i="1"/>
              <a:t>e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|</a:t>
            </a:r>
            <a:r>
              <a:rPr lang="en-US" altLang="zh-CN" i="1"/>
              <a:t>x</a:t>
            </a:r>
            <a:r>
              <a:rPr lang="en-US" altLang="zh-CN"/>
              <a:t>| = 1 </a:t>
            </a:r>
            <a:r>
              <a:rPr lang="zh-CN" altLang="en-US"/>
              <a:t>或</a:t>
            </a:r>
            <a:r>
              <a:rPr lang="en-US" altLang="zh-CN"/>
              <a:t>2.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>
                <a:solidFill>
                  <a:srgbClr val="0066FF"/>
                </a:solidFill>
              </a:rPr>
              <a:t>换句话说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</a:rPr>
              <a:t>对于</a:t>
            </a:r>
            <a:r>
              <a:rPr lang="en-US" altLang="zh-CN" i="1">
                <a:solidFill>
                  <a:srgbClr val="0066FF"/>
                </a:solidFill>
              </a:rPr>
              <a:t>G</a:t>
            </a:r>
            <a:r>
              <a:rPr lang="zh-CN" altLang="en-US">
                <a:solidFill>
                  <a:srgbClr val="0066FF"/>
                </a:solidFill>
              </a:rPr>
              <a:t>中元素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zh-CN" altLang="en-US">
                <a:solidFill>
                  <a:srgbClr val="0066FF"/>
                </a:solidFill>
              </a:rPr>
              <a:t>，如果 </a:t>
            </a:r>
            <a:r>
              <a:rPr lang="en-US" altLang="zh-CN">
                <a:solidFill>
                  <a:srgbClr val="0066FF"/>
                </a:solidFill>
              </a:rPr>
              <a:t>|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| &gt;2, </a:t>
            </a:r>
            <a:r>
              <a:rPr lang="zh-CN" altLang="en-US">
                <a:solidFill>
                  <a:srgbClr val="0066FF"/>
                </a:solidFill>
              </a:rPr>
              <a:t>必有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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/>
              <a:t>由于 </a:t>
            </a:r>
            <a:r>
              <a:rPr lang="en-US" altLang="zh-CN"/>
              <a:t>|</a:t>
            </a:r>
            <a:r>
              <a:rPr lang="en-US" altLang="zh-CN" i="1"/>
              <a:t>x</a:t>
            </a:r>
            <a:r>
              <a:rPr lang="en-US" altLang="zh-CN"/>
              <a:t>| = |</a:t>
            </a:r>
            <a:r>
              <a:rPr lang="en-US" altLang="zh-CN" i="1"/>
              <a:t>x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|</a:t>
            </a:r>
            <a:r>
              <a:rPr lang="zh-CN" altLang="en-US"/>
              <a:t>，阶大于</a:t>
            </a:r>
            <a:r>
              <a:rPr lang="en-US" altLang="zh-CN"/>
              <a:t>2</a:t>
            </a:r>
            <a:r>
              <a:rPr lang="zh-CN" altLang="en-US"/>
              <a:t>的元素成对出现，共有偶数个</a:t>
            </a:r>
            <a:r>
              <a:rPr lang="en-US" altLang="zh-CN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>
                <a:solidFill>
                  <a:srgbClr val="0066FF"/>
                </a:solidFill>
              </a:rPr>
              <a:t>那么剩下的 </a:t>
            </a:r>
            <a:r>
              <a:rPr lang="en-US" altLang="zh-CN">
                <a:solidFill>
                  <a:srgbClr val="0066FF"/>
                </a:solidFill>
              </a:rPr>
              <a:t>1 </a:t>
            </a:r>
            <a:r>
              <a:rPr lang="zh-CN" altLang="en-US">
                <a:solidFill>
                  <a:srgbClr val="0066FF"/>
                </a:solidFill>
              </a:rPr>
              <a:t>阶和 </a:t>
            </a:r>
            <a:r>
              <a:rPr lang="en-US" altLang="zh-CN">
                <a:solidFill>
                  <a:srgbClr val="0066FF"/>
                </a:solidFill>
              </a:rPr>
              <a:t>2 </a:t>
            </a:r>
            <a:r>
              <a:rPr lang="zh-CN" altLang="en-US">
                <a:solidFill>
                  <a:srgbClr val="0066FF"/>
                </a:solidFill>
              </a:rPr>
              <a:t>阶元总共应该是偶数个</a:t>
            </a:r>
            <a:r>
              <a:rPr lang="en-US" altLang="zh-CN">
                <a:solidFill>
                  <a:srgbClr val="0066FF"/>
                </a:solidFill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1 </a:t>
            </a:r>
            <a:r>
              <a:rPr lang="zh-CN" altLang="en-US"/>
              <a:t>阶元只有 </a:t>
            </a:r>
            <a:r>
              <a:rPr lang="en-US" altLang="zh-CN"/>
              <a:t>1 </a:t>
            </a:r>
            <a:r>
              <a:rPr lang="zh-CN" altLang="en-US"/>
              <a:t>个，就是单位元，从而证明了</a:t>
            </a:r>
            <a:r>
              <a:rPr lang="en-US" altLang="zh-CN" i="1"/>
              <a:t>G</a:t>
            </a:r>
            <a:r>
              <a:rPr lang="zh-CN" altLang="en-US"/>
              <a:t>中必有 </a:t>
            </a:r>
            <a:r>
              <a:rPr lang="en-US" altLang="zh-CN"/>
              <a:t>2 </a:t>
            </a:r>
            <a:r>
              <a:rPr lang="zh-CN" altLang="en-US"/>
              <a:t>阶元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161BFB78-FFCF-4629-9C5A-E057ED0A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02F6ECC-C7C7-4F1A-BA62-37D0AF4ACCDD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5A81C85D-4366-47CA-94F9-F5364A1E1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6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26AF9583-453D-4B47-9FB7-59C49BB3B9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/>
              <a:t>a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中的</a:t>
            </a:r>
            <a:r>
              <a:rPr lang="en-US" altLang="zh-CN" dirty="0"/>
              <a:t>2 </a:t>
            </a:r>
            <a:r>
              <a:rPr lang="zh-CN" altLang="en-US" dirty="0"/>
              <a:t>阶元，证明</a:t>
            </a:r>
            <a:r>
              <a:rPr lang="en-US" altLang="zh-CN" i="1" dirty="0"/>
              <a:t>G</a:t>
            </a:r>
            <a:r>
              <a:rPr lang="zh-CN" altLang="en-US" dirty="0"/>
              <a:t>中与</a:t>
            </a:r>
            <a:r>
              <a:rPr lang="en-US" altLang="zh-CN" i="1" dirty="0"/>
              <a:t>a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i="1" dirty="0"/>
              <a:t>     </a:t>
            </a:r>
            <a:r>
              <a:rPr lang="zh-CN" altLang="en-US" dirty="0"/>
              <a:t>可交换的元素构成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.</a:t>
            </a:r>
          </a:p>
          <a:p>
            <a:pPr eaLnBrk="1" hangingPunct="1">
              <a:defRPr/>
            </a:pPr>
            <a:r>
              <a:rPr lang="zh-CN" altLang="en-US" dirty="0"/>
              <a:t>证明：令</a:t>
            </a:r>
            <a:r>
              <a:rPr lang="en-US" altLang="zh-CN" i="1" dirty="0"/>
              <a:t>H</a:t>
            </a:r>
            <a:r>
              <a:rPr lang="en-US" altLang="zh-CN" dirty="0"/>
              <a:t>= { </a:t>
            </a:r>
            <a:r>
              <a:rPr lang="en-US" altLang="zh-CN" i="1" dirty="0"/>
              <a:t>x</a:t>
            </a:r>
            <a:r>
              <a:rPr lang="en-US" altLang="zh-CN" dirty="0"/>
              <a:t> |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G</a:t>
            </a:r>
            <a:r>
              <a:rPr lang="en-US" altLang="zh-CN" dirty="0">
                <a:sym typeface="Symbol" panose="05050102010706020507" pitchFamily="18" charset="2"/>
              </a:rPr>
              <a:t>  </a:t>
            </a:r>
            <a:r>
              <a:rPr lang="en-US" altLang="zh-CN" i="1" dirty="0" err="1"/>
              <a:t>xa</a:t>
            </a:r>
            <a:r>
              <a:rPr lang="en-US" altLang="zh-CN" dirty="0">
                <a:sym typeface="Symbol" panose="05050102010706020507" pitchFamily="18" charset="2"/>
              </a:rPr>
              <a:t> = </a:t>
            </a:r>
            <a:r>
              <a:rPr lang="en-US" altLang="zh-CN" i="1" dirty="0">
                <a:sym typeface="Symbol" panose="05050102010706020507" pitchFamily="18" charset="2"/>
              </a:rPr>
              <a:t>ax</a:t>
            </a:r>
            <a:r>
              <a:rPr lang="en-US" altLang="zh-CN" dirty="0">
                <a:sym typeface="Symbol" panose="05050102010706020507" pitchFamily="18" charset="2"/>
              </a:rPr>
              <a:t>}, </a:t>
            </a:r>
            <a:r>
              <a:rPr lang="zh-CN" altLang="en-US" dirty="0">
                <a:sym typeface="Symbol" panose="05050102010706020507" pitchFamily="18" charset="2"/>
              </a:rPr>
              <a:t>下面证明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zh-CN" altLang="en-US" dirty="0">
                <a:sym typeface="Symbol" panose="05050102010706020507" pitchFamily="18" charset="2"/>
              </a:rPr>
              <a:t>的子群</a:t>
            </a:r>
            <a:r>
              <a:rPr lang="en-US" altLang="zh-CN" dirty="0">
                <a:sym typeface="Symbol" panose="05050102010706020507" pitchFamily="18" charset="2"/>
              </a:rPr>
              <a:t>.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    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因为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是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阶元，所以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-1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首先</a:t>
            </a:r>
            <a:r>
              <a:rPr lang="en-US" altLang="zh-CN" i="1" dirty="0">
                <a:sym typeface="Symbol" panose="05050102010706020507" pitchFamily="18" charset="2"/>
              </a:rPr>
              <a:t>e</a:t>
            </a:r>
            <a:r>
              <a:rPr lang="zh-CN" altLang="en-US" dirty="0">
                <a:sym typeface="Symbol" panose="05050102010706020507" pitchFamily="18" charset="2"/>
              </a:rPr>
              <a:t>属于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zh-CN" altLang="en-US" dirty="0">
                <a:sym typeface="Symbol" panose="05050102010706020507" pitchFamily="18" charset="2"/>
              </a:rPr>
              <a:t>的非空子集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任取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 </a:t>
            </a:r>
            <a:r>
              <a:rPr lang="en-US" altLang="zh-CN" i="1" dirty="0"/>
              <a:t>H</a:t>
            </a:r>
            <a:r>
              <a:rPr lang="zh-CN" altLang="en-US" dirty="0">
                <a:sym typeface="Symbol" panose="05050102010706020507" pitchFamily="18" charset="2"/>
              </a:rPr>
              <a:t>，有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xy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) 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 = 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 ) = 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 = 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dirty="0"/>
              <a:t> 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         = 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ya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= 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sz="2600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600" baseline="30000" dirty="0">
                <a:solidFill>
                  <a:srgbClr val="0066FF"/>
                </a:solidFill>
              </a:rPr>
              <a:t>1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= 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 = </a:t>
            </a:r>
            <a:r>
              <a:rPr lang="en-US" altLang="zh-CN" i="1" dirty="0">
                <a:sym typeface="Symbol" panose="05050102010706020507" pitchFamily="18" charset="2"/>
              </a:rPr>
              <a:t>axy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= 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xy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) 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因此 </a:t>
            </a:r>
            <a:r>
              <a:rPr lang="en-US" altLang="zh-CN" i="1" dirty="0">
                <a:sym typeface="Symbol" panose="05050102010706020507" pitchFamily="18" charset="2"/>
              </a:rPr>
              <a:t>xy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zh-CN" altLang="en-US" dirty="0">
                <a:sym typeface="Symbol" panose="05050102010706020507" pitchFamily="18" charset="2"/>
              </a:rPr>
              <a:t>属于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. </a:t>
            </a:r>
            <a:r>
              <a:rPr lang="zh-CN" altLang="en-US" dirty="0">
                <a:sym typeface="Symbol" panose="05050102010706020507" pitchFamily="18" charset="2"/>
              </a:rPr>
              <a:t>由判定定理二命题得证</a:t>
            </a:r>
            <a:r>
              <a:rPr lang="en-US" altLang="zh-CN" dirty="0">
                <a:sym typeface="Symbol" panose="05050102010706020507" pitchFamily="18" charset="2"/>
              </a:rPr>
              <a:t>.  </a:t>
            </a:r>
            <a:endParaRPr lang="en-US" altLang="zh-CN" dirty="0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7B888E3F-4ACF-4F6D-8CBB-757DC388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5F928C-58F4-42FA-A319-5B4E44134813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433AF61-F56E-47E8-BCC7-71FCDE744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说明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C1F190E-08CF-4BCE-BAC2-9804D130F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证明子群可以用定义和判定定理，特别是判定定理二</a:t>
            </a:r>
            <a:r>
              <a:rPr lang="en-US" altLang="zh-CN">
                <a:sym typeface="Symbol" panose="05050102010706020507" pitchFamily="18" charset="2"/>
              </a:rPr>
              <a:t>. </a:t>
            </a: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判定定理二：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>
                <a:sym typeface="Symbol" panose="05050102010706020507" pitchFamily="18" charset="2"/>
              </a:rPr>
              <a:t>验证 </a:t>
            </a:r>
            <a:r>
              <a:rPr lang="en-US" altLang="zh-CN" i="1">
                <a:sym typeface="Symbol" panose="05050102010706020507" pitchFamily="18" charset="2"/>
              </a:rPr>
              <a:t>H </a:t>
            </a:r>
            <a:r>
              <a:rPr lang="zh-CN" altLang="en-US">
                <a:sym typeface="Symbol" panose="05050102010706020507" pitchFamily="18" charset="2"/>
              </a:rPr>
              <a:t>非空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>
                <a:sym typeface="Symbol" panose="05050102010706020507" pitchFamily="18" charset="2"/>
              </a:rPr>
              <a:t>任取 </a:t>
            </a:r>
            <a:r>
              <a:rPr lang="en-US" altLang="zh-CN" i="1">
                <a:sym typeface="Symbol" panose="05050102010706020507" pitchFamily="18" charset="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y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H</a:t>
            </a:r>
            <a:r>
              <a:rPr lang="zh-CN" altLang="en-US">
                <a:sym typeface="Symbol" panose="05050102010706020507" pitchFamily="18" charset="2"/>
              </a:rPr>
              <a:t>，证明</a:t>
            </a:r>
            <a:r>
              <a:rPr lang="en-US" altLang="zh-CN" i="1">
                <a:sym typeface="Symbol" panose="05050102010706020507" pitchFamily="18" charset="2"/>
              </a:rPr>
              <a:t>xy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H</a:t>
            </a:r>
          </a:p>
          <a:p>
            <a:pPr lvl="1" eaLnBrk="1" hangingPunct="1">
              <a:buClr>
                <a:srgbClr val="FF9900"/>
              </a:buClr>
            </a:pPr>
            <a:endParaRPr lang="en-US" altLang="zh-CN" i="1"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>
            <a:extLst>
              <a:ext uri="{FF2B5EF4-FFF2-40B4-BE49-F238E27FC236}">
                <a16:creationId xmlns:a16="http://schemas.microsoft.com/office/drawing/2014/main" id="{4E6CD474-F434-4202-874C-75EE7EBBD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FEF59E4-76B5-4DC3-97E1-834D93DFB0B2}" type="slidenum">
              <a:rPr lang="en-US" altLang="zh-CN" smtClean="0"/>
              <a:pPr/>
              <a:t>19</a:t>
            </a:fld>
            <a:endParaRPr lang="en-US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BDA92C-C939-44D5-9469-096F35F71F15}"/>
              </a:ext>
            </a:extLst>
          </p:cNvPr>
          <p:cNvSpPr/>
          <p:nvPr/>
        </p:nvSpPr>
        <p:spPr>
          <a:xfrm>
            <a:off x="684213" y="1412875"/>
            <a:ext cx="4572000" cy="11080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469900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10.3&amp;10.4</a:t>
            </a:r>
            <a:r>
              <a:rPr lang="zh-CN" altLang="en-US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习题</a:t>
            </a:r>
            <a:endParaRPr lang="en-US" altLang="zh-CN" sz="3000" b="1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908050" lvl="1" indent="-436563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练习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7~11</a:t>
            </a:r>
            <a:endParaRPr lang="zh-CN" altLang="en-US" sz="3000" b="1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16072FAC-AE8A-4362-BBFB-64104DACCD7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0EC0AB2-ECF8-44E6-9DE1-76C29AE881FF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CFE3934-A452-4177-8549-818F82E68D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7</a:t>
            </a:r>
          </a:p>
        </p:txBody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A0D3A96A-88D8-4CFA-B12E-EA51CF3DE8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设群</a:t>
            </a:r>
            <a:r>
              <a:rPr lang="en-US" altLang="zh-CN" i="1"/>
              <a:t>G</a:t>
            </a:r>
            <a:r>
              <a:rPr lang="zh-CN" altLang="en-US"/>
              <a:t>的运算表如表所示，问</a:t>
            </a:r>
            <a:r>
              <a:rPr lang="en-US" altLang="zh-CN" i="1"/>
              <a:t>G</a:t>
            </a:r>
            <a:r>
              <a:rPr lang="zh-CN" altLang="en-US"/>
              <a:t>是否为循环群？如果是，求出它所有的生成元和子群。</a:t>
            </a:r>
          </a:p>
        </p:txBody>
      </p:sp>
      <p:sp>
        <p:nvSpPr>
          <p:cNvPr id="660485" name="Rectangle 5">
            <a:extLst>
              <a:ext uri="{FF2B5EF4-FFF2-40B4-BE49-F238E27FC236}">
                <a16:creationId xmlns:a16="http://schemas.microsoft.com/office/drawing/2014/main" id="{9F1971F7-1DBA-4B0E-91D5-24C416E42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346325"/>
            <a:ext cx="4392613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解：</a:t>
            </a:r>
            <a:r>
              <a:rPr lang="en-US" altLang="zh-CN" sz="2800" i="1"/>
              <a:t>G</a:t>
            </a:r>
            <a:r>
              <a:rPr lang="en-US" altLang="zh-CN" sz="2800"/>
              <a:t>=&lt;</a:t>
            </a:r>
            <a:r>
              <a:rPr lang="en-US" altLang="zh-CN" sz="2800" i="1"/>
              <a:t>b</a:t>
            </a:r>
            <a:r>
              <a:rPr lang="en-US" altLang="zh-CN" sz="2800"/>
              <a:t>&gt;</a:t>
            </a:r>
            <a:r>
              <a:rPr lang="zh-CN" altLang="en-US" sz="2800"/>
              <a:t>是循环群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1"/>
              <a:t>|b|=|f|=</a:t>
            </a:r>
            <a:r>
              <a:rPr lang="en-US" altLang="zh-CN" sz="2800"/>
              <a:t>6,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1"/>
              <a:t>              b</a:t>
            </a:r>
            <a:r>
              <a:rPr lang="zh-CN" altLang="en-US" sz="2800"/>
              <a:t>和</a:t>
            </a:r>
            <a:r>
              <a:rPr lang="en-US" altLang="zh-CN" sz="2800" i="1"/>
              <a:t>f</a:t>
            </a:r>
            <a:r>
              <a:rPr lang="en-US" altLang="zh-CN" sz="2800"/>
              <a:t> </a:t>
            </a:r>
            <a:r>
              <a:rPr lang="zh-CN" altLang="en-US" sz="2800"/>
              <a:t>是生成元</a:t>
            </a:r>
            <a:r>
              <a:rPr lang="en-US" altLang="zh-CN" sz="2800"/>
              <a:t>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|</a:t>
            </a:r>
            <a:r>
              <a:rPr lang="en-US" altLang="zh-CN" sz="2800" i="1"/>
              <a:t>c</a:t>
            </a:r>
            <a:r>
              <a:rPr lang="en-US" altLang="zh-CN" sz="2800"/>
              <a:t>|=|</a:t>
            </a:r>
            <a:r>
              <a:rPr lang="en-US" altLang="zh-CN" sz="2800" i="1"/>
              <a:t>e</a:t>
            </a:r>
            <a:r>
              <a:rPr lang="en-US" altLang="zh-CN" sz="2800"/>
              <a:t>|=3, |</a:t>
            </a:r>
            <a:r>
              <a:rPr lang="en-US" altLang="zh-CN" sz="2800" i="1"/>
              <a:t>d</a:t>
            </a:r>
            <a:r>
              <a:rPr lang="en-US" altLang="zh-CN" sz="2800"/>
              <a:t>|=2,|</a:t>
            </a:r>
            <a:r>
              <a:rPr lang="en-US" altLang="zh-CN" sz="2800" i="1"/>
              <a:t>a</a:t>
            </a:r>
            <a:r>
              <a:rPr lang="en-US" altLang="zh-CN" sz="2800"/>
              <a:t>|=1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1"/>
              <a:t>        a,c</a:t>
            </a:r>
            <a:r>
              <a:rPr lang="en-US" altLang="zh-CN" sz="2800"/>
              <a:t>,</a:t>
            </a:r>
            <a:r>
              <a:rPr lang="en-US" altLang="zh-CN" sz="2800" i="1"/>
              <a:t>d</a:t>
            </a:r>
            <a:r>
              <a:rPr lang="en-US" altLang="zh-CN" sz="2800"/>
              <a:t>,</a:t>
            </a:r>
            <a:r>
              <a:rPr lang="en-US" altLang="zh-CN" sz="2800" i="1"/>
              <a:t>e</a:t>
            </a:r>
            <a:r>
              <a:rPr lang="zh-CN" altLang="en-US" sz="2800"/>
              <a:t>不是生成元</a:t>
            </a:r>
            <a:r>
              <a:rPr lang="en-US" altLang="zh-CN" sz="2800"/>
              <a:t>.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0627D815-319C-4E8E-93B0-DB0B9867EE60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2347913"/>
            <a:ext cx="4211637" cy="3744912"/>
            <a:chOff x="3334" y="1525"/>
            <a:chExt cx="2426" cy="2185"/>
          </a:xfrm>
          <a:solidFill>
            <a:schemeClr val="bg1"/>
          </a:solidFill>
        </p:grpSpPr>
        <p:pic>
          <p:nvPicPr>
            <p:cNvPr id="34823" name="Picture 4" descr="图片2">
              <a:extLst>
                <a:ext uri="{FF2B5EF4-FFF2-40B4-BE49-F238E27FC236}">
                  <a16:creationId xmlns:a16="http://schemas.microsoft.com/office/drawing/2014/main" id="{85E19ACD-05A0-4F70-AC8A-98D6FDFF68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" y="1525"/>
              <a:ext cx="2426" cy="218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4" name="Text Box 7">
              <a:extLst>
                <a:ext uri="{FF2B5EF4-FFF2-40B4-BE49-F238E27FC236}">
                  <a16:creationId xmlns:a16="http://schemas.microsoft.com/office/drawing/2014/main" id="{7F26FBF7-FC40-4615-8E2B-6374E2512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1616"/>
              <a:ext cx="272" cy="2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  <a:defRPr/>
              </a:pPr>
              <a:r>
                <a:rPr lang="zh-CN" altLang="en-US" sz="2400">
                  <a:latin typeface="Verdana" panose="020B0604030504040204" pitchFamily="34" charset="0"/>
                </a:rPr>
                <a:t>*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6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6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0" grpId="0" build="p" bldLvl="3"/>
      <p:bldP spid="66048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>
            <a:extLst>
              <a:ext uri="{FF2B5EF4-FFF2-40B4-BE49-F238E27FC236}">
                <a16:creationId xmlns:a16="http://schemas.microsoft.com/office/drawing/2014/main" id="{10EB0CDC-0EF6-4B0F-9D73-F21CC352EFF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81C641F-AF52-48CC-B7CE-67F4BC608783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B5266D9-86C8-4A34-9752-A42C48F2E3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练习</a:t>
            </a:r>
            <a:r>
              <a:rPr lang="en-US" altLang="zh-CN"/>
              <a:t>7</a:t>
            </a:r>
            <a:r>
              <a:rPr lang="zh-CN" altLang="en-US"/>
              <a:t>（续）</a:t>
            </a:r>
            <a:endParaRPr lang="en-US" altLang="zh-CN"/>
          </a:p>
        </p:txBody>
      </p:sp>
      <p:sp>
        <p:nvSpPr>
          <p:cNvPr id="660485" name="Rectangle 5">
            <a:extLst>
              <a:ext uri="{FF2B5EF4-FFF2-40B4-BE49-F238E27FC236}">
                <a16:creationId xmlns:a16="http://schemas.microsoft.com/office/drawing/2014/main" id="{41103603-457D-40BD-9A5A-2EB6E40B9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12863"/>
            <a:ext cx="76327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解：</a:t>
            </a:r>
            <a:r>
              <a:rPr lang="en-US" altLang="zh-CN" sz="2800" i="1" dirty="0">
                <a:solidFill>
                  <a:srgbClr val="0066FF"/>
                </a:solidFill>
              </a:rPr>
              <a:t> G</a:t>
            </a:r>
            <a:r>
              <a:rPr lang="zh-CN" altLang="en-US" sz="2800" dirty="0">
                <a:solidFill>
                  <a:srgbClr val="0066FF"/>
                </a:solidFill>
              </a:rPr>
              <a:t>的生成元是</a:t>
            </a:r>
            <a:r>
              <a:rPr lang="en-US" altLang="zh-CN" sz="2800" i="1" dirty="0">
                <a:solidFill>
                  <a:srgbClr val="0066FF"/>
                </a:solidFill>
              </a:rPr>
              <a:t>b</a:t>
            </a:r>
            <a:r>
              <a:rPr lang="zh-CN" altLang="en-US" sz="2800" dirty="0">
                <a:solidFill>
                  <a:srgbClr val="0066FF"/>
                </a:solidFill>
              </a:rPr>
              <a:t>和</a:t>
            </a:r>
            <a:r>
              <a:rPr lang="en-US" altLang="zh-CN" sz="2800" i="1" dirty="0">
                <a:solidFill>
                  <a:srgbClr val="0066FF"/>
                </a:solidFill>
              </a:rPr>
              <a:t>f</a:t>
            </a:r>
            <a:endParaRPr lang="zh-CN" altLang="en-US" sz="2800" dirty="0">
              <a:solidFill>
                <a:srgbClr val="0066FF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66FF"/>
                </a:solidFill>
              </a:rPr>
              <a:t>        则：</a:t>
            </a:r>
            <a:r>
              <a:rPr lang="en-US" altLang="zh-CN" sz="2800" i="1" dirty="0">
                <a:solidFill>
                  <a:srgbClr val="0066FF"/>
                </a:solidFill>
              </a:rPr>
              <a:t>G</a:t>
            </a:r>
            <a:r>
              <a:rPr lang="en-US" altLang="zh-CN" sz="2800" dirty="0">
                <a:solidFill>
                  <a:srgbClr val="0066FF"/>
                </a:solidFill>
              </a:rPr>
              <a:t>=&lt;</a:t>
            </a:r>
            <a:r>
              <a:rPr lang="en-US" altLang="zh-CN" sz="2800" i="1" dirty="0">
                <a:solidFill>
                  <a:srgbClr val="0066FF"/>
                </a:solidFill>
              </a:rPr>
              <a:t>b</a:t>
            </a:r>
            <a:r>
              <a:rPr lang="en-US" altLang="zh-CN" sz="2800" dirty="0">
                <a:solidFill>
                  <a:srgbClr val="0066FF"/>
                </a:solidFill>
              </a:rPr>
              <a:t>&gt;=&lt;</a:t>
            </a:r>
            <a:r>
              <a:rPr lang="en-US" altLang="zh-CN" sz="2800" i="1" dirty="0">
                <a:solidFill>
                  <a:srgbClr val="0066FF"/>
                </a:solidFill>
              </a:rPr>
              <a:t>f</a:t>
            </a:r>
            <a:r>
              <a:rPr lang="en-US" altLang="zh-CN" sz="2800" dirty="0">
                <a:solidFill>
                  <a:srgbClr val="0066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6</a:t>
            </a:r>
            <a:r>
              <a:rPr lang="zh-CN" altLang="en-US" sz="2800" dirty="0"/>
              <a:t>的正因子为：</a:t>
            </a:r>
            <a:r>
              <a:rPr lang="en-US" altLang="zh-CN" sz="2800" dirty="0"/>
              <a:t>1,2,3,6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阶：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b</a:t>
            </a:r>
            <a:r>
              <a:rPr lang="en-US" altLang="zh-CN" sz="2800" baseline="30000" dirty="0"/>
              <a:t>6/1</a:t>
            </a:r>
            <a:r>
              <a:rPr lang="en-US" altLang="zh-CN" sz="2800" dirty="0"/>
              <a:t>&gt;=&lt;</a:t>
            </a:r>
            <a:r>
              <a:rPr lang="en-US" altLang="zh-CN" sz="2800" i="1" dirty="0"/>
              <a:t>f</a:t>
            </a:r>
            <a:r>
              <a:rPr lang="en-US" altLang="zh-CN" sz="2800" baseline="30000" dirty="0"/>
              <a:t>6/1</a:t>
            </a:r>
            <a:r>
              <a:rPr lang="en-US" altLang="zh-CN" sz="2800" dirty="0"/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1" dirty="0"/>
              <a:t>                    =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a</a:t>
            </a:r>
            <a:r>
              <a:rPr lang="en-US" altLang="zh-CN" sz="2800" dirty="0"/>
              <a:t>&gt;={</a:t>
            </a:r>
            <a:r>
              <a:rPr lang="en-US" altLang="zh-CN" sz="2800" i="1" dirty="0"/>
              <a:t>a</a:t>
            </a:r>
            <a:r>
              <a:rPr lang="en-US" altLang="zh-CN" sz="2800" dirty="0"/>
              <a:t>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阶：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b</a:t>
            </a:r>
            <a:r>
              <a:rPr lang="en-US" altLang="zh-CN" sz="2800" baseline="30000" dirty="0"/>
              <a:t>6/2</a:t>
            </a:r>
            <a:r>
              <a:rPr lang="en-US" altLang="zh-CN" sz="2800" dirty="0"/>
              <a:t>&gt;=&lt;</a:t>
            </a:r>
            <a:r>
              <a:rPr lang="en-US" altLang="zh-CN" sz="2800" i="1" dirty="0"/>
              <a:t>f</a:t>
            </a:r>
            <a:r>
              <a:rPr lang="en-US" altLang="zh-CN" sz="2800" baseline="30000" dirty="0"/>
              <a:t>6/2</a:t>
            </a:r>
            <a:r>
              <a:rPr lang="en-US" altLang="zh-CN" sz="2800" dirty="0"/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i="1" dirty="0"/>
              <a:t>                    =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d</a:t>
            </a:r>
            <a:r>
              <a:rPr lang="en-US" altLang="zh-CN" sz="2800" dirty="0"/>
              <a:t>&gt;={</a:t>
            </a:r>
            <a:r>
              <a:rPr lang="en-US" altLang="zh-CN" sz="2800" i="1" dirty="0"/>
              <a:t>d</a:t>
            </a:r>
            <a:r>
              <a:rPr lang="en-US" altLang="zh-CN" sz="2800" dirty="0"/>
              <a:t>, </a:t>
            </a:r>
            <a:r>
              <a:rPr lang="en-US" altLang="zh-CN" sz="2800" i="1" dirty="0"/>
              <a:t>a</a:t>
            </a:r>
            <a:r>
              <a:rPr lang="en-US" altLang="zh-CN" sz="2800" dirty="0"/>
              <a:t>}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3</a:t>
            </a:r>
            <a:r>
              <a:rPr lang="zh-CN" altLang="en-US" sz="2800" dirty="0"/>
              <a:t>阶：</a:t>
            </a:r>
            <a:r>
              <a:rPr lang="en-US" altLang="zh-CN" sz="2800" dirty="0"/>
              <a:t>&lt;</a:t>
            </a:r>
            <a:r>
              <a:rPr lang="en-US" altLang="zh-CN" sz="2800" i="1" dirty="0">
                <a:solidFill>
                  <a:srgbClr val="AF1D1D"/>
                </a:solidFill>
              </a:rPr>
              <a:t>b</a:t>
            </a:r>
            <a:r>
              <a:rPr lang="en-US" altLang="zh-CN" sz="2800" baseline="30000" dirty="0">
                <a:solidFill>
                  <a:srgbClr val="AF1D1D"/>
                </a:solidFill>
              </a:rPr>
              <a:t>6/3</a:t>
            </a:r>
            <a:r>
              <a:rPr lang="en-US" altLang="zh-CN" sz="2800" dirty="0"/>
              <a:t>&gt;=&lt;</a:t>
            </a:r>
            <a:r>
              <a:rPr lang="en-US" altLang="zh-CN" sz="2800" i="1" dirty="0">
                <a:solidFill>
                  <a:srgbClr val="00B050"/>
                </a:solidFill>
              </a:rPr>
              <a:t>f</a:t>
            </a:r>
            <a:r>
              <a:rPr lang="en-US" altLang="zh-CN" sz="2800" baseline="30000" dirty="0">
                <a:solidFill>
                  <a:srgbClr val="00B050"/>
                </a:solidFill>
              </a:rPr>
              <a:t>6/3</a:t>
            </a:r>
            <a:r>
              <a:rPr lang="en-US" altLang="zh-CN" sz="2800" dirty="0"/>
              <a:t>&gt;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            =&lt;</a:t>
            </a:r>
            <a:r>
              <a:rPr lang="en-US" altLang="zh-CN" sz="2800" i="1" dirty="0">
                <a:solidFill>
                  <a:srgbClr val="AF1D1D"/>
                </a:solidFill>
              </a:rPr>
              <a:t>c</a:t>
            </a:r>
            <a:r>
              <a:rPr lang="en-US" altLang="zh-CN" sz="2800" dirty="0"/>
              <a:t>&gt;=&lt;</a:t>
            </a:r>
            <a:r>
              <a:rPr lang="en-US" altLang="zh-CN" sz="2800" i="1" dirty="0">
                <a:solidFill>
                  <a:srgbClr val="00B050"/>
                </a:solidFill>
              </a:rPr>
              <a:t>e</a:t>
            </a:r>
            <a:r>
              <a:rPr lang="en-US" altLang="zh-CN" sz="2800" dirty="0"/>
              <a:t>&gt;={</a:t>
            </a:r>
            <a:r>
              <a:rPr lang="en-US" altLang="zh-CN" sz="2800" i="1" dirty="0"/>
              <a:t>c</a:t>
            </a:r>
            <a:r>
              <a:rPr lang="en-US" altLang="zh-CN" sz="2800" dirty="0"/>
              <a:t>, </a:t>
            </a:r>
            <a:r>
              <a:rPr lang="en-US" altLang="zh-CN" sz="2800" i="1" dirty="0"/>
              <a:t>e</a:t>
            </a:r>
            <a:r>
              <a:rPr lang="en-US" altLang="zh-CN" sz="2800" dirty="0"/>
              <a:t>, </a:t>
            </a:r>
            <a:r>
              <a:rPr lang="en-US" altLang="zh-CN" sz="2800" i="1" dirty="0"/>
              <a:t>a</a:t>
            </a:r>
            <a:r>
              <a:rPr lang="en-US" altLang="zh-CN" sz="2800" dirty="0"/>
              <a:t>}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6</a:t>
            </a:r>
            <a:r>
              <a:rPr lang="zh-CN" altLang="en-US" sz="2800" dirty="0"/>
              <a:t>阶：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b</a:t>
            </a:r>
            <a:r>
              <a:rPr lang="en-US" altLang="zh-CN" sz="2800" baseline="30000" dirty="0"/>
              <a:t>6/6</a:t>
            </a:r>
            <a:r>
              <a:rPr lang="en-US" altLang="zh-CN" sz="2800" dirty="0"/>
              <a:t>&gt;=&lt;</a:t>
            </a:r>
            <a:r>
              <a:rPr lang="en-US" altLang="zh-CN" sz="2800" i="1" dirty="0"/>
              <a:t>f</a:t>
            </a:r>
            <a:r>
              <a:rPr lang="en-US" altLang="zh-CN" sz="2800" baseline="30000" dirty="0"/>
              <a:t>6/6</a:t>
            </a:r>
            <a:r>
              <a:rPr lang="en-US" altLang="zh-CN" sz="2800" dirty="0"/>
              <a:t>&gt;=</a:t>
            </a:r>
            <a:r>
              <a:rPr lang="en-US" altLang="zh-CN" sz="2800" i="1" dirty="0"/>
              <a:t>G</a:t>
            </a:r>
            <a:r>
              <a:rPr lang="en-US" altLang="zh-CN" sz="2800" dirty="0"/>
              <a:t> </a:t>
            </a:r>
            <a:endParaRPr lang="en-US" altLang="zh-CN" sz="2800" b="0" dirty="0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0627D815-319C-4E8E-93B0-DB0B9867EE60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1177605"/>
            <a:ext cx="4211637" cy="3744912"/>
            <a:chOff x="3334" y="1525"/>
            <a:chExt cx="2426" cy="2185"/>
          </a:xfrm>
          <a:solidFill>
            <a:schemeClr val="bg1"/>
          </a:solidFill>
        </p:grpSpPr>
        <p:pic>
          <p:nvPicPr>
            <p:cNvPr id="34823" name="Picture 4" descr="图片2">
              <a:extLst>
                <a:ext uri="{FF2B5EF4-FFF2-40B4-BE49-F238E27FC236}">
                  <a16:creationId xmlns:a16="http://schemas.microsoft.com/office/drawing/2014/main" id="{85E19ACD-05A0-4F70-AC8A-98D6FDFF68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" y="1525"/>
              <a:ext cx="2426" cy="218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4" name="Text Box 7">
              <a:extLst>
                <a:ext uri="{FF2B5EF4-FFF2-40B4-BE49-F238E27FC236}">
                  <a16:creationId xmlns:a16="http://schemas.microsoft.com/office/drawing/2014/main" id="{7F26FBF7-FC40-4615-8E2B-6374E2512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1616"/>
              <a:ext cx="272" cy="2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  <a:defRPr/>
              </a:pPr>
              <a:r>
                <a:rPr lang="zh-CN" altLang="en-US" sz="2400">
                  <a:latin typeface="Verdana" panose="020B0604030504040204" pitchFamily="34" charset="0"/>
                </a:rPr>
                <a:t>*</a:t>
              </a:r>
            </a:p>
          </p:txBody>
        </p:sp>
      </p:grp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801952D-A6FB-4846-A1AA-5907865B6E66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5949950"/>
            <a:ext cx="7924800" cy="819150"/>
          </a:xfrm>
          <a:prstGeom prst="rect">
            <a:avLst/>
          </a:prstGeom>
          <a:solidFill>
            <a:srgbClr val="92D050"/>
          </a:solidFill>
          <a:ln>
            <a:solidFill>
              <a:schemeClr val="tx2"/>
            </a:solidFill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sz="2400" kern="0" dirty="0"/>
              <a:t>若</a:t>
            </a:r>
            <a:r>
              <a:rPr lang="en-US" altLang="zh-CN" sz="2400" kern="0" dirty="0"/>
              <a:t>&lt;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&gt;</a:t>
            </a:r>
            <a:r>
              <a:rPr lang="zh-CN" altLang="en-US" sz="2400" kern="0" dirty="0"/>
              <a:t>是 </a:t>
            </a:r>
            <a:r>
              <a:rPr lang="en-US" altLang="zh-CN" sz="2400" i="1" kern="0" dirty="0"/>
              <a:t>n </a:t>
            </a:r>
            <a:r>
              <a:rPr lang="zh-CN" altLang="en-US" sz="2400" kern="0" dirty="0"/>
              <a:t>阶循环群，则先求出</a:t>
            </a:r>
            <a:r>
              <a:rPr lang="en-US" altLang="zh-CN" sz="2400" kern="0" dirty="0"/>
              <a:t>n</a:t>
            </a:r>
            <a:r>
              <a:rPr lang="zh-CN" altLang="en-US" sz="2400" kern="0" dirty="0"/>
              <a:t>的所有正因子，</a:t>
            </a:r>
            <a:endParaRPr lang="en-US" altLang="zh-CN" sz="2400" kern="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kern="0" dirty="0"/>
              <a:t>       </a:t>
            </a:r>
            <a:r>
              <a:rPr lang="zh-CN" altLang="en-US" sz="2400" kern="0" dirty="0"/>
              <a:t>对于每一个正因子</a:t>
            </a:r>
            <a:r>
              <a:rPr lang="en-US" altLang="zh-CN" sz="2400" i="1" kern="0" dirty="0"/>
              <a:t>d</a:t>
            </a:r>
            <a:r>
              <a:rPr lang="en-US" altLang="zh-CN" sz="2400" kern="0" dirty="0"/>
              <a:t>,  </a:t>
            </a:r>
            <a:r>
              <a:rPr lang="en-US" altLang="zh-CN" sz="2400" kern="0" dirty="0">
                <a:solidFill>
                  <a:srgbClr val="0066FF"/>
                </a:solidFill>
              </a:rPr>
              <a:t> &lt;</a:t>
            </a:r>
            <a:r>
              <a:rPr lang="en-US" altLang="zh-CN" sz="2400" i="1" kern="0" dirty="0">
                <a:solidFill>
                  <a:srgbClr val="0066FF"/>
                </a:solidFill>
              </a:rPr>
              <a:t>a</a:t>
            </a:r>
            <a:r>
              <a:rPr lang="en-US" altLang="zh-CN" sz="2400" i="1" kern="0" baseline="30000" dirty="0">
                <a:solidFill>
                  <a:srgbClr val="0066FF"/>
                </a:solidFill>
              </a:rPr>
              <a:t>n</a:t>
            </a:r>
            <a:r>
              <a:rPr lang="en-US" altLang="zh-CN" sz="2400" kern="0" baseline="30000" dirty="0">
                <a:solidFill>
                  <a:srgbClr val="0066FF"/>
                </a:solidFill>
              </a:rPr>
              <a:t>/</a:t>
            </a:r>
            <a:r>
              <a:rPr lang="en-US" altLang="zh-CN" sz="2400" i="1" kern="0" baseline="30000" dirty="0">
                <a:solidFill>
                  <a:srgbClr val="0066FF"/>
                </a:solidFill>
              </a:rPr>
              <a:t>d</a:t>
            </a:r>
            <a:r>
              <a:rPr lang="en-US" altLang="zh-CN" sz="2400" kern="0" dirty="0">
                <a:solidFill>
                  <a:srgbClr val="0066FF"/>
                </a:solidFill>
              </a:rPr>
              <a:t>&gt;</a:t>
            </a:r>
            <a:r>
              <a:rPr lang="zh-CN" altLang="en-US" sz="2400" kern="0" dirty="0"/>
              <a:t>是</a:t>
            </a:r>
            <a:r>
              <a:rPr lang="en-US" altLang="zh-CN" sz="2400" i="1" kern="0" dirty="0"/>
              <a:t>G</a:t>
            </a:r>
            <a:r>
              <a:rPr lang="zh-CN" altLang="en-US" sz="2400" kern="0" dirty="0"/>
              <a:t>的唯一的</a:t>
            </a:r>
            <a:r>
              <a:rPr lang="en-US" altLang="zh-CN" sz="2400" i="1" kern="0" dirty="0"/>
              <a:t>d</a:t>
            </a:r>
            <a:r>
              <a:rPr lang="zh-CN" altLang="en-US" sz="2400" kern="0" dirty="0"/>
              <a:t>阶子群。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6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6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6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6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6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6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6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6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60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60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6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6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6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6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C2D9F30A-54AF-4FDB-9FA9-8FEA9C43549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F7CCD94-DE6C-4233-93EE-B20CFAC665F1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93D1C90-A93B-490B-85CA-46F75D8BA8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8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47D9D77-BC4B-4615-AB05-CF5C7564B4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 </a:t>
            </a:r>
            <a:r>
              <a:rPr lang="en-US" altLang="zh-CN" i="1"/>
              <a:t>i </a:t>
            </a:r>
            <a:r>
              <a:rPr lang="zh-CN" altLang="en-US"/>
              <a:t>为虚数单位，即</a:t>
            </a:r>
            <a:r>
              <a:rPr lang="zh-CN" altLang="en-US" i="1"/>
              <a:t> </a:t>
            </a:r>
            <a:r>
              <a:rPr lang="en-US" altLang="zh-CN" i="1"/>
              <a:t>i</a:t>
            </a:r>
            <a:r>
              <a:rPr lang="en-US" altLang="zh-CN" baseline="30000"/>
              <a:t>2</a:t>
            </a:r>
            <a:r>
              <a:rPr lang="en-US" altLang="zh-CN"/>
              <a:t> = 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1, </a:t>
            </a:r>
            <a:r>
              <a:rPr lang="zh-CN" altLang="en-US">
                <a:sym typeface="Symbol" panose="05050102010706020507" pitchFamily="18" charset="2"/>
              </a:rPr>
              <a:t>令</a:t>
            </a:r>
          </a:p>
          <a:p>
            <a:pPr eaLnBrk="1" hangingPunct="1"/>
            <a:endParaRPr lang="zh-CN" altLang="en-US">
              <a:sym typeface="Symbol" panose="05050102010706020507" pitchFamily="18" charset="2"/>
            </a:endParaRPr>
          </a:p>
          <a:p>
            <a:pPr eaLnBrk="1" hangingPunct="1"/>
            <a:endParaRPr lang="zh-CN" altLang="en-US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0"/>
              </a:spcBef>
              <a:buFont typeface="Wingdings" panose="05000000000000000000" pitchFamily="2" charset="2"/>
              <a:buNone/>
            </a:pPr>
            <a:r>
              <a:rPr lang="zh-CN" altLang="en-US"/>
              <a:t>则</a:t>
            </a:r>
            <a:r>
              <a:rPr lang="en-US" altLang="zh-CN" i="1"/>
              <a:t>G</a:t>
            </a:r>
            <a:r>
              <a:rPr lang="zh-CN" altLang="en-US"/>
              <a:t>关于矩阵乘法构成群</a:t>
            </a:r>
            <a:r>
              <a:rPr lang="en-US" altLang="zh-CN"/>
              <a:t>.  </a:t>
            </a:r>
            <a:r>
              <a:rPr lang="zh-CN" altLang="en-US"/>
              <a:t>找出</a:t>
            </a:r>
            <a:r>
              <a:rPr lang="en-US" altLang="zh-CN" i="1"/>
              <a:t>G</a:t>
            </a:r>
            <a:r>
              <a:rPr lang="zh-CN" altLang="en-US"/>
              <a:t>的所有子群</a:t>
            </a:r>
            <a:r>
              <a:rPr lang="en-US" altLang="zh-CN"/>
              <a:t>.</a:t>
            </a:r>
            <a:r>
              <a:rPr lang="en-US" altLang="zh-CN" b="0">
                <a:sym typeface="Symbol" panose="05050102010706020507" pitchFamily="18" charset="2"/>
              </a:rPr>
              <a:t> </a:t>
            </a:r>
          </a:p>
          <a:p>
            <a:pPr eaLnBrk="1" hangingPunct="1"/>
            <a:endParaRPr lang="en-US" altLang="zh-CN"/>
          </a:p>
        </p:txBody>
      </p:sp>
      <p:graphicFrame>
        <p:nvGraphicFramePr>
          <p:cNvPr id="37893" name="Object 6">
            <a:extLst>
              <a:ext uri="{FF2B5EF4-FFF2-40B4-BE49-F238E27FC236}">
                <a16:creationId xmlns:a16="http://schemas.microsoft.com/office/drawing/2014/main" id="{DE054350-1651-4F28-B83E-4D43C84867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906588"/>
          <a:ext cx="856932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公式" r:id="rId4" imgW="3441700" imgH="495300" progId="Equation.3">
                  <p:embed/>
                </p:oleObj>
              </mc:Choice>
              <mc:Fallback>
                <p:oleObj name="公式" r:id="rId4" imgW="3441700" imgH="495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906588"/>
                        <a:ext cx="8569325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66694280-20B6-4C7A-99E4-075589AB49C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AB1C16C-A6A0-4F0A-9110-9BF1F7B95025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27F734B-A4B7-463B-9604-152137DABE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8</a:t>
            </a:r>
            <a:r>
              <a:rPr lang="zh-CN" altLang="en-US"/>
              <a:t>解答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E6D6E2F-0349-453C-949B-36E5A1A0E7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66738" y="1270000"/>
            <a:ext cx="8001000" cy="4606925"/>
          </a:xfrm>
        </p:spPr>
        <p:txBody>
          <a:bodyPr/>
          <a:lstStyle/>
          <a:p>
            <a:pPr eaLnBrk="1" hangingPunct="1"/>
            <a:r>
              <a:rPr lang="zh-CN" altLang="en-US"/>
              <a:t>解  令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</a:t>
            </a:r>
            <a:r>
              <a:rPr lang="zh-CN" altLang="en-US"/>
              <a:t>分别为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则运算表为</a:t>
            </a:r>
          </a:p>
        </p:txBody>
      </p:sp>
      <p:graphicFrame>
        <p:nvGraphicFramePr>
          <p:cNvPr id="39941" name="Object 7">
            <a:extLst>
              <a:ext uri="{FF2B5EF4-FFF2-40B4-BE49-F238E27FC236}">
                <a16:creationId xmlns:a16="http://schemas.microsoft.com/office/drawing/2014/main" id="{A1B029C6-818E-420C-B128-28264A918C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" y="1916113"/>
          <a:ext cx="295592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8" name="公式" r:id="rId3" imgW="1079500" imgH="939800" progId="Equation.3">
                  <p:embed/>
                </p:oleObj>
              </mc:Choice>
              <mc:Fallback>
                <p:oleObj name="公式" r:id="rId3" imgW="1079500" imgH="93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1916113"/>
                        <a:ext cx="2955925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>
            <a:extLst>
              <a:ext uri="{FF2B5EF4-FFF2-40B4-BE49-F238E27FC236}">
                <a16:creationId xmlns:a16="http://schemas.microsoft.com/office/drawing/2014/main" id="{01F85DF3-945B-455D-A65B-195D2BE5F652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1844675"/>
            <a:ext cx="5184775" cy="4291013"/>
            <a:chOff x="2336" y="1162"/>
            <a:chExt cx="3266" cy="2703"/>
          </a:xfrm>
        </p:grpSpPr>
        <p:pic>
          <p:nvPicPr>
            <p:cNvPr id="39943" name="Picture 4" descr="图片1">
              <a:extLst>
                <a:ext uri="{FF2B5EF4-FFF2-40B4-BE49-F238E27FC236}">
                  <a16:creationId xmlns:a16="http://schemas.microsoft.com/office/drawing/2014/main" id="{2C3C59CC-D599-43BA-9F43-10B1F0F88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6" y="1162"/>
              <a:ext cx="3266" cy="2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4" name="Text Box 9">
              <a:extLst>
                <a:ext uri="{FF2B5EF4-FFF2-40B4-BE49-F238E27FC236}">
                  <a16:creationId xmlns:a16="http://schemas.microsoft.com/office/drawing/2014/main" id="{E84837CF-4F8C-4153-86E4-EFBFEE0F0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" y="1162"/>
              <a:ext cx="18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>
                  <a:latin typeface="Verdana" panose="020B0604030504040204" pitchFamily="34" charset="0"/>
                  <a:sym typeface="Symbol" panose="05050102010706020507" pitchFamily="18" charset="2"/>
                </a:rPr>
                <a:t>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8">
            <a:extLst>
              <a:ext uri="{FF2B5EF4-FFF2-40B4-BE49-F238E27FC236}">
                <a16:creationId xmlns:a16="http://schemas.microsoft.com/office/drawing/2014/main" id="{18722E4D-FE8D-49B6-B223-674423FAD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3792538"/>
            <a:ext cx="8001000" cy="2876550"/>
          </a:xfrm>
          <a:noFill/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G</a:t>
            </a:r>
            <a:r>
              <a:rPr lang="zh-CN" altLang="en-US"/>
              <a:t>的子群有</a:t>
            </a:r>
            <a:r>
              <a:rPr lang="en-US" altLang="zh-CN"/>
              <a:t>6</a:t>
            </a:r>
            <a:r>
              <a:rPr lang="zh-CN" altLang="en-US"/>
              <a:t>个，即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平凡子群：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&gt; = {</a:t>
            </a:r>
            <a:r>
              <a:rPr lang="en-US" altLang="zh-CN" i="1"/>
              <a:t>A</a:t>
            </a:r>
            <a:r>
              <a:rPr lang="en-US" altLang="zh-CN"/>
              <a:t>}, </a:t>
            </a:r>
            <a:r>
              <a:rPr lang="en-US" altLang="zh-CN" i="1"/>
              <a:t>G</a:t>
            </a:r>
            <a:r>
              <a:rPr lang="en-US" altLang="zh-CN"/>
              <a:t>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2 </a:t>
            </a:r>
            <a:r>
              <a:rPr lang="zh-CN" altLang="en-US"/>
              <a:t>阶子群：</a:t>
            </a:r>
            <a:r>
              <a:rPr lang="en-US" altLang="zh-CN"/>
              <a:t>&lt;-</a:t>
            </a:r>
            <a:r>
              <a:rPr lang="en-US" altLang="zh-CN" i="1"/>
              <a:t>A</a:t>
            </a:r>
            <a:r>
              <a:rPr lang="en-US" altLang="zh-CN"/>
              <a:t>&gt; = {</a:t>
            </a:r>
            <a:r>
              <a:rPr lang="en-US" altLang="zh-CN" i="1"/>
              <a:t>A</a:t>
            </a:r>
            <a:r>
              <a:rPr lang="en-US" altLang="zh-CN"/>
              <a:t>, -</a:t>
            </a:r>
            <a:r>
              <a:rPr lang="en-US" altLang="zh-CN" i="1"/>
              <a:t>A</a:t>
            </a:r>
            <a:r>
              <a:rPr lang="en-US" altLang="zh-CN"/>
              <a:t>},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4 </a:t>
            </a:r>
            <a:r>
              <a:rPr lang="zh-CN" altLang="en-US"/>
              <a:t>阶子群：</a:t>
            </a:r>
            <a:r>
              <a:rPr lang="en-US" altLang="zh-CN"/>
              <a:t>&lt;</a:t>
            </a:r>
            <a:r>
              <a:rPr lang="en-US" altLang="zh-CN" i="1"/>
              <a:t>B</a:t>
            </a:r>
            <a:r>
              <a:rPr lang="en-US" altLang="zh-CN"/>
              <a:t>&gt; = 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,-</a:t>
            </a:r>
            <a:r>
              <a:rPr lang="en-US" altLang="zh-CN" i="1"/>
              <a:t>A</a:t>
            </a:r>
            <a:r>
              <a:rPr lang="en-US" altLang="zh-CN"/>
              <a:t>,-</a:t>
            </a:r>
            <a:r>
              <a:rPr lang="en-US" altLang="zh-CN" i="1"/>
              <a:t>B</a:t>
            </a:r>
            <a:r>
              <a:rPr lang="en-US" altLang="zh-CN"/>
              <a:t>},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                   &lt;C</a:t>
            </a:r>
            <a:r>
              <a:rPr lang="en-US" altLang="zh-CN"/>
              <a:t>&gt; = 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,-</a:t>
            </a:r>
            <a:r>
              <a:rPr lang="en-US" altLang="zh-CN" i="1"/>
              <a:t>A</a:t>
            </a:r>
            <a:r>
              <a:rPr lang="en-US" altLang="zh-CN"/>
              <a:t>,-</a:t>
            </a:r>
            <a:r>
              <a:rPr lang="en-US" altLang="zh-CN" i="1"/>
              <a:t>C</a:t>
            </a:r>
            <a:r>
              <a:rPr lang="en-US" altLang="zh-CN"/>
              <a:t>},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/>
              <a:t>                   &lt;</a:t>
            </a:r>
            <a:r>
              <a:rPr lang="en-US" altLang="zh-CN" i="1"/>
              <a:t>D</a:t>
            </a:r>
            <a:r>
              <a:rPr lang="en-US" altLang="zh-CN"/>
              <a:t>&gt; = 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,-</a:t>
            </a:r>
            <a:r>
              <a:rPr lang="en-US" altLang="zh-CN" i="1"/>
              <a:t>A</a:t>
            </a:r>
            <a:r>
              <a:rPr lang="en-US" altLang="zh-CN"/>
              <a:t>,-</a:t>
            </a:r>
            <a:r>
              <a:rPr lang="en-US" altLang="zh-CN" i="1"/>
              <a:t>D</a:t>
            </a:r>
            <a:r>
              <a:rPr lang="en-US" altLang="zh-CN"/>
              <a:t>},  </a:t>
            </a:r>
          </a:p>
        </p:txBody>
      </p:sp>
      <p:grpSp>
        <p:nvGrpSpPr>
          <p:cNvPr id="40963" name="Group 5">
            <a:extLst>
              <a:ext uri="{FF2B5EF4-FFF2-40B4-BE49-F238E27FC236}">
                <a16:creationId xmlns:a16="http://schemas.microsoft.com/office/drawing/2014/main" id="{DDDBC00A-CEBB-43E7-B554-AFCF361EE16B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74613"/>
            <a:ext cx="5184775" cy="4291012"/>
            <a:chOff x="2336" y="1162"/>
            <a:chExt cx="3266" cy="2703"/>
          </a:xfrm>
        </p:grpSpPr>
        <p:pic>
          <p:nvPicPr>
            <p:cNvPr id="40965" name="Picture 4" descr="图片1">
              <a:extLst>
                <a:ext uri="{FF2B5EF4-FFF2-40B4-BE49-F238E27FC236}">
                  <a16:creationId xmlns:a16="http://schemas.microsoft.com/office/drawing/2014/main" id="{4D046317-339A-4E71-AE57-4D50633586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6" y="1162"/>
              <a:ext cx="3266" cy="2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66" name="Text Box 7">
              <a:extLst>
                <a:ext uri="{FF2B5EF4-FFF2-40B4-BE49-F238E27FC236}">
                  <a16:creationId xmlns:a16="http://schemas.microsoft.com/office/drawing/2014/main" id="{EBA6523F-6671-494B-AEF1-EED958A01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" y="1162"/>
              <a:ext cx="18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>
                  <a:latin typeface="Verdana" panose="020B0604030504040204" pitchFamily="34" charset="0"/>
                  <a:sym typeface="Symbol" panose="05050102010706020507" pitchFamily="18" charset="2"/>
                </a:rPr>
                <a:t></a:t>
              </a:r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9E87FDC7-DC19-404D-AA59-9B346650A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49238"/>
            <a:ext cx="80010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kern="0" dirty="0"/>
              <a:t>练习</a:t>
            </a:r>
            <a:r>
              <a:rPr lang="en-US" altLang="zh-CN" kern="0" dirty="0"/>
              <a:t>8</a:t>
            </a:r>
            <a:r>
              <a:rPr lang="zh-CN" altLang="en-US" kern="0" dirty="0"/>
              <a:t>（续）</a:t>
            </a:r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A3EFDB05-2653-4BC0-8269-1B712D5F5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  <a:r>
              <a:rPr lang="en-US" altLang="zh-CN"/>
              <a:t>9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5C3E802-52DC-4164-AB4A-4CAAB7C20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001000" cy="51117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试证：任何一个四阶群只可能是四阶循环群或者</a:t>
            </a:r>
            <a:r>
              <a:rPr lang="en-US" altLang="zh-CN" dirty="0"/>
              <a:t>Klein</a:t>
            </a:r>
            <a:r>
              <a:rPr lang="zh-CN" altLang="en-US" dirty="0"/>
              <a:t>四元群。</a:t>
            </a:r>
          </a:p>
          <a:p>
            <a:pPr>
              <a:defRPr/>
            </a:pPr>
            <a:r>
              <a:rPr lang="zh-CN" altLang="en-US" dirty="0"/>
              <a:t>证明：设四阶群为</a:t>
            </a:r>
            <a:r>
              <a:rPr lang="en-US" altLang="zh-CN" dirty="0"/>
              <a:t>&lt;{</a:t>
            </a:r>
            <a:r>
              <a:rPr lang="en-US" altLang="zh-CN" i="1" dirty="0" err="1"/>
              <a:t>e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},*&gt;</a:t>
            </a:r>
            <a:r>
              <a:rPr lang="zh-CN" altLang="en-US" dirty="0"/>
              <a:t>。其中</a:t>
            </a:r>
            <a:r>
              <a:rPr lang="en-US" altLang="zh-CN" i="1" dirty="0"/>
              <a:t>e</a:t>
            </a:r>
            <a:r>
              <a:rPr lang="zh-CN" altLang="en-US" dirty="0"/>
              <a:t>是单位元。</a:t>
            </a:r>
          </a:p>
          <a:p>
            <a:pPr lvl="1">
              <a:defRPr/>
            </a:pPr>
            <a:r>
              <a:rPr lang="zh-CN" altLang="en-US" dirty="0"/>
              <a:t>当四阶群含有一个四阶元素时，这个群就是循环群。</a:t>
            </a:r>
          </a:p>
          <a:p>
            <a:pPr lvl="1">
              <a:defRPr/>
            </a:pPr>
            <a:r>
              <a:rPr lang="zh-CN" altLang="en-US" dirty="0"/>
              <a:t>当四阶群不含有四阶元素时，则由</a:t>
            </a:r>
            <a:r>
              <a:rPr lang="en-US" altLang="zh-CN" dirty="0"/>
              <a:t>Lagrange</a:t>
            </a:r>
            <a:r>
              <a:rPr lang="zh-CN" altLang="en-US" dirty="0"/>
              <a:t>定理的推论</a:t>
            </a:r>
            <a:r>
              <a:rPr lang="en-US" altLang="zh-CN" dirty="0"/>
              <a:t>1</a:t>
            </a:r>
            <a:r>
              <a:rPr lang="zh-CN" altLang="en-US" dirty="0"/>
              <a:t>可知，除单位元</a:t>
            </a:r>
            <a:r>
              <a:rPr lang="en-US" altLang="zh-CN" i="1" dirty="0"/>
              <a:t>e</a:t>
            </a:r>
            <a:r>
              <a:rPr lang="zh-CN" altLang="en-US" dirty="0"/>
              <a:t>外，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zh-CN" altLang="en-US" dirty="0"/>
              <a:t>的阶一定都是</a:t>
            </a:r>
            <a:r>
              <a:rPr lang="en-US" altLang="zh-CN" dirty="0"/>
              <a:t>2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71487" lvl="1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即</a:t>
            </a:r>
            <a:r>
              <a:rPr lang="en-US" altLang="zh-CN" i="1" dirty="0"/>
              <a:t>a</a:t>
            </a:r>
            <a:r>
              <a:rPr lang="en-US" altLang="zh-CN" baseline="30000" dirty="0"/>
              <a:t>2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zh-CN" altLang="en-US" i="1" dirty="0"/>
              <a:t>，</a:t>
            </a:r>
            <a:r>
              <a:rPr lang="en-US" altLang="zh-CN" i="1" dirty="0"/>
              <a:t>b</a:t>
            </a:r>
            <a:r>
              <a:rPr lang="en-US" altLang="zh-CN" baseline="30000" dirty="0"/>
              <a:t>2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zh-CN" altLang="en-US" i="1" dirty="0"/>
              <a:t>，</a:t>
            </a:r>
            <a:r>
              <a:rPr lang="en-US" altLang="zh-CN" i="1" dirty="0"/>
              <a:t>c</a:t>
            </a:r>
            <a:r>
              <a:rPr lang="en-US" altLang="zh-CN" baseline="30000" dirty="0"/>
              <a:t>2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5A5C5B2-E389-460F-965C-8B5DA5647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  <a:r>
              <a:rPr lang="en-US" altLang="zh-CN"/>
              <a:t>9</a:t>
            </a:r>
            <a:r>
              <a:rPr lang="zh-CN" altLang="en-US"/>
              <a:t>（续）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EEC553C-32C4-4B5F-972B-BF65B80A5A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defRPr/>
            </a:pP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zh-CN" altLang="en-US" dirty="0"/>
              <a:t>不可能等于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e</a:t>
            </a:r>
            <a:r>
              <a:rPr lang="en-US" altLang="zh-CN" dirty="0"/>
              <a:t>, </a:t>
            </a:r>
            <a:r>
              <a:rPr lang="zh-CN" altLang="en-US" dirty="0"/>
              <a:t>否则将导致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 err="1"/>
              <a:t>e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e</a:t>
            </a:r>
            <a:r>
              <a:rPr lang="zh-CN" altLang="en-US" dirty="0"/>
              <a:t>或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zh-CN" altLang="en-US" dirty="0"/>
              <a:t>的矛盾，所以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/>
              <a:t>c</a:t>
            </a:r>
            <a:r>
              <a:rPr lang="zh-CN" altLang="en-US" dirty="0"/>
              <a:t>。</a:t>
            </a:r>
          </a:p>
          <a:p>
            <a:pPr lvl="1">
              <a:defRPr/>
            </a:pPr>
            <a:r>
              <a:rPr lang="zh-CN" altLang="en-US" dirty="0"/>
              <a:t>同样可以证明</a:t>
            </a:r>
            <a:r>
              <a:rPr lang="en-US" altLang="zh-CN" i="1" dirty="0"/>
              <a:t>b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c</a:t>
            </a:r>
            <a:r>
              <a:rPr lang="en-US" altLang="zh-CN" dirty="0"/>
              <a:t>, </a:t>
            </a:r>
          </a:p>
          <a:p>
            <a:pPr marL="471487" lvl="1" indent="0">
              <a:buFont typeface="Wingdings" panose="05000000000000000000" pitchFamily="2" charset="2"/>
              <a:buNone/>
              <a:defRPr/>
            </a:pPr>
            <a:r>
              <a:rPr lang="en-US" altLang="zh-CN" i="1" dirty="0"/>
              <a:t>     a*c=c*a=b</a:t>
            </a:r>
            <a:r>
              <a:rPr lang="en-US" altLang="zh-CN" dirty="0"/>
              <a:t>, </a:t>
            </a:r>
          </a:p>
          <a:p>
            <a:pPr marL="471487" lvl="1" indent="0">
              <a:buFont typeface="Wingdings" panose="05000000000000000000" pitchFamily="2" charset="2"/>
              <a:buNone/>
              <a:defRPr/>
            </a:pPr>
            <a:r>
              <a:rPr lang="en-US" altLang="zh-CN" i="1" dirty="0"/>
              <a:t>     b</a:t>
            </a:r>
            <a:r>
              <a:rPr lang="en-US" altLang="zh-CN" dirty="0"/>
              <a:t>*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c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因此这个群是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Klein</a:t>
            </a:r>
            <a:r>
              <a:rPr lang="zh-CN" altLang="en-US" dirty="0"/>
              <a:t>四元群。</a:t>
            </a:r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ABEB830C-D8D3-4098-8C36-8D17DF114BC1}"/>
              </a:ext>
            </a:extLst>
          </p:cNvPr>
          <p:cNvGraphicFramePr>
            <a:graphicFrameLocks/>
          </p:cNvGraphicFramePr>
          <p:nvPr/>
        </p:nvGraphicFramePr>
        <p:xfrm>
          <a:off x="5459413" y="3573463"/>
          <a:ext cx="3095625" cy="2519362"/>
        </p:xfrm>
        <a:graphic>
          <a:graphicData uri="http://schemas.openxmlformats.org/drawingml/2006/table">
            <a:tbl>
              <a:tblPr/>
              <a:tblGrid>
                <a:gridCol w="706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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0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a    e    c    b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b    c    e    a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c    b    a    e 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D65FD183-44A8-49A3-988F-AAABD06B49B3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524C230-68D4-488C-BCAE-53FE13D15939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8B970D0-3E32-49AB-BA2A-96DAFFF30C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10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FC98CD43-D48E-46A6-966F-7B93DD2EAA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判断下列集合和给定运算是否构成环、整环和域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如果不构成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说明理由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(1)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 = {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+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i |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∈Q }, </a:t>
            </a:r>
            <a:r>
              <a:rPr lang="zh-CN" altLang="en-US">
                <a:solidFill>
                  <a:srgbClr val="000000"/>
                </a:solidFill>
              </a:rPr>
              <a:t>其中</a:t>
            </a:r>
            <a:r>
              <a:rPr lang="en-US" altLang="zh-CN">
                <a:solidFill>
                  <a:srgbClr val="000000"/>
                </a:solidFill>
              </a:rPr>
              <a:t>i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= 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>
                <a:solidFill>
                  <a:srgbClr val="000000"/>
                </a:solidFill>
              </a:rPr>
              <a:t>1,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运算为复数加法和乘法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(2)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={ 2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+1 |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∈Z},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运算为实数加法和乘法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(3)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={ 2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 |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∈Z},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运算为实数加法和乘法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(4)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={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 |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≥0∧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∈Z},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运算为实数加法和乘法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(5)</a:t>
            </a:r>
          </a:p>
        </p:txBody>
      </p:sp>
      <p:graphicFrame>
        <p:nvGraphicFramePr>
          <p:cNvPr id="46085" name="Object 4">
            <a:extLst>
              <a:ext uri="{FF2B5EF4-FFF2-40B4-BE49-F238E27FC236}">
                <a16:creationId xmlns:a16="http://schemas.microsoft.com/office/drawing/2014/main" id="{A62A652D-9CCA-4D7D-8398-0D530318C1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868863"/>
          <a:ext cx="75390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0" name="公式" r:id="rId4" imgW="2654300" imgH="228600" progId="Equation.3">
                  <p:embed/>
                </p:oleObj>
              </mc:Choice>
              <mc:Fallback>
                <p:oleObj name="公式" r:id="rId4" imgW="2654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868863"/>
                        <a:ext cx="75390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89E2DBBF-3726-4356-8A19-414FB69755C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375E6DB-E293-401C-806E-463047C5263F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5CEF8862-9919-46C4-95D5-18C769AB9DE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10</a:t>
            </a:r>
            <a:r>
              <a:rPr lang="zh-CN" altLang="en-US"/>
              <a:t>解答</a:t>
            </a:r>
            <a:endParaRPr lang="en-US" altLang="zh-CN"/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A0442C9-38DD-4365-876D-197AD3C0DA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判断下列集合和给定运算是否构成环、整环和域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如果不构成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说明理由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(1)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 = {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+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i |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∈Q }, </a:t>
            </a:r>
            <a:r>
              <a:rPr lang="zh-CN" altLang="en-US">
                <a:solidFill>
                  <a:srgbClr val="000000"/>
                </a:solidFill>
              </a:rPr>
              <a:t>其中</a:t>
            </a:r>
            <a:r>
              <a:rPr lang="en-US" altLang="zh-CN">
                <a:solidFill>
                  <a:srgbClr val="000000"/>
                </a:solidFill>
              </a:rPr>
              <a:t>i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= 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>
                <a:solidFill>
                  <a:srgbClr val="000000"/>
                </a:solidFill>
              </a:rPr>
              <a:t>1,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运算为复数加法和乘法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</a:t>
            </a:r>
            <a:r>
              <a:rPr lang="zh-CN" altLang="en-US">
                <a:solidFill>
                  <a:srgbClr val="FF0000"/>
                </a:solidFill>
              </a:rPr>
              <a:t>是环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是整环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也是域</a:t>
            </a:r>
            <a:r>
              <a:rPr lang="en-US" altLang="zh-CN">
                <a:solidFill>
                  <a:srgbClr val="FF0000"/>
                </a:solidFill>
              </a:rPr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(2)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={ 2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+1 |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∈Z},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运算为实数加法和乘法</a:t>
            </a:r>
            <a:endParaRPr lang="en-US" altLang="zh-CN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zh-CN" altLang="en-US">
                <a:solidFill>
                  <a:srgbClr val="FF0000"/>
                </a:solidFill>
              </a:rPr>
              <a:t>不是环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因为关于加法不封闭</a:t>
            </a:r>
            <a:r>
              <a:rPr lang="en-US" altLang="zh-CN">
                <a:solidFill>
                  <a:srgbClr val="FF0000"/>
                </a:solidFill>
              </a:rPr>
              <a:t>.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CCBEF1EB-737D-441B-A3A1-AAD3791BB394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8093A6F-AEAD-48FA-B87A-B3E9F8386B24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620FF6C-2119-4943-BEA0-E2BEEF25D0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10</a:t>
            </a:r>
            <a:r>
              <a:rPr lang="zh-CN" altLang="en-US"/>
              <a:t>解答</a:t>
            </a:r>
            <a:endParaRPr lang="en-US" altLang="zh-CN"/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B759F3B-6A53-4012-9D49-80B7C61143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判断下列集合和给定运算是否构成环、整环和域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如果不构成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说明理由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(3)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={ 2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 |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∈Z},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运算为实数加法和乘法</a:t>
            </a:r>
            <a:endParaRPr lang="en-US" altLang="zh-CN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</a:t>
            </a:r>
            <a:r>
              <a:rPr lang="zh-CN" altLang="en-US">
                <a:solidFill>
                  <a:srgbClr val="FF0000"/>
                </a:solidFill>
              </a:rPr>
              <a:t>是环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不是整环和域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因为乘法没有么元</a:t>
            </a:r>
            <a:r>
              <a:rPr lang="en-US" altLang="zh-CN">
                <a:solidFill>
                  <a:srgbClr val="FF0000"/>
                </a:solidFill>
              </a:rPr>
              <a:t>.</a:t>
            </a:r>
            <a:endParaRPr lang="en-US" altLang="zh-CN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(4)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={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 |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≥0∧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∈Z},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运算为实数加法和乘法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</a:t>
            </a:r>
            <a:r>
              <a:rPr lang="zh-CN" altLang="en-US">
                <a:solidFill>
                  <a:srgbClr val="FF0000"/>
                </a:solidFill>
              </a:rPr>
              <a:t>不是环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因为正整数关于加法的负元不存在</a:t>
            </a:r>
            <a:r>
              <a:rPr lang="en-US" altLang="zh-CN">
                <a:solidFill>
                  <a:srgbClr val="FF0000"/>
                </a:solidFill>
              </a:rPr>
              <a:t>.</a:t>
            </a:r>
            <a:endParaRPr lang="en-US" altLang="zh-CN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DCCDF1EB-5CAC-4F67-B205-67A0E09F49C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C5AEBD6-9FAD-4CB7-BC47-48397824638B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26D21F6A-DEB0-455F-8B51-2215F37FD9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10</a:t>
            </a:r>
            <a:r>
              <a:rPr lang="zh-CN" altLang="en-US"/>
              <a:t>解答</a:t>
            </a:r>
            <a:endParaRPr lang="en-US" altLang="zh-CN"/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0A01C14-B817-466B-9DEE-C2DF5F7F40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判断下列集合和给定运算是否构成环、整环和域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如果不构成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说明理由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(5)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</a:t>
            </a:r>
            <a:r>
              <a:rPr lang="zh-CN" altLang="en-US">
                <a:solidFill>
                  <a:srgbClr val="FF0000"/>
                </a:solidFill>
              </a:rPr>
              <a:t>不是环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因为关于乘法不封闭</a:t>
            </a:r>
            <a:r>
              <a:rPr lang="en-US" altLang="zh-CN">
                <a:solidFill>
                  <a:srgbClr val="FF0000"/>
                </a:solidFill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  <p:graphicFrame>
        <p:nvGraphicFramePr>
          <p:cNvPr id="52229" name="Object 4">
            <a:extLst>
              <a:ext uri="{FF2B5EF4-FFF2-40B4-BE49-F238E27FC236}">
                <a16:creationId xmlns:a16="http://schemas.microsoft.com/office/drawing/2014/main" id="{71E51712-38AA-4667-8E17-5AFC9EFFFE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205038"/>
          <a:ext cx="75390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公式" r:id="rId4" imgW="2654300" imgH="228600" progId="Equation.3">
                  <p:embed/>
                </p:oleObj>
              </mc:Choice>
              <mc:Fallback>
                <p:oleObj name="公式" r:id="rId4" imgW="2654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205038"/>
                        <a:ext cx="75390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>
            <a:extLst>
              <a:ext uri="{FF2B5EF4-FFF2-40B4-BE49-F238E27FC236}">
                <a16:creationId xmlns:a16="http://schemas.microsoft.com/office/drawing/2014/main" id="{3132BA44-B22F-4E66-A50B-9EF6C30D9C0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3B6B56D-486C-4FA2-8F37-103750CB831A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98B296B-937E-4862-9E1C-0C40C055B1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11</a:t>
            </a:r>
          </a:p>
        </p:txBody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B309C2AD-4709-453F-B589-EFE785A815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在整数环中定义∗和◇两个运算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∈Z </a:t>
            </a:r>
            <a:r>
              <a:rPr lang="zh-CN" altLang="en-US">
                <a:sym typeface="Symbol" panose="05050102010706020507" pitchFamily="18" charset="2"/>
              </a:rPr>
              <a:t>有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i="1">
                <a:sym typeface="Symbol" panose="05050102010706020507" pitchFamily="18" charset="2"/>
              </a:rPr>
              <a:t>                 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∗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 =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1,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◇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 =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ab</a:t>
            </a:r>
            <a:r>
              <a:rPr lang="en-US" altLang="zh-CN">
                <a:sym typeface="Symbol" panose="05050102010706020507" pitchFamily="18" charset="2"/>
              </a:rPr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证明</a:t>
            </a:r>
            <a:r>
              <a:rPr lang="en-US" altLang="zh-CN">
                <a:sym typeface="Symbol" panose="05050102010706020507" pitchFamily="18" charset="2"/>
              </a:rPr>
              <a:t>&lt;Z, ∗,◇&gt;</a:t>
            </a:r>
            <a:r>
              <a:rPr lang="zh-CN" altLang="en-US">
                <a:sym typeface="Symbol" panose="05050102010706020507" pitchFamily="18" charset="2"/>
              </a:rPr>
              <a:t>构成环</a:t>
            </a: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证   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∈Z</a:t>
            </a:r>
            <a:r>
              <a:rPr lang="zh-CN" altLang="en-US">
                <a:sym typeface="Symbol" panose="05050102010706020507" pitchFamily="18" charset="2"/>
              </a:rPr>
              <a:t>有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∗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◇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∈Z, </a:t>
            </a:r>
            <a:r>
              <a:rPr lang="zh-CN" altLang="en-US">
                <a:sym typeface="Symbol" panose="05050102010706020507" pitchFamily="18" charset="2"/>
              </a:rPr>
              <a:t>两个运算封闭</a:t>
            </a:r>
            <a:r>
              <a:rPr lang="en-US" altLang="zh-CN">
                <a:sym typeface="Symbol" panose="05050102010706020507" pitchFamily="18" charset="2"/>
              </a:rPr>
              <a:t>. </a:t>
            </a:r>
            <a:r>
              <a:rPr lang="zh-CN" altLang="en-US">
                <a:sym typeface="Symbol" panose="05050102010706020507" pitchFamily="18" charset="2"/>
              </a:rPr>
              <a:t>任取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∈Z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(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∗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)∗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 = (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1)</a:t>
            </a:r>
            <a:r>
              <a:rPr lang="en-US" altLang="zh-CN">
                <a:sym typeface="Symbol" panose="05050102010706020507" pitchFamily="18" charset="2"/>
              </a:rPr>
              <a:t>∗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 = (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1)+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 =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2</a:t>
            </a:r>
            <a:r>
              <a:rPr lang="en-US" altLang="zh-CN">
                <a:sym typeface="Symbol" panose="05050102010706020507" pitchFamily="18" charset="2"/>
              </a:rPr>
              <a:t>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∗(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∗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) =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∗(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1) =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+(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1)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1 = 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2</a:t>
            </a:r>
            <a:r>
              <a:rPr lang="en-US" altLang="zh-CN">
                <a:sym typeface="Symbol" panose="05050102010706020507" pitchFamily="18" charset="2"/>
              </a:rPr>
              <a:t>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</a:t>
            </a:r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7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 build="p" bldLvl="3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FD02C406-6C33-4F2E-A567-3CF8230E89D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9595F86-51DC-4F8D-A5C5-7F3C16491034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04EF1FD5-9275-42FA-9623-ED0A105EFC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11</a:t>
            </a:r>
            <a:r>
              <a:rPr lang="zh-CN" altLang="en-US"/>
              <a:t>（续）</a:t>
            </a:r>
          </a:p>
        </p:txBody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9895ADF4-4715-48A5-A163-42F355A835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(</a:t>
            </a:r>
            <a:r>
              <a:rPr lang="en-US" altLang="zh-CN" sz="2800" i="1">
                <a:sym typeface="Symbol" panose="05050102010706020507" pitchFamily="18" charset="2"/>
              </a:rPr>
              <a:t>a</a:t>
            </a:r>
            <a:r>
              <a:rPr lang="en-US" altLang="zh-CN" sz="2800">
                <a:sym typeface="Symbol" panose="05050102010706020507" pitchFamily="18" charset="2"/>
              </a:rPr>
              <a:t>◇</a:t>
            </a:r>
            <a:r>
              <a:rPr lang="en-US" altLang="zh-CN" sz="2800" i="1">
                <a:sym typeface="Symbol" panose="05050102010706020507" pitchFamily="18" charset="2"/>
              </a:rPr>
              <a:t>b</a:t>
            </a:r>
            <a:r>
              <a:rPr lang="en-US" altLang="zh-CN" sz="2800">
                <a:sym typeface="Symbol" panose="05050102010706020507" pitchFamily="18" charset="2"/>
              </a:rPr>
              <a:t>)◇</a:t>
            </a:r>
            <a:r>
              <a:rPr lang="en-US" altLang="zh-CN" sz="2800" i="1">
                <a:sym typeface="Symbol" panose="05050102010706020507" pitchFamily="18" charset="2"/>
              </a:rPr>
              <a:t>c</a:t>
            </a:r>
            <a:r>
              <a:rPr lang="en-US" altLang="zh-CN" sz="2800">
                <a:sym typeface="Symbol" panose="05050102010706020507" pitchFamily="18" charset="2"/>
              </a:rPr>
              <a:t> = (</a:t>
            </a:r>
            <a:r>
              <a:rPr lang="en-US" altLang="zh-CN" sz="2800" i="1">
                <a:sym typeface="Symbol" panose="05050102010706020507" pitchFamily="18" charset="2"/>
              </a:rPr>
              <a:t>a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b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 i="1"/>
              <a:t>ab</a:t>
            </a:r>
            <a:r>
              <a:rPr lang="en-US" altLang="zh-CN" sz="2800">
                <a:sym typeface="Symbol" panose="05050102010706020507" pitchFamily="18" charset="2"/>
              </a:rPr>
              <a:t>)◇</a:t>
            </a:r>
            <a:r>
              <a:rPr lang="en-US" altLang="zh-CN" sz="2800" i="1">
                <a:sym typeface="Symbol" panose="05050102010706020507" pitchFamily="18" charset="2"/>
              </a:rPr>
              <a:t>c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                 = </a:t>
            </a:r>
            <a:r>
              <a:rPr lang="en-US" altLang="zh-CN" sz="2800" i="1">
                <a:sym typeface="Symbol" panose="05050102010706020507" pitchFamily="18" charset="2"/>
              </a:rPr>
              <a:t>a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b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c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/>
              <a:t> (</a:t>
            </a:r>
            <a:r>
              <a:rPr lang="en-US" altLang="zh-CN" sz="2800" i="1">
                <a:sym typeface="Symbol" panose="05050102010706020507" pitchFamily="18" charset="2"/>
              </a:rPr>
              <a:t>ab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ac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bc</a:t>
            </a:r>
            <a:r>
              <a:rPr lang="en-US" altLang="zh-CN" sz="2800">
                <a:sym typeface="Symbol" panose="05050102010706020507" pitchFamily="18" charset="2"/>
              </a:rPr>
              <a:t>)+</a:t>
            </a:r>
            <a:r>
              <a:rPr lang="en-US" altLang="zh-CN" sz="2800" i="1">
                <a:sym typeface="Symbol" panose="05050102010706020507" pitchFamily="18" charset="2"/>
              </a:rPr>
              <a:t>abc</a:t>
            </a:r>
            <a:r>
              <a:rPr lang="en-US" altLang="zh-CN" sz="2800">
                <a:sym typeface="Symbol" panose="05050102010706020507" pitchFamily="18" charset="2"/>
              </a:rPr>
              <a:t>         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ym typeface="Symbol" panose="05050102010706020507" pitchFamily="18" charset="2"/>
              </a:rPr>
              <a:t>a</a:t>
            </a:r>
            <a:r>
              <a:rPr lang="en-US" altLang="zh-CN" sz="2800">
                <a:sym typeface="Symbol" panose="05050102010706020507" pitchFamily="18" charset="2"/>
              </a:rPr>
              <a:t>◇(</a:t>
            </a:r>
            <a:r>
              <a:rPr lang="en-US" altLang="zh-CN" sz="2800" i="1">
                <a:sym typeface="Symbol" panose="05050102010706020507" pitchFamily="18" charset="2"/>
              </a:rPr>
              <a:t>b</a:t>
            </a:r>
            <a:r>
              <a:rPr lang="en-US" altLang="zh-CN" sz="2800">
                <a:sym typeface="Symbol" panose="05050102010706020507" pitchFamily="18" charset="2"/>
              </a:rPr>
              <a:t>◇</a:t>
            </a:r>
            <a:r>
              <a:rPr lang="en-US" altLang="zh-CN" sz="2800" i="1">
                <a:sym typeface="Symbol" panose="05050102010706020507" pitchFamily="18" charset="2"/>
              </a:rPr>
              <a:t>c</a:t>
            </a:r>
            <a:r>
              <a:rPr lang="en-US" altLang="zh-CN" sz="2800">
                <a:sym typeface="Symbol" panose="05050102010706020507" pitchFamily="18" charset="2"/>
              </a:rPr>
              <a:t>) = </a:t>
            </a:r>
            <a:r>
              <a:rPr lang="en-US" altLang="zh-CN" sz="2800" i="1">
                <a:sym typeface="Symbol" panose="05050102010706020507" pitchFamily="18" charset="2"/>
              </a:rPr>
              <a:t>a</a:t>
            </a:r>
            <a:r>
              <a:rPr lang="en-US" altLang="zh-CN" sz="2800">
                <a:sym typeface="Symbol" panose="05050102010706020507" pitchFamily="18" charset="2"/>
              </a:rPr>
              <a:t>◇(</a:t>
            </a:r>
            <a:r>
              <a:rPr lang="en-US" altLang="zh-CN" sz="2800" i="1">
                <a:sym typeface="Symbol" panose="05050102010706020507" pitchFamily="18" charset="2"/>
              </a:rPr>
              <a:t>b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c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 i="1"/>
              <a:t>bc</a:t>
            </a:r>
            <a:r>
              <a:rPr lang="en-US" altLang="zh-CN" sz="2800">
                <a:sym typeface="Symbol" panose="05050102010706020507" pitchFamily="18" charset="2"/>
              </a:rPr>
              <a:t>)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                 = </a:t>
            </a:r>
            <a:r>
              <a:rPr lang="en-US" altLang="zh-CN" sz="2800" i="1">
                <a:sym typeface="Symbol" panose="05050102010706020507" pitchFamily="18" charset="2"/>
              </a:rPr>
              <a:t>a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b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c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/>
              <a:t> (</a:t>
            </a:r>
            <a:r>
              <a:rPr lang="en-US" altLang="zh-CN" sz="2800" i="1">
                <a:sym typeface="Symbol" panose="05050102010706020507" pitchFamily="18" charset="2"/>
              </a:rPr>
              <a:t>ab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ac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i="1">
                <a:sym typeface="Symbol" panose="05050102010706020507" pitchFamily="18" charset="2"/>
              </a:rPr>
              <a:t>bc</a:t>
            </a:r>
            <a:r>
              <a:rPr lang="en-US" altLang="zh-CN" sz="2800">
                <a:sym typeface="Symbol" panose="05050102010706020507" pitchFamily="18" charset="2"/>
              </a:rPr>
              <a:t>)+</a:t>
            </a:r>
            <a:r>
              <a:rPr lang="en-US" altLang="zh-CN" sz="2800" i="1">
                <a:sym typeface="Symbol" panose="05050102010706020507" pitchFamily="18" charset="2"/>
              </a:rPr>
              <a:t>abc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∗</a:t>
            </a:r>
            <a:r>
              <a:rPr lang="zh-CN" altLang="en-US" sz="2800" b="0"/>
              <a:t>与</a:t>
            </a:r>
            <a:r>
              <a:rPr lang="zh-CN" altLang="en-US" sz="2800"/>
              <a:t>◇可结合</a:t>
            </a:r>
            <a:r>
              <a:rPr lang="en-US" altLang="zh-CN" sz="2800"/>
              <a:t>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1</a:t>
            </a:r>
            <a:r>
              <a:rPr lang="zh-CN" altLang="en-US" sz="2800"/>
              <a:t>为∗的单位元</a:t>
            </a:r>
            <a:r>
              <a:rPr lang="en-US" altLang="zh-CN" sz="2800"/>
              <a:t>,  2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 i="1"/>
              <a:t>a</a:t>
            </a:r>
            <a:r>
              <a:rPr lang="zh-CN" altLang="en-US" sz="2800"/>
              <a:t>为</a:t>
            </a:r>
            <a:r>
              <a:rPr lang="en-US" altLang="zh-CN" sz="2800" i="1"/>
              <a:t>a</a:t>
            </a:r>
            <a:r>
              <a:rPr lang="zh-CN" altLang="en-US" sz="2800"/>
              <a:t>关于∗的逆元</a:t>
            </a:r>
            <a:r>
              <a:rPr lang="en-US" altLang="zh-CN" sz="2800"/>
              <a:t>,  *</a:t>
            </a:r>
            <a:r>
              <a:rPr lang="zh-CN" altLang="en-US" sz="2800"/>
              <a:t>可交换</a:t>
            </a:r>
            <a:r>
              <a:rPr lang="en-US" altLang="zh-CN" sz="2800"/>
              <a:t>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Z</a:t>
            </a:r>
            <a:r>
              <a:rPr lang="zh-CN" altLang="en-US" sz="2800"/>
              <a:t>关于∗构成交换群</a:t>
            </a:r>
            <a:r>
              <a:rPr lang="en-US" altLang="zh-CN" sz="2800"/>
              <a:t>, </a:t>
            </a:r>
            <a:r>
              <a:rPr lang="zh-CN" altLang="en-US" sz="2800"/>
              <a:t>关于◇构成半群</a:t>
            </a:r>
            <a:r>
              <a:rPr lang="en-US" altLang="zh-CN" sz="2800"/>
              <a:t>. 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◇</a:t>
            </a:r>
            <a:r>
              <a:rPr lang="zh-CN" altLang="en-US" sz="2800"/>
              <a:t>关于∗ 满足分配律</a:t>
            </a:r>
            <a:r>
              <a:rPr lang="en-US" altLang="zh-CN" sz="2800"/>
              <a:t>.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          </a:t>
            </a:r>
            <a:r>
              <a:rPr lang="en-US" altLang="zh-CN" sz="2800" i="1"/>
              <a:t>a</a:t>
            </a:r>
            <a:r>
              <a:rPr lang="en-US" altLang="zh-CN" sz="2800"/>
              <a:t>◇(</a:t>
            </a:r>
            <a:r>
              <a:rPr lang="en-US" altLang="zh-CN" sz="2800" i="1"/>
              <a:t>b</a:t>
            </a:r>
            <a:r>
              <a:rPr lang="en-US" altLang="zh-CN" sz="2800"/>
              <a:t>∗</a:t>
            </a:r>
            <a:r>
              <a:rPr lang="en-US" altLang="zh-CN" sz="2800" i="1"/>
              <a:t>c</a:t>
            </a:r>
            <a:r>
              <a:rPr lang="en-US" altLang="zh-CN" sz="2800"/>
              <a:t>) = </a:t>
            </a:r>
            <a:r>
              <a:rPr lang="en-US" altLang="zh-CN" sz="2800" i="1"/>
              <a:t>a</a:t>
            </a:r>
            <a:r>
              <a:rPr lang="en-US" altLang="zh-CN" sz="2800"/>
              <a:t>◇(</a:t>
            </a:r>
            <a:r>
              <a:rPr lang="en-US" altLang="zh-CN" sz="2800" i="1"/>
              <a:t>b</a:t>
            </a:r>
            <a:r>
              <a:rPr lang="en-US" altLang="zh-CN" sz="2800"/>
              <a:t>+</a:t>
            </a:r>
            <a:r>
              <a:rPr lang="en-US" altLang="zh-CN" sz="2800" i="1"/>
              <a:t>c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/>
              <a:t>1) = 2</a:t>
            </a:r>
            <a:r>
              <a:rPr lang="en-US" altLang="zh-CN" sz="2800" i="1"/>
              <a:t>a</a:t>
            </a:r>
            <a:r>
              <a:rPr lang="en-US" altLang="zh-CN" sz="2800"/>
              <a:t>+</a:t>
            </a:r>
            <a:r>
              <a:rPr lang="en-US" altLang="zh-CN" sz="2800" i="1"/>
              <a:t>b</a:t>
            </a:r>
            <a:r>
              <a:rPr lang="en-US" altLang="zh-CN" sz="2800"/>
              <a:t>+</a:t>
            </a:r>
            <a:r>
              <a:rPr lang="en-US" altLang="zh-CN" sz="2800" i="1"/>
              <a:t>c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 i="1"/>
              <a:t>ab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 i="1"/>
              <a:t>ac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/>
              <a:t>1                      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          (</a:t>
            </a:r>
            <a:r>
              <a:rPr lang="en-US" altLang="zh-CN" sz="2800" i="1"/>
              <a:t>a</a:t>
            </a:r>
            <a:r>
              <a:rPr lang="en-US" altLang="zh-CN" sz="2800"/>
              <a:t>◇</a:t>
            </a:r>
            <a:r>
              <a:rPr lang="en-US" altLang="zh-CN" sz="2800" i="1"/>
              <a:t>b</a:t>
            </a:r>
            <a:r>
              <a:rPr lang="en-US" altLang="zh-CN" sz="2800"/>
              <a:t>)∗(</a:t>
            </a:r>
            <a:r>
              <a:rPr lang="en-US" altLang="zh-CN" sz="2800" i="1"/>
              <a:t>a</a:t>
            </a:r>
            <a:r>
              <a:rPr lang="en-US" altLang="zh-CN" sz="2800"/>
              <a:t>◇</a:t>
            </a:r>
            <a:r>
              <a:rPr lang="en-US" altLang="zh-CN" sz="2800" i="1"/>
              <a:t>c</a:t>
            </a:r>
            <a:r>
              <a:rPr lang="en-US" altLang="zh-CN" sz="2800"/>
              <a:t>) = 2</a:t>
            </a:r>
            <a:r>
              <a:rPr lang="en-US" altLang="zh-CN" sz="2800" i="1"/>
              <a:t>a</a:t>
            </a:r>
            <a:r>
              <a:rPr lang="en-US" altLang="zh-CN" sz="2800"/>
              <a:t>+</a:t>
            </a:r>
            <a:r>
              <a:rPr lang="en-US" altLang="zh-CN" sz="2800" i="1"/>
              <a:t>b</a:t>
            </a:r>
            <a:r>
              <a:rPr lang="en-US" altLang="zh-CN" sz="2800"/>
              <a:t>+</a:t>
            </a:r>
            <a:r>
              <a:rPr lang="en-US" altLang="zh-CN" sz="2800" i="1"/>
              <a:t>c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 i="1"/>
              <a:t>ab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 i="1"/>
              <a:t>ac</a:t>
            </a:r>
            <a:r>
              <a:rPr lang="en-US" altLang="zh-CN" sz="2800">
                <a:sym typeface="Symbol" panose="05050102010706020507" pitchFamily="18" charset="2"/>
              </a:rPr>
              <a:t></a:t>
            </a:r>
            <a:r>
              <a:rPr lang="en-US" altLang="zh-CN" sz="2800"/>
              <a:t>1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&lt;</a:t>
            </a:r>
            <a:r>
              <a:rPr lang="en-US" altLang="zh-CN" sz="2800" i="1"/>
              <a:t>Z</a:t>
            </a:r>
            <a:r>
              <a:rPr lang="en-US" altLang="zh-CN" sz="2800"/>
              <a:t>, ∗,◇&gt;</a:t>
            </a:r>
            <a:r>
              <a:rPr lang="zh-CN" altLang="en-US" sz="2800"/>
              <a:t>构成环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8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8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8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8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8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8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build="p" bldLvl="3"/>
    </p:bld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3210</Words>
  <Application>Microsoft Office PowerPoint</Application>
  <PresentationFormat>全屏显示(4:3)</PresentationFormat>
  <Paragraphs>356</Paragraphs>
  <Slides>32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华文中宋</vt:lpstr>
      <vt:lpstr>宋体</vt:lpstr>
      <vt:lpstr>Arial</vt:lpstr>
      <vt:lpstr>Symbol</vt:lpstr>
      <vt:lpstr>Times New Roman</vt:lpstr>
      <vt:lpstr>Verdana</vt:lpstr>
      <vt:lpstr>Wingdings</vt:lpstr>
      <vt:lpstr>Profile</vt:lpstr>
      <vt:lpstr>公式</vt:lpstr>
      <vt:lpstr>第十章 习题课</vt:lpstr>
      <vt:lpstr>基本要求</vt:lpstr>
      <vt:lpstr>PowerPoint 演示文稿</vt:lpstr>
      <vt:lpstr>练习1</vt:lpstr>
      <vt:lpstr>练习1详解</vt:lpstr>
      <vt:lpstr>练习1详解</vt:lpstr>
      <vt:lpstr>练习1详解</vt:lpstr>
      <vt:lpstr>练习2</vt:lpstr>
      <vt:lpstr>PowerPoint 演示文稿</vt:lpstr>
      <vt:lpstr>练习3</vt:lpstr>
      <vt:lpstr>说明</vt:lpstr>
      <vt:lpstr>练习4</vt:lpstr>
      <vt:lpstr>PowerPoint 演示文稿</vt:lpstr>
      <vt:lpstr>练习4解答</vt:lpstr>
      <vt:lpstr>PowerPoint 演示文稿</vt:lpstr>
      <vt:lpstr>练习5</vt:lpstr>
      <vt:lpstr>练习6</vt:lpstr>
      <vt:lpstr>说明</vt:lpstr>
      <vt:lpstr>PowerPoint 演示文稿</vt:lpstr>
      <vt:lpstr>练习7</vt:lpstr>
      <vt:lpstr>练习7（续）</vt:lpstr>
      <vt:lpstr>练习8</vt:lpstr>
      <vt:lpstr>练习8解答</vt:lpstr>
      <vt:lpstr>PowerPoint 演示文稿</vt:lpstr>
      <vt:lpstr>练习9</vt:lpstr>
      <vt:lpstr>练习9（续）</vt:lpstr>
      <vt:lpstr>练习10</vt:lpstr>
      <vt:lpstr>练习10解答</vt:lpstr>
      <vt:lpstr>练习10解答</vt:lpstr>
      <vt:lpstr>练习10解答</vt:lpstr>
      <vt:lpstr>练习11</vt:lpstr>
      <vt:lpstr>练习11（续）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520</cp:revision>
  <dcterms:created xsi:type="dcterms:W3CDTF">2007-11-19T20:33:53Z</dcterms:created>
  <dcterms:modified xsi:type="dcterms:W3CDTF">2018-11-07T14:13:45Z</dcterms:modified>
</cp:coreProperties>
</file>