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4"/>
  </p:notesMasterIdLst>
  <p:handoutMasterIdLst>
    <p:handoutMasterId r:id="rId15"/>
  </p:handoutMasterIdLst>
  <p:sldIdLst>
    <p:sldId id="284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3" r:id="rId12"/>
    <p:sldId id="344" r:id="rId13"/>
  </p:sldIdLst>
  <p:sldSz cx="9144000" cy="6858000" type="screen4x3"/>
  <p:notesSz cx="6797675" cy="99282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CC0000"/>
    <a:srgbClr val="D72323"/>
    <a:srgbClr val="AF1D1D"/>
    <a:srgbClr val="CC7900"/>
    <a:srgbClr val="FF0000"/>
    <a:srgbClr val="69B3F1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65" autoAdjust="0"/>
    <p:restoredTop sz="62549" autoAdjust="0"/>
  </p:normalViewPr>
  <p:slideViewPr>
    <p:cSldViewPr>
      <p:cViewPr varScale="1">
        <p:scale>
          <a:sx n="42" d="100"/>
          <a:sy n="42" d="100"/>
        </p:scale>
        <p:origin x="127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42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78E85B3-42D2-4465-981E-A03E760D0C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3ADA8CF-4779-4DB8-83AD-71847DF5600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90E81252-F09A-4C64-84A8-27E86439FB5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38792AA1-1BA0-4C03-9BD3-28DCCF04DB1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18CA889-5C04-48F2-B74D-0768EB10AD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6CDDBC8-4002-400C-9C77-7E6E3B2D24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754FA9C-708D-465F-A225-89A5DD5A86C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F6C592D-8F9C-4B48-BAFE-FF5585FB67E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7AE5012-E6D9-469D-98B1-29C58D19B5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E0D87D4-6D1D-4729-8353-6230A46FF04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4AF915D-24BD-4B19-8C3B-E971DF00A4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0D22632-E7CC-42D7-BDEF-13A65770E2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6D71378-2786-4D80-BAC6-8F2B71D003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C84832-6E96-4FEF-933B-0A5D599B1AC8}" type="slidenum">
              <a:rPr lang="en-US" altLang="zh-CN" sz="1200" smtClean="0"/>
              <a:pPr>
                <a:spcBef>
                  <a:spcPct val="0"/>
                </a:spcBef>
              </a:pPr>
              <a:t>1</a:t>
            </a:fld>
            <a:endParaRPr lang="en-US" altLang="zh-CN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F86F859D-1836-48DD-A416-38340D5FC6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53364A6-9395-4030-8AEA-4834025DE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2C75BB45-A1B4-4E80-80FF-D6EBF17311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68C9766B-D9A3-42CA-8AC5-70DE2AF004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Arial" panose="020B0604020202020204" pitchFamily="34" charset="0"/>
              </a:rPr>
              <a:t>11.4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设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&lt;</a:t>
            </a:r>
            <a:r>
              <a:rPr lang="en-US" altLang="zh-CN" i="1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,∧,∨&gt;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是格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zh-CN" i="1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是</a:t>
            </a:r>
            <a:r>
              <a:rPr lang="en-US" altLang="zh-CN" i="1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的非空子集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若</a:t>
            </a:r>
            <a:r>
              <a:rPr lang="en-US" altLang="zh-CN" i="1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关于</a:t>
            </a:r>
            <a:r>
              <a:rPr lang="en-US" altLang="zh-CN" i="1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中的运算∧和∨仍构成格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则称</a:t>
            </a:r>
            <a:r>
              <a:rPr lang="en-US" altLang="zh-CN" i="1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是</a:t>
            </a:r>
            <a:r>
              <a:rPr lang="en-US" altLang="zh-CN" i="1">
                <a:solidFill>
                  <a:srgbClr val="000000"/>
                </a:solidFill>
                <a:latin typeface="Arial" panose="020B0604020202020204" pitchFamily="34" charset="0"/>
              </a:rPr>
              <a:t>L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的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子格。</a:t>
            </a:r>
          </a:p>
          <a:p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定义</a:t>
            </a:r>
            <a:r>
              <a:rPr lang="en-US" altLang="zh-CN">
                <a:solidFill>
                  <a:srgbClr val="A50021"/>
                </a:solidFill>
                <a:latin typeface="Arial" panose="020B0604020202020204" pitchFamily="34" charset="0"/>
              </a:rPr>
              <a:t>11.1</a:t>
            </a:r>
            <a:r>
              <a:rPr lang="en-US" altLang="zh-CN">
                <a:latin typeface="Arial" panose="020B0604020202020204" pitchFamily="34" charset="0"/>
              </a:rPr>
              <a:t> </a:t>
            </a:r>
            <a:r>
              <a:rPr lang="zh-CN" altLang="en-US">
                <a:latin typeface="Arial" panose="020B0604020202020204" pitchFamily="34" charset="0"/>
              </a:rPr>
              <a:t>设</a:t>
            </a:r>
            <a:r>
              <a:rPr lang="en-US" altLang="zh-CN">
                <a:latin typeface="Arial" panose="020B0604020202020204" pitchFamily="34" charset="0"/>
              </a:rPr>
              <a:t>&lt;</a:t>
            </a:r>
            <a:r>
              <a:rPr lang="en-US" altLang="zh-CN" i="1">
                <a:latin typeface="Arial" panose="020B0604020202020204" pitchFamily="34" charset="0"/>
              </a:rPr>
              <a:t>S</a:t>
            </a:r>
            <a:r>
              <a:rPr lang="en-US" altLang="zh-CN">
                <a:latin typeface="Arial" panose="020B0604020202020204" pitchFamily="34" charset="0"/>
              </a:rPr>
              <a:t>, ≼&gt;</a:t>
            </a:r>
            <a:r>
              <a:rPr lang="zh-CN" altLang="en-US">
                <a:latin typeface="Arial" panose="020B0604020202020204" pitchFamily="34" charset="0"/>
              </a:rPr>
              <a:t>是偏序集，如果</a:t>
            </a:r>
            <a:r>
              <a:rPr lang="zh-CN" altLang="en-US">
                <a:latin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Arial" panose="020B0604020202020204" pitchFamily="34" charset="0"/>
              </a:rPr>
              <a:t>x</a:t>
            </a:r>
            <a:r>
              <a:rPr lang="en-US" altLang="zh-CN">
                <a:latin typeface="Arial" panose="020B0604020202020204" pitchFamily="34" charset="0"/>
              </a:rPr>
              <a:t>,</a:t>
            </a:r>
            <a:r>
              <a:rPr lang="en-US" altLang="zh-CN" i="1">
                <a:latin typeface="Arial" panose="020B0604020202020204" pitchFamily="34" charset="0"/>
              </a:rPr>
              <a:t>y</a:t>
            </a:r>
            <a:r>
              <a:rPr lang="en-US" altLang="zh-CN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Arial" panose="020B0604020202020204" pitchFamily="34" charset="0"/>
              </a:rPr>
              <a:t>S</a:t>
            </a:r>
            <a:r>
              <a:rPr lang="zh-CN" altLang="en-US">
                <a:latin typeface="Arial" panose="020B0604020202020204" pitchFamily="34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{</a:t>
            </a:r>
            <a:r>
              <a:rPr lang="en-US" altLang="zh-CN" i="1">
                <a:latin typeface="Arial" panose="020B0604020202020204" pitchFamily="34" charset="0"/>
              </a:rPr>
              <a:t>x</a:t>
            </a:r>
            <a:r>
              <a:rPr lang="en-US" altLang="zh-CN">
                <a:latin typeface="Arial" panose="020B0604020202020204" pitchFamily="34" charset="0"/>
              </a:rPr>
              <a:t>,</a:t>
            </a:r>
            <a:r>
              <a:rPr lang="en-US" altLang="zh-CN" i="1">
                <a:latin typeface="Arial" panose="020B0604020202020204" pitchFamily="34" charset="0"/>
              </a:rPr>
              <a:t>y</a:t>
            </a:r>
            <a:r>
              <a:rPr lang="en-US" altLang="zh-CN">
                <a:latin typeface="Arial" panose="020B0604020202020204" pitchFamily="34" charset="0"/>
              </a:rPr>
              <a:t>}</a:t>
            </a:r>
            <a:r>
              <a:rPr lang="zh-CN" altLang="en-US">
                <a:latin typeface="Arial" panose="020B0604020202020204" pitchFamily="34" charset="0"/>
              </a:rPr>
              <a:t>都有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最小上界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最大下界</a:t>
            </a:r>
            <a:r>
              <a:rPr lang="zh-CN" altLang="en-US">
                <a:latin typeface="Arial" panose="020B0604020202020204" pitchFamily="34" charset="0"/>
              </a:rPr>
              <a:t>，则称</a:t>
            </a:r>
            <a:r>
              <a:rPr lang="en-US" altLang="zh-CN" i="1">
                <a:latin typeface="Arial" panose="020B0604020202020204" pitchFamily="34" charset="0"/>
              </a:rPr>
              <a:t>S</a:t>
            </a:r>
            <a:r>
              <a:rPr lang="zh-CN" altLang="en-US">
                <a:latin typeface="Arial" panose="020B0604020202020204" pitchFamily="34" charset="0"/>
              </a:rPr>
              <a:t>关于偏序≼作成一个</a:t>
            </a:r>
            <a:r>
              <a:rPr lang="zh-CN" altLang="en-US">
                <a:solidFill>
                  <a:srgbClr val="A50021"/>
                </a:solidFill>
                <a:latin typeface="Arial" panose="020B0604020202020204" pitchFamily="34" charset="0"/>
              </a:rPr>
              <a:t>格</a:t>
            </a:r>
            <a:r>
              <a:rPr lang="en-US" altLang="zh-CN">
                <a:latin typeface="Arial" panose="020B0604020202020204" pitchFamily="34" charset="0"/>
              </a:rPr>
              <a:t>. </a:t>
            </a:r>
          </a:p>
          <a:p>
            <a:r>
              <a:rPr lang="en-US" altLang="zh-CN">
                <a:latin typeface="Arial" panose="020B0604020202020204" pitchFamily="34" charset="0"/>
              </a:rPr>
              <a:t>&lt;c,d,e&gt;</a:t>
            </a:r>
            <a:r>
              <a:rPr lang="zh-CN" altLang="en-US">
                <a:latin typeface="Arial" panose="020B0604020202020204" pitchFamily="34" charset="0"/>
              </a:rPr>
              <a:t>不是，因为</a:t>
            </a:r>
            <a:r>
              <a:rPr lang="en-US" altLang="zh-CN">
                <a:latin typeface="Arial" panose="020B0604020202020204" pitchFamily="34" charset="0"/>
              </a:rPr>
              <a:t>c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∧</a:t>
            </a:r>
            <a:r>
              <a:rPr lang="en-US" altLang="zh-CN">
                <a:latin typeface="Arial" panose="020B0604020202020204" pitchFamily="34" charset="0"/>
              </a:rPr>
              <a:t>d=b</a:t>
            </a:r>
            <a:r>
              <a:rPr lang="zh-CN" altLang="en-US">
                <a:latin typeface="Arial" panose="020B0604020202020204" pitchFamily="34" charset="0"/>
              </a:rPr>
              <a:t>不在其中</a:t>
            </a: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B1BF0653-9764-43C0-8039-A432570768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F7E91A4-BD2C-4AAD-AE94-B194D1FF18B7}" type="slidenum">
              <a:rPr lang="en-US" altLang="zh-CN" smtClean="0">
                <a:latin typeface="Arial" panose="020B0604020202020204" pitchFamily="34" charset="0"/>
              </a:rPr>
              <a:pPr/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(3) </a:t>
            </a:r>
            <a:r>
              <a:rPr lang="zh-CN" altLang="en-US" sz="2800" dirty="0">
                <a:solidFill>
                  <a:srgbClr val="A50021"/>
                </a:solidFill>
              </a:rPr>
              <a:t>同一律</a:t>
            </a:r>
            <a:r>
              <a:rPr lang="en-US" altLang="zh-CN" sz="2800" dirty="0"/>
              <a:t>, </a:t>
            </a:r>
            <a:r>
              <a:rPr lang="zh-CN" altLang="en-US" sz="2800" dirty="0"/>
              <a:t>即存在</a:t>
            </a:r>
            <a:r>
              <a:rPr lang="en-US" altLang="zh-CN" sz="2800" dirty="0"/>
              <a:t>0,1∈</a:t>
            </a:r>
            <a:r>
              <a:rPr lang="en-US" altLang="zh-CN" sz="2800" i="1" dirty="0"/>
              <a:t>B</a:t>
            </a:r>
            <a:r>
              <a:rPr lang="en-US" altLang="zh-CN" sz="2800" dirty="0"/>
              <a:t>, </a:t>
            </a:r>
            <a:r>
              <a:rPr lang="zh-CN" altLang="en-US" sz="2800" dirty="0"/>
              <a:t>使得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B</a:t>
            </a:r>
            <a:r>
              <a:rPr lang="zh-CN" altLang="en-US" sz="2800" dirty="0"/>
              <a:t>有</a:t>
            </a:r>
            <a:br>
              <a:rPr lang="zh-CN" altLang="en-US" sz="2800" dirty="0"/>
            </a:br>
            <a:r>
              <a:rPr lang="en-US" altLang="zh-CN" sz="2800" i="1" dirty="0">
                <a:solidFill>
                  <a:schemeClr val="folHlink"/>
                </a:solidFill>
              </a:rPr>
              <a:t>a </a:t>
            </a:r>
            <a:r>
              <a:rPr lang="en-US" altLang="zh-CN" sz="2800" dirty="0">
                <a:solidFill>
                  <a:schemeClr val="folHlink"/>
                </a:solidFill>
              </a:rPr>
              <a:t>∗1 = 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en-US" altLang="zh-CN" sz="2800" dirty="0">
                <a:solidFill>
                  <a:schemeClr val="folHlink"/>
                </a:solidFill>
              </a:rPr>
              <a:t>, 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zh-CN" altLang="fr-FR" sz="2800" dirty="0">
                <a:solidFill>
                  <a:schemeClr val="folHlink"/>
                </a:solidFill>
              </a:rPr>
              <a:t>◦</a:t>
            </a:r>
            <a:r>
              <a:rPr lang="en-US" altLang="zh-CN" sz="2800" dirty="0">
                <a:solidFill>
                  <a:schemeClr val="folHlink"/>
                </a:solidFill>
              </a:rPr>
              <a:t>0 = 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en-US" altLang="zh-CN" sz="2800" dirty="0">
                <a:solidFill>
                  <a:schemeClr val="folHlink"/>
                </a:solidFill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(4) </a:t>
            </a:r>
            <a:r>
              <a:rPr lang="zh-CN" altLang="en-US" sz="2800" dirty="0">
                <a:solidFill>
                  <a:srgbClr val="A50021"/>
                </a:solidFill>
              </a:rPr>
              <a:t>补元律</a:t>
            </a:r>
            <a:r>
              <a:rPr lang="en-US" altLang="zh-CN" sz="2800" dirty="0"/>
              <a:t>, </a:t>
            </a:r>
            <a:r>
              <a:rPr lang="zh-CN" altLang="en-US" sz="2800" dirty="0"/>
              <a:t>即</a:t>
            </a:r>
            <a:r>
              <a:rPr lang="zh-CN" altLang="en-US" sz="2800" dirty="0">
                <a:sym typeface="Symbol" panose="05050102010706020507" pitchFamily="18" charset="2"/>
              </a:rPr>
              <a:t></a:t>
            </a:r>
            <a:r>
              <a:rPr lang="en-US" altLang="zh-CN" sz="2800" i="1" dirty="0" err="1"/>
              <a:t>a</a:t>
            </a:r>
            <a:r>
              <a:rPr lang="en-US" altLang="zh-CN" sz="2800" dirty="0" err="1"/>
              <a:t>∈</a:t>
            </a:r>
            <a:r>
              <a:rPr lang="en-US" altLang="zh-CN" sz="2800" i="1" dirty="0" err="1"/>
              <a:t>B</a:t>
            </a:r>
            <a:r>
              <a:rPr lang="en-US" altLang="zh-CN" sz="2800" dirty="0"/>
              <a:t>, </a:t>
            </a:r>
            <a:r>
              <a:rPr lang="zh-CN" altLang="en-US" sz="2800" dirty="0"/>
              <a:t>存在 </a:t>
            </a:r>
            <a:r>
              <a:rPr lang="en-US" altLang="zh-CN" sz="2800" i="1" dirty="0"/>
              <a:t>a</a:t>
            </a:r>
            <a:r>
              <a:rPr lang="en-US" altLang="zh-CN" sz="2800" i="1" dirty="0">
                <a:sym typeface="Symbol" panose="05050102010706020507" pitchFamily="18" charset="2"/>
              </a:rPr>
              <a:t></a:t>
            </a:r>
            <a:r>
              <a:rPr lang="en-US" altLang="zh-CN" sz="2800" dirty="0"/>
              <a:t>∈</a:t>
            </a:r>
            <a:r>
              <a:rPr lang="en-US" altLang="zh-CN" sz="2800" i="1" dirty="0"/>
              <a:t>B </a:t>
            </a:r>
            <a:r>
              <a:rPr lang="zh-CN" altLang="en-US" sz="2800" dirty="0"/>
              <a:t>使得</a:t>
            </a:r>
            <a:br>
              <a:rPr lang="zh-CN" altLang="en-US" sz="2800" dirty="0"/>
            </a:br>
            <a:r>
              <a:rPr lang="zh-CN" altLang="en-US" sz="2800" dirty="0"/>
              <a:t> </a:t>
            </a:r>
            <a:r>
              <a:rPr lang="en-US" altLang="zh-CN" sz="2800" i="1" dirty="0">
                <a:solidFill>
                  <a:schemeClr val="folHlink"/>
                </a:solidFill>
              </a:rPr>
              <a:t>a </a:t>
            </a:r>
            <a:r>
              <a:rPr lang="en-US" altLang="zh-CN" sz="2800" dirty="0">
                <a:solidFill>
                  <a:schemeClr val="folHlink"/>
                </a:solidFill>
              </a:rPr>
              <a:t>∗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en-US" altLang="zh-CN" sz="2800" dirty="0">
                <a:solidFill>
                  <a:schemeClr val="folHlink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800" dirty="0">
                <a:solidFill>
                  <a:schemeClr val="folHlink"/>
                </a:solidFill>
              </a:rPr>
              <a:t> = 0, 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zh-CN" altLang="fr-FR" sz="2800" dirty="0">
                <a:solidFill>
                  <a:schemeClr val="folHlink"/>
                </a:solidFill>
              </a:rPr>
              <a:t>◦</a:t>
            </a:r>
            <a:r>
              <a:rPr lang="en-US" altLang="zh-CN" sz="2800" i="1" dirty="0">
                <a:solidFill>
                  <a:schemeClr val="folHlink"/>
                </a:solidFill>
              </a:rPr>
              <a:t>a</a:t>
            </a:r>
            <a:r>
              <a:rPr lang="en-US" altLang="zh-CN" sz="2800" dirty="0">
                <a:solidFill>
                  <a:schemeClr val="folHlink"/>
                </a:solidFill>
                <a:sym typeface="Symbol" panose="05050102010706020507" pitchFamily="18" charset="2"/>
              </a:rPr>
              <a:t></a:t>
            </a:r>
            <a:r>
              <a:rPr lang="en-US" altLang="zh-CN" sz="2800" dirty="0">
                <a:solidFill>
                  <a:schemeClr val="folHlink"/>
                </a:solidFill>
              </a:rPr>
              <a:t> = 1</a:t>
            </a:r>
            <a:r>
              <a:rPr lang="en-US" altLang="zh-CN" sz="2800" dirty="0"/>
              <a:t>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D22632-E7CC-42D7-BDEF-13A65770E238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8882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11.2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S</a:t>
            </a:r>
            <a:r>
              <a:rPr lang="en-US" altLang="zh-CN" dirty="0"/>
              <a:t>,∗,</a:t>
            </a:r>
            <a:r>
              <a:rPr lang="zh-CN" altLang="fr-FR" dirty="0"/>
              <a:t>◦</a:t>
            </a:r>
            <a:r>
              <a:rPr lang="en-US" altLang="zh-CN" dirty="0"/>
              <a:t>&gt;</a:t>
            </a:r>
            <a:r>
              <a:rPr lang="zh-CN" altLang="en-US" dirty="0"/>
              <a:t>是具有两个二元运算的代数系统</a:t>
            </a:r>
            <a:r>
              <a:rPr lang="en-US" altLang="zh-CN" dirty="0"/>
              <a:t>, </a:t>
            </a:r>
            <a:r>
              <a:rPr lang="zh-CN" altLang="en-US" dirty="0"/>
              <a:t>若对于∗和</a:t>
            </a:r>
            <a:r>
              <a:rPr lang="zh-CN" altLang="fr-FR" dirty="0"/>
              <a:t>◦</a:t>
            </a:r>
            <a:r>
              <a:rPr lang="zh-CN" altLang="en-US" dirty="0"/>
              <a:t>运算适合</a:t>
            </a:r>
            <a:r>
              <a:rPr lang="zh-CN" altLang="en-US" dirty="0">
                <a:solidFill>
                  <a:srgbClr val="0066FF"/>
                </a:solidFill>
              </a:rPr>
              <a:t>交换律、结合律、吸收律</a:t>
            </a:r>
            <a:r>
              <a:rPr lang="en-US" altLang="zh-CN" dirty="0"/>
              <a:t>, </a:t>
            </a:r>
            <a:r>
              <a:rPr lang="zh-CN" altLang="en-US" dirty="0"/>
              <a:t>则可以适当定义</a:t>
            </a:r>
            <a:r>
              <a:rPr lang="en-US" altLang="zh-CN" i="1" dirty="0"/>
              <a:t>S</a:t>
            </a:r>
            <a:r>
              <a:rPr lang="zh-CN" altLang="en-US" dirty="0"/>
              <a:t>中的偏序 ≼</a:t>
            </a:r>
            <a:r>
              <a:rPr lang="en-US" altLang="zh-CN" dirty="0"/>
              <a:t>,</a:t>
            </a:r>
            <a:r>
              <a:rPr lang="zh-CN" altLang="en-US" dirty="0"/>
              <a:t>使得 </a:t>
            </a:r>
            <a:r>
              <a:rPr lang="en-US" altLang="zh-CN" dirty="0"/>
              <a:t>&lt;</a:t>
            </a:r>
            <a:r>
              <a:rPr lang="en-US" altLang="zh-CN" i="1" dirty="0"/>
              <a:t>S</a:t>
            </a:r>
            <a:r>
              <a:rPr lang="en-US" altLang="zh-CN" dirty="0"/>
              <a:t>,≼&gt; </a:t>
            </a:r>
            <a:r>
              <a:rPr lang="zh-CN" altLang="en-US" dirty="0"/>
              <a:t>构成格</a:t>
            </a:r>
            <a:r>
              <a:rPr lang="en-US" altLang="zh-CN" dirty="0"/>
              <a:t>, </a:t>
            </a:r>
            <a:r>
              <a:rPr lang="zh-CN" altLang="en-US" dirty="0"/>
              <a:t>且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∈</a:t>
            </a:r>
            <a:r>
              <a:rPr lang="en-US" altLang="zh-CN" i="1" dirty="0" err="1"/>
              <a:t>S</a:t>
            </a:r>
            <a:r>
              <a:rPr lang="en-US" altLang="zh-CN" i="1" dirty="0"/>
              <a:t> </a:t>
            </a:r>
            <a:r>
              <a:rPr lang="zh-CN" altLang="en-US" dirty="0"/>
              <a:t>有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         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 err="1"/>
              <a:t>a</a:t>
            </a:r>
            <a:r>
              <a:rPr lang="en-US" altLang="zh-CN" dirty="0" err="1"/>
              <a:t>∗</a:t>
            </a:r>
            <a:r>
              <a:rPr lang="en-US" altLang="zh-CN" i="1" dirty="0" err="1"/>
              <a:t>b</a:t>
            </a:r>
            <a:r>
              <a:rPr lang="en-US" altLang="zh-CN" dirty="0"/>
              <a:t>,     </a:t>
            </a:r>
            <a:r>
              <a:rPr lang="en-US" altLang="zh-CN" i="1" dirty="0" err="1"/>
              <a:t>a</a:t>
            </a:r>
            <a:r>
              <a:rPr lang="en-US" altLang="zh-CN" dirty="0" err="1"/>
              <a:t>∨</a:t>
            </a:r>
            <a:r>
              <a:rPr lang="en-US" altLang="zh-CN" i="1" dirty="0" err="1"/>
              <a:t>b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r>
              <a:rPr lang="zh-CN" altLang="fr-FR" dirty="0"/>
              <a:t>◦</a:t>
            </a:r>
            <a:r>
              <a:rPr lang="en-US" altLang="zh-CN" i="1" dirty="0"/>
              <a:t>b</a:t>
            </a:r>
            <a:endParaRPr lang="en-US" altLang="zh-CN" dirty="0"/>
          </a:p>
          <a:p>
            <a:r>
              <a:rPr lang="zh-CN" altLang="en-US" dirty="0"/>
              <a:t>吸收律：</a:t>
            </a:r>
            <a:r>
              <a:rPr lang="en-US" altLang="zh-CN" sz="2000" i="1" dirty="0"/>
              <a:t>a</a:t>
            </a:r>
            <a:r>
              <a:rPr lang="en-US" altLang="zh-CN" sz="2000" dirty="0"/>
              <a:t>∨(</a:t>
            </a:r>
            <a:r>
              <a:rPr lang="en-US" altLang="zh-CN" sz="2000" i="1" dirty="0" err="1"/>
              <a:t>a</a:t>
            </a:r>
            <a:r>
              <a:rPr lang="en-US" altLang="zh-CN" sz="2000" dirty="0" err="1"/>
              <a:t>∧</a:t>
            </a:r>
            <a:r>
              <a:rPr lang="en-US" altLang="zh-CN" sz="2000" i="1" dirty="0" err="1"/>
              <a:t>b</a:t>
            </a:r>
            <a:r>
              <a:rPr lang="en-US" altLang="zh-CN" sz="2000" dirty="0"/>
              <a:t>) </a:t>
            </a:r>
            <a:r>
              <a:rPr lang="en-US" altLang="zh-CN" sz="2000" dirty="0">
                <a:solidFill>
                  <a:srgbClr val="0066FF"/>
                </a:solidFill>
              </a:rPr>
              <a:t>=</a:t>
            </a:r>
            <a:r>
              <a:rPr lang="en-US" altLang="zh-CN" sz="2000" dirty="0"/>
              <a:t> </a:t>
            </a:r>
            <a:r>
              <a:rPr lang="en-US" altLang="zh-CN" sz="2000" i="1" dirty="0"/>
              <a:t>a</a:t>
            </a:r>
            <a:r>
              <a:rPr lang="en-US" altLang="zh-CN" sz="2000" dirty="0"/>
              <a:t>,  </a:t>
            </a:r>
            <a:r>
              <a:rPr lang="en-US" altLang="zh-CN" sz="2000" i="1" dirty="0"/>
              <a:t>a</a:t>
            </a:r>
            <a:r>
              <a:rPr lang="en-US" altLang="zh-CN" sz="2000" dirty="0"/>
              <a:t>∧(</a:t>
            </a:r>
            <a:r>
              <a:rPr lang="en-US" altLang="zh-CN" sz="2000" i="1" dirty="0" err="1"/>
              <a:t>a</a:t>
            </a:r>
            <a:r>
              <a:rPr lang="en-US" altLang="zh-CN" sz="2000" dirty="0" err="1"/>
              <a:t>∨</a:t>
            </a:r>
            <a:r>
              <a:rPr lang="en-US" altLang="zh-CN" sz="2000" i="1" dirty="0" err="1"/>
              <a:t>b</a:t>
            </a:r>
            <a:r>
              <a:rPr lang="en-US" altLang="zh-CN" sz="2000" dirty="0"/>
              <a:t>) </a:t>
            </a:r>
            <a:r>
              <a:rPr lang="en-US" altLang="zh-CN" sz="2000" dirty="0">
                <a:solidFill>
                  <a:srgbClr val="0066FF"/>
                </a:solidFill>
              </a:rPr>
              <a:t>=</a:t>
            </a:r>
            <a:r>
              <a:rPr lang="en-US" altLang="zh-CN" sz="2000" dirty="0"/>
              <a:t> </a:t>
            </a:r>
            <a:r>
              <a:rPr lang="en-US" altLang="zh-CN" sz="2000" i="1" dirty="0"/>
              <a:t>a</a:t>
            </a:r>
            <a:r>
              <a:rPr lang="en-US" altLang="zh-CN" sz="2000" dirty="0"/>
              <a:t> </a:t>
            </a:r>
          </a:p>
          <a:p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</a:t>
            </a:r>
            <a:r>
              <a:rPr lang="en-US" altLang="zh-CN" sz="2000" dirty="0"/>
              <a:t>1+(1*2)=0,</a:t>
            </a:r>
            <a:r>
              <a:rPr lang="zh-CN" altLang="en-US" sz="2000" dirty="0"/>
              <a:t>但是按照吸收律应该是</a:t>
            </a:r>
            <a:r>
              <a:rPr lang="en-US" altLang="zh-CN" sz="2000" dirty="0"/>
              <a:t>1+(1*2)=1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D22632-E7CC-42D7-BDEF-13A65770E238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7526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paint">
            <a:extLst>
              <a:ext uri="{FF2B5EF4-FFF2-40B4-BE49-F238E27FC236}">
                <a16:creationId xmlns:a16="http://schemas.microsoft.com/office/drawing/2014/main" id="{1CE20856-249E-4E00-B85C-56A0DF7B37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68563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3E813293-0EA7-4CF5-BC7B-393D1C371478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7848600" y="188913"/>
          <a:ext cx="1295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Image" r:id="rId4" imgW="2539683" imgH="2539683" progId="Photoshop.Image.6">
                  <p:embed/>
                </p:oleObj>
              </mc:Choice>
              <mc:Fallback>
                <p:oleObj name="Image" r:id="rId4" imgW="2539683" imgH="2539683" progId="Photoshop.Image.6">
                  <p:embed/>
                  <p:pic>
                    <p:nvPicPr>
                      <p:cNvPr id="2051" name="Object 8">
                        <a:extLst>
                          <a:ext uri="{FF2B5EF4-FFF2-40B4-BE49-F238E27FC236}">
                            <a16:creationId xmlns:a16="http://schemas.microsoft.com/office/drawing/2014/main" id="{3493C945-102D-454E-B8E7-F42E63376C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88913"/>
                        <a:ext cx="12954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844925"/>
            <a:ext cx="70104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38D51EE-8F64-47B0-BF4C-40AF0A9BC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84BAA56-107E-4489-B181-9F39FECA06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B8EDBD8-EECD-41EA-AEE4-88DFE8765B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21703-4979-4BB3-AB11-66D88C9393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6249190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4107570-E814-48BD-B5F6-310F86949A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6871B88-443B-4ADA-86B9-2D82BC6EF3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C245BBC-8A11-44A8-94DC-89A3067469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CC76C-9868-4062-AA1E-119AA3BD08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6890714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058B292-683E-465B-A808-449FF7D976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81AE502-5BD4-4CE7-9968-FF8BAD46B0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88DC0A9-2666-4CCB-BCCF-4EC5F274A3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C8D29-5B8A-4DF1-B836-E2B7FB89D8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5995366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B870FA-C2D2-4FE0-A4C6-0F9A959B90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1D6C96D-740C-40B8-8411-AAFE0D69A9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7344992-A883-4342-A78D-1BD544D0B1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9D97E4-3B16-4070-8E77-D0DE5448E5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2643103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3A2D4E-F047-4034-96BE-CD3E27DFDD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4AE4D-B57A-4B51-8CA7-A25B6D656A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C19F44-34A1-4B71-BCA0-3C9841CDCE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21A50-1529-4451-BB39-8C027092E5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2270133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D726092-0340-49D8-AC3E-0D10A076B7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F15B363-512F-4E71-B8F0-65927C61F7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F4CB5D5-734C-4861-93BC-EA19EDEE6A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B17FA1-4EDD-4F09-A43A-662A20135D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5160364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43B7165-15AF-46B0-B3D8-658025E048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952BDFA1-6A48-43A1-B2BC-DD7B61E935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3699901-8FDD-45C7-9AAC-CFAB810239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45AE8D-E569-49BF-B9AE-D923E698DF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703035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8C78A0-1E6A-4AB7-8332-743B4A6B59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3EA38DC-4A5D-4626-B2C6-FFF6D5E270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C63684A-48B2-4A4C-9D7D-F79542BAAF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AA6F2-CEF8-45AE-A2F0-9E8BA2FC55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9214333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8AAA05-50E7-4FCB-8993-17D91AC259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8BC1CA-756F-40B7-A8AB-D003544384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1ABC1DA-E5B0-4300-BEF4-D504269B54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34032C-E7F0-4A6F-94FA-4419D3F16E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9852581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3EDB15-45CC-4BA1-B1FC-6D1DABB5B3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11A39DD-ABD6-45DF-945D-FB5778C938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716A795-4484-4006-91EE-97529BFD4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8A0B51-4829-498A-987B-3B4C9F6FED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8246133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88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88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BB0A3A0-A893-4115-B4D6-53F2D35F2D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11FD915-FB40-4D9C-A736-C744C52C02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A685B0B-24EF-48F6-9BCE-B60A065A5D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B3883-7EAF-4636-8D47-5D72C4CB71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9183034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28F4D37-2CD9-4C21-90BF-8CB17ECCC3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9A7941F1-6055-4D48-B0C9-16D2D6E9D0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270000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2D5C63A2-75E6-4FAA-94C1-48B17B106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5251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F416152A-F5C5-4B24-89AD-21672635DF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8" name="Rectangle 6">
            <a:extLst>
              <a:ext uri="{FF2B5EF4-FFF2-40B4-BE49-F238E27FC236}">
                <a16:creationId xmlns:a16="http://schemas.microsoft.com/office/drawing/2014/main" id="{00E5B5C0-7AB3-4D4F-BAC8-131A02E3DA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9" name="Rectangle 7">
            <a:extLst>
              <a:ext uri="{FF2B5EF4-FFF2-40B4-BE49-F238E27FC236}">
                <a16:creationId xmlns:a16="http://schemas.microsoft.com/office/drawing/2014/main" id="{0A17F8CC-5CFD-4A40-9DAF-89620EE176D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00" name="Rectangle 8">
            <a:extLst>
              <a:ext uri="{FF2B5EF4-FFF2-40B4-BE49-F238E27FC236}">
                <a16:creationId xmlns:a16="http://schemas.microsoft.com/office/drawing/2014/main" id="{A94699D2-8C24-46CE-ACD3-1B68BF1AD6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C7B1CA1-B37E-425B-ADEC-49E0A8FA56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 bldLvl="2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>
            <a:extLst>
              <a:ext uri="{FF2B5EF4-FFF2-40B4-BE49-F238E27FC236}">
                <a16:creationId xmlns:a16="http://schemas.microsoft.com/office/drawing/2014/main" id="{7AC1B634-6D26-442D-AE3D-0B1E9B5E6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B99633-F1E8-401A-82EE-3040BC95F089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6F7353E7-22C7-4D2A-BEA9-1CFA4CB2AA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第十一章  习题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97135DB-D413-4C30-A158-A77930992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52562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主要内容</a:t>
            </a:r>
          </a:p>
          <a:p>
            <a:pPr lvl="1" eaLnBrk="1" hangingPunct="1">
              <a:lnSpc>
                <a:spcPct val="90000"/>
              </a:lnSpc>
              <a:buClr>
                <a:srgbClr val="FF9900"/>
              </a:buClr>
            </a:pPr>
            <a:r>
              <a:rPr lang="zh-CN" altLang="en-US" dirty="0"/>
              <a:t>格的两个等价定义</a:t>
            </a:r>
          </a:p>
          <a:p>
            <a:pPr lvl="1" eaLnBrk="1" hangingPunct="1">
              <a:lnSpc>
                <a:spcPct val="90000"/>
              </a:lnSpc>
              <a:buClr>
                <a:srgbClr val="FF9900"/>
              </a:buClr>
            </a:pPr>
            <a:r>
              <a:rPr lang="zh-CN" altLang="en-US" dirty="0"/>
              <a:t>格的性质</a:t>
            </a:r>
          </a:p>
          <a:p>
            <a:pPr lvl="1" eaLnBrk="1" hangingPunct="1">
              <a:lnSpc>
                <a:spcPct val="90000"/>
              </a:lnSpc>
              <a:buClr>
                <a:srgbClr val="FF9900"/>
              </a:buClr>
            </a:pPr>
            <a:r>
              <a:rPr lang="zh-CN" altLang="en-US" dirty="0"/>
              <a:t>子格</a:t>
            </a:r>
          </a:p>
          <a:p>
            <a:pPr lvl="1" eaLnBrk="1" hangingPunct="1">
              <a:lnSpc>
                <a:spcPct val="90000"/>
              </a:lnSpc>
              <a:buClr>
                <a:srgbClr val="FF9900"/>
              </a:buClr>
            </a:pPr>
            <a:r>
              <a:rPr lang="zh-CN" altLang="en-US" dirty="0"/>
              <a:t>特殊格：</a:t>
            </a:r>
            <a:endParaRPr lang="en-US" altLang="zh-CN" dirty="0"/>
          </a:p>
          <a:p>
            <a:pPr lvl="2" eaLnBrk="1" hangingPunct="1">
              <a:lnSpc>
                <a:spcPct val="90000"/>
              </a:lnSpc>
              <a:buClr>
                <a:srgbClr val="FF9900"/>
              </a:buClr>
            </a:pPr>
            <a:r>
              <a:rPr lang="zh-CN" altLang="en-US" dirty="0"/>
              <a:t>分配格、有界格、有补格、布尔代数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>
            <a:extLst>
              <a:ext uri="{FF2B5EF4-FFF2-40B4-BE49-F238E27FC236}">
                <a16:creationId xmlns:a16="http://schemas.microsoft.com/office/drawing/2014/main" id="{31BA5BE7-CF3B-4038-87D4-B9EFD1513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87C52A-7896-4A79-8513-52FCB7FA23BF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F57DAC80-9C5B-41D5-9FDC-D7BEA22FB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第十一章  习题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58B02D78-D53B-4412-99A0-451764685A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253412" cy="4822825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>
                <a:srgbClr val="FF9900"/>
              </a:buClr>
            </a:pPr>
            <a:r>
              <a:rPr lang="zh-CN" altLang="en-US" sz="2800"/>
              <a:t>基本要求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sz="2800"/>
              <a:t>能够判别给定偏序集或者代数系统是否构成格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sz="2800"/>
              <a:t>能够确定一个命题的对偶命题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sz="2800"/>
              <a:t>能够证明格中的等式和不等式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sz="2800"/>
              <a:t>能判别格</a:t>
            </a:r>
            <a:r>
              <a:rPr lang="en-US" altLang="zh-CN" sz="2800" i="1"/>
              <a:t>L</a:t>
            </a:r>
            <a:r>
              <a:rPr lang="zh-CN" altLang="en-US" sz="2800"/>
              <a:t>的子集</a:t>
            </a:r>
            <a:r>
              <a:rPr lang="en-US" altLang="zh-CN" sz="2800" i="1"/>
              <a:t>S</a:t>
            </a:r>
            <a:r>
              <a:rPr lang="zh-CN" altLang="en-US" sz="2800"/>
              <a:t>是否构成子格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sz="2800"/>
              <a:t>能够判别给定的格是否为分配格、有补格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sz="2800"/>
              <a:t>能够判别布尔代数并证明布尔代数中的等式 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22169084-14C9-40B1-961F-20DBB720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32E7F3-FA78-46CF-8AD7-5566D0A37B8B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E98EC58A-FB47-4753-82A3-7F000460A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99272874-7FB7-4FBE-BE37-C712928183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0066FF"/>
                </a:solidFill>
              </a:rPr>
              <a:t>(1) </a:t>
            </a:r>
            <a:r>
              <a:rPr lang="zh-CN" altLang="en-US">
                <a:solidFill>
                  <a:srgbClr val="0066FF"/>
                </a:solidFill>
              </a:rPr>
              <a:t>证明格中的命题</a:t>
            </a:r>
            <a:r>
              <a:rPr lang="en-US" altLang="zh-CN">
                <a:solidFill>
                  <a:srgbClr val="0066FF"/>
                </a:solidFill>
              </a:rPr>
              <a:t>, </a:t>
            </a:r>
            <a:r>
              <a:rPr lang="zh-CN" altLang="en-US">
                <a:solidFill>
                  <a:srgbClr val="0066FF"/>
                </a:solidFill>
              </a:rPr>
              <a:t>即 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)∨</a:t>
            </a:r>
            <a:r>
              <a:rPr lang="en-US" altLang="zh-CN" i="1">
                <a:solidFill>
                  <a:srgbClr val="0066FF"/>
                </a:solidFill>
              </a:rPr>
              <a:t>b </a:t>
            </a:r>
            <a:r>
              <a:rPr lang="en-US" altLang="zh-CN">
                <a:solidFill>
                  <a:srgbClr val="0066FF"/>
                </a:solidFill>
              </a:rPr>
              <a:t>= 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endParaRPr lang="en-US" altLang="zh-CN">
              <a:solidFill>
                <a:srgbClr val="0066FF"/>
              </a:solidFill>
            </a:endParaRPr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证明：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 </a:t>
            </a:r>
            <a:r>
              <a:rPr lang="en-US" altLang="zh-CN"/>
              <a:t>(1) (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b</a:t>
            </a:r>
            <a:r>
              <a:rPr lang="en-US" altLang="zh-CN"/>
              <a:t>)∨</a:t>
            </a:r>
            <a:r>
              <a:rPr lang="en-US" altLang="zh-CN" i="1"/>
              <a:t>b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b</a:t>
            </a:r>
            <a:r>
              <a:rPr lang="zh-CN" altLang="en-US"/>
              <a:t>与</a:t>
            </a:r>
            <a:r>
              <a:rPr lang="en-US" altLang="zh-CN" i="1"/>
              <a:t>b</a:t>
            </a:r>
            <a:r>
              <a:rPr lang="zh-CN" altLang="en-US"/>
              <a:t>的最小上界</a:t>
            </a:r>
            <a:r>
              <a:rPr lang="en-US" altLang="zh-CN"/>
              <a:t>,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  <a:r>
              <a:rPr lang="zh-CN" altLang="en-US"/>
              <a:t>根据最小上界的定义有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b</a:t>
            </a:r>
            <a:r>
              <a:rPr lang="en-US" altLang="zh-CN"/>
              <a:t>)∨</a:t>
            </a:r>
            <a:r>
              <a:rPr lang="en-US" altLang="zh-CN" i="1"/>
              <a:t>b</a:t>
            </a:r>
            <a:r>
              <a:rPr lang="en-US" altLang="zh-CN"/>
              <a:t>≽</a:t>
            </a:r>
            <a:r>
              <a:rPr lang="en-US" altLang="zh-CN" i="1"/>
              <a:t>b</a:t>
            </a:r>
            <a:r>
              <a:rPr lang="en-US" altLang="zh-CN"/>
              <a:t> 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  <a:r>
              <a:rPr lang="en-US" altLang="zh-CN" i="1"/>
              <a:t>b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b</a:t>
            </a:r>
            <a:r>
              <a:rPr lang="zh-CN" altLang="en-US"/>
              <a:t>与</a:t>
            </a:r>
            <a:r>
              <a:rPr lang="en-US" altLang="zh-CN" i="1"/>
              <a:t>b</a:t>
            </a:r>
            <a:r>
              <a:rPr lang="zh-CN" altLang="en-US"/>
              <a:t>的上界</a:t>
            </a:r>
            <a:r>
              <a:rPr lang="en-US" altLang="zh-CN"/>
              <a:t>, </a:t>
            </a:r>
            <a:r>
              <a:rPr lang="zh-CN" altLang="en-US"/>
              <a:t>故有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b</a:t>
            </a:r>
            <a:r>
              <a:rPr lang="en-US" altLang="zh-CN"/>
              <a:t>)∨</a:t>
            </a:r>
            <a:r>
              <a:rPr lang="en-US" altLang="zh-CN" i="1"/>
              <a:t>b</a:t>
            </a:r>
            <a:r>
              <a:rPr lang="en-US" altLang="zh-CN"/>
              <a:t>≼</a:t>
            </a:r>
            <a:r>
              <a:rPr lang="en-US" altLang="zh-CN" i="1"/>
              <a:t>b.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/>
              <a:t>     </a:t>
            </a:r>
            <a:r>
              <a:rPr lang="zh-CN" altLang="en-US"/>
              <a:t>由于偏序的反对称性</a:t>
            </a:r>
            <a:r>
              <a:rPr lang="en-US" altLang="zh-CN"/>
              <a:t>, </a:t>
            </a:r>
            <a:r>
              <a:rPr lang="zh-CN" altLang="en-US"/>
              <a:t>等式得证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8107EE5F-4118-467F-8AC3-6DE8FF32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F4C198-5D21-457E-AA6A-C9DE0E3FD637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637B6E8-7D33-4E45-862D-744987E5D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1</a:t>
            </a:r>
            <a:r>
              <a:rPr lang="zh-CN" altLang="en-US"/>
              <a:t>（续）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3609295-BFF2-4431-B5DC-F0DD702FD7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(2) </a:t>
            </a:r>
            <a:r>
              <a:rPr lang="zh-CN" altLang="en-US">
                <a:solidFill>
                  <a:srgbClr val="0066FF"/>
                </a:solidFill>
              </a:rPr>
              <a:t>证明 </a:t>
            </a:r>
            <a:r>
              <a:rPr lang="en-US" altLang="zh-CN">
                <a:solidFill>
                  <a:srgbClr val="0066FF"/>
                </a:solidFill>
              </a:rPr>
              <a:t>(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)∨(</a:t>
            </a:r>
            <a:r>
              <a:rPr lang="en-US" altLang="zh-CN" i="1">
                <a:solidFill>
                  <a:srgbClr val="0066FF"/>
                </a:solidFill>
              </a:rPr>
              <a:t>c</a:t>
            </a:r>
            <a:r>
              <a:rPr lang="en-US" altLang="zh-CN">
                <a:solidFill>
                  <a:srgbClr val="0066FF"/>
                </a:solidFill>
              </a:rPr>
              <a:t>∧</a:t>
            </a:r>
            <a:r>
              <a:rPr lang="en-US" altLang="zh-CN" i="1">
                <a:solidFill>
                  <a:srgbClr val="0066FF"/>
                </a:solidFill>
              </a:rPr>
              <a:t>d</a:t>
            </a:r>
            <a:r>
              <a:rPr lang="en-US" altLang="zh-CN">
                <a:solidFill>
                  <a:srgbClr val="0066FF"/>
                </a:solidFill>
              </a:rPr>
              <a:t>)≼(</a:t>
            </a:r>
            <a:r>
              <a:rPr lang="en-US" altLang="zh-CN" i="1">
                <a:solidFill>
                  <a:srgbClr val="0066FF"/>
                </a:solidFill>
              </a:rPr>
              <a:t>a</a:t>
            </a:r>
            <a:r>
              <a:rPr lang="en-US" altLang="zh-CN">
                <a:solidFill>
                  <a:srgbClr val="0066FF"/>
                </a:solidFill>
              </a:rPr>
              <a:t>∨</a:t>
            </a:r>
            <a:r>
              <a:rPr lang="en-US" altLang="zh-CN" i="1">
                <a:solidFill>
                  <a:srgbClr val="0066FF"/>
                </a:solidFill>
              </a:rPr>
              <a:t>c</a:t>
            </a:r>
            <a:r>
              <a:rPr lang="en-US" altLang="zh-CN">
                <a:solidFill>
                  <a:srgbClr val="0066FF"/>
                </a:solidFill>
              </a:rPr>
              <a:t>)∧(</a:t>
            </a:r>
            <a:r>
              <a:rPr lang="en-US" altLang="zh-CN" i="1">
                <a:solidFill>
                  <a:srgbClr val="0066FF"/>
                </a:solidFill>
              </a:rPr>
              <a:t>b</a:t>
            </a:r>
            <a:r>
              <a:rPr lang="en-US" altLang="zh-CN">
                <a:solidFill>
                  <a:srgbClr val="0066FF"/>
                </a:solidFill>
              </a:rPr>
              <a:t>∨</a:t>
            </a:r>
            <a:r>
              <a:rPr lang="en-US" altLang="zh-CN" i="1">
                <a:solidFill>
                  <a:srgbClr val="0066FF"/>
                </a:solidFill>
              </a:rPr>
              <a:t>d</a:t>
            </a:r>
            <a:r>
              <a:rPr lang="en-US" altLang="zh-CN">
                <a:solidFill>
                  <a:srgbClr val="0066FF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证明：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/>
              <a:t>         a</a:t>
            </a:r>
            <a:r>
              <a:rPr lang="en-US" altLang="zh-CN"/>
              <a:t>∧</a:t>
            </a:r>
            <a:r>
              <a:rPr lang="en-US" altLang="zh-CN" i="1"/>
              <a:t>b</a:t>
            </a:r>
            <a:r>
              <a:rPr lang="en-US" altLang="zh-CN"/>
              <a:t>≼</a:t>
            </a:r>
            <a:r>
              <a:rPr lang="en-US" altLang="zh-CN" i="1"/>
              <a:t>a</a:t>
            </a:r>
            <a:r>
              <a:rPr lang="en-US" altLang="zh-CN"/>
              <a:t>≼</a:t>
            </a:r>
            <a:r>
              <a:rPr lang="en-US" altLang="zh-CN" i="1"/>
              <a:t>a</a:t>
            </a:r>
            <a:r>
              <a:rPr lang="en-US" altLang="zh-CN"/>
              <a:t>∨</a:t>
            </a:r>
            <a:r>
              <a:rPr lang="en-US" altLang="zh-CN" i="1"/>
              <a:t>c</a:t>
            </a:r>
            <a:r>
              <a:rPr lang="en-US" altLang="zh-CN"/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/>
              <a:t>         a</a:t>
            </a:r>
            <a:r>
              <a:rPr lang="en-US" altLang="zh-CN"/>
              <a:t>∧</a:t>
            </a:r>
            <a:r>
              <a:rPr lang="en-US" altLang="zh-CN" i="1"/>
              <a:t>b</a:t>
            </a:r>
            <a:r>
              <a:rPr lang="en-US" altLang="zh-CN"/>
              <a:t>≼</a:t>
            </a:r>
            <a:r>
              <a:rPr lang="en-US" altLang="zh-CN" i="1"/>
              <a:t>b</a:t>
            </a:r>
            <a:r>
              <a:rPr lang="en-US" altLang="zh-CN"/>
              <a:t>≼</a:t>
            </a:r>
            <a:r>
              <a:rPr lang="en-US" altLang="zh-CN" i="1"/>
              <a:t>b</a:t>
            </a:r>
            <a:r>
              <a:rPr lang="en-US" altLang="zh-CN"/>
              <a:t>∨</a:t>
            </a:r>
            <a:r>
              <a:rPr lang="en-US" altLang="zh-CN" i="1"/>
              <a:t>d</a:t>
            </a:r>
            <a:r>
              <a:rPr lang="en-US" altLang="zh-CN"/>
              <a:t>,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所以 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b</a:t>
            </a:r>
            <a:r>
              <a:rPr lang="en-US" altLang="zh-CN"/>
              <a:t>)≼(</a:t>
            </a:r>
            <a:r>
              <a:rPr lang="en-US" altLang="zh-CN" i="1"/>
              <a:t>a</a:t>
            </a:r>
            <a:r>
              <a:rPr lang="en-US" altLang="zh-CN"/>
              <a:t>∨</a:t>
            </a:r>
            <a:r>
              <a:rPr lang="en-US" altLang="zh-CN" i="1"/>
              <a:t>c</a:t>
            </a:r>
            <a:r>
              <a:rPr lang="en-US" altLang="zh-CN"/>
              <a:t>)∧(</a:t>
            </a:r>
            <a:r>
              <a:rPr lang="en-US" altLang="zh-CN" i="1"/>
              <a:t>b</a:t>
            </a:r>
            <a:r>
              <a:rPr lang="en-US" altLang="zh-CN"/>
              <a:t>∨</a:t>
            </a:r>
            <a:r>
              <a:rPr lang="en-US" altLang="zh-CN" i="1"/>
              <a:t>d</a:t>
            </a:r>
            <a:r>
              <a:rPr lang="en-US" altLang="zh-CN"/>
              <a:t>),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同理 </a:t>
            </a:r>
            <a:r>
              <a:rPr lang="en-US" altLang="zh-CN"/>
              <a:t>(</a:t>
            </a:r>
            <a:r>
              <a:rPr lang="en-US" altLang="zh-CN" i="1"/>
              <a:t>c</a:t>
            </a:r>
            <a:r>
              <a:rPr lang="en-US" altLang="zh-CN"/>
              <a:t>∧</a:t>
            </a:r>
            <a:r>
              <a:rPr lang="en-US" altLang="zh-CN" i="1"/>
              <a:t>d</a:t>
            </a:r>
            <a:r>
              <a:rPr lang="en-US" altLang="zh-CN"/>
              <a:t>)≼(</a:t>
            </a:r>
            <a:r>
              <a:rPr lang="en-US" altLang="zh-CN" i="1"/>
              <a:t>a</a:t>
            </a:r>
            <a:r>
              <a:rPr lang="en-US" altLang="zh-CN"/>
              <a:t>∨</a:t>
            </a:r>
            <a:r>
              <a:rPr lang="en-US" altLang="zh-CN" i="1"/>
              <a:t>c</a:t>
            </a:r>
            <a:r>
              <a:rPr lang="en-US" altLang="zh-CN"/>
              <a:t>)∧(</a:t>
            </a:r>
            <a:r>
              <a:rPr lang="en-US" altLang="zh-CN" i="1"/>
              <a:t>b</a:t>
            </a:r>
            <a:r>
              <a:rPr lang="en-US" altLang="zh-CN"/>
              <a:t>∨</a:t>
            </a:r>
            <a:r>
              <a:rPr lang="en-US" altLang="zh-CN" i="1"/>
              <a:t>d</a:t>
            </a:r>
            <a:r>
              <a:rPr lang="en-US" altLang="zh-CN"/>
              <a:t>).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从而得到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            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b</a:t>
            </a:r>
            <a:r>
              <a:rPr lang="en-US" altLang="zh-CN"/>
              <a:t>)∨(</a:t>
            </a:r>
            <a:r>
              <a:rPr lang="en-US" altLang="zh-CN" i="1"/>
              <a:t>c</a:t>
            </a:r>
            <a:r>
              <a:rPr lang="en-US" altLang="zh-CN"/>
              <a:t>∧</a:t>
            </a:r>
            <a:r>
              <a:rPr lang="en-US" altLang="zh-CN" i="1"/>
              <a:t>d</a:t>
            </a:r>
            <a:r>
              <a:rPr lang="en-US" altLang="zh-CN"/>
              <a:t>)≼(</a:t>
            </a:r>
            <a:r>
              <a:rPr lang="en-US" altLang="zh-CN" i="1"/>
              <a:t>a</a:t>
            </a:r>
            <a:r>
              <a:rPr lang="en-US" altLang="zh-CN"/>
              <a:t>∨</a:t>
            </a:r>
            <a:r>
              <a:rPr lang="en-US" altLang="zh-CN" i="1"/>
              <a:t>c</a:t>
            </a:r>
            <a:r>
              <a:rPr lang="en-US" altLang="zh-CN"/>
              <a:t>)∧(</a:t>
            </a:r>
            <a:r>
              <a:rPr lang="en-US" altLang="zh-CN" i="1"/>
              <a:t>b</a:t>
            </a:r>
            <a:r>
              <a:rPr lang="en-US" altLang="zh-CN"/>
              <a:t>∨</a:t>
            </a:r>
            <a:r>
              <a:rPr lang="en-US" altLang="zh-CN" i="1"/>
              <a:t>d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0A8C2005-E6C3-4987-9396-774FABDB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CFEFA1-1FAF-45AF-AB62-54CE1C99753C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97D7FB0-55F1-4FCA-A64C-27F46B6BB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2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97A4CE4-FC8D-4893-9F4E-8A41860435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8013" y="1196975"/>
            <a:ext cx="8001000" cy="48228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/>
              <a:t>求图中格的所有子格</a:t>
            </a:r>
            <a:r>
              <a:rPr lang="en-US" altLang="zh-CN" sz="280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zh-CN" sz="18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1</a:t>
            </a:r>
            <a:r>
              <a:rPr lang="zh-CN" altLang="en-US" sz="2800"/>
              <a:t>元子格：</a:t>
            </a:r>
            <a:r>
              <a:rPr lang="en-US" altLang="zh-CN" sz="2800"/>
              <a:t>{ </a:t>
            </a:r>
            <a:r>
              <a:rPr lang="en-US" altLang="zh-CN" sz="2800" i="1"/>
              <a:t>a </a:t>
            </a:r>
            <a:r>
              <a:rPr lang="en-US" altLang="zh-CN" sz="2800"/>
              <a:t>},{ </a:t>
            </a:r>
            <a:r>
              <a:rPr lang="en-US" altLang="zh-CN" sz="2800" i="1"/>
              <a:t>b </a:t>
            </a:r>
            <a:r>
              <a:rPr lang="en-US" altLang="zh-CN" sz="2800"/>
              <a:t>},{ </a:t>
            </a:r>
            <a:r>
              <a:rPr lang="en-US" altLang="zh-CN" sz="2800" i="1"/>
              <a:t>c </a:t>
            </a:r>
            <a:r>
              <a:rPr lang="en-US" altLang="zh-CN" sz="2800"/>
              <a:t>},{ </a:t>
            </a:r>
            <a:r>
              <a:rPr lang="en-US" altLang="zh-CN" sz="2800" i="1"/>
              <a:t>d </a:t>
            </a:r>
            <a:r>
              <a:rPr lang="en-US" altLang="zh-CN" sz="2800"/>
              <a:t>},{ </a:t>
            </a:r>
            <a:r>
              <a:rPr lang="en-US" altLang="zh-CN" sz="2800" i="1"/>
              <a:t>e </a:t>
            </a:r>
            <a:r>
              <a:rPr lang="en-US" altLang="zh-CN" sz="2800"/>
              <a:t>}</a:t>
            </a:r>
            <a:r>
              <a:rPr lang="zh-CN" altLang="en-US" sz="2800"/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2</a:t>
            </a:r>
            <a:r>
              <a:rPr lang="zh-CN" altLang="en-US" sz="2800"/>
              <a:t>元子格：</a:t>
            </a:r>
            <a:r>
              <a:rPr lang="en-US" altLang="zh-CN" sz="2800"/>
              <a:t>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b </a:t>
            </a:r>
            <a:r>
              <a:rPr lang="en-US" altLang="zh-CN" sz="2800"/>
              <a:t>},{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c </a:t>
            </a:r>
            <a:r>
              <a:rPr lang="en-US" altLang="zh-CN" sz="2800"/>
              <a:t>},{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d </a:t>
            </a:r>
            <a:r>
              <a:rPr lang="en-US" altLang="zh-CN" sz="2800"/>
              <a:t>},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          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},{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c </a:t>
            </a:r>
            <a:r>
              <a:rPr lang="en-US" altLang="zh-CN" sz="2800"/>
              <a:t>},{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d </a:t>
            </a:r>
            <a:r>
              <a:rPr lang="en-US" altLang="zh-CN" sz="2800"/>
              <a:t>},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          {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},{ </a:t>
            </a:r>
            <a:r>
              <a:rPr lang="en-US" altLang="zh-CN" sz="2800" i="1"/>
              <a:t>c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},{ </a:t>
            </a:r>
            <a:r>
              <a:rPr lang="en-US" altLang="zh-CN" sz="2800" i="1"/>
              <a:t>d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</a:t>
            </a:r>
            <a:r>
              <a:rPr lang="zh-CN" altLang="en-US" sz="2800"/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3</a:t>
            </a:r>
            <a:r>
              <a:rPr lang="zh-CN" altLang="en-US" sz="2800"/>
              <a:t>元子格：</a:t>
            </a:r>
            <a:r>
              <a:rPr lang="en-US" altLang="zh-CN" sz="2800"/>
              <a:t>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c </a:t>
            </a:r>
            <a:r>
              <a:rPr lang="en-US" altLang="zh-CN" sz="2800"/>
              <a:t>},{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d </a:t>
            </a:r>
            <a:r>
              <a:rPr lang="en-US" altLang="zh-CN" sz="2800"/>
              <a:t>},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          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},{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c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},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          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d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},{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c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},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          {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d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</a:t>
            </a:r>
            <a:r>
              <a:rPr lang="zh-CN" altLang="en-US" sz="2800"/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4</a:t>
            </a:r>
            <a:r>
              <a:rPr lang="zh-CN" altLang="en-US" sz="2800"/>
              <a:t>元子格：</a:t>
            </a:r>
            <a:r>
              <a:rPr lang="en-US" altLang="zh-CN" sz="2800"/>
              <a:t>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c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},{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d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},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           {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c</a:t>
            </a:r>
            <a:r>
              <a:rPr lang="en-US" altLang="zh-CN" sz="2800"/>
              <a:t>, </a:t>
            </a:r>
            <a:r>
              <a:rPr lang="en-US" altLang="zh-CN" sz="2800" i="1"/>
              <a:t>d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</a:t>
            </a:r>
            <a:r>
              <a:rPr lang="zh-CN" altLang="en-US" sz="2800"/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5</a:t>
            </a:r>
            <a:r>
              <a:rPr lang="zh-CN" altLang="en-US" sz="2800"/>
              <a:t>元子格： </a:t>
            </a:r>
            <a:r>
              <a:rPr lang="en-US" altLang="zh-CN" sz="2800"/>
              <a:t>{ </a:t>
            </a:r>
            <a:r>
              <a:rPr lang="en-US" altLang="zh-CN" sz="2800" i="1"/>
              <a:t>a</a:t>
            </a:r>
            <a:r>
              <a:rPr lang="en-US" altLang="zh-CN" sz="2800"/>
              <a:t>, </a:t>
            </a:r>
            <a:r>
              <a:rPr lang="en-US" altLang="zh-CN" sz="2800" i="1"/>
              <a:t>b</a:t>
            </a:r>
            <a:r>
              <a:rPr lang="en-US" altLang="zh-CN" sz="2800"/>
              <a:t>, </a:t>
            </a:r>
            <a:r>
              <a:rPr lang="en-US" altLang="zh-CN" sz="2800" i="1"/>
              <a:t>c</a:t>
            </a:r>
            <a:r>
              <a:rPr lang="en-US" altLang="zh-CN" sz="2800"/>
              <a:t>, </a:t>
            </a:r>
            <a:r>
              <a:rPr lang="en-US" altLang="zh-CN" sz="2800" i="1"/>
              <a:t>d</a:t>
            </a:r>
            <a:r>
              <a:rPr lang="en-US" altLang="zh-CN" sz="2800"/>
              <a:t>, </a:t>
            </a:r>
            <a:r>
              <a:rPr lang="en-US" altLang="zh-CN" sz="2800" i="1"/>
              <a:t>e </a:t>
            </a:r>
            <a:r>
              <a:rPr lang="en-US" altLang="zh-CN" sz="2800"/>
              <a:t>}</a:t>
            </a:r>
          </a:p>
        </p:txBody>
      </p:sp>
      <p:grpSp>
        <p:nvGrpSpPr>
          <p:cNvPr id="10245" name="Group 4">
            <a:extLst>
              <a:ext uri="{FF2B5EF4-FFF2-40B4-BE49-F238E27FC236}">
                <a16:creationId xmlns:a16="http://schemas.microsoft.com/office/drawing/2014/main" id="{F7F92621-8D4E-483E-9695-E91F0DBF217C}"/>
              </a:ext>
            </a:extLst>
          </p:cNvPr>
          <p:cNvGrpSpPr>
            <a:grpSpLocks/>
          </p:cNvGrpSpPr>
          <p:nvPr/>
        </p:nvGrpSpPr>
        <p:grpSpPr bwMode="auto">
          <a:xfrm>
            <a:off x="5851525" y="971550"/>
            <a:ext cx="3384550" cy="4318000"/>
            <a:chOff x="3833" y="880"/>
            <a:chExt cx="1859" cy="2125"/>
          </a:xfrm>
        </p:grpSpPr>
        <p:sp>
          <p:nvSpPr>
            <p:cNvPr id="10246" name="Text Box 5">
              <a:extLst>
                <a:ext uri="{FF2B5EF4-FFF2-40B4-BE49-F238E27FC236}">
                  <a16:creationId xmlns:a16="http://schemas.microsoft.com/office/drawing/2014/main" id="{FF5266E4-D373-4A38-B6A5-CF85274CE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9" y="880"/>
              <a:ext cx="27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/>
                <a:t>e</a:t>
              </a:r>
            </a:p>
          </p:txBody>
        </p:sp>
        <p:pic>
          <p:nvPicPr>
            <p:cNvPr id="10247" name="Picture 6">
              <a:extLst>
                <a:ext uri="{FF2B5EF4-FFF2-40B4-BE49-F238E27FC236}">
                  <a16:creationId xmlns:a16="http://schemas.microsoft.com/office/drawing/2014/main" id="{85E1E437-E673-4431-9DD7-A9EB134932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9" y="1117"/>
              <a:ext cx="1540" cy="1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8" name="Text Box 7">
              <a:extLst>
                <a:ext uri="{FF2B5EF4-FFF2-40B4-BE49-F238E27FC236}">
                  <a16:creationId xmlns:a16="http://schemas.microsoft.com/office/drawing/2014/main" id="{18081F7D-2CD1-485F-8CC7-F3CCB48FE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2750"/>
              <a:ext cx="27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/>
                <a:t>a</a:t>
              </a:r>
            </a:p>
          </p:txBody>
        </p:sp>
        <p:sp>
          <p:nvSpPr>
            <p:cNvPr id="10249" name="Text Box 8">
              <a:extLst>
                <a:ext uri="{FF2B5EF4-FFF2-40B4-BE49-F238E27FC236}">
                  <a16:creationId xmlns:a16="http://schemas.microsoft.com/office/drawing/2014/main" id="{BD650848-1762-4AE6-B30D-5ECBB7817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2024"/>
              <a:ext cx="27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/>
                <a:t>b</a:t>
              </a:r>
            </a:p>
          </p:txBody>
        </p:sp>
        <p:sp>
          <p:nvSpPr>
            <p:cNvPr id="10250" name="Text Box 9">
              <a:extLst>
                <a:ext uri="{FF2B5EF4-FFF2-40B4-BE49-F238E27FC236}">
                  <a16:creationId xmlns:a16="http://schemas.microsoft.com/office/drawing/2014/main" id="{DA1B7B70-123C-4BDD-8E8C-F69543B8E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" y="1525"/>
              <a:ext cx="27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/>
                <a:t>c</a:t>
              </a:r>
            </a:p>
          </p:txBody>
        </p:sp>
        <p:sp>
          <p:nvSpPr>
            <p:cNvPr id="10251" name="Text Box 10">
              <a:extLst>
                <a:ext uri="{FF2B5EF4-FFF2-40B4-BE49-F238E27FC236}">
                  <a16:creationId xmlns:a16="http://schemas.microsoft.com/office/drawing/2014/main" id="{48E90AE5-2287-4650-AFA2-3FC59FD46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0" y="1525"/>
              <a:ext cx="27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/>
                <a:t>d</a:t>
              </a:r>
            </a:p>
          </p:txBody>
        </p:sp>
      </p:grp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DCF019FB-A162-4DDF-8F0F-668A950E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7B0C7C-2CE2-483F-96B5-8BB6D9BF5C1E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41576C1-BF88-4CF7-B549-629B71E30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3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CCCDF366-ED36-4640-ABA0-491A97834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0538" y="4292600"/>
            <a:ext cx="5543550" cy="20891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判别上述格</a:t>
            </a:r>
            <a:r>
              <a:rPr lang="en-US" altLang="zh-CN" i="1"/>
              <a:t>L</a:t>
            </a:r>
            <a:r>
              <a:rPr lang="zh-CN" altLang="en-US"/>
              <a:t>是否为分配格</a:t>
            </a:r>
            <a:r>
              <a:rPr lang="en-US" altLang="zh-CN"/>
              <a:t>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i="1"/>
              <a:t>     L</a:t>
            </a:r>
            <a:r>
              <a:rPr lang="en-US" altLang="zh-CN" baseline="-25000"/>
              <a:t>1</a:t>
            </a:r>
            <a:r>
              <a:rPr lang="zh-CN" altLang="en-US"/>
              <a:t>不是分配格</a:t>
            </a:r>
            <a:r>
              <a:rPr lang="en-US" altLang="zh-CN"/>
              <a:t>, </a:t>
            </a:r>
            <a:r>
              <a:rPr lang="zh-CN" altLang="en-US"/>
              <a:t>因为它含有与钻石格同构的子格</a:t>
            </a:r>
            <a:r>
              <a:rPr lang="en-US" altLang="zh-CN"/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i="1"/>
              <a:t>     L</a:t>
            </a:r>
            <a:r>
              <a:rPr lang="en-US" altLang="zh-CN" baseline="-25000"/>
              <a:t>2</a:t>
            </a:r>
            <a:r>
              <a:rPr lang="zh-CN" altLang="en-US"/>
              <a:t>和</a:t>
            </a:r>
            <a:r>
              <a:rPr lang="en-US" altLang="zh-CN" i="1"/>
              <a:t>L</a:t>
            </a:r>
            <a:r>
              <a:rPr lang="en-US" altLang="zh-CN" baseline="-25000"/>
              <a:t>3</a:t>
            </a:r>
            <a:r>
              <a:rPr lang="zh-CN" altLang="en-US"/>
              <a:t>不是分配格</a:t>
            </a:r>
            <a:r>
              <a:rPr lang="en-US" altLang="zh-CN"/>
              <a:t>, </a:t>
            </a:r>
            <a:r>
              <a:rPr lang="zh-CN" altLang="en-US"/>
              <a:t>因为它们含有与五角格同构的子格</a:t>
            </a:r>
            <a:r>
              <a:rPr lang="en-US" altLang="zh-CN"/>
              <a:t>.</a:t>
            </a:r>
          </a:p>
        </p:txBody>
      </p:sp>
      <p:grpSp>
        <p:nvGrpSpPr>
          <p:cNvPr id="12293" name="Group 7">
            <a:extLst>
              <a:ext uri="{FF2B5EF4-FFF2-40B4-BE49-F238E27FC236}">
                <a16:creationId xmlns:a16="http://schemas.microsoft.com/office/drawing/2014/main" id="{892D4C97-306F-4291-91F8-EB47A0E0616A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1196975"/>
            <a:ext cx="7670800" cy="2905125"/>
            <a:chOff x="476" y="890"/>
            <a:chExt cx="4832" cy="1830"/>
          </a:xfrm>
        </p:grpSpPr>
        <p:pic>
          <p:nvPicPr>
            <p:cNvPr id="12295" name="Picture 5" descr="13-10">
              <a:extLst>
                <a:ext uri="{FF2B5EF4-FFF2-40B4-BE49-F238E27FC236}">
                  <a16:creationId xmlns:a16="http://schemas.microsoft.com/office/drawing/2014/main" id="{0A40875C-EE8C-45DF-A6EB-CB43133D6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535" b="20161"/>
            <a:stretch>
              <a:fillRect/>
            </a:stretch>
          </p:blipFill>
          <p:spPr bwMode="auto">
            <a:xfrm>
              <a:off x="476" y="890"/>
              <a:ext cx="3966" cy="1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6" name="Text Box 6">
              <a:extLst>
                <a:ext uri="{FF2B5EF4-FFF2-40B4-BE49-F238E27FC236}">
                  <a16:creationId xmlns:a16="http://schemas.microsoft.com/office/drawing/2014/main" id="{E003A252-A8B0-4058-878C-E45DF9B77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432"/>
              <a:ext cx="41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L</a:t>
              </a:r>
              <a:r>
                <a:rPr lang="en-US" altLang="zh-CN" sz="2400" baseline="-25000"/>
                <a:t>1  </a:t>
              </a:r>
              <a:r>
                <a:rPr lang="en-US" altLang="zh-CN" sz="2400"/>
                <a:t>                     </a:t>
              </a:r>
              <a:r>
                <a:rPr lang="en-US" altLang="zh-CN" sz="2400" i="1"/>
                <a:t>L</a:t>
              </a:r>
              <a:r>
                <a:rPr lang="en-US" altLang="zh-CN" sz="2400" baseline="-25000"/>
                <a:t>2</a:t>
              </a:r>
              <a:r>
                <a:rPr lang="en-US" altLang="zh-CN" sz="2400"/>
                <a:t>                    </a:t>
              </a:r>
              <a:r>
                <a:rPr lang="en-US" altLang="zh-CN" sz="2400" i="1"/>
                <a:t> L</a:t>
              </a:r>
              <a:r>
                <a:rPr lang="en-US" altLang="zh-CN" sz="2400" baseline="-25000"/>
                <a:t>3</a:t>
              </a:r>
            </a:p>
          </p:txBody>
        </p:sp>
      </p:grpSp>
      <p:pic>
        <p:nvPicPr>
          <p:cNvPr id="12294" name="图片 1">
            <a:extLst>
              <a:ext uri="{FF2B5EF4-FFF2-40B4-BE49-F238E27FC236}">
                <a16:creationId xmlns:a16="http://schemas.microsoft.com/office/drawing/2014/main" id="{79A01B65-533E-4AEF-8222-651175F2E0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11"/>
          <a:stretch/>
        </p:blipFill>
        <p:spPr bwMode="auto">
          <a:xfrm>
            <a:off x="6089650" y="4229100"/>
            <a:ext cx="2908300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F4BECF1F-B5C3-41EA-81EE-C7AD5971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EF3F4EE-467F-4606-9894-0A22B795CCC1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82649F6-6E0B-4385-9573-E40127300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4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A1027AD-0A7E-4A7C-BAC7-77682FF15D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001000" cy="1727200"/>
          </a:xfrm>
        </p:spPr>
        <p:txBody>
          <a:bodyPr/>
          <a:lstStyle/>
          <a:p>
            <a:pPr eaLnBrk="1" hangingPunct="1"/>
            <a:r>
              <a:rPr lang="zh-CN" altLang="en-US"/>
              <a:t>针对下图，求出每个格的补元并说明它们是否为有补格</a:t>
            </a:r>
            <a:r>
              <a:rPr lang="en-US" altLang="zh-CN"/>
              <a:t>?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A4395E1F-142A-4399-9BAD-7442D0AF0263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636838"/>
            <a:ext cx="6791325" cy="3411537"/>
            <a:chOff x="476" y="890"/>
            <a:chExt cx="4278" cy="2149"/>
          </a:xfrm>
        </p:grpSpPr>
        <p:pic>
          <p:nvPicPr>
            <p:cNvPr id="13318" name="Picture 5" descr="13-10">
              <a:extLst>
                <a:ext uri="{FF2B5EF4-FFF2-40B4-BE49-F238E27FC236}">
                  <a16:creationId xmlns:a16="http://schemas.microsoft.com/office/drawing/2014/main" id="{0A734901-C49F-4474-874D-465922B058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37" b="20316"/>
            <a:stretch>
              <a:fillRect/>
            </a:stretch>
          </p:blipFill>
          <p:spPr bwMode="auto">
            <a:xfrm>
              <a:off x="476" y="890"/>
              <a:ext cx="4278" cy="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9" name="Text Box 6">
              <a:extLst>
                <a:ext uri="{FF2B5EF4-FFF2-40B4-BE49-F238E27FC236}">
                  <a16:creationId xmlns:a16="http://schemas.microsoft.com/office/drawing/2014/main" id="{B08FF0C2-5451-4DBF-A6B6-3724A02DD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7" y="2750"/>
              <a:ext cx="3051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/>
                <a:t>L</a:t>
              </a:r>
              <a:r>
                <a:rPr lang="en-US" altLang="zh-CN" sz="2400" baseline="-25000"/>
                <a:t>1  </a:t>
              </a:r>
              <a:r>
                <a:rPr lang="en-US" altLang="zh-CN" sz="2400"/>
                <a:t>                     </a:t>
              </a:r>
              <a:r>
                <a:rPr lang="en-US" altLang="zh-CN" sz="2400" i="1"/>
                <a:t>L</a:t>
              </a:r>
              <a:r>
                <a:rPr lang="en-US" altLang="zh-CN" sz="2400" baseline="-25000"/>
                <a:t>2</a:t>
              </a:r>
              <a:r>
                <a:rPr lang="en-US" altLang="zh-CN" sz="2400"/>
                <a:t>                    </a:t>
              </a:r>
              <a:r>
                <a:rPr lang="en-US" altLang="zh-CN" sz="2400" i="1"/>
                <a:t> L</a:t>
              </a:r>
              <a:r>
                <a:rPr lang="en-US" altLang="zh-CN" sz="2400" baseline="-25000"/>
                <a:t>3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BF002485-DDDC-449D-B958-8D7251A0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46AF95-5B3A-4112-A810-35F97677FA3A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E2206B47-FB18-4BAC-A13F-1E7027612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4</a:t>
            </a:r>
            <a:r>
              <a:rPr lang="zh-CN" altLang="en-US"/>
              <a:t>解答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259E802-F0B3-472B-A800-BBFB4456C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i="1"/>
              <a:t>L</a:t>
            </a:r>
            <a:r>
              <a:rPr lang="en-US" altLang="zh-CN" baseline="-25000"/>
              <a:t>1</a:t>
            </a:r>
            <a:r>
              <a:rPr lang="zh-CN" altLang="en-US"/>
              <a:t>中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zh-CN" altLang="en-US"/>
              <a:t>与</a:t>
            </a:r>
            <a:r>
              <a:rPr lang="en-US" altLang="zh-CN" i="1"/>
              <a:t>h</a:t>
            </a:r>
            <a:r>
              <a:rPr lang="zh-CN" altLang="en-US"/>
              <a:t>互为补元</a:t>
            </a:r>
            <a:r>
              <a:rPr lang="en-US" altLang="zh-CN"/>
              <a:t>, </a:t>
            </a:r>
            <a:r>
              <a:rPr lang="zh-CN" altLang="en-US"/>
              <a:t>其他元素没补元</a:t>
            </a:r>
            <a:r>
              <a:rPr lang="en-US" altLang="zh-CN"/>
              <a:t>. </a:t>
            </a:r>
          </a:p>
          <a:p>
            <a:pPr eaLnBrk="1" hangingPunct="1"/>
            <a:r>
              <a:rPr lang="en-US" altLang="zh-CN" i="1"/>
              <a:t>L</a:t>
            </a:r>
            <a:r>
              <a:rPr lang="en-US" altLang="zh-CN" baseline="-25000"/>
              <a:t>2</a:t>
            </a:r>
            <a:r>
              <a:rPr lang="zh-CN" altLang="en-US"/>
              <a:t>中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zh-CN" altLang="en-US"/>
              <a:t>与</a:t>
            </a:r>
            <a:r>
              <a:rPr lang="en-US" altLang="zh-CN" i="1"/>
              <a:t>g</a:t>
            </a:r>
            <a:r>
              <a:rPr lang="zh-CN" altLang="en-US"/>
              <a:t>互为补元</a:t>
            </a:r>
            <a:r>
              <a:rPr lang="en-US" altLang="zh-CN"/>
              <a:t>. </a:t>
            </a:r>
            <a:r>
              <a:rPr lang="en-US" altLang="zh-CN" i="1"/>
              <a:t>b</a:t>
            </a:r>
            <a:r>
              <a:rPr lang="zh-CN" altLang="en-US"/>
              <a:t>的补元为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zh-CN" altLang="en-US"/>
              <a:t>；</a:t>
            </a:r>
            <a:r>
              <a:rPr lang="en-US" altLang="zh-CN" i="1"/>
              <a:t>c</a:t>
            </a:r>
            <a:r>
              <a:rPr lang="zh-CN" altLang="en-US"/>
              <a:t>的补元为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d</a:t>
            </a:r>
            <a:r>
              <a:rPr lang="en-US" altLang="zh-CN"/>
              <a:t>, </a:t>
            </a:r>
            <a:r>
              <a:rPr lang="en-US" altLang="zh-CN" i="1"/>
              <a:t>e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zh-CN" altLang="en-US"/>
              <a:t>；</a:t>
            </a:r>
            <a:r>
              <a:rPr lang="en-US" altLang="zh-CN" i="1"/>
              <a:t>d</a:t>
            </a:r>
            <a:r>
              <a:rPr lang="zh-CN" altLang="en-US"/>
              <a:t>的补元为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e</a:t>
            </a:r>
            <a:r>
              <a:rPr lang="zh-CN" altLang="en-US"/>
              <a:t>；</a:t>
            </a:r>
            <a:r>
              <a:rPr lang="en-US" altLang="zh-CN" i="1"/>
              <a:t>e</a:t>
            </a:r>
            <a:r>
              <a:rPr lang="zh-CN" altLang="en-US"/>
              <a:t>的补元为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zh-CN" altLang="en-US"/>
              <a:t>；</a:t>
            </a:r>
            <a:r>
              <a:rPr lang="en-US" altLang="zh-CN" i="1"/>
              <a:t>f</a:t>
            </a:r>
            <a:r>
              <a:rPr lang="zh-CN" altLang="en-US"/>
              <a:t>的补元为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e</a:t>
            </a:r>
            <a:r>
              <a:rPr lang="en-US" altLang="zh-CN"/>
              <a:t>. </a:t>
            </a:r>
          </a:p>
          <a:p>
            <a:pPr eaLnBrk="1" hangingPunct="1"/>
            <a:r>
              <a:rPr lang="en-US" altLang="zh-CN" i="1"/>
              <a:t>L</a:t>
            </a:r>
            <a:r>
              <a:rPr lang="en-US" altLang="zh-CN" baseline="-25000"/>
              <a:t>3</a:t>
            </a:r>
            <a:r>
              <a:rPr lang="zh-CN" altLang="en-US"/>
              <a:t>中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zh-CN" altLang="en-US"/>
              <a:t>与</a:t>
            </a:r>
            <a:r>
              <a:rPr lang="en-US" altLang="zh-CN" i="1"/>
              <a:t>h</a:t>
            </a:r>
            <a:r>
              <a:rPr lang="zh-CN" altLang="en-US"/>
              <a:t>互为补元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zh-CN" altLang="en-US"/>
              <a:t>的补元为</a:t>
            </a:r>
            <a:r>
              <a:rPr lang="en-US" altLang="zh-CN" i="1"/>
              <a:t>d</a:t>
            </a:r>
            <a:r>
              <a:rPr lang="zh-CN" altLang="en-US"/>
              <a:t>；</a:t>
            </a:r>
            <a:r>
              <a:rPr lang="en-US" altLang="zh-CN" i="1"/>
              <a:t>c</a:t>
            </a:r>
            <a:r>
              <a:rPr lang="zh-CN" altLang="en-US"/>
              <a:t>的补元为</a:t>
            </a:r>
            <a:r>
              <a:rPr lang="en-US" altLang="zh-CN" i="1"/>
              <a:t>d</a:t>
            </a:r>
            <a:r>
              <a:rPr lang="zh-CN" altLang="en-US"/>
              <a:t>；</a:t>
            </a:r>
            <a:r>
              <a:rPr lang="en-US" altLang="zh-CN" i="1"/>
              <a:t>d</a:t>
            </a:r>
            <a:r>
              <a:rPr lang="zh-CN" altLang="en-US"/>
              <a:t>的补元为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g</a:t>
            </a:r>
            <a:r>
              <a:rPr lang="zh-CN" altLang="en-US"/>
              <a:t>；</a:t>
            </a:r>
            <a:r>
              <a:rPr lang="en-US" altLang="zh-CN" i="1"/>
              <a:t>g</a:t>
            </a:r>
            <a:r>
              <a:rPr lang="zh-CN" altLang="en-US"/>
              <a:t>的补元为</a:t>
            </a:r>
            <a:r>
              <a:rPr lang="en-US" altLang="zh-CN" i="1"/>
              <a:t>d</a:t>
            </a:r>
            <a:r>
              <a:rPr lang="en-US" altLang="zh-CN"/>
              <a:t>.  </a:t>
            </a:r>
            <a:r>
              <a:rPr lang="en-US" altLang="zh-CN" i="1"/>
              <a:t>L</a:t>
            </a:r>
            <a:r>
              <a:rPr lang="en-US" altLang="zh-CN" baseline="-25000"/>
              <a:t>2</a:t>
            </a:r>
            <a:r>
              <a:rPr lang="zh-CN" altLang="en-US"/>
              <a:t>与</a:t>
            </a:r>
            <a:r>
              <a:rPr lang="en-US" altLang="zh-CN" i="1"/>
              <a:t>L</a:t>
            </a:r>
            <a:r>
              <a:rPr lang="en-US" altLang="zh-CN" baseline="-25000"/>
              <a:t>3</a:t>
            </a:r>
            <a:r>
              <a:rPr lang="zh-CN" altLang="en-US"/>
              <a:t>是有补格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B7045DE1-08E0-4D67-BCBA-37306D82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78E2D0E-C150-4798-A6C2-589196180A44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1A44203F-78FB-4204-91FD-DFF6CF5BB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5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91CB80D-2C95-45AD-A28D-F7BC8E78DF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对于以下各题给定的集合和运算判断它们是哪一类代数系统（半群、独异点、群、环、域、格、布尔代数）</a:t>
            </a:r>
            <a:r>
              <a:rPr lang="en-US" altLang="zh-CN"/>
              <a:t>, </a:t>
            </a:r>
            <a:r>
              <a:rPr lang="zh-CN" altLang="en-US"/>
              <a:t>并说明理由</a:t>
            </a:r>
            <a:r>
              <a:rPr lang="en-US" altLang="zh-CN"/>
              <a:t>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(1) </a:t>
            </a:r>
            <a:r>
              <a:rPr lang="en-US" altLang="zh-CN" i="1"/>
              <a:t>S</a:t>
            </a:r>
            <a:r>
              <a:rPr lang="en-US" altLang="zh-CN" baseline="-25000"/>
              <a:t>1 </a:t>
            </a:r>
            <a:r>
              <a:rPr lang="en-US" altLang="zh-CN"/>
              <a:t>= {1, 1/2, 2, 1/3, 3, 1/4, 4}, ∗</a:t>
            </a:r>
            <a:r>
              <a:rPr lang="zh-CN" altLang="en-US"/>
              <a:t>为普通乘法</a:t>
            </a:r>
            <a:r>
              <a:rPr lang="en-US" altLang="zh-CN"/>
              <a:t>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(2) </a:t>
            </a:r>
            <a:r>
              <a:rPr lang="en-US" altLang="zh-CN" i="1"/>
              <a:t>S</a:t>
            </a:r>
            <a:r>
              <a:rPr lang="en-US" altLang="zh-CN" baseline="-25000"/>
              <a:t>2 </a:t>
            </a:r>
            <a:r>
              <a:rPr lang="en-US" altLang="zh-CN"/>
              <a:t>= {</a:t>
            </a:r>
            <a:r>
              <a:rPr lang="en-US" altLang="zh-CN" i="1"/>
              <a:t>a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en-US" altLang="zh-CN" baseline="-25000"/>
              <a:t>2</a:t>
            </a:r>
            <a:r>
              <a:rPr lang="en-US" altLang="zh-CN"/>
              <a:t>, ..., </a:t>
            </a:r>
            <a:r>
              <a:rPr lang="en-US" altLang="zh-CN" i="1"/>
              <a:t>a</a:t>
            </a:r>
            <a:r>
              <a:rPr lang="en-US" altLang="zh-CN" i="1" baseline="-25000"/>
              <a:t>n</a:t>
            </a:r>
            <a:r>
              <a:rPr lang="en-US" altLang="zh-CN"/>
              <a:t>},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a</a:t>
            </a:r>
            <a:r>
              <a:rPr lang="en-US" altLang="zh-CN" i="1" baseline="-25000"/>
              <a:t>i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en-US" altLang="zh-CN" i="1" baseline="-25000"/>
              <a:t>j</a:t>
            </a:r>
            <a:r>
              <a:rPr lang="en-US" altLang="zh-CN"/>
              <a:t>∈</a:t>
            </a:r>
            <a:r>
              <a:rPr lang="en-US" altLang="zh-CN" i="1"/>
              <a:t>S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 i="1"/>
              <a:t>a</a:t>
            </a:r>
            <a:r>
              <a:rPr lang="en-US" altLang="zh-CN" i="1" baseline="-25000"/>
              <a:t>i</a:t>
            </a:r>
            <a:r>
              <a:rPr lang="en-US" altLang="zh-CN"/>
              <a:t>∘</a:t>
            </a:r>
            <a:r>
              <a:rPr lang="en-US" altLang="zh-CN" i="1"/>
              <a:t>a</a:t>
            </a:r>
            <a:r>
              <a:rPr lang="en-US" altLang="zh-CN" i="1" baseline="-25000"/>
              <a:t>j </a:t>
            </a:r>
            <a:r>
              <a:rPr lang="en-US" altLang="zh-CN"/>
              <a:t>= </a:t>
            </a:r>
            <a:r>
              <a:rPr lang="en-US" altLang="zh-CN" i="1"/>
              <a:t>a</a:t>
            </a:r>
            <a:r>
              <a:rPr lang="en-US" altLang="zh-CN" i="1" baseline="-25000"/>
              <a:t>i</a:t>
            </a:r>
            <a:r>
              <a:rPr lang="en-US" altLang="zh-CN"/>
              <a:t>,  </a:t>
            </a:r>
            <a:r>
              <a:rPr lang="zh-CN" altLang="en-US"/>
              <a:t>这里的 </a:t>
            </a:r>
            <a:r>
              <a:rPr lang="en-US" altLang="zh-CN" i="1"/>
              <a:t>n </a:t>
            </a:r>
            <a:r>
              <a:rPr lang="zh-CN" altLang="en-US"/>
              <a:t>为给定正整数</a:t>
            </a:r>
            <a:r>
              <a:rPr lang="en-US" altLang="zh-CN"/>
              <a:t>, </a:t>
            </a:r>
            <a:r>
              <a:rPr lang="en-US" altLang="zh-CN" i="1"/>
              <a:t>n</a:t>
            </a:r>
            <a:r>
              <a:rPr lang="en-US" altLang="zh-CN"/>
              <a:t>&gt;1.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(3) </a:t>
            </a:r>
            <a:r>
              <a:rPr lang="en-US" altLang="zh-CN" i="1"/>
              <a:t>S</a:t>
            </a:r>
            <a:r>
              <a:rPr lang="en-US" altLang="zh-CN" baseline="-25000"/>
              <a:t>3</a:t>
            </a:r>
            <a:r>
              <a:rPr lang="en-US" altLang="zh-CN"/>
              <a:t> = {0, 1},∗</a:t>
            </a:r>
            <a:r>
              <a:rPr lang="zh-CN" altLang="en-US"/>
              <a:t>为普通乘法</a:t>
            </a:r>
            <a:r>
              <a:rPr lang="en-US" altLang="zh-CN"/>
              <a:t>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(4) </a:t>
            </a:r>
            <a:r>
              <a:rPr lang="en-US" altLang="zh-CN" i="1"/>
              <a:t>S</a:t>
            </a:r>
            <a:r>
              <a:rPr lang="en-US" altLang="zh-CN" baseline="-25000"/>
              <a:t>4</a:t>
            </a:r>
            <a:r>
              <a:rPr lang="en-US" altLang="zh-CN"/>
              <a:t> = {1, 2, 3, 6}, </a:t>
            </a:r>
            <a:r>
              <a:rPr lang="en-US" altLang="zh-CN">
                <a:sym typeface="Symbol" panose="05050102010706020507" pitchFamily="18" charset="2"/>
              </a:rPr>
              <a:t>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S</a:t>
            </a:r>
            <a:r>
              <a:rPr lang="en-US" altLang="zh-CN"/>
              <a:t>4, </a:t>
            </a:r>
            <a:r>
              <a:rPr lang="en-US" altLang="zh-CN" i="1"/>
              <a:t>x</a:t>
            </a:r>
            <a:r>
              <a:rPr lang="en-US" altLang="zh-CN"/>
              <a:t>∘</a:t>
            </a:r>
            <a:r>
              <a:rPr lang="en-US" altLang="zh-CN" i="1"/>
              <a:t>y</a:t>
            </a:r>
            <a:r>
              <a:rPr lang="zh-CN" altLang="en-US"/>
              <a:t>与</a:t>
            </a:r>
            <a:r>
              <a:rPr lang="en-US" altLang="zh-CN" i="1"/>
              <a:t>x</a:t>
            </a:r>
            <a:r>
              <a:rPr lang="en-US" altLang="zh-CN"/>
              <a:t>∗</a:t>
            </a:r>
            <a:r>
              <a:rPr lang="en-US" altLang="zh-CN" i="1"/>
              <a:t>y</a:t>
            </a:r>
            <a:r>
              <a:rPr lang="zh-CN" altLang="en-US"/>
              <a:t>分别表示 </a:t>
            </a:r>
            <a:r>
              <a:rPr lang="en-US" altLang="zh-CN" i="1"/>
              <a:t>x </a:t>
            </a:r>
            <a:r>
              <a:rPr lang="zh-CN" altLang="en-US"/>
              <a:t>与 </a:t>
            </a:r>
            <a:r>
              <a:rPr lang="en-US" altLang="zh-CN" i="1"/>
              <a:t>y </a:t>
            </a:r>
            <a:r>
              <a:rPr lang="zh-CN" altLang="en-US"/>
              <a:t>的最小公倍数和最大公约数</a:t>
            </a:r>
            <a:r>
              <a:rPr lang="en-US" altLang="zh-CN"/>
              <a:t>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/>
              <a:t>(5) </a:t>
            </a:r>
            <a:r>
              <a:rPr lang="en-US" altLang="zh-CN" i="1"/>
              <a:t>S</a:t>
            </a:r>
            <a:r>
              <a:rPr lang="en-US" altLang="zh-CN" baseline="-25000"/>
              <a:t>5 </a:t>
            </a:r>
            <a:r>
              <a:rPr lang="en-US" altLang="zh-CN"/>
              <a:t>= {0, 1}, ∗</a:t>
            </a:r>
            <a:r>
              <a:rPr lang="zh-CN" altLang="en-US"/>
              <a:t>为模</a:t>
            </a:r>
            <a:r>
              <a:rPr lang="en-US" altLang="zh-CN"/>
              <a:t>2</a:t>
            </a:r>
            <a:r>
              <a:rPr lang="zh-CN" altLang="en-US"/>
              <a:t>加法</a:t>
            </a:r>
            <a:r>
              <a:rPr lang="en-US" altLang="zh-CN"/>
              <a:t>, ∘</a:t>
            </a:r>
            <a:r>
              <a:rPr lang="zh-CN" altLang="en-US"/>
              <a:t>为模</a:t>
            </a:r>
            <a:r>
              <a:rPr lang="en-US" altLang="zh-CN"/>
              <a:t>2</a:t>
            </a:r>
            <a:r>
              <a:rPr lang="zh-CN" altLang="en-US"/>
              <a:t>乘法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1282CCD5-19AE-4564-A272-FC2AD0DD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CE4923-54CD-4FC9-B6A5-D36FB17677BA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F2D5F35-3707-4C82-A05F-A61C99578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5</a:t>
            </a:r>
            <a:r>
              <a:rPr lang="zh-CN" altLang="en-US"/>
              <a:t>解答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3661123-A28B-4298-95D8-4C8DC702D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(1) </a:t>
            </a:r>
            <a:r>
              <a:rPr lang="zh-CN" altLang="en-US" sz="2800"/>
              <a:t>不是代数系统</a:t>
            </a:r>
            <a:r>
              <a:rPr lang="en-US" altLang="zh-CN" sz="2800"/>
              <a:t>, </a:t>
            </a:r>
            <a:r>
              <a:rPr lang="zh-CN" altLang="en-US" sz="2800"/>
              <a:t>因为乘法不封闭</a:t>
            </a:r>
            <a:r>
              <a:rPr lang="en-US" altLang="zh-CN" sz="2800"/>
              <a:t>, </a:t>
            </a:r>
            <a:r>
              <a:rPr lang="zh-CN" altLang="en-US" sz="2800"/>
              <a:t>例如</a:t>
            </a:r>
            <a:r>
              <a:rPr lang="en-US" altLang="zh-CN" sz="2800"/>
              <a:t>4∗4=16.</a:t>
            </a:r>
          </a:p>
          <a:p>
            <a:pPr eaLnBrk="1" hangingPunct="1"/>
            <a:r>
              <a:rPr lang="en-US" altLang="zh-CN" sz="2800"/>
              <a:t>(2) </a:t>
            </a:r>
            <a:r>
              <a:rPr lang="zh-CN" altLang="en-US" sz="2800"/>
              <a:t>是半群但不是独异点</a:t>
            </a:r>
            <a:r>
              <a:rPr lang="en-US" altLang="zh-CN" sz="2800"/>
              <a:t>, </a:t>
            </a:r>
            <a:r>
              <a:rPr lang="zh-CN" altLang="en-US" sz="2800"/>
              <a:t>因为∗运算满足结合律</a:t>
            </a:r>
            <a:r>
              <a:rPr lang="en-US" altLang="zh-CN" sz="2800"/>
              <a:t>, </a:t>
            </a:r>
            <a:r>
              <a:rPr lang="zh-CN" altLang="en-US" sz="2800"/>
              <a:t>但是没有单位元</a:t>
            </a:r>
            <a:r>
              <a:rPr lang="en-US" altLang="zh-CN" sz="2800"/>
              <a:t>.</a:t>
            </a:r>
          </a:p>
          <a:p>
            <a:pPr eaLnBrk="1" hangingPunct="1"/>
            <a:r>
              <a:rPr lang="en-US" altLang="zh-CN" sz="2800"/>
              <a:t>(3) </a:t>
            </a:r>
            <a:r>
              <a:rPr lang="zh-CN" altLang="en-US" sz="2800"/>
              <a:t>是独异点但不是群</a:t>
            </a:r>
            <a:r>
              <a:rPr lang="en-US" altLang="zh-CN" sz="2800"/>
              <a:t>. </a:t>
            </a:r>
            <a:r>
              <a:rPr lang="zh-CN" altLang="en-US" sz="2800"/>
              <a:t>因为∗运算满足结合律</a:t>
            </a:r>
            <a:r>
              <a:rPr lang="en-US" altLang="zh-CN" sz="2800"/>
              <a:t>, </a:t>
            </a:r>
            <a:r>
              <a:rPr lang="zh-CN" altLang="en-US" sz="2800"/>
              <a:t>单位元是</a:t>
            </a:r>
            <a:r>
              <a:rPr lang="en-US" altLang="zh-CN" sz="2800"/>
              <a:t>1, </a:t>
            </a:r>
            <a:r>
              <a:rPr lang="zh-CN" altLang="en-US" sz="2800"/>
              <a:t>可是</a:t>
            </a:r>
            <a:r>
              <a:rPr lang="en-US" altLang="zh-CN" sz="2800"/>
              <a:t>0</a:t>
            </a:r>
            <a:r>
              <a:rPr lang="zh-CN" altLang="en-US" sz="2800"/>
              <a:t>没有乘法逆元</a:t>
            </a:r>
            <a:r>
              <a:rPr lang="en-US" altLang="zh-CN" sz="2800"/>
              <a:t>. </a:t>
            </a:r>
          </a:p>
          <a:p>
            <a:pPr eaLnBrk="1" hangingPunct="1"/>
            <a:r>
              <a:rPr lang="en-US" altLang="zh-CN" sz="2800"/>
              <a:t>(4) </a:t>
            </a:r>
            <a:r>
              <a:rPr lang="zh-CN" altLang="en-US" sz="2800"/>
              <a:t>是格</a:t>
            </a:r>
            <a:r>
              <a:rPr lang="en-US" altLang="zh-CN" sz="2800"/>
              <a:t>, </a:t>
            </a:r>
            <a:r>
              <a:rPr lang="zh-CN" altLang="en-US" sz="2800"/>
              <a:t>也是布尔代数</a:t>
            </a:r>
            <a:r>
              <a:rPr lang="en-US" altLang="zh-CN" sz="2800"/>
              <a:t>. </a:t>
            </a:r>
            <a:r>
              <a:rPr lang="zh-CN" altLang="en-US" sz="2800"/>
              <a:t>因为这两个运算满足交换律和分配律；求最小公倍数运算的单位元是</a:t>
            </a:r>
            <a:r>
              <a:rPr lang="en-US" altLang="zh-CN" sz="2800"/>
              <a:t>1, </a:t>
            </a:r>
            <a:r>
              <a:rPr lang="zh-CN" altLang="en-US" sz="2800"/>
              <a:t>求最大公约数运算的单位元是</a:t>
            </a:r>
            <a:r>
              <a:rPr lang="en-US" altLang="zh-CN" sz="2800"/>
              <a:t>6, </a:t>
            </a:r>
            <a:r>
              <a:rPr lang="zh-CN" altLang="en-US" sz="2800"/>
              <a:t>满足同一律；两个运算满足补元律</a:t>
            </a:r>
            <a:r>
              <a:rPr lang="en-US" altLang="zh-CN" sz="2800"/>
              <a:t>. </a:t>
            </a:r>
          </a:p>
          <a:p>
            <a:pPr eaLnBrk="1" hangingPunct="1"/>
            <a:r>
              <a:rPr lang="en-US" altLang="zh-CN" sz="2800"/>
              <a:t>(5) </a:t>
            </a:r>
            <a:r>
              <a:rPr lang="zh-CN" altLang="en-US" sz="2800"/>
              <a:t>是域</a:t>
            </a:r>
            <a:r>
              <a:rPr lang="en-US" altLang="zh-CN" sz="2800"/>
              <a:t>. </a:t>
            </a:r>
            <a:r>
              <a:rPr lang="zh-CN" altLang="en-US" sz="2800"/>
              <a:t>对于模 </a:t>
            </a:r>
            <a:r>
              <a:rPr lang="en-US" altLang="zh-CN" sz="2800" i="1"/>
              <a:t>n </a:t>
            </a:r>
            <a:r>
              <a:rPr lang="zh-CN" altLang="en-US" sz="2800"/>
              <a:t>的环</a:t>
            </a:r>
            <a:r>
              <a:rPr lang="en-US" altLang="zh-CN" sz="2800"/>
              <a:t>Z</a:t>
            </a:r>
            <a:r>
              <a:rPr lang="en-US" altLang="zh-CN" sz="2800" i="1" baseline="-25000"/>
              <a:t>n</a:t>
            </a:r>
            <a:r>
              <a:rPr lang="en-US" altLang="zh-CN" sz="2800"/>
              <a:t>, </a:t>
            </a:r>
            <a:r>
              <a:rPr lang="zh-CN" altLang="en-US" sz="2800"/>
              <a:t>当</a:t>
            </a:r>
            <a:r>
              <a:rPr lang="en-US" altLang="zh-CN" sz="2800" i="1"/>
              <a:t>n</a:t>
            </a:r>
            <a:r>
              <a:rPr lang="zh-CN" altLang="en-US" sz="2800"/>
              <a:t>为素数时构成域</a:t>
            </a:r>
            <a:r>
              <a:rPr lang="en-US" altLang="zh-CN" sz="2800"/>
              <a:t>. </a:t>
            </a: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9FEB9702-D308-47D4-8A4D-C0E18855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BEE96A-3638-4FC0-B73A-7BDB0BC17B86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7C7284B-F327-43C8-B0A9-C6DD00E56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6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49BDF27-5990-46AE-8D8D-5D5308E29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判断下述代数系统是否为格？是不是布尔代数？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en-US" altLang="zh-CN" i="1" dirty="0"/>
              <a:t>S </a:t>
            </a:r>
            <a:r>
              <a:rPr lang="en-US" altLang="zh-CN" dirty="0"/>
              <a:t>= {1, 3, 4, 12}; </a:t>
            </a:r>
            <a:r>
              <a:rPr lang="zh-CN" altLang="en-US" dirty="0"/>
              <a:t>任给 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S</a:t>
            </a:r>
            <a:r>
              <a:rPr lang="en-US" altLang="zh-CN" dirty="0"/>
              <a:t>,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/>
              <a:t>              </a:t>
            </a:r>
            <a:r>
              <a:rPr lang="en-US" altLang="zh-CN" i="1" dirty="0" err="1"/>
              <a:t>x</a:t>
            </a:r>
            <a:r>
              <a:rPr lang="en-US" altLang="zh-CN" dirty="0" err="1"/>
              <a:t>∘</a:t>
            </a:r>
            <a:r>
              <a:rPr lang="en-US" altLang="zh-CN" i="1" dirty="0" err="1"/>
              <a:t>y</a:t>
            </a:r>
            <a:r>
              <a:rPr lang="en-US" altLang="zh-CN" i="1" dirty="0"/>
              <a:t> </a:t>
            </a:r>
            <a:r>
              <a:rPr lang="en-US" altLang="zh-CN" dirty="0"/>
              <a:t>= lcm(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),  </a:t>
            </a:r>
            <a:r>
              <a:rPr lang="en-US" altLang="zh-CN" i="1" dirty="0" err="1"/>
              <a:t>x</a:t>
            </a:r>
            <a:r>
              <a:rPr lang="en-US" altLang="zh-CN" dirty="0" err="1"/>
              <a:t>∗</a:t>
            </a:r>
            <a:r>
              <a:rPr lang="en-US" altLang="zh-CN" i="1" dirty="0" err="1"/>
              <a:t>y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), </a:t>
            </a:r>
            <a:r>
              <a:rPr lang="zh-CN" altLang="en-US" dirty="0"/>
              <a:t>其中 </a:t>
            </a:r>
            <a:r>
              <a:rPr lang="en-US" altLang="zh-CN" dirty="0"/>
              <a:t>lcm </a:t>
            </a:r>
            <a:r>
              <a:rPr lang="zh-CN" altLang="en-US" dirty="0"/>
              <a:t>是求最小公倍数</a:t>
            </a:r>
            <a:r>
              <a:rPr lang="en-US" altLang="zh-CN" dirty="0"/>
              <a:t>, </a:t>
            </a:r>
            <a:r>
              <a:rPr lang="en-US" altLang="zh-CN" dirty="0" err="1"/>
              <a:t>gcd</a:t>
            </a:r>
            <a:r>
              <a:rPr lang="en-US" altLang="zh-CN" dirty="0"/>
              <a:t> </a:t>
            </a:r>
            <a:r>
              <a:rPr lang="zh-CN" altLang="en-US" dirty="0"/>
              <a:t>是求最大公约数</a:t>
            </a:r>
            <a:r>
              <a:rPr lang="en-US" altLang="zh-CN" dirty="0"/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(2) </a:t>
            </a:r>
            <a:r>
              <a:rPr lang="en-US" altLang="zh-CN" i="1" dirty="0"/>
              <a:t>S </a:t>
            </a:r>
            <a:r>
              <a:rPr lang="en-US" altLang="zh-CN" dirty="0"/>
              <a:t>= {0, 1, 2} ; ∘</a:t>
            </a:r>
            <a:r>
              <a:rPr lang="zh-CN" altLang="en-US" dirty="0"/>
              <a:t>是模</a:t>
            </a:r>
            <a:r>
              <a:rPr lang="en-US" altLang="zh-CN" dirty="0">
                <a:sym typeface="Symbol" panose="05050102010706020507" pitchFamily="18" charset="2"/>
              </a:rPr>
              <a:t>3</a:t>
            </a:r>
            <a:r>
              <a:rPr lang="zh-CN" altLang="en-US" dirty="0">
                <a:sym typeface="Symbol" panose="05050102010706020507" pitchFamily="18" charset="2"/>
              </a:rPr>
              <a:t>加法</a:t>
            </a:r>
            <a:r>
              <a:rPr lang="en-US" altLang="zh-CN" dirty="0">
                <a:sym typeface="Symbol" panose="05050102010706020507" pitchFamily="18" charset="2"/>
              </a:rPr>
              <a:t>, ∗</a:t>
            </a:r>
            <a:r>
              <a:rPr lang="zh-CN" altLang="en-US" dirty="0">
                <a:sym typeface="Symbol" panose="05050102010706020507" pitchFamily="18" charset="2"/>
              </a:rPr>
              <a:t>是模</a:t>
            </a:r>
            <a:r>
              <a:rPr lang="en-US" altLang="zh-CN" dirty="0">
                <a:sym typeface="Symbol" panose="05050102010706020507" pitchFamily="18" charset="2"/>
              </a:rPr>
              <a:t>3</a:t>
            </a:r>
            <a:r>
              <a:rPr lang="zh-CN" altLang="en-US" dirty="0">
                <a:sym typeface="Symbol" panose="05050102010706020507" pitchFamily="18" charset="2"/>
              </a:rPr>
              <a:t>乘法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(3) </a:t>
            </a:r>
            <a:r>
              <a:rPr lang="en-US" altLang="zh-CN" i="1" dirty="0">
                <a:sym typeface="Symbol" panose="05050102010706020507" pitchFamily="18" charset="2"/>
              </a:rPr>
              <a:t>S </a:t>
            </a:r>
            <a:r>
              <a:rPr lang="en-US" altLang="zh-CN" dirty="0">
                <a:sym typeface="Symbol" panose="05050102010706020507" pitchFamily="18" charset="2"/>
              </a:rPr>
              <a:t>= {0, ..., 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}, </a:t>
            </a:r>
            <a:r>
              <a:rPr lang="zh-CN" altLang="en-US" dirty="0">
                <a:sym typeface="Symbol" panose="05050102010706020507" pitchFamily="18" charset="2"/>
              </a:rPr>
              <a:t>其中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≥2; </a:t>
            </a:r>
            <a:r>
              <a:rPr lang="zh-CN" altLang="en-US" dirty="0">
                <a:sym typeface="Symbol" panose="05050102010706020507" pitchFamily="18" charset="2"/>
              </a:rPr>
              <a:t>任给 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 err="1">
                <a:sym typeface="Symbol" panose="05050102010706020507" pitchFamily="18" charset="2"/>
              </a:rPr>
              <a:t>∈</a:t>
            </a:r>
            <a:r>
              <a:rPr lang="en-US" altLang="zh-CN" i="1" dirty="0" err="1">
                <a:sym typeface="Symbol" panose="05050102010706020507" pitchFamily="18" charset="2"/>
              </a:rPr>
              <a:t>S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>
                <a:sym typeface="Symbol" panose="05050102010706020507" pitchFamily="18" charset="2"/>
              </a:rPr>
              <a:t>              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/>
              <a:t>∘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 = max(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),  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∗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i="1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= min(</a:t>
            </a:r>
            <a:r>
              <a:rPr lang="en-US" altLang="zh-CN" i="1" dirty="0" err="1"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FBE46748-565F-41D5-BC7C-F8944479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79502C-248F-4615-BD3F-BB64EB2DB215}" type="slidenum">
              <a:rPr lang="en-US" altLang="zh-CN" sz="1200" b="0" smtClean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D800F9A-E178-45BC-AE6B-733748A96E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6</a:t>
            </a:r>
            <a:r>
              <a:rPr lang="zh-CN" altLang="en-US"/>
              <a:t>解答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E2829FD3-C186-4401-ADD7-78AD80AE4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(1) </a:t>
            </a:r>
            <a:r>
              <a:rPr lang="zh-CN" altLang="en-US"/>
              <a:t>是布尔代数</a:t>
            </a:r>
            <a:r>
              <a:rPr lang="en-US" altLang="zh-CN"/>
              <a:t>. </a:t>
            </a:r>
          </a:p>
          <a:p>
            <a:pPr eaLnBrk="1" hangingPunct="1"/>
            <a:r>
              <a:rPr lang="en-US" altLang="zh-CN"/>
              <a:t>(2) </a:t>
            </a:r>
            <a:r>
              <a:rPr lang="zh-CN" altLang="en-US"/>
              <a:t>不是格</a:t>
            </a:r>
            <a:r>
              <a:rPr lang="en-US" altLang="zh-CN"/>
              <a:t>. </a:t>
            </a:r>
          </a:p>
          <a:p>
            <a:pPr eaLnBrk="1" hangingPunct="1"/>
            <a:r>
              <a:rPr lang="en-US" altLang="zh-CN"/>
              <a:t>(3) </a:t>
            </a:r>
            <a:r>
              <a:rPr lang="zh-CN" altLang="en-US"/>
              <a:t>是格</a:t>
            </a:r>
            <a:r>
              <a:rPr lang="en-US" altLang="zh-CN"/>
              <a:t>, </a:t>
            </a:r>
            <a:r>
              <a:rPr lang="zh-CN" altLang="en-US"/>
              <a:t>但不是布尔代数</a:t>
            </a:r>
            <a:r>
              <a:rPr lang="en-US" altLang="zh-CN"/>
              <a:t>.</a:t>
            </a: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1429</Words>
  <Application>Microsoft Office PowerPoint</Application>
  <PresentationFormat>全屏显示(4:3)</PresentationFormat>
  <Paragraphs>113</Paragraphs>
  <Slides>12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Arial</vt:lpstr>
      <vt:lpstr>Times New Roman</vt:lpstr>
      <vt:lpstr>Verdana</vt:lpstr>
      <vt:lpstr>Wingdings</vt:lpstr>
      <vt:lpstr>Profile</vt:lpstr>
      <vt:lpstr>Image</vt:lpstr>
      <vt:lpstr>第十一章  习题</vt:lpstr>
      <vt:lpstr>第十一章  习题</vt:lpstr>
      <vt:lpstr>练习1</vt:lpstr>
      <vt:lpstr>练习1（续）</vt:lpstr>
      <vt:lpstr>练习2</vt:lpstr>
      <vt:lpstr>练习3</vt:lpstr>
      <vt:lpstr>练习4</vt:lpstr>
      <vt:lpstr>练习4解答</vt:lpstr>
      <vt:lpstr>练习5</vt:lpstr>
      <vt:lpstr>练习5解答</vt:lpstr>
      <vt:lpstr>练习6</vt:lpstr>
      <vt:lpstr>练习6解答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365</cp:revision>
  <dcterms:created xsi:type="dcterms:W3CDTF">2007-11-19T20:33:53Z</dcterms:created>
  <dcterms:modified xsi:type="dcterms:W3CDTF">2020-12-12T09:00:56Z</dcterms:modified>
</cp:coreProperties>
</file>