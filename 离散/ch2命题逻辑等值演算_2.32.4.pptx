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8"/>
  </p:handoutMasterIdLst>
  <p:sldIdLst>
    <p:sldId id="348" r:id="rId3"/>
    <p:sldId id="351" r:id="rId5"/>
    <p:sldId id="352" r:id="rId6"/>
    <p:sldId id="354" r:id="rId7"/>
    <p:sldId id="355" r:id="rId8"/>
    <p:sldId id="357" r:id="rId9"/>
    <p:sldId id="288" r:id="rId10"/>
    <p:sldId id="290" r:id="rId11"/>
    <p:sldId id="370" r:id="rId12"/>
    <p:sldId id="291" r:id="rId13"/>
    <p:sldId id="323" r:id="rId14"/>
    <p:sldId id="293" r:id="rId15"/>
    <p:sldId id="294" r:id="rId16"/>
    <p:sldId id="358" r:id="rId17"/>
    <p:sldId id="359" r:id="rId18"/>
    <p:sldId id="360" r:id="rId19"/>
    <p:sldId id="361" r:id="rId20"/>
    <p:sldId id="349" r:id="rId21"/>
    <p:sldId id="296" r:id="rId22"/>
    <p:sldId id="374" r:id="rId23"/>
    <p:sldId id="372" r:id="rId24"/>
    <p:sldId id="366" r:id="rId25"/>
    <p:sldId id="325" r:id="rId26"/>
    <p:sldId id="326" r:id="rId27"/>
    <p:sldId id="362" r:id="rId28"/>
    <p:sldId id="363" r:id="rId29"/>
    <p:sldId id="369" r:id="rId30"/>
    <p:sldId id="364" r:id="rId31"/>
    <p:sldId id="365" r:id="rId32"/>
    <p:sldId id="329" r:id="rId33"/>
    <p:sldId id="331" r:id="rId34"/>
    <p:sldId id="367" r:id="rId35"/>
    <p:sldId id="368" r:id="rId36"/>
    <p:sldId id="373" r:id="rId37"/>
  </p:sldIdLst>
  <p:sldSz cx="9144000" cy="6858000" type="screen4x3"/>
  <p:notesSz cx="6760845" cy="994219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0000"/>
    <a:srgbClr val="0066FF"/>
    <a:srgbClr val="FF0000"/>
    <a:srgbClr val="69B3F1"/>
    <a:srgbClr val="FF3300"/>
    <a:srgbClr val="D7232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065" autoAdjust="0"/>
    <p:restoredTop sz="61664" autoAdjust="0"/>
  </p:normalViewPr>
  <p:slideViewPr>
    <p:cSldViewPr showGuides="1">
      <p:cViewPr varScale="1">
        <p:scale>
          <a:sx n="43" d="100"/>
          <a:sy n="43" d="100"/>
        </p:scale>
        <p:origin x="1248" y="18"/>
      </p:cViewPr>
      <p:guideLst>
        <p:guide orient="horz" pos="2160"/>
        <p:guide pos="289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3132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4.xml"/><Relationship Id="rId1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444038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BC239A16-7966-44F5-B3AB-1DB8BF92129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46125"/>
            <a:ext cx="4967287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6275" y="4722813"/>
            <a:ext cx="5408613" cy="44735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50" y="9444038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B95A01C3-2632-498C-9B1E-7651CD95020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E0D728-73AA-4601-BAE7-E763BAA82C51}" type="slidenum">
              <a:rPr lang="en-US" altLang="zh-CN" sz="1200"/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B579C5-18EB-45BA-8CF3-592CDDAED791}" type="slidenum">
              <a:rPr lang="en-US" altLang="zh-CN" sz="1200"/>
            </a:fld>
            <a:endParaRPr lang="en-US" altLang="zh-CN" sz="12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FE3904C-8703-4C9D-985B-AB063E86624A}" type="slidenum">
              <a:rPr lang="en-US" altLang="zh-CN" sz="1200"/>
            </a:fld>
            <a:endParaRPr lang="en-US" altLang="zh-CN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A01C3-2632-498C-9B1E-7651CD95020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  <a:defRPr/>
            </a:pP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zh-CN" altLang="en-US" i="1" dirty="0">
                <a:latin typeface="Times New Roman" panose="02020603050405020304" pitchFamily="18" charset="0"/>
              </a:rPr>
              <a:t>不可兼析取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Font typeface="Symbol" panose="05050102010706020507" pitchFamily="18" charset="2"/>
              <a:buChar char="Û"/>
              <a:defRPr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 </a:t>
            </a:r>
            <a:r>
              <a:rPr lang="zh-CN" altLang="en-US" sz="1400" dirty="0"/>
              <a:t>主析取范式</a:t>
            </a:r>
            <a:endParaRPr lang="en-US" altLang="zh-CN" sz="1400" b="1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Font typeface="Symbol" panose="05050102010706020507" pitchFamily="18" charset="2"/>
              <a:buChar char="Û"/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400" b="1" dirty="0" err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1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4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( </a:t>
            </a:r>
            <a:r>
              <a:rPr lang="en-US" altLang="zh-CN" sz="14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 </a:t>
            </a:r>
            <a:r>
              <a:rPr lang="en-US" altLang="zh-CN" sz="14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1400" dirty="0"/>
              <a:t>主合取范式</a:t>
            </a:r>
            <a:endParaRPr lang="en-US" altLang="zh-CN" sz="1400" b="1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Font typeface="Symbol" panose="05050102010706020507" pitchFamily="18" charset="2"/>
              <a:buChar char="Û"/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400" b="1" dirty="0" err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1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4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 (</a:t>
            </a:r>
            <a:r>
              <a:rPr lang="en-US" altLang="zh-CN" sz="1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400" b="1" dirty="0" err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14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1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343DA4-DFCC-45C6-A7CC-EE416D3B35BE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/>
              <a:t>为了回答这个问题，我们进入到“联结词的完备集”这一节的学习中，</a:t>
            </a:r>
            <a:endParaRPr lang="en-US" altLang="zh-CN" dirty="0"/>
          </a:p>
          <a:p>
            <a:r>
              <a:rPr lang="zh-CN" altLang="en-US" dirty="0"/>
              <a:t>若是任意一个</a:t>
            </a:r>
            <a:r>
              <a:rPr lang="zh-CN" altLang="en-US" dirty="0">
                <a:latin typeface="Times New Roman" panose="02020603050405020304" pitchFamily="18" charset="0"/>
              </a:rPr>
              <a:t>的命题公式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i="1" dirty="0"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</a:rPr>
              <a:t>含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个命题变项</a:t>
            </a:r>
            <a:r>
              <a:rPr lang="zh-CN" altLang="en-US" i="1" dirty="0">
                <a:latin typeface="Times New Roman" panose="02020603050405020304" pitchFamily="18" charset="0"/>
              </a:rPr>
              <a:t>）可以由一组联结词构造，则这样的一组联结词就够用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那么，如何确定“</a:t>
            </a:r>
            <a:r>
              <a:rPr lang="zh-CN" altLang="en-US" dirty="0"/>
              <a:t>任意一个</a:t>
            </a:r>
            <a:r>
              <a:rPr lang="zh-CN" altLang="en-US" dirty="0">
                <a:latin typeface="Times New Roman" panose="02020603050405020304" pitchFamily="18" charset="0"/>
              </a:rPr>
              <a:t>的命题公式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i="1" dirty="0">
                <a:latin typeface="Times New Roman" panose="02020603050405020304" pitchFamily="18" charset="0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</a:rPr>
              <a:t>含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个命题变项</a:t>
            </a:r>
            <a:r>
              <a:rPr lang="zh-CN" altLang="en-US" i="1" dirty="0">
                <a:latin typeface="Times New Roman" panose="02020603050405020304" pitchFamily="18" charset="0"/>
              </a:rPr>
              <a:t>）可以由一组联结词来构造”呢？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需要借助于“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i="1" dirty="0">
                <a:latin typeface="Times New Roman" panose="02020603050405020304" pitchFamily="18" charset="0"/>
              </a:rPr>
              <a:t>元真值函数”来实现：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任何一个含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个命题变项的命题公式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都对应唯一的一个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元真值函数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恰好为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的真值表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而前面通过主析取范式的真值表求法，我们已经知道：一个公式的真值表对应唯一的一个该公式的主析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</a:rPr>
              <a:t>合取范式。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zh-CN" altLang="en-US" dirty="0"/>
              <a:t>有多少不同的真值函数就有多少不同的命题公式（含</a:t>
            </a:r>
            <a:r>
              <a:rPr lang="en-US" altLang="zh-CN" dirty="0"/>
              <a:t>n</a:t>
            </a:r>
            <a:r>
              <a:rPr lang="zh-CN" altLang="en-US" dirty="0"/>
              <a:t>元命题变项）</a:t>
            </a:r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53ACA3-79C2-4150-AB0D-CFDF0F7F8D52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99A29C-06C0-4DC5-8E49-9543B3BC757F}" type="slidenum">
              <a:rPr lang="en-US" altLang="zh-CN" sz="1200"/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见书上</a:t>
            </a:r>
            <a:r>
              <a:rPr lang="en-US" altLang="zh-CN" dirty="0"/>
              <a:t>P13</a:t>
            </a:r>
            <a:r>
              <a:rPr lang="zh-CN" altLang="en-US" dirty="0"/>
              <a:t>的解释：</a:t>
            </a:r>
            <a:r>
              <a:rPr lang="en-US" altLang="zh-CN" dirty="0"/>
              <a:t>n</a:t>
            </a:r>
            <a:r>
              <a:rPr lang="zh-CN" altLang="en-US" dirty="0"/>
              <a:t>个命题变项共有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 个不同的赋值，而任何公式在每个赋值下只能取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两个值，所以，含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个命题变项的公式的真值表中共有（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次方）种不同情况。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450E7F-9A54-422C-BE39-DEB120B1E488}" type="slidenum">
              <a:rPr lang="en-US" altLang="zh-CN" sz="1200"/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3BCE9D2-28C4-4BB6-8270-D57E31FCA797}" type="slidenum">
              <a:rPr lang="en-US" altLang="zh-CN" sz="1200"/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分别对不取小项（</a:t>
            </a:r>
            <a:r>
              <a:rPr lang="en-US" altLang="zh-CN"/>
              <a:t>0</a:t>
            </a:r>
            <a:r>
              <a:rPr lang="zh-CN" altLang="en-US"/>
              <a:t>），取一个（黄），取两个（蓝），取三个（绿），取四个（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en-US" altLang="zh-CN"/>
          </a:p>
          <a:p>
            <a:pPr eaLnBrk="1" hangingPunct="1"/>
            <a:r>
              <a:rPr lang="zh-CN" altLang="en-US"/>
              <a:t>在黑板上写出四个小项：</a:t>
            </a:r>
            <a:endParaRPr lang="en-US" altLang="zh-CN"/>
          </a:p>
          <a:p>
            <a:pPr eaLnBrk="1" hangingPunct="1"/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分别解释不取（永假），只取一个，取</a:t>
            </a:r>
            <a:r>
              <a:rPr lang="zh-CN" altLang="en-US"/>
              <a:t>两个，三个，四个</a:t>
            </a:r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A973EE-8287-433C-80FD-B085922549EB}" type="slidenum">
              <a:rPr lang="en-US" altLang="zh-CN" sz="1200"/>
            </a:fld>
            <a:endParaRPr lang="en-US" altLang="zh-CN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CBE3562-A192-4641-9A84-F1322CDD7925}" type="slidenum">
              <a:rPr lang="en-US" altLang="zh-CN" sz="1200"/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191C05-C967-4421-9CDA-F91009FDBFDE}" type="slidenum">
              <a:rPr lang="en-US" altLang="zh-CN" sz="1200"/>
            </a:fld>
            <a:endParaRPr lang="en-US" altLang="zh-CN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EFD79F-E9C6-409E-84D1-C07D86C5E25B}" type="slidenum">
              <a:rPr lang="en-US" altLang="zh-CN" sz="1200"/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AA28EB-9C25-4B70-AFDF-2035909E25A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也就是说，至少有一个公式使用</a:t>
            </a:r>
            <a:r>
              <a:rPr lang="en-US" altLang="zh-CN" dirty="0"/>
              <a:t>s’</a:t>
            </a:r>
            <a:r>
              <a:rPr lang="zh-CN" altLang="en-US" dirty="0"/>
              <a:t>表示不出来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A01C3-2632-498C-9B1E-7651CD95020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60E7495-14E8-451D-BA65-AC7161FE7770}" type="slidenum">
              <a:rPr lang="en-US" altLang="zh-CN" sz="1200"/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931AC24-E76E-425F-8F54-96ADDCD4B3AA}" type="slidenum">
              <a:rPr lang="en-US" altLang="zh-CN" sz="1200"/>
            </a:fld>
            <a:endParaRPr lang="en-US" altLang="zh-CN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965DF7-EE9B-4B3F-82A1-9124F05AF4D9}" type="slidenum">
              <a:rPr lang="en-US" altLang="zh-CN" sz="1200"/>
            </a:fld>
            <a:endParaRPr lang="en-US" altLang="zh-CN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命题公式的可满足性问题是算法理论的核心问题之一</a:t>
            </a:r>
            <a:endParaRPr lang="en-US" altLang="zh-CN" dirty="0"/>
          </a:p>
          <a:p>
            <a:pPr eaLnBrk="1" hangingPunct="1"/>
            <a:r>
              <a:rPr lang="zh-CN" altLang="en-US" dirty="0"/>
              <a:t>可以用真值表、主范式来解决</a:t>
            </a:r>
            <a:endParaRPr lang="en-US" altLang="zh-CN" dirty="0"/>
          </a:p>
          <a:p>
            <a:pPr eaLnBrk="1" hangingPunct="1"/>
            <a:r>
              <a:rPr lang="zh-CN" altLang="en-US" dirty="0"/>
              <a:t>但是这些方法计算量都较大</a:t>
            </a:r>
            <a:endParaRPr lang="en-US" altLang="zh-CN" dirty="0"/>
          </a:p>
          <a:p>
            <a:pPr eaLnBrk="1" hangingPunct="1"/>
            <a:r>
              <a:rPr lang="zh-CN" altLang="en-US" dirty="0"/>
              <a:t>可以用消解法来解决，该方法计算量小</a:t>
            </a:r>
            <a:endParaRPr lang="en-US" altLang="zh-CN" dirty="0"/>
          </a:p>
          <a:p>
            <a:pPr eaLnBrk="1" hangingPunct="1"/>
            <a:r>
              <a:rPr lang="zh-CN" altLang="en-US" dirty="0"/>
              <a:t>核心思想是，简化原公式，能找到一个新旧公式的成真赋值即可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可以用真值表法，也可以用主范式方法</a:t>
            </a:r>
            <a:endParaRPr lang="zh-CN" alt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A01C3-2632-498C-9B1E-7651CD95020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首先通过一个实例来理解消解法的化简思想，然后再讲原理</a:t>
            </a:r>
            <a:endParaRPr lang="en-US" altLang="zh-CN" dirty="0"/>
          </a:p>
          <a:p>
            <a:pPr eaLnBrk="1" hangingPunct="1"/>
            <a:r>
              <a:rPr lang="en-US" altLang="zh-CN" dirty="0"/>
              <a:t> 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/>
              <a:t>          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dirty="0"/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）（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l=r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/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dirty="0"/>
              <a:t>‘        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dirty="0"/>
              <a:t>’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）（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则：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Res(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=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若判断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）的可满足性，首先进行等值演算，化简为：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120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再判断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但是，若是使用消解法，则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Res(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zh-CN" altLang="zh-CN" dirty="0"/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就可以简化为判断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的可满足性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A01C3-2632-498C-9B1E-7651CD95020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516E7E-9B11-417E-8B86-AFA2B790154C}" type="slidenum">
              <a:rPr lang="en-US" altLang="zh-CN" sz="1200"/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合取范式是简单析取式的合取</a:t>
            </a: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简单析取式是有限个文字的析取</a:t>
            </a: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文字是命题变项或其否</a:t>
            </a: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规定是不可满足的：因为对于任何赋值，空简单析取式中都没有文字为真。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简单析取式不同时含某个命题变项和它的否定</a:t>
            </a:r>
            <a:r>
              <a:rPr lang="zh-CN" altLang="en-US" dirty="0">
                <a:solidFill>
                  <a:srgbClr val="0066FF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（即为化简了的）：</a:t>
            </a:r>
            <a:endParaRPr lang="en-US" altLang="zh-CN" dirty="0">
              <a:solidFill>
                <a:srgbClr val="0066FF"/>
              </a:solidFill>
              <a:latin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若含有，则即为析取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，使得此简单析取式为</a:t>
            </a: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，进而可以从合取范式中消去此简单析取式。</a:t>
            </a:r>
            <a:endParaRPr lang="zh-CN" altLang="en-US" dirty="0">
              <a:solidFill>
                <a:srgbClr val="0066FF"/>
              </a:solidFill>
              <a:latin typeface="宋体" panose="02010600030101010101" pitchFamily="2" charset="-122"/>
            </a:endParaRPr>
          </a:p>
          <a:p>
            <a:pPr eaLnBrk="1" hangingPunct="1"/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128458-DB00-4D80-93E7-59F501212576}" type="slidenum">
              <a:rPr lang="en-US" altLang="zh-CN" sz="1200"/>
            </a:fld>
            <a:endParaRPr lang="en-US" altLang="zh-CN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是它的某一个满足赋值</a:t>
            </a:r>
            <a:endParaRPr lang="en-US" altLang="zh-CN" dirty="0"/>
          </a:p>
          <a:p>
            <a:pPr eaLnBrk="1" hangingPunct="1"/>
            <a:r>
              <a:rPr lang="zh-CN" altLang="en-US" dirty="0"/>
              <a:t>先用以下实例来体会此定理（构造真值表），再给出抽象的证明</a:t>
            </a:r>
            <a:r>
              <a:rPr lang="en-US" altLang="zh-CN" dirty="0"/>
              <a:t>(</a:t>
            </a:r>
            <a:r>
              <a:rPr lang="zh-CN" altLang="en-US" dirty="0"/>
              <a:t>第一步和教材上的不同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=p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dirty="0"/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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Res(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7DA20C-AAC0-4877-BA8D-56DBB4B2DE6C}" type="slidenum">
              <a:rPr lang="en-US" altLang="zh-CN" sz="1200"/>
            </a:fld>
            <a:endParaRPr lang="en-US" altLang="zh-CN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否证不唯一</a:t>
            </a:r>
            <a:endParaRPr lang="en-US" altLang="zh-CN"/>
          </a:p>
          <a:p>
            <a:pPr eaLnBrk="1" hangingPunct="1"/>
            <a:r>
              <a:rPr lang="zh-CN" altLang="en-US"/>
              <a:t>用消解规则可以证明公式的不可满足性</a:t>
            </a:r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 noChangeArrowheads="1"/>
          </p:cNvSpPr>
          <p:nvPr/>
        </p:nvSpPr>
        <p:spPr bwMode="auto">
          <a:xfrm>
            <a:off x="3829050" y="9444038"/>
            <a:ext cx="29305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D3CFA2-4B98-414C-8191-12D6D6B450A8}" type="slidenum">
              <a:rPr lang="en-US" altLang="zh-CN"/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讲完消解法后，让学生利用消解法来再来计算这个例题</a:t>
            </a:r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9D1BFE-6E6A-44A3-9B3A-D3D0E98E3F9B}" type="slidenum">
              <a:rPr lang="en-US" altLang="zh-CN" sz="1200"/>
            </a:fld>
            <a:endParaRPr lang="en-US" altLang="zh-CN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两两消解，包括中间结果，一个简单析取式可以被计算多次</a:t>
            </a:r>
            <a:endParaRPr lang="en-US" altLang="zh-CN" dirty="0"/>
          </a:p>
          <a:p>
            <a:pPr eaLnBrk="1" hangingPunct="1"/>
            <a:r>
              <a:rPr lang="zh-CN" altLang="en-US" dirty="0"/>
              <a:t>此算法中还有可优化的地方，比如：对于两个集合中的元素，若是存在互否，可以直接输出</a:t>
            </a:r>
            <a:r>
              <a:rPr lang="en-US" altLang="zh-CN" dirty="0"/>
              <a:t>no,</a:t>
            </a:r>
            <a:endParaRPr lang="en-US" altLang="zh-CN" dirty="0"/>
          </a:p>
          <a:p>
            <a:pPr eaLnBrk="1" hangingPunct="1"/>
            <a:r>
              <a:rPr lang="en-US" altLang="zh-CN" dirty="0"/>
              <a:t>S2</a:t>
            </a:r>
            <a:r>
              <a:rPr lang="zh-CN" altLang="en-US" dirty="0"/>
              <a:t>，存放中间结果</a:t>
            </a:r>
            <a:endParaRPr lang="en-US" altLang="zh-CN" dirty="0"/>
          </a:p>
          <a:p>
            <a:pPr eaLnBrk="1" hangingPunct="1"/>
            <a:r>
              <a:rPr lang="en-US" altLang="zh-CN" dirty="0"/>
              <a:t>S0,  </a:t>
            </a:r>
            <a:r>
              <a:rPr lang="zh-CN" altLang="en-US" dirty="0"/>
              <a:t>存放已经处理的</a:t>
            </a:r>
            <a:endParaRPr lang="en-US" altLang="zh-CN" dirty="0"/>
          </a:p>
          <a:p>
            <a:pPr eaLnBrk="1" hangingPunct="1"/>
            <a:r>
              <a:rPr lang="en-US" altLang="zh-CN" dirty="0"/>
              <a:t>S1</a:t>
            </a:r>
            <a:r>
              <a:rPr lang="zh-CN" altLang="en-US" dirty="0"/>
              <a:t>，存放当前正在处理的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91A9E2E-6143-436C-AF67-0AA77FBC7B29}" type="slidenum">
              <a:rPr lang="en-US" altLang="zh-CN"/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6349B0-F292-4C3F-8F11-4EE8C56A09DA}" type="slidenum">
              <a:rPr lang="en-US" altLang="zh-CN"/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ABEFBC-52C8-48E4-AB45-A722E61B7740}" type="slidenum">
              <a:rPr lang="en-US" altLang="zh-CN" sz="1200"/>
            </a:fld>
            <a:endParaRPr lang="en-US" altLang="zh-CN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4D6E9ED-32AF-41E2-8E15-9606B2CB414E}" type="slidenum">
              <a:rPr lang="en-US" altLang="zh-CN" sz="1200"/>
            </a:fld>
            <a:endParaRPr lang="en-US" altLang="zh-CN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讲完这一张后，让学生利用消解法来计算</a:t>
            </a:r>
            <a:r>
              <a:rPr lang="en-US" altLang="zh-CN" dirty="0"/>
              <a:t>slide24</a:t>
            </a:r>
            <a:r>
              <a:rPr lang="zh-CN" altLang="en-US" dirty="0"/>
              <a:t>的例题，体会不同（算法处理的比较机械，人比较灵活）。</a:t>
            </a:r>
            <a:endParaRPr lang="en-US" altLang="zh-CN" dirty="0"/>
          </a:p>
          <a:p>
            <a:pPr eaLnBrk="1" hangingPunct="1"/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dirty="0"/>
          </a:p>
          <a:p>
            <a:pPr eaLnBrk="1" hangingPunct="1"/>
            <a:r>
              <a:rPr lang="zh-CN" altLang="en-US" dirty="0"/>
              <a:t>并讲解作业</a:t>
            </a:r>
            <a:r>
              <a:rPr lang="en-US" altLang="zh-CN" dirty="0"/>
              <a:t>32</a:t>
            </a:r>
            <a:r>
              <a:rPr lang="zh-CN" altLang="en-US" dirty="0"/>
              <a:t>的</a:t>
            </a:r>
            <a:r>
              <a:rPr lang="en-US" altLang="zh-CN" dirty="0"/>
              <a:t>1</a:t>
            </a:r>
            <a:r>
              <a:rPr lang="zh-CN" altLang="en-US" dirty="0"/>
              <a:t>）中</a:t>
            </a:r>
            <a:r>
              <a:rPr lang="en-US" altLang="zh-CN" dirty="0"/>
              <a:t>2</a:t>
            </a:r>
            <a:r>
              <a:rPr lang="zh-CN" altLang="en-US" dirty="0"/>
              <a:t>和</a:t>
            </a:r>
            <a:r>
              <a:rPr lang="en-US" altLang="zh-CN" dirty="0"/>
              <a:t>4</a:t>
            </a:r>
            <a:r>
              <a:rPr lang="zh-CN" altLang="en-US" dirty="0"/>
              <a:t>消解的情况（用算法）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永真，直接可以从合取范式中消去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4877D86-EA3C-4A48-B81C-98DF41818DE2}" type="slidenum">
              <a:rPr lang="en-US" altLang="zh-CN" sz="1200"/>
            </a:fld>
            <a:endParaRPr lang="en-US" altLang="zh-CN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B6837F-6C39-48BB-AF51-E5344859D672}" type="slidenum">
              <a:rPr lang="en-US" altLang="zh-CN" sz="1200"/>
            </a:fld>
            <a:endParaRPr lang="en-US" altLang="zh-CN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</a:t>
            </a:r>
            <a:r>
              <a:rPr lang="en-US" altLang="zh-CN" dirty="0"/>
              <a:t>slide 22</a:t>
            </a:r>
            <a:r>
              <a:rPr lang="zh-CN" altLang="en-US" dirty="0"/>
              <a:t>跳转到此张，再返回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A01C3-2632-498C-9B1E-7651CD95020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D8FF68-EBAC-4687-BC5E-82283EBD30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55ACB-CB68-4A70-84B7-8B74B58D0B7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12E21-1E47-4699-9CB2-7B8B87EC76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752632-F669-4126-BA4C-A1B3CBF96A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989B85-7A17-44F2-B41A-1BC4989C3A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3ADC24-F8F1-4879-887E-36AC963892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6DD65A-6B57-4EA6-BAC4-EA60E71B9A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D5FEA-8503-40B6-B69A-AE4E2CF8D5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497816-FADA-4B93-A672-8614EDC738F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C440D-957C-4A66-832E-C06AF7F469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15BB44-7B90-470B-819D-897E59F7D84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38126-3688-42DE-AE6D-38067C2BF9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188913"/>
            <a:ext cx="8001000" cy="792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196975"/>
            <a:ext cx="3924300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196975"/>
            <a:ext cx="3924300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684588"/>
            <a:ext cx="3924300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FE0D12-5A3E-489D-A7C7-9E1E1B24A4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008471F3-53EF-4ECD-8B1E-F2094182670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3.emf"/><Relationship Id="rId7" Type="http://schemas.openxmlformats.org/officeDocument/2006/relationships/oleObject" Target="../embeddings/oleObject7.bin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wmf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13.x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e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png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8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e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981F08-1D27-4BE5-B405-EDF8342F6DBA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2.1 </a:t>
            </a:r>
            <a:r>
              <a:rPr lang="zh-CN" altLang="en-US"/>
              <a:t>等值式</a:t>
            </a:r>
            <a:endParaRPr lang="en-US" altLang="zh-CN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2.2 </a:t>
            </a:r>
            <a:r>
              <a:rPr lang="zh-CN" altLang="en-US"/>
              <a:t>析取范式与合取范式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2.3 </a:t>
            </a:r>
            <a:r>
              <a:rPr lang="zh-CN" altLang="en-US">
                <a:solidFill>
                  <a:srgbClr val="FF0000"/>
                </a:solidFill>
              </a:rPr>
              <a:t>联结词完备集</a:t>
            </a:r>
            <a:endParaRPr lang="zh-CN" altLang="en-US">
              <a:solidFill>
                <a:srgbClr val="FF0000"/>
              </a:solidFill>
            </a:endParaRP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2.4 </a:t>
            </a:r>
            <a:r>
              <a:rPr lang="zh-CN" altLang="en-US"/>
              <a:t>可满足性问题与消解法</a:t>
            </a:r>
            <a:endParaRPr lang="zh-CN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第二章 命题逻辑等值演算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2.3</a:t>
            </a:r>
            <a:r>
              <a:rPr lang="en-US" altLang="zh-CN"/>
              <a:t>  </a:t>
            </a:r>
            <a:r>
              <a:rPr lang="zh-CN" altLang="en-US"/>
              <a:t>联结词的完备集</a:t>
            </a:r>
            <a:endParaRPr lang="zh-CN" altLang="en-US"/>
          </a:p>
        </p:txBody>
      </p:sp>
      <p:sp>
        <p:nvSpPr>
          <p:cNvPr id="7171" name="内容占位符 1"/>
          <p:cNvSpPr>
            <a:spLocks noGrp="1" noChangeArrowheads="1"/>
          </p:cNvSpPr>
          <p:nvPr>
            <p:ph idx="1"/>
          </p:nvPr>
        </p:nvSpPr>
        <p:spPr>
          <a:xfrm>
            <a:off x="423863" y="1412875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其他联结词</a:t>
            </a:r>
            <a:endParaRPr lang="en-US" altLang="zh-CN" dirty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与非 </a:t>
            </a:r>
            <a:r>
              <a:rPr lang="en-US" altLang="zh-CN" dirty="0">
                <a:sym typeface="Symbol" panose="05050102010706020507" pitchFamily="18" charset="2"/>
              </a:rPr>
              <a:t></a:t>
            </a:r>
            <a:endParaRPr lang="en-US" altLang="zh-CN" dirty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或非 </a:t>
            </a:r>
            <a:r>
              <a:rPr lang="en-US" altLang="zh-CN" dirty="0">
                <a:sym typeface="Symbol" panose="05050102010706020507" pitchFamily="18" charset="2"/>
              </a:rPr>
              <a:t></a:t>
            </a:r>
            <a:endParaRPr lang="en-US" altLang="zh-CN" dirty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不可兼析取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l"/>
              <a:defRPr/>
            </a:pPr>
            <a:endParaRPr lang="en-US" altLang="zh-CN" dirty="0"/>
          </a:p>
          <a:p>
            <a:pP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联结词的完备集</a:t>
            </a:r>
            <a:endParaRPr lang="en-US" altLang="zh-CN" dirty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元</a:t>
            </a:r>
            <a:r>
              <a:rPr lang="zh-CN" altLang="en-US" dirty="0"/>
              <a:t>真值函数</a:t>
            </a:r>
            <a:endParaRPr lang="en-US" altLang="zh-CN" dirty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联结词的完备集</a:t>
            </a:r>
            <a:endParaRPr lang="en-US" altLang="zh-CN" dirty="0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最小联结词完备集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endParaRPr lang="zh-CN" altLang="en-US" dirty="0"/>
          </a:p>
        </p:txBody>
      </p:sp>
      <p:sp>
        <p:nvSpPr>
          <p:cNvPr id="717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3ECC300-3797-4F0C-84BE-B05E6035C047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71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aphicFrame>
        <p:nvGraphicFramePr>
          <p:cNvPr id="7174" name="Object 10"/>
          <p:cNvGraphicFramePr>
            <a:graphicFrameLocks noChangeAspect="1"/>
          </p:cNvGraphicFramePr>
          <p:nvPr/>
        </p:nvGraphicFramePr>
        <p:xfrm>
          <a:off x="2771775" y="2708275"/>
          <a:ext cx="3603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52400" imgH="152400" progId="Equation.3">
                  <p:embed/>
                </p:oleObj>
              </mc:Choice>
              <mc:Fallback>
                <p:oleObj name="公式" r:id="rId1" imgW="152400" imgH="152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708275"/>
                        <a:ext cx="3603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7393E2-39B0-4E4F-91E4-0B1A8A6CB87B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indent="-342900" algn="ctr">
              <a:buClr>
                <a:srgbClr val="FFC000"/>
              </a:buClr>
            </a:pPr>
            <a:r>
              <a:rPr lang="zh-CN" altLang="en-US"/>
              <a:t>与非 </a:t>
            </a:r>
            <a:r>
              <a:rPr lang="en-US" altLang="zh-CN">
                <a:sym typeface="Symbol" panose="05050102010706020507" pitchFamily="18" charset="2"/>
              </a:rPr>
              <a:t></a:t>
            </a:r>
            <a:r>
              <a:rPr lang="zh-CN" altLang="en-US"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&amp; </a:t>
            </a:r>
            <a:r>
              <a:rPr lang="zh-CN" altLang="en-US"/>
              <a:t>或非 </a:t>
            </a:r>
            <a:r>
              <a:rPr lang="en-US" altLang="zh-CN">
                <a:sym typeface="Symbol" panose="05050102010706020507" pitchFamily="18" charset="2"/>
              </a:rPr>
              <a:t></a:t>
            </a:r>
            <a:endParaRPr lang="en-US" altLang="zh-CN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80400" cy="1944687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zh-CN" altLang="en-US" dirty="0">
                <a:latin typeface="Times New Roman" panose="02020603050405020304" pitchFamily="18" charset="0"/>
              </a:rPr>
              <a:t>为两个命题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称作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与非式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即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zh-CN" altLang="en-US" dirty="0">
                <a:latin typeface="Times New Roman" panose="02020603050405020304" pitchFamily="18" charset="0"/>
              </a:rPr>
              <a:t>称为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与非联结词</a:t>
            </a:r>
            <a:endParaRPr lang="zh-CN" altLang="en-US" i="1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称作 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zh-CN" altLang="en-US" dirty="0">
                <a:latin typeface="Times New Roman" panose="02020603050405020304" pitchFamily="18" charset="0"/>
              </a:rPr>
              <a:t>与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或非式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即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zh-CN" altLang="en-US" dirty="0">
                <a:latin typeface="Times New Roman" panose="02020603050405020304" pitchFamily="18" charset="0"/>
              </a:rPr>
              <a:t>称为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或非联结词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1" name="Text Box 20"/>
          <p:cNvSpPr txBox="1">
            <a:spLocks noChangeArrowheads="1"/>
          </p:cNvSpPr>
          <p:nvPr/>
        </p:nvSpPr>
        <p:spPr bwMode="auto">
          <a:xfrm>
            <a:off x="808037" y="4408487"/>
            <a:ext cx="21986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600" dirty="0">
                <a:solidFill>
                  <a:srgbClr val="0000FF"/>
                </a:solidFill>
                <a:latin typeface="Times New Roman" panose="02020603050405020304" pitchFamily="18" charset="0"/>
              </a:rPr>
              <a:t>真值表</a:t>
            </a:r>
            <a:endParaRPr kumimoji="1" lang="zh-CN" altLang="en-US" sz="36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844007" y="3908155"/>
          <a:ext cx="4392612" cy="2278060"/>
        </p:xfrm>
        <a:graphic>
          <a:graphicData uri="http://schemas.openxmlformats.org/drawingml/2006/table">
            <a:tbl>
              <a:tblPr/>
              <a:tblGrid>
                <a:gridCol w="1116766"/>
                <a:gridCol w="971389"/>
                <a:gridCol w="1224244"/>
                <a:gridCol w="1080213"/>
              </a:tblGrid>
              <a:tr h="4556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</a:rPr>
                        <a:t>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i="1" dirty="0" err="1"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800" b="1" dirty="0" err="1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</a:t>
                      </a:r>
                      <a:r>
                        <a:rPr lang="en-US" altLang="zh-CN" sz="2800" b="1" i="1" dirty="0" err="1">
                          <a:latin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 i="1" dirty="0" err="1"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800" b="1" dirty="0" err="1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</a:t>
                      </a:r>
                      <a:r>
                        <a:rPr lang="en-US" altLang="zh-CN" sz="2800" b="1" i="1" dirty="0" err="1">
                          <a:latin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6" marR="9526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  <p:bldP spid="92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E22989-2AB9-4E1F-9B74-FFF6F0745890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00088" y="1216025"/>
            <a:ext cx="7966075" cy="1511300"/>
          </a:xfrm>
        </p:spPr>
        <p:txBody>
          <a:bodyPr/>
          <a:lstStyle/>
          <a:p>
            <a:pPr marL="0" indent="0" eaLnBrk="1" hangingPunct="1"/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：给定两个命题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复合命题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  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称作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不可兼析取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   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的真值为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当且仅当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真值不相同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否则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   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的真值为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268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63365" y="2636590"/>
          <a:ext cx="3603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52400" imgH="152400" progId="Equation.3">
                  <p:embed/>
                </p:oleObj>
              </mc:Choice>
              <mc:Fallback>
                <p:oleObj name="公式" r:id="rId1" imgW="152400" imgH="152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365" y="2636590"/>
                        <a:ext cx="3603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3352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Times New Roman" panose="02020603050405020304" pitchFamily="18" charset="0"/>
            </a:endParaRPr>
          </a:p>
        </p:txBody>
      </p:sp>
      <p:graphicFrame>
        <p:nvGraphicFramePr>
          <p:cNvPr id="11270" name="Object 4"/>
          <p:cNvGraphicFramePr>
            <a:graphicFrameLocks noChangeAspect="1"/>
          </p:cNvGraphicFramePr>
          <p:nvPr/>
        </p:nvGraphicFramePr>
        <p:xfrm>
          <a:off x="5940425" y="1274763"/>
          <a:ext cx="3603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152400" imgH="152400" progId="Equation.3">
                  <p:embed/>
                </p:oleObj>
              </mc:Choice>
              <mc:Fallback>
                <p:oleObj name="公式" r:id="rId3" imgW="152400" imgH="15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1274763"/>
                        <a:ext cx="3603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201738" y="2132534"/>
          <a:ext cx="3603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4" imgW="152400" imgH="152400" progId="Equation.3">
                  <p:embed/>
                </p:oleObj>
              </mc:Choice>
              <mc:Fallback>
                <p:oleObj name="公式" r:id="rId4" imgW="152400" imgH="152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2132534"/>
                        <a:ext cx="3603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06" name="Group 14"/>
          <p:cNvGraphicFramePr>
            <a:graphicFrameLocks noGrp="1"/>
          </p:cNvGraphicFramePr>
          <p:nvPr/>
        </p:nvGraphicFramePr>
        <p:xfrm>
          <a:off x="969963" y="3502025"/>
          <a:ext cx="2592387" cy="2743200"/>
        </p:xfrm>
        <a:graphic>
          <a:graphicData uri="http://schemas.openxmlformats.org/drawingml/2006/table">
            <a:tbl>
              <a:tblPr/>
              <a:tblGrid>
                <a:gridCol w="1296987"/>
                <a:gridCol w="1295400"/>
              </a:tblGrid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3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3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1026" name="Group 34"/>
          <p:cNvGraphicFramePr>
            <a:graphicFrameLocks noGrp="1"/>
          </p:cNvGraphicFramePr>
          <p:nvPr/>
        </p:nvGraphicFramePr>
        <p:xfrm>
          <a:off x="3562350" y="3502025"/>
          <a:ext cx="1441450" cy="2743200"/>
        </p:xfrm>
        <a:graphic>
          <a:graphicData uri="http://schemas.openxmlformats.org/drawingml/2006/table">
            <a:tbl>
              <a:tblPr/>
              <a:tblGrid>
                <a:gridCol w="1441450"/>
              </a:tblGrid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   q</a:t>
                      </a:r>
                      <a:endParaRPr kumimoji="0" lang="en-US" altLang="zh-CN" sz="3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06" name="Object 48"/>
          <p:cNvGraphicFramePr>
            <a:graphicFrameLocks noChangeAspect="1"/>
          </p:cNvGraphicFramePr>
          <p:nvPr/>
        </p:nvGraphicFramePr>
        <p:xfrm>
          <a:off x="4111625" y="3648075"/>
          <a:ext cx="3603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5" imgW="152400" imgH="152400" progId="Equation.3">
                  <p:embed/>
                </p:oleObj>
              </mc:Choice>
              <mc:Fallback>
                <p:oleObj name="公式" r:id="rId5" imgW="152400" imgH="1524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25" y="3648075"/>
                        <a:ext cx="3603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1046" name="Object 54"/>
          <p:cNvGraphicFramePr>
            <a:graphicFrameLocks noChangeAspect="1"/>
          </p:cNvGraphicFramePr>
          <p:nvPr/>
        </p:nvGraphicFramePr>
        <p:xfrm>
          <a:off x="5853113" y="3690938"/>
          <a:ext cx="3603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6" imgW="152400" imgH="152400" progId="Equation.3">
                  <p:embed/>
                </p:oleObj>
              </mc:Choice>
              <mc:Fallback>
                <p:oleObj name="公式" r:id="rId6" imgW="152400" imgH="1524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13" y="3690938"/>
                        <a:ext cx="3603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047" name="Text Box 55"/>
          <p:cNvSpPr txBox="1">
            <a:spLocks noChangeArrowheads="1"/>
          </p:cNvSpPr>
          <p:nvPr/>
        </p:nvSpPr>
        <p:spPr bwMode="auto">
          <a:xfrm>
            <a:off x="5553075" y="3502025"/>
            <a:ext cx="3168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000" i="1" dirty="0">
                <a:latin typeface="Times New Roman" panose="02020603050405020304" pitchFamily="18" charset="0"/>
              </a:rPr>
              <a:t>p </a:t>
            </a:r>
            <a:r>
              <a:rPr lang="en-US" altLang="zh-CN" sz="3000" dirty="0">
                <a:latin typeface="Times New Roman" panose="02020603050405020304" pitchFamily="18" charset="0"/>
              </a:rPr>
              <a:t>   </a:t>
            </a:r>
            <a:r>
              <a:rPr lang="en-US" altLang="zh-CN" sz="3000" i="1" dirty="0">
                <a:latin typeface="Times New Roman" panose="02020603050405020304" pitchFamily="18" charset="0"/>
              </a:rPr>
              <a:t>q</a:t>
            </a:r>
            <a:r>
              <a:rPr lang="en-US" altLang="zh-CN" sz="3000" dirty="0">
                <a:latin typeface="Times New Roman" panose="02020603050405020304" pitchFamily="18" charset="0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sz="30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3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30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30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3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309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marL="762000" indent="-762000" algn="ctr" eaLnBrk="1" hangingPunct="1"/>
            <a:r>
              <a:rPr lang="zh-CN" altLang="en-US"/>
              <a:t>不可兼析取</a:t>
            </a:r>
            <a:endParaRPr lang="zh-CN" altLang="en-US"/>
          </a:p>
        </p:txBody>
      </p:sp>
      <p:graphicFrame>
        <p:nvGraphicFramePr>
          <p:cNvPr id="11310" name="Object 22"/>
          <p:cNvGraphicFramePr>
            <a:graphicFrameLocks noChangeAspect="1"/>
          </p:cNvGraphicFramePr>
          <p:nvPr/>
        </p:nvGraphicFramePr>
        <p:xfrm>
          <a:off x="6084888" y="204788"/>
          <a:ext cx="47466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127635" imgH="139065" progId="">
                  <p:embed/>
                </p:oleObj>
              </mc:Choice>
              <mc:Fallback>
                <p:oleObj name="Equation" r:id="rId7" imgW="127635" imgH="139065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4788"/>
                        <a:ext cx="47466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1" name="Text Box 20"/>
          <p:cNvSpPr txBox="1">
            <a:spLocks noChangeArrowheads="1"/>
          </p:cNvSpPr>
          <p:nvPr/>
        </p:nvSpPr>
        <p:spPr bwMode="auto">
          <a:xfrm>
            <a:off x="231299" y="3951137"/>
            <a:ext cx="738664" cy="1714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600" dirty="0">
                <a:solidFill>
                  <a:srgbClr val="0000FF"/>
                </a:solidFill>
                <a:latin typeface="Times New Roman" panose="02020603050405020304" pitchFamily="18" charset="0"/>
              </a:rPr>
              <a:t>真值表</a:t>
            </a:r>
            <a:endParaRPr kumimoji="1" lang="zh-CN" altLang="en-US" sz="36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10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1006" name="Group 14"/>
          <p:cNvGraphicFramePr>
            <a:graphicFrameLocks noGrp="1"/>
          </p:cNvGraphicFramePr>
          <p:nvPr/>
        </p:nvGraphicFramePr>
        <p:xfrm>
          <a:off x="179388" y="1046163"/>
          <a:ext cx="2592387" cy="2743200"/>
        </p:xfrm>
        <a:graphic>
          <a:graphicData uri="http://schemas.openxmlformats.org/drawingml/2006/table">
            <a:tbl>
              <a:tblPr/>
              <a:tblGrid>
                <a:gridCol w="1296987"/>
                <a:gridCol w="1295400"/>
              </a:tblGrid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3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3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7557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1026" name="Group 34"/>
          <p:cNvGraphicFramePr>
            <a:graphicFrameLocks noGrp="1"/>
          </p:cNvGraphicFramePr>
          <p:nvPr/>
        </p:nvGraphicFramePr>
        <p:xfrm>
          <a:off x="2771775" y="1046163"/>
          <a:ext cx="1441450" cy="2743200"/>
        </p:xfrm>
        <a:graphic>
          <a:graphicData uri="http://schemas.openxmlformats.org/drawingml/2006/table">
            <a:tbl>
              <a:tblPr/>
              <a:tblGrid>
                <a:gridCol w="1441450"/>
              </a:tblGrid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   q</a:t>
                      </a:r>
                      <a:endParaRPr kumimoji="0" lang="en-US" altLang="zh-CN" sz="3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24" name="Object 48"/>
          <p:cNvGraphicFramePr>
            <a:graphicFrameLocks noChangeAspect="1"/>
          </p:cNvGraphicFramePr>
          <p:nvPr/>
        </p:nvGraphicFramePr>
        <p:xfrm>
          <a:off x="3313113" y="1241425"/>
          <a:ext cx="3603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52400" imgH="152400" progId="Equation.3">
                  <p:embed/>
                </p:oleObj>
              </mc:Choice>
              <mc:Fallback>
                <p:oleObj name="公式" r:id="rId1" imgW="152400" imgH="1524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1241425"/>
                        <a:ext cx="36036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5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marL="762000" indent="-762000" algn="ctr" eaLnBrk="1" hangingPunct="1"/>
            <a:r>
              <a:rPr lang="zh-CN" altLang="en-US"/>
              <a:t>不可兼析取</a:t>
            </a:r>
            <a:endParaRPr lang="zh-CN" altLang="en-US"/>
          </a:p>
        </p:txBody>
      </p:sp>
      <p:graphicFrame>
        <p:nvGraphicFramePr>
          <p:cNvPr id="12326" name="Object 22"/>
          <p:cNvGraphicFramePr>
            <a:graphicFrameLocks noChangeAspect="1"/>
          </p:cNvGraphicFramePr>
          <p:nvPr/>
        </p:nvGraphicFramePr>
        <p:xfrm>
          <a:off x="6084888" y="204788"/>
          <a:ext cx="47466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127635" imgH="139065" progId="">
                  <p:embed/>
                </p:oleObj>
              </mc:Choice>
              <mc:Fallback>
                <p:oleObj name="Equation" r:id="rId3" imgW="127635" imgH="139065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4788"/>
                        <a:ext cx="47466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oup 463"/>
          <p:cNvGrpSpPr/>
          <p:nvPr/>
        </p:nvGrpSpPr>
        <p:grpSpPr bwMode="auto">
          <a:xfrm>
            <a:off x="5016500" y="4656138"/>
            <a:ext cx="1404938" cy="2012950"/>
            <a:chOff x="3158" y="1693"/>
            <a:chExt cx="885" cy="1268"/>
          </a:xfrm>
        </p:grpSpPr>
        <p:sp>
          <p:nvSpPr>
            <p:cNvPr id="12384" name="Rectangle 75"/>
            <p:cNvSpPr>
              <a:spLocks noChangeArrowheads="1"/>
            </p:cNvSpPr>
            <p:nvPr/>
          </p:nvSpPr>
          <p:spPr bwMode="auto">
            <a:xfrm>
              <a:off x="3158" y="2644"/>
              <a:ext cx="885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85" name="Rectangle 73"/>
            <p:cNvSpPr>
              <a:spLocks noChangeArrowheads="1"/>
            </p:cNvSpPr>
            <p:nvPr/>
          </p:nvSpPr>
          <p:spPr bwMode="auto">
            <a:xfrm>
              <a:off x="3158" y="2326"/>
              <a:ext cx="885" cy="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86" name="Rectangle 71"/>
            <p:cNvSpPr>
              <a:spLocks noChangeArrowheads="1"/>
            </p:cNvSpPr>
            <p:nvPr/>
          </p:nvSpPr>
          <p:spPr bwMode="auto">
            <a:xfrm>
              <a:off x="3158" y="2010"/>
              <a:ext cx="885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87" name="Rectangle 69"/>
            <p:cNvSpPr>
              <a:spLocks noChangeArrowheads="1"/>
            </p:cNvSpPr>
            <p:nvPr/>
          </p:nvSpPr>
          <p:spPr bwMode="auto">
            <a:xfrm>
              <a:off x="3158" y="1693"/>
              <a:ext cx="885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</p:grpSp>
      <p:grpSp>
        <p:nvGrpSpPr>
          <p:cNvPr id="50" name="Group 464"/>
          <p:cNvGrpSpPr/>
          <p:nvPr/>
        </p:nvGrpSpPr>
        <p:grpSpPr bwMode="auto">
          <a:xfrm>
            <a:off x="6421438" y="4656138"/>
            <a:ext cx="2111375" cy="2012950"/>
            <a:chOff x="4043" y="1693"/>
            <a:chExt cx="1330" cy="1268"/>
          </a:xfrm>
        </p:grpSpPr>
        <p:sp>
          <p:nvSpPr>
            <p:cNvPr id="12380" name="Rectangle 4"/>
            <p:cNvSpPr>
              <a:spLocks noChangeArrowheads="1"/>
            </p:cNvSpPr>
            <p:nvPr/>
          </p:nvSpPr>
          <p:spPr bwMode="auto">
            <a:xfrm>
              <a:off x="4043" y="2644"/>
              <a:ext cx="1330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81" name="Rectangle 11"/>
            <p:cNvSpPr>
              <a:spLocks noChangeArrowheads="1"/>
            </p:cNvSpPr>
            <p:nvPr/>
          </p:nvSpPr>
          <p:spPr bwMode="auto">
            <a:xfrm>
              <a:off x="4043" y="2326"/>
              <a:ext cx="1330" cy="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82" name="Rectangle 18"/>
            <p:cNvSpPr>
              <a:spLocks noChangeArrowheads="1"/>
            </p:cNvSpPr>
            <p:nvPr/>
          </p:nvSpPr>
          <p:spPr bwMode="auto">
            <a:xfrm>
              <a:off x="4043" y="2010"/>
              <a:ext cx="1330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83" name="Rectangle 25"/>
            <p:cNvSpPr>
              <a:spLocks noChangeArrowheads="1"/>
            </p:cNvSpPr>
            <p:nvPr/>
          </p:nvSpPr>
          <p:spPr bwMode="auto">
            <a:xfrm>
              <a:off x="4043" y="1693"/>
              <a:ext cx="1330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</p:grpSp>
      <p:grpSp>
        <p:nvGrpSpPr>
          <p:cNvPr id="55" name="Group 462"/>
          <p:cNvGrpSpPr/>
          <p:nvPr/>
        </p:nvGrpSpPr>
        <p:grpSpPr bwMode="auto">
          <a:xfrm>
            <a:off x="3521075" y="4656138"/>
            <a:ext cx="1495425" cy="2012950"/>
            <a:chOff x="2216" y="1693"/>
            <a:chExt cx="942" cy="1268"/>
          </a:xfrm>
        </p:grpSpPr>
        <p:sp>
          <p:nvSpPr>
            <p:cNvPr id="12376" name="Rectangle 5"/>
            <p:cNvSpPr>
              <a:spLocks noChangeArrowheads="1"/>
            </p:cNvSpPr>
            <p:nvPr/>
          </p:nvSpPr>
          <p:spPr bwMode="auto">
            <a:xfrm>
              <a:off x="2216" y="2644"/>
              <a:ext cx="942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77" name="Rectangle 12"/>
            <p:cNvSpPr>
              <a:spLocks noChangeArrowheads="1"/>
            </p:cNvSpPr>
            <p:nvPr/>
          </p:nvSpPr>
          <p:spPr bwMode="auto">
            <a:xfrm>
              <a:off x="2216" y="2326"/>
              <a:ext cx="942" cy="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78" name="Rectangle 19"/>
            <p:cNvSpPr>
              <a:spLocks noChangeArrowheads="1"/>
            </p:cNvSpPr>
            <p:nvPr/>
          </p:nvSpPr>
          <p:spPr bwMode="auto">
            <a:xfrm>
              <a:off x="2216" y="2010"/>
              <a:ext cx="942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79" name="Rectangle 26"/>
            <p:cNvSpPr>
              <a:spLocks noChangeArrowheads="1"/>
            </p:cNvSpPr>
            <p:nvPr/>
          </p:nvSpPr>
          <p:spPr bwMode="auto">
            <a:xfrm>
              <a:off x="2216" y="1693"/>
              <a:ext cx="942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40000"/>
                </a:spcBef>
                <a:buClr>
                  <a:srgbClr val="8DACD0"/>
                </a:buClr>
                <a:buSzPct val="70000"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</p:grpSp>
      <p:grpSp>
        <p:nvGrpSpPr>
          <p:cNvPr id="60" name="Group 460"/>
          <p:cNvGrpSpPr/>
          <p:nvPr/>
        </p:nvGrpSpPr>
        <p:grpSpPr bwMode="auto">
          <a:xfrm>
            <a:off x="1574800" y="4656138"/>
            <a:ext cx="931863" cy="2012950"/>
            <a:chOff x="990" y="1693"/>
            <a:chExt cx="587" cy="1268"/>
          </a:xfrm>
        </p:grpSpPr>
        <p:sp>
          <p:nvSpPr>
            <p:cNvPr id="12372" name="Rectangle 7"/>
            <p:cNvSpPr>
              <a:spLocks noChangeArrowheads="1"/>
            </p:cNvSpPr>
            <p:nvPr/>
          </p:nvSpPr>
          <p:spPr bwMode="auto">
            <a:xfrm>
              <a:off x="990" y="2644"/>
              <a:ext cx="587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73" name="Rectangle 14"/>
            <p:cNvSpPr>
              <a:spLocks noChangeArrowheads="1"/>
            </p:cNvSpPr>
            <p:nvPr/>
          </p:nvSpPr>
          <p:spPr bwMode="auto">
            <a:xfrm>
              <a:off x="990" y="2326"/>
              <a:ext cx="587" cy="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74" name="Rectangle 21"/>
            <p:cNvSpPr>
              <a:spLocks noChangeArrowheads="1"/>
            </p:cNvSpPr>
            <p:nvPr/>
          </p:nvSpPr>
          <p:spPr bwMode="auto">
            <a:xfrm>
              <a:off x="990" y="2010"/>
              <a:ext cx="587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75" name="Rectangle 28"/>
            <p:cNvSpPr>
              <a:spLocks noChangeArrowheads="1"/>
            </p:cNvSpPr>
            <p:nvPr/>
          </p:nvSpPr>
          <p:spPr bwMode="auto">
            <a:xfrm>
              <a:off x="990" y="1693"/>
              <a:ext cx="587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</p:grpSp>
      <p:grpSp>
        <p:nvGrpSpPr>
          <p:cNvPr id="65" name="Group 461"/>
          <p:cNvGrpSpPr/>
          <p:nvPr/>
        </p:nvGrpSpPr>
        <p:grpSpPr bwMode="auto">
          <a:xfrm>
            <a:off x="2506663" y="4656138"/>
            <a:ext cx="1014412" cy="2012950"/>
            <a:chOff x="1577" y="1693"/>
            <a:chExt cx="639" cy="1268"/>
          </a:xfrm>
        </p:grpSpPr>
        <p:sp>
          <p:nvSpPr>
            <p:cNvPr id="12368" name="Rectangle 6"/>
            <p:cNvSpPr>
              <a:spLocks noChangeArrowheads="1"/>
            </p:cNvSpPr>
            <p:nvPr/>
          </p:nvSpPr>
          <p:spPr bwMode="auto">
            <a:xfrm>
              <a:off x="1577" y="2644"/>
              <a:ext cx="639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69" name="Rectangle 13"/>
            <p:cNvSpPr>
              <a:spLocks noChangeArrowheads="1"/>
            </p:cNvSpPr>
            <p:nvPr/>
          </p:nvSpPr>
          <p:spPr bwMode="auto">
            <a:xfrm>
              <a:off x="1577" y="2326"/>
              <a:ext cx="639" cy="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70" name="Rectangle 20"/>
            <p:cNvSpPr>
              <a:spLocks noChangeArrowheads="1"/>
            </p:cNvSpPr>
            <p:nvPr/>
          </p:nvSpPr>
          <p:spPr bwMode="auto">
            <a:xfrm>
              <a:off x="1577" y="2010"/>
              <a:ext cx="639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71" name="Rectangle 27"/>
            <p:cNvSpPr>
              <a:spLocks noChangeArrowheads="1"/>
            </p:cNvSpPr>
            <p:nvPr/>
          </p:nvSpPr>
          <p:spPr bwMode="auto">
            <a:xfrm>
              <a:off x="1577" y="1693"/>
              <a:ext cx="639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</p:grpSp>
      <p:grpSp>
        <p:nvGrpSpPr>
          <p:cNvPr id="70" name="Group 458"/>
          <p:cNvGrpSpPr/>
          <p:nvPr/>
        </p:nvGrpSpPr>
        <p:grpSpPr bwMode="auto">
          <a:xfrm>
            <a:off x="693738" y="3797300"/>
            <a:ext cx="7839075" cy="2871788"/>
            <a:chOff x="435" y="1152"/>
            <a:chExt cx="4938" cy="1809"/>
          </a:xfrm>
        </p:grpSpPr>
        <p:sp>
          <p:nvSpPr>
            <p:cNvPr id="12347" name="Rectangle 67"/>
            <p:cNvSpPr>
              <a:spLocks noChangeArrowheads="1"/>
            </p:cNvSpPr>
            <p:nvPr/>
          </p:nvSpPr>
          <p:spPr bwMode="auto">
            <a:xfrm>
              <a:off x="3158" y="1152"/>
              <a:ext cx="914" cy="5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</a:pP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  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800"/>
            </a:p>
          </p:txBody>
        </p:sp>
        <p:sp>
          <p:nvSpPr>
            <p:cNvPr id="12348" name="Rectangle 32"/>
            <p:cNvSpPr>
              <a:spLocks noChangeArrowheads="1"/>
            </p:cNvSpPr>
            <p:nvPr/>
          </p:nvSpPr>
          <p:spPr bwMode="auto">
            <a:xfrm>
              <a:off x="4043" y="1152"/>
              <a:ext cx="1330" cy="5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 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 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</a:t>
              </a:r>
              <a:endPara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  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49" name="Rectangle 33"/>
            <p:cNvSpPr>
              <a:spLocks noChangeArrowheads="1"/>
            </p:cNvSpPr>
            <p:nvPr/>
          </p:nvSpPr>
          <p:spPr bwMode="auto">
            <a:xfrm>
              <a:off x="2216" y="1152"/>
              <a:ext cx="942" cy="5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 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 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800"/>
            </a:p>
          </p:txBody>
        </p:sp>
        <p:sp>
          <p:nvSpPr>
            <p:cNvPr id="12350" name="Rectangle 34"/>
            <p:cNvSpPr>
              <a:spLocks noChangeArrowheads="1"/>
            </p:cNvSpPr>
            <p:nvPr/>
          </p:nvSpPr>
          <p:spPr bwMode="auto">
            <a:xfrm>
              <a:off x="1577" y="1152"/>
              <a:ext cx="639" cy="5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sym typeface="Symbol" panose="05050102010706020507" pitchFamily="18" charset="2"/>
                </a:rPr>
                <a:t>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q</a:t>
              </a:r>
              <a:endParaRPr lang="en-US" altLang="zh-CN" sz="2800">
                <a:sym typeface="Symbol" panose="05050102010706020507" pitchFamily="18" charset="2"/>
              </a:endParaRPr>
            </a:p>
          </p:txBody>
        </p:sp>
        <p:sp>
          <p:nvSpPr>
            <p:cNvPr id="12351" name="Rectangle 35"/>
            <p:cNvSpPr>
              <a:spLocks noChangeArrowheads="1"/>
            </p:cNvSpPr>
            <p:nvPr/>
          </p:nvSpPr>
          <p:spPr bwMode="auto">
            <a:xfrm>
              <a:off x="990" y="1152"/>
              <a:ext cx="587" cy="5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  <a:sym typeface="Symbol" panose="05050102010706020507" pitchFamily="18" charset="2"/>
                </a:rPr>
                <a:t></a:t>
              </a: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p</a:t>
              </a:r>
              <a:endParaRPr lang="en-US" altLang="zh-CN" sz="2800">
                <a:sym typeface="Symbol" panose="05050102010706020507" pitchFamily="18" charset="2"/>
              </a:endParaRPr>
            </a:p>
          </p:txBody>
        </p:sp>
        <p:sp>
          <p:nvSpPr>
            <p:cNvPr id="12352" name="Rectangle 37"/>
            <p:cNvSpPr>
              <a:spLocks noChangeArrowheads="1"/>
            </p:cNvSpPr>
            <p:nvPr/>
          </p:nvSpPr>
          <p:spPr bwMode="auto">
            <a:xfrm>
              <a:off x="676" y="1152"/>
              <a:ext cx="314" cy="5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800"/>
            </a:p>
          </p:txBody>
        </p:sp>
        <p:sp>
          <p:nvSpPr>
            <p:cNvPr id="12353" name="Rectangle 38"/>
            <p:cNvSpPr>
              <a:spLocks noChangeArrowheads="1"/>
            </p:cNvSpPr>
            <p:nvPr/>
          </p:nvSpPr>
          <p:spPr bwMode="auto">
            <a:xfrm>
              <a:off x="435" y="1152"/>
              <a:ext cx="241" cy="54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2800"/>
            </a:p>
          </p:txBody>
        </p:sp>
        <p:sp>
          <p:nvSpPr>
            <p:cNvPr id="12354" name="Line 39"/>
            <p:cNvSpPr>
              <a:spLocks noChangeShapeType="1"/>
            </p:cNvSpPr>
            <p:nvPr/>
          </p:nvSpPr>
          <p:spPr bwMode="auto">
            <a:xfrm>
              <a:off x="435" y="1152"/>
              <a:ext cx="4938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55" name="Line 40"/>
            <p:cNvSpPr>
              <a:spLocks noChangeShapeType="1"/>
            </p:cNvSpPr>
            <p:nvPr/>
          </p:nvSpPr>
          <p:spPr bwMode="auto">
            <a:xfrm>
              <a:off x="435" y="2961"/>
              <a:ext cx="4938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56" name="Line 41"/>
            <p:cNvSpPr>
              <a:spLocks noChangeShapeType="1"/>
            </p:cNvSpPr>
            <p:nvPr/>
          </p:nvSpPr>
          <p:spPr bwMode="auto">
            <a:xfrm>
              <a:off x="435" y="1152"/>
              <a:ext cx="0" cy="1809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57" name="Line 42"/>
            <p:cNvSpPr>
              <a:spLocks noChangeShapeType="1"/>
            </p:cNvSpPr>
            <p:nvPr/>
          </p:nvSpPr>
          <p:spPr bwMode="auto">
            <a:xfrm>
              <a:off x="5373" y="1152"/>
              <a:ext cx="0" cy="1809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58" name="Line 43"/>
            <p:cNvSpPr>
              <a:spLocks noChangeShapeType="1"/>
            </p:cNvSpPr>
            <p:nvPr/>
          </p:nvSpPr>
          <p:spPr bwMode="auto">
            <a:xfrm>
              <a:off x="435" y="1693"/>
              <a:ext cx="493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59" name="Line 44"/>
            <p:cNvSpPr>
              <a:spLocks noChangeShapeType="1"/>
            </p:cNvSpPr>
            <p:nvPr/>
          </p:nvSpPr>
          <p:spPr bwMode="auto">
            <a:xfrm>
              <a:off x="676" y="1152"/>
              <a:ext cx="0" cy="1809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0" name="Line 45"/>
            <p:cNvSpPr>
              <a:spLocks noChangeShapeType="1"/>
            </p:cNvSpPr>
            <p:nvPr/>
          </p:nvSpPr>
          <p:spPr bwMode="auto">
            <a:xfrm>
              <a:off x="990" y="1152"/>
              <a:ext cx="0" cy="1809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1" name="Line 47"/>
            <p:cNvSpPr>
              <a:spLocks noChangeShapeType="1"/>
            </p:cNvSpPr>
            <p:nvPr/>
          </p:nvSpPr>
          <p:spPr bwMode="auto">
            <a:xfrm>
              <a:off x="1577" y="1152"/>
              <a:ext cx="0" cy="1809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2" name="Line 48"/>
            <p:cNvSpPr>
              <a:spLocks noChangeShapeType="1"/>
            </p:cNvSpPr>
            <p:nvPr/>
          </p:nvSpPr>
          <p:spPr bwMode="auto">
            <a:xfrm>
              <a:off x="2216" y="1152"/>
              <a:ext cx="0" cy="1809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3" name="Line 49"/>
            <p:cNvSpPr>
              <a:spLocks noChangeShapeType="1"/>
            </p:cNvSpPr>
            <p:nvPr/>
          </p:nvSpPr>
          <p:spPr bwMode="auto">
            <a:xfrm>
              <a:off x="3158" y="1152"/>
              <a:ext cx="0" cy="1809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4" name="Line 50"/>
            <p:cNvSpPr>
              <a:spLocks noChangeShapeType="1"/>
            </p:cNvSpPr>
            <p:nvPr/>
          </p:nvSpPr>
          <p:spPr bwMode="auto">
            <a:xfrm>
              <a:off x="435" y="2010"/>
              <a:ext cx="493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5" name="Line 51"/>
            <p:cNvSpPr>
              <a:spLocks noChangeShapeType="1"/>
            </p:cNvSpPr>
            <p:nvPr/>
          </p:nvSpPr>
          <p:spPr bwMode="auto">
            <a:xfrm>
              <a:off x="435" y="2326"/>
              <a:ext cx="493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6" name="Line 52"/>
            <p:cNvSpPr>
              <a:spLocks noChangeShapeType="1"/>
            </p:cNvSpPr>
            <p:nvPr/>
          </p:nvSpPr>
          <p:spPr bwMode="auto">
            <a:xfrm>
              <a:off x="435" y="2644"/>
              <a:ext cx="493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7" name="Line 68"/>
            <p:cNvSpPr>
              <a:spLocks noChangeShapeType="1"/>
            </p:cNvSpPr>
            <p:nvPr/>
          </p:nvSpPr>
          <p:spPr bwMode="auto">
            <a:xfrm>
              <a:off x="4043" y="1152"/>
              <a:ext cx="0" cy="18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459"/>
          <p:cNvGrpSpPr/>
          <p:nvPr/>
        </p:nvGrpSpPr>
        <p:grpSpPr bwMode="auto">
          <a:xfrm>
            <a:off x="693738" y="4656138"/>
            <a:ext cx="881062" cy="2003425"/>
            <a:chOff x="435" y="1693"/>
            <a:chExt cx="555" cy="1268"/>
          </a:xfrm>
        </p:grpSpPr>
        <p:sp>
          <p:nvSpPr>
            <p:cNvPr id="12339" name="Rectangle 9"/>
            <p:cNvSpPr>
              <a:spLocks noChangeArrowheads="1"/>
            </p:cNvSpPr>
            <p:nvPr/>
          </p:nvSpPr>
          <p:spPr bwMode="auto">
            <a:xfrm>
              <a:off x="676" y="2644"/>
              <a:ext cx="314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40" name="Rectangle 10"/>
            <p:cNvSpPr>
              <a:spLocks noChangeArrowheads="1"/>
            </p:cNvSpPr>
            <p:nvPr/>
          </p:nvSpPr>
          <p:spPr bwMode="auto">
            <a:xfrm>
              <a:off x="435" y="2644"/>
              <a:ext cx="241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41" name="Rectangle 16"/>
            <p:cNvSpPr>
              <a:spLocks noChangeArrowheads="1"/>
            </p:cNvSpPr>
            <p:nvPr/>
          </p:nvSpPr>
          <p:spPr bwMode="auto">
            <a:xfrm>
              <a:off x="676" y="2326"/>
              <a:ext cx="314" cy="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42" name="Rectangle 17"/>
            <p:cNvSpPr>
              <a:spLocks noChangeArrowheads="1"/>
            </p:cNvSpPr>
            <p:nvPr/>
          </p:nvSpPr>
          <p:spPr bwMode="auto">
            <a:xfrm>
              <a:off x="435" y="2326"/>
              <a:ext cx="241" cy="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43" name="Rectangle 23"/>
            <p:cNvSpPr>
              <a:spLocks noChangeArrowheads="1"/>
            </p:cNvSpPr>
            <p:nvPr/>
          </p:nvSpPr>
          <p:spPr bwMode="auto">
            <a:xfrm>
              <a:off x="676" y="2010"/>
              <a:ext cx="314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1</a:t>
              </a:r>
              <a:endParaRPr lang="en-US" altLang="zh-CN" sz="2800"/>
            </a:p>
          </p:txBody>
        </p:sp>
        <p:sp>
          <p:nvSpPr>
            <p:cNvPr id="12344" name="Rectangle 24"/>
            <p:cNvSpPr>
              <a:spLocks noChangeArrowheads="1"/>
            </p:cNvSpPr>
            <p:nvPr/>
          </p:nvSpPr>
          <p:spPr bwMode="auto">
            <a:xfrm>
              <a:off x="435" y="2010"/>
              <a:ext cx="241" cy="3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45" name="Rectangle 30"/>
            <p:cNvSpPr>
              <a:spLocks noChangeArrowheads="1"/>
            </p:cNvSpPr>
            <p:nvPr/>
          </p:nvSpPr>
          <p:spPr bwMode="auto">
            <a:xfrm>
              <a:off x="676" y="1693"/>
              <a:ext cx="314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  <p:sp>
          <p:nvSpPr>
            <p:cNvPr id="12346" name="Rectangle 31"/>
            <p:cNvSpPr>
              <a:spLocks noChangeArrowheads="1"/>
            </p:cNvSpPr>
            <p:nvPr/>
          </p:nvSpPr>
          <p:spPr bwMode="auto">
            <a:xfrm>
              <a:off x="435" y="1693"/>
              <a:ext cx="241" cy="3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0</a:t>
              </a:r>
              <a:endParaRPr lang="en-US" altLang="zh-CN" sz="2800"/>
            </a:p>
          </p:txBody>
        </p:sp>
      </p:grpSp>
      <p:graphicFrame>
        <p:nvGraphicFramePr>
          <p:cNvPr id="113" name="Object 54"/>
          <p:cNvGraphicFramePr>
            <a:graphicFrameLocks noChangeAspect="1"/>
          </p:cNvGraphicFramePr>
          <p:nvPr/>
        </p:nvGraphicFramePr>
        <p:xfrm>
          <a:off x="5003800" y="1157288"/>
          <a:ext cx="3603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5" imgW="152400" imgH="152400" progId="Equation.3">
                  <p:embed/>
                </p:oleObj>
              </mc:Choice>
              <mc:Fallback>
                <p:oleObj name="公式" r:id="rId5" imgW="152400" imgH="1524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157288"/>
                        <a:ext cx="3603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Text Box 55"/>
          <p:cNvSpPr txBox="1">
            <a:spLocks noChangeArrowheads="1"/>
          </p:cNvSpPr>
          <p:nvPr/>
        </p:nvSpPr>
        <p:spPr bwMode="auto">
          <a:xfrm>
            <a:off x="4703763" y="981075"/>
            <a:ext cx="4098925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zh-CN" sz="3000" i="1" dirty="0">
                <a:latin typeface="Times New Roman" panose="02020603050405020304" pitchFamily="18" charset="0"/>
              </a:rPr>
              <a:t>p </a:t>
            </a:r>
            <a:r>
              <a:rPr lang="en-US" altLang="zh-CN" sz="3000" dirty="0">
                <a:latin typeface="Times New Roman" panose="02020603050405020304" pitchFamily="18" charset="0"/>
              </a:rPr>
              <a:t>   </a:t>
            </a:r>
            <a:r>
              <a:rPr lang="en-US" altLang="zh-CN" sz="3000" i="1" dirty="0">
                <a:latin typeface="Times New Roman" panose="02020603050405020304" pitchFamily="18" charset="0"/>
              </a:rPr>
              <a:t>q</a:t>
            </a:r>
            <a:endParaRPr lang="en-US" altLang="zh-CN" sz="3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>
              <a:spcBef>
                <a:spcPct val="50000"/>
              </a:spcBef>
              <a:buClrTx/>
              <a:buFont typeface="Symbol" panose="05050102010706020507" pitchFamily="18" charset="2"/>
              <a:buChar char="Û"/>
              <a:defRPr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 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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zh-CN" sz="30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3738" y="3797300"/>
            <a:ext cx="881062" cy="28813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6421438" y="3778250"/>
            <a:ext cx="2111375" cy="28813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67250" y="2305050"/>
            <a:ext cx="3922713" cy="1601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Font typeface="Symbol" panose="05050102010706020507" pitchFamily="18" charset="2"/>
              <a:buChar char="Û"/>
              <a:defRPr/>
            </a:pP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 err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( </a:t>
            </a:r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 </a:t>
            </a:r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Font typeface="Symbol" panose="05050102010706020507" pitchFamily="18" charset="2"/>
              <a:buChar char="Û"/>
              <a:defRPr/>
            </a:pP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 err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 (</a:t>
            </a:r>
            <a:r>
              <a:rPr lang="en-US" altLang="zh-CN" sz="28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b="1" dirty="0" err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00B05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defRPr/>
            </a:pPr>
            <a:endParaRPr lang="zh-CN" altLang="en-US" sz="2800" b="1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6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75238" y="2392363"/>
            <a:ext cx="3230562" cy="1344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2"/>
                </a:solidFill>
              </a:rPr>
              <a:t>    除了这八个逻辑联结词之外，是否需要定义其它联结词呢？</a:t>
            </a:r>
            <a:endParaRPr lang="zh-CN" altLang="en-US" dirty="0"/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65925" y="6237288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CB8C793E-580A-4A58-AB87-6E65CC81E9F0}" type="slidenum">
              <a:rPr lang="zh-CN" altLang="en-US" sz="1400" b="0"/>
            </a:fld>
            <a:endParaRPr lang="en-US" altLang="zh-CN" sz="1400" b="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2843213" y="-25400"/>
            <a:ext cx="3452812" cy="1069975"/>
          </a:xfrm>
        </p:spPr>
        <p:txBody>
          <a:bodyPr/>
          <a:lstStyle/>
          <a:p>
            <a:pPr eaLnBrk="1" hangingPunct="1"/>
            <a:r>
              <a:rPr lang="zh-CN" altLang="en-US"/>
              <a:t>小结</a:t>
            </a:r>
            <a:r>
              <a:rPr lang="en-US" altLang="zh-CN"/>
              <a:t>_</a:t>
            </a:r>
            <a:r>
              <a:rPr lang="zh-CN" altLang="en-US">
                <a:latin typeface="楷体_GB2312" charset="-122"/>
                <a:ea typeface="楷体_GB2312" charset="-122"/>
              </a:rPr>
              <a:t>八个联结词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772400" cy="769938"/>
          </a:xfrm>
        </p:spPr>
        <p:txBody>
          <a:bodyPr/>
          <a:lstStyle/>
          <a:p>
            <a:pPr marL="762000" indent="-762000" eaLnBrk="1" hangingPunct="1"/>
            <a:r>
              <a:rPr lang="zh-CN" altLang="en-US" sz="3200">
                <a:latin typeface="楷体_GB2312" charset="-122"/>
                <a:ea typeface="楷体_GB2312" charset="-122"/>
              </a:rPr>
              <a:t>    </a:t>
            </a:r>
            <a:endParaRPr lang="zh-CN" altLang="en-US" sz="3200"/>
          </a:p>
        </p:txBody>
      </p:sp>
      <p:sp>
        <p:nvSpPr>
          <p:cNvPr id="14342" name="Rectangle 13"/>
          <p:cNvSpPr>
            <a:spLocks noChangeArrowheads="1"/>
          </p:cNvSpPr>
          <p:nvPr/>
        </p:nvSpPr>
        <p:spPr bwMode="auto">
          <a:xfrm>
            <a:off x="758825" y="1412875"/>
            <a:ext cx="4168775" cy="469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28600" indent="-228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1. </a:t>
            </a:r>
            <a:r>
              <a:rPr lang="zh-CN" altLang="en-US" sz="2800"/>
              <a:t>否定              </a:t>
            </a:r>
            <a:r>
              <a:rPr lang="zh-CN" altLang="en-US" sz="2800">
                <a:sym typeface="Symbol" panose="05050102010706020507" pitchFamily="18" charset="2"/>
              </a:rPr>
              <a:t>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2. </a:t>
            </a:r>
            <a:r>
              <a:rPr lang="zh-CN" altLang="en-US" sz="2800"/>
              <a:t>合取              </a:t>
            </a:r>
            <a:r>
              <a:rPr lang="zh-CN" altLang="en-US" sz="2800">
                <a:sym typeface="Symbol" panose="05050102010706020507" pitchFamily="18" charset="2"/>
              </a:rPr>
              <a:t>   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3. </a:t>
            </a:r>
            <a:r>
              <a:rPr lang="zh-CN" altLang="en-US" sz="2800"/>
              <a:t>析取              </a:t>
            </a:r>
            <a:r>
              <a:rPr lang="zh-CN" altLang="en-US" sz="2800">
                <a:sym typeface="Symbol" panose="05050102010706020507" pitchFamily="18" charset="2"/>
              </a:rPr>
              <a:t>   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4. </a:t>
            </a:r>
            <a:r>
              <a:rPr lang="zh-CN" altLang="en-US" sz="2800"/>
              <a:t>蕴涵              →</a:t>
            </a:r>
            <a:endParaRPr lang="zh-CN" altLang="en-US" sz="2800" b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5. </a:t>
            </a:r>
            <a:r>
              <a:rPr lang="zh-CN" altLang="en-US" sz="2800"/>
              <a:t>等价              </a:t>
            </a:r>
            <a:r>
              <a:rPr lang="zh-CN" altLang="en-US" sz="2800">
                <a:sym typeface="Symbol" panose="05050102010706020507" pitchFamily="18" charset="2"/>
              </a:rPr>
              <a:t>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>
                <a:sym typeface="Symbol" panose="05050102010706020507" pitchFamily="18" charset="2"/>
              </a:rPr>
              <a:t>6. </a:t>
            </a:r>
            <a:r>
              <a:rPr lang="zh-CN" altLang="en-US" sz="2800">
                <a:sym typeface="Symbol" panose="05050102010706020507" pitchFamily="18" charset="2"/>
              </a:rPr>
              <a:t>不</a:t>
            </a:r>
            <a:r>
              <a:rPr lang="zh-CN" altLang="en-US" sz="2800"/>
              <a:t>可兼析取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7. </a:t>
            </a:r>
            <a:r>
              <a:rPr lang="zh-CN" altLang="en-US" sz="2800"/>
              <a:t>与非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8. </a:t>
            </a:r>
            <a:r>
              <a:rPr lang="zh-CN" altLang="en-US" sz="2800"/>
              <a:t>或非</a:t>
            </a:r>
            <a:endParaRPr lang="zh-CN" altLang="en-US" sz="2800"/>
          </a:p>
        </p:txBody>
      </p:sp>
      <p:graphicFrame>
        <p:nvGraphicFramePr>
          <p:cNvPr id="14343" name="Object 14"/>
          <p:cNvGraphicFramePr>
            <a:graphicFrameLocks noChangeAspect="1"/>
          </p:cNvGraphicFramePr>
          <p:nvPr/>
        </p:nvGraphicFramePr>
        <p:xfrm>
          <a:off x="3497263" y="4197350"/>
          <a:ext cx="3587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2037080" imgH="2222500" progId="">
                  <p:embed/>
                </p:oleObj>
              </mc:Choice>
              <mc:Fallback>
                <p:oleObj name="Equation" r:id="rId2" imgW="2037080" imgH="22225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4197350"/>
                        <a:ext cx="35877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18"/>
          <p:cNvSpPr txBox="1">
            <a:spLocks noChangeArrowheads="1"/>
          </p:cNvSpPr>
          <p:nvPr/>
        </p:nvSpPr>
        <p:spPr bwMode="auto">
          <a:xfrm>
            <a:off x="3496816" y="52863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</a:t>
            </a:r>
            <a:endParaRPr kumimoji="1" lang="zh-CN" altLang="en-US" sz="2800" b="0">
              <a:solidFill>
                <a:schemeClr val="tx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345" name="Text Box 19"/>
          <p:cNvSpPr txBox="1">
            <a:spLocks noChangeArrowheads="1"/>
          </p:cNvSpPr>
          <p:nvPr/>
        </p:nvSpPr>
        <p:spPr bwMode="auto">
          <a:xfrm>
            <a:off x="3496816" y="4745038"/>
            <a:ext cx="3587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 </a:t>
            </a:r>
            <a:endParaRPr kumimoji="1" lang="zh-CN" altLang="en-US" sz="2800" b="0">
              <a:solidFill>
                <a:schemeClr val="tx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" name="爆炸形: 14 pt  1"/>
          <p:cNvSpPr/>
          <p:nvPr/>
        </p:nvSpPr>
        <p:spPr>
          <a:xfrm>
            <a:off x="4124325" y="1835150"/>
            <a:ext cx="2660650" cy="86360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问题：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15E63F-EBBC-4FCB-BBC8-656A117D4540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元</a:t>
            </a:r>
            <a:r>
              <a:rPr lang="zh-CN" altLang="en-US"/>
              <a:t>真值函数</a:t>
            </a:r>
            <a:endParaRPr lang="zh-CN" altLang="en-US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pSp>
        <p:nvGrpSpPr>
          <p:cNvPr id="16389" name="Group 12"/>
          <p:cNvGrpSpPr/>
          <p:nvPr/>
        </p:nvGrpSpPr>
        <p:grpSpPr bwMode="auto">
          <a:xfrm>
            <a:off x="361950" y="1135064"/>
            <a:ext cx="8496300" cy="2708937"/>
            <a:chOff x="-341" y="2522"/>
            <a:chExt cx="5352" cy="1669"/>
          </a:xfrm>
        </p:grpSpPr>
        <p:sp>
          <p:nvSpPr>
            <p:cNvPr id="6159" name="Text Box 4"/>
            <p:cNvSpPr txBox="1">
              <a:spLocks noChangeArrowheads="1"/>
            </p:cNvSpPr>
            <p:nvPr/>
          </p:nvSpPr>
          <p:spPr bwMode="auto">
            <a:xfrm>
              <a:off x="-341" y="2522"/>
              <a:ext cx="5352" cy="166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定义</a:t>
              </a:r>
              <a:r>
                <a:rPr lang="en-US" altLang="zh-CN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2.6</a:t>
              </a:r>
              <a:r>
                <a:rPr lang="en-US" altLang="zh-CN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称</a:t>
              </a:r>
              <a:r>
                <a:rPr lang="en-US" altLang="zh-CN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dirty="0">
                  <a:latin typeface="Times New Roman" panose="02020603050405020304" pitchFamily="18" charset="0"/>
                </a:rPr>
                <a:t>:{0,1}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dirty="0">
                  <a:latin typeface="Times New Roman" panose="02020603050405020304" pitchFamily="18" charset="0"/>
                </a:rPr>
                <a:t> {0,1} </a:t>
              </a:r>
              <a:r>
                <a:rPr lang="zh-CN" altLang="en-US" dirty="0">
                  <a:latin typeface="Times New Roman" panose="02020603050405020304" pitchFamily="18" charset="0"/>
                </a:rPr>
                <a:t>为</a:t>
              </a:r>
              <a:r>
                <a:rPr lang="en-US" altLang="zh-CN" i="1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元真值函数</a:t>
              </a:r>
              <a:r>
                <a:rPr lang="en-US" altLang="zh-CN" dirty="0">
                  <a:latin typeface="Times New Roman" panose="02020603050405020304" pitchFamily="18" charset="0"/>
                </a:rPr>
                <a:t>.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en-US" altLang="zh-CN" dirty="0">
                  <a:latin typeface="Times New Roman" panose="02020603050405020304" pitchFamily="18" charset="0"/>
                </a:rPr>
                <a:t>   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r>
                <a:rPr lang="zh-CN" altLang="en-US" dirty="0">
                  <a:latin typeface="Times New Roman" panose="02020603050405020304" pitchFamily="18" charset="0"/>
                </a:rPr>
                <a:t>其中，定义域</a:t>
              </a:r>
              <a:r>
                <a:rPr lang="en-US" altLang="zh-CN" dirty="0">
                  <a:latin typeface="Times New Roman" panose="02020603050405020304" pitchFamily="18" charset="0"/>
                </a:rPr>
                <a:t>{0,1}</a:t>
              </a:r>
              <a:r>
                <a:rPr lang="en-US" altLang="zh-CN" i="1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={00…0,  00…1,  …,  11…1}</a:t>
              </a:r>
              <a:r>
                <a:rPr lang="zh-CN" altLang="en-US" dirty="0">
                  <a:latin typeface="Times New Roman" panose="02020603050405020304" pitchFamily="18" charset="0"/>
                </a:rPr>
                <a:t>，包含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Times New Roman" panose="02020603050405020304" pitchFamily="18" charset="0"/>
                </a:rPr>
                <a:t> 个长为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en-US" altLang="zh-CN" dirty="0">
                  <a:latin typeface="Times New Roman" panose="02020603050405020304" pitchFamily="18" charset="0"/>
                </a:rPr>
                <a:t>0,1</a:t>
              </a:r>
              <a:r>
                <a:rPr lang="zh-CN" altLang="en-US" dirty="0">
                  <a:latin typeface="Times New Roman" panose="02020603050405020304" pitchFamily="18" charset="0"/>
                </a:rPr>
                <a:t>符号串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</a:rPr>
                <a:t>值域为</a:t>
              </a:r>
              <a:r>
                <a:rPr lang="en-US" altLang="zh-CN" dirty="0">
                  <a:latin typeface="Times New Roman" panose="02020603050405020304" pitchFamily="18" charset="0"/>
                </a:rPr>
                <a:t>{0,1} .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endParaRPr lang="en-US" altLang="zh-CN" dirty="0">
                <a:latin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ct val="1200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l"/>
                <a:defRPr/>
              </a:pPr>
              <a:r>
                <a:rPr lang="en-US" altLang="zh-CN" dirty="0">
                  <a:latin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Times New Roman" panose="02020603050405020304" pitchFamily="18" charset="0"/>
                </a:rPr>
                <a:t>个命题变项共有       个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dirty="0"/>
                <a:t>元真值函数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401" name="Object 9"/>
            <p:cNvGraphicFramePr>
              <a:graphicFrameLocks noChangeAspect="1"/>
            </p:cNvGraphicFramePr>
            <p:nvPr/>
          </p:nvGraphicFramePr>
          <p:xfrm>
            <a:off x="1449" y="3847"/>
            <a:ext cx="31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Microsoft 公式 3.0" r:id="rId1" imgW="228600" imgH="215900" progId="Equation.3">
                    <p:embed/>
                  </p:oleObj>
                </mc:Choice>
                <mc:Fallback>
                  <p:oleObj name="Microsoft 公式 3.0" r:id="rId1" imgW="228600" imgH="215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3847"/>
                          <a:ext cx="31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6445" name="Group 13"/>
          <p:cNvGrpSpPr/>
          <p:nvPr/>
        </p:nvGrpSpPr>
        <p:grpSpPr bwMode="auto">
          <a:xfrm>
            <a:off x="1662113" y="4111625"/>
            <a:ext cx="4876800" cy="2133600"/>
            <a:chOff x="1104" y="2064"/>
            <a:chExt cx="3072" cy="1344"/>
          </a:xfrm>
        </p:grpSpPr>
        <p:sp>
          <p:nvSpPr>
            <p:cNvPr id="16392" name="Text Box 14"/>
            <p:cNvSpPr txBox="1">
              <a:spLocks noChangeArrowheads="1"/>
            </p:cNvSpPr>
            <p:nvPr/>
          </p:nvSpPr>
          <p:spPr bwMode="auto">
            <a:xfrm>
              <a:off x="1824" y="2064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 1</a:t>
              </a:r>
              <a:r>
                <a:rPr lang="zh-CN" altLang="en-US">
                  <a:latin typeface="Times New Roman" panose="02020603050405020304" pitchFamily="18" charset="0"/>
                </a:rPr>
                <a:t>元真值函数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16393" name="Group 15"/>
            <p:cNvGrpSpPr/>
            <p:nvPr/>
          </p:nvGrpSpPr>
          <p:grpSpPr bwMode="auto">
            <a:xfrm>
              <a:off x="1104" y="2400"/>
              <a:ext cx="3072" cy="1008"/>
              <a:chOff x="432" y="2544"/>
              <a:chExt cx="3072" cy="1008"/>
            </a:xfrm>
          </p:grpSpPr>
          <p:sp>
            <p:nvSpPr>
              <p:cNvPr id="16394" name="Text Box 16"/>
              <p:cNvSpPr txBox="1">
                <a:spLocks noChangeArrowheads="1"/>
              </p:cNvSpPr>
              <p:nvPr/>
            </p:nvSpPr>
            <p:spPr bwMode="auto">
              <a:xfrm>
                <a:off x="480" y="2544"/>
                <a:ext cx="2976" cy="9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69B3F1"/>
                  </a:buClr>
                  <a:buFont typeface="Wingdings" panose="05000000000000000000" pitchFamily="2" charset="2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p</a:t>
                </a:r>
                <a:r>
                  <a:rPr lang="en-US" altLang="zh-CN">
                    <a:latin typeface="Times New Roman" panose="02020603050405020304" pitchFamily="18" charset="0"/>
                  </a:rPr>
                  <a:t>  </a:t>
                </a:r>
                <a:endParaRPr lang="en-US" altLang="zh-CN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  0           0           0          1           1</a:t>
                </a:r>
                <a:endParaRPr lang="en-US" altLang="zh-CN"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  1           0           1          0           1 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6395" name="Object 17"/>
              <p:cNvGraphicFramePr>
                <a:graphicFrameLocks noChangeAspect="1"/>
              </p:cNvGraphicFramePr>
              <p:nvPr/>
            </p:nvGraphicFramePr>
            <p:xfrm>
              <a:off x="1166" y="2592"/>
              <a:ext cx="2146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Equation" r:id="rId3" imgW="1600200" imgH="241300" progId="Equation.3">
                      <p:embed/>
                    </p:oleObj>
                  </mc:Choice>
                  <mc:Fallback>
                    <p:oleObj name="Equation" r:id="rId3" imgW="1600200" imgH="2413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6" y="2592"/>
                            <a:ext cx="2146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396" name="Line 18"/>
              <p:cNvSpPr>
                <a:spLocks noChangeShapeType="1"/>
              </p:cNvSpPr>
              <p:nvPr/>
            </p:nvSpPr>
            <p:spPr bwMode="auto">
              <a:xfrm>
                <a:off x="432" y="2880"/>
                <a:ext cx="3072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397" name="Line 19"/>
              <p:cNvSpPr>
                <a:spLocks noChangeShapeType="1"/>
              </p:cNvSpPr>
              <p:nvPr/>
            </p:nvSpPr>
            <p:spPr bwMode="auto">
              <a:xfrm>
                <a:off x="432" y="2544"/>
                <a:ext cx="30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398" name="Line 20"/>
              <p:cNvSpPr>
                <a:spLocks noChangeShapeType="1"/>
              </p:cNvSpPr>
              <p:nvPr/>
            </p:nvSpPr>
            <p:spPr bwMode="auto">
              <a:xfrm>
                <a:off x="432" y="3552"/>
                <a:ext cx="30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399" name="Line 21"/>
              <p:cNvSpPr>
                <a:spLocks noChangeShapeType="1"/>
              </p:cNvSpPr>
              <p:nvPr/>
            </p:nvSpPr>
            <p:spPr bwMode="auto">
              <a:xfrm>
                <a:off x="1008" y="2544"/>
                <a:ext cx="0" cy="1008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367" name="文本框 1"/>
          <p:cNvSpPr txBox="1">
            <a:spLocks noChangeArrowheads="1"/>
          </p:cNvSpPr>
          <p:nvPr/>
        </p:nvSpPr>
        <p:spPr bwMode="auto">
          <a:xfrm>
            <a:off x="1662113" y="6350000"/>
            <a:ext cx="4745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0">
                <a:solidFill>
                  <a:srgbClr val="FF0000"/>
                </a:solidFill>
                <a:latin typeface="Times New Roman" panose="02020603050405020304" pitchFamily="18" charset="0"/>
              </a:rPr>
              <a:t>元真值函数共有</a:t>
            </a:r>
            <a:r>
              <a:rPr lang="en-US" altLang="zh-CN" b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0">
                <a:solidFill>
                  <a:srgbClr val="FF0000"/>
                </a:solidFill>
                <a:latin typeface="Times New Roman" panose="02020603050405020304" pitchFamily="18" charset="0"/>
              </a:rPr>
              <a:t>个</a:t>
            </a:r>
            <a:endParaRPr lang="zh-CN" altLang="en-US" b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19DE93-BCFF-4B19-A237-EF72F79D04EE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555875" y="260350"/>
            <a:ext cx="4464050" cy="417513"/>
          </a:xfrm>
        </p:spPr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 2</a:t>
            </a:r>
            <a:r>
              <a:rPr lang="zh-CN" altLang="en-US">
                <a:latin typeface="Times New Roman" panose="02020603050405020304" pitchFamily="18" charset="0"/>
              </a:rPr>
              <a:t>元</a:t>
            </a:r>
            <a:r>
              <a:rPr lang="zh-CN" altLang="en-US"/>
              <a:t>真值函数</a:t>
            </a:r>
            <a:endParaRPr lang="zh-CN" altLang="en-US"/>
          </a:p>
        </p:txBody>
      </p:sp>
      <p:sp>
        <p:nvSpPr>
          <p:cNvPr id="18436" name="Rectangle 8"/>
          <p:cNvSpPr>
            <a:spLocks noChangeArrowheads="1"/>
          </p:cNvSpPr>
          <p:nvPr/>
        </p:nvSpPr>
        <p:spPr bwMode="auto">
          <a:xfrm>
            <a:off x="2400300" y="2397125"/>
            <a:ext cx="457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sp>
        <p:nvSpPr>
          <p:cNvPr id="18437" name="Rectangle 10"/>
          <p:cNvSpPr>
            <a:spLocks noChangeArrowheads="1"/>
          </p:cNvSpPr>
          <p:nvPr/>
        </p:nvSpPr>
        <p:spPr bwMode="auto">
          <a:xfrm>
            <a:off x="2400300" y="2397125"/>
            <a:ext cx="3886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sp>
        <p:nvSpPr>
          <p:cNvPr id="18438" name="Rectangle 14"/>
          <p:cNvSpPr>
            <a:spLocks noChangeArrowheads="1"/>
          </p:cNvSpPr>
          <p:nvPr/>
        </p:nvSpPr>
        <p:spPr bwMode="auto">
          <a:xfrm>
            <a:off x="2400300" y="2397125"/>
            <a:ext cx="457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sp>
        <p:nvSpPr>
          <p:cNvPr id="18439" name="Rectangle 16"/>
          <p:cNvSpPr>
            <a:spLocks noChangeArrowheads="1"/>
          </p:cNvSpPr>
          <p:nvPr/>
        </p:nvSpPr>
        <p:spPr bwMode="auto">
          <a:xfrm>
            <a:off x="2400300" y="2397125"/>
            <a:ext cx="3886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aphicFrame>
        <p:nvGraphicFramePr>
          <p:cNvPr id="150601" name="Group 73"/>
          <p:cNvGraphicFramePr>
            <a:graphicFrameLocks noGrp="1"/>
          </p:cNvGraphicFramePr>
          <p:nvPr/>
        </p:nvGraphicFramePr>
        <p:xfrm>
          <a:off x="684213" y="1412875"/>
          <a:ext cx="7775575" cy="4467226"/>
        </p:xfrm>
        <a:graphic>
          <a:graphicData uri="http://schemas.openxmlformats.org/drawingml/2006/table">
            <a:tbl>
              <a:tblPr/>
              <a:tblGrid>
                <a:gridCol w="781050"/>
                <a:gridCol w="6994525"/>
              </a:tblGrid>
              <a:tr h="6412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  q</a:t>
                      </a:r>
                      <a:endParaRPr kumimoji="0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544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0          0         0          0         0          0         0         0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0          0         0          0         1          1         1         1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0          0         1          1         0          0         1         1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0          1         0          1         0          1         0         1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  q</a:t>
                      </a:r>
                      <a:endParaRPr kumimoji="0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52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66675"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666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1          1         1          1         1          1         1         1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0          0         0          0         1          1         1         1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0          0         1          1         0          0         1         1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0          1         0          1         0          1         0         1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458" name="Rectangle 67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aphicFrame>
        <p:nvGraphicFramePr>
          <p:cNvPr id="18459" name="Object 66"/>
          <p:cNvGraphicFramePr>
            <a:graphicFrameLocks noChangeAspect="1"/>
          </p:cNvGraphicFramePr>
          <p:nvPr/>
        </p:nvGraphicFramePr>
        <p:xfrm>
          <a:off x="1619250" y="1549400"/>
          <a:ext cx="65532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3429000" imgH="241300" progId="Equation.3">
                  <p:embed/>
                </p:oleObj>
              </mc:Choice>
              <mc:Fallback>
                <p:oleObj name="公式" r:id="rId1" imgW="3429000" imgH="24130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549400"/>
                        <a:ext cx="65532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0" name="Rectangle 72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aphicFrame>
        <p:nvGraphicFramePr>
          <p:cNvPr id="18461" name="Object 71"/>
          <p:cNvGraphicFramePr>
            <a:graphicFrameLocks noChangeAspect="1"/>
          </p:cNvGraphicFramePr>
          <p:nvPr/>
        </p:nvGraphicFramePr>
        <p:xfrm>
          <a:off x="1547813" y="3721100"/>
          <a:ext cx="66960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3429000" imgH="241300" progId="Equation.3">
                  <p:embed/>
                </p:oleObj>
              </mc:Choice>
              <mc:Fallback>
                <p:oleObj name="公式" r:id="rId3" imgW="3429000" imgH="24130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721100"/>
                        <a:ext cx="66960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2" name="文本框 12"/>
          <p:cNvSpPr txBox="1">
            <a:spLocks noChangeArrowheads="1"/>
          </p:cNvSpPr>
          <p:nvPr/>
        </p:nvSpPr>
        <p:spPr bwMode="auto">
          <a:xfrm>
            <a:off x="684213" y="5919788"/>
            <a:ext cx="47450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0">
                <a:solidFill>
                  <a:srgbClr val="FF0000"/>
                </a:solidFill>
                <a:latin typeface="Times New Roman" panose="02020603050405020304" pitchFamily="18" charset="0"/>
              </a:rPr>
              <a:t>元真值函数共有</a:t>
            </a:r>
            <a:r>
              <a:rPr lang="en-US" altLang="zh-CN" b="0">
                <a:solidFill>
                  <a:srgbClr val="FF0000"/>
                </a:solidFill>
                <a:latin typeface="Times New Roman" panose="02020603050405020304" pitchFamily="18" charset="0"/>
              </a:rPr>
              <a:t>16</a:t>
            </a:r>
            <a:r>
              <a:rPr lang="zh-CN" altLang="en-US" b="0">
                <a:solidFill>
                  <a:srgbClr val="FF0000"/>
                </a:solidFill>
                <a:latin typeface="Times New Roman" panose="02020603050405020304" pitchFamily="18" charset="0"/>
              </a:rPr>
              <a:t>个</a:t>
            </a:r>
            <a:endParaRPr lang="zh-CN" altLang="en-US" b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6710363" y="3816350"/>
            <a:ext cx="696912" cy="2297113"/>
          </a:xfrm>
          <a:prstGeom prst="rect">
            <a:avLst/>
          </a:prstGeom>
          <a:solidFill>
            <a:srgbClr val="92D050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4087813" y="3816350"/>
            <a:ext cx="698500" cy="2297113"/>
          </a:xfrm>
          <a:prstGeom prst="rect">
            <a:avLst/>
          </a:prstGeom>
          <a:solidFill>
            <a:srgbClr val="92D050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711950" y="1628775"/>
            <a:ext cx="698500" cy="2200275"/>
          </a:xfrm>
          <a:prstGeom prst="rect">
            <a:avLst/>
          </a:prstGeom>
          <a:solidFill>
            <a:srgbClr val="69B3F1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819775" y="3816350"/>
            <a:ext cx="696913" cy="2297113"/>
          </a:xfrm>
          <a:prstGeom prst="rect">
            <a:avLst/>
          </a:prstGeom>
          <a:solidFill>
            <a:srgbClr val="92D050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640638" y="1616075"/>
            <a:ext cx="819150" cy="2190750"/>
          </a:xfrm>
          <a:prstGeom prst="rect">
            <a:avLst/>
          </a:prstGeom>
          <a:solidFill>
            <a:srgbClr val="92D050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938713" y="3816350"/>
            <a:ext cx="698500" cy="2297113"/>
          </a:xfrm>
          <a:prstGeom prst="rect">
            <a:avLst/>
          </a:prstGeom>
          <a:solidFill>
            <a:srgbClr val="69B3F1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240088" y="3816350"/>
            <a:ext cx="696912" cy="2297113"/>
          </a:xfrm>
          <a:prstGeom prst="rect">
            <a:avLst/>
          </a:prstGeom>
          <a:solidFill>
            <a:srgbClr val="69B3F1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5830888" y="1616075"/>
            <a:ext cx="698500" cy="2200275"/>
          </a:xfrm>
          <a:prstGeom prst="rect">
            <a:avLst/>
          </a:prstGeom>
          <a:solidFill>
            <a:srgbClr val="69B3F1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083050" y="1616075"/>
            <a:ext cx="696913" cy="2200275"/>
          </a:xfrm>
          <a:prstGeom prst="rect">
            <a:avLst/>
          </a:prstGeom>
          <a:solidFill>
            <a:srgbClr val="69B3F1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351088" y="3816350"/>
            <a:ext cx="696912" cy="2297113"/>
          </a:xfrm>
          <a:prstGeom prst="rect">
            <a:avLst/>
          </a:prstGeom>
          <a:solidFill>
            <a:srgbClr val="69B3F1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476375" y="3816350"/>
            <a:ext cx="696913" cy="2297113"/>
          </a:xfrm>
          <a:prstGeom prst="rect">
            <a:avLst/>
          </a:prstGeom>
          <a:solidFill>
            <a:srgbClr val="FFFF00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926013" y="1616075"/>
            <a:ext cx="696912" cy="2214563"/>
          </a:xfrm>
          <a:prstGeom prst="rect">
            <a:avLst/>
          </a:prstGeom>
          <a:solidFill>
            <a:srgbClr val="FFFF00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225800" y="1616075"/>
            <a:ext cx="698500" cy="2214563"/>
          </a:xfrm>
          <a:prstGeom prst="rect">
            <a:avLst/>
          </a:prstGeom>
          <a:solidFill>
            <a:srgbClr val="FFFF00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2339975" y="1616075"/>
            <a:ext cx="696913" cy="2214563"/>
          </a:xfrm>
          <a:prstGeom prst="rect">
            <a:avLst/>
          </a:prstGeom>
          <a:solidFill>
            <a:srgbClr val="FFFF00"/>
          </a:solidFill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49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35713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750E81-7E78-461D-9B61-B581DF71EF02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20497" name="Rectangle 2"/>
          <p:cNvSpPr>
            <a:spLocks noGrp="1" noChangeArrowheads="1"/>
          </p:cNvSpPr>
          <p:nvPr>
            <p:ph type="title"/>
          </p:nvPr>
        </p:nvSpPr>
        <p:spPr>
          <a:xfrm>
            <a:off x="2555875" y="260350"/>
            <a:ext cx="4464050" cy="417513"/>
          </a:xfrm>
        </p:spPr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元</a:t>
            </a:r>
            <a:r>
              <a:rPr lang="zh-CN" altLang="en-US"/>
              <a:t>真值函数</a:t>
            </a:r>
            <a:endParaRPr lang="zh-CN" altLang="en-US"/>
          </a:p>
        </p:txBody>
      </p:sp>
      <p:sp>
        <p:nvSpPr>
          <p:cNvPr id="20498" name="Rectangle 8"/>
          <p:cNvSpPr>
            <a:spLocks noChangeArrowheads="1"/>
          </p:cNvSpPr>
          <p:nvPr/>
        </p:nvSpPr>
        <p:spPr bwMode="auto">
          <a:xfrm>
            <a:off x="2400300" y="2630488"/>
            <a:ext cx="457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sp>
        <p:nvSpPr>
          <p:cNvPr id="20499" name="Rectangle 10"/>
          <p:cNvSpPr>
            <a:spLocks noChangeArrowheads="1"/>
          </p:cNvSpPr>
          <p:nvPr/>
        </p:nvSpPr>
        <p:spPr bwMode="auto">
          <a:xfrm>
            <a:off x="2400300" y="2630488"/>
            <a:ext cx="3886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sp>
        <p:nvSpPr>
          <p:cNvPr id="20500" name="Rectangle 14"/>
          <p:cNvSpPr>
            <a:spLocks noChangeArrowheads="1"/>
          </p:cNvSpPr>
          <p:nvPr/>
        </p:nvSpPr>
        <p:spPr bwMode="auto">
          <a:xfrm>
            <a:off x="2400300" y="2630488"/>
            <a:ext cx="457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sp>
        <p:nvSpPr>
          <p:cNvPr id="20501" name="Rectangle 16"/>
          <p:cNvSpPr>
            <a:spLocks noChangeArrowheads="1"/>
          </p:cNvSpPr>
          <p:nvPr/>
        </p:nvSpPr>
        <p:spPr bwMode="auto">
          <a:xfrm>
            <a:off x="2400300" y="2630488"/>
            <a:ext cx="3886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aphicFrame>
        <p:nvGraphicFramePr>
          <p:cNvPr id="150601" name="Group 73"/>
          <p:cNvGraphicFramePr>
            <a:graphicFrameLocks noGrp="1"/>
          </p:cNvGraphicFramePr>
          <p:nvPr/>
        </p:nvGraphicFramePr>
        <p:xfrm>
          <a:off x="684213" y="1625600"/>
          <a:ext cx="7775575" cy="4489451"/>
        </p:xfrm>
        <a:graphic>
          <a:graphicData uri="http://schemas.openxmlformats.org/drawingml/2006/table">
            <a:tbl>
              <a:tblPr/>
              <a:tblGrid>
                <a:gridCol w="781050"/>
                <a:gridCol w="6994525"/>
              </a:tblGrid>
              <a:tr h="6444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  q</a:t>
                      </a:r>
                      <a:endParaRPr kumimoji="0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622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9" marB="4571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       0         0          0         0          0         0         0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       0         0          0         1          1         1         1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       0         1          1         0          0         1         1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       1         0          1         0          1         0         1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  q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9" marB="4571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370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9" marB="45719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66675"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666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1          1         1          1         1          1         1 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0          0         0          0         1          1         1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0          0         1          1         0          0         1 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6667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0          1         0          1         0          1         0      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9" marB="4571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20" name="Rectangle 67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aphicFrame>
        <p:nvGraphicFramePr>
          <p:cNvPr id="20521" name="Object 66"/>
          <p:cNvGraphicFramePr>
            <a:graphicFrameLocks noChangeAspect="1"/>
          </p:cNvGraphicFramePr>
          <p:nvPr/>
        </p:nvGraphicFramePr>
        <p:xfrm>
          <a:off x="1619250" y="1782763"/>
          <a:ext cx="65532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3429000" imgH="241300" progId="Equation.3">
                  <p:embed/>
                </p:oleObj>
              </mc:Choice>
              <mc:Fallback>
                <p:oleObj name="公式" r:id="rId1" imgW="3429000" imgH="24130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782763"/>
                        <a:ext cx="65532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2" name="Object 71"/>
          <p:cNvGraphicFramePr>
            <a:graphicFrameLocks noChangeAspect="1"/>
          </p:cNvGraphicFramePr>
          <p:nvPr/>
        </p:nvGraphicFramePr>
        <p:xfrm>
          <a:off x="1547813" y="3954463"/>
          <a:ext cx="66960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3429000" imgH="241300" progId="Equation.3">
                  <p:embed/>
                </p:oleObj>
              </mc:Choice>
              <mc:Fallback>
                <p:oleObj name="公式" r:id="rId3" imgW="3429000" imgH="24130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954463"/>
                        <a:ext cx="669607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476375" y="1646238"/>
            <a:ext cx="696913" cy="2160587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654925" y="3806825"/>
            <a:ext cx="804863" cy="2306638"/>
          </a:xfrm>
          <a:prstGeom prst="rect">
            <a:avLst/>
          </a:prstGeom>
          <a:noFill/>
          <a:ln w="28575"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283" name="矩形 2"/>
          <p:cNvSpPr>
            <a:spLocks noChangeArrowheads="1"/>
          </p:cNvSpPr>
          <p:nvPr/>
        </p:nvSpPr>
        <p:spPr bwMode="auto">
          <a:xfrm>
            <a:off x="973138" y="6038850"/>
            <a:ext cx="13716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0284" name="矩形 3"/>
          <p:cNvSpPr>
            <a:spLocks noChangeArrowheads="1"/>
          </p:cNvSpPr>
          <p:nvPr/>
        </p:nvSpPr>
        <p:spPr bwMode="auto">
          <a:xfrm>
            <a:off x="4692650" y="836613"/>
            <a:ext cx="11128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0285" name="矩形 4"/>
          <p:cNvSpPr>
            <a:spLocks noChangeArrowheads="1"/>
          </p:cNvSpPr>
          <p:nvPr/>
        </p:nvSpPr>
        <p:spPr bwMode="auto">
          <a:xfrm>
            <a:off x="3175000" y="860425"/>
            <a:ext cx="8921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fontAlgn="ctr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ctr" hangingPunct="1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0286" name="矩形 5"/>
          <p:cNvSpPr>
            <a:spLocks noChangeArrowheads="1"/>
          </p:cNvSpPr>
          <p:nvPr/>
        </p:nvSpPr>
        <p:spPr bwMode="auto">
          <a:xfrm>
            <a:off x="2324100" y="854075"/>
            <a:ext cx="8080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0" baseline="-25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0287" name="矩形 32"/>
          <p:cNvSpPr>
            <a:spLocks noChangeArrowheads="1"/>
          </p:cNvSpPr>
          <p:nvPr/>
        </p:nvSpPr>
        <p:spPr bwMode="auto">
          <a:xfrm>
            <a:off x="3873500" y="1141413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altLang="zh-CN" i="1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88" name="矩形 33"/>
          <p:cNvSpPr>
            <a:spLocks noChangeArrowheads="1"/>
          </p:cNvSpPr>
          <p:nvPr/>
        </p:nvSpPr>
        <p:spPr bwMode="auto">
          <a:xfrm>
            <a:off x="4706938" y="6019800"/>
            <a:ext cx="1111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altLang="zh-CN" i="1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89" name="矩形 34"/>
          <p:cNvSpPr>
            <a:spLocks noChangeArrowheads="1"/>
          </p:cNvSpPr>
          <p:nvPr/>
        </p:nvSpPr>
        <p:spPr bwMode="auto">
          <a:xfrm>
            <a:off x="5588000" y="1141413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90" name="矩形 35"/>
          <p:cNvSpPr>
            <a:spLocks noChangeArrowheads="1"/>
          </p:cNvSpPr>
          <p:nvPr/>
        </p:nvSpPr>
        <p:spPr bwMode="auto">
          <a:xfrm>
            <a:off x="2987675" y="6019800"/>
            <a:ext cx="111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2"/>
          <p:cNvSpPr>
            <a:spLocks noChangeArrowheads="1"/>
          </p:cNvSpPr>
          <p:nvPr/>
        </p:nvSpPr>
        <p:spPr bwMode="auto">
          <a:xfrm>
            <a:off x="3873500" y="6021388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altLang="zh-CN" i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2"/>
          <p:cNvSpPr>
            <a:spLocks noChangeArrowheads="1"/>
          </p:cNvSpPr>
          <p:nvPr/>
        </p:nvSpPr>
        <p:spPr bwMode="auto">
          <a:xfrm>
            <a:off x="2155825" y="6018213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2"/>
          <p:cNvSpPr>
            <a:spLocks noChangeArrowheads="1"/>
          </p:cNvSpPr>
          <p:nvPr/>
        </p:nvSpPr>
        <p:spPr bwMode="auto">
          <a:xfrm>
            <a:off x="7451725" y="1150938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2"/>
          <p:cNvSpPr>
            <a:spLocks noChangeArrowheads="1"/>
          </p:cNvSpPr>
          <p:nvPr/>
        </p:nvSpPr>
        <p:spPr bwMode="auto">
          <a:xfrm>
            <a:off x="6456363" y="1166813"/>
            <a:ext cx="1239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2"/>
          <p:cNvSpPr>
            <a:spLocks noChangeArrowheads="1"/>
          </p:cNvSpPr>
          <p:nvPr/>
        </p:nvSpPr>
        <p:spPr bwMode="auto">
          <a:xfrm>
            <a:off x="6465888" y="6021388"/>
            <a:ext cx="1239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2"/>
          <p:cNvSpPr>
            <a:spLocks noChangeArrowheads="1"/>
          </p:cNvSpPr>
          <p:nvPr/>
        </p:nvSpPr>
        <p:spPr bwMode="auto">
          <a:xfrm>
            <a:off x="5608638" y="6021388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fontAlgn="ctr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i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3" grpId="0"/>
      <p:bldP spid="10284" grpId="0"/>
      <p:bldP spid="10285" grpId="0"/>
      <p:bldP spid="10286" grpId="0"/>
      <p:bldP spid="10287" grpId="0"/>
      <p:bldP spid="10288" grpId="0"/>
      <p:bldP spid="10289" grpId="0"/>
      <p:bldP spid="10290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D6B3F1-652B-4302-9CCF-DC5404BD4018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公式与真值函数</a:t>
            </a:r>
            <a:endParaRPr lang="zh-CN" altLang="en-US"/>
          </a:p>
        </p:txBody>
      </p:sp>
      <p:graphicFrame>
        <p:nvGraphicFramePr>
          <p:cNvPr id="12295" name="Object 6"/>
          <p:cNvGraphicFramePr>
            <a:graphicFrameLocks noChangeAspect="1"/>
          </p:cNvGraphicFramePr>
          <p:nvPr/>
        </p:nvGraphicFramePr>
        <p:xfrm>
          <a:off x="4081463" y="2944813"/>
          <a:ext cx="585787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Microsoft 公式 3.0" r:id="rId1" imgW="292100" imgH="241300" progId="Equation.3">
                  <p:embed/>
                </p:oleObj>
              </mc:Choice>
              <mc:Fallback>
                <p:oleObj name="Microsoft 公式 3.0" r:id="rId1" imgW="2921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463" y="2944813"/>
                        <a:ext cx="585787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493713" y="2506663"/>
            <a:ext cx="57340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等值的公式对应的真值函数相同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例如：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都对应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pic>
        <p:nvPicPr>
          <p:cNvPr id="12293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3713163"/>
            <a:ext cx="736282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795963" y="3713163"/>
            <a:ext cx="647700" cy="2152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536" name="文本框 1"/>
          <p:cNvSpPr txBox="1">
            <a:spLocks noChangeArrowheads="1"/>
          </p:cNvSpPr>
          <p:nvPr/>
        </p:nvSpPr>
        <p:spPr bwMode="auto">
          <a:xfrm>
            <a:off x="493713" y="1412875"/>
            <a:ext cx="77597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任何一个含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个命题变项的命题公式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都对应唯一的一个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元真值函数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恰好为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的真值表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A10A93-A714-482B-A809-28EEF36EF7FA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联结词完备集</a:t>
            </a:r>
            <a:endParaRPr lang="zh-CN" altLang="en-US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39850"/>
            <a:ext cx="8351838" cy="4537075"/>
          </a:xfrm>
        </p:spPr>
        <p:txBody>
          <a:bodyPr/>
          <a:lstStyle/>
          <a:p>
            <a:pPr marL="630555" indent="-630555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2.7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是一个联结词集合，如果任何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1) </a:t>
            </a:r>
            <a:r>
              <a:rPr lang="zh-CN" altLang="en-US" dirty="0">
                <a:latin typeface="Times New Roman" panose="02020603050405020304" pitchFamily="18" charset="0"/>
              </a:rPr>
              <a:t>元真值函数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30555" indent="-630555" eaLnBrk="1" hangingPunct="1"/>
            <a:r>
              <a:rPr lang="zh-CN" altLang="en-US" dirty="0">
                <a:latin typeface="Times New Roman" panose="02020603050405020304" pitchFamily="18" charset="0"/>
              </a:rPr>
              <a:t>               都可以由仅含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中的联结词构成的公式表示，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30555" indent="-630555"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zh-CN" altLang="en-US" dirty="0">
                <a:latin typeface="Times New Roman" panose="02020603050405020304" pitchFamily="18" charset="0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联结词完备集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marL="630555" indent="-630555"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marL="630555" indent="-630555" eaLnBrk="1" hangingPunct="1"/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是联结词完备集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则任何命题公式都可由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中的联结词表示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630555" indent="-630555" eaLnBrk="1" hangingPunct="1">
              <a:spcBef>
                <a:spcPct val="50000"/>
              </a:spcBef>
            </a:pPr>
            <a:endParaRPr lang="zh-CN" altLang="en-US" dirty="0">
              <a:solidFill>
                <a:srgbClr val="D72323"/>
              </a:solidFill>
              <a:latin typeface="Times New Roman" panose="02020603050405020304" pitchFamily="18" charset="0"/>
            </a:endParaRPr>
          </a:p>
          <a:p>
            <a:pPr marL="630555" indent="-630555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是联结词完备集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630555" indent="-630555" eaLnBrk="1" hangingPunct="1"/>
            <a:r>
              <a:rPr lang="zh-CN" altLang="en-US" dirty="0">
                <a:latin typeface="Times New Roman" panose="02020603050405020304" pitchFamily="18" charset="0"/>
              </a:rPr>
              <a:t>证明  任何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1) </a:t>
            </a:r>
            <a:r>
              <a:rPr lang="zh-CN" altLang="en-US" dirty="0">
                <a:latin typeface="Times New Roman" panose="02020603050405020304" pitchFamily="18" charset="0"/>
              </a:rPr>
              <a:t>元真值函数都与唯一的一个主析取范式等值，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30555" indent="-630555" eaLnBrk="1" hangingPunct="1"/>
            <a:r>
              <a:rPr lang="en-US" altLang="zh-CN" dirty="0">
                <a:latin typeface="Times New Roman" panose="02020603050405020304" pitchFamily="18" charset="0"/>
              </a:rPr>
              <a:t>           </a:t>
            </a:r>
            <a:r>
              <a:rPr lang="zh-CN" altLang="en-US" dirty="0">
                <a:latin typeface="Times New Roman" panose="02020603050405020304" pitchFamily="18" charset="0"/>
              </a:rPr>
              <a:t>而在主析取范式中仅含联结词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30555" indent="-630555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所以，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是联结词完备集。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630555" indent="-630555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B57AEF-1FD5-47D3-A931-810858BE9CC4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联结词完备集</a:t>
            </a:r>
            <a:endParaRPr lang="zh-CN" altLang="en-US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176713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推论 </a:t>
            </a:r>
            <a:r>
              <a:rPr lang="zh-CN" altLang="en-US">
                <a:latin typeface="Times New Roman" panose="02020603050405020304" pitchFamily="18" charset="0"/>
              </a:rPr>
              <a:t>以下都是联结词完备集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</a:t>
            </a:r>
            <a:r>
              <a:rPr lang="en-US" altLang="zh-CN">
                <a:latin typeface="Times New Roman" panose="02020603050405020304" pitchFamily="18" charset="0"/>
              </a:rPr>
              <a:t>(1)</a:t>
            </a:r>
            <a:r>
              <a:rPr lang="en-US" altLang="zh-CN" i="1">
                <a:latin typeface="Times New Roman" panose="02020603050405020304" pitchFamily="18" charset="0"/>
              </a:rPr>
              <a:t> S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= 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Times New Roman" panose="02020603050405020304" pitchFamily="18" charset="0"/>
              </a:rPr>
              <a:t>}          (2)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</a:rPr>
              <a:t>= 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(3)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 = 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}                    (4)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</a:rPr>
              <a:t>4 </a:t>
            </a:r>
            <a:r>
              <a:rPr lang="en-US" altLang="zh-CN">
                <a:latin typeface="Times New Roman" panose="02020603050405020304" pitchFamily="18" charset="0"/>
              </a:rPr>
              <a:t>= 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   (5)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</a:rPr>
              <a:t>5</a:t>
            </a:r>
            <a:r>
              <a:rPr lang="en-US" altLang="zh-CN">
                <a:latin typeface="Times New Roman" panose="02020603050405020304" pitchFamily="18" charset="0"/>
              </a:rPr>
              <a:t> = 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证明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buClr>
                <a:srgbClr val="FF9900"/>
              </a:buClr>
            </a:pPr>
            <a:r>
              <a:rPr lang="en-US" altLang="zh-CN">
                <a:latin typeface="Times New Roman" panose="02020603050405020304" pitchFamily="18" charset="0"/>
              </a:rPr>
              <a:t>(1),(2) </a:t>
            </a:r>
            <a:r>
              <a:rPr lang="zh-CN" altLang="en-US">
                <a:latin typeface="Times New Roman" panose="02020603050405020304" pitchFamily="18" charset="0"/>
              </a:rPr>
              <a:t>在联结词完备集中加入新的联结词后仍为完备集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buClr>
                <a:srgbClr val="FF9900"/>
              </a:buClr>
            </a:pPr>
            <a:r>
              <a:rPr lang="en-US" altLang="zh-CN">
                <a:latin typeface="Times New Roman" panose="02020603050405020304" pitchFamily="18" charset="0"/>
              </a:rPr>
              <a:t>(3)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(4)</a:t>
            </a:r>
            <a:r>
              <a:rPr lang="en-US" altLang="zh-CN" i="1">
                <a:latin typeface="Times New Roman" panose="02020603050405020304" pitchFamily="18" charset="0"/>
              </a:rPr>
              <a:t>  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(5)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57250" y="5275263"/>
            <a:ext cx="7848600" cy="138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,,,}</a:t>
            </a:r>
            <a:r>
              <a:rPr lang="zh-CN" altLang="en-US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不是联结词完备集</a:t>
            </a: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0</a:t>
            </a:r>
            <a:r>
              <a:rPr lang="zh-CN" altLang="en-US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（恒取</a:t>
            </a: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值的真值函数）不能用它表示；</a:t>
            </a:r>
            <a:endParaRPr lang="en-US" altLang="zh-CN">
              <a:solidFill>
                <a:srgbClr val="CC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它的子集</a:t>
            </a:r>
            <a:r>
              <a:rPr lang="en-US" altLang="zh-CN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{},{},{},{},{,},{,,}</a:t>
            </a:r>
            <a:r>
              <a:rPr lang="zh-CN" altLang="en-US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等都不是</a:t>
            </a:r>
            <a:endParaRPr lang="zh-CN" altLang="en-US">
              <a:solidFill>
                <a:srgbClr val="CC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5ACD43-40F8-4D83-A1BB-C06B22833062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联结词完备集</a:t>
            </a:r>
            <a:endParaRPr lang="zh-CN" altLang="en-US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80400" cy="4752975"/>
          </a:xfrm>
        </p:spPr>
        <p:txBody>
          <a:bodyPr/>
          <a:lstStyle/>
          <a:p>
            <a:pPr marL="609600" indent="-609600" eaLnBrk="1" hangingPunct="1">
              <a:spcBef>
                <a:spcPct val="60000"/>
              </a:spcBef>
            </a:pP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2.7</a:t>
            </a:r>
            <a:r>
              <a:rPr lang="en-US" altLang="zh-CN">
                <a:latin typeface="Times New Roman" panose="02020603050405020304" pitchFamily="18" charset="0"/>
              </a:rPr>
              <a:t>  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Times New Roman" panose="02020603050405020304" pitchFamily="18" charset="0"/>
              </a:rPr>
              <a:t>为联结词完备集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endParaRPr lang="en-US" altLang="zh-CN">
              <a:latin typeface="Times New Roman" panose="02020603050405020304" pitchFamily="18" charset="0"/>
            </a:endParaRPr>
          </a:p>
          <a:p>
            <a:pPr marL="609600" indent="-609600" eaLnBrk="1" hangingPunct="1">
              <a:spcBef>
                <a:spcPct val="60000"/>
              </a:spcBef>
            </a:pPr>
            <a:endParaRPr lang="en-US" altLang="zh-CN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zh-CN" altLang="en-US"/>
              <a:t>证明：因为  </a:t>
            </a:r>
            <a:r>
              <a:rPr lang="en-US" altLang="zh-CN">
                <a:latin typeface="Times New Roman" panose="02020603050405020304" pitchFamily="18" charset="0"/>
              </a:rPr>
              <a:t>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Times New Roman" panose="02020603050405020304" pitchFamily="18" charset="0"/>
              </a:rPr>
              <a:t>为联结词完备集</a:t>
            </a:r>
            <a:endParaRPr lang="en-US" altLang="zh-CN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            </a:t>
            </a:r>
            <a:r>
              <a:rPr lang="zh-CN" altLang="en-US">
                <a:latin typeface="Times New Roman" panose="02020603050405020304" pitchFamily="18" charset="0"/>
              </a:rPr>
              <a:t>而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        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                           </a:t>
            </a:r>
            <a:endParaRPr lang="en-US" altLang="zh-CN" i="1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 i="1">
                <a:latin typeface="Times New Roman" panose="02020603050405020304" pitchFamily="18" charset="0"/>
              </a:rPr>
              <a:t>             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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      </a:t>
            </a:r>
            <a:endParaRPr lang="en-US" altLang="zh-CN" i="1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 i="1">
                <a:latin typeface="Times New Roman" panose="02020603050405020304" pitchFamily="18" charset="0"/>
              </a:rPr>
              <a:t>             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i="1">
                <a:latin typeface="Times New Roman" panose="02020603050405020304" pitchFamily="18" charset="0"/>
              </a:rPr>
              <a:t>q</a:t>
            </a:r>
            <a:r>
              <a:rPr lang="en-US" altLang="zh-CN">
                <a:latin typeface="Times New Roman" panose="02020603050405020304" pitchFamily="18" charset="0"/>
              </a:rPr>
              <a:t>)           </a:t>
            </a:r>
            <a:endParaRPr lang="en-US" altLang="zh-CN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	    </a:t>
            </a:r>
            <a:r>
              <a:rPr lang="zh-CN" altLang="en-US">
                <a:latin typeface="Times New Roman" panose="02020603050405020304" pitchFamily="18" charset="0"/>
              </a:rPr>
              <a:t>所以，</a:t>
            </a:r>
            <a:r>
              <a:rPr lang="en-US" altLang="zh-CN">
                <a:latin typeface="Times New Roman" panose="02020603050405020304" pitchFamily="18" charset="0"/>
              </a:rPr>
              <a:t>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Times New Roman" panose="02020603050405020304" pitchFamily="18" charset="0"/>
              </a:rPr>
              <a:t>为联结词完备集</a:t>
            </a:r>
            <a:r>
              <a:rPr lang="en-US" altLang="zh-CN">
                <a:latin typeface="Times New Roman" panose="02020603050405020304" pitchFamily="18" charset="0"/>
              </a:rPr>
              <a:t>.  </a:t>
            </a:r>
            <a:endParaRPr lang="en-US" altLang="zh-CN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	</a:t>
            </a:r>
            <a:endParaRPr lang="en-US" altLang="zh-CN">
              <a:latin typeface="Times New Roman" panose="02020603050405020304" pitchFamily="18" charset="0"/>
            </a:endParaRPr>
          </a:p>
          <a:p>
            <a:pPr marL="609600" indent="-609600" eaLnBrk="1" hangingPunct="1"/>
            <a:r>
              <a:rPr lang="en-US" altLang="zh-CN">
                <a:latin typeface="Times New Roman" panose="02020603050405020304" pitchFamily="18" charset="0"/>
              </a:rPr>
              <a:t>	    </a:t>
            </a:r>
            <a:r>
              <a:rPr lang="zh-CN" altLang="en-US">
                <a:latin typeface="Times New Roman" panose="02020603050405020304" pitchFamily="18" charset="0"/>
              </a:rPr>
              <a:t>对</a:t>
            </a:r>
            <a:r>
              <a:rPr lang="en-US" altLang="zh-CN">
                <a:latin typeface="Times New Roman" panose="02020603050405020304" pitchFamily="18" charset="0"/>
              </a:rPr>
              <a:t>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Times New Roman" panose="02020603050405020304" pitchFamily="18" charset="0"/>
              </a:rPr>
              <a:t>类似可证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75238" y="2392363"/>
            <a:ext cx="3230562" cy="1344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2"/>
                </a:solidFill>
              </a:rPr>
              <a:t>    除了这 </a:t>
            </a:r>
            <a:r>
              <a:rPr lang="en-US" altLang="zh-CN" dirty="0">
                <a:solidFill>
                  <a:schemeClr val="tx2"/>
                </a:solidFill>
              </a:rPr>
              <a:t>8 </a:t>
            </a:r>
            <a:r>
              <a:rPr lang="zh-CN" altLang="en-US" dirty="0">
                <a:solidFill>
                  <a:schemeClr val="tx2"/>
                </a:solidFill>
              </a:rPr>
              <a:t>个逻辑联结词之外，是否需要定义其它联结词呢？</a:t>
            </a:r>
            <a:endParaRPr lang="zh-CN" altLang="en-US" dirty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14CB8BEC-DB78-4E83-AD55-6097C1236309}" type="slidenum">
              <a:rPr lang="zh-CN" altLang="en-US" sz="1400" b="0"/>
            </a:fld>
            <a:endParaRPr lang="en-US" altLang="zh-CN" sz="1400" b="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2843213" y="-25400"/>
            <a:ext cx="3452812" cy="1069975"/>
          </a:xfrm>
        </p:spPr>
        <p:txBody>
          <a:bodyPr/>
          <a:lstStyle/>
          <a:p>
            <a:pPr algn="ctr" eaLnBrk="1" hangingPunct="1"/>
            <a:r>
              <a:rPr lang="zh-CN" altLang="en-US"/>
              <a:t>结论</a:t>
            </a:r>
            <a:endParaRPr lang="zh-CN" altLang="en-US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772400" cy="769938"/>
          </a:xfrm>
        </p:spPr>
        <p:txBody>
          <a:bodyPr/>
          <a:lstStyle/>
          <a:p>
            <a:pPr marL="762000" indent="-762000" eaLnBrk="1" hangingPunct="1"/>
            <a:r>
              <a:rPr lang="zh-CN" altLang="en-US" sz="3200">
                <a:latin typeface="楷体_GB2312" charset="-122"/>
                <a:ea typeface="楷体_GB2312" charset="-122"/>
              </a:rPr>
              <a:t>    </a:t>
            </a:r>
            <a:endParaRPr lang="zh-CN" altLang="en-US" sz="3200"/>
          </a:p>
        </p:txBody>
      </p:sp>
      <p:sp>
        <p:nvSpPr>
          <p:cNvPr id="30726" name="Rectangle 13"/>
          <p:cNvSpPr>
            <a:spLocks noChangeArrowheads="1"/>
          </p:cNvSpPr>
          <p:nvPr/>
        </p:nvSpPr>
        <p:spPr bwMode="auto">
          <a:xfrm>
            <a:off x="758825" y="1412875"/>
            <a:ext cx="4168775" cy="469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28600" indent="-228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1. </a:t>
            </a:r>
            <a:r>
              <a:rPr lang="zh-CN" altLang="en-US" sz="2800"/>
              <a:t>否定              </a:t>
            </a:r>
            <a:r>
              <a:rPr lang="zh-CN" altLang="en-US" sz="2800">
                <a:sym typeface="Symbol" panose="05050102010706020507" pitchFamily="18" charset="2"/>
              </a:rPr>
              <a:t>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2. </a:t>
            </a:r>
            <a:r>
              <a:rPr lang="zh-CN" altLang="en-US" sz="2800"/>
              <a:t>合取              </a:t>
            </a:r>
            <a:r>
              <a:rPr lang="zh-CN" altLang="en-US" sz="2800">
                <a:sym typeface="Symbol" panose="05050102010706020507" pitchFamily="18" charset="2"/>
              </a:rPr>
              <a:t>   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3. </a:t>
            </a:r>
            <a:r>
              <a:rPr lang="zh-CN" altLang="en-US" sz="2800"/>
              <a:t>析取              </a:t>
            </a:r>
            <a:r>
              <a:rPr lang="zh-CN" altLang="en-US" sz="2800">
                <a:sym typeface="Symbol" panose="05050102010706020507" pitchFamily="18" charset="2"/>
              </a:rPr>
              <a:t>   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4. </a:t>
            </a:r>
            <a:r>
              <a:rPr lang="zh-CN" altLang="en-US" sz="2800"/>
              <a:t>蕴涵              →</a:t>
            </a:r>
            <a:endParaRPr lang="zh-CN" altLang="en-US" sz="2800" b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5. </a:t>
            </a:r>
            <a:r>
              <a:rPr lang="zh-CN" altLang="en-US" sz="2800"/>
              <a:t>等价              </a:t>
            </a:r>
            <a:r>
              <a:rPr lang="zh-CN" altLang="en-US" sz="2800">
                <a:sym typeface="Symbol" panose="05050102010706020507" pitchFamily="18" charset="2"/>
              </a:rPr>
              <a:t>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>
                <a:sym typeface="Symbol" panose="05050102010706020507" pitchFamily="18" charset="2"/>
              </a:rPr>
              <a:t>6. </a:t>
            </a:r>
            <a:r>
              <a:rPr lang="zh-CN" altLang="en-US" sz="2800">
                <a:sym typeface="Symbol" panose="05050102010706020507" pitchFamily="18" charset="2"/>
              </a:rPr>
              <a:t>不</a:t>
            </a:r>
            <a:r>
              <a:rPr lang="zh-CN" altLang="en-US" sz="2800"/>
              <a:t>可兼析取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7. </a:t>
            </a:r>
            <a:r>
              <a:rPr lang="zh-CN" altLang="en-US" sz="2800"/>
              <a:t>与非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spcBef>
                <a:spcPct val="40000"/>
              </a:spcBef>
              <a:buClr>
                <a:srgbClr val="8DACD0"/>
              </a:buClr>
              <a:buSzPct val="7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2800"/>
              <a:t>8. </a:t>
            </a:r>
            <a:r>
              <a:rPr lang="zh-CN" altLang="en-US" sz="2800"/>
              <a:t>或非</a:t>
            </a:r>
            <a:endParaRPr lang="zh-CN" altLang="en-US" sz="2800"/>
          </a:p>
        </p:txBody>
      </p:sp>
      <p:graphicFrame>
        <p:nvGraphicFramePr>
          <p:cNvPr id="30727" name="Object 14"/>
          <p:cNvGraphicFramePr>
            <a:graphicFrameLocks noChangeAspect="1"/>
          </p:cNvGraphicFramePr>
          <p:nvPr/>
        </p:nvGraphicFramePr>
        <p:xfrm>
          <a:off x="3497263" y="4197350"/>
          <a:ext cx="3587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2" imgW="2037080" imgH="2222500" progId="">
                  <p:embed/>
                </p:oleObj>
              </mc:Choice>
              <mc:Fallback>
                <p:oleObj name="Equation" r:id="rId2" imgW="2037080" imgH="22225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4197350"/>
                        <a:ext cx="35877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18"/>
          <p:cNvSpPr txBox="1">
            <a:spLocks noChangeArrowheads="1"/>
          </p:cNvSpPr>
          <p:nvPr/>
        </p:nvSpPr>
        <p:spPr bwMode="auto">
          <a:xfrm>
            <a:off x="3324225" y="52863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</a:t>
            </a:r>
            <a:endParaRPr kumimoji="1" lang="zh-CN" altLang="en-US" sz="2800" b="0">
              <a:solidFill>
                <a:schemeClr val="tx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29" name="Text Box 19"/>
          <p:cNvSpPr txBox="1">
            <a:spLocks noChangeArrowheads="1"/>
          </p:cNvSpPr>
          <p:nvPr/>
        </p:nvSpPr>
        <p:spPr bwMode="auto">
          <a:xfrm>
            <a:off x="3324225" y="4745038"/>
            <a:ext cx="3587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 b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 </a:t>
            </a:r>
            <a:endParaRPr kumimoji="1" lang="zh-CN" altLang="en-US" sz="2800" b="0">
              <a:solidFill>
                <a:schemeClr val="tx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" name="爆炸形: 14 pt  1"/>
          <p:cNvSpPr/>
          <p:nvPr/>
        </p:nvSpPr>
        <p:spPr>
          <a:xfrm>
            <a:off x="4124325" y="1835150"/>
            <a:ext cx="2660650" cy="86360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问题：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394200" y="4064000"/>
            <a:ext cx="4354513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0000"/>
                </a:solidFill>
              </a:rPr>
              <a:t>   答案： 除常量</a:t>
            </a:r>
            <a:r>
              <a:rPr lang="en-US" altLang="zh-CN" sz="2800" i="1">
                <a:solidFill>
                  <a:srgbClr val="FF0000"/>
                </a:solidFill>
              </a:rPr>
              <a:t>T</a:t>
            </a:r>
            <a:r>
              <a:rPr lang="en-US" altLang="zh-CN" sz="2800">
                <a:solidFill>
                  <a:srgbClr val="FF0000"/>
                </a:solidFill>
              </a:rPr>
              <a:t>, </a:t>
            </a:r>
            <a:r>
              <a:rPr lang="en-US" altLang="zh-CN" sz="2800" i="1">
                <a:solidFill>
                  <a:srgbClr val="FF0000"/>
                </a:solidFill>
              </a:rPr>
              <a:t>F</a:t>
            </a:r>
            <a:r>
              <a:rPr lang="zh-CN" altLang="en-US" sz="2800">
                <a:solidFill>
                  <a:srgbClr val="FF0000"/>
                </a:solidFill>
              </a:rPr>
              <a:t>以及命题变项本身外，命题联结词共有</a:t>
            </a:r>
            <a:r>
              <a:rPr lang="en-US" altLang="zh-CN" sz="2800">
                <a:solidFill>
                  <a:srgbClr val="FF0000"/>
                </a:solidFill>
              </a:rPr>
              <a:t>8</a:t>
            </a:r>
            <a:r>
              <a:rPr lang="zh-CN" altLang="en-US" sz="2800">
                <a:solidFill>
                  <a:srgbClr val="FF0000"/>
                </a:solidFill>
              </a:rPr>
              <a:t>个就够了！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fld id="{8159A838-228E-4495-AEF7-E9A87E3861C0}" type="slidenum">
              <a:rPr lang="zh-CN" altLang="en-US" sz="1400" b="0"/>
            </a:fld>
            <a:endParaRPr lang="en-US" altLang="zh-CN" sz="1400" b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思考</a:t>
            </a:r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600200"/>
            <a:ext cx="7772400" cy="449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>
                <a:latin typeface="+mn-ea"/>
              </a:rPr>
              <a:t>是不是</a:t>
            </a:r>
            <a:r>
              <a:rPr lang="en-US" altLang="zh-CN" sz="3200" dirty="0">
                <a:latin typeface="+mn-ea"/>
              </a:rPr>
              <a:t>8</a:t>
            </a:r>
            <a:r>
              <a:rPr lang="zh-CN" altLang="en-US" sz="3200" dirty="0">
                <a:latin typeface="+mn-ea"/>
              </a:rPr>
              <a:t>个逻辑联结词都是必要的？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45796" name="AutoShape 4"/>
          <p:cNvSpPr>
            <a:spLocks noChangeArrowheads="1"/>
          </p:cNvSpPr>
          <p:nvPr/>
        </p:nvSpPr>
        <p:spPr bwMode="auto">
          <a:xfrm>
            <a:off x="2798763" y="3124200"/>
            <a:ext cx="4460875" cy="2133600"/>
          </a:xfrm>
          <a:prstGeom prst="cloudCallout">
            <a:avLst>
              <a:gd name="adj1" fmla="val -1046"/>
              <a:gd name="adj2" fmla="val -94792"/>
            </a:avLst>
          </a:prstGeom>
          <a:solidFill>
            <a:srgbClr val="FFFFFF"/>
          </a:solidFill>
          <a:ln w="38100" cap="sq">
            <a:solidFill>
              <a:schemeClr val="tx2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buClr>
                <a:schemeClr val="tx2"/>
              </a:buClr>
              <a:buSzPct val="90000"/>
              <a:buFont typeface="Symbol" panose="05050102010706020507" pitchFamily="18" charset="2"/>
              <a:buNone/>
            </a:pPr>
            <a:r>
              <a:rPr lang="zh-CN" altLang="en-US" sz="4000" b="0">
                <a:solidFill>
                  <a:srgbClr val="FF0000"/>
                </a:solidFill>
              </a:rPr>
              <a:t>最小联结词完备集</a:t>
            </a:r>
            <a:endParaRPr kumimoji="1" lang="zh-CN" altLang="en-US" sz="400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5" grpId="0" autoUpdateAnimBg="0" build="p"/>
      <p:bldP spid="545796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01703B-FDF0-40AB-8447-7BFD7818D3D1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 dirty="0">
              <a:latin typeface="Verdan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最小联结词完备集</a:t>
            </a:r>
            <a:endParaRPr lang="zh-CN" altLang="en-US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13788" cy="2303462"/>
          </a:xfrm>
        </p:spPr>
        <p:txBody>
          <a:bodyPr/>
          <a:lstStyle/>
          <a:p>
            <a:pPr marL="495300" indent="-495300" eaLnBrk="1" hangingPunct="1">
              <a:buFont typeface="Wingdings" panose="05000000000000000000" pitchFamily="2" charset="2"/>
              <a:buChar char="l"/>
            </a:pP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zh-CN" altLang="en-US">
                <a:solidFill>
                  <a:srgbClr val="000000"/>
                </a:solidFill>
              </a:rPr>
              <a:t>是联结词完备集，从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zh-CN" altLang="en-US">
                <a:solidFill>
                  <a:srgbClr val="000000"/>
                </a:solidFill>
              </a:rPr>
              <a:t>中任意去掉一个联结词后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得到一个联结词集合</a:t>
            </a:r>
            <a:r>
              <a:rPr lang="en-US" altLang="zh-CN" i="1">
                <a:solidFill>
                  <a:srgbClr val="000000"/>
                </a:solidFill>
              </a:rPr>
              <a:t>S’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至少有一个公式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不等值于仅包含</a:t>
            </a:r>
            <a:r>
              <a:rPr lang="en-US" altLang="zh-CN" i="1">
                <a:solidFill>
                  <a:srgbClr val="000000"/>
                </a:solidFill>
              </a:rPr>
              <a:t>S’</a:t>
            </a:r>
            <a:r>
              <a:rPr lang="zh-CN" altLang="en-US">
                <a:solidFill>
                  <a:srgbClr val="000000"/>
                </a:solidFill>
              </a:rPr>
              <a:t>中联结词的任一公式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则称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zh-CN" altLang="en-US">
                <a:solidFill>
                  <a:srgbClr val="000000"/>
                </a:solidFill>
              </a:rPr>
              <a:t>为</a:t>
            </a:r>
            <a:r>
              <a:rPr lang="zh-CN" altLang="en-US">
                <a:solidFill>
                  <a:schemeClr val="accent2"/>
                </a:solidFill>
              </a:rPr>
              <a:t>最小联结词完备集</a:t>
            </a:r>
            <a:r>
              <a:rPr lang="en-US" altLang="zh-CN">
                <a:solidFill>
                  <a:srgbClr val="000000"/>
                </a:solidFill>
              </a:rPr>
              <a:t>.</a:t>
            </a:r>
            <a:endParaRPr lang="en-US" altLang="zh-CN">
              <a:solidFill>
                <a:srgbClr val="000000"/>
              </a:solidFill>
            </a:endParaRPr>
          </a:p>
          <a:p>
            <a:pPr marL="495300" indent="-495300" eaLnBrk="1" hangingPunct="1">
              <a:buFont typeface="Wingdings" panose="05000000000000000000" pitchFamily="2" charset="2"/>
              <a:buChar char="l"/>
            </a:pPr>
            <a:endParaRPr lang="en-US" altLang="zh-CN"/>
          </a:p>
          <a:p>
            <a:pPr marL="495300" indent="-495300" eaLnBrk="1" hangingPunct="1">
              <a:spcBef>
                <a:spcPct val="100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试说明</a:t>
            </a:r>
            <a:r>
              <a:rPr lang="en-US" altLang="zh-CN"/>
              <a:t>{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/>
              <a:t>}</a:t>
            </a:r>
            <a:r>
              <a:rPr lang="zh-CN" altLang="en-US"/>
              <a:t>、</a:t>
            </a:r>
            <a:r>
              <a:rPr lang="en-US" altLang="zh-CN"/>
              <a:t>{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</a:t>
            </a:r>
            <a:r>
              <a:rPr lang="en-US" altLang="zh-CN"/>
              <a:t>}</a:t>
            </a:r>
            <a:r>
              <a:rPr lang="zh-CN" altLang="en-US"/>
              <a:t>和</a:t>
            </a:r>
            <a:r>
              <a:rPr lang="en-US" altLang="zh-CN"/>
              <a:t>{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}</a:t>
            </a:r>
            <a:r>
              <a:rPr lang="zh-CN" altLang="en-US"/>
              <a:t>是最小联结词完备集。</a:t>
            </a:r>
            <a:endParaRPr lang="en-US" altLang="zh-CN"/>
          </a:p>
          <a:p>
            <a:pPr marL="495300" indent="-495300" eaLnBrk="1" hangingPunct="1">
              <a:spcBef>
                <a:spcPct val="10000"/>
              </a:spcBef>
              <a:buFont typeface="Wingdings" panose="05000000000000000000" pitchFamily="2" charset="2"/>
              <a:buChar char="l"/>
            </a:pPr>
            <a:endParaRPr lang="zh-CN" altLang="en-US"/>
          </a:p>
        </p:txBody>
      </p:sp>
      <p:sp>
        <p:nvSpPr>
          <p:cNvPr id="32773" name="Rectangle 3"/>
          <p:cNvSpPr txBox="1">
            <a:spLocks noChangeArrowheads="1"/>
          </p:cNvSpPr>
          <p:nvPr/>
        </p:nvSpPr>
        <p:spPr bwMode="auto">
          <a:xfrm>
            <a:off x="468313" y="3398838"/>
            <a:ext cx="8207375" cy="2487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2060"/>
                </a:solidFill>
              </a:rPr>
              <a:t>根据推论已知</a:t>
            </a:r>
            <a:r>
              <a:rPr lang="en-US" altLang="zh-CN" sz="2000" dirty="0">
                <a:solidFill>
                  <a:srgbClr val="002060"/>
                </a:solidFill>
              </a:rPr>
              <a:t>{</a:t>
            </a:r>
            <a:r>
              <a:rPr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2060"/>
                </a:solidFill>
              </a:rPr>
              <a:t>, </a:t>
            </a: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solidFill>
                  <a:srgbClr val="002060"/>
                </a:solidFill>
              </a:rPr>
              <a:t>} </a:t>
            </a:r>
            <a:r>
              <a:rPr lang="zh-CN" altLang="en-US" sz="2000" dirty="0">
                <a:solidFill>
                  <a:srgbClr val="002060"/>
                </a:solidFill>
              </a:rPr>
              <a:t>是联结词完备集，下面说明</a:t>
            </a: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一元联结词</a:t>
            </a:r>
            <a:r>
              <a:rPr kumimoji="1" lang="zh-CN" altLang="en-US" sz="2000" dirty="0">
                <a:solidFill>
                  <a:srgbClr val="002060"/>
                </a:solidFill>
              </a:rPr>
              <a:t>不能用二元联结词 </a:t>
            </a: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 </a:t>
            </a:r>
            <a:r>
              <a:rPr kumimoji="1" lang="zh-CN" altLang="en-US" sz="2000" dirty="0">
                <a:solidFill>
                  <a:srgbClr val="002060"/>
                </a:solidFill>
              </a:rPr>
              <a:t>表示。</a:t>
            </a:r>
            <a:endParaRPr kumimoji="1" lang="zh-CN" altLang="en-US" sz="2000" dirty="0">
              <a:solidFill>
                <a:srgbClr val="002060"/>
              </a:solidFill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如有</a:t>
            </a:r>
            <a:r>
              <a:rPr kumimoji="1" lang="en-US" altLang="zh-CN" sz="2000" i="1" dirty="0">
                <a:solidFill>
                  <a:srgbClr val="002060"/>
                </a:solidFill>
              </a:rPr>
              <a:t>p </a:t>
            </a:r>
            <a:r>
              <a:rPr kumimoji="1"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</a:t>
            </a: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（</a:t>
            </a:r>
            <a:r>
              <a:rPr kumimoji="1" lang="en-US" altLang="zh-CN" sz="2000" dirty="0">
                <a:solidFill>
                  <a:srgbClr val="002060"/>
                </a:solidFill>
              </a:rPr>
              <a:t>… </a:t>
            </a:r>
            <a:r>
              <a:rPr kumimoji="1"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( </a:t>
            </a:r>
            <a:r>
              <a:rPr kumimoji="1" lang="en-US" altLang="zh-CN" sz="2000" i="1" dirty="0">
                <a:solidFill>
                  <a:srgbClr val="002060"/>
                </a:solidFill>
              </a:rPr>
              <a:t>p </a:t>
            </a:r>
            <a:r>
              <a:rPr kumimoji="1"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</a:t>
            </a:r>
            <a:r>
              <a:rPr kumimoji="1" lang="en-US" altLang="zh-CN" sz="2000" dirty="0">
                <a:solidFill>
                  <a:srgbClr val="002060"/>
                </a:solidFill>
              </a:rPr>
              <a:t> </a:t>
            </a:r>
            <a:r>
              <a:rPr kumimoji="1" lang="en-US" altLang="zh-CN" sz="2000" i="1" dirty="0">
                <a:solidFill>
                  <a:srgbClr val="002060"/>
                </a:solidFill>
              </a:rPr>
              <a:t>q</a:t>
            </a:r>
            <a:r>
              <a:rPr kumimoji="1" lang="en-US" altLang="zh-CN" sz="2000" dirty="0">
                <a:solidFill>
                  <a:srgbClr val="002060"/>
                </a:solidFill>
              </a:rPr>
              <a:t>) </a:t>
            </a:r>
            <a:r>
              <a:rPr kumimoji="1"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</a:t>
            </a:r>
            <a:r>
              <a:rPr kumimoji="1" lang="en-US" altLang="zh-CN" sz="2000" dirty="0">
                <a:solidFill>
                  <a:srgbClr val="002060"/>
                </a:solidFill>
              </a:rPr>
              <a:t>… </a:t>
            </a:r>
            <a:r>
              <a:rPr kumimoji="1"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</a:t>
            </a:r>
            <a:r>
              <a:rPr kumimoji="1" lang="en-US" altLang="zh-CN" sz="2000" dirty="0">
                <a:solidFill>
                  <a:srgbClr val="002060"/>
                </a:solidFill>
              </a:rPr>
              <a:t> …</a:t>
            </a: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）</a:t>
            </a:r>
            <a:r>
              <a:rPr kumimoji="1" lang="zh-CN" altLang="en-US" sz="2000" dirty="0">
                <a:solidFill>
                  <a:srgbClr val="002060"/>
                </a:solidFill>
              </a:rPr>
              <a:t>的形式，则对该等值式的右边所出现的变元</a:t>
            </a:r>
            <a:r>
              <a:rPr kumimoji="1" lang="en-US" altLang="zh-CN" sz="2000" dirty="0">
                <a:solidFill>
                  <a:srgbClr val="002060"/>
                </a:solidFill>
              </a:rPr>
              <a:t>, </a:t>
            </a:r>
            <a:r>
              <a:rPr kumimoji="1" lang="zh-CN" altLang="en-US" sz="2000" dirty="0">
                <a:solidFill>
                  <a:srgbClr val="002060"/>
                </a:solidFill>
              </a:rPr>
              <a:t>都指派真值</a:t>
            </a:r>
            <a:r>
              <a:rPr kumimoji="1" lang="en-US" altLang="zh-CN" sz="2000" dirty="0">
                <a:solidFill>
                  <a:srgbClr val="002060"/>
                </a:solidFill>
              </a:rPr>
              <a:t>1, </a:t>
            </a:r>
            <a:r>
              <a:rPr kumimoji="1" lang="zh-CN" altLang="en-US" sz="2000" dirty="0">
                <a:solidFill>
                  <a:srgbClr val="002060"/>
                </a:solidFill>
              </a:rPr>
              <a:t>则其真值必为</a:t>
            </a:r>
            <a:r>
              <a:rPr kumimoji="1" lang="en-US" altLang="zh-CN" sz="2000" dirty="0">
                <a:solidFill>
                  <a:srgbClr val="002060"/>
                </a:solidFill>
              </a:rPr>
              <a:t>1, </a:t>
            </a:r>
            <a:r>
              <a:rPr kumimoji="1" lang="zh-CN" altLang="en-US" sz="2000" dirty="0">
                <a:solidFill>
                  <a:srgbClr val="002060"/>
                </a:solidFill>
              </a:rPr>
              <a:t>而该式的左边的真值为</a:t>
            </a:r>
            <a:r>
              <a:rPr kumimoji="1" lang="en-US" altLang="zh-CN" sz="2000" dirty="0">
                <a:solidFill>
                  <a:srgbClr val="002060"/>
                </a:solidFill>
              </a:rPr>
              <a:t>0,</a:t>
            </a:r>
            <a:r>
              <a:rPr kumimoji="1" lang="zh-CN" altLang="en-US" sz="2000" dirty="0">
                <a:solidFill>
                  <a:srgbClr val="002060"/>
                </a:solidFill>
              </a:rPr>
              <a:t>产生矛盾</a:t>
            </a:r>
            <a:r>
              <a:rPr kumimoji="1" lang="en-US" altLang="zh-CN" sz="2000" dirty="0">
                <a:solidFill>
                  <a:srgbClr val="002060"/>
                </a:solidFill>
              </a:rPr>
              <a:t>, </a:t>
            </a:r>
            <a:r>
              <a:rPr kumimoji="1" lang="zh-CN" altLang="en-US" sz="2000" dirty="0">
                <a:solidFill>
                  <a:srgbClr val="002060"/>
                </a:solidFill>
              </a:rPr>
              <a:t>说明“</a:t>
            </a: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</a:t>
            </a:r>
            <a:r>
              <a:rPr kumimoji="1" lang="zh-CN" altLang="en-US" sz="2000" dirty="0">
                <a:solidFill>
                  <a:srgbClr val="002060"/>
                </a:solidFill>
              </a:rPr>
              <a:t>”不能由 “</a:t>
            </a: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</a:t>
            </a:r>
            <a:r>
              <a:rPr kumimoji="1" lang="zh-CN" altLang="en-US" sz="2000" dirty="0">
                <a:solidFill>
                  <a:srgbClr val="002060"/>
                </a:solidFill>
              </a:rPr>
              <a:t>”的复合所替代</a:t>
            </a:r>
            <a:r>
              <a:rPr kumimoji="1" lang="en-US" altLang="zh-CN" sz="2000" dirty="0">
                <a:solidFill>
                  <a:srgbClr val="002060"/>
                </a:solidFill>
              </a:rPr>
              <a:t>. </a:t>
            </a:r>
            <a:endParaRPr kumimoji="1" lang="en-US" altLang="zh-CN" sz="2000" dirty="0">
              <a:solidFill>
                <a:srgbClr val="002060"/>
              </a:solidFill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kumimoji="1" lang="zh-CN" altLang="en-US" sz="2000" dirty="0">
                <a:solidFill>
                  <a:srgbClr val="002060"/>
                </a:solidFill>
              </a:rPr>
              <a:t>同理可说明“</a:t>
            </a:r>
            <a:r>
              <a:rPr kumimoji="1"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</a:t>
            </a:r>
            <a:r>
              <a:rPr kumimoji="1" lang="zh-CN" altLang="en-US" sz="2000" dirty="0">
                <a:solidFill>
                  <a:srgbClr val="002060"/>
                </a:solidFill>
              </a:rPr>
              <a:t>”不能由 “</a:t>
            </a:r>
            <a:r>
              <a:rPr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</a:t>
            </a:r>
            <a:r>
              <a:rPr kumimoji="1" lang="zh-CN" altLang="en-US" sz="2000" dirty="0">
                <a:solidFill>
                  <a:srgbClr val="002060"/>
                </a:solidFill>
              </a:rPr>
              <a:t>”和“</a:t>
            </a:r>
            <a:r>
              <a:rPr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”</a:t>
            </a:r>
            <a:r>
              <a:rPr kumimoji="1" lang="zh-CN" altLang="en-US" sz="2000" dirty="0">
                <a:solidFill>
                  <a:srgbClr val="002060"/>
                </a:solidFill>
              </a:rPr>
              <a:t>的复合所替代</a:t>
            </a:r>
            <a:r>
              <a:rPr kumimoji="1" lang="en-US" altLang="zh-CN" sz="2000" dirty="0">
                <a:solidFill>
                  <a:srgbClr val="002060"/>
                </a:solidFill>
              </a:rPr>
              <a:t>.</a:t>
            </a:r>
            <a:r>
              <a:rPr kumimoji="1" lang="zh-CN" altLang="en-US" sz="2000" dirty="0">
                <a:solidFill>
                  <a:srgbClr val="002060"/>
                </a:solidFill>
              </a:rPr>
              <a:t>所以去掉</a:t>
            </a:r>
            <a:r>
              <a:rPr lang="zh-CN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是不可以的，所以</a:t>
            </a:r>
            <a:r>
              <a:rPr lang="en-US" altLang="zh-CN" sz="2000" dirty="0">
                <a:solidFill>
                  <a:srgbClr val="002060"/>
                </a:solidFill>
              </a:rPr>
              <a:t>{</a:t>
            </a:r>
            <a:r>
              <a:rPr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2060"/>
                </a:solidFill>
              </a:rPr>
              <a:t>, </a:t>
            </a:r>
            <a:r>
              <a:rPr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000" dirty="0">
                <a:solidFill>
                  <a:srgbClr val="002060"/>
                </a:solidFill>
              </a:rPr>
              <a:t>}</a:t>
            </a:r>
            <a:r>
              <a:rPr lang="zh-CN" altLang="en-US" sz="2000" dirty="0">
                <a:solidFill>
                  <a:srgbClr val="002060"/>
                </a:solidFill>
              </a:rPr>
              <a:t>、</a:t>
            </a:r>
            <a:r>
              <a:rPr lang="en-US" altLang="zh-CN" sz="2000" dirty="0">
                <a:solidFill>
                  <a:srgbClr val="002060"/>
                </a:solidFill>
              </a:rPr>
              <a:t>{</a:t>
            </a:r>
            <a:r>
              <a:rPr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2060"/>
                </a:solidFill>
              </a:rPr>
              <a:t>, </a:t>
            </a:r>
            <a:r>
              <a:rPr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2000" dirty="0">
                <a:solidFill>
                  <a:srgbClr val="002060"/>
                </a:solidFill>
              </a:rPr>
              <a:t>}</a:t>
            </a:r>
            <a:r>
              <a:rPr lang="zh-CN" altLang="en-US" sz="2000" dirty="0">
                <a:solidFill>
                  <a:srgbClr val="002060"/>
                </a:solidFill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</a:rPr>
              <a:t>{</a:t>
            </a:r>
            <a:r>
              <a:rPr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000" dirty="0">
                <a:solidFill>
                  <a:srgbClr val="002060"/>
                </a:solidFill>
              </a:rPr>
              <a:t>, </a:t>
            </a:r>
            <a:r>
              <a:rPr lang="en-US" altLang="zh-CN" sz="2000" dirty="0">
                <a:solidFill>
                  <a:srgbClr val="00206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002060"/>
                </a:solidFill>
              </a:rPr>
              <a:t>}</a:t>
            </a:r>
            <a:r>
              <a:rPr lang="zh-CN" altLang="en-US" sz="2000" dirty="0">
                <a:solidFill>
                  <a:srgbClr val="002060"/>
                </a:solidFill>
              </a:rPr>
              <a:t>是最小联结词完备集。</a:t>
            </a:r>
            <a:endParaRPr lang="zh-CN" altLang="en-US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2.3</a:t>
            </a:r>
            <a:r>
              <a:rPr lang="en-US" altLang="zh-CN"/>
              <a:t>  </a:t>
            </a:r>
            <a:r>
              <a:rPr lang="zh-CN" altLang="en-US"/>
              <a:t>联结词的完备集（回顾）</a:t>
            </a:r>
            <a:endParaRPr lang="zh-CN" altLang="en-US"/>
          </a:p>
        </p:txBody>
      </p:sp>
      <p:sp>
        <p:nvSpPr>
          <p:cNvPr id="34819" name="内容占位符 1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/>
              <a:t>其他联结词</a:t>
            </a:r>
            <a:endParaRPr lang="en-US" altLang="zh-CN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与非 </a:t>
            </a:r>
            <a:r>
              <a:rPr lang="en-US" altLang="zh-CN">
                <a:sym typeface="Symbol" panose="05050102010706020507" pitchFamily="18" charset="2"/>
              </a:rPr>
              <a:t></a:t>
            </a:r>
            <a:endParaRPr lang="en-US" altLang="zh-CN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或非 </a:t>
            </a:r>
            <a:r>
              <a:rPr lang="en-US" altLang="zh-CN">
                <a:sym typeface="Symbol" panose="05050102010706020507" pitchFamily="18" charset="2"/>
              </a:rPr>
              <a:t></a:t>
            </a:r>
            <a:endParaRPr lang="en-US" altLang="zh-CN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不可兼析取</a:t>
            </a:r>
            <a:endParaRPr lang="en-US" altLang="zh-CN"/>
          </a:p>
          <a:p>
            <a:pPr>
              <a:buFont typeface="Wingdings" panose="05000000000000000000" pitchFamily="2" charset="2"/>
              <a:buChar char="l"/>
            </a:pPr>
            <a:endParaRPr lang="en-US" altLang="zh-CN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/>
              <a:t>联结词的完备集</a:t>
            </a:r>
            <a:endParaRPr lang="en-US" altLang="zh-CN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元</a:t>
            </a:r>
            <a:r>
              <a:rPr lang="zh-CN" altLang="en-US"/>
              <a:t>真值函数</a:t>
            </a:r>
            <a:endParaRPr lang="en-US" altLang="zh-CN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联结词的完备集</a:t>
            </a:r>
            <a:endParaRPr lang="en-US" altLang="zh-CN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最小联结词完备集</a:t>
            </a:r>
            <a:endParaRPr lang="en-US" altLang="zh-CN"/>
          </a:p>
          <a:p>
            <a:pPr lvl="1">
              <a:buClr>
                <a:srgbClr val="FFC000"/>
              </a:buClr>
              <a:buFont typeface="Wingdings" panose="05000000000000000000" pitchFamily="2" charset="2"/>
              <a:buChar char="l"/>
            </a:pPr>
            <a:endParaRPr lang="zh-CN" altLang="en-US"/>
          </a:p>
        </p:txBody>
      </p:sp>
      <p:sp>
        <p:nvSpPr>
          <p:cNvPr id="3482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AF0691-222A-453D-ABE1-137C7567BBC1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aphicFrame>
        <p:nvGraphicFramePr>
          <p:cNvPr id="34822" name="Object 10"/>
          <p:cNvGraphicFramePr>
            <a:graphicFrameLocks noChangeAspect="1"/>
          </p:cNvGraphicFramePr>
          <p:nvPr/>
        </p:nvGraphicFramePr>
        <p:xfrm>
          <a:off x="2771775" y="2708275"/>
          <a:ext cx="3603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152400" imgH="152400" progId="Equation.3">
                  <p:embed/>
                </p:oleObj>
              </mc:Choice>
              <mc:Fallback>
                <p:oleObj name="公式" r:id="rId1" imgW="152400" imgH="152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708275"/>
                        <a:ext cx="3603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4EAA69-8750-41CF-9298-25A22D9F930D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2.1 </a:t>
            </a:r>
            <a:r>
              <a:rPr lang="zh-CN" altLang="en-US"/>
              <a:t>等值式</a:t>
            </a:r>
            <a:endParaRPr lang="en-US" altLang="zh-CN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2.2 </a:t>
            </a:r>
            <a:r>
              <a:rPr lang="zh-CN" altLang="en-US"/>
              <a:t>析取范式与合取范式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2.3 </a:t>
            </a:r>
            <a:r>
              <a:rPr lang="zh-CN" altLang="en-US"/>
              <a:t>联结词完备集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FF0000"/>
                </a:solidFill>
              </a:rPr>
              <a:t>2.4 </a:t>
            </a:r>
            <a:r>
              <a:rPr lang="zh-CN" altLang="en-US">
                <a:solidFill>
                  <a:srgbClr val="FF0000"/>
                </a:solidFill>
              </a:rPr>
              <a:t>可满足性问题与消解法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第二章 命题逻辑等值演算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9B8A35-8E80-49BD-9BF9-A7D96E690FD0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2.4</a:t>
            </a:r>
            <a:r>
              <a:rPr lang="en-US" altLang="zh-CN"/>
              <a:t> </a:t>
            </a:r>
            <a:r>
              <a:rPr lang="zh-CN" altLang="en-US"/>
              <a:t>可满足性问题与消解法</a:t>
            </a:r>
            <a:endParaRPr lang="zh-CN" altLang="en-US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403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消解文字、消解式（消解结果）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</a:rPr>
              <a:t>消解规则</a:t>
            </a:r>
            <a:endParaRPr lang="en-US" altLang="zh-CN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消解序列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</a:rPr>
              <a:t>消解算法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例子：判断公式的可满足性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970" y="1125220"/>
            <a:ext cx="4125595" cy="161480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5ACB-CB68-4A70-84B7-8B74B58D0B79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Group 19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3305" y="2599055"/>
          <a:ext cx="7113905" cy="3997960"/>
        </p:xfrm>
        <a:graphic>
          <a:graphicData uri="http://schemas.openxmlformats.org/drawingml/2006/table">
            <a:tbl>
              <a:tblPr/>
              <a:tblGrid>
                <a:gridCol w="1389380"/>
                <a:gridCol w="805180"/>
                <a:gridCol w="1480820"/>
                <a:gridCol w="1480820"/>
                <a:gridCol w="1957705"/>
              </a:tblGrid>
              <a:tr h="4654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   q   r</a:t>
                      </a:r>
                      <a:endParaRPr kumimoji="0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p</a:t>
                      </a:r>
                      <a:r>
                        <a:rPr lang="en-US" altLang="zh-CN" sz="2400" b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US" altLang="zh-CN" sz="2400" b="1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q</a:t>
                      </a:r>
                      <a:endParaRPr kumimoji="0" lang="en-US" altLang="zh-CN" sz="2400" b="1" i="1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)(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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endParaRPr lang="en-US" altLang="zh-CN" sz="24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5325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0   0   0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0   0   1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0   1   0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0   1   1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1   0   0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1   0   1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1   1   0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1   1   1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例子：判断公式的可满足性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970" y="1125220"/>
            <a:ext cx="4125595" cy="161480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 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5ACB-CB68-4A70-84B7-8B74B58D0B79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Group 19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3305" y="2599055"/>
          <a:ext cx="7113905" cy="3997960"/>
        </p:xfrm>
        <a:graphic>
          <a:graphicData uri="http://schemas.openxmlformats.org/drawingml/2006/table">
            <a:tbl>
              <a:tblPr/>
              <a:tblGrid>
                <a:gridCol w="1389380"/>
                <a:gridCol w="805180"/>
                <a:gridCol w="1480820"/>
                <a:gridCol w="1480820"/>
                <a:gridCol w="1957705"/>
              </a:tblGrid>
              <a:tr h="4654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   q   r</a:t>
                      </a:r>
                      <a:endParaRPr kumimoji="0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i="1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p</a:t>
                      </a:r>
                      <a:r>
                        <a:rPr lang="en-US" altLang="zh-CN" sz="2400" b="1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US" altLang="zh-CN" sz="2400" b="1" i="1" dirty="0" err="1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q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)(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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endParaRPr lang="en-US" altLang="zh-CN" sz="2400" b="1" i="1" dirty="0">
                        <a:latin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5325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0   0   0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0   0   1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0   1   0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0   1   1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1   0   0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1   0   1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1   1   0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1   1   1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" name="内容占位符 2"/>
          <p:cNvSpPr>
            <a:spLocks noGrp="1"/>
          </p:cNvSpPr>
          <p:nvPr/>
        </p:nvSpPr>
        <p:spPr>
          <a:xfrm>
            <a:off x="2844800" y="1125220"/>
            <a:ext cx="1910080" cy="714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  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kumimoji="0" lang="en-US" altLang="zh-CN" sz="2400" b="1" i="1" u="none" strike="noStrike" cap="none" normalizeH="0" baseline="0" dirty="0" err="1">
                <a:ln>
                  <a:noFill/>
                </a:ln>
                <a:solidFill>
                  <a:srgbClr val="0066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2CC413-2A77-4617-98D9-E5900E8957A7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2.4</a:t>
            </a:r>
            <a:r>
              <a:rPr lang="en-US" altLang="zh-CN"/>
              <a:t> </a:t>
            </a:r>
            <a:r>
              <a:rPr lang="zh-CN" altLang="en-US"/>
              <a:t>可满足性问题与消解法</a:t>
            </a:r>
            <a:endParaRPr lang="zh-CN" altLang="en-US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124744"/>
            <a:ext cx="8158361" cy="5040313"/>
          </a:xfrm>
        </p:spPr>
        <p:txBody>
          <a:bodyPr/>
          <a:lstStyle/>
          <a:p>
            <a:pPr lvl="0" eaLnBrk="1" hangingPunct="1">
              <a:lnSpc>
                <a:spcPct val="9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宋体" panose="02010600030101010101" pitchFamily="2" charset="-122"/>
              </a:rPr>
              <a:t>命题公式的可满足性问题可以归结为其</a:t>
            </a:r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</a:rPr>
              <a:t>合取范式</a:t>
            </a:r>
            <a:endParaRPr lang="en-US" altLang="zh-CN" dirty="0">
              <a:solidFill>
                <a:srgbClr val="00B05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dirty="0">
                <a:latin typeface="宋体" panose="02010600030101010101" pitchFamily="2" charset="-122"/>
              </a:rPr>
              <a:t>的可满足性问题（</a:t>
            </a:r>
            <a:r>
              <a:rPr lang="zh-CN" altLang="en-US" sz="2000" i="1" dirty="0">
                <a:latin typeface="宋体" panose="02010600030101010101" pitchFamily="2" charset="-122"/>
              </a:rPr>
              <a:t>原因：任意一个公式可以化成等值的合取范式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宋体" panose="02010600030101010101" pitchFamily="2" charset="-122"/>
              </a:rPr>
              <a:t>不含任何</a:t>
            </a:r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</a:rPr>
              <a:t>文字</a:t>
            </a:r>
            <a:r>
              <a:rPr lang="zh-CN" altLang="en-US" dirty="0">
                <a:latin typeface="宋体" panose="02010600030101010101" pitchFamily="2" charset="-122"/>
              </a:rPr>
              <a:t>的简单析取式称作</a:t>
            </a:r>
            <a:r>
              <a:rPr lang="zh-CN" altLang="en-US" dirty="0">
                <a:solidFill>
                  <a:srgbClr val="A50021"/>
                </a:solidFill>
                <a:latin typeface="宋体" panose="02010600030101010101" pitchFamily="2" charset="-122"/>
              </a:rPr>
              <a:t>空简单析取式</a:t>
            </a:r>
            <a:r>
              <a:rPr lang="en-US" altLang="zh-CN" dirty="0">
                <a:latin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</a:rPr>
              <a:t>记作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</a:t>
            </a: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规定是不可满足的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宋体" panose="02010600030101010101" pitchFamily="2" charset="-122"/>
              </a:rPr>
              <a:t>约定</a:t>
            </a:r>
            <a:r>
              <a:rPr lang="en-US" altLang="zh-CN" dirty="0">
                <a:latin typeface="宋体" panose="02010600030101010101" pitchFamily="2" charset="-122"/>
              </a:rPr>
              <a:t>: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简单析取式不同时含某个命题变项和它的否定</a:t>
            </a:r>
            <a:endParaRPr lang="zh-CN" altLang="en-US" dirty="0">
              <a:solidFill>
                <a:srgbClr val="0066FF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</a:rPr>
              <a:t>合取范式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</a:rPr>
              <a:t>简单析取式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dirty="0">
                <a:latin typeface="Times New Roman" panose="02020603050405020304" pitchFamily="18" charset="0"/>
              </a:rPr>
              <a:t>文字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赋值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文字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的补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l=p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=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Clr>
                <a:srgbClr val="FFC000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S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是可满足的当且仅当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S </a:t>
            </a:r>
            <a:r>
              <a:rPr lang="zh-CN" altLang="en-US" dirty="0">
                <a:latin typeface="Times New Roman" panose="02020603050405020304" pitchFamily="18" charset="0"/>
              </a:rPr>
              <a:t>是可满足的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defRPr/>
            </a:pPr>
            <a:endParaRPr lang="zh-CN" altLang="en-US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2.9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是两个简单析取式，且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,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不含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i="1" dirty="0" err="1"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称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以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i="1" dirty="0" err="1"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消解文字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消解式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消解结果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记作：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Res(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defRPr/>
            </a:pPr>
            <a:endParaRPr lang="en-US" altLang="zh-CN" sz="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例如：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Res(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动作按钮: 前进或下一项 1">
            <a:hlinkClick r:id="rId1" action="ppaction://hlinksldjump" highlightClick="1"/>
          </p:cNvPr>
          <p:cNvSpPr/>
          <p:nvPr/>
        </p:nvSpPr>
        <p:spPr>
          <a:xfrm>
            <a:off x="7092280" y="2420888"/>
            <a:ext cx="1008733" cy="2880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79FDD7-ECB1-476E-95CB-FDE303F844B2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消解规则</a:t>
            </a:r>
            <a:endParaRPr lang="zh-CN" altLang="en-US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52736"/>
            <a:ext cx="8785225" cy="5400675"/>
          </a:xfrm>
        </p:spPr>
        <p:txBody>
          <a:bodyPr/>
          <a:lstStyle/>
          <a:p>
            <a:pPr marL="0" indent="0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Res(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注意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Res(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有相同的可满足性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但不一定等值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.】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记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 Res(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为消解文字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,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不含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①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【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)(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】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是可满足的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是它的满足赋值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，所以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)=1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否则 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)=1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故</a:t>
            </a:r>
            <a:r>
              <a:rPr lang="zh-CN" altLang="en-US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满足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【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】.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②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【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】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是可满足的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是它的满足赋值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要把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扩张到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上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)=1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，则令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)=1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否则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)=1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，则令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)=1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zh-CN" altLang="en-US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满足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【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) (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i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)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】.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36512" y="1988840"/>
            <a:ext cx="903605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0" y="2779415"/>
            <a:ext cx="903605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4581128"/>
            <a:ext cx="9036050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A1C743-CB6C-4621-94EF-C6595B7221D7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消解序列与合取范式的否证</a:t>
            </a:r>
            <a:endParaRPr lang="zh-CN" altLang="en-US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40313"/>
          </a:xfrm>
        </p:spPr>
        <p:txBody>
          <a:bodyPr/>
          <a:lstStyle/>
          <a:p>
            <a:pPr marL="0" indent="0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2.10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是一个合取范式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,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是一个简单析取式</a:t>
            </a:r>
            <a:endParaRPr lang="zh-CN" altLang="en-US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</a:rPr>
              <a:t>序列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>
                <a:latin typeface="Times New Roman" panose="02020603050405020304" pitchFamily="18" charset="0"/>
              </a:rPr>
              <a:t>如果对每一个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</a:rPr>
              <a:t>(1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的一个简单析取式或者是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则称此序列是由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导出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消解序列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当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称此序列是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的一个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否证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endParaRPr lang="en-US" altLang="zh-CN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2.9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一个合取范式是不可满足的当且仅当它有否证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  <a:p>
            <a:pPr marL="0" indent="0" eaLnBrk="1" hangingPunct="1"/>
            <a:endParaRPr lang="en-US" altLang="zh-CN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用消解规则证明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是不可</a:t>
            </a:r>
            <a:endParaRPr lang="zh-CN" altLang="en-US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满足的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证 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=Res(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=Res(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=Res(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这是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的否证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14FD2B-3E8A-421A-B7FF-B684E29C65E8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消解序列与合取范式的否证</a:t>
            </a:r>
            <a:endParaRPr lang="zh-CN" altLang="en-US"/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184275"/>
            <a:ext cx="8253413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用消解规则证明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是不可满足的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消解序列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 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         </a:t>
            </a:r>
            <a:r>
              <a:rPr lang="fr-F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的简单析取式</a:t>
            </a:r>
            <a:endParaRPr lang="zh-CN" altLang="en-US" sz="28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2)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     </a:t>
            </a:r>
            <a:r>
              <a:rPr lang="fr-F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的简单析取式</a:t>
            </a:r>
            <a:endParaRPr lang="zh-CN" altLang="en-US" sz="28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3)</a:t>
            </a:r>
            <a:r>
              <a:rPr lang="en-US" altLang="zh-CN" sz="2800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</a:t>
            </a:r>
            <a:r>
              <a:rPr lang="en-US" altLang="zh-CN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800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          </a:t>
            </a:r>
            <a:r>
              <a:rPr lang="en-US" altLang="zh-CN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1)2)</a:t>
            </a:r>
            <a:r>
              <a:rPr lang="zh-CN" altLang="en-US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消解</a:t>
            </a:r>
            <a:endParaRPr lang="zh-CN" altLang="en-US" sz="280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4)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              </a:t>
            </a:r>
            <a:r>
              <a:rPr lang="fr-F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的简单析取式</a:t>
            </a:r>
            <a:endParaRPr lang="zh-CN" altLang="en-US" sz="28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5)</a:t>
            </a:r>
            <a:r>
              <a:rPr lang="en-US" altLang="zh-CN" sz="2800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                  </a:t>
            </a:r>
            <a:r>
              <a:rPr lang="en-US" altLang="zh-CN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3)4)</a:t>
            </a:r>
            <a:r>
              <a:rPr lang="zh-CN" altLang="en-US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消解</a:t>
            </a:r>
            <a:endParaRPr lang="zh-CN" altLang="en-US" sz="280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6)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              </a:t>
            </a:r>
            <a:r>
              <a:rPr lang="fr-F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的简单析取式</a:t>
            </a:r>
            <a:endParaRPr lang="zh-CN" altLang="en-US" sz="28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7)</a:t>
            </a:r>
            <a:r>
              <a:rPr lang="en-US" altLang="zh-CN" sz="2800" i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                  </a:t>
            </a:r>
            <a:r>
              <a:rPr lang="en-US" altLang="zh-CN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5)6)</a:t>
            </a:r>
            <a:r>
              <a:rPr lang="zh-CN" altLang="en-US" sz="280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消解</a:t>
            </a:r>
            <a:endParaRPr lang="zh-CN" altLang="en-US" sz="280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这是</a:t>
            </a:r>
            <a:r>
              <a:rPr lang="fr-F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的一个否证</a:t>
            </a:r>
            <a:r>
              <a:rPr lang="fr-FR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fr-FR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从而证明</a:t>
            </a:r>
            <a:r>
              <a:rPr lang="fr-F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不可满足的（</a:t>
            </a:r>
            <a:r>
              <a:rPr lang="zh-CN" altLang="fr-FR" sz="2800">
                <a:latin typeface="Times New Roman" panose="02020603050405020304" pitchFamily="18" charset="0"/>
                <a:cs typeface="Times New Roman" panose="02020603050405020304" pitchFamily="18" charset="0"/>
              </a:rPr>
              <a:t>矛盾式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fr-FR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1253" name="Rectangle 21" descr="新闻纸"/>
          <p:cNvSpPr>
            <a:spLocks noChangeArrowheads="1"/>
          </p:cNvSpPr>
          <p:nvPr/>
        </p:nvSpPr>
        <p:spPr bwMode="auto">
          <a:xfrm>
            <a:off x="5651500" y="1989138"/>
            <a:ext cx="3313113" cy="3889375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57150">
            <a:pattFill prst="zigZag">
              <a:fgClr>
                <a:schemeClr val="hlink"/>
              </a:fgClr>
              <a:bgClr>
                <a:srgbClr val="FFFFFF"/>
              </a:bgClr>
            </a:patt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Times New Roman" panose="02020603050405020304" pitchFamily="18" charset="0"/>
            </a:endParaRPr>
          </a:p>
        </p:txBody>
      </p:sp>
      <p:sp>
        <p:nvSpPr>
          <p:cNvPr id="351237" name="Rectangle 5"/>
          <p:cNvSpPr>
            <a:spLocks noChangeArrowheads="1"/>
          </p:cNvSpPr>
          <p:nvPr/>
        </p:nvSpPr>
        <p:spPr bwMode="auto">
          <a:xfrm>
            <a:off x="6878638" y="2109788"/>
            <a:ext cx="14446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000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300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000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300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3000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endParaRPr lang="en-US" altLang="zh-CN" sz="30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1240" name="Rectangle 8"/>
          <p:cNvSpPr>
            <a:spLocks noChangeArrowheads="1"/>
          </p:cNvSpPr>
          <p:nvPr/>
        </p:nvSpPr>
        <p:spPr bwMode="auto">
          <a:xfrm>
            <a:off x="6589713" y="3046413"/>
            <a:ext cx="10239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0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3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30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endParaRPr lang="en-US" altLang="zh-CN" sz="3000" i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1241" name="Rectangle 9"/>
          <p:cNvSpPr>
            <a:spLocks noChangeArrowheads="1"/>
          </p:cNvSpPr>
          <p:nvPr/>
        </p:nvSpPr>
        <p:spPr bwMode="auto">
          <a:xfrm>
            <a:off x="7526338" y="3046413"/>
            <a:ext cx="8477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000" i="1">
                <a:latin typeface="Times New Roman" panose="02020603050405020304" pitchFamily="18" charset="0"/>
                <a:sym typeface="Symbol" panose="05050102010706020507" pitchFamily="18" charset="2"/>
              </a:rPr>
              <a:t> q</a:t>
            </a:r>
            <a:r>
              <a:rPr lang="en-US" altLang="zh-CN" sz="300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000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endParaRPr lang="en-US" altLang="zh-CN" sz="30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1245" name="Line 13"/>
          <p:cNvSpPr>
            <a:spLocks noChangeShapeType="1"/>
          </p:cNvSpPr>
          <p:nvPr/>
        </p:nvSpPr>
        <p:spPr bwMode="auto">
          <a:xfrm flipV="1">
            <a:off x="7021513" y="2638425"/>
            <a:ext cx="576262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1246" name="Line 14"/>
          <p:cNvSpPr>
            <a:spLocks noChangeShapeType="1"/>
          </p:cNvSpPr>
          <p:nvPr/>
        </p:nvSpPr>
        <p:spPr bwMode="auto">
          <a:xfrm>
            <a:off x="6950075" y="3646488"/>
            <a:ext cx="576263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1247" name="Line 15"/>
          <p:cNvSpPr>
            <a:spLocks noChangeShapeType="1"/>
          </p:cNvSpPr>
          <p:nvPr/>
        </p:nvSpPr>
        <p:spPr bwMode="auto">
          <a:xfrm flipV="1">
            <a:off x="7526338" y="3646488"/>
            <a:ext cx="576262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1248" name="Rectangle 16"/>
          <p:cNvSpPr>
            <a:spLocks noChangeArrowheads="1"/>
          </p:cNvSpPr>
          <p:nvPr/>
        </p:nvSpPr>
        <p:spPr bwMode="auto">
          <a:xfrm>
            <a:off x="7381875" y="4125913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0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sz="3000" i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1250" name="Line 18"/>
          <p:cNvSpPr>
            <a:spLocks noChangeShapeType="1"/>
          </p:cNvSpPr>
          <p:nvPr/>
        </p:nvSpPr>
        <p:spPr bwMode="auto">
          <a:xfrm>
            <a:off x="7597775" y="4725988"/>
            <a:ext cx="576263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1251" name="Line 19"/>
          <p:cNvSpPr>
            <a:spLocks noChangeShapeType="1"/>
          </p:cNvSpPr>
          <p:nvPr/>
        </p:nvSpPr>
        <p:spPr bwMode="auto">
          <a:xfrm flipV="1">
            <a:off x="8174038" y="4725988"/>
            <a:ext cx="576262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1252" name="Rectangle 20"/>
          <p:cNvSpPr>
            <a:spLocks noChangeArrowheads="1"/>
          </p:cNvSpPr>
          <p:nvPr/>
        </p:nvSpPr>
        <p:spPr bwMode="auto">
          <a:xfrm>
            <a:off x="7958138" y="5207000"/>
            <a:ext cx="393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000" i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endParaRPr lang="en-US" altLang="zh-CN" sz="3000" i="1">
              <a:solidFill>
                <a:schemeClr val="accent2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1249" name="Rectangle 17"/>
          <p:cNvSpPr>
            <a:spLocks noChangeArrowheads="1"/>
          </p:cNvSpPr>
          <p:nvPr/>
        </p:nvSpPr>
        <p:spPr bwMode="auto">
          <a:xfrm>
            <a:off x="8318500" y="4125913"/>
            <a:ext cx="6461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00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000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sz="30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5726113" y="2109788"/>
            <a:ext cx="10668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00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000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300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000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sz="30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1238" name="Line 6"/>
          <p:cNvSpPr>
            <a:spLocks noChangeShapeType="1"/>
          </p:cNvSpPr>
          <p:nvPr/>
        </p:nvSpPr>
        <p:spPr bwMode="auto">
          <a:xfrm>
            <a:off x="6445250" y="2638425"/>
            <a:ext cx="576263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5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1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5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3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51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51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 bldLvl="2" uiExpand="1" build="p"/>
      <p:bldP spid="351253" grpId="0" animBg="1"/>
      <p:bldP spid="351237" grpId="0"/>
      <p:bldP spid="351240" grpId="0"/>
      <p:bldP spid="351241" grpId="0"/>
      <p:bldP spid="351248" grpId="0"/>
      <p:bldP spid="351252" grpId="0"/>
      <p:bldP spid="351249" grpId="0"/>
      <p:bldP spid="3512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DD5B63F-9DA4-4C1B-95FF-B6EE7A5522AD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972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052513"/>
            <a:ext cx="8229600" cy="5257800"/>
          </a:xfrm>
        </p:spPr>
        <p:txBody>
          <a:bodyPr/>
          <a:lstStyle/>
          <a:p>
            <a:pPr marL="434975" eaLnBrk="1" hangingPunct="1">
              <a:spcBef>
                <a:spcPct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构造公式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的否证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从而证明它是矛盾式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  消解序列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的简单析取式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         A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的简单析取式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①,②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消解    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           A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的简单析取式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               A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的简单析取式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④,⑤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消解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 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③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,⑥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消解</a:t>
            </a:r>
            <a:endParaRPr lang="zh-CN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075" indent="182880" eaLnBrk="1" hangingPunct="1">
              <a:spcBef>
                <a:spcPct val="0"/>
              </a:spcBef>
              <a:defRPr/>
            </a:pP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这是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的一个否证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从而证明</a:t>
            </a:r>
            <a:r>
              <a:rPr lang="fr-FR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是矛盾式</a:t>
            </a:r>
            <a:r>
              <a:rPr lang="fr-F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72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2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72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bldLvl="2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8DC3BE-4DBB-41BF-BCFF-84BC9D56171A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消解算法</a:t>
            </a:r>
            <a:endParaRPr lang="zh-CN" altLang="en-US"/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35375" y="1052513"/>
            <a:ext cx="4608513" cy="5668962"/>
          </a:xfrm>
          <a:ln>
            <a:solidFill>
              <a:schemeClr val="tx1"/>
            </a:solidFill>
          </a:ln>
        </p:spPr>
        <p:txBody>
          <a:bodyPr/>
          <a:lstStyle/>
          <a:p>
            <a:pPr marL="457200" indent="-457200" eaLnBrk="1" hangingPunct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1. </a:t>
            </a:r>
            <a:r>
              <a:rPr lang="zh-CN" altLang="en-US" sz="1600" dirty="0">
                <a:latin typeface="Times New Roman" panose="02020603050405020304" pitchFamily="18" charset="0"/>
              </a:rPr>
              <a:t>求</a:t>
            </a:r>
            <a:r>
              <a:rPr lang="en-US" altLang="zh-CN" sz="1600" i="1" dirty="0">
                <a:latin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Times New Roman" panose="02020603050405020304" pitchFamily="18" charset="0"/>
              </a:rPr>
              <a:t>的合取范式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endParaRPr lang="en-US" altLang="zh-CN" sz="1600" i="1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2. </a:t>
            </a:r>
            <a:r>
              <a:rPr lang="zh-CN" altLang="en-US" sz="1600" dirty="0">
                <a:latin typeface="Times New Roman" panose="02020603050405020304" pitchFamily="18" charset="0"/>
              </a:rPr>
              <a:t>令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, 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, 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1600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的所有简单析取式</a:t>
            </a:r>
            <a:endParaRPr lang="zh-CN" altLang="en-US" sz="16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>
              <a:defRPr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3. For 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>
              <a:defRPr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4.      If 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可以消解 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then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defRPr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5.              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计算</a:t>
            </a:r>
            <a:r>
              <a:rPr lang="en-US" altLang="zh-CN" sz="1600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Res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)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defRPr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6.               If 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then</a:t>
            </a:r>
            <a:endParaRPr lang="en-US" altLang="en-US" sz="1600" dirty="0">
              <a:solidFill>
                <a:srgbClr val="00B05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>
              <a:defRPr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.                     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输出“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No”, 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计算结束 </a:t>
            </a: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defRPr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8.               If 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 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then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>
              <a:defRPr/>
            </a:pP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9.                    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B05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{</a:t>
            </a:r>
            <a:r>
              <a:rPr lang="en-US" altLang="zh-CN" sz="1600" i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1600" dirty="0">
              <a:solidFill>
                <a:srgbClr val="00B05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10. For 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sz="1600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11.      If 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可以消解 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then</a:t>
            </a:r>
            <a:endParaRPr lang="en-US" altLang="zh-CN" sz="1600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12.              </a:t>
            </a:r>
            <a:r>
              <a:rPr lang="zh-CN" altLang="en-US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计算</a:t>
            </a:r>
            <a:r>
              <a:rPr lang="en-US" altLang="zh-CN" sz="1600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16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Res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endParaRPr lang="en-US" altLang="zh-CN" sz="1600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13.               If 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then</a:t>
            </a:r>
            <a:endParaRPr lang="en-US" altLang="en-US" sz="1600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14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.                     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输出“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No”, 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</a:rPr>
              <a:t>计算结束 </a:t>
            </a:r>
            <a:endParaRPr lang="zh-CN" altLang="en-US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</a:rPr>
              <a:t>15.               If 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 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then</a:t>
            </a:r>
            <a:endParaRPr lang="en-US" altLang="zh-CN" sz="1600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16.                    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{</a:t>
            </a:r>
            <a:r>
              <a:rPr lang="en-US" altLang="zh-CN" sz="1600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16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1600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17. If 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latin typeface="Times New Roman" panose="02020603050405020304" pitchFamily="18" charset="0"/>
              </a:rPr>
              <a:t>=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 then</a:t>
            </a:r>
            <a:r>
              <a:rPr lang="en-US" altLang="zh-CN" sz="1600" dirty="0">
                <a:latin typeface="Times New Roman" panose="02020603050405020304" pitchFamily="18" charset="0"/>
              </a:rPr>
              <a:t>     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18.    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输出“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Yes”, 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计算结束</a:t>
            </a:r>
            <a:endParaRPr lang="zh-CN" altLang="en-US" sz="16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defRPr/>
            </a:pPr>
            <a:r>
              <a:rPr lang="en-US" altLang="zh-CN" sz="1600" dirty="0">
                <a:latin typeface="Times New Roman" panose="02020603050405020304" pitchFamily="18" charset="0"/>
              </a:rPr>
              <a:t>19. Else 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1600" i="1" dirty="0">
                <a:latin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, </a:t>
            </a:r>
            <a:r>
              <a:rPr lang="en-US" altLang="zh-CN" sz="1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lang="en-US" altLang="zh-CN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 3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defRPr/>
            </a:pPr>
            <a:endParaRPr lang="en-US" altLang="zh-CN" sz="16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0181" name="Rectangle 3"/>
          <p:cNvSpPr txBox="1">
            <a:spLocks noChangeArrowheads="1"/>
          </p:cNvSpPr>
          <p:nvPr/>
        </p:nvSpPr>
        <p:spPr bwMode="auto">
          <a:xfrm>
            <a:off x="395288" y="1484313"/>
            <a:ext cx="3168650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消解算法</a:t>
            </a:r>
            <a:endParaRPr lang="zh-CN" altLang="en-US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输入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合式公式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endParaRPr lang="en-US" altLang="zh-CN" i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输出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: 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  当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是可满足时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      回答“</a:t>
            </a:r>
            <a:r>
              <a:rPr lang="en-US" altLang="zh-CN">
                <a:latin typeface="Times New Roman" panose="02020603050405020304" pitchFamily="18" charset="0"/>
              </a:rPr>
              <a:t>Yes”; 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  否则，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      回答“</a:t>
            </a:r>
            <a:r>
              <a:rPr lang="en-US" altLang="zh-CN">
                <a:latin typeface="Times New Roman" panose="02020603050405020304" pitchFamily="18" charset="0"/>
              </a:rPr>
              <a:t>No”.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ACC479-2E51-4931-B6DF-68232625D99B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消解算法例题</a:t>
            </a:r>
            <a:endParaRPr lang="zh-CN" altLang="en-US"/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424862" cy="5040313"/>
          </a:xfrm>
        </p:spPr>
        <p:txBody>
          <a:bodyPr/>
          <a:lstStyle/>
          <a:p>
            <a:pPr marL="0" indent="0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用消解算法判断下述公式是否是可满足的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1) (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解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(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循环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=,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=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Res(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Res(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S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8E5A42-D957-4CE4-A3D8-B55265B46662}" type="slidenum">
              <a:rPr lang="en-US" altLang="zh-CN" sz="1200" b="0">
                <a:latin typeface="Verdana" panose="020B0604030504040204" pitchFamily="34" charset="0"/>
              </a:rPr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消解算法例题</a:t>
            </a:r>
            <a:endParaRPr lang="zh-CN" altLang="en-US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40313"/>
          </a:xfrm>
        </p:spPr>
        <p:txBody>
          <a:bodyPr/>
          <a:lstStyle/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循环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=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Res(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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endParaRPr lang="en-US" altLang="zh-CN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输出“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No”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，说明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是不可满足的。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E3F138-E691-416B-B2E2-1352CBE7D452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消解算法例题</a:t>
            </a:r>
            <a:endParaRPr lang="zh-CN" altLang="en-US"/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40313"/>
          </a:xfrm>
        </p:spPr>
        <p:txBody>
          <a:bodyPr/>
          <a:lstStyle/>
          <a:p>
            <a:pPr marL="0" indent="0"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12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用消解算法判断下述公式是否是可满足的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2) 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解 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)(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循环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1 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=,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},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=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     S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9D188B-4473-473C-822D-EAAECA507005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消解算法例题</a:t>
            </a:r>
            <a:endParaRPr lang="zh-CN" altLang="en-US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40313"/>
          </a:xfrm>
        </p:spPr>
        <p:txBody>
          <a:bodyPr/>
          <a:lstStyle/>
          <a:p>
            <a:pPr marL="0" indent="0" eaLnBrk="1" hangingPunct="1"/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循环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2 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},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},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=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Res(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     S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=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输出“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Yes”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，说明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是可满足的。</a:t>
            </a:r>
            <a:endParaRPr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B48E33-6448-48CA-963F-6FCE6B1E50A3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2.4</a:t>
            </a:r>
            <a:r>
              <a:rPr lang="en-US" altLang="zh-CN"/>
              <a:t> </a:t>
            </a:r>
            <a:r>
              <a:rPr lang="zh-CN" altLang="en-US"/>
              <a:t>可满足性问题与消解法（回顾）</a:t>
            </a:r>
            <a:endParaRPr lang="zh-CN" altLang="en-US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50403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消解文字、消解式（消解结果）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</a:rPr>
              <a:t>消解规则</a:t>
            </a:r>
            <a:endParaRPr lang="en-US" altLang="zh-CN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消解序列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000000"/>
                </a:solidFill>
              </a:rPr>
              <a:t>消解算法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E3850F-D4C0-4B32-AEF7-1FB9A15EB664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29600" cy="4924425"/>
          </a:xfrm>
        </p:spPr>
        <p:txBody>
          <a:bodyPr/>
          <a:lstStyle/>
          <a:p>
            <a:pPr marL="361950" indent="-361950" eaLnBrk="1" hangingPunct="1"/>
            <a:r>
              <a:rPr lang="zh-CN" altLang="en-US"/>
              <a:t>主要内容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2.1 </a:t>
            </a:r>
            <a:r>
              <a:rPr lang="zh-CN" altLang="en-US"/>
              <a:t>等值式</a:t>
            </a:r>
            <a:endParaRPr lang="en-US" altLang="zh-CN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2.2 </a:t>
            </a:r>
            <a:r>
              <a:rPr lang="zh-CN" altLang="en-US"/>
              <a:t>析取范式与合取范式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/>
              <a:t>2.3 </a:t>
            </a:r>
            <a:r>
              <a:rPr lang="zh-CN" altLang="en-US"/>
              <a:t>联结词完备集</a:t>
            </a:r>
            <a:endParaRPr lang="zh-CN" altLang="en-US"/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</a:rPr>
              <a:t>2.4 </a:t>
            </a:r>
            <a:r>
              <a:rPr lang="zh-CN" altLang="en-US">
                <a:solidFill>
                  <a:srgbClr val="000000"/>
                </a:solidFill>
              </a:rPr>
              <a:t>可满足性问题与消解法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第二章 命题逻辑等值演算（回顾）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260350"/>
            <a:ext cx="7200799" cy="471487"/>
          </a:xfrm>
        </p:spPr>
        <p:txBody>
          <a:bodyPr/>
          <a:lstStyle/>
          <a:p>
            <a:r>
              <a:rPr lang="zh-CN" altLang="en-US" sz="2800" dirty="0">
                <a:solidFill>
                  <a:srgbClr val="CC0000"/>
                </a:solidFill>
              </a:rPr>
              <a:t>复习：</a:t>
            </a:r>
            <a:r>
              <a:rPr lang="zh-CN" altLang="en-US" sz="2800" dirty="0">
                <a:solidFill>
                  <a:srgbClr val="00B050"/>
                </a:solidFill>
              </a:rPr>
              <a:t>合取范式 </a:t>
            </a:r>
            <a:r>
              <a:rPr lang="en-US" altLang="zh-CN" sz="2800" dirty="0">
                <a:solidFill>
                  <a:srgbClr val="00B050"/>
                </a:solidFill>
              </a:rPr>
              <a:t>&gt; </a:t>
            </a:r>
            <a:r>
              <a:rPr lang="zh-CN" altLang="en-US" sz="2800" dirty="0">
                <a:solidFill>
                  <a:srgbClr val="7030A0"/>
                </a:solidFill>
              </a:rPr>
              <a:t>简单析取式 </a:t>
            </a:r>
            <a:r>
              <a:rPr lang="en-US" altLang="zh-CN" sz="2800" dirty="0">
                <a:solidFill>
                  <a:srgbClr val="00B050"/>
                </a:solidFill>
              </a:rPr>
              <a:t>&gt;</a:t>
            </a:r>
            <a:r>
              <a:rPr lang="zh-CN" altLang="en-US" sz="2800" dirty="0">
                <a:solidFill>
                  <a:srgbClr val="00B050"/>
                </a:solidFill>
              </a:rPr>
              <a:t>文字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4618856" cy="471487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合取范式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dirty="0">
                <a:solidFill>
                  <a:srgbClr val="7030A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简单析取式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的合取</a:t>
            </a: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55ACB-CB68-4A70-84B7-8B74B58D0B79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1940043" y="2776236"/>
            <a:ext cx="4618856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30000"/>
              </a:spcBef>
              <a:buClrTx/>
              <a:buFontTx/>
              <a:buNone/>
              <a:defRPr/>
            </a:pPr>
            <a:r>
              <a:rPr lang="zh-CN" altLang="en-US" dirty="0">
                <a:solidFill>
                  <a:srgbClr val="7030A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简单析取式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是有限个</a:t>
            </a:r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文字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的析取</a:t>
            </a: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637741" y="3922978"/>
            <a:ext cx="4176464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30000"/>
              </a:spcBef>
              <a:buClrTx/>
              <a:buFontTx/>
              <a:buNone/>
              <a:defRPr/>
            </a:pPr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文字</a:t>
            </a:r>
            <a:r>
              <a:rPr lang="zh-CN" altLang="en-US" dirty="0">
                <a:latin typeface="宋体" panose="02010600030101010101" pitchFamily="2" charset="-122"/>
                <a:sym typeface="Symbol" panose="05050102010706020507" pitchFamily="18" charset="2"/>
              </a:rPr>
              <a:t>是命题变项及其否的总称</a:t>
            </a: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7" name="箭头: 下 6"/>
          <p:cNvSpPr/>
          <p:nvPr/>
        </p:nvSpPr>
        <p:spPr>
          <a:xfrm>
            <a:off x="2267744" y="2071688"/>
            <a:ext cx="936104" cy="7045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/>
          <p:cNvSpPr/>
          <p:nvPr/>
        </p:nvSpPr>
        <p:spPr>
          <a:xfrm>
            <a:off x="4608004" y="3218430"/>
            <a:ext cx="936104" cy="7045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动作按钮: 后退或前一项 8">
            <a:hlinkClick r:id="rId1" action="ppaction://hlinksldjump" highlightClick="1"/>
          </p:cNvPr>
          <p:cNvSpPr/>
          <p:nvPr/>
        </p:nvSpPr>
        <p:spPr>
          <a:xfrm>
            <a:off x="7380312" y="5661248"/>
            <a:ext cx="1306488" cy="432048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 animBg="1"/>
      <p:bldP spid="8" grpId="0" animBg="1"/>
    </p:bldLst>
  </p:timing>
</p:sld>
</file>

<file path=ppt/tags/tag1.xml><?xml version="1.0" encoding="utf-8"?>
<p:tagLst xmlns:p="http://schemas.openxmlformats.org/presentationml/2006/main">
  <p:tag name="TABLE_ENDDRAG_ORIGIN_RECT" val="560*332"/>
  <p:tag name="TABLE_ENDDRAG_RECT" val="107*184*560*332"/>
</p:tagLst>
</file>

<file path=ppt/tags/tag2.xml><?xml version="1.0" encoding="utf-8"?>
<p:tagLst xmlns:p="http://schemas.openxmlformats.org/presentationml/2006/main">
  <p:tag name="TABLE_ENDDRAG_ORIGIN_RECT" val="560*332"/>
  <p:tag name="TABLE_ENDDRAG_RECT" val="107*184*560*332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7807</Words>
  <Application>WPS 演示</Application>
  <PresentationFormat>全屏显示(4:3)</PresentationFormat>
  <Paragraphs>846</Paragraphs>
  <Slides>34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34</vt:i4>
      </vt:variant>
    </vt:vector>
  </HeadingPairs>
  <TitlesOfParts>
    <vt:vector size="64" baseType="lpstr">
      <vt:lpstr>Arial</vt:lpstr>
      <vt:lpstr>宋体</vt:lpstr>
      <vt:lpstr>Wingdings</vt:lpstr>
      <vt:lpstr>华文中宋</vt:lpstr>
      <vt:lpstr>Times New Roman</vt:lpstr>
      <vt:lpstr>Symbol</vt:lpstr>
      <vt:lpstr>Verdana</vt:lpstr>
      <vt:lpstr>楷体_GB2312</vt:lpstr>
      <vt:lpstr>新宋体</vt:lpstr>
      <vt:lpstr>微软雅黑</vt:lpstr>
      <vt:lpstr>Arial Unicode MS</vt:lpstr>
      <vt:lpstr>黑体</vt:lpstr>
      <vt:lpstr>方正仿宋_GB2312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第二章 命题逻辑等值演算</vt:lpstr>
      <vt:lpstr>2.3  联结词的完备集</vt:lpstr>
      <vt:lpstr>与非  &amp; 或非 </vt:lpstr>
      <vt:lpstr>不可兼析取</vt:lpstr>
      <vt:lpstr>不可兼析取</vt:lpstr>
      <vt:lpstr>小结_八个联结词 </vt:lpstr>
      <vt:lpstr>n元真值函数</vt:lpstr>
      <vt:lpstr> 2元真值函数</vt:lpstr>
      <vt:lpstr>2元真值函数</vt:lpstr>
      <vt:lpstr>公式与真值函数</vt:lpstr>
      <vt:lpstr>联结词完备集</vt:lpstr>
      <vt:lpstr>联结词完备集</vt:lpstr>
      <vt:lpstr>联结词完备集</vt:lpstr>
      <vt:lpstr>结论</vt:lpstr>
      <vt:lpstr>思考?</vt:lpstr>
      <vt:lpstr>最小联结词完备集</vt:lpstr>
      <vt:lpstr>2.3  联结词的完备集（回顾）</vt:lpstr>
      <vt:lpstr>第二章 命题逻辑等值演算</vt:lpstr>
      <vt:lpstr>2.4 可满足性问题与消解法</vt:lpstr>
      <vt:lpstr>例子：判断公式的可满足性</vt:lpstr>
      <vt:lpstr>例子：判断公式的可满足性</vt:lpstr>
      <vt:lpstr>2.4 可满足性问题与消解法</vt:lpstr>
      <vt:lpstr>消解规则</vt:lpstr>
      <vt:lpstr>消解序列与合取范式的否证</vt:lpstr>
      <vt:lpstr>消解序列与合取范式的否证</vt:lpstr>
      <vt:lpstr>练习</vt:lpstr>
      <vt:lpstr>消解算法</vt:lpstr>
      <vt:lpstr>消解算法例题</vt:lpstr>
      <vt:lpstr>消解算法例题</vt:lpstr>
      <vt:lpstr>消解算法例题</vt:lpstr>
      <vt:lpstr>消解算法例题</vt:lpstr>
      <vt:lpstr>2.4 可满足性问题与消解法（回顾）</vt:lpstr>
      <vt:lpstr>第二章 命题逻辑等值演算（回顾）</vt:lpstr>
      <vt:lpstr>复习：合取范式 &gt; 简单析取式 &gt;文字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Youyou</cp:lastModifiedBy>
  <cp:revision>519</cp:revision>
  <cp:lastPrinted>2018-03-25T15:02:00Z</cp:lastPrinted>
  <dcterms:created xsi:type="dcterms:W3CDTF">2007-11-19T20:33:00Z</dcterms:created>
  <dcterms:modified xsi:type="dcterms:W3CDTF">2025-09-28T00:26:57Z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C69F09A9FEB241889BAF0A81228BBC56_12</vt:lpwstr>
  </property>
  <property fmtid="{D5CDD505-2E9C-101B-9397-08002B2CF9AE}" pid="3" name="KSOProductBuildVer">
    <vt:lpwstr>2052-12.1.0.22529</vt:lpwstr>
  </property>
</Properties>
</file>