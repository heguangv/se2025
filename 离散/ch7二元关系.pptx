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8"/>
  </p:notesMasterIdLst>
  <p:handoutMasterIdLst>
    <p:handoutMasterId r:id="rId159"/>
  </p:handoutMasterIdLst>
  <p:sldIdLst>
    <p:sldId id="257" r:id="rId2"/>
    <p:sldId id="359" r:id="rId3"/>
    <p:sldId id="258" r:id="rId4"/>
    <p:sldId id="259" r:id="rId5"/>
    <p:sldId id="260" r:id="rId6"/>
    <p:sldId id="261" r:id="rId7"/>
    <p:sldId id="262" r:id="rId8"/>
    <p:sldId id="360" r:id="rId9"/>
    <p:sldId id="263" r:id="rId10"/>
    <p:sldId id="264" r:id="rId11"/>
    <p:sldId id="555" r:id="rId12"/>
    <p:sldId id="265" r:id="rId13"/>
    <p:sldId id="410" r:id="rId14"/>
    <p:sldId id="267" r:id="rId15"/>
    <p:sldId id="269" r:id="rId16"/>
    <p:sldId id="361" r:id="rId17"/>
    <p:sldId id="270" r:id="rId18"/>
    <p:sldId id="390" r:id="rId19"/>
    <p:sldId id="271" r:id="rId20"/>
    <p:sldId id="272" r:id="rId21"/>
    <p:sldId id="281" r:id="rId22"/>
    <p:sldId id="276" r:id="rId23"/>
    <p:sldId id="277" r:id="rId24"/>
    <p:sldId id="278" r:id="rId25"/>
    <p:sldId id="279" r:id="rId26"/>
    <p:sldId id="280" r:id="rId27"/>
    <p:sldId id="273" r:id="rId28"/>
    <p:sldId id="282" r:id="rId29"/>
    <p:sldId id="283" r:id="rId30"/>
    <p:sldId id="284" r:id="rId31"/>
    <p:sldId id="287" r:id="rId32"/>
    <p:sldId id="288" r:id="rId33"/>
    <p:sldId id="407" r:id="rId34"/>
    <p:sldId id="408" r:id="rId35"/>
    <p:sldId id="405" r:id="rId36"/>
    <p:sldId id="289" r:id="rId37"/>
    <p:sldId id="292" r:id="rId38"/>
    <p:sldId id="293" r:id="rId39"/>
    <p:sldId id="400" r:id="rId40"/>
    <p:sldId id="401" r:id="rId41"/>
    <p:sldId id="402" r:id="rId42"/>
    <p:sldId id="403" r:id="rId43"/>
    <p:sldId id="404" r:id="rId44"/>
    <p:sldId id="290" r:id="rId45"/>
    <p:sldId id="556" r:id="rId46"/>
    <p:sldId id="557" r:id="rId47"/>
    <p:sldId id="294" r:id="rId48"/>
    <p:sldId id="296" r:id="rId49"/>
    <p:sldId id="297" r:id="rId50"/>
    <p:sldId id="299" r:id="rId51"/>
    <p:sldId id="558" r:id="rId52"/>
    <p:sldId id="527" r:id="rId53"/>
    <p:sldId id="285" r:id="rId54"/>
    <p:sldId id="374" r:id="rId55"/>
    <p:sldId id="367" r:id="rId56"/>
    <p:sldId id="375" r:id="rId57"/>
    <p:sldId id="275" r:id="rId58"/>
    <p:sldId id="370" r:id="rId59"/>
    <p:sldId id="372" r:id="rId60"/>
    <p:sldId id="373" r:id="rId61"/>
    <p:sldId id="543" r:id="rId62"/>
    <p:sldId id="300" r:id="rId63"/>
    <p:sldId id="544" r:id="rId64"/>
    <p:sldId id="376" r:id="rId65"/>
    <p:sldId id="377" r:id="rId66"/>
    <p:sldId id="378" r:id="rId67"/>
    <p:sldId id="379" r:id="rId68"/>
    <p:sldId id="380" r:id="rId69"/>
    <p:sldId id="381" r:id="rId70"/>
    <p:sldId id="382" r:id="rId71"/>
    <p:sldId id="383" r:id="rId72"/>
    <p:sldId id="384" r:id="rId73"/>
    <p:sldId id="304" r:id="rId74"/>
    <p:sldId id="301" r:id="rId75"/>
    <p:sldId id="302" r:id="rId76"/>
    <p:sldId id="306" r:id="rId77"/>
    <p:sldId id="307" r:id="rId78"/>
    <p:sldId id="308" r:id="rId79"/>
    <p:sldId id="309" r:id="rId80"/>
    <p:sldId id="311" r:id="rId81"/>
    <p:sldId id="553" r:id="rId82"/>
    <p:sldId id="554" r:id="rId83"/>
    <p:sldId id="312" r:id="rId84"/>
    <p:sldId id="313" r:id="rId85"/>
    <p:sldId id="547" r:id="rId86"/>
    <p:sldId id="545" r:id="rId87"/>
    <p:sldId id="315" r:id="rId88"/>
    <p:sldId id="546" r:id="rId89"/>
    <p:sldId id="317" r:id="rId90"/>
    <p:sldId id="318" r:id="rId91"/>
    <p:sldId id="548" r:id="rId92"/>
    <p:sldId id="426" r:id="rId93"/>
    <p:sldId id="427" r:id="rId94"/>
    <p:sldId id="428" r:id="rId95"/>
    <p:sldId id="549" r:id="rId96"/>
    <p:sldId id="319" r:id="rId97"/>
    <p:sldId id="578" r:id="rId98"/>
    <p:sldId id="579" r:id="rId99"/>
    <p:sldId id="580" r:id="rId100"/>
    <p:sldId id="581" r:id="rId101"/>
    <p:sldId id="582" r:id="rId102"/>
    <p:sldId id="583" r:id="rId103"/>
    <p:sldId id="584" r:id="rId104"/>
    <p:sldId id="585" r:id="rId105"/>
    <p:sldId id="586" r:id="rId106"/>
    <p:sldId id="320" r:id="rId107"/>
    <p:sldId id="552" r:id="rId108"/>
    <p:sldId id="321" r:id="rId109"/>
    <p:sldId id="551" r:id="rId110"/>
    <p:sldId id="442" r:id="rId111"/>
    <p:sldId id="550" r:id="rId112"/>
    <p:sldId id="364" r:id="rId113"/>
    <p:sldId id="322" r:id="rId114"/>
    <p:sldId id="323" r:id="rId115"/>
    <p:sldId id="560" r:id="rId116"/>
    <p:sldId id="324" r:id="rId117"/>
    <p:sldId id="325" r:id="rId118"/>
    <p:sldId id="561" r:id="rId119"/>
    <p:sldId id="326" r:id="rId120"/>
    <p:sldId id="562" r:id="rId121"/>
    <p:sldId id="368" r:id="rId122"/>
    <p:sldId id="327" r:id="rId123"/>
    <p:sldId id="328" r:id="rId124"/>
    <p:sldId id="369" r:id="rId125"/>
    <p:sldId id="357" r:id="rId126"/>
    <p:sldId id="563" r:id="rId127"/>
    <p:sldId id="564" r:id="rId128"/>
    <p:sldId id="565" r:id="rId129"/>
    <p:sldId id="332" r:id="rId130"/>
    <p:sldId id="566" r:id="rId131"/>
    <p:sldId id="574" r:id="rId132"/>
    <p:sldId id="575" r:id="rId133"/>
    <p:sldId id="480" r:id="rId134"/>
    <p:sldId id="409" r:id="rId135"/>
    <p:sldId id="365" r:id="rId136"/>
    <p:sldId id="334" r:id="rId137"/>
    <p:sldId id="335" r:id="rId138"/>
    <p:sldId id="336" r:id="rId139"/>
    <p:sldId id="567" r:id="rId140"/>
    <p:sldId id="337" r:id="rId141"/>
    <p:sldId id="568" r:id="rId142"/>
    <p:sldId id="338" r:id="rId143"/>
    <p:sldId id="406" r:id="rId144"/>
    <p:sldId id="339" r:id="rId145"/>
    <p:sldId id="340" r:id="rId146"/>
    <p:sldId id="341" r:id="rId147"/>
    <p:sldId id="342" r:id="rId148"/>
    <p:sldId id="343" r:id="rId149"/>
    <p:sldId id="569" r:id="rId150"/>
    <p:sldId id="576" r:id="rId151"/>
    <p:sldId id="577" r:id="rId152"/>
    <p:sldId id="352" r:id="rId153"/>
    <p:sldId id="570" r:id="rId154"/>
    <p:sldId id="571" r:id="rId155"/>
    <p:sldId id="366" r:id="rId156"/>
    <p:sldId id="572" r:id="rId15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00FF"/>
    <a:srgbClr val="F2F274"/>
    <a:srgbClr val="FFFF66"/>
    <a:srgbClr val="CCCC00"/>
    <a:srgbClr val="FF7C80"/>
    <a:srgbClr val="FF9999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303" autoAdjust="0"/>
    <p:restoredTop sz="67104" autoAdjust="0"/>
  </p:normalViewPr>
  <p:slideViewPr>
    <p:cSldViewPr showGuides="1">
      <p:cViewPr varScale="1">
        <p:scale>
          <a:sx n="46" d="100"/>
          <a:sy n="46" d="100"/>
        </p:scale>
        <p:origin x="1302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27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33.xml"/><Relationship Id="rId3" Type="http://schemas.openxmlformats.org/officeDocument/2006/relationships/slide" Target="slides/slide54.xml"/><Relationship Id="rId7" Type="http://schemas.openxmlformats.org/officeDocument/2006/relationships/slide" Target="slides/slide63.xml"/><Relationship Id="rId2" Type="http://schemas.openxmlformats.org/officeDocument/2006/relationships/slide" Target="slides/slide52.xml"/><Relationship Id="rId1" Type="http://schemas.openxmlformats.org/officeDocument/2006/relationships/slide" Target="slides/slide18.xml"/><Relationship Id="rId6" Type="http://schemas.openxmlformats.org/officeDocument/2006/relationships/slide" Target="slides/slide59.xml"/><Relationship Id="rId5" Type="http://schemas.openxmlformats.org/officeDocument/2006/relationships/slide" Target="slides/slide58.xml"/><Relationship Id="rId4" Type="http://schemas.openxmlformats.org/officeDocument/2006/relationships/slide" Target="slides/slide5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284F33-0582-4C12-A09F-2CBF3684D282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7897339-6684-487C-BD24-65C5066D65B8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4F7FAC1-502D-43FC-B417-01D5443452BE}" type="slidenum">
              <a:rPr lang="en-US" altLang="zh-CN" sz="1200" smtClean="0"/>
              <a:t>1</a:t>
            </a:fld>
            <a:endParaRPr lang="en-US" altLang="zh-CN" sz="120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60A954E-63D6-48ED-857C-BC979FC3EC6C}" type="slidenum">
              <a:rPr lang="en-US" altLang="zh-CN" sz="1200" smtClean="0"/>
              <a:t>2</a:t>
            </a:fld>
            <a:endParaRPr lang="en-US" altLang="zh-CN" sz="120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B39CAD1-F758-4B9D-A633-8BDB47C08711}" type="slidenum">
              <a:rPr lang="en-US" altLang="zh-CN" sz="1200" smtClean="0"/>
              <a:t>3</a:t>
            </a:fld>
            <a:endParaRPr lang="en-US" altLang="zh-CN" sz="120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964585A-980B-4310-ADA8-7C3334164B4A}" type="slidenum">
              <a:rPr lang="en-US" altLang="zh-CN" sz="1200" smtClean="0"/>
              <a:t>4</a:t>
            </a:fld>
            <a:endParaRPr lang="en-US" altLang="zh-CN" sz="120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= {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,{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}}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2A2F25F-8B13-47C6-9944-5EBA4E2705A0}" type="slidenum">
              <a:rPr lang="en-US" altLang="zh-CN" sz="1200" smtClean="0"/>
              <a:t>5</a:t>
            </a:fld>
            <a:endParaRPr lang="en-US" altLang="zh-CN" sz="12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469F3B5-E009-4DEB-BE40-5C0EDBB07093}" type="slidenum">
              <a:rPr lang="en-US" altLang="zh-CN" sz="1200" smtClean="0"/>
              <a:t>6</a:t>
            </a:fld>
            <a:endParaRPr lang="en-US" altLang="zh-CN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9005E7A-C6AE-4E25-9F77-20B8E355855E}" type="slidenum">
              <a:rPr lang="en-US" altLang="zh-CN" sz="1200" smtClean="0"/>
              <a:t>7</a:t>
            </a:fld>
            <a:endParaRPr lang="en-US" altLang="zh-CN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4F802F4-6B3A-4104-A515-3EAADF30B863}" type="slidenum">
              <a:rPr lang="en-US" altLang="zh-CN" sz="1200" smtClean="0"/>
              <a:t>8</a:t>
            </a:fld>
            <a:endParaRPr lang="en-US" altLang="zh-CN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5A69906-4CA7-424B-A5BB-D10B60977E5D}" type="slidenum">
              <a:rPr lang="en-US" altLang="zh-CN" sz="1200" smtClean="0"/>
              <a:t>9</a:t>
            </a:fld>
            <a:endParaRPr lang="en-US" altLang="zh-CN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E5D0F0D-9DCA-49CE-B92C-0CC49E6C9BF3}" type="slidenum">
              <a:rPr lang="en-US" altLang="zh-CN" sz="1200" smtClean="0"/>
              <a:t>10</a:t>
            </a:fld>
            <a:endParaRPr lang="en-US" altLang="zh-CN" sz="120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BDB2062-318B-4237-B827-72CA985C052F}" type="slidenum">
              <a:rPr lang="en-US" altLang="zh-CN" sz="1200" smtClean="0"/>
              <a:t>11</a:t>
            </a:fld>
            <a:endParaRPr lang="en-US" altLang="zh-CN" sz="12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i="1" dirty="0"/>
              <a:t>A</a:t>
            </a:r>
            <a:r>
              <a:rPr lang="en-US" altLang="zh-CN" dirty="0"/>
              <a:t>×</a:t>
            </a:r>
            <a:r>
              <a:rPr lang="en-US" altLang="zh-CN" i="1" dirty="0"/>
              <a:t>A</a:t>
            </a:r>
            <a:r>
              <a:rPr lang="zh-CN" altLang="en-US" dirty="0"/>
              <a:t>有多少不同的子集，</a:t>
            </a:r>
            <a:r>
              <a:rPr lang="en-US" altLang="zh-CN" i="1" dirty="0"/>
              <a:t>A</a:t>
            </a:r>
            <a:r>
              <a:rPr lang="zh-CN" altLang="en-US" dirty="0"/>
              <a:t>上就有多少不同的二元关系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88CDF84-8E90-4A27-9162-74F8C652EDA6}" type="slidenum">
              <a:rPr lang="en-US" altLang="zh-CN" sz="1200" smtClean="0"/>
              <a:t>12</a:t>
            </a:fld>
            <a:endParaRPr lang="en-US" altLang="zh-CN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1ECA8F2-166A-406F-BD67-4D5E69F550FB}" type="slidenum">
              <a:rPr lang="en-US" altLang="zh-CN" sz="1200" smtClean="0"/>
              <a:t>13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9C809E3-A0CB-4427-AE44-5B0B5A7E9615}" type="slidenum">
              <a:rPr lang="en-US" altLang="zh-CN" sz="1200" smtClean="0"/>
              <a:t>14</a:t>
            </a:fld>
            <a:endParaRPr lang="en-US" altLang="zh-CN" sz="120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给出一个关系的方法有</a:t>
            </a:r>
            <a:r>
              <a:rPr lang="en-US" altLang="zh-CN" dirty="0"/>
              <a:t>3</a:t>
            </a:r>
            <a:r>
              <a:rPr lang="zh-CN" altLang="en-US" dirty="0"/>
              <a:t>种</a:t>
            </a:r>
            <a:r>
              <a:rPr lang="en-US" altLang="zh-CN" dirty="0"/>
              <a:t>:</a:t>
            </a:r>
            <a:r>
              <a:rPr lang="zh-CN" altLang="en-US" dirty="0"/>
              <a:t>集合表达式、关系矩阵和关系图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18DA2F9-6089-4C74-8962-516092D15E52}" type="slidenum">
              <a:rPr lang="en-US" altLang="zh-CN" sz="1200" smtClean="0"/>
              <a:t>15</a:t>
            </a:fld>
            <a:endParaRPr lang="en-US" altLang="zh-CN" sz="120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D93C46E-D72B-4C1A-A552-F6A3CC46C10B}" type="slidenum">
              <a:rPr lang="en-US" altLang="zh-CN" sz="1200" smtClean="0"/>
              <a:t>16</a:t>
            </a:fld>
            <a:endParaRPr lang="en-US" altLang="zh-CN" sz="12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C808A78-7B0C-4124-A900-5B8B4A1AFE37}" type="slidenum">
              <a:rPr lang="en-US" altLang="zh-CN" sz="1200" smtClean="0"/>
              <a:t>17</a:t>
            </a:fld>
            <a:endParaRPr lang="en-US" altLang="zh-CN" sz="120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CF9FDCE-DF46-4F90-A463-C9BBC5CF2A6E}" type="slidenum">
              <a:rPr lang="en-US" altLang="zh-CN" sz="1200" smtClean="0"/>
              <a:t>18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78ECE45-30B8-4780-BDD6-D3BCD7B8AC28}" type="slidenum">
              <a:rPr lang="en-US" altLang="zh-CN" sz="1200" smtClean="0"/>
              <a:t>19</a:t>
            </a:fld>
            <a:endParaRPr lang="en-US" altLang="zh-CN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右复合</a:t>
            </a:r>
            <a:endParaRPr lang="en-US" altLang="zh-CN" dirty="0"/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363CCE1-4B9F-456B-BADC-050415714EF3}" type="slidenum">
              <a:rPr lang="en-US" altLang="zh-CN" sz="1200" smtClean="0"/>
              <a:t>20</a:t>
            </a:fld>
            <a:endParaRPr lang="en-US" altLang="zh-CN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6F03BCA-BCC6-4025-95F8-27E08483746B}" type="slidenum">
              <a:rPr lang="en-US" altLang="zh-CN" sz="1200" smtClean="0"/>
              <a:t>21</a:t>
            </a:fld>
            <a:endParaRPr lang="en-US" altLang="zh-CN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i="1" dirty="0"/>
              <a:t>这里并没有要求</a:t>
            </a:r>
            <a:r>
              <a:rPr lang="en-US" altLang="zh-CN" i="1" dirty="0"/>
              <a:t>A</a:t>
            </a:r>
            <a:r>
              <a:rPr lang="zh-CN" altLang="en-US" i="1" dirty="0"/>
              <a:t>是</a:t>
            </a:r>
            <a:r>
              <a:rPr lang="en-US" altLang="zh-CN" dirty="0" err="1"/>
              <a:t>domR</a:t>
            </a:r>
            <a:r>
              <a:rPr lang="zh-CN" altLang="en-US" dirty="0"/>
              <a:t>的子集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R</a:t>
            </a:r>
            <a:r>
              <a:rPr lang="en-US" altLang="zh-CN" sz="1400" dirty="0"/>
              <a:t>↾</a:t>
            </a:r>
            <a:r>
              <a:rPr lang="en-US" altLang="zh-CN" i="1" dirty="0"/>
              <a:t>A</a:t>
            </a:r>
            <a:r>
              <a:rPr lang="zh-CN" altLang="en-US" dirty="0"/>
              <a:t>这个运算是从</a:t>
            </a:r>
            <a:r>
              <a:rPr lang="en-US" altLang="zh-CN" dirty="0"/>
              <a:t>R</a:t>
            </a:r>
            <a:r>
              <a:rPr lang="zh-CN" altLang="en-US" dirty="0"/>
              <a:t>中选出一个子关系，使得这个子关系的定义域包含于</a:t>
            </a:r>
            <a:r>
              <a:rPr lang="en-US" altLang="zh-CN" dirty="0"/>
              <a:t>A</a:t>
            </a:r>
          </a:p>
          <a:p>
            <a:pPr eaLnBrk="1" hangingPunct="1"/>
            <a:r>
              <a:rPr lang="zh-CN" altLang="en-US" dirty="0"/>
              <a:t>（若是认为</a:t>
            </a:r>
            <a:r>
              <a:rPr lang="en-US" altLang="zh-CN" dirty="0"/>
              <a:t>A</a:t>
            </a:r>
            <a:r>
              <a:rPr lang="zh-CN" altLang="en-US" dirty="0"/>
              <a:t>隐含着是</a:t>
            </a:r>
            <a:r>
              <a:rPr lang="en-US" altLang="zh-CN" dirty="0" err="1"/>
              <a:t>domR</a:t>
            </a:r>
            <a:r>
              <a:rPr lang="zh-CN" altLang="en-US" dirty="0"/>
              <a:t>的子集，则</a:t>
            </a:r>
            <a:r>
              <a:rPr lang="en-US" altLang="zh-CN" dirty="0" err="1"/>
              <a:t>dom</a:t>
            </a:r>
            <a:r>
              <a:rPr lang="zh-CN" altLang="en-US" dirty="0"/>
              <a:t>（</a:t>
            </a:r>
            <a:r>
              <a:rPr lang="en-US" altLang="zh-CN" i="1" dirty="0"/>
              <a:t>R</a:t>
            </a:r>
            <a:r>
              <a:rPr lang="en-US" altLang="zh-CN" sz="1400" dirty="0"/>
              <a:t>↾</a:t>
            </a:r>
            <a:r>
              <a:rPr lang="en-US" altLang="zh-CN" i="1" dirty="0"/>
              <a:t>A</a:t>
            </a:r>
            <a:r>
              <a:rPr lang="zh-CN" altLang="en-US" dirty="0"/>
              <a:t>）</a:t>
            </a:r>
            <a:r>
              <a:rPr lang="en-US" altLang="zh-CN" dirty="0"/>
              <a:t>=A</a:t>
            </a:r>
            <a:r>
              <a:rPr lang="zh-CN" altLang="en-US" dirty="0"/>
              <a:t>，（有可能</a:t>
            </a:r>
            <a:r>
              <a:rPr lang="en-US" altLang="zh-CN" dirty="0"/>
              <a:t>A</a:t>
            </a:r>
            <a:r>
              <a:rPr lang="zh-CN" altLang="en-US" dirty="0"/>
              <a:t>并不是</a:t>
            </a:r>
            <a:r>
              <a:rPr lang="en-US" altLang="zh-CN" dirty="0" err="1"/>
              <a:t>domR</a:t>
            </a:r>
            <a:r>
              <a:rPr lang="zh-CN" altLang="en-US" dirty="0"/>
              <a:t>的子集）</a:t>
            </a:r>
            <a:r>
              <a:rPr lang="en-US" altLang="zh-CN" dirty="0"/>
              <a:t>)</a:t>
            </a:r>
          </a:p>
          <a:p>
            <a:pPr eaLnBrk="1" hangingPunct="1"/>
            <a:r>
              <a:rPr lang="zh-CN" altLang="en-US" dirty="0"/>
              <a:t>也可以说，通过</a:t>
            </a:r>
            <a:r>
              <a:rPr lang="en-US" altLang="zh-CN" dirty="0"/>
              <a:t>A</a:t>
            </a:r>
            <a:r>
              <a:rPr lang="zh-CN" altLang="en-US" dirty="0"/>
              <a:t>对新的子关系的定义域做了限制</a:t>
            </a:r>
            <a:endParaRPr lang="en-US" altLang="zh-CN" dirty="0"/>
          </a:p>
          <a:p>
            <a:pPr eaLnBrk="1" hangingPunct="1"/>
            <a:r>
              <a:rPr lang="zh-CN" altLang="en-US" dirty="0"/>
              <a:t>先在黑板上用下一张的例</a:t>
            </a:r>
            <a:r>
              <a:rPr lang="en-US" altLang="zh-CN" dirty="0"/>
              <a:t>7</a:t>
            </a:r>
            <a:r>
              <a:rPr lang="zh-CN" altLang="en-US" dirty="0"/>
              <a:t>来讲清楚，再推出此页的定义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6A03FB0-0B5B-48B5-880D-099937A15372}" type="slidenum">
              <a:rPr lang="en-US" altLang="zh-CN" sz="1200" smtClean="0"/>
              <a:t>22</a:t>
            </a:fld>
            <a:endParaRPr lang="en-US" altLang="zh-CN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把这个例子展示在黑板上</a:t>
            </a:r>
            <a:endParaRPr lang="en-US" altLang="zh-CN" dirty="0"/>
          </a:p>
          <a:p>
            <a:pPr eaLnBrk="1" hangingPunct="1"/>
            <a:r>
              <a:rPr lang="zh-CN" altLang="en-US" dirty="0"/>
              <a:t>提问：</a:t>
            </a:r>
            <a:r>
              <a:rPr lang="en-US" altLang="zh-CN" i="1" dirty="0"/>
              <a:t>R</a:t>
            </a:r>
            <a:r>
              <a:rPr lang="en-US" altLang="zh-CN" sz="1400" dirty="0"/>
              <a:t>↾</a:t>
            </a:r>
            <a:r>
              <a:rPr lang="en-US" altLang="zh-CN" dirty="0"/>
              <a:t>{3} = {&lt;3,2&gt;}</a:t>
            </a:r>
          </a:p>
          <a:p>
            <a:pPr eaLnBrk="1" hangingPunct="1"/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[{2,3}] = {2,4} 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0843A45-0466-4458-BB7E-63819C180A2E}" type="slidenum">
              <a:rPr lang="en-US" altLang="zh-CN" sz="1200" smtClean="0"/>
              <a:t>23</a:t>
            </a:fld>
            <a:endParaRPr lang="en-US" altLang="zh-CN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AD206B0-239F-4D08-888B-645FE6A608D0}" type="slidenum">
              <a:rPr lang="en-US" altLang="zh-CN" sz="1200" smtClean="0"/>
              <a:t>24</a:t>
            </a:fld>
            <a:endParaRPr lang="en-US" altLang="zh-CN" sz="12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C567944-EF90-439F-A4A4-2AC723F02B14}" type="slidenum">
              <a:rPr lang="en-US" altLang="zh-CN" sz="1200" smtClean="0"/>
              <a:t>25</a:t>
            </a:fld>
            <a:endParaRPr lang="en-US" altLang="zh-CN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B6DDC0B-75E4-4F82-B672-4EA84C17F2F1}" type="slidenum">
              <a:rPr lang="en-US" altLang="zh-CN" sz="1200" smtClean="0"/>
              <a:t>26</a:t>
            </a:fld>
            <a:endParaRPr lang="en-US" altLang="zh-CN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4EC38C7-98FC-4DFC-9924-DD0756FA01BC}" type="slidenum">
              <a:rPr lang="en-US" altLang="zh-CN" sz="1200" smtClean="0"/>
              <a:t>27</a:t>
            </a:fld>
            <a:endParaRPr lang="en-US" altLang="zh-CN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))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)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23BD06B-BDDB-4C8F-ACDA-47ECC71D2D06}" type="slidenum">
              <a:rPr lang="en-US" altLang="zh-CN" sz="1200" smtClean="0"/>
              <a:t>28</a:t>
            </a:fld>
            <a:endParaRPr lang="en-US" altLang="zh-CN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0584618-79A4-4C15-A632-06A656DB8CA1}" type="slidenum">
              <a:rPr lang="en-US" altLang="zh-CN" sz="1200" smtClean="0"/>
              <a:t>29</a:t>
            </a:fld>
            <a:endParaRPr lang="en-US" altLang="zh-CN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2E2D86D-7ECB-451F-976C-CEE571C02611}" type="slidenum">
              <a:rPr lang="en-US" altLang="zh-CN" sz="1200" smtClean="0"/>
              <a:t>30</a:t>
            </a:fld>
            <a:endParaRPr lang="en-US" altLang="zh-CN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i="1" dirty="0"/>
              <a:t>F </a:t>
            </a:r>
            <a:r>
              <a:rPr lang="en-US" altLang="zh-CN" sz="1400" dirty="0"/>
              <a:t>↾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∪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={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 err="1">
                <a:solidFill>
                  <a:srgbClr val="0066FF"/>
                </a:solidFill>
              </a:rPr>
              <a:t>F</a:t>
            </a:r>
            <a:r>
              <a:rPr lang="en-US" altLang="zh-CN" dirty="0" err="1">
                <a:solidFill>
                  <a:srgbClr val="0066FF"/>
                </a:solidFill>
              </a:rPr>
              <a:t>∧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 err="1">
                <a:solidFill>
                  <a:srgbClr val="0066FF"/>
                </a:solidFill>
              </a:rPr>
              <a:t>∪</a:t>
            </a:r>
            <a:r>
              <a:rPr lang="en-US" altLang="zh-CN" i="1" dirty="0" err="1">
                <a:solidFill>
                  <a:srgbClr val="0066FF"/>
                </a:solidFill>
              </a:rPr>
              <a:t>B</a:t>
            </a:r>
            <a:r>
              <a:rPr lang="en-US" altLang="zh-CN" dirty="0">
                <a:solidFill>
                  <a:srgbClr val="0066FF"/>
                </a:solidFill>
              </a:rPr>
              <a:t>}</a:t>
            </a:r>
            <a:endParaRPr lang="zh-CN" altLang="zh-CN" dirty="0"/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7A6471E-7576-4516-8CB3-F79AE127B214}" type="slidenum">
              <a:rPr lang="en-US" altLang="zh-CN" sz="1200" smtClean="0"/>
              <a:t>31</a:t>
            </a:fld>
            <a:endParaRPr lang="en-US" altLang="zh-CN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))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)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F3F9508-3A25-4540-97DE-8C72F07DDB92}" type="slidenum">
              <a:rPr lang="en-US" altLang="zh-CN" sz="1200" smtClean="0"/>
              <a:t>32</a:t>
            </a:fld>
            <a:endParaRPr lang="en-US" altLang="zh-CN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5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4134BCD-AC00-4156-95D9-FC65DC913FCE}" type="slidenum">
              <a:rPr lang="en-US" altLang="zh-CN" sz="1200" smtClean="0"/>
              <a:t>33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68D46CF-04AC-4EDA-B393-D8328C8ACF76}" type="slidenum">
              <a:rPr lang="en-US" altLang="zh-CN" sz="1200" smtClean="0"/>
              <a:t>36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1043887-325F-473B-9C60-DA4E452ED2AE}" type="slidenum">
              <a:rPr lang="en-US" altLang="zh-CN" sz="1200" smtClean="0"/>
              <a:t>37</a:t>
            </a:fld>
            <a:endParaRPr lang="en-US" altLang="zh-CN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D8DFB0E-992E-46DA-A59C-FC45E8A48DD7}" type="slidenum">
              <a:rPr lang="en-US" altLang="zh-CN" sz="1200" smtClean="0"/>
              <a:t>38</a:t>
            </a:fld>
            <a:endParaRPr lang="en-US" altLang="zh-CN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89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BAB183C-DB02-47A3-9E39-35BA98DA03E3}" type="slidenum">
              <a:rPr lang="en-US" altLang="zh-CN" sz="1200" smtClean="0"/>
              <a:t>39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6352967-230E-422B-8553-AEC9A54091EC}" type="slidenum">
              <a:rPr lang="zh-CN" altLang="en-US" sz="1200" smtClean="0">
                <a:latin typeface="Times New Roman" panose="02020603050405020304" pitchFamily="18" charset="0"/>
              </a:rPr>
              <a:t>43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270375"/>
            <a:ext cx="5207000" cy="40465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若</a:t>
            </a:r>
            <a:r>
              <a:rPr lang="en-US" altLang="zh-CN"/>
              <a:t>|A|=n,|AXA|=n</a:t>
            </a:r>
            <a:r>
              <a:rPr lang="en-US" altLang="zh-CN" baseline="30000"/>
              <a:t>2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/>
              <a:t>A</a:t>
            </a:r>
            <a:r>
              <a:rPr lang="zh-CN" altLang="en-US"/>
              <a:t>上的关系有</a:t>
            </a:r>
            <a:r>
              <a:rPr lang="en-US" altLang="zh-CN"/>
              <a:t>2</a:t>
            </a:r>
            <a:r>
              <a:rPr lang="en-US" altLang="zh-CN" baseline="30000"/>
              <a:t>n2</a:t>
            </a:r>
            <a:r>
              <a:rPr lang="en-US" altLang="zh-CN"/>
              <a:t>,</a:t>
            </a:r>
            <a:r>
              <a:rPr lang="zh-CN" altLang="en-US"/>
              <a:t>（全部子集数）因此</a:t>
            </a:r>
            <a:r>
              <a:rPr lang="en-US" altLang="zh-CN" sz="3600" i="1">
                <a:solidFill>
                  <a:srgbClr val="FF3300"/>
                </a:solidFill>
                <a:ea typeface="隶书" panose="02010509060101010101" pitchFamily="49" charset="-122"/>
              </a:rPr>
              <a:t>R</a:t>
            </a:r>
            <a:r>
              <a:rPr lang="en-US" altLang="zh-CN" sz="3600">
                <a:solidFill>
                  <a:srgbClr val="FF3300"/>
                </a:solidFill>
                <a:ea typeface="隶书" panose="02010509060101010101" pitchFamily="49" charset="-122"/>
              </a:rPr>
              <a:t> </a:t>
            </a:r>
            <a:r>
              <a:rPr lang="zh-CN" altLang="en-US" sz="3600">
                <a:solidFill>
                  <a:srgbClr val="FF3300"/>
                </a:solidFill>
                <a:ea typeface="隶书" panose="02010509060101010101" pitchFamily="49" charset="-122"/>
              </a:rPr>
              <a:t>的不同次幂只有有限个</a:t>
            </a:r>
            <a:r>
              <a:rPr lang="en-US" altLang="zh-CN" sz="3600">
                <a:solidFill>
                  <a:srgbClr val="000000"/>
                </a:solidFill>
                <a:ea typeface="隶书" panose="02010509060101010101" pitchFamily="49" charset="-122"/>
              </a:rPr>
              <a:t>.</a:t>
            </a:r>
          </a:p>
          <a:p>
            <a:pPr eaLnBrk="1" hangingPunct="1"/>
            <a:r>
              <a:rPr kumimoji="1" lang="zh-CN" altLang="zh-CN">
                <a:solidFill>
                  <a:srgbClr val="000000"/>
                </a:solidFill>
                <a:ea typeface="隶书" panose="02010509060101010101" pitchFamily="49" charset="-122"/>
              </a:rPr>
              <a:t>如果有限集合</a:t>
            </a:r>
            <a:r>
              <a:rPr kumimoji="1" lang="zh-CN" altLang="en-US">
                <a:solidFill>
                  <a:srgbClr val="000000"/>
                </a:solidFill>
                <a:ea typeface="隶书" panose="02010509060101010101" pitchFamily="49" charset="-122"/>
              </a:rPr>
              <a:t> </a:t>
            </a:r>
            <a:r>
              <a:rPr kumimoji="1" lang="en-US" altLang="zh-CN" i="1">
                <a:solidFill>
                  <a:srgbClr val="000000"/>
                </a:solidFill>
                <a:ea typeface="隶书" panose="02010509060101010101" pitchFamily="49" charset="-122"/>
              </a:rPr>
              <a:t>A</a:t>
            </a:r>
            <a:r>
              <a:rPr kumimoji="1" lang="zh-CN" altLang="en-US">
                <a:solidFill>
                  <a:srgbClr val="000000"/>
                </a:solidFill>
                <a:ea typeface="隶书" panose="02010509060101010101" pitchFamily="49" charset="-122"/>
              </a:rPr>
              <a:t>有</a:t>
            </a:r>
            <a:r>
              <a:rPr kumimoji="1" lang="en-US" altLang="zh-CN" i="1">
                <a:solidFill>
                  <a:srgbClr val="000000"/>
                </a:solidFill>
                <a:ea typeface="隶书" panose="02010509060101010101" pitchFamily="49" charset="-122"/>
              </a:rPr>
              <a:t>n</a:t>
            </a:r>
            <a:r>
              <a:rPr kumimoji="1" lang="zh-CN" altLang="en-US">
                <a:solidFill>
                  <a:srgbClr val="000000"/>
                </a:solidFill>
                <a:ea typeface="隶书" panose="02010509060101010101" pitchFamily="49" charset="-122"/>
              </a:rPr>
              <a:t>个元素</a:t>
            </a:r>
            <a:r>
              <a:rPr kumimoji="1" lang="en-US" altLang="zh-CN">
                <a:solidFill>
                  <a:srgbClr val="000000"/>
                </a:solidFill>
                <a:ea typeface="隶书" panose="02010509060101010101" pitchFamily="49" charset="-122"/>
              </a:rPr>
              <a:t>,</a:t>
            </a:r>
            <a:r>
              <a:rPr kumimoji="1" lang="zh-CN" altLang="en-US">
                <a:solidFill>
                  <a:srgbClr val="000000"/>
                </a:solidFill>
                <a:ea typeface="隶书" panose="02010509060101010101" pitchFamily="49" charset="-122"/>
              </a:rPr>
              <a:t>则其幂集有</a:t>
            </a:r>
            <a:r>
              <a:rPr kumimoji="1" lang="en-US" altLang="zh-CN">
                <a:solidFill>
                  <a:srgbClr val="000000"/>
                </a:solidFill>
                <a:ea typeface="隶书" panose="02010509060101010101" pitchFamily="49" charset="-122"/>
              </a:rPr>
              <a:t>2</a:t>
            </a:r>
            <a:r>
              <a:rPr kumimoji="1" lang="en-US" altLang="zh-CN" i="1" baseline="30000">
                <a:solidFill>
                  <a:srgbClr val="000000"/>
                </a:solidFill>
                <a:ea typeface="隶书" panose="02010509060101010101" pitchFamily="49" charset="-122"/>
              </a:rPr>
              <a:t>n </a:t>
            </a:r>
            <a:r>
              <a:rPr kumimoji="1" lang="zh-CN" altLang="en-US">
                <a:solidFill>
                  <a:srgbClr val="000000"/>
                </a:solidFill>
                <a:ea typeface="隶书" panose="02010509060101010101" pitchFamily="49" charset="-122"/>
              </a:rPr>
              <a:t>个元素。</a:t>
            </a:r>
            <a:endParaRPr kumimoji="1" lang="zh-CN" altLang="en-US">
              <a:solidFill>
                <a:srgbClr val="FF0000"/>
              </a:solidFill>
              <a:ea typeface="隶书" panose="02010509060101010101" pitchFamily="49" charset="-122"/>
            </a:endParaRP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8D5C567-F20C-4967-8579-E2A868F34CB3}" type="slidenum">
              <a:rPr lang="en-US" altLang="zh-CN" sz="1200" smtClean="0"/>
              <a:t>44</a:t>
            </a:fld>
            <a:endParaRPr lang="en-US" altLang="zh-CN" sz="12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鸽巢原理： 如果要把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n+1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个物体放进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个盒子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那么至少有一个盒子包含两个或更多个物体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126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842AD23-E6C7-4E12-A239-8725C761CFCE}" type="slidenum">
              <a:rPr lang="en-US" altLang="zh-CN" sz="1200"/>
              <a:t>45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1800" dirty="0">
                <a:latin typeface="Times New Roman" panose="02020603050405020304" pitchFamily="18" charset="0"/>
              </a:rPr>
              <a:t>P158</a:t>
            </a:r>
            <a:r>
              <a:rPr lang="zh-CN" altLang="en-US" sz="1800" dirty="0">
                <a:latin typeface="Times New Roman" panose="02020603050405020304" pitchFamily="18" charset="0"/>
              </a:rPr>
              <a:t>（第</a:t>
            </a:r>
            <a:r>
              <a:rPr lang="en-US" altLang="zh-CN" sz="1800" dirty="0">
                <a:latin typeface="Times New Roman" panose="02020603050405020304" pitchFamily="18" charset="0"/>
              </a:rPr>
              <a:t>2</a:t>
            </a:r>
            <a:r>
              <a:rPr lang="zh-CN" altLang="en-US" sz="1800" dirty="0">
                <a:latin typeface="Times New Roman" panose="02020603050405020304" pitchFamily="18" charset="0"/>
              </a:rPr>
              <a:t>版）</a:t>
            </a:r>
            <a:r>
              <a:rPr lang="en-US" altLang="zh-CN" sz="1800" dirty="0">
                <a:latin typeface="Times New Roman" panose="02020603050405020304" pitchFamily="18" charset="0"/>
              </a:rPr>
              <a:t>P68</a:t>
            </a:r>
            <a:r>
              <a:rPr lang="zh-CN" altLang="en-US" sz="1800" dirty="0">
                <a:latin typeface="Times New Roman" panose="02020603050405020304" pitchFamily="18" charset="0"/>
              </a:rPr>
              <a:t>（第</a:t>
            </a:r>
            <a:r>
              <a:rPr lang="en-US" altLang="zh-CN" sz="1800" dirty="0">
                <a:latin typeface="Times New Roman" panose="02020603050405020304" pitchFamily="18" charset="0"/>
              </a:rPr>
              <a:t>3</a:t>
            </a:r>
            <a:r>
              <a:rPr lang="zh-CN" altLang="en-US" sz="1800" dirty="0">
                <a:latin typeface="Times New Roman" panose="02020603050405020304" pitchFamily="18" charset="0"/>
              </a:rPr>
              <a:t>版）</a:t>
            </a:r>
          </a:p>
          <a:p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屈习题，书上的答案有误，应该考虑孤立点</a:t>
            </a:r>
            <a:r>
              <a:rPr lang="en-US" altLang="zh-CN" sz="1800" dirty="0">
                <a:latin typeface="Times New Roman" panose="02020603050405020304" pitchFamily="18" charset="0"/>
              </a:rPr>
              <a:t>d</a:t>
            </a:r>
          </a:p>
          <a:p>
            <a:r>
              <a:rPr lang="en-US" altLang="zh-CN" sz="1800" dirty="0">
                <a:latin typeface="Times New Roman" panose="02020603050405020304" pitchFamily="18" charset="0"/>
              </a:rPr>
              <a:t>s=1,t=7</a:t>
            </a:r>
          </a:p>
          <a:p>
            <a:r>
              <a:rPr lang="zh-CN" altLang="en-US" sz="1800" dirty="0">
                <a:latin typeface="Times New Roman" panose="02020603050405020304" pitchFamily="18" charset="0"/>
              </a:rPr>
              <a:t>若是将原题改为</a:t>
            </a:r>
            <a:r>
              <a:rPr lang="fr-FR" altLang="zh-CN" i="1" dirty="0">
                <a:latin typeface="Times New Roman" panose="02020603050405020304" pitchFamily="18" charset="0"/>
              </a:rPr>
              <a:t>R</a:t>
            </a:r>
            <a:r>
              <a:rPr lang="fr-FR" altLang="zh-CN" dirty="0">
                <a:latin typeface="Times New Roman" panose="02020603050405020304" pitchFamily="18" charset="0"/>
              </a:rPr>
              <a:t> = { &lt;</a:t>
            </a:r>
            <a:r>
              <a:rPr lang="fr-FR" altLang="zh-CN" i="1" dirty="0">
                <a:latin typeface="Times New Roman" panose="02020603050405020304" pitchFamily="18" charset="0"/>
              </a:rPr>
              <a:t>a</a:t>
            </a:r>
            <a:r>
              <a:rPr lang="fr-FR" altLang="zh-CN" dirty="0">
                <a:latin typeface="Times New Roman" panose="02020603050405020304" pitchFamily="18" charset="0"/>
              </a:rPr>
              <a:t>,</a:t>
            </a:r>
            <a:r>
              <a:rPr lang="fr-FR" altLang="zh-CN" i="1" dirty="0">
                <a:latin typeface="Times New Roman" panose="02020603050405020304" pitchFamily="18" charset="0"/>
              </a:rPr>
              <a:t>b</a:t>
            </a:r>
            <a:r>
              <a:rPr lang="fr-FR" altLang="zh-CN" dirty="0">
                <a:latin typeface="Times New Roman" panose="02020603050405020304" pitchFamily="18" charset="0"/>
              </a:rPr>
              <a:t>&gt;,&lt;</a:t>
            </a:r>
            <a:r>
              <a:rPr lang="fr-FR" altLang="zh-CN" i="1" dirty="0">
                <a:latin typeface="Times New Roman" panose="02020603050405020304" pitchFamily="18" charset="0"/>
              </a:rPr>
              <a:t>b</a:t>
            </a:r>
            <a:r>
              <a:rPr lang="fr-FR" altLang="zh-CN" dirty="0">
                <a:latin typeface="Times New Roman" panose="02020603050405020304" pitchFamily="18" charset="0"/>
              </a:rPr>
              <a:t>,</a:t>
            </a:r>
            <a:r>
              <a:rPr lang="fr-FR" altLang="zh-CN" i="1" dirty="0"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latin typeface="Times New Roman" panose="02020603050405020304" pitchFamily="18" charset="0"/>
              </a:rPr>
              <a:t>&gt;,&lt;</a:t>
            </a:r>
            <a:r>
              <a:rPr lang="fr-FR" altLang="zh-CN" i="1" dirty="0"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latin typeface="Times New Roman" panose="02020603050405020304" pitchFamily="18" charset="0"/>
              </a:rPr>
              <a:t>,</a:t>
            </a:r>
            <a:r>
              <a:rPr lang="fr-FR" altLang="zh-CN" i="1" dirty="0">
                <a:latin typeface="Times New Roman" panose="02020603050405020304" pitchFamily="18" charset="0"/>
              </a:rPr>
              <a:t>a</a:t>
            </a:r>
            <a:r>
              <a:rPr lang="fr-FR" altLang="zh-CN" dirty="0">
                <a:latin typeface="Times New Roman" panose="02020603050405020304" pitchFamily="18" charset="0"/>
              </a:rPr>
              <a:t>&gt;,&lt;d,d,&gt; &lt;</a:t>
            </a:r>
            <a:r>
              <a:rPr lang="fr-FR" altLang="zh-CN" i="1" dirty="0">
                <a:latin typeface="Times New Roman" panose="02020603050405020304" pitchFamily="18" charset="0"/>
              </a:rPr>
              <a:t>e</a:t>
            </a:r>
            <a:r>
              <a:rPr lang="fr-FR" altLang="zh-CN" dirty="0">
                <a:latin typeface="Times New Roman" panose="02020603050405020304" pitchFamily="18" charset="0"/>
              </a:rPr>
              <a:t>,</a:t>
            </a:r>
            <a:r>
              <a:rPr lang="fr-FR" altLang="zh-CN" i="1" dirty="0">
                <a:latin typeface="Times New Roman" panose="02020603050405020304" pitchFamily="18" charset="0"/>
              </a:rPr>
              <a:t>f</a:t>
            </a:r>
            <a:r>
              <a:rPr lang="fr-FR" altLang="zh-CN" dirty="0">
                <a:latin typeface="Times New Roman" panose="02020603050405020304" pitchFamily="18" charset="0"/>
              </a:rPr>
              <a:t>&gt;,&lt;</a:t>
            </a:r>
            <a:r>
              <a:rPr lang="fr-FR" altLang="zh-CN" i="1" dirty="0">
                <a:latin typeface="Times New Roman" panose="02020603050405020304" pitchFamily="18" charset="0"/>
              </a:rPr>
              <a:t>f</a:t>
            </a:r>
            <a:r>
              <a:rPr lang="fr-FR" altLang="zh-CN" dirty="0">
                <a:latin typeface="Times New Roman" panose="02020603050405020304" pitchFamily="18" charset="0"/>
              </a:rPr>
              <a:t>,</a:t>
            </a:r>
            <a:r>
              <a:rPr lang="fr-FR" altLang="zh-CN" i="1" dirty="0">
                <a:latin typeface="Times New Roman" panose="02020603050405020304" pitchFamily="18" charset="0"/>
              </a:rPr>
              <a:t>e</a:t>
            </a:r>
            <a:r>
              <a:rPr lang="fr-FR" altLang="zh-CN" dirty="0">
                <a:latin typeface="Times New Roman" panose="02020603050405020304" pitchFamily="18" charset="0"/>
              </a:rPr>
              <a:t>&gt; }, </a:t>
            </a:r>
            <a:r>
              <a:rPr lang="zh-CN" altLang="en-US" dirty="0">
                <a:latin typeface="Times New Roman" panose="02020603050405020304" pitchFamily="18" charset="0"/>
              </a:rPr>
              <a:t>即添加了一个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dirty="0" err="1">
                <a:latin typeface="Times New Roman" panose="02020603050405020304" pitchFamily="18" charset="0"/>
              </a:rPr>
              <a:t>d,d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则就是书中答案</a:t>
            </a:r>
            <a:r>
              <a:rPr lang="en-US" altLang="zh-CN" dirty="0">
                <a:latin typeface="Times New Roman" panose="02020603050405020304" pitchFamily="18" charset="0"/>
              </a:rPr>
              <a:t>s=0,t=6</a:t>
            </a:r>
            <a:endParaRPr lang="fr-FR" altLang="zh-CN" dirty="0">
              <a:latin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A3ED5C3-9DD2-4DA6-88C2-553D794D1282}" type="slidenum">
              <a:rPr lang="en-US" altLang="zh-CN" sz="1200" smtClean="0"/>
              <a:t>46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8AC9C60-8B7E-4DA5-97E6-D475C13DC21C}" type="slidenum">
              <a:rPr lang="en-US" altLang="zh-CN" sz="1200" smtClean="0"/>
              <a:t>47</a:t>
            </a:fld>
            <a:endParaRPr lang="en-US" altLang="zh-CN" sz="120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01F962C-5D30-4089-BAF4-9A4A002F4829}" type="slidenum">
              <a:rPr lang="en-US" altLang="zh-CN" sz="1200" smtClean="0"/>
              <a:t>48</a:t>
            </a:fld>
            <a:endParaRPr lang="en-US" altLang="zh-CN" sz="120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DDDFD2C-6710-4B51-80E8-8128CEAF2581}" type="slidenum">
              <a:rPr lang="en-US" altLang="zh-CN" sz="1200" smtClean="0"/>
              <a:t>49</a:t>
            </a:fld>
            <a:endParaRPr lang="en-US" altLang="zh-CN" sz="120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p</a:t>
            </a:r>
            <a:r>
              <a:rPr lang="zh-CN" altLang="en-US" dirty="0"/>
              <a:t>是指一个</a:t>
            </a:r>
            <a:r>
              <a:rPr lang="en-US" altLang="zh-CN" dirty="0"/>
              <a:t>pattern</a:t>
            </a:r>
          </a:p>
          <a:p>
            <a:pPr eaLnBrk="1" hangingPunct="1"/>
            <a:r>
              <a:rPr lang="zh-CN" altLang="en-US" dirty="0"/>
              <a:t>可以以</a:t>
            </a:r>
            <a:r>
              <a:rPr lang="en-US" altLang="zh-CN" dirty="0"/>
              <a:t>R2</a:t>
            </a:r>
            <a:r>
              <a:rPr lang="zh-CN" altLang="en-US" dirty="0"/>
              <a:t>为例来理解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82588EB-DF98-4420-9192-CA462855E8AD}" type="slidenum">
              <a:rPr lang="en-US" altLang="zh-CN" sz="1200" smtClean="0"/>
              <a:t>50</a:t>
            </a:fld>
            <a:endParaRPr lang="en-US" altLang="zh-CN" sz="120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2971587-489F-4907-B2D5-8F193C02EA03}" type="slidenum">
              <a:rPr lang="en-US" altLang="zh-CN" sz="1200" smtClean="0"/>
              <a:t>51</a:t>
            </a:fld>
            <a:endParaRPr lang="en-US" altLang="zh-CN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D7EF84-7D6C-4E35-B2E4-047FC2A85FC2}" type="slidenum">
              <a:rPr lang="en-US" altLang="zh-CN" sz="1200" smtClean="0"/>
              <a:t>53</a:t>
            </a:fld>
            <a:endParaRPr lang="en-US" altLang="zh-CN" sz="120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平面上三角形的全等关系是自反的。</a:t>
            </a:r>
          </a:p>
          <a:p>
            <a:pPr eaLnBrk="1" hangingPunct="1"/>
            <a:r>
              <a:rPr lang="zh-CN" altLang="en-US" dirty="0"/>
              <a:t>日常生活中父子关系是反自反的。</a:t>
            </a: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86604DC-8631-4E3C-BCC1-7AAD334ADF2A}" type="slidenum">
              <a:rPr lang="en-US" altLang="zh-CN" sz="1200" smtClean="0"/>
              <a:t>56</a:t>
            </a:fld>
            <a:endParaRPr lang="en-US" altLang="zh-CN" sz="12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6ED057D-4D1F-4E8D-8397-849D29A99892}" type="slidenum">
              <a:rPr lang="en-US" altLang="zh-CN" sz="1200" smtClean="0"/>
              <a:t>57</a:t>
            </a:fld>
            <a:endParaRPr lang="en-US" altLang="zh-CN" sz="120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1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55EB304-ED64-4A24-B714-A6E66FFD9535}" type="slidenum">
              <a:rPr lang="en-US" altLang="zh-CN" sz="1200" smtClean="0"/>
              <a:t>59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3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897339-6684-487C-BD24-65C5066D65B8}" type="slidenum">
              <a:rPr lang="en-US" altLang="zh-CN" smtClean="0"/>
              <a:t>60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897339-6684-487C-BD24-65C5066D65B8}" type="slidenum">
              <a:rPr lang="en-US" altLang="zh-CN" smtClean="0"/>
              <a:t>61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063C4A1-DF00-4513-93DA-36ED04D2B837}" type="slidenum">
              <a:rPr lang="en-US" altLang="zh-CN" sz="1200" smtClean="0"/>
              <a:t>62</a:t>
            </a:fld>
            <a:endParaRPr lang="en-US" altLang="zh-CN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不存在这样的</a:t>
            </a:r>
            <a:r>
              <a:rPr lang="en-US" altLang="zh-CN" dirty="0" err="1"/>
              <a:t>x,y,z</a:t>
            </a:r>
            <a:r>
              <a:rPr lang="en-US" altLang="zh-CN" dirty="0"/>
              <a:t>,</a:t>
            </a:r>
            <a:r>
              <a:rPr lang="zh-CN" altLang="en-US" dirty="0"/>
              <a:t>有</a:t>
            </a:r>
            <a:r>
              <a:rPr lang="en-US" altLang="zh-CN" dirty="0"/>
              <a:t>&lt;</a:t>
            </a:r>
            <a:r>
              <a:rPr lang="en-US" altLang="zh-CN" dirty="0" err="1"/>
              <a:t>x,y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R,&lt;</a:t>
            </a:r>
            <a:r>
              <a:rPr lang="en-US" altLang="zh-CN" dirty="0" err="1">
                <a:sym typeface="Symbol" panose="05050102010706020507" pitchFamily="18" charset="2"/>
              </a:rPr>
              <a:t>y,z</a:t>
            </a:r>
            <a:r>
              <a:rPr lang="en-US" altLang="zh-CN" dirty="0">
                <a:sym typeface="Symbol" panose="05050102010706020507" pitchFamily="18" charset="2"/>
              </a:rPr>
              <a:t>&gt; R,</a:t>
            </a:r>
            <a:r>
              <a:rPr lang="zh-CN" altLang="en-US" dirty="0">
                <a:sym typeface="Symbol" panose="05050102010706020507" pitchFamily="18" charset="2"/>
              </a:rPr>
              <a:t>但是</a:t>
            </a:r>
            <a:r>
              <a:rPr lang="en-US" altLang="zh-CN" dirty="0">
                <a:sym typeface="Symbol" panose="05050102010706020507" pitchFamily="18" charset="2"/>
              </a:rPr>
              <a:t>&lt;</a:t>
            </a:r>
            <a:r>
              <a:rPr lang="en-US" altLang="zh-CN" dirty="0" err="1">
                <a:sym typeface="Symbol" panose="05050102010706020507" pitchFamily="18" charset="2"/>
              </a:rPr>
              <a:t>x,z</a:t>
            </a:r>
            <a:r>
              <a:rPr lang="en-US" altLang="zh-CN" dirty="0">
                <a:sym typeface="Symbol" panose="05050102010706020507" pitchFamily="18" charset="2"/>
              </a:rPr>
              <a:t>&gt;R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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/>
              <a:t>y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/>
              <a:t>z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∧&lt;</a:t>
            </a:r>
            <a:r>
              <a:rPr lang="en-US" altLang="zh-CN" dirty="0" err="1"/>
              <a:t>x,y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R</a:t>
            </a:r>
            <a:r>
              <a:rPr lang="en-US" altLang="zh-CN" dirty="0"/>
              <a:t>∧</a:t>
            </a:r>
            <a:r>
              <a:rPr lang="en-US" altLang="zh-CN" dirty="0">
                <a:sym typeface="Symbol" panose="05050102010706020507" pitchFamily="18" charset="2"/>
              </a:rPr>
              <a:t>&lt;</a:t>
            </a:r>
            <a:r>
              <a:rPr lang="en-US" altLang="zh-CN" dirty="0" err="1">
                <a:sym typeface="Symbol" panose="05050102010706020507" pitchFamily="18" charset="2"/>
              </a:rPr>
              <a:t>y,z</a:t>
            </a:r>
            <a:r>
              <a:rPr lang="en-US" altLang="zh-CN" dirty="0">
                <a:sym typeface="Symbol" panose="05050102010706020507" pitchFamily="18" charset="2"/>
              </a:rPr>
              <a:t>&gt; R</a:t>
            </a:r>
            <a:r>
              <a:rPr lang="en-US" altLang="zh-CN" dirty="0"/>
              <a:t>∧</a:t>
            </a:r>
            <a:r>
              <a:rPr lang="en-US" altLang="zh-CN" dirty="0">
                <a:sym typeface="Symbol" panose="05050102010706020507" pitchFamily="18" charset="2"/>
              </a:rPr>
              <a:t>&lt;</a:t>
            </a:r>
            <a:r>
              <a:rPr lang="en-US" altLang="zh-CN" dirty="0" err="1">
                <a:sym typeface="Symbol" panose="05050102010706020507" pitchFamily="18" charset="2"/>
              </a:rPr>
              <a:t>x,z</a:t>
            </a:r>
            <a:r>
              <a:rPr lang="en-US" altLang="zh-CN" dirty="0">
                <a:sym typeface="Symbol" panose="05050102010706020507" pitchFamily="18" charset="2"/>
              </a:rPr>
              <a:t>&gt;R</a:t>
            </a:r>
            <a:r>
              <a:rPr lang="en-US" altLang="zh-CN" dirty="0"/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897339-6684-487C-BD24-65C5066D65B8}" type="slidenum">
              <a:rPr lang="en-US" altLang="zh-CN" smtClean="0"/>
              <a:t>65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</a:t>
            </a:r>
            <a:r>
              <a:rPr lang="en-US" altLang="zh-CN" dirty="0"/>
              <a:t>&lt;</a:t>
            </a:r>
            <a:r>
              <a:rPr lang="en-US" altLang="zh-CN" dirty="0" err="1"/>
              <a:t>b,a</a:t>
            </a:r>
            <a:r>
              <a:rPr lang="en-US" altLang="zh-CN" dirty="0"/>
              <a:t>&gt;&lt;</a:t>
            </a:r>
            <a:r>
              <a:rPr lang="en-US" altLang="zh-CN" dirty="0" err="1"/>
              <a:t>a,b</a:t>
            </a:r>
            <a:r>
              <a:rPr lang="en-US" altLang="zh-CN" dirty="0"/>
              <a:t>&gt;</a:t>
            </a:r>
            <a:r>
              <a:rPr lang="zh-CN" altLang="en-US" dirty="0"/>
              <a:t>，但没有</a:t>
            </a:r>
            <a:r>
              <a:rPr lang="en-US" altLang="zh-CN" dirty="0"/>
              <a:t>&lt;</a:t>
            </a:r>
            <a:r>
              <a:rPr lang="en-US" altLang="zh-CN" dirty="0" err="1"/>
              <a:t>b,b</a:t>
            </a:r>
            <a:r>
              <a:rPr lang="en-US" altLang="zh-CN" dirty="0"/>
              <a:t>&gt;</a:t>
            </a:r>
            <a:r>
              <a:rPr lang="zh-CN" altLang="en-US" dirty="0"/>
              <a:t>，故不传递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897339-6684-487C-BD24-65C5066D65B8}" type="slidenum">
              <a:rPr lang="en-US" altLang="zh-CN" smtClean="0"/>
              <a:t>67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897339-6684-487C-BD24-65C5066D65B8}" type="slidenum">
              <a:rPr lang="en-US" altLang="zh-CN" smtClean="0"/>
              <a:t>69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对称性，注意考虑空集</a:t>
            </a: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b="1" kern="10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b="1" kern="100" dirty="0">
                <a:latin typeface="Times New Roman" panose="02020603050405020304" pitchFamily="18" charset="0"/>
                <a:sym typeface="Symbol" panose="05050102010706020507" pitchFamily="18" charset="2"/>
              </a:rPr>
              <a:t> </a:t>
            </a: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不属于</a:t>
            </a:r>
            <a:r>
              <a:rPr lang="en-US" altLang="zh-CN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  <a:p>
            <a:r>
              <a:rPr lang="zh-CN" altLang="en-US" sz="1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此题考查了幂集，集合的运算，关系的性质等知识点</a:t>
            </a:r>
            <a:endParaRPr lang="zh-CN" altLang="en-US" dirty="0"/>
          </a:p>
        </p:txBody>
      </p:sp>
      <p:sp>
        <p:nvSpPr>
          <p:cNvPr id="717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B895C97-FEBA-40A1-8FCA-1D7703D653E0}" type="slidenum">
              <a:rPr lang="en-US" altLang="zh-CN" sz="1200" smtClean="0"/>
              <a:t>73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ABC1273-BFD9-47F7-9000-3F35998E9C11}" type="slidenum">
              <a:rPr lang="en-US" altLang="zh-CN" sz="1200" smtClean="0"/>
              <a:t>74</a:t>
            </a:fld>
            <a:endParaRPr lang="en-US" altLang="zh-CN" sz="120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A2A5E6E-6B1A-4A7A-8A10-331BA04821B7}" type="slidenum">
              <a:rPr lang="en-US" altLang="zh-CN" sz="1200" smtClean="0"/>
              <a:t>75</a:t>
            </a:fld>
            <a:endParaRPr lang="en-US" altLang="zh-CN" sz="12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3CC5F5-D597-44F8-8B6B-CB25C3C0B944}" type="slidenum">
              <a:rPr lang="en-US" altLang="zh-CN" sz="1200" smtClean="0"/>
              <a:t>76</a:t>
            </a:fld>
            <a:endParaRPr lang="en-US" altLang="zh-CN" sz="120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也可以是：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R 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R</a:t>
            </a:r>
            <a:r>
              <a:rPr lang="en-US" altLang="zh-CN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 &lt;</a:t>
            </a:r>
            <a:r>
              <a:rPr lang="en-US" altLang="zh-CN" i="1"/>
              <a:t>y</a:t>
            </a:r>
            <a:r>
              <a:rPr lang="en-US" altLang="zh-CN"/>
              <a:t>,</a:t>
            </a:r>
            <a:r>
              <a:rPr lang="en-US" altLang="zh-CN" i="1"/>
              <a:t>x</a:t>
            </a:r>
            <a:r>
              <a:rPr lang="en-US" altLang="zh-CN"/>
              <a:t>&gt;∈</a:t>
            </a:r>
            <a:r>
              <a:rPr lang="en-US" altLang="zh-CN" i="1"/>
              <a:t>R</a:t>
            </a:r>
          </a:p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358A18E-11D9-4F41-B8CC-024E061C8405}" type="slidenum">
              <a:rPr lang="en-US" altLang="zh-CN" sz="1200" smtClean="0"/>
              <a:t>77</a:t>
            </a:fld>
            <a:endParaRPr lang="en-US" altLang="zh-CN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AA75A15-D67C-47B3-A340-5D3F4752DE89}" type="slidenum">
              <a:rPr lang="en-US" altLang="zh-CN" sz="1200" smtClean="0"/>
              <a:t>78</a:t>
            </a:fld>
            <a:endParaRPr lang="en-US" altLang="zh-CN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B5755E9-AD63-4E2A-8208-D29AC43EF39C}" type="slidenum">
              <a:rPr lang="en-US" altLang="zh-CN" sz="1200" smtClean="0"/>
              <a:t>79</a:t>
            </a:fld>
            <a:endParaRPr lang="en-US" altLang="zh-CN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E917E4C-1A72-4594-B73A-645AD90993A9}" type="slidenum">
              <a:rPr lang="en-US" altLang="zh-CN" sz="1200" smtClean="0"/>
              <a:t>80</a:t>
            </a:fld>
            <a:endParaRPr lang="en-US" altLang="zh-CN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以第一列为例：两个具有自反性等的关系，进行交并等运算之后，仍具有或不再具有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00B050"/>
                </a:solidFill>
              </a:rPr>
              <a:t>定理</a:t>
            </a:r>
            <a:r>
              <a:rPr lang="en-US" altLang="zh-CN">
                <a:solidFill>
                  <a:srgbClr val="00B050"/>
                </a:solidFill>
              </a:rPr>
              <a:t>7.4</a:t>
            </a:r>
            <a:endParaRPr lang="en-US" altLang="zh-CN"/>
          </a:p>
          <a:p>
            <a:pPr eaLnBrk="1" hangingPunct="1"/>
            <a:r>
              <a:rPr lang="en-US" altLang="zh-CN" dirty="0"/>
              <a:t>(1)  </a:t>
            </a:r>
            <a:r>
              <a:rPr lang="en-US" altLang="zh-CN" i="1" dirty="0"/>
              <a:t>F</a:t>
            </a:r>
            <a:r>
              <a:rPr lang="en-US" altLang="zh-CN" sz="18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i="1" dirty="0"/>
              <a:t>H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sz="18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G</a:t>
            </a:r>
            <a:r>
              <a:rPr lang="en-US" altLang="zh-CN" dirty="0"/>
              <a:t>∪</a:t>
            </a:r>
            <a:r>
              <a:rPr lang="en-US" altLang="zh-CN" i="1" dirty="0"/>
              <a:t>F</a:t>
            </a:r>
            <a:r>
              <a:rPr lang="en-US" altLang="zh-CN" sz="18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H      </a:t>
            </a:r>
            <a:r>
              <a:rPr lang="en-US" altLang="zh-CN" dirty="0"/>
              <a:t> (2)  (</a:t>
            </a:r>
            <a:r>
              <a:rPr lang="en-US" altLang="zh-CN" i="1" dirty="0"/>
              <a:t>G</a:t>
            </a:r>
            <a:r>
              <a:rPr lang="en-US" altLang="zh-CN" dirty="0"/>
              <a:t>∪</a:t>
            </a:r>
            <a:r>
              <a:rPr lang="en-US" altLang="zh-CN" i="1" dirty="0"/>
              <a:t>H</a:t>
            </a:r>
            <a:r>
              <a:rPr lang="en-US" altLang="zh-CN" dirty="0"/>
              <a:t>)</a:t>
            </a:r>
            <a:r>
              <a:rPr lang="en-US" altLang="zh-CN" sz="18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F </a:t>
            </a:r>
            <a:r>
              <a:rPr lang="en-US" altLang="zh-CN" dirty="0"/>
              <a:t>= </a:t>
            </a:r>
            <a:r>
              <a:rPr lang="en-US" altLang="zh-CN" i="1" dirty="0"/>
              <a:t>G</a:t>
            </a:r>
            <a:r>
              <a:rPr lang="en-US" altLang="zh-CN" sz="18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F</a:t>
            </a:r>
            <a:r>
              <a:rPr lang="en-US" altLang="zh-CN" dirty="0"/>
              <a:t>∪</a:t>
            </a:r>
            <a:r>
              <a:rPr lang="en-US" altLang="zh-CN" i="1" dirty="0"/>
              <a:t>H</a:t>
            </a:r>
            <a:r>
              <a:rPr lang="en-US" altLang="zh-CN" sz="18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F</a:t>
            </a:r>
            <a:endParaRPr lang="en-US" altLang="zh-CN" dirty="0"/>
          </a:p>
          <a:p>
            <a:pPr eaLnBrk="1" hangingPunct="1"/>
            <a:r>
              <a:rPr lang="en-US" altLang="zh-CN" dirty="0"/>
              <a:t> (3)  </a:t>
            </a:r>
            <a:r>
              <a:rPr lang="en-US" altLang="zh-CN" i="1" dirty="0"/>
              <a:t>F</a:t>
            </a:r>
            <a:r>
              <a:rPr lang="en-US" altLang="zh-CN" sz="18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∩</a:t>
            </a:r>
            <a:r>
              <a:rPr lang="en-US" altLang="zh-CN" i="1" dirty="0"/>
              <a:t>H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F</a:t>
            </a:r>
            <a:r>
              <a:rPr lang="en-US" altLang="zh-CN" sz="18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G</a:t>
            </a:r>
            <a:r>
              <a:rPr lang="en-US" altLang="zh-CN" dirty="0"/>
              <a:t>∩</a:t>
            </a:r>
            <a:r>
              <a:rPr lang="en-US" altLang="zh-CN" i="1" dirty="0"/>
              <a:t>F</a:t>
            </a:r>
            <a:r>
              <a:rPr lang="en-US" altLang="zh-CN" sz="18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H     </a:t>
            </a:r>
            <a:r>
              <a:rPr lang="en-US" altLang="zh-CN" dirty="0"/>
              <a:t>(4)  (</a:t>
            </a:r>
            <a:r>
              <a:rPr lang="en-US" altLang="zh-CN" i="1" dirty="0"/>
              <a:t>G</a:t>
            </a:r>
            <a:r>
              <a:rPr lang="en-US" altLang="zh-CN" dirty="0"/>
              <a:t>∩</a:t>
            </a:r>
            <a:r>
              <a:rPr lang="en-US" altLang="zh-CN" i="1" dirty="0"/>
              <a:t>H</a:t>
            </a:r>
            <a:r>
              <a:rPr lang="en-US" altLang="zh-CN" dirty="0"/>
              <a:t>)</a:t>
            </a:r>
            <a:r>
              <a:rPr lang="en-US" altLang="zh-CN" sz="18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F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G</a:t>
            </a:r>
            <a:r>
              <a:rPr lang="en-US" altLang="zh-CN" sz="18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F</a:t>
            </a:r>
            <a:r>
              <a:rPr lang="en-US" altLang="zh-CN" dirty="0"/>
              <a:t>∩</a:t>
            </a:r>
            <a:r>
              <a:rPr lang="en-US" altLang="zh-CN" i="1" dirty="0"/>
              <a:t>H</a:t>
            </a:r>
            <a:r>
              <a:rPr lang="en-US" altLang="zh-CN" sz="18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F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897339-6684-487C-BD24-65C5066D65B8}" type="slidenum">
              <a:rPr lang="en-US" altLang="zh-CN" smtClean="0"/>
              <a:t>81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7CD7F39-05C9-4019-AABB-C195F54B2A2F}" type="slidenum">
              <a:rPr lang="en-US" altLang="zh-CN" sz="1200" smtClean="0"/>
              <a:t>82</a:t>
            </a:fld>
            <a:endParaRPr lang="en-US" altLang="zh-CN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4DD1792-026D-42CB-A045-C76E475EA675}" type="slidenum">
              <a:rPr lang="en-US" altLang="zh-CN" sz="1200" smtClean="0"/>
              <a:t>83</a:t>
            </a:fld>
            <a:endParaRPr lang="en-US" altLang="zh-CN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9DF9063-528D-49FC-832F-96C3F19CD54E}" type="slidenum">
              <a:rPr lang="en-US" altLang="zh-CN" sz="1200" smtClean="0"/>
              <a:t>84</a:t>
            </a:fld>
            <a:endParaRPr lang="en-US" altLang="zh-CN" sz="12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</a:t>
            </a:r>
            <a:r>
              <a:rPr lang="zh-CN" altLang="en-US" b="1" dirty="0"/>
              <a:t>（</a:t>
            </a:r>
            <a:r>
              <a:rPr kumimoji="1" lang="en-US" altLang="zh-CN" sz="1200" b="1" i="1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</a:t>
            </a:r>
            <a:r>
              <a:rPr kumimoji="1" lang="en-US" altLang="zh-CN" sz="1200" b="1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kumimoji="1" lang="en-US" altLang="zh-CN" sz="1200" b="1" i="1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</a:t>
            </a:r>
            <a:r>
              <a:rPr kumimoji="1" lang="en-US" altLang="zh-CN" sz="1200" b="1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)/</a:t>
            </a:r>
            <a:r>
              <a:rPr lang="en-US" altLang="zh-CN" b="1" i="1" dirty="0"/>
              <a:t>t</a:t>
            </a:r>
            <a:r>
              <a:rPr lang="en-US" altLang="zh-CN" b="1" dirty="0"/>
              <a:t>(</a:t>
            </a:r>
            <a:r>
              <a:rPr lang="en-US" altLang="zh-CN" b="1" i="1" dirty="0"/>
              <a:t>R</a:t>
            </a:r>
            <a:r>
              <a:rPr lang="en-US" altLang="zh-CN" b="1" dirty="0"/>
              <a:t>)</a:t>
            </a:r>
            <a:r>
              <a:rPr lang="zh-CN" altLang="en-US" b="1" dirty="0"/>
              <a:t>）</a:t>
            </a:r>
            <a:r>
              <a:rPr lang="zh-CN" altLang="en-US" sz="1200" b="1" dirty="0">
                <a:solidFill>
                  <a:srgbClr val="0066FF"/>
                </a:solidFill>
                <a:latin typeface="+mn-lt"/>
                <a:ea typeface="+mn-ea"/>
              </a:rPr>
              <a:t>是包含</a:t>
            </a:r>
            <a:r>
              <a:rPr kumimoji="1" lang="en-US" altLang="zh-CN" sz="1200" b="1" i="1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</a:t>
            </a:r>
            <a:r>
              <a:rPr lang="zh-CN" altLang="en-US" sz="1200" b="1" dirty="0">
                <a:solidFill>
                  <a:srgbClr val="0066FF"/>
                </a:solidFill>
                <a:latin typeface="+mn-lt"/>
                <a:ea typeface="+mn-ea"/>
              </a:rPr>
              <a:t>的最小的</a:t>
            </a:r>
            <a:r>
              <a:rPr lang="zh-CN" altLang="en-US" sz="1200" b="0" dirty="0">
                <a:solidFill>
                  <a:srgbClr val="0066FF"/>
                </a:solidFill>
                <a:latin typeface="+mn-lt"/>
                <a:ea typeface="+mn-ea"/>
              </a:rPr>
              <a:t>自反</a:t>
            </a:r>
            <a:r>
              <a:rPr lang="zh-CN" altLang="en-US" sz="1200" b="1" dirty="0">
                <a:solidFill>
                  <a:srgbClr val="0066FF"/>
                </a:solidFill>
                <a:latin typeface="+mn-lt"/>
                <a:ea typeface="+mn-ea"/>
              </a:rPr>
              <a:t>（对称</a:t>
            </a:r>
            <a:r>
              <a:rPr lang="en-US" altLang="zh-CN" sz="1200" b="1" dirty="0">
                <a:solidFill>
                  <a:srgbClr val="0066FF"/>
                </a:solidFill>
                <a:latin typeface="+mn-lt"/>
                <a:ea typeface="+mn-ea"/>
              </a:rPr>
              <a:t>/</a:t>
            </a:r>
            <a:r>
              <a:rPr lang="zh-CN" altLang="en-US" sz="1200" b="1" dirty="0">
                <a:solidFill>
                  <a:srgbClr val="0066FF"/>
                </a:solidFill>
                <a:latin typeface="+mn-lt"/>
                <a:ea typeface="+mn-ea"/>
              </a:rPr>
              <a:t>传递）关系</a:t>
            </a:r>
            <a:endParaRPr lang="zh-CN" altLang="zh-CN" b="1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0F21340-131A-4DE6-8709-47043EDFB6F0}" type="slidenum">
              <a:rPr lang="en-US" altLang="zh-CN" sz="1200" smtClean="0"/>
              <a:t>86</a:t>
            </a:fld>
            <a:endParaRPr lang="en-US" altLang="zh-CN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在有</a:t>
            </a:r>
            <a:r>
              <a:rPr lang="en-US" altLang="zh-CN" dirty="0"/>
              <a:t>n</a:t>
            </a:r>
            <a:r>
              <a:rPr lang="zh-CN" altLang="en-US" dirty="0"/>
              <a:t>个元素的有限集上的关系</a:t>
            </a:r>
            <a:r>
              <a:rPr lang="en-US" altLang="zh-CN" dirty="0"/>
              <a:t>R</a:t>
            </a:r>
            <a:r>
              <a:rPr lang="zh-CN" altLang="en-US" dirty="0"/>
              <a:t>的传递闭包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)=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3</a:t>
            </a:r>
            <a:r>
              <a:rPr lang="en-US" altLang="zh-CN" dirty="0"/>
              <a:t>∪…∪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endParaRPr lang="en-US" altLang="zh-CN" dirty="0"/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092A254-CCF6-44D5-BEAF-E4B6ECBD4DB3}" type="slidenum">
              <a:rPr lang="en-US" altLang="zh-CN" sz="1200" smtClean="0"/>
              <a:t>87</a:t>
            </a:fld>
            <a:endParaRPr lang="en-US" altLang="zh-CN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利用闭包的定义，</a:t>
            </a:r>
            <a:r>
              <a:rPr lang="en-US" altLang="zh-CN" dirty="0"/>
              <a:t>R</a:t>
            </a:r>
            <a:r>
              <a:rPr lang="zh-CN" altLang="en-US" dirty="0"/>
              <a:t>‘</a:t>
            </a:r>
            <a:r>
              <a:rPr lang="en-US" altLang="zh-CN" dirty="0"/>
              <a:t>=R∪R</a:t>
            </a:r>
            <a:r>
              <a:rPr lang="en-US" altLang="zh-CN" baseline="30000" dirty="0"/>
              <a:t>0</a:t>
            </a:r>
            <a:endParaRPr lang="en-US" altLang="zh-CN" dirty="0"/>
          </a:p>
          <a:p>
            <a:pPr eaLnBrk="1" hangingPunct="1"/>
            <a:r>
              <a:rPr lang="zh-CN" altLang="en-US" i="1" dirty="0"/>
              <a:t>首先证：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0</a:t>
            </a:r>
            <a:r>
              <a:rPr lang="zh-CN" altLang="en-US" dirty="0"/>
              <a:t>是自反的</a:t>
            </a:r>
            <a:endParaRPr lang="en-US" altLang="zh-CN" dirty="0"/>
          </a:p>
          <a:p>
            <a:pPr eaLnBrk="1" hangingPunct="1"/>
            <a:r>
              <a:rPr lang="zh-CN" altLang="en-US" dirty="0"/>
              <a:t>然后证：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0</a:t>
            </a:r>
          </a:p>
          <a:p>
            <a:pPr eaLnBrk="1" hangingPunct="1"/>
            <a:r>
              <a:rPr lang="zh-CN" altLang="en-US" dirty="0"/>
              <a:t>再证：对</a:t>
            </a:r>
            <a:r>
              <a:rPr lang="en-US" altLang="zh-CN" i="1" dirty="0"/>
              <a:t>A</a:t>
            </a:r>
            <a:r>
              <a:rPr lang="zh-CN" altLang="en-US" dirty="0"/>
              <a:t>上任何包含</a:t>
            </a:r>
            <a:r>
              <a:rPr lang="en-US" altLang="zh-CN" i="1" dirty="0"/>
              <a:t>R</a:t>
            </a:r>
            <a:r>
              <a:rPr lang="zh-CN" altLang="en-US" dirty="0"/>
              <a:t>的自反关系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</a:t>
            </a:r>
            <a:r>
              <a:rPr lang="zh-CN" altLang="en-US" dirty="0">
                <a:sym typeface="Symbol" panose="05050102010706020507" pitchFamily="18" charset="2"/>
              </a:rPr>
              <a:t>‘</a:t>
            </a:r>
            <a:r>
              <a:rPr lang="en-US" altLang="zh-CN" dirty="0"/>
              <a:t> </a:t>
            </a:r>
            <a:r>
              <a:rPr lang="zh-CN" altLang="en-US" dirty="0"/>
              <a:t>有</a:t>
            </a:r>
            <a:r>
              <a:rPr lang="en-US" altLang="zh-CN" dirty="0"/>
              <a:t>R∪R</a:t>
            </a:r>
            <a:r>
              <a:rPr lang="en-US" altLang="zh-CN" baseline="30000" dirty="0"/>
              <a:t>0</a:t>
            </a:r>
            <a:r>
              <a:rPr lang="en-US" altLang="zh-CN" dirty="0">
                <a:sym typeface="Symbol" panose="05050102010706020507" pitchFamily="18" charset="2"/>
              </a:rPr>
              <a:t>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</a:t>
            </a:r>
            <a:r>
              <a:rPr lang="zh-CN" altLang="en-US" dirty="0">
                <a:sym typeface="Symbol" panose="05050102010706020507" pitchFamily="18" charset="2"/>
              </a:rPr>
              <a:t>’</a:t>
            </a:r>
            <a:endParaRPr lang="en-US" altLang="zh-CN" baseline="30000" dirty="0"/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97F1919-53AC-49D1-A8B3-435EE1FA4AA2}" type="slidenum">
              <a:rPr lang="en-US" altLang="zh-CN" sz="1200" smtClean="0"/>
              <a:t>88</a:t>
            </a:fld>
            <a:endParaRPr lang="en-US" altLang="zh-CN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8A038D2-DD04-4B53-A2CD-FDB3618BB2F6}" type="slidenum">
              <a:rPr lang="en-US" altLang="zh-CN" sz="1200" smtClean="0"/>
              <a:t>89</a:t>
            </a:fld>
            <a:endParaRPr lang="en-US" altLang="zh-CN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i="1" dirty="0">
                <a:solidFill>
                  <a:srgbClr val="FF0000"/>
                </a:solidFill>
                <a:sym typeface="+mn-ea"/>
              </a:rPr>
              <a:t>t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sym typeface="+mn-ea"/>
              </a:rPr>
              <a:t>R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)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是包含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R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的最小传递关系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∪…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1615A3A-B4D5-47B5-B125-33FE63FBFA74}" type="slidenum">
              <a:rPr lang="en-US" altLang="zh-CN" sz="1200" smtClean="0"/>
              <a:t>90</a:t>
            </a:fld>
            <a:endParaRPr lang="en-US" altLang="zh-CN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6EB0A67-6E1B-4334-8F46-7BEC8F23ED00}" type="slidenum">
              <a:rPr lang="en-US" altLang="zh-CN" sz="1200" smtClean="0"/>
              <a:t>91</a:t>
            </a:fld>
            <a:endParaRPr lang="en-US" altLang="zh-CN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897339-6684-487C-BD24-65C5066D65B8}" type="slidenum">
              <a:rPr lang="en-US" altLang="zh-CN" smtClean="0"/>
              <a:t>92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从</a:t>
            </a:r>
            <a:r>
              <a:rPr lang="en-US" altLang="zh-CN" dirty="0"/>
              <a:t>a</a:t>
            </a:r>
            <a:r>
              <a:rPr lang="zh-CN" altLang="en-US" dirty="0"/>
              <a:t>开始，关注由</a:t>
            </a:r>
            <a:r>
              <a:rPr lang="en-US" altLang="zh-CN" dirty="0"/>
              <a:t>a</a:t>
            </a:r>
            <a:r>
              <a:rPr lang="zh-CN" altLang="en-US" dirty="0"/>
              <a:t>出发可以到的结点，进而关注该结点可以再到的结点，连边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897339-6684-487C-BD24-65C5066D65B8}" type="slidenum">
              <a:rPr lang="en-US" altLang="zh-CN" smtClean="0"/>
              <a:t>94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897339-6684-487C-BD24-65C5066D65B8}" type="slidenum">
              <a:rPr lang="en-US" altLang="zh-CN" smtClean="0"/>
              <a:t>95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6D2CF4B-2ED0-4755-A55A-312558F52917}" type="slidenum">
              <a:rPr lang="en-US" altLang="zh-CN" sz="1200" smtClean="0"/>
              <a:t>96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自己体会</a:t>
            </a:r>
            <a:endParaRPr lang="zh-CN" altLang="zh-CN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在讲此算法的思想之前，先分析矩阵中行列数据的含义：</a:t>
            </a:r>
            <a:endParaRPr lang="en-US" altLang="zh-CN" dirty="0"/>
          </a:p>
          <a:p>
            <a:r>
              <a:rPr lang="zh-CN" altLang="en-US" dirty="0"/>
              <a:t>每行中为</a:t>
            </a:r>
            <a:r>
              <a:rPr lang="en-US" altLang="zh-CN" dirty="0"/>
              <a:t>1</a:t>
            </a:r>
            <a:r>
              <a:rPr lang="zh-CN" altLang="en-US" dirty="0"/>
              <a:t>的元素：以</a:t>
            </a:r>
            <a:r>
              <a:rPr lang="en-US" altLang="zh-CN" dirty="0"/>
              <a:t>【</a:t>
            </a:r>
            <a:r>
              <a:rPr lang="zh-CN" altLang="en-US" dirty="0"/>
              <a:t>当前行所表示的节点</a:t>
            </a:r>
            <a:r>
              <a:rPr lang="en-US" altLang="zh-CN" dirty="0"/>
              <a:t>】</a:t>
            </a:r>
            <a:r>
              <a:rPr lang="zh-CN" altLang="en-US" dirty="0"/>
              <a:t>为起点，可以到达的节点</a:t>
            </a:r>
            <a:endParaRPr lang="en-US" altLang="zh-CN" dirty="0"/>
          </a:p>
          <a:p>
            <a:r>
              <a:rPr lang="zh-CN" altLang="en-US" dirty="0"/>
              <a:t>每列中为</a:t>
            </a:r>
            <a:r>
              <a:rPr lang="en-US" altLang="zh-CN" dirty="0"/>
              <a:t>1</a:t>
            </a:r>
            <a:r>
              <a:rPr lang="zh-CN" altLang="en-US" dirty="0"/>
              <a:t>的元素：可以到</a:t>
            </a:r>
            <a:r>
              <a:rPr lang="en-US" altLang="zh-CN" dirty="0"/>
              <a:t>【</a:t>
            </a:r>
            <a:r>
              <a:rPr lang="zh-CN" altLang="en-US" dirty="0"/>
              <a:t>当前列所表示的节点</a:t>
            </a:r>
            <a:r>
              <a:rPr lang="en-US" altLang="zh-CN" dirty="0"/>
              <a:t>】</a:t>
            </a:r>
            <a:r>
              <a:rPr lang="zh-CN" altLang="en-US" dirty="0"/>
              <a:t>的节点</a:t>
            </a:r>
            <a:endParaRPr lang="en-US" altLang="zh-CN" dirty="0"/>
          </a:p>
          <a:p>
            <a:r>
              <a:rPr lang="zh-CN" altLang="en-US" dirty="0"/>
              <a:t>按列处理，从进入第一个节点的边开始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897339-6684-487C-BD24-65C5066D65B8}" type="slidenum">
              <a:rPr lang="en-US" altLang="zh-CN" smtClean="0"/>
              <a:pPr>
                <a:defRPr/>
              </a:pPr>
              <a:t>97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284873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a</a:t>
            </a:r>
            <a:r>
              <a:rPr lang="zh-CN" altLang="en-US" dirty="0"/>
              <a:t>开始，关注进到</a:t>
            </a:r>
            <a:r>
              <a:rPr lang="en-US" altLang="zh-CN" dirty="0"/>
              <a:t>a</a:t>
            </a:r>
            <a:r>
              <a:rPr lang="zh-CN" altLang="en-US" dirty="0"/>
              <a:t>的边，再看由</a:t>
            </a:r>
            <a:r>
              <a:rPr lang="en-US" altLang="zh-CN" dirty="0"/>
              <a:t>a</a:t>
            </a:r>
            <a:r>
              <a:rPr lang="zh-CN" altLang="en-US" dirty="0"/>
              <a:t>出发的边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897339-6684-487C-BD24-65C5066D65B8}" type="slidenum">
              <a:rPr lang="en-US" altLang="zh-CN" smtClean="0"/>
              <a:pPr>
                <a:defRPr/>
              </a:pPr>
              <a:t>98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766227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88A8452-BD13-4519-9C49-BB0878245170}" type="slidenum">
              <a:rPr lang="en-US" altLang="zh-CN" sz="1200" smtClean="0"/>
              <a:t>106</a:t>
            </a:fld>
            <a:endParaRPr lang="en-US" altLang="zh-CN" sz="120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6918AAB-9BE0-48DE-ACB5-DA16C492BCEA}" type="slidenum">
              <a:rPr lang="en-US" altLang="zh-CN" sz="1200" smtClean="0"/>
              <a:t>108</a:t>
            </a:fld>
            <a:endParaRPr lang="en-US" altLang="zh-CN" sz="12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CEE62C4-3DE0-457C-B782-1EF70ACFA977}" type="slidenum">
              <a:rPr lang="en-US" altLang="zh-CN" sz="1200" smtClean="0"/>
              <a:t>109</a:t>
            </a:fld>
            <a:endParaRPr lang="en-US" altLang="zh-CN" sz="120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i="1">
                <a:solidFill>
                  <a:srgbClr val="0066FF"/>
                </a:solidFill>
              </a:rPr>
              <a:t> </a:t>
            </a:r>
            <a:endParaRPr lang="zh-CN" altLang="zh-CN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517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7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fld id="{A5A7402F-24F5-4B4B-A48F-6702FDFA3A71}" type="slidenum">
              <a:rPr lang="zh-CN" altLang="en-US" sz="1200" smtClean="0">
                <a:latin typeface="Times New Roman" panose="02020603050405020304" pitchFamily="18" charset="0"/>
              </a:rPr>
              <a:t>110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8201F59-9E35-463E-AFFF-171F6CF9FDBC}" type="slidenum">
              <a:rPr lang="en-US" altLang="zh-CN" sz="1200" smtClean="0"/>
              <a:t>111</a:t>
            </a:fld>
            <a:endParaRPr lang="en-US" altLang="zh-CN" sz="120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638C301-D436-48F0-938F-AFA4B3558553}" type="slidenum">
              <a:rPr lang="en-US" altLang="zh-CN" sz="1200" smtClean="0"/>
              <a:t>112</a:t>
            </a:fld>
            <a:endParaRPr lang="en-US" altLang="zh-CN" sz="120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AB6A00C-6C41-4F41-AB69-AED481E49215}" type="slidenum">
              <a:rPr lang="en-US" altLang="zh-CN" sz="1200" smtClean="0"/>
              <a:t>113</a:t>
            </a:fld>
            <a:endParaRPr lang="en-US" altLang="zh-CN" sz="120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5110C45-1279-441E-9E89-9ED12271E59A}" type="slidenum">
              <a:rPr lang="en-US" altLang="zh-CN" sz="1200" smtClean="0"/>
              <a:t>114</a:t>
            </a:fld>
            <a:endParaRPr lang="en-US" altLang="zh-CN" sz="120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F404324-2406-4D1F-82F1-EA91D5B4FC86}" type="slidenum">
              <a:rPr lang="en-US" altLang="zh-CN" sz="1200" smtClean="0"/>
              <a:t>115</a:t>
            </a:fld>
            <a:endParaRPr lang="en-US" altLang="zh-CN" sz="120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 </a:t>
            </a:r>
            <a:r>
              <a:rPr lang="en-US" altLang="zh-CN" i="1" dirty="0"/>
              <a:t>A</a:t>
            </a:r>
            <a:r>
              <a:rPr lang="en-US" altLang="zh-CN" dirty="0"/>
              <a:t>={1,2,…,8}, 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4B1F062-ACB4-4DF1-87D9-C16AB7CF73DD}" type="slidenum">
              <a:rPr lang="en-US" altLang="zh-CN" sz="1200" smtClean="0"/>
              <a:t>116</a:t>
            </a:fld>
            <a:endParaRPr lang="en-US" altLang="zh-CN" sz="12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D33D32B-0462-410E-8151-C5FA02CC7ADC}" type="slidenum">
              <a:rPr lang="en-US" altLang="zh-CN" sz="1200" smtClean="0"/>
              <a:t>117</a:t>
            </a:fld>
            <a:endParaRPr lang="en-US" altLang="zh-CN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A9BCFAB-5179-409E-905A-FEB6EAADDE2C}" type="slidenum">
              <a:rPr lang="en-US" altLang="zh-CN" sz="1200" smtClean="0"/>
              <a:t>118</a:t>
            </a:fld>
            <a:endParaRPr lang="en-US" altLang="zh-CN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B4DAB84-785C-403C-80C1-467EE81AA7B9}" type="slidenum">
              <a:rPr lang="en-US" altLang="zh-CN" sz="1200" smtClean="0"/>
              <a:t>119</a:t>
            </a:fld>
            <a:endParaRPr lang="en-US" altLang="zh-CN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 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</a:t>
            </a:r>
            <a:r>
              <a:rPr lang="en-US" altLang="zh-CN" i="1" baseline="-25000" dirty="0"/>
              <a:t>R</a:t>
            </a:r>
            <a:r>
              <a:rPr lang="en-US" altLang="zh-CN" i="1" dirty="0"/>
              <a:t> </a:t>
            </a:r>
            <a:r>
              <a:rPr lang="en-US" altLang="zh-CN" dirty="0"/>
              <a:t>= {</a:t>
            </a:r>
            <a:r>
              <a:rPr lang="en-US" altLang="zh-CN" i="1" dirty="0"/>
              <a:t>y </a:t>
            </a:r>
            <a:r>
              <a:rPr lang="en-US" altLang="zh-CN" dirty="0"/>
              <a:t>| 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xRy</a:t>
            </a:r>
            <a:r>
              <a:rPr lang="en-US" altLang="zh-CN" dirty="0"/>
              <a:t>}</a:t>
            </a: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207265-95E7-42E2-8960-EA375302CC42}" type="slidenum">
              <a:rPr lang="en-US" altLang="zh-CN" sz="1200" smtClean="0"/>
              <a:t>120</a:t>
            </a:fld>
            <a:endParaRPr lang="en-US" altLang="zh-CN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 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</a:t>
            </a:r>
            <a:r>
              <a:rPr lang="en-US" altLang="zh-CN" i="1" baseline="-25000" dirty="0"/>
              <a:t>R</a:t>
            </a:r>
            <a:r>
              <a:rPr lang="en-US" altLang="zh-CN" i="1" dirty="0"/>
              <a:t> </a:t>
            </a:r>
            <a:r>
              <a:rPr lang="en-US" altLang="zh-CN" dirty="0"/>
              <a:t>= {</a:t>
            </a:r>
            <a:r>
              <a:rPr lang="en-US" altLang="zh-CN" i="1" dirty="0"/>
              <a:t>y </a:t>
            </a:r>
            <a:r>
              <a:rPr lang="en-US" altLang="zh-CN" dirty="0"/>
              <a:t>| 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xRy</a:t>
            </a:r>
            <a:r>
              <a:rPr lang="en-US" altLang="zh-CN" dirty="0"/>
              <a:t>}</a:t>
            </a: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E366ABB-9083-4609-8AEF-3B11CAE4BF3A}" type="slidenum">
              <a:rPr lang="en-US" altLang="zh-CN" sz="1200" smtClean="0"/>
              <a:t>121</a:t>
            </a:fld>
            <a:endParaRPr lang="en-US" altLang="zh-CN" sz="120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E0CA4FE-C867-41B1-8101-C2C2C4AF7A06}" type="slidenum">
              <a:rPr lang="en-US" altLang="zh-CN" sz="1200" smtClean="0"/>
              <a:t>122</a:t>
            </a:fld>
            <a:endParaRPr lang="en-US" altLang="zh-CN" sz="12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 eaLnBrk="1" hangingPunct="1"/>
            <a:r>
              <a:rPr lang="zh-CN" altLang="en-US" dirty="0"/>
              <a:t>可以根据实例理解证明</a:t>
            </a:r>
            <a:endParaRPr lang="en-US" altLang="zh-CN" dirty="0"/>
          </a:p>
          <a:p>
            <a:pPr marL="457200" indent="-457200" eaLnBrk="1" hangingPunct="1"/>
            <a:r>
              <a:rPr lang="zh-CN" altLang="en-US" dirty="0"/>
              <a:t>   </a:t>
            </a:r>
            <a:r>
              <a:rPr lang="en-US" altLang="zh-CN" i="1" dirty="0"/>
              <a:t>A</a:t>
            </a:r>
            <a:r>
              <a:rPr lang="en-US" altLang="zh-CN" dirty="0"/>
              <a:t>={1, 2, … , 8}</a:t>
            </a:r>
            <a:r>
              <a:rPr lang="zh-CN" altLang="en-US" dirty="0"/>
              <a:t>上模</a:t>
            </a:r>
            <a:r>
              <a:rPr lang="en-US" altLang="zh-CN" dirty="0"/>
              <a:t>3</a:t>
            </a:r>
            <a:r>
              <a:rPr lang="zh-CN" altLang="en-US" dirty="0"/>
              <a:t>等价关系的等价类：</a:t>
            </a:r>
          </a:p>
          <a:p>
            <a:pPr marL="457200" indent="-457200" eaLnBrk="1" hangingPunct="1"/>
            <a:r>
              <a:rPr lang="zh-CN" altLang="en-US" dirty="0"/>
              <a:t>            </a:t>
            </a:r>
            <a:r>
              <a:rPr lang="en-US" altLang="zh-CN" dirty="0"/>
              <a:t>[1] = [4] = [7] = {1, 4, 7}</a:t>
            </a:r>
          </a:p>
          <a:p>
            <a:pPr marL="457200" indent="-457200" eaLnBrk="1" hangingPunct="1"/>
            <a:r>
              <a:rPr lang="en-US" altLang="zh-CN" dirty="0"/>
              <a:t>            [2] = [5] = [8] = {2, 5, 8}</a:t>
            </a:r>
          </a:p>
          <a:p>
            <a:pPr marL="457200" indent="-457200" eaLnBrk="1" hangingPunct="1"/>
            <a:r>
              <a:rPr lang="en-US" altLang="zh-CN" dirty="0"/>
              <a:t>            [3] = [6] = {3, 6}</a:t>
            </a: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6DFD254-0D6F-49F5-A21B-C06D77ED1A88}" type="slidenum">
              <a:rPr lang="en-US" altLang="zh-CN" sz="1200" smtClean="0"/>
              <a:t>123</a:t>
            </a:fld>
            <a:endParaRPr lang="en-US" altLang="zh-CN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 </a:t>
            </a:r>
            <a:r>
              <a:rPr lang="en-US" altLang="zh-CN" dirty="0"/>
              <a:t>= {&lt;1,1&gt;,&lt;2,2&gt;, …, &lt;8,8&gt;}               </a:t>
            </a:r>
            <a:r>
              <a:rPr lang="en-US" altLang="zh-CN" i="1" dirty="0"/>
              <a:t>A/I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 </a:t>
            </a:r>
            <a:r>
              <a:rPr lang="zh-CN" altLang="en-US" i="0" dirty="0"/>
              <a:t>是最大划分（划分的块数最多）</a:t>
            </a:r>
            <a:endParaRPr lang="en-US" altLang="zh-CN" i="0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i="1" dirty="0"/>
              <a:t>E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 </a:t>
            </a:r>
            <a:r>
              <a:rPr lang="en-US" altLang="zh-CN" dirty="0"/>
              <a:t>= {&lt;1,1&gt;,&lt;1,2&gt;,&lt;1,3&gt;, …, &lt;8,8&gt;}   </a:t>
            </a:r>
            <a:r>
              <a:rPr lang="en-US" altLang="zh-CN" i="1" dirty="0"/>
              <a:t>A/E</a:t>
            </a:r>
            <a:r>
              <a:rPr lang="en-US" altLang="zh-CN" i="1" baseline="-25000" dirty="0"/>
              <a:t>A </a:t>
            </a:r>
            <a:r>
              <a:rPr lang="zh-CN" altLang="en-US" i="0" dirty="0"/>
              <a:t>是最小划分（划分的块数最少）</a:t>
            </a:r>
            <a:endParaRPr lang="en-US" altLang="zh-CN" i="0" dirty="0"/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198DCA6-BA9D-4107-9B52-7000BDB850B0}" type="slidenum">
              <a:rPr lang="en-US" altLang="zh-CN" sz="1200" smtClean="0"/>
              <a:t>124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ABC4C70-37C0-40FC-BF6D-189E74A925EC}" type="slidenum">
              <a:rPr lang="en-US" altLang="zh-CN" sz="1200" smtClean="0"/>
              <a:t>125</a:t>
            </a:fld>
            <a:endParaRPr lang="en-US" altLang="zh-CN" sz="120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3DDFD9F-FD8B-476D-BB31-BF6891279367}" type="slidenum">
              <a:rPr lang="en-US" altLang="zh-CN" sz="1200" smtClean="0"/>
              <a:t>129</a:t>
            </a:fld>
            <a:endParaRPr lang="en-US" altLang="zh-CN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其中 </a:t>
            </a:r>
            <a:r>
              <a:rPr lang="en-US" altLang="zh-CN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较难</a:t>
            </a:r>
            <a:endParaRPr lang="fr-FR" altLang="zh-CN" dirty="0">
              <a:latin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A3ED5C3-9DD2-4DA6-88C2-553D794D1282}" type="slidenum">
              <a:rPr lang="en-US" altLang="zh-CN" sz="1200" smtClean="0"/>
              <a:t>130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课后习题</a:t>
            </a:r>
            <a:r>
              <a:rPr lang="en-US" altLang="zh-CN" dirty="0"/>
              <a:t>38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897339-6684-487C-BD24-65C5066D65B8}" type="slidenum">
              <a:rPr lang="en-US" altLang="zh-CN" smtClean="0"/>
              <a:t>132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左书上习题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897339-6684-487C-BD24-65C5066D65B8}" type="slidenum">
              <a:rPr lang="en-US" altLang="zh-CN" smtClean="0"/>
              <a:t>133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E5F19E7-B197-4A6E-AC0F-65BB54B0B26A}" type="slidenum">
              <a:rPr lang="en-US" altLang="zh-CN" sz="1200" smtClean="0"/>
              <a:t>134</a:t>
            </a:fld>
            <a:endParaRPr lang="en-US" altLang="zh-CN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F170277-8381-477C-B953-7296FEDB7FD8}" type="slidenum">
              <a:rPr lang="en-US" altLang="zh-CN" sz="1200"/>
              <a:t>135</a:t>
            </a:fld>
            <a:endParaRPr lang="en-US" altLang="zh-CN" sz="120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7EBBB75-0DA3-470F-84AD-A5246B91F63E}" type="slidenum">
              <a:rPr lang="en-US" altLang="zh-CN" sz="1200"/>
              <a:t>136</a:t>
            </a:fld>
            <a:endParaRPr lang="en-US" altLang="zh-CN" sz="120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F413E20-C319-457E-A376-EAD988E49EF0}" type="slidenum">
              <a:rPr lang="en-US" altLang="zh-CN" sz="1200"/>
              <a:t>137</a:t>
            </a:fld>
            <a:endParaRPr lang="en-US" altLang="zh-CN" sz="120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531A000-603F-4F33-BF0C-E0BA9A129247}" type="slidenum">
              <a:rPr lang="en-US" altLang="zh-CN" sz="1200"/>
              <a:t>138</a:t>
            </a:fld>
            <a:endParaRPr lang="en-US" altLang="zh-CN" sz="120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例如：对于</a:t>
            </a:r>
            <a:r>
              <a:rPr lang="en-US" altLang="zh-CN"/>
              <a:t>{1</a:t>
            </a:r>
            <a:r>
              <a:rPr lang="zh-CN" altLang="en-US"/>
              <a:t>，</a:t>
            </a:r>
            <a:r>
              <a:rPr lang="en-US" altLang="zh-CN"/>
              <a:t>2</a:t>
            </a:r>
            <a:r>
              <a:rPr lang="zh-CN" altLang="en-US"/>
              <a:t>，</a:t>
            </a:r>
            <a:r>
              <a:rPr lang="en-US" altLang="zh-CN"/>
              <a:t>3}</a:t>
            </a:r>
            <a:r>
              <a:rPr lang="zh-CN" altLang="en-US"/>
              <a:t>的整除关系就不是全序关系，因为</a:t>
            </a:r>
            <a:r>
              <a:rPr lang="en-US" altLang="zh-CN"/>
              <a:t>2</a:t>
            </a:r>
            <a:r>
              <a:rPr lang="zh-CN" altLang="en-US"/>
              <a:t>与</a:t>
            </a:r>
            <a:r>
              <a:rPr lang="en-US" altLang="zh-CN"/>
              <a:t>3</a:t>
            </a:r>
            <a:r>
              <a:rPr lang="zh-CN" altLang="en-US"/>
              <a:t>不可比</a:t>
            </a:r>
            <a:endParaRPr lang="zh-CN" altLang="zh-CN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40BAA41-FC51-431B-8522-92A0DCF30F17}" type="slidenum">
              <a:rPr lang="en-US" altLang="zh-CN" sz="1200"/>
              <a:t>139</a:t>
            </a:fld>
            <a:endParaRPr lang="en-US" altLang="zh-CN" sz="12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033E2EF-4524-4B9F-92D8-96747A78A5ED}" type="slidenum">
              <a:rPr lang="en-US" altLang="zh-CN" sz="1200"/>
              <a:t>140</a:t>
            </a:fld>
            <a:endParaRPr lang="en-US" altLang="zh-CN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F07AEEA-148F-4EF2-8C58-43A33A3C0C80}" type="slidenum">
              <a:rPr lang="en-US" altLang="zh-CN" sz="1200"/>
              <a:t>141</a:t>
            </a:fld>
            <a:endParaRPr lang="en-US" altLang="zh-CN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 2</a:t>
            </a:r>
            <a:r>
              <a:rPr lang="zh-CN" altLang="en-US"/>
              <a:t>覆盖</a:t>
            </a:r>
            <a:r>
              <a:rPr lang="en-US" altLang="zh-CN"/>
              <a:t>1,  4</a:t>
            </a:r>
            <a:r>
              <a:rPr lang="zh-CN" altLang="en-US"/>
              <a:t>和</a:t>
            </a:r>
            <a:r>
              <a:rPr lang="en-US" altLang="zh-CN"/>
              <a:t>6</a:t>
            </a:r>
            <a:r>
              <a:rPr lang="zh-CN" altLang="en-US"/>
              <a:t>覆盖</a:t>
            </a:r>
            <a:r>
              <a:rPr lang="en-US" altLang="zh-CN"/>
              <a:t>2,  </a:t>
            </a:r>
            <a:r>
              <a:rPr lang="zh-CN" altLang="en-US"/>
              <a:t>不覆盖</a:t>
            </a:r>
            <a:r>
              <a:rPr lang="en-US" altLang="zh-CN"/>
              <a:t>1. </a:t>
            </a:r>
            <a:endParaRPr lang="zh-CN" altLang="zh-CN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41A8A48-D152-4442-A8F9-E6E65BED7A87}" type="slidenum">
              <a:rPr lang="en-US" altLang="zh-CN" sz="1200"/>
              <a:t>142</a:t>
            </a:fld>
            <a:endParaRPr lang="en-US" altLang="zh-CN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DE42A8-0C17-4496-9EDB-180CD23E6E3E}" type="slidenum">
              <a:rPr lang="en-US" altLang="zh-CN" sz="1200"/>
              <a:t>144</a:t>
            </a:fld>
            <a:endParaRPr lang="en-US" altLang="zh-CN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C587B21-EB52-47ED-93D3-394C0701B292}" type="slidenum">
              <a:rPr lang="en-US" altLang="zh-CN" sz="1200"/>
              <a:t>145</a:t>
            </a:fld>
            <a:endParaRPr lang="en-US" altLang="zh-CN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68DC81D-BA60-4CF5-A98F-02A74A6C74BE}" type="slidenum">
              <a:rPr lang="en-US" altLang="zh-CN" sz="1200"/>
              <a:t>146</a:t>
            </a:fld>
            <a:endParaRPr lang="en-US" altLang="zh-CN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因为上下确界可能不是当前这个子集中的元素</a:t>
            </a:r>
            <a:endParaRPr lang="en-US" altLang="zh-CN"/>
          </a:p>
          <a:p>
            <a:pPr eaLnBrk="1" hangingPunct="1"/>
            <a:r>
              <a:rPr lang="zh-CN" altLang="en-US"/>
              <a:t>有上（下）界，也不一定就有上（下）确界</a:t>
            </a:r>
            <a:endParaRPr lang="zh-CN" altLang="zh-CN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7353ED-D159-45BA-B242-0AAA7A82C31F}" type="slidenum">
              <a:rPr lang="en-US" altLang="zh-CN" sz="1200"/>
              <a:t>147</a:t>
            </a:fld>
            <a:endParaRPr lang="en-US" altLang="zh-CN" sz="12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83C7938-DD0D-4EFD-9483-700D613F5331}" type="slidenum">
              <a:rPr lang="en-US" altLang="zh-CN" sz="1200"/>
              <a:t>148</a:t>
            </a:fld>
            <a:endParaRPr lang="en-US" altLang="zh-CN" sz="12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课后习题</a:t>
            </a:r>
            <a:r>
              <a:rPr lang="en-US" altLang="zh-CN" dirty="0"/>
              <a:t>38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897339-6684-487C-BD24-65C5066D65B8}" type="slidenum">
              <a:rPr lang="en-US" altLang="zh-CN" smtClean="0"/>
              <a:t>151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80741BD-5DC7-49B7-B2BF-4459FC20518B}" type="slidenum">
              <a:rPr lang="en-US" altLang="zh-CN" sz="1200" smtClean="0"/>
              <a:t>152</a:t>
            </a:fld>
            <a:endParaRPr lang="en-US" altLang="zh-CN" sz="12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课后习题</a:t>
            </a:r>
            <a:r>
              <a:rPr lang="en-US" altLang="zh-CN" dirty="0"/>
              <a:t>48</a:t>
            </a:r>
            <a:r>
              <a:rPr lang="zh-CN" altLang="en-US" dirty="0"/>
              <a:t>，习题课件上也有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BF8633-8270-4FC4-914B-ECC34A4583CF}" type="slidenum">
              <a:rPr lang="en-US" altLang="zh-CN" sz="1200"/>
              <a:t>153</a:t>
            </a:fld>
            <a:endParaRPr lang="en-US" altLang="zh-CN" sz="120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2456</a:t>
            </a:r>
            <a:r>
              <a:rPr lang="zh-CN" altLang="en-US" dirty="0"/>
              <a:t>对，考虑</a:t>
            </a:r>
            <a:r>
              <a:rPr lang="en-US" altLang="zh-CN" dirty="0"/>
              <a:t>B</a:t>
            </a:r>
            <a:r>
              <a:rPr lang="zh-CN" altLang="en-US" dirty="0"/>
              <a:t>是有下界的无穷集，对于</a:t>
            </a:r>
            <a:r>
              <a:rPr lang="en-US" altLang="zh-CN" dirty="0"/>
              <a:t>3</a:t>
            </a:r>
            <a:r>
              <a:rPr lang="zh-CN" altLang="en-US" dirty="0"/>
              <a:t>来说，极大元只可能是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endParaRPr lang="en-US" altLang="zh-CN" dirty="0"/>
          </a:p>
          <a:p>
            <a:r>
              <a:rPr lang="zh-CN" altLang="en-US" dirty="0">
                <a:solidFill>
                  <a:srgbClr val="222222"/>
                </a:solidFill>
              </a:rPr>
              <a:t>自然数由</a:t>
            </a:r>
            <a:r>
              <a:rPr lang="en-US" altLang="zh-CN" dirty="0">
                <a:solidFill>
                  <a:srgbClr val="222222"/>
                </a:solidFill>
              </a:rPr>
              <a:t>0</a:t>
            </a:r>
            <a:r>
              <a:rPr lang="zh-CN" altLang="en-US" dirty="0">
                <a:solidFill>
                  <a:srgbClr val="222222"/>
                </a:solidFill>
              </a:rPr>
              <a:t>开始，一个接一个，组成一个无穷集</a:t>
            </a:r>
            <a:endParaRPr lang="en-US" altLang="zh-CN" dirty="0">
              <a:solidFill>
                <a:srgbClr val="222222"/>
              </a:solidFill>
            </a:endParaRPr>
          </a:p>
          <a:p>
            <a:r>
              <a:rPr lang="zh-CN" altLang="en-US" dirty="0">
                <a:solidFill>
                  <a:srgbClr val="222222"/>
                </a:solidFill>
              </a:rPr>
              <a:t>所以最小的自然数是</a:t>
            </a:r>
            <a:r>
              <a:rPr lang="en-US" altLang="zh-CN" dirty="0">
                <a:solidFill>
                  <a:srgbClr val="222222"/>
                </a:solidFill>
              </a:rPr>
              <a:t>0</a:t>
            </a:r>
            <a:r>
              <a:rPr lang="zh-CN" altLang="en-US" dirty="0">
                <a:solidFill>
                  <a:srgbClr val="222222"/>
                </a:solidFill>
              </a:rPr>
              <a:t>，没有最大的自然数，自然数的个数是无限的。</a:t>
            </a:r>
            <a:endParaRPr lang="zh-CN" altLang="en-US" dirty="0"/>
          </a:p>
          <a:p>
            <a:endParaRPr lang="fr-FR" altLang="zh-CN" dirty="0">
              <a:latin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A3ED5C3-9DD2-4DA6-88C2-553D794D1282}" type="slidenum">
              <a:rPr lang="en-US" altLang="zh-CN" sz="1200" smtClean="0"/>
              <a:t>154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55033F0-72D6-472B-8069-CF1422B19A7F}" type="slidenum">
              <a:rPr lang="en-US" altLang="zh-CN" sz="1200"/>
              <a:t>155</a:t>
            </a:fld>
            <a:endParaRPr lang="en-US" altLang="zh-CN" sz="12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A9C5BCB-9690-4BC6-8A5D-2D0AD767DF93}" type="slidenum">
              <a:rPr lang="en-US" altLang="zh-CN" sz="1200" smtClean="0"/>
              <a:t>156</a:t>
            </a:fld>
            <a:endParaRPr lang="en-US" altLang="zh-CN" sz="120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只有第三个是对的</a:t>
            </a:r>
            <a:endParaRPr lang="en-US" altLang="zh-CN" dirty="0"/>
          </a:p>
          <a:p>
            <a:pPr eaLnBrk="1" hangingPunct="1"/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①</a:t>
            </a:r>
            <a:r>
              <a:rPr lang="en-US" altLang="zh-CN" dirty="0"/>
              <a:t> r(R)</a:t>
            </a:r>
            <a:r>
              <a:rPr lang="zh-CN" altLang="en-US" dirty="0"/>
              <a:t>是自反的，自反关系的传递闭包仍是自反的，进而这个自反的</a:t>
            </a:r>
            <a:r>
              <a:rPr lang="en-US" altLang="zh-CN" dirty="0"/>
              <a:t>tr(R)</a:t>
            </a:r>
            <a:r>
              <a:rPr lang="zh-CN" altLang="en-US" dirty="0"/>
              <a:t>的传递闭包仍是自反的，对应表中第一行，故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str(</a:t>
            </a:r>
            <a:r>
              <a:rPr lang="fr-FR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是自反的。且，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str(</a:t>
            </a:r>
            <a:r>
              <a:rPr lang="fr-FR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是一定是对称的。</a:t>
            </a:r>
            <a:endParaRPr lang="en-US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但是，对于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tr(</a:t>
            </a:r>
            <a:r>
              <a:rPr lang="fr-FR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（传递的），</a:t>
            </a:r>
            <a:r>
              <a:rPr lang="zh-CN" altLang="en-US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其对称闭包不一定是传递的，对应表中第三行的中间空格，故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str(</a:t>
            </a:r>
            <a:r>
              <a:rPr lang="fr-FR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是不一定是传递的</a:t>
            </a:r>
            <a:endParaRPr lang="en-US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所以，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str(</a:t>
            </a:r>
            <a:r>
              <a:rPr lang="fr-FR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不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一定是</a:t>
            </a:r>
            <a:r>
              <a:rPr lang="en-US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上的等价关系</a:t>
            </a:r>
            <a:r>
              <a:rPr lang="zh-CN" altLang="en-US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，故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①</a:t>
            </a:r>
            <a:r>
              <a:rPr lang="en-US" altLang="zh-CN" dirty="0"/>
              <a:t> </a:t>
            </a:r>
            <a:r>
              <a:rPr lang="zh-CN" altLang="en-US" dirty="0"/>
              <a:t>错</a:t>
            </a:r>
            <a:endParaRPr lang="en-US" altLang="zh-CN" dirty="0"/>
          </a:p>
          <a:p>
            <a:pPr eaLnBrk="1" hangingPunct="1"/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比如：</a:t>
            </a:r>
            <a:r>
              <a:rPr lang="en-US" altLang="zh-CN" b="0" i="0" dirty="0">
                <a:solidFill>
                  <a:srgbClr val="171A1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R = {&lt;1,3&gt;,&lt;1,2&gt;}</a:t>
            </a:r>
            <a:r>
              <a:rPr lang="zh-CN" altLang="en-US" b="0" i="0" dirty="0">
                <a:solidFill>
                  <a:srgbClr val="171A1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b="0" i="0" dirty="0">
                <a:solidFill>
                  <a:srgbClr val="171A1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tr(R)={&lt;1,3&gt;,&lt;1,2&gt;,&lt;1,1&gt;,&lt;2,2&gt;,&lt;3,3&gt;}</a:t>
            </a:r>
            <a:r>
              <a:rPr lang="zh-CN" altLang="en-US" b="0" i="0" dirty="0">
                <a:solidFill>
                  <a:srgbClr val="171A1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是自反的，传递的</a:t>
            </a:r>
            <a:endParaRPr lang="en-US" altLang="zh-CN" b="0" i="0" dirty="0">
              <a:solidFill>
                <a:srgbClr val="171A1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/>
            <a:r>
              <a:rPr lang="en-US" altLang="zh-CN" b="0" i="0" dirty="0">
                <a:solidFill>
                  <a:srgbClr val="171A1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str(R)={&lt;1,3&gt;,&lt;1,2&gt;,&lt;1,1&gt;,&lt;2,2&gt;,&lt;3,3&gt;,&lt;3,1&gt;,&lt;2,1&gt;}</a:t>
            </a:r>
            <a:r>
              <a:rPr lang="zh-CN" altLang="en-US" b="0" i="0" dirty="0">
                <a:solidFill>
                  <a:srgbClr val="171A1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却不是传递的，</a:t>
            </a:r>
            <a:endParaRPr lang="en-US" altLang="zh-CN" b="0" i="0" dirty="0">
              <a:solidFill>
                <a:srgbClr val="171A1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/>
            <a:r>
              <a:rPr lang="zh-CN" altLang="en-US" b="0" i="0" dirty="0">
                <a:solidFill>
                  <a:srgbClr val="171A1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因为</a:t>
            </a:r>
            <a:r>
              <a:rPr lang="en-US" altLang="zh-CN" b="0" i="0" dirty="0">
                <a:solidFill>
                  <a:srgbClr val="171A1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altLang="en-US" b="0" i="0" dirty="0">
                <a:solidFill>
                  <a:srgbClr val="171A1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比如：有</a:t>
            </a:r>
            <a:r>
              <a:rPr lang="en-US" altLang="zh-CN" b="0" i="0" dirty="0">
                <a:solidFill>
                  <a:srgbClr val="171A1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&lt;3,1&gt;&lt;1,2&gt;,</a:t>
            </a:r>
            <a:r>
              <a:rPr lang="zh-CN" altLang="en-US" b="0" i="0" dirty="0">
                <a:solidFill>
                  <a:srgbClr val="171A1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却没有</a:t>
            </a:r>
            <a:r>
              <a:rPr lang="en-US" altLang="zh-CN" b="0" i="0" dirty="0">
                <a:solidFill>
                  <a:srgbClr val="171A1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&lt;3,2&gt;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171A1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或者，有</a:t>
            </a:r>
            <a:r>
              <a:rPr lang="en-US" altLang="zh-CN" b="0" i="0" dirty="0">
                <a:solidFill>
                  <a:srgbClr val="171A1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&lt;2,1&gt;&lt;1,3&gt;,</a:t>
            </a:r>
            <a:r>
              <a:rPr lang="zh-CN" altLang="en-US" b="0" i="0" dirty="0">
                <a:solidFill>
                  <a:srgbClr val="171A1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却没有</a:t>
            </a:r>
            <a:r>
              <a:rPr lang="en-US" altLang="zh-CN" b="0" i="0" dirty="0">
                <a:solidFill>
                  <a:srgbClr val="171A1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&lt;2,3&gt;</a:t>
            </a:r>
          </a:p>
          <a:p>
            <a:pPr eaLnBrk="1" hangingPunct="1"/>
            <a:endParaRPr lang="en-US" altLang="zh-CN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恒等关系即是对称的也是反对称的</a:t>
            </a:r>
            <a:endParaRPr lang="en-US" altLang="zh-CN" sz="18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（若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是恒等关系，则②</a:t>
            </a:r>
            <a:r>
              <a:rPr lang="fr-FR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str(</a:t>
            </a:r>
            <a:r>
              <a:rPr lang="fr-FR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fr-FR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是偏序关系，故错）</a:t>
            </a:r>
          </a:p>
          <a:p>
            <a:r>
              <a:rPr lang="zh-CN" altLang="zh-CN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是恒等关系，则</a:t>
            </a:r>
            <a:r>
              <a:rPr lang="zh-CN" altLang="zh-CN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④</a:t>
            </a:r>
            <a:r>
              <a:rPr lang="fr-FR" altLang="zh-CN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tsr(</a:t>
            </a:r>
            <a:r>
              <a:rPr lang="fr-FR" altLang="zh-CN" sz="18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fr-FR" altLang="zh-CN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是偏序关系，故错</a:t>
            </a:r>
            <a:r>
              <a:rPr lang="zh-CN" altLang="zh-CN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b="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3EB55-D1D2-450D-A00A-128D1DC2825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18D934-2717-4E12-9313-02600D0D681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9B8438-2B89-4C5B-BD51-7E1A9DD31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643DA-F1DF-43C9-9A1C-B1FFF6CF696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5DFAAE-6314-4347-93F4-E0AA8DC9839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F0377D-D5E8-49C6-8BE6-EA26A26628B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6E045-71A9-4098-A059-A0FA857735C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633346-C1DA-482C-9AB0-7FD47E8164C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722DCF-EA63-43A0-8F3C-C83A41521D6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A9F21-0161-4165-9FBB-93701853667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40602-1613-4A8D-8F69-4FD8C34F8F4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A7C6B-7CDA-4C0B-AFE5-A098C3D3469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7781CB2-39DF-471D-8A7F-82B8C2C23962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fade/>
  </p:transition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1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3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47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emf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96.emf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13" Type="http://schemas.openxmlformats.org/officeDocument/2006/relationships/image" Target="../media/image104.png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103.emf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e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102.emf"/><Relationship Id="rId4" Type="http://schemas.openxmlformats.org/officeDocument/2006/relationships/image" Target="../media/image99.emf"/><Relationship Id="rId9" Type="http://schemas.openxmlformats.org/officeDocument/2006/relationships/oleObject" Target="../embeddings/oleObject20.bin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110.emf"/><Relationship Id="rId3" Type="http://schemas.openxmlformats.org/officeDocument/2006/relationships/image" Target="../media/image105.emf"/><Relationship Id="rId7" Type="http://schemas.openxmlformats.org/officeDocument/2006/relationships/image" Target="../media/image107.emf"/><Relationship Id="rId12" Type="http://schemas.openxmlformats.org/officeDocument/2006/relationships/oleObject" Target="../embeddings/oleObject27.bin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109.emf"/><Relationship Id="rId5" Type="http://schemas.openxmlformats.org/officeDocument/2006/relationships/image" Target="../media/image106.e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108.emf"/><Relationship Id="rId14" Type="http://schemas.openxmlformats.org/officeDocument/2006/relationships/image" Target="../media/image104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image" Target="../media/image111.emf"/><Relationship Id="rId7" Type="http://schemas.openxmlformats.org/officeDocument/2006/relationships/image" Target="../media/image113.e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115.emf"/><Relationship Id="rId5" Type="http://schemas.openxmlformats.org/officeDocument/2006/relationships/image" Target="../media/image112.e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114.emf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121.emf"/><Relationship Id="rId3" Type="http://schemas.openxmlformats.org/officeDocument/2006/relationships/image" Target="../media/image116.emf"/><Relationship Id="rId7" Type="http://schemas.openxmlformats.org/officeDocument/2006/relationships/image" Target="../media/image118.emf"/><Relationship Id="rId12" Type="http://schemas.openxmlformats.org/officeDocument/2006/relationships/oleObject" Target="../embeddings/oleObject38.bin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120.emf"/><Relationship Id="rId5" Type="http://schemas.openxmlformats.org/officeDocument/2006/relationships/image" Target="../media/image117.emf"/><Relationship Id="rId10" Type="http://schemas.openxmlformats.org/officeDocument/2006/relationships/oleObject" Target="../embeddings/oleObject37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119.emf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122.emf"/><Relationship Id="rId7" Type="http://schemas.openxmlformats.org/officeDocument/2006/relationships/image" Target="../media/image124.e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126.emf"/><Relationship Id="rId5" Type="http://schemas.openxmlformats.org/officeDocument/2006/relationships/image" Target="../media/image123.e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125.emf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132.emf"/><Relationship Id="rId3" Type="http://schemas.openxmlformats.org/officeDocument/2006/relationships/image" Target="../media/image127.emf"/><Relationship Id="rId7" Type="http://schemas.openxmlformats.org/officeDocument/2006/relationships/image" Target="../media/image129.emf"/><Relationship Id="rId12" Type="http://schemas.openxmlformats.org/officeDocument/2006/relationships/oleObject" Target="../embeddings/oleObject49.bin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131.emf"/><Relationship Id="rId5" Type="http://schemas.openxmlformats.org/officeDocument/2006/relationships/image" Target="../media/image128.e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130.emf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image" Target="../media/image133.emf"/><Relationship Id="rId7" Type="http://schemas.openxmlformats.org/officeDocument/2006/relationships/image" Target="../media/image135.e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137.emf"/><Relationship Id="rId5" Type="http://schemas.openxmlformats.org/officeDocument/2006/relationships/image" Target="../media/image134.emf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136.emf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image" Target="../media/image143.emf"/><Relationship Id="rId3" Type="http://schemas.openxmlformats.org/officeDocument/2006/relationships/image" Target="../media/image138.emf"/><Relationship Id="rId7" Type="http://schemas.openxmlformats.org/officeDocument/2006/relationships/image" Target="../media/image140.emf"/><Relationship Id="rId12" Type="http://schemas.openxmlformats.org/officeDocument/2006/relationships/oleObject" Target="../embeddings/oleObject60.bin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142.emf"/><Relationship Id="rId5" Type="http://schemas.openxmlformats.org/officeDocument/2006/relationships/image" Target="../media/image139.emf"/><Relationship Id="rId10" Type="http://schemas.openxmlformats.org/officeDocument/2006/relationships/oleObject" Target="../embeddings/oleObject59.bin"/><Relationship Id="rId4" Type="http://schemas.openxmlformats.org/officeDocument/2006/relationships/oleObject" Target="../embeddings/oleObject56.bin"/><Relationship Id="rId9" Type="http://schemas.openxmlformats.org/officeDocument/2006/relationships/image" Target="../media/image141.emf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7.wmf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image" Target="../media/image149.emf"/><Relationship Id="rId7" Type="http://schemas.openxmlformats.org/officeDocument/2006/relationships/image" Target="../media/image151.e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153.emf"/><Relationship Id="rId5" Type="http://schemas.openxmlformats.org/officeDocument/2006/relationships/image" Target="../media/image150.emf"/><Relationship Id="rId10" Type="http://schemas.openxmlformats.org/officeDocument/2006/relationships/oleObject" Target="../embeddings/oleObject66.bin"/><Relationship Id="rId4" Type="http://schemas.openxmlformats.org/officeDocument/2006/relationships/oleObject" Target="../embeddings/oleObject63.bin"/><Relationship Id="rId9" Type="http://schemas.openxmlformats.org/officeDocument/2006/relationships/image" Target="../media/image152.emf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13" Type="http://schemas.openxmlformats.org/officeDocument/2006/relationships/image" Target="../media/image159.emf"/><Relationship Id="rId3" Type="http://schemas.openxmlformats.org/officeDocument/2006/relationships/image" Target="../media/image154.emf"/><Relationship Id="rId7" Type="http://schemas.openxmlformats.org/officeDocument/2006/relationships/image" Target="../media/image156.emf"/><Relationship Id="rId12" Type="http://schemas.openxmlformats.org/officeDocument/2006/relationships/oleObject" Target="../embeddings/oleObject72.bin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158.emf"/><Relationship Id="rId5" Type="http://schemas.openxmlformats.org/officeDocument/2006/relationships/image" Target="../media/image155.emf"/><Relationship Id="rId10" Type="http://schemas.openxmlformats.org/officeDocument/2006/relationships/oleObject" Target="../embeddings/oleObject71.bin"/><Relationship Id="rId4" Type="http://schemas.openxmlformats.org/officeDocument/2006/relationships/oleObject" Target="../embeddings/oleObject68.bin"/><Relationship Id="rId9" Type="http://schemas.openxmlformats.org/officeDocument/2006/relationships/image" Target="../media/image157.emf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A10FEDD-EC02-4F42-9B48-18DC2F5E5739}" type="slidenum">
              <a:rPr lang="en-US" altLang="zh-CN" sz="1400" b="0" smtClean="0">
                <a:latin typeface="Arial" panose="020B0604020202020204" pitchFamily="34" charset="0"/>
              </a:rPr>
              <a:t>1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latin typeface="华文中宋" panose="02010600040101010101" pitchFamily="2" charset="-122"/>
              </a:rPr>
              <a:t>第七章 二元关系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t="2233"/>
          <a:stretch>
            <a:fillRect/>
          </a:stretch>
        </p:blipFill>
        <p:spPr>
          <a:xfrm>
            <a:off x="1331640" y="1124744"/>
            <a:ext cx="6086475" cy="5596731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5DE2D72-7364-43DA-961C-D609565702F5}" type="slidenum">
              <a:rPr lang="en-US" altLang="zh-CN" sz="1400" b="0" smtClean="0">
                <a:latin typeface="Arial" panose="020B0604020202020204" pitchFamily="34" charset="0"/>
              </a:rPr>
              <a:t>2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4924425"/>
          </a:xfrm>
        </p:spPr>
        <p:txBody>
          <a:bodyPr/>
          <a:lstStyle/>
          <a:p>
            <a:pPr marL="361950" indent="-361950" eaLnBrk="1" hangingPunct="1">
              <a:buClr>
                <a:srgbClr val="FF9900"/>
              </a:buClr>
            </a:pPr>
            <a:r>
              <a:rPr lang="zh-CN" altLang="en-US"/>
              <a:t>主要内容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FF0000"/>
                </a:solidFill>
              </a:rPr>
              <a:t>7.1</a:t>
            </a:r>
            <a:r>
              <a:rPr lang="zh-CN" altLang="en-US">
                <a:solidFill>
                  <a:srgbClr val="FF0000"/>
                </a:solidFill>
              </a:rPr>
              <a:t>有序对与笛卡儿积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7.2</a:t>
            </a:r>
            <a:r>
              <a:rPr lang="zh-CN" altLang="en-US"/>
              <a:t>二元关系的定义与表示法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7.3</a:t>
            </a:r>
            <a:r>
              <a:rPr lang="zh-CN" altLang="en-US"/>
              <a:t>关系的运算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7.4</a:t>
            </a:r>
            <a:r>
              <a:rPr lang="zh-CN" altLang="en-US"/>
              <a:t>关系的性质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7.5</a:t>
            </a:r>
            <a:r>
              <a:rPr lang="zh-CN" altLang="en-US"/>
              <a:t>关系的闭包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7.6</a:t>
            </a:r>
            <a:r>
              <a:rPr lang="zh-CN" altLang="en-US"/>
              <a:t>等价关系与划分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7.7</a:t>
            </a:r>
            <a:r>
              <a:rPr lang="zh-CN" altLang="en-US"/>
              <a:t>偏序关系</a:t>
            </a:r>
          </a:p>
          <a:p>
            <a:pPr marL="361950" indent="-361950" eaLnBrk="1" hangingPunct="1"/>
            <a:endParaRPr lang="en-US" altLang="zh-CN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latin typeface="华文中宋" panose="02010600040101010101" pitchFamily="2" charset="-122"/>
              </a:rPr>
              <a:t>第七章 二元关系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AA21586-473D-4357-A92F-9A85F1F4EDB1}" type="slidenum">
              <a:rPr lang="en-US" altLang="zh-CN" sz="1400" b="0" smtClean="0">
                <a:latin typeface="Arial" panose="020B0604020202020204" pitchFamily="34" charset="0"/>
              </a:rPr>
              <a:t>3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7.1 </a:t>
            </a:r>
            <a:r>
              <a:rPr lang="zh-CN" altLang="en-US">
                <a:latin typeface="宋体" panose="02010600030101010101" pitchFamily="2" charset="-122"/>
              </a:rPr>
              <a:t>有序对与笛卡儿积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 marL="808355" indent="-808355" eaLnBrk="1" hangingPunct="1"/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7.1</a:t>
            </a:r>
            <a:r>
              <a:rPr lang="en-US" altLang="zh-CN"/>
              <a:t>  </a:t>
            </a:r>
            <a:r>
              <a:rPr lang="zh-CN" altLang="en-US"/>
              <a:t>由两个元素 </a:t>
            </a:r>
            <a:r>
              <a:rPr lang="en-US" altLang="zh-CN" i="1"/>
              <a:t>x </a:t>
            </a:r>
            <a:r>
              <a:rPr lang="zh-CN" altLang="en-US"/>
              <a:t>和 </a:t>
            </a:r>
            <a:r>
              <a:rPr lang="en-US" altLang="zh-CN" i="1"/>
              <a:t>y</a:t>
            </a:r>
            <a:r>
              <a:rPr lang="zh-CN" altLang="en-US"/>
              <a:t>，按照一定的顺序组成的二元组</a:t>
            </a:r>
          </a:p>
          <a:p>
            <a:pPr marL="808355" indent="-808355" eaLnBrk="1" hangingPunct="1"/>
            <a:r>
              <a:rPr lang="zh-CN" altLang="en-US"/>
              <a:t>称为</a:t>
            </a:r>
            <a:r>
              <a:rPr lang="zh-CN" altLang="en-US">
                <a:solidFill>
                  <a:srgbClr val="A50021"/>
                </a:solidFill>
              </a:rPr>
              <a:t>有序对</a:t>
            </a:r>
            <a:r>
              <a:rPr lang="zh-CN" altLang="en-US"/>
              <a:t>，记作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&gt;.</a:t>
            </a:r>
          </a:p>
          <a:p>
            <a:pPr marL="808355" indent="-808355" eaLnBrk="1" hangingPunct="1">
              <a:spcBef>
                <a:spcPct val="60000"/>
              </a:spcBef>
            </a:pPr>
            <a:r>
              <a:rPr lang="zh-CN" altLang="en-US"/>
              <a:t>有序对性质</a:t>
            </a:r>
            <a:r>
              <a:rPr lang="en-US" altLang="zh-CN"/>
              <a:t>: </a:t>
            </a:r>
          </a:p>
          <a:p>
            <a:pPr marL="808355" indent="-808355" eaLnBrk="1" hangingPunct="1"/>
            <a:r>
              <a:rPr lang="en-US" altLang="zh-CN"/>
              <a:t>(1) </a:t>
            </a:r>
            <a:r>
              <a:rPr lang="zh-CN" altLang="en-US"/>
              <a:t>有序性  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</a:t>
            </a:r>
            <a:r>
              <a:rPr lang="en-US" altLang="zh-CN">
                <a:sym typeface="Symbol" panose="05050102010706020507" pitchFamily="18" charset="2"/>
              </a:rPr>
              <a:t></a:t>
            </a:r>
            <a:r>
              <a:rPr lang="en-US" altLang="zh-CN"/>
              <a:t>&lt;</a:t>
            </a:r>
            <a:r>
              <a:rPr lang="en-US" altLang="zh-CN" i="1"/>
              <a:t>y</a:t>
            </a:r>
            <a:r>
              <a:rPr lang="en-US" altLang="zh-CN"/>
              <a:t>,</a:t>
            </a:r>
            <a:r>
              <a:rPr lang="en-US" altLang="zh-CN" i="1"/>
              <a:t>x</a:t>
            </a:r>
            <a:r>
              <a:rPr lang="en-US" altLang="zh-CN"/>
              <a:t>&gt; </a:t>
            </a:r>
            <a:r>
              <a:rPr lang="zh-CN" altLang="en-US"/>
              <a:t>（当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</a:t>
            </a:r>
            <a:r>
              <a:rPr lang="en-US" altLang="zh-CN" i="1"/>
              <a:t>y</a:t>
            </a:r>
            <a:r>
              <a:rPr lang="zh-CN" altLang="en-US"/>
              <a:t>时）  </a:t>
            </a:r>
          </a:p>
          <a:p>
            <a:pPr marL="808355" indent="-808355" eaLnBrk="1" hangingPunct="1"/>
            <a:r>
              <a:rPr lang="en-US" altLang="zh-CN"/>
              <a:t>(2)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</a:t>
            </a:r>
            <a:r>
              <a:rPr lang="zh-CN" altLang="en-US"/>
              <a:t>与</a:t>
            </a:r>
            <a:r>
              <a:rPr lang="en-US" altLang="zh-CN"/>
              <a:t>&lt;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&gt;</a:t>
            </a:r>
            <a:r>
              <a:rPr lang="zh-CN" altLang="en-US"/>
              <a:t>相等的充分必要条件是</a:t>
            </a:r>
          </a:p>
          <a:p>
            <a:pPr marL="808355" indent="-808355" eaLnBrk="1" hangingPunct="1"/>
            <a:r>
              <a:rPr lang="zh-CN" altLang="en-US"/>
              <a:t>                    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&gt;=&lt;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&gt;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 i="1"/>
              <a:t>x</a:t>
            </a:r>
            <a:r>
              <a:rPr lang="en-US" altLang="zh-CN"/>
              <a:t>=</a:t>
            </a:r>
            <a:r>
              <a:rPr lang="en-US" altLang="zh-CN" i="1"/>
              <a:t>u</a:t>
            </a:r>
            <a:r>
              <a:rPr lang="en-US" altLang="zh-CN">
                <a:sym typeface="Symbol" panose="05050102010706020507" pitchFamily="18" charset="2"/>
              </a:rPr>
              <a:t></a:t>
            </a:r>
            <a:r>
              <a:rPr lang="en-US" altLang="zh-CN" i="1"/>
              <a:t>y</a:t>
            </a:r>
            <a:r>
              <a:rPr lang="en-US" altLang="zh-CN"/>
              <a:t>=</a:t>
            </a:r>
            <a:r>
              <a:rPr lang="en-US" altLang="zh-CN" i="1"/>
              <a:t>v</a:t>
            </a:r>
            <a:r>
              <a:rPr lang="en-US" altLang="zh-CN"/>
              <a:t>.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E654C26-BAF0-4C60-B7E5-AA3C0D9199B3}" type="slidenum">
              <a:rPr lang="en-US" altLang="zh-CN" sz="1400" b="0" smtClean="0">
                <a:latin typeface="Arial" panose="020B0604020202020204" pitchFamily="34" charset="0"/>
              </a:rPr>
              <a:t>4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笛卡儿积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91513" cy="1008062"/>
          </a:xfrm>
        </p:spPr>
        <p:txBody>
          <a:bodyPr/>
          <a:lstStyle/>
          <a:p>
            <a:pPr marL="1431925" indent="-1431925" eaLnBrk="1" hangingPunct="1">
              <a:tabLst>
                <a:tab pos="1431925" algn="l"/>
              </a:tabLst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7.2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zh-CN" altLang="en-US" dirty="0"/>
              <a:t>为集合，</a:t>
            </a:r>
            <a:r>
              <a:rPr lang="en-US" altLang="zh-CN" i="1" dirty="0"/>
              <a:t>A</a:t>
            </a:r>
            <a:r>
              <a:rPr lang="zh-CN" altLang="en-US" dirty="0"/>
              <a:t>与</a:t>
            </a:r>
            <a:r>
              <a:rPr lang="en-US" altLang="zh-CN" i="1" dirty="0"/>
              <a:t>B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笛卡儿积</a:t>
            </a:r>
            <a:r>
              <a:rPr lang="zh-CN" altLang="en-US" dirty="0"/>
              <a:t>记作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  <a:r>
              <a:rPr lang="zh-CN" altLang="en-US" dirty="0"/>
              <a:t>，且</a:t>
            </a:r>
          </a:p>
          <a:p>
            <a:pPr marL="1431925" indent="-1431925" eaLnBrk="1" hangingPunct="1">
              <a:tabLst>
                <a:tab pos="1431925" algn="l"/>
              </a:tabLst>
            </a:pPr>
            <a:r>
              <a:rPr lang="zh-CN" altLang="en-US" dirty="0"/>
              <a:t>                      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 </a:t>
            </a:r>
            <a:r>
              <a:rPr lang="en-US" altLang="zh-CN" dirty="0"/>
              <a:t>= {&lt;</a:t>
            </a:r>
            <a:r>
              <a:rPr lang="en-US" altLang="zh-CN" i="1" dirty="0"/>
              <a:t>x</a:t>
            </a:r>
            <a:r>
              <a:rPr lang="en-US" altLang="zh-CN" dirty="0"/>
              <a:t>,</a:t>
            </a:r>
            <a:r>
              <a:rPr lang="en-US" altLang="zh-CN" i="1" dirty="0"/>
              <a:t>y</a:t>
            </a:r>
            <a:r>
              <a:rPr lang="en-US" altLang="zh-CN" dirty="0"/>
              <a:t>&gt;| </a:t>
            </a:r>
            <a:r>
              <a:rPr lang="en-US" altLang="zh-CN" i="1" dirty="0"/>
              <a:t>x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i="1" dirty="0"/>
              <a:t>y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B</a:t>
            </a:r>
            <a:r>
              <a:rPr lang="en-US" altLang="zh-CN" dirty="0"/>
              <a:t>}.</a:t>
            </a:r>
          </a:p>
        </p:txBody>
      </p:sp>
      <p:sp>
        <p:nvSpPr>
          <p:cNvPr id="10245" name="Rectangle 4"/>
          <p:cNvSpPr>
            <a:spLocks noChangeArrowheads="1"/>
          </p:cNvSpPr>
          <p:nvPr/>
        </p:nvSpPr>
        <p:spPr bwMode="auto">
          <a:xfrm>
            <a:off x="427038" y="2276475"/>
            <a:ext cx="8351837" cy="417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431925" indent="-143192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tabLst>
                <a:tab pos="1431925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2354580" indent="-558800">
              <a:spcBef>
                <a:spcPct val="20000"/>
              </a:spcBef>
              <a:buChar char="–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3092450" indent="-558800">
              <a:spcBef>
                <a:spcPct val="20000"/>
              </a:spcBef>
              <a:buChar char="•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3830955" indent="-558800">
              <a:spcBef>
                <a:spcPct val="20000"/>
              </a:spcBef>
              <a:buChar char="–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4568825" indent="-558800">
              <a:spcBef>
                <a:spcPct val="20000"/>
              </a:spcBef>
              <a:buChar char="»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5026025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5483225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5940425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6397625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80000"/>
              </a:spcBef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1</a:t>
            </a:r>
            <a:r>
              <a:rPr lang="en-US" altLang="zh-CN" dirty="0"/>
              <a:t>   </a:t>
            </a:r>
            <a:r>
              <a:rPr lang="en-US" altLang="zh-CN" i="1" dirty="0"/>
              <a:t>A</a:t>
            </a:r>
            <a:r>
              <a:rPr lang="en-US" altLang="zh-CN" dirty="0"/>
              <a:t>={1,2,3}, </a:t>
            </a:r>
            <a:r>
              <a:rPr lang="en-US" altLang="zh-CN" i="1" dirty="0"/>
              <a:t>B</a:t>
            </a:r>
            <a:r>
              <a:rPr lang="en-US" altLang="zh-CN" dirty="0"/>
              <a:t>={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}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</a:p>
          <a:p>
            <a:pPr eaLnBrk="1" hangingPunct="1"/>
            <a:r>
              <a:rPr lang="en-US" altLang="zh-CN" dirty="0"/>
              <a:t>    ={&lt;1,</a:t>
            </a:r>
            <a:r>
              <a:rPr lang="en-US" altLang="zh-CN" i="1" dirty="0"/>
              <a:t>a</a:t>
            </a:r>
            <a:r>
              <a:rPr lang="en-US" altLang="zh-CN" dirty="0"/>
              <a:t>&gt;,&lt;1,</a:t>
            </a:r>
            <a:r>
              <a:rPr lang="en-US" altLang="zh-CN" i="1" dirty="0"/>
              <a:t>b</a:t>
            </a:r>
            <a:r>
              <a:rPr lang="en-US" altLang="zh-CN" dirty="0"/>
              <a:t>&gt;,&lt;1,</a:t>
            </a:r>
            <a:r>
              <a:rPr lang="en-US" altLang="zh-CN" i="1" dirty="0"/>
              <a:t>c</a:t>
            </a:r>
            <a:r>
              <a:rPr lang="en-US" altLang="zh-CN" dirty="0"/>
              <a:t>&gt;,&lt;2,</a:t>
            </a:r>
            <a:r>
              <a:rPr lang="en-US" altLang="zh-CN" i="1" dirty="0"/>
              <a:t>a</a:t>
            </a:r>
            <a:r>
              <a:rPr lang="en-US" altLang="zh-CN" dirty="0"/>
              <a:t>&gt;,&lt;2,</a:t>
            </a:r>
            <a:r>
              <a:rPr lang="en-US" altLang="zh-CN" i="1" dirty="0"/>
              <a:t>b</a:t>
            </a:r>
            <a:r>
              <a:rPr lang="en-US" altLang="zh-CN" dirty="0"/>
              <a:t>&gt;,&lt;2,</a:t>
            </a:r>
            <a:r>
              <a:rPr lang="en-US" altLang="zh-CN" i="1" dirty="0"/>
              <a:t>c</a:t>
            </a:r>
            <a:r>
              <a:rPr lang="en-US" altLang="zh-CN" dirty="0"/>
              <a:t>&gt;,&lt;3,</a:t>
            </a:r>
            <a:r>
              <a:rPr lang="en-US" altLang="zh-CN" i="1" dirty="0"/>
              <a:t>a</a:t>
            </a:r>
            <a:r>
              <a:rPr lang="en-US" altLang="zh-CN" dirty="0"/>
              <a:t>&gt;,&lt;3,</a:t>
            </a:r>
            <a:r>
              <a:rPr lang="en-US" altLang="zh-CN" i="1" dirty="0"/>
              <a:t>b</a:t>
            </a:r>
            <a:r>
              <a:rPr lang="en-US" altLang="zh-CN" dirty="0"/>
              <a:t>&gt;,&lt;3,</a:t>
            </a:r>
            <a:r>
              <a:rPr lang="en-US" altLang="zh-CN" i="1" dirty="0"/>
              <a:t>c</a:t>
            </a:r>
            <a:r>
              <a:rPr lang="en-US" altLang="zh-CN" dirty="0"/>
              <a:t>&gt;} 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A</a:t>
            </a:r>
          </a:p>
          <a:p>
            <a:pPr eaLnBrk="1" hangingPunct="1"/>
            <a:r>
              <a:rPr lang="en-US" altLang="zh-CN" dirty="0"/>
              <a:t>    ={&lt;</a:t>
            </a:r>
            <a:r>
              <a:rPr lang="en-US" altLang="zh-CN" i="1" dirty="0"/>
              <a:t>a</a:t>
            </a:r>
            <a:r>
              <a:rPr lang="en-US" altLang="zh-CN" dirty="0"/>
              <a:t>,1&gt;,&lt;</a:t>
            </a:r>
            <a:r>
              <a:rPr lang="en-US" altLang="zh-CN" i="1" dirty="0"/>
              <a:t>b</a:t>
            </a:r>
            <a:r>
              <a:rPr lang="en-US" altLang="zh-CN" dirty="0"/>
              <a:t>,1&gt;,&lt;</a:t>
            </a:r>
            <a:r>
              <a:rPr lang="en-US" altLang="zh-CN" i="1" dirty="0"/>
              <a:t>c</a:t>
            </a:r>
            <a:r>
              <a:rPr lang="en-US" altLang="zh-CN" dirty="0"/>
              <a:t>,1&gt;,&lt;</a:t>
            </a:r>
            <a:r>
              <a:rPr lang="en-US" altLang="zh-CN" i="1" dirty="0"/>
              <a:t>a</a:t>
            </a:r>
            <a:r>
              <a:rPr lang="en-US" altLang="zh-CN" dirty="0"/>
              <a:t>,2&gt;,&lt;</a:t>
            </a:r>
            <a:r>
              <a:rPr lang="en-US" altLang="zh-CN" i="1" dirty="0"/>
              <a:t>b</a:t>
            </a:r>
            <a:r>
              <a:rPr lang="en-US" altLang="zh-CN" dirty="0"/>
              <a:t>,2&gt;,&lt;</a:t>
            </a:r>
            <a:r>
              <a:rPr lang="en-US" altLang="zh-CN" i="1" dirty="0"/>
              <a:t>c</a:t>
            </a:r>
            <a:r>
              <a:rPr lang="en-US" altLang="zh-CN" dirty="0"/>
              <a:t>,2&gt;,&lt;</a:t>
            </a:r>
            <a:r>
              <a:rPr lang="en-US" altLang="zh-CN" i="1" dirty="0"/>
              <a:t>a</a:t>
            </a:r>
            <a:r>
              <a:rPr lang="en-US" altLang="zh-CN" dirty="0"/>
              <a:t>,3&gt;,&lt;</a:t>
            </a:r>
            <a:r>
              <a:rPr lang="en-US" altLang="zh-CN" i="1" dirty="0"/>
              <a:t>b</a:t>
            </a:r>
            <a:r>
              <a:rPr lang="en-US" altLang="zh-CN" dirty="0"/>
              <a:t>,3&gt;,&lt;</a:t>
            </a:r>
            <a:r>
              <a:rPr lang="en-US" altLang="zh-CN" i="1" dirty="0"/>
              <a:t>c</a:t>
            </a:r>
            <a:r>
              <a:rPr lang="en-US" altLang="zh-CN" dirty="0"/>
              <a:t>,3&gt;} 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 </a:t>
            </a:r>
          </a:p>
          <a:p>
            <a:pPr eaLnBrk="1" hangingPunct="1"/>
            <a:r>
              <a:rPr lang="en-US" altLang="zh-CN" i="1" dirty="0"/>
              <a:t>     </a:t>
            </a:r>
          </a:p>
          <a:p>
            <a:pPr eaLnBrk="1" hangingPunct="1"/>
            <a:r>
              <a:rPr lang="en-US" altLang="zh-CN" i="1" dirty="0"/>
              <a:t>     A</a:t>
            </a:r>
            <a:r>
              <a:rPr lang="en-US" altLang="zh-CN" dirty="0"/>
              <a:t>={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}, </a:t>
            </a:r>
            <a:r>
              <a:rPr lang="en-US" altLang="zh-CN" i="1" dirty="0"/>
              <a:t>B</a:t>
            </a:r>
            <a:r>
              <a:rPr lang="en-US" altLang="zh-CN" dirty="0"/>
              <a:t>=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P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A </a:t>
            </a:r>
            <a:r>
              <a:rPr lang="en-US" altLang="zh-CN" dirty="0"/>
              <a:t>= {&lt;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&gt;, &lt;{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},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&gt;}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P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 </a:t>
            </a:r>
            <a:r>
              <a:rPr lang="en-US" altLang="zh-CN" dirty="0"/>
              <a:t>= 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843808" y="4653136"/>
            <a:ext cx="1728192" cy="461665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="1" i="1" dirty="0">
                <a:latin typeface="Times New Roman" panose="02020603050405020304" pitchFamily="18" charset="0"/>
              </a:rPr>
              <a:t>B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b="1" i="1" dirty="0">
                <a:latin typeface="Times New Roman" panose="02020603050405020304" pitchFamily="18" charset="0"/>
              </a:rPr>
              <a:t> B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endParaRPr lang="zh-CN" altLang="en-US" b="1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E702C5-1D6C-4259-88ED-75D7883C1CE5}" type="slidenum">
              <a:rPr lang="en-US" altLang="zh-CN" sz="1400" b="0" smtClean="0">
                <a:latin typeface="Arial" panose="020B0604020202020204" pitchFamily="34" charset="0"/>
              </a:rPr>
              <a:t>5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笛卡儿积的性质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marL="457200" indent="-457200" eaLnBrk="1" hangingPunct="1"/>
            <a:r>
              <a:rPr lang="en-US" altLang="zh-CN"/>
              <a:t>(1) </a:t>
            </a:r>
            <a:r>
              <a:rPr lang="zh-CN" altLang="en-US"/>
              <a:t>不适合交换律     </a:t>
            </a:r>
          </a:p>
          <a:p>
            <a:pPr marL="457200" indent="-457200" eaLnBrk="1" hangingPunct="1"/>
            <a:r>
              <a:rPr lang="zh-CN" altLang="en-US"/>
              <a:t>           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B </a:t>
            </a:r>
            <a:r>
              <a:rPr lang="en-US" altLang="zh-CN">
                <a:sym typeface="Symbol" panose="05050102010706020507" pitchFamily="18" charset="2"/>
              </a:rPr>
              <a:t></a:t>
            </a:r>
            <a:r>
              <a:rPr lang="en-US" altLang="zh-CN"/>
              <a:t> 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A</a:t>
            </a:r>
            <a:r>
              <a:rPr lang="en-US" altLang="zh-CN"/>
              <a:t>   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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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</a:t>
            </a:r>
            <a:r>
              <a:rPr lang="en-US" altLang="zh-CN"/>
              <a:t>)</a:t>
            </a:r>
          </a:p>
          <a:p>
            <a:pPr marL="457200" indent="-457200" eaLnBrk="1" hangingPunct="1"/>
            <a:r>
              <a:rPr lang="en-US" altLang="zh-CN"/>
              <a:t>(2) </a:t>
            </a:r>
            <a:r>
              <a:rPr lang="zh-CN" altLang="en-US"/>
              <a:t>不适合结合律</a:t>
            </a:r>
          </a:p>
          <a:p>
            <a:pPr marL="457200" indent="-457200" eaLnBrk="1" hangingPunct="1"/>
            <a:r>
              <a:rPr lang="zh-CN" altLang="en-US"/>
              <a:t>             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B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C </a:t>
            </a:r>
            <a:r>
              <a:rPr lang="en-US" altLang="zh-CN">
                <a:sym typeface="Symbol" panose="05050102010706020507" pitchFamily="18" charset="2"/>
              </a:rPr>
              <a:t></a:t>
            </a:r>
            <a:r>
              <a:rPr lang="en-US" altLang="zh-CN"/>
              <a:t>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/>
              <a:t>(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C</a:t>
            </a:r>
            <a:r>
              <a:rPr lang="en-US" altLang="zh-CN"/>
              <a:t>)   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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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>
                <a:sym typeface="Symbol" panose="05050102010706020507" pitchFamily="18" charset="2"/>
              </a:rPr>
              <a:t></a:t>
            </a:r>
            <a:r>
              <a:rPr lang="en-US" altLang="zh-CN"/>
              <a:t>)</a:t>
            </a:r>
          </a:p>
          <a:p>
            <a:pPr marL="457200" indent="-457200" eaLnBrk="1" hangingPunct="1"/>
            <a:r>
              <a:rPr lang="en-US" altLang="zh-CN"/>
              <a:t>(3) </a:t>
            </a:r>
            <a:r>
              <a:rPr lang="zh-CN" altLang="en-US"/>
              <a:t>对于并或交运算满足分配律</a:t>
            </a:r>
          </a:p>
          <a:p>
            <a:pPr marL="457200" indent="-457200" eaLnBrk="1" hangingPunct="1"/>
            <a:r>
              <a:rPr lang="zh-CN" altLang="en-US"/>
              <a:t>            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/>
              <a:t>(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C</a:t>
            </a:r>
            <a:r>
              <a:rPr lang="en-US" altLang="zh-CN"/>
              <a:t>) = 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B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C</a:t>
            </a:r>
            <a:r>
              <a:rPr lang="en-US" altLang="zh-CN"/>
              <a:t>)     (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C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A </a:t>
            </a:r>
            <a:r>
              <a:rPr lang="en-US" altLang="zh-CN"/>
              <a:t>= (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A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/>
              <a:t>(</a:t>
            </a:r>
            <a:r>
              <a:rPr lang="en-US" altLang="zh-CN" i="1"/>
              <a:t>C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A</a:t>
            </a:r>
            <a:r>
              <a:rPr lang="en-US" altLang="zh-CN"/>
              <a:t>) </a:t>
            </a:r>
          </a:p>
          <a:p>
            <a:pPr marL="457200" indent="-457200" eaLnBrk="1" hangingPunct="1"/>
            <a:r>
              <a:rPr lang="en-US" altLang="zh-CN"/>
              <a:t>            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/>
              <a:t>(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C</a:t>
            </a:r>
            <a:r>
              <a:rPr lang="en-US" altLang="zh-CN"/>
              <a:t>) = 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B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C</a:t>
            </a:r>
            <a:r>
              <a:rPr lang="en-US" altLang="zh-CN"/>
              <a:t>)     (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 i="1"/>
              <a:t>C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A </a:t>
            </a:r>
            <a:r>
              <a:rPr lang="en-US" altLang="zh-CN"/>
              <a:t>= (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A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</a:t>
            </a:r>
            <a:r>
              <a:rPr lang="en-US" altLang="zh-CN"/>
              <a:t>(</a:t>
            </a:r>
            <a:r>
              <a:rPr lang="en-US" altLang="zh-CN" i="1"/>
              <a:t>C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A</a:t>
            </a:r>
            <a:r>
              <a:rPr lang="en-US" altLang="zh-CN"/>
              <a:t>) </a:t>
            </a:r>
          </a:p>
          <a:p>
            <a:pPr marL="457200" indent="-457200" eaLnBrk="1" hangingPunct="1"/>
            <a:r>
              <a:rPr lang="en-US" altLang="zh-CN"/>
              <a:t>(4) </a:t>
            </a:r>
            <a:r>
              <a:rPr lang="zh-CN" altLang="en-US"/>
              <a:t>若 </a:t>
            </a:r>
            <a:r>
              <a:rPr lang="en-US" altLang="zh-CN" i="1"/>
              <a:t>A </a:t>
            </a:r>
            <a:r>
              <a:rPr lang="zh-CN" altLang="en-US"/>
              <a:t>或 </a:t>
            </a:r>
            <a:r>
              <a:rPr lang="en-US" altLang="zh-CN" i="1"/>
              <a:t>B </a:t>
            </a:r>
            <a:r>
              <a:rPr lang="zh-CN" altLang="en-US"/>
              <a:t>中有一个为空集，则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B </a:t>
            </a:r>
            <a:r>
              <a:rPr lang="zh-CN" altLang="en-US"/>
              <a:t>就是空集</a:t>
            </a:r>
            <a:r>
              <a:rPr lang="en-US" altLang="zh-CN"/>
              <a:t>.</a:t>
            </a:r>
            <a:endParaRPr lang="en-US" altLang="zh-CN" i="1"/>
          </a:p>
          <a:p>
            <a:pPr marL="457200" indent="-457200" eaLnBrk="1" hangingPunct="1"/>
            <a:r>
              <a:rPr lang="en-US" altLang="zh-CN" i="1"/>
              <a:t>            A</a:t>
            </a:r>
            <a:r>
              <a:rPr lang="en-US" altLang="zh-CN">
                <a:sym typeface="Symbol" panose="05050102010706020507" pitchFamily="18" charset="2"/>
              </a:rPr>
              <a:t></a:t>
            </a:r>
            <a:r>
              <a:rPr lang="en-US" altLang="zh-CN"/>
              <a:t> = </a:t>
            </a:r>
            <a:r>
              <a:rPr lang="en-US" altLang="zh-CN">
                <a:sym typeface="Symbol" panose="05050102010706020507" pitchFamily="18" charset="2"/>
              </a:rPr>
              <a:t></a:t>
            </a:r>
            <a:r>
              <a:rPr lang="en-US" altLang="zh-CN" i="1"/>
              <a:t>B </a:t>
            </a:r>
            <a:r>
              <a:rPr lang="en-US" altLang="zh-CN"/>
              <a:t>= 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 </a:t>
            </a:r>
          </a:p>
          <a:p>
            <a:pPr marL="457200" indent="-457200" eaLnBrk="1" hangingPunct="1"/>
            <a:r>
              <a:rPr lang="en-US" altLang="zh-CN"/>
              <a:t>(5) </a:t>
            </a:r>
            <a:r>
              <a:rPr lang="zh-CN" altLang="en-US"/>
              <a:t>若 </a:t>
            </a:r>
            <a:r>
              <a:rPr lang="en-US" altLang="zh-CN"/>
              <a:t>|</a:t>
            </a:r>
            <a:r>
              <a:rPr lang="en-US" altLang="zh-CN" i="1"/>
              <a:t>A</a:t>
            </a:r>
            <a:r>
              <a:rPr lang="en-US" altLang="zh-CN"/>
              <a:t>| = </a:t>
            </a:r>
            <a:r>
              <a:rPr lang="en-US" altLang="zh-CN" i="1"/>
              <a:t>m</a:t>
            </a:r>
            <a:r>
              <a:rPr lang="en-US" altLang="zh-CN"/>
              <a:t>, |</a:t>
            </a:r>
            <a:r>
              <a:rPr lang="en-US" altLang="zh-CN" i="1"/>
              <a:t>B</a:t>
            </a:r>
            <a:r>
              <a:rPr lang="en-US" altLang="zh-CN"/>
              <a:t>| = </a:t>
            </a:r>
            <a:r>
              <a:rPr lang="en-US" altLang="zh-CN" i="1"/>
              <a:t>n</a:t>
            </a:r>
            <a:r>
              <a:rPr lang="en-US" altLang="zh-CN"/>
              <a:t>, </a:t>
            </a:r>
            <a:r>
              <a:rPr lang="zh-CN" altLang="en-US"/>
              <a:t>则 </a:t>
            </a:r>
            <a:r>
              <a:rPr lang="en-US" altLang="zh-CN"/>
              <a:t>|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B</a:t>
            </a:r>
            <a:r>
              <a:rPr lang="en-US" altLang="zh-CN"/>
              <a:t>| = </a:t>
            </a:r>
            <a:r>
              <a:rPr lang="en-US" altLang="zh-CN" i="1"/>
              <a:t>mn</a:t>
            </a:r>
            <a:r>
              <a:rPr lang="en-US" altLang="zh-CN"/>
              <a:t>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D573328-4455-419C-9A34-D27651B7DB86}" type="slidenum">
              <a:rPr lang="en-US" altLang="zh-CN" sz="1400" b="0" smtClean="0">
                <a:latin typeface="Arial" panose="020B0604020202020204" pitchFamily="34" charset="0"/>
              </a:rPr>
              <a:t>6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性质证明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0225" y="1339850"/>
            <a:ext cx="8218488" cy="576263"/>
          </a:xfrm>
        </p:spPr>
        <p:txBody>
          <a:bodyPr/>
          <a:lstStyle/>
          <a:p>
            <a:pPr eaLnBrk="1" hangingPunct="1"/>
            <a:r>
              <a:rPr lang="zh-CN" altLang="en-US"/>
              <a:t>证明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/>
              <a:t>(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C</a:t>
            </a:r>
            <a:r>
              <a:rPr lang="en-US" altLang="zh-CN"/>
              <a:t>) = 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B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C</a:t>
            </a:r>
            <a:r>
              <a:rPr lang="en-US" altLang="zh-CN"/>
              <a:t>)</a:t>
            </a:r>
          </a:p>
        </p:txBody>
      </p:sp>
      <p:sp>
        <p:nvSpPr>
          <p:cNvPr id="14341" name="Rectangle 4"/>
          <p:cNvSpPr>
            <a:spLocks noChangeArrowheads="1"/>
          </p:cNvSpPr>
          <p:nvPr/>
        </p:nvSpPr>
        <p:spPr bwMode="auto">
          <a:xfrm>
            <a:off x="539750" y="2133600"/>
            <a:ext cx="8208963" cy="3744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/>
              <a:t>证  任取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 </a:t>
            </a:r>
          </a:p>
          <a:p>
            <a:pPr eaLnBrk="1" hangingPunct="1"/>
            <a:r>
              <a:rPr lang="en-US" altLang="zh-CN"/>
              <a:t>                  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A</a:t>
            </a:r>
            <a:r>
              <a:rPr lang="en-US" altLang="zh-CN"/>
              <a:t>×(</a:t>
            </a:r>
            <a:r>
              <a:rPr lang="en-US" altLang="zh-CN" i="1"/>
              <a:t>B</a:t>
            </a:r>
            <a:r>
              <a:rPr lang="en-US" altLang="zh-CN"/>
              <a:t>∪</a:t>
            </a:r>
            <a:r>
              <a:rPr lang="en-US" altLang="zh-CN" i="1"/>
              <a:t>C</a:t>
            </a:r>
            <a:r>
              <a:rPr lang="en-US" altLang="zh-CN"/>
              <a:t>) </a:t>
            </a:r>
          </a:p>
          <a:p>
            <a:pPr eaLnBrk="1" hangingPunct="1"/>
            <a:r>
              <a:rPr lang="en-US" altLang="zh-CN"/>
              <a:t>           </a:t>
            </a:r>
            <a:r>
              <a:rPr lang="en-US" altLang="zh-CN">
                <a:solidFill>
                  <a:srgbClr val="0066FF"/>
                </a:solidFill>
              </a:rPr>
              <a:t>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0066FF"/>
                </a:solidFill>
              </a:rPr>
              <a:t> 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∧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∪</a:t>
            </a:r>
            <a:r>
              <a:rPr lang="en-US" altLang="zh-CN" i="1">
                <a:solidFill>
                  <a:srgbClr val="0066FF"/>
                </a:solidFill>
              </a:rPr>
              <a:t>C  </a:t>
            </a:r>
            <a:endParaRPr lang="en-US" altLang="zh-CN">
              <a:solidFill>
                <a:srgbClr val="0066FF"/>
              </a:solidFill>
            </a:endParaRPr>
          </a:p>
          <a:p>
            <a:pPr eaLnBrk="1" hangingPunct="1"/>
            <a:r>
              <a:rPr lang="en-US" altLang="zh-CN">
                <a:solidFill>
                  <a:srgbClr val="0066FF"/>
                </a:solidFill>
              </a:rPr>
              <a:t>           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0066FF"/>
                </a:solidFill>
              </a:rPr>
              <a:t> 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∧(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∨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C</a:t>
            </a:r>
            <a:r>
              <a:rPr lang="en-US" altLang="zh-CN">
                <a:solidFill>
                  <a:srgbClr val="0066FF"/>
                </a:solidFill>
              </a:rPr>
              <a:t>)</a:t>
            </a:r>
          </a:p>
          <a:p>
            <a:pPr eaLnBrk="1" hangingPunct="1"/>
            <a:r>
              <a:rPr lang="en-US" altLang="zh-CN">
                <a:solidFill>
                  <a:srgbClr val="0066FF"/>
                </a:solidFill>
              </a:rPr>
              <a:t>           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0066FF"/>
                </a:solidFill>
              </a:rPr>
              <a:t> (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∧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)∨(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∧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C</a:t>
            </a:r>
            <a:r>
              <a:rPr lang="en-US" altLang="zh-CN">
                <a:solidFill>
                  <a:srgbClr val="0066FF"/>
                </a:solidFill>
              </a:rPr>
              <a:t>)     </a:t>
            </a:r>
          </a:p>
          <a:p>
            <a:pPr eaLnBrk="1" hangingPunct="1"/>
            <a:r>
              <a:rPr lang="en-US" altLang="zh-CN">
                <a:solidFill>
                  <a:srgbClr val="0066FF"/>
                </a:solidFill>
              </a:rPr>
              <a:t>           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0066FF"/>
                </a:solidFill>
              </a:rPr>
              <a:t> &lt;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&gt;∈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×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∨&lt;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&gt;∈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×</a:t>
            </a:r>
            <a:r>
              <a:rPr lang="en-US" altLang="zh-CN" i="1">
                <a:solidFill>
                  <a:srgbClr val="0066FF"/>
                </a:solidFill>
              </a:rPr>
              <a:t>C</a:t>
            </a:r>
            <a:endParaRPr lang="en-US" altLang="zh-CN">
              <a:solidFill>
                <a:srgbClr val="0066FF"/>
              </a:solidFill>
            </a:endParaRPr>
          </a:p>
          <a:p>
            <a:pPr eaLnBrk="1" hangingPunct="1"/>
            <a:r>
              <a:rPr lang="en-US" altLang="zh-CN"/>
              <a:t>          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&gt;∈(</a:t>
            </a:r>
            <a:r>
              <a:rPr lang="en-US" altLang="zh-CN" i="1"/>
              <a:t>A</a:t>
            </a:r>
            <a:r>
              <a:rPr lang="en-US" altLang="zh-CN"/>
              <a:t>×</a:t>
            </a:r>
            <a:r>
              <a:rPr lang="en-US" altLang="zh-CN" i="1"/>
              <a:t>B</a:t>
            </a:r>
            <a:r>
              <a:rPr lang="en-US" altLang="zh-CN"/>
              <a:t>)∪(</a:t>
            </a:r>
            <a:r>
              <a:rPr lang="en-US" altLang="zh-CN" i="1"/>
              <a:t>A</a:t>
            </a:r>
            <a:r>
              <a:rPr lang="en-US" altLang="zh-CN"/>
              <a:t>×</a:t>
            </a:r>
            <a:r>
              <a:rPr lang="en-US" altLang="zh-CN" i="1"/>
              <a:t>C</a:t>
            </a:r>
            <a:r>
              <a:rPr lang="en-US" altLang="zh-CN"/>
              <a:t>)</a:t>
            </a:r>
          </a:p>
          <a:p>
            <a:pPr eaLnBrk="1" hangingPunct="1"/>
            <a:r>
              <a:rPr lang="zh-CN" altLang="en-US"/>
              <a:t>所以有</a:t>
            </a:r>
            <a:r>
              <a:rPr lang="en-US" altLang="zh-CN" i="1"/>
              <a:t>A</a:t>
            </a:r>
            <a:r>
              <a:rPr lang="en-US" altLang="zh-CN"/>
              <a:t>×(</a:t>
            </a:r>
            <a:r>
              <a:rPr lang="en-US" altLang="zh-CN" i="1"/>
              <a:t>B</a:t>
            </a:r>
            <a:r>
              <a:rPr lang="en-US" altLang="zh-CN"/>
              <a:t>∪</a:t>
            </a:r>
            <a:r>
              <a:rPr lang="en-US" altLang="zh-CN" i="1"/>
              <a:t>C</a:t>
            </a:r>
            <a:r>
              <a:rPr lang="en-US" altLang="zh-CN"/>
              <a:t>) = (</a:t>
            </a:r>
            <a:r>
              <a:rPr lang="en-US" altLang="zh-CN" i="1"/>
              <a:t>A</a:t>
            </a:r>
            <a:r>
              <a:rPr lang="en-US" altLang="zh-CN"/>
              <a:t>×</a:t>
            </a:r>
            <a:r>
              <a:rPr lang="en-US" altLang="zh-CN" i="1"/>
              <a:t>B</a:t>
            </a:r>
            <a:r>
              <a:rPr lang="en-US" altLang="zh-CN"/>
              <a:t>)∪(</a:t>
            </a:r>
            <a:r>
              <a:rPr lang="en-US" altLang="zh-CN" i="1"/>
              <a:t>A</a:t>
            </a:r>
            <a:r>
              <a:rPr lang="en-US" altLang="zh-CN"/>
              <a:t>×</a:t>
            </a:r>
            <a:r>
              <a:rPr lang="en-US" altLang="zh-CN" i="1"/>
              <a:t>C</a:t>
            </a:r>
            <a:r>
              <a:rPr lang="en-US" altLang="zh-CN"/>
              <a:t>).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49BDC1F-DE70-441F-8457-6ECDDB37F8DE}" type="slidenum">
              <a:rPr lang="en-US" altLang="zh-CN" sz="1400" b="0" smtClean="0">
                <a:latin typeface="Arial" panose="020B0604020202020204" pitchFamily="34" charset="0"/>
              </a:rPr>
              <a:t>7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686800" cy="1439863"/>
          </a:xfrm>
        </p:spPr>
        <p:txBody>
          <a:bodyPr/>
          <a:lstStyle/>
          <a:p>
            <a:pPr marL="1524000" indent="-1524000" eaLnBrk="1" hangingPunct="1"/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2 </a:t>
            </a:r>
            <a:r>
              <a:rPr lang="zh-CN" altLang="en-US" dirty="0"/>
              <a:t>设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en-US" altLang="zh-CN" i="1" dirty="0"/>
              <a:t>C</a:t>
            </a:r>
            <a:r>
              <a:rPr lang="en-US" altLang="zh-CN" dirty="0"/>
              <a:t>, </a:t>
            </a:r>
            <a:r>
              <a:rPr lang="en-US" altLang="zh-CN" i="1" dirty="0"/>
              <a:t>D</a:t>
            </a:r>
            <a:r>
              <a:rPr lang="zh-CN" altLang="en-US" dirty="0"/>
              <a:t>是任意集合</a:t>
            </a:r>
            <a:endParaRPr lang="en-US" altLang="zh-CN" dirty="0"/>
          </a:p>
          <a:p>
            <a:pPr marL="1524000" indent="-1524000" eaLnBrk="1" hangingPunct="1"/>
            <a:r>
              <a:rPr lang="en-US" altLang="zh-CN" dirty="0"/>
              <a:t>(1)  </a:t>
            </a:r>
            <a:r>
              <a:rPr lang="zh-CN" altLang="en-US" dirty="0"/>
              <a:t>证明</a:t>
            </a:r>
            <a:r>
              <a:rPr lang="en-US" altLang="zh-CN" i="1" dirty="0"/>
              <a:t>A</a:t>
            </a:r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en-US" altLang="zh-CN" dirty="0"/>
              <a:t>,</a:t>
            </a:r>
            <a:r>
              <a:rPr lang="en-US" altLang="zh-CN" i="1" dirty="0"/>
              <a:t>C</a:t>
            </a:r>
            <a:r>
              <a:rPr lang="en-US" altLang="zh-CN" dirty="0"/>
              <a:t>=</a:t>
            </a:r>
            <a:r>
              <a:rPr lang="en-US" altLang="zh-CN" i="1" dirty="0"/>
              <a:t>D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C</a:t>
            </a:r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D</a:t>
            </a:r>
            <a:r>
              <a:rPr lang="en-US" altLang="zh-CN" dirty="0"/>
              <a:t> </a:t>
            </a:r>
          </a:p>
          <a:p>
            <a:pPr marL="1524000" indent="-1524000" eaLnBrk="1" hangingPunct="1"/>
            <a:r>
              <a:rPr lang="en-US" altLang="zh-CN" dirty="0"/>
              <a:t>(2) 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C </a:t>
            </a:r>
            <a:r>
              <a:rPr lang="en-US" altLang="zh-CN" dirty="0"/>
              <a:t>= 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D</a:t>
            </a:r>
            <a:r>
              <a:rPr lang="zh-CN" altLang="en-US" dirty="0"/>
              <a:t>是否推出 </a:t>
            </a:r>
            <a:r>
              <a:rPr lang="en-US" altLang="zh-CN" i="1" dirty="0"/>
              <a:t>A</a:t>
            </a:r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en-US" altLang="zh-CN" dirty="0"/>
              <a:t>,</a:t>
            </a:r>
            <a:r>
              <a:rPr lang="en-US" altLang="zh-CN" i="1" dirty="0"/>
              <a:t>C</a:t>
            </a:r>
            <a:r>
              <a:rPr lang="en-US" altLang="zh-CN" dirty="0"/>
              <a:t>=</a:t>
            </a:r>
            <a:r>
              <a:rPr lang="en-US" altLang="zh-CN" i="1" dirty="0"/>
              <a:t>D</a:t>
            </a:r>
            <a:r>
              <a:rPr lang="en-US" altLang="zh-CN" dirty="0"/>
              <a:t>? </a:t>
            </a:r>
            <a:r>
              <a:rPr lang="zh-CN" altLang="en-US" dirty="0"/>
              <a:t>为什么？</a:t>
            </a:r>
          </a:p>
        </p:txBody>
      </p:sp>
      <p:sp>
        <p:nvSpPr>
          <p:cNvPr id="16389" name="Rectangle 4"/>
          <p:cNvSpPr>
            <a:spLocks noChangeArrowheads="1"/>
          </p:cNvSpPr>
          <p:nvPr/>
        </p:nvSpPr>
        <p:spPr bwMode="auto">
          <a:xfrm>
            <a:off x="457200" y="2781300"/>
            <a:ext cx="8686800" cy="32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524000" indent="-15240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989455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2397125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280543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32131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36703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41275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45847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50419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解 </a:t>
            </a:r>
            <a:r>
              <a:rPr lang="en-US" altLang="zh-CN" dirty="0"/>
              <a:t>(1) </a:t>
            </a:r>
            <a:r>
              <a:rPr lang="zh-CN" altLang="en-US" dirty="0"/>
              <a:t>若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en-US" altLang="zh-CN" i="1" dirty="0"/>
              <a:t>C</a:t>
            </a:r>
            <a:r>
              <a:rPr lang="en-US" altLang="zh-CN" dirty="0"/>
              <a:t>, </a:t>
            </a:r>
            <a:r>
              <a:rPr lang="en-US" altLang="zh-CN" i="1" dirty="0"/>
              <a:t>D</a:t>
            </a:r>
            <a:r>
              <a:rPr lang="zh-CN" altLang="en-US" dirty="0"/>
              <a:t>都是非空集合</a:t>
            </a:r>
            <a:endParaRPr lang="en-US" altLang="zh-CN" dirty="0"/>
          </a:p>
          <a:p>
            <a:pPr eaLnBrk="1" hangingPunct="1"/>
            <a:r>
              <a:rPr lang="zh-CN" altLang="en-US" dirty="0"/>
              <a:t>              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</a:p>
          <a:p>
            <a:pPr eaLnBrk="1" hangingPunct="1"/>
            <a:r>
              <a:rPr lang="en-US" altLang="zh-CN" dirty="0"/>
              <a:t>                  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C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             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 err="1">
                <a:solidFill>
                  <a:srgbClr val="0066FF"/>
                </a:solidFill>
                <a:sym typeface="Symbol" panose="05050102010706020507" pitchFamily="18" charset="2"/>
              </a:rPr>
              <a:t>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 err="1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rgbClr val="0066FF"/>
                </a:solidFill>
              </a:rPr>
              <a:t>C</a:t>
            </a:r>
            <a:endParaRPr lang="en-US" altLang="zh-CN" dirty="0">
              <a:solidFill>
                <a:srgbClr val="0066FF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             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rgbClr val="0066FF"/>
                </a:solidFill>
              </a:rPr>
              <a:t>B</a:t>
            </a:r>
            <a:r>
              <a:rPr lang="en-US" altLang="zh-CN" dirty="0" err="1">
                <a:solidFill>
                  <a:srgbClr val="0066FF"/>
                </a:solidFill>
                <a:sym typeface="Symbol" panose="05050102010706020507" pitchFamily="18" charset="2"/>
              </a:rPr>
              <a:t>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 err="1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rgbClr val="0066FF"/>
                </a:solidFill>
              </a:rPr>
              <a:t>D</a:t>
            </a:r>
            <a:endParaRPr lang="en-US" altLang="zh-CN" dirty="0">
              <a:solidFill>
                <a:srgbClr val="0066FF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              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D</a:t>
            </a:r>
            <a:endParaRPr lang="en-US" altLang="zh-CN" dirty="0"/>
          </a:p>
          <a:p>
            <a:pPr eaLnBrk="1" hangingPunct="1"/>
            <a:r>
              <a:rPr lang="zh-CN" altLang="en-US" dirty="0"/>
              <a:t>          否则，显然成立</a:t>
            </a:r>
            <a:endParaRPr lang="en-US" altLang="zh-CN" dirty="0"/>
          </a:p>
          <a:p>
            <a:pPr eaLnBrk="1" hangingPunct="1"/>
            <a:r>
              <a:rPr lang="en-US" altLang="zh-CN" dirty="0"/>
              <a:t>(2) </a:t>
            </a:r>
            <a:r>
              <a:rPr lang="zh-CN" altLang="en-US" dirty="0"/>
              <a:t>不一定</a:t>
            </a:r>
            <a:r>
              <a:rPr lang="en-US" altLang="zh-CN" dirty="0"/>
              <a:t>.</a:t>
            </a:r>
            <a:r>
              <a:rPr lang="zh-CN" altLang="en-US" dirty="0"/>
              <a:t>反例如下：</a:t>
            </a:r>
          </a:p>
          <a:p>
            <a:pPr eaLnBrk="1" hangingPunct="1"/>
            <a:r>
              <a:rPr lang="zh-CN" altLang="en-US" dirty="0"/>
              <a:t>      </a:t>
            </a:r>
            <a:r>
              <a:rPr lang="en-US" altLang="zh-CN" i="1" dirty="0"/>
              <a:t>A</a:t>
            </a:r>
            <a:r>
              <a:rPr lang="en-US" altLang="zh-CN" dirty="0"/>
              <a:t>={1}</a:t>
            </a:r>
            <a:r>
              <a:rPr lang="zh-CN" altLang="en-US" dirty="0"/>
              <a:t>，</a:t>
            </a:r>
            <a:r>
              <a:rPr lang="en-US" altLang="zh-CN" i="1" dirty="0"/>
              <a:t>B</a:t>
            </a:r>
            <a:r>
              <a:rPr lang="en-US" altLang="zh-CN" dirty="0"/>
              <a:t>={2}, </a:t>
            </a:r>
            <a:r>
              <a:rPr lang="en-US" altLang="zh-CN" i="1" dirty="0"/>
              <a:t>C </a:t>
            </a:r>
            <a:r>
              <a:rPr lang="en-US" altLang="zh-CN" dirty="0"/>
              <a:t>= </a:t>
            </a:r>
            <a:r>
              <a:rPr lang="en-US" altLang="zh-CN" i="1" dirty="0"/>
              <a:t>D </a:t>
            </a:r>
            <a:r>
              <a:rPr lang="en-US" altLang="zh-CN" dirty="0"/>
              <a:t>= 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C </a:t>
            </a:r>
            <a:r>
              <a:rPr lang="en-US" altLang="zh-CN" dirty="0"/>
              <a:t>= 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D</a:t>
            </a:r>
            <a:r>
              <a:rPr lang="zh-CN" altLang="en-US" dirty="0"/>
              <a:t>但是</a:t>
            </a:r>
            <a:r>
              <a:rPr lang="en-US" altLang="zh-CN" i="1" dirty="0"/>
              <a:t>A </a:t>
            </a:r>
            <a:r>
              <a:rPr lang="en-US" altLang="zh-CN" dirty="0">
                <a:sym typeface="Symbol" panose="05050102010706020507" pitchFamily="18" charset="2"/>
              </a:rPr>
              <a:t>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65F951C-85EF-45CA-AA89-379EE1E26B25}" type="slidenum">
              <a:rPr lang="en-US" altLang="zh-CN" sz="1400" b="0" smtClean="0">
                <a:latin typeface="Arial" panose="020B0604020202020204" pitchFamily="34" charset="0"/>
              </a:rPr>
              <a:t>8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4924425"/>
          </a:xfrm>
        </p:spPr>
        <p:txBody>
          <a:bodyPr/>
          <a:lstStyle/>
          <a:p>
            <a:pPr marL="361950" indent="-361950" eaLnBrk="1" hangingPunct="1">
              <a:buClr>
                <a:srgbClr val="FF9900"/>
              </a:buClr>
            </a:pPr>
            <a:r>
              <a:rPr lang="zh-CN" altLang="en-US"/>
              <a:t>主要内容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7.1</a:t>
            </a:r>
            <a:r>
              <a:rPr lang="zh-CN" altLang="en-US"/>
              <a:t>有序对与笛卡儿积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FF0000"/>
                </a:solidFill>
              </a:rPr>
              <a:t>7.2</a:t>
            </a:r>
            <a:r>
              <a:rPr lang="zh-CN" altLang="en-US">
                <a:solidFill>
                  <a:srgbClr val="FF0000"/>
                </a:solidFill>
              </a:rPr>
              <a:t>二元关系的定义与表示法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7.3</a:t>
            </a:r>
            <a:r>
              <a:rPr lang="zh-CN" altLang="en-US"/>
              <a:t>关系的运算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7.4</a:t>
            </a:r>
            <a:r>
              <a:rPr lang="zh-CN" altLang="en-US"/>
              <a:t>关系的性质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7.5</a:t>
            </a:r>
            <a:r>
              <a:rPr lang="zh-CN" altLang="en-US"/>
              <a:t>关系的闭包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7.6</a:t>
            </a:r>
            <a:r>
              <a:rPr lang="zh-CN" altLang="en-US"/>
              <a:t>等价关系与划分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7.7</a:t>
            </a:r>
            <a:r>
              <a:rPr lang="zh-CN" altLang="en-US"/>
              <a:t>偏序关系</a:t>
            </a:r>
          </a:p>
          <a:p>
            <a:pPr marL="361950" indent="-361950" eaLnBrk="1" hangingPunct="1"/>
            <a:endParaRPr lang="en-US" altLang="zh-CN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latin typeface="华文中宋" panose="02010600040101010101" pitchFamily="2" charset="-122"/>
              </a:rPr>
              <a:t>第七章 二元关系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14A3A3-E8A8-42B6-9A23-D0BE9F7B6B83}" type="slidenum">
              <a:rPr lang="en-US" altLang="zh-CN" sz="1400" b="0" smtClean="0">
                <a:latin typeface="Arial" panose="020B0604020202020204" pitchFamily="34" charset="0"/>
              </a:rPr>
              <a:t>9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7.2</a:t>
            </a:r>
            <a:r>
              <a:rPr lang="en-US" altLang="zh-CN">
                <a:latin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</a:rPr>
              <a:t>二元关系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7.3</a:t>
            </a:r>
            <a:r>
              <a:rPr lang="en-US" altLang="zh-CN"/>
              <a:t>  </a:t>
            </a:r>
            <a:r>
              <a:rPr lang="zh-CN" altLang="en-US"/>
              <a:t>如果一个集合满足以下条件之一：</a:t>
            </a:r>
          </a:p>
          <a:p>
            <a:pPr eaLnBrk="1" hangingPunct="1"/>
            <a:r>
              <a:rPr lang="en-US" altLang="zh-CN"/>
              <a:t>(1) </a:t>
            </a:r>
            <a:r>
              <a:rPr lang="zh-CN" altLang="en-US"/>
              <a:t>集合非空</a:t>
            </a:r>
            <a:r>
              <a:rPr lang="en-US" altLang="zh-CN"/>
              <a:t>, </a:t>
            </a:r>
            <a:r>
              <a:rPr lang="zh-CN" altLang="en-US"/>
              <a:t>且它的元素都是有序对</a:t>
            </a:r>
          </a:p>
          <a:p>
            <a:pPr eaLnBrk="1" hangingPunct="1"/>
            <a:r>
              <a:rPr lang="en-US" altLang="zh-CN"/>
              <a:t>(2) </a:t>
            </a:r>
            <a:r>
              <a:rPr lang="zh-CN" altLang="en-US"/>
              <a:t>集合是空集</a:t>
            </a:r>
          </a:p>
          <a:p>
            <a:pPr eaLnBrk="1" hangingPunct="1"/>
            <a:r>
              <a:rPr lang="zh-CN" altLang="en-US"/>
              <a:t>则称该集合为一个</a:t>
            </a:r>
            <a:r>
              <a:rPr lang="zh-CN" altLang="en-US">
                <a:solidFill>
                  <a:srgbClr val="A50021"/>
                </a:solidFill>
              </a:rPr>
              <a:t>二元关系</a:t>
            </a:r>
            <a:r>
              <a:rPr lang="en-US" altLang="zh-CN"/>
              <a:t>, </a:t>
            </a:r>
            <a:r>
              <a:rPr lang="zh-CN" altLang="en-US"/>
              <a:t>简称为关系，记作</a:t>
            </a:r>
            <a:r>
              <a:rPr lang="en-US" altLang="zh-CN" i="1"/>
              <a:t>R</a:t>
            </a:r>
            <a:r>
              <a:rPr lang="en-US" altLang="zh-CN"/>
              <a:t>.</a:t>
            </a:r>
          </a:p>
          <a:p>
            <a:pPr eaLnBrk="1" hangingPunct="1"/>
            <a:r>
              <a:rPr lang="zh-CN" altLang="en-US"/>
              <a:t>如果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R</a:t>
            </a:r>
            <a:r>
              <a:rPr lang="en-US" altLang="zh-CN"/>
              <a:t>, </a:t>
            </a:r>
            <a:r>
              <a:rPr lang="zh-CN" altLang="en-US"/>
              <a:t>可记作</a:t>
            </a:r>
            <a:r>
              <a:rPr lang="en-US" altLang="zh-CN" i="1"/>
              <a:t>xRy</a:t>
            </a:r>
            <a:r>
              <a:rPr lang="zh-CN" altLang="en-US"/>
              <a:t>；如果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</a:t>
            </a:r>
            <a:r>
              <a:rPr lang="en-US" altLang="zh-CN">
                <a:sym typeface="Symbol" panose="05050102010706020507" pitchFamily="18" charset="2"/>
              </a:rPr>
              <a:t></a:t>
            </a:r>
            <a:r>
              <a:rPr lang="en-US" altLang="zh-CN" i="1"/>
              <a:t>R</a:t>
            </a:r>
            <a:r>
              <a:rPr lang="en-US" altLang="zh-CN"/>
              <a:t>, </a:t>
            </a:r>
            <a:r>
              <a:rPr lang="zh-CN" altLang="en-US"/>
              <a:t>则记作</a:t>
            </a:r>
            <a:endParaRPr lang="en-US" altLang="zh-CN"/>
          </a:p>
          <a:p>
            <a:pPr eaLnBrk="1" hangingPunct="1">
              <a:spcBef>
                <a:spcPct val="70000"/>
              </a:spcBef>
            </a:pPr>
            <a:r>
              <a:rPr lang="zh-CN" altLang="en-US"/>
              <a:t>实例：</a:t>
            </a:r>
            <a:r>
              <a:rPr lang="en-US" altLang="zh-CN" i="1"/>
              <a:t>R</a:t>
            </a:r>
            <a:r>
              <a:rPr lang="en-US" altLang="zh-CN"/>
              <a:t>={&lt;1,2&gt;,&lt;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&gt;}, </a:t>
            </a:r>
            <a:r>
              <a:rPr lang="en-US" altLang="zh-CN" i="1"/>
              <a:t>S</a:t>
            </a:r>
            <a:r>
              <a:rPr lang="en-US" altLang="zh-CN"/>
              <a:t>={&lt;1,2&gt;,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}. </a:t>
            </a:r>
            <a:endParaRPr lang="en-US" altLang="zh-CN" i="1"/>
          </a:p>
          <a:p>
            <a:pPr eaLnBrk="1" hangingPunct="1"/>
            <a:r>
              <a:rPr lang="en-US" altLang="zh-CN" i="1"/>
              <a:t>R</a:t>
            </a:r>
            <a:r>
              <a:rPr lang="zh-CN" altLang="en-US"/>
              <a:t>是二元关系</a:t>
            </a:r>
            <a:r>
              <a:rPr lang="en-US" altLang="zh-CN"/>
              <a:t>, </a:t>
            </a:r>
            <a:r>
              <a:rPr lang="zh-CN" altLang="en-US"/>
              <a:t>当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zh-CN" altLang="en-US"/>
              <a:t>不是有序对时，</a:t>
            </a:r>
            <a:r>
              <a:rPr lang="en-US" altLang="zh-CN" i="1"/>
              <a:t>S</a:t>
            </a:r>
            <a:r>
              <a:rPr lang="zh-CN" altLang="en-US"/>
              <a:t>不是二元关系</a:t>
            </a:r>
          </a:p>
          <a:p>
            <a:pPr eaLnBrk="1" hangingPunct="1"/>
            <a:r>
              <a:rPr lang="zh-CN" altLang="en-US"/>
              <a:t>根据上面的记法，可以写</a:t>
            </a:r>
            <a:r>
              <a:rPr lang="en-US" altLang="zh-CN"/>
              <a:t>1</a:t>
            </a:r>
            <a:r>
              <a:rPr lang="en-US" altLang="zh-CN" i="1"/>
              <a:t>R</a:t>
            </a:r>
            <a:r>
              <a:rPr lang="en-US" altLang="zh-CN"/>
              <a:t>2, </a:t>
            </a:r>
            <a:r>
              <a:rPr lang="en-US" altLang="zh-CN" i="1"/>
              <a:t>aRb</a:t>
            </a:r>
            <a:r>
              <a:rPr lang="en-US" altLang="zh-CN"/>
              <a:t>, </a:t>
            </a:r>
            <a:r>
              <a:rPr lang="en-US" altLang="zh-CN" i="1"/>
              <a:t>          </a:t>
            </a:r>
            <a:r>
              <a:rPr lang="zh-CN" altLang="en-US"/>
              <a:t>等</a:t>
            </a:r>
            <a:r>
              <a:rPr lang="en-US" altLang="zh-CN"/>
              <a:t>. </a:t>
            </a:r>
          </a:p>
        </p:txBody>
      </p:sp>
      <p:grpSp>
        <p:nvGrpSpPr>
          <p:cNvPr id="20485" name="Group 14"/>
          <p:cNvGrpSpPr/>
          <p:nvPr/>
        </p:nvGrpSpPr>
        <p:grpSpPr bwMode="auto">
          <a:xfrm>
            <a:off x="7164388" y="3073400"/>
            <a:ext cx="674687" cy="430213"/>
            <a:chOff x="2410" y="2251"/>
            <a:chExt cx="425" cy="271"/>
          </a:xfrm>
        </p:grpSpPr>
        <p:sp>
          <p:nvSpPr>
            <p:cNvPr id="20491" name="Rectangle 7"/>
            <p:cNvSpPr>
              <a:spLocks noChangeArrowheads="1"/>
            </p:cNvSpPr>
            <p:nvPr/>
          </p:nvSpPr>
          <p:spPr bwMode="auto">
            <a:xfrm>
              <a:off x="2736" y="2251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ea typeface="楷体_GB2312" pitchFamily="49" charset="-122"/>
                </a:rPr>
                <a:t>y</a:t>
              </a:r>
              <a:endParaRPr kumimoji="1" lang="en-US" altLang="zh-CN" sz="2800">
                <a:solidFill>
                  <a:srgbClr val="080808"/>
                </a:solidFill>
                <a:ea typeface="楷体_GB2312" pitchFamily="49" charset="-122"/>
              </a:endParaRPr>
            </a:p>
          </p:txBody>
        </p:sp>
        <p:sp>
          <p:nvSpPr>
            <p:cNvPr id="20492" name="Rectangle 8"/>
            <p:cNvSpPr>
              <a:spLocks noChangeArrowheads="1"/>
            </p:cNvSpPr>
            <p:nvPr/>
          </p:nvSpPr>
          <p:spPr bwMode="auto">
            <a:xfrm>
              <a:off x="2552" y="2251"/>
              <a:ext cx="13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b="0" i="1">
                  <a:solidFill>
                    <a:srgbClr val="000000"/>
                  </a:solidFill>
                  <a:ea typeface="楷体_GB2312" pitchFamily="49" charset="-122"/>
                </a:rPr>
                <a:t>R</a:t>
              </a:r>
              <a:endParaRPr kumimoji="1" lang="en-US" altLang="zh-CN" sz="2800">
                <a:solidFill>
                  <a:srgbClr val="080808"/>
                </a:solidFill>
                <a:ea typeface="楷体_GB2312" pitchFamily="49" charset="-122"/>
              </a:endParaRPr>
            </a:p>
          </p:txBody>
        </p:sp>
        <p:sp>
          <p:nvSpPr>
            <p:cNvPr id="20493" name="Rectangle 9"/>
            <p:cNvSpPr>
              <a:spLocks noChangeArrowheads="1"/>
            </p:cNvSpPr>
            <p:nvPr/>
          </p:nvSpPr>
          <p:spPr bwMode="auto">
            <a:xfrm>
              <a:off x="2410" y="2251"/>
              <a:ext cx="11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ea typeface="楷体_GB2312" pitchFamily="49" charset="-122"/>
                </a:rPr>
                <a:t>x</a:t>
              </a:r>
              <a:endParaRPr kumimoji="1" lang="en-US" altLang="zh-CN" sz="2800">
                <a:solidFill>
                  <a:srgbClr val="080808"/>
                </a:solidFill>
                <a:ea typeface="楷体_GB2312" pitchFamily="49" charset="-122"/>
              </a:endParaRPr>
            </a:p>
          </p:txBody>
        </p:sp>
        <p:sp>
          <p:nvSpPr>
            <p:cNvPr id="20494" name="Line 10"/>
            <p:cNvSpPr>
              <a:spLocks noChangeShapeType="1"/>
            </p:cNvSpPr>
            <p:nvPr/>
          </p:nvSpPr>
          <p:spPr bwMode="auto">
            <a:xfrm rot="-705629">
              <a:off x="2558" y="2323"/>
              <a:ext cx="148" cy="1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486" name="Group 14"/>
          <p:cNvGrpSpPr/>
          <p:nvPr/>
        </p:nvGrpSpPr>
        <p:grpSpPr bwMode="auto">
          <a:xfrm>
            <a:off x="5219700" y="4581525"/>
            <a:ext cx="676275" cy="430213"/>
            <a:chOff x="2410" y="2251"/>
            <a:chExt cx="426" cy="271"/>
          </a:xfrm>
        </p:grpSpPr>
        <p:sp>
          <p:nvSpPr>
            <p:cNvPr id="20487" name="Rectangle 7"/>
            <p:cNvSpPr>
              <a:spLocks noChangeArrowheads="1"/>
            </p:cNvSpPr>
            <p:nvPr/>
          </p:nvSpPr>
          <p:spPr bwMode="auto">
            <a:xfrm>
              <a:off x="2736" y="2251"/>
              <a:ext cx="10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ea typeface="楷体_GB2312" pitchFamily="49" charset="-122"/>
                </a:rPr>
                <a:t>c</a:t>
              </a:r>
              <a:endParaRPr kumimoji="1" lang="en-US" altLang="zh-CN" sz="2800">
                <a:solidFill>
                  <a:srgbClr val="080808"/>
                </a:solidFill>
                <a:ea typeface="楷体_GB2312" pitchFamily="49" charset="-122"/>
              </a:endParaRPr>
            </a:p>
          </p:txBody>
        </p:sp>
        <p:sp>
          <p:nvSpPr>
            <p:cNvPr id="20488" name="Rectangle 8"/>
            <p:cNvSpPr>
              <a:spLocks noChangeArrowheads="1"/>
            </p:cNvSpPr>
            <p:nvPr/>
          </p:nvSpPr>
          <p:spPr bwMode="auto">
            <a:xfrm>
              <a:off x="2552" y="2251"/>
              <a:ext cx="13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b="0" i="1">
                  <a:solidFill>
                    <a:srgbClr val="000000"/>
                  </a:solidFill>
                  <a:ea typeface="楷体_GB2312" pitchFamily="49" charset="-122"/>
                </a:rPr>
                <a:t>R</a:t>
              </a:r>
              <a:endParaRPr kumimoji="1" lang="en-US" altLang="zh-CN" sz="2800">
                <a:solidFill>
                  <a:srgbClr val="080808"/>
                </a:solidFill>
                <a:ea typeface="楷体_GB2312" pitchFamily="49" charset="-122"/>
              </a:endParaRPr>
            </a:p>
          </p:txBody>
        </p:sp>
        <p:sp>
          <p:nvSpPr>
            <p:cNvPr id="20489" name="Rectangle 9"/>
            <p:cNvSpPr>
              <a:spLocks noChangeArrowheads="1"/>
            </p:cNvSpPr>
            <p:nvPr/>
          </p:nvSpPr>
          <p:spPr bwMode="auto">
            <a:xfrm>
              <a:off x="2410" y="2251"/>
              <a:ext cx="11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ea typeface="楷体_GB2312" pitchFamily="49" charset="-122"/>
                </a:rPr>
                <a:t>a</a:t>
              </a:r>
              <a:endParaRPr kumimoji="1" lang="en-US" altLang="zh-CN" sz="2800">
                <a:solidFill>
                  <a:srgbClr val="080808"/>
                </a:solidFill>
                <a:ea typeface="楷体_GB2312" pitchFamily="49" charset="-122"/>
              </a:endParaRPr>
            </a:p>
          </p:txBody>
        </p:sp>
        <p:sp>
          <p:nvSpPr>
            <p:cNvPr id="20490" name="Line 10"/>
            <p:cNvSpPr>
              <a:spLocks noChangeShapeType="1"/>
            </p:cNvSpPr>
            <p:nvPr/>
          </p:nvSpPr>
          <p:spPr bwMode="auto">
            <a:xfrm rot="-705629">
              <a:off x="2558" y="2323"/>
              <a:ext cx="148" cy="1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D7B5D7E-2F61-44D6-9925-C65B0CDDD225}" type="slidenum">
              <a:rPr lang="en-US" altLang="zh-CN" sz="1400" b="0" smtClean="0">
                <a:latin typeface="Arial" panose="020B0604020202020204" pitchFamily="34" charset="0"/>
              </a:rPr>
              <a:t>10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i="1"/>
              <a:t>A</a:t>
            </a:r>
            <a:r>
              <a:rPr lang="zh-CN" altLang="en-US"/>
              <a:t>到</a:t>
            </a:r>
            <a:r>
              <a:rPr lang="en-US" altLang="zh-CN" i="1"/>
              <a:t>B</a:t>
            </a:r>
            <a:r>
              <a:rPr lang="zh-CN" altLang="en-US"/>
              <a:t>的关系与</a:t>
            </a:r>
            <a:r>
              <a:rPr lang="en-US" altLang="zh-CN" i="1"/>
              <a:t>A</a:t>
            </a:r>
            <a:r>
              <a:rPr lang="zh-CN" altLang="en-US"/>
              <a:t>上的关系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196975"/>
            <a:ext cx="8135938" cy="1439863"/>
          </a:xfrm>
        </p:spPr>
        <p:txBody>
          <a:bodyPr/>
          <a:lstStyle/>
          <a:p>
            <a:pPr marL="716280" indent="-716280" eaLnBrk="1" hangingPunct="1"/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7.4</a:t>
            </a:r>
          </a:p>
          <a:p>
            <a:pPr marL="716280" indent="-716280" eaLnBrk="1" hangingPunct="1"/>
            <a:r>
              <a:rPr lang="zh-CN" altLang="en-US"/>
              <a:t>设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zh-CN" altLang="en-US"/>
              <a:t>为集合</a:t>
            </a:r>
            <a:r>
              <a:rPr lang="en-US" altLang="zh-CN"/>
              <a:t>, </a:t>
            </a:r>
            <a:r>
              <a:rPr lang="en-US" altLang="zh-CN" i="1"/>
              <a:t> A</a:t>
            </a:r>
            <a:r>
              <a:rPr lang="en-US" altLang="zh-CN"/>
              <a:t>×</a:t>
            </a:r>
            <a:r>
              <a:rPr lang="en-US" altLang="zh-CN" i="1"/>
              <a:t>B</a:t>
            </a:r>
            <a:r>
              <a:rPr lang="zh-CN" altLang="en-US"/>
              <a:t>的任何子集所定义的二元关系叫做</a:t>
            </a:r>
            <a:r>
              <a:rPr lang="zh-CN" altLang="en-US">
                <a:solidFill>
                  <a:srgbClr val="A50021"/>
                </a:solidFill>
              </a:rPr>
              <a:t>从</a:t>
            </a:r>
            <a:r>
              <a:rPr lang="en-US" altLang="zh-CN" i="1">
                <a:solidFill>
                  <a:srgbClr val="A50021"/>
                </a:solidFill>
              </a:rPr>
              <a:t>A</a:t>
            </a:r>
          </a:p>
          <a:p>
            <a:pPr marL="716280" indent="-716280" eaLnBrk="1" hangingPunct="1"/>
            <a:r>
              <a:rPr lang="zh-CN" altLang="en-US">
                <a:solidFill>
                  <a:srgbClr val="A50021"/>
                </a:solidFill>
              </a:rPr>
              <a:t>到</a:t>
            </a:r>
            <a:r>
              <a:rPr lang="en-US" altLang="zh-CN" i="1">
                <a:solidFill>
                  <a:srgbClr val="A50021"/>
                </a:solidFill>
              </a:rPr>
              <a:t>B</a:t>
            </a:r>
            <a:r>
              <a:rPr lang="zh-CN" altLang="en-US">
                <a:solidFill>
                  <a:srgbClr val="A50021"/>
                </a:solidFill>
              </a:rPr>
              <a:t>的二元关系</a:t>
            </a:r>
            <a:r>
              <a:rPr lang="en-US" altLang="zh-CN"/>
              <a:t>,  </a:t>
            </a:r>
            <a:r>
              <a:rPr lang="zh-CN" altLang="en-US"/>
              <a:t>当</a:t>
            </a:r>
            <a:r>
              <a:rPr lang="en-US" altLang="zh-CN" i="1"/>
              <a:t>A</a:t>
            </a:r>
            <a:r>
              <a:rPr lang="en-US" altLang="zh-CN"/>
              <a:t>=</a:t>
            </a:r>
            <a:r>
              <a:rPr lang="en-US" altLang="zh-CN" i="1"/>
              <a:t>B</a:t>
            </a:r>
            <a:r>
              <a:rPr lang="zh-CN" altLang="en-US"/>
              <a:t>时则叫做</a:t>
            </a:r>
            <a:r>
              <a:rPr lang="en-US" altLang="zh-CN" i="1">
                <a:solidFill>
                  <a:srgbClr val="A50021"/>
                </a:solidFill>
              </a:rPr>
              <a:t>A</a:t>
            </a:r>
            <a:r>
              <a:rPr lang="zh-CN" altLang="en-US">
                <a:solidFill>
                  <a:srgbClr val="A50021"/>
                </a:solidFill>
              </a:rPr>
              <a:t>上的二元关系</a:t>
            </a:r>
            <a:r>
              <a:rPr lang="en-US" altLang="zh-CN"/>
              <a:t>.</a:t>
            </a:r>
          </a:p>
        </p:txBody>
      </p:sp>
      <p:sp>
        <p:nvSpPr>
          <p:cNvPr id="22536" name="Rectangle 6"/>
          <p:cNvSpPr>
            <a:spLocks noChangeArrowheads="1"/>
          </p:cNvSpPr>
          <p:nvPr/>
        </p:nvSpPr>
        <p:spPr bwMode="auto">
          <a:xfrm>
            <a:off x="611188" y="2925763"/>
            <a:ext cx="8208962" cy="331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716280" indent="-71628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18110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589405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997075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40538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8625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3197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7769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2341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60000"/>
              </a:spcBef>
            </a:pPr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3</a:t>
            </a:r>
            <a:r>
              <a:rPr lang="en-US" altLang="zh-CN"/>
              <a:t>    </a:t>
            </a:r>
            <a:r>
              <a:rPr lang="en-US" altLang="zh-CN" i="1"/>
              <a:t>A</a:t>
            </a:r>
            <a:r>
              <a:rPr lang="en-US" altLang="zh-CN"/>
              <a:t>={0,1}, </a:t>
            </a:r>
            <a:r>
              <a:rPr lang="en-US" altLang="zh-CN" i="1"/>
              <a:t>B</a:t>
            </a:r>
            <a:r>
              <a:rPr lang="en-US" altLang="zh-CN"/>
              <a:t>={1,2,3}, </a:t>
            </a:r>
            <a:r>
              <a:rPr lang="zh-CN" altLang="en-US"/>
              <a:t>那么</a:t>
            </a:r>
          </a:p>
          <a:p>
            <a:pPr eaLnBrk="1" hangingPunct="1"/>
            <a:r>
              <a:rPr lang="zh-CN" altLang="en-US"/>
              <a:t>  </a:t>
            </a:r>
            <a:r>
              <a:rPr lang="en-US" altLang="zh-CN" i="1"/>
              <a:t>R</a:t>
            </a:r>
            <a:r>
              <a:rPr lang="en-US" altLang="zh-CN" baseline="-25000"/>
              <a:t>1</a:t>
            </a:r>
            <a:r>
              <a:rPr lang="en-US" altLang="zh-CN"/>
              <a:t>={&lt;0,2&gt;},   </a:t>
            </a:r>
            <a:r>
              <a:rPr lang="en-US" altLang="zh-CN" i="1"/>
              <a:t>R</a:t>
            </a:r>
            <a:r>
              <a:rPr lang="en-US" altLang="zh-CN" baseline="-25000"/>
              <a:t>2</a:t>
            </a:r>
            <a:r>
              <a:rPr lang="en-US" altLang="zh-CN"/>
              <a:t>=</a:t>
            </a:r>
            <a:r>
              <a:rPr lang="en-US" altLang="zh-CN" i="1"/>
              <a:t>A</a:t>
            </a:r>
            <a:r>
              <a:rPr lang="en-US" altLang="zh-CN"/>
              <a:t>×</a:t>
            </a:r>
            <a:r>
              <a:rPr lang="en-US" altLang="zh-CN" i="1"/>
              <a:t>B</a:t>
            </a:r>
            <a:r>
              <a:rPr lang="en-US" altLang="zh-CN"/>
              <a:t>,   </a:t>
            </a:r>
            <a:r>
              <a:rPr lang="en-US" altLang="zh-CN" i="1"/>
              <a:t>R</a:t>
            </a:r>
            <a:r>
              <a:rPr lang="en-US" altLang="zh-CN" baseline="-25000"/>
              <a:t>3</a:t>
            </a:r>
            <a:r>
              <a:rPr lang="en-US" altLang="zh-CN"/>
              <a:t>=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,   </a:t>
            </a:r>
            <a:r>
              <a:rPr lang="en-US" altLang="zh-CN" i="1"/>
              <a:t>R</a:t>
            </a:r>
            <a:r>
              <a:rPr lang="en-US" altLang="zh-CN" baseline="-25000"/>
              <a:t>4</a:t>
            </a:r>
            <a:r>
              <a:rPr lang="en-US" altLang="zh-CN"/>
              <a:t>={&lt;0,1&gt;}</a:t>
            </a:r>
          </a:p>
          <a:p>
            <a:pPr eaLnBrk="1" hangingPunct="1"/>
            <a:r>
              <a:rPr lang="en-US" altLang="zh-CN" i="1"/>
              <a:t>R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R</a:t>
            </a:r>
            <a:r>
              <a:rPr lang="en-US" altLang="zh-CN" baseline="-25000"/>
              <a:t>2</a:t>
            </a:r>
            <a:r>
              <a:rPr lang="en-US" altLang="zh-CN"/>
              <a:t>, </a:t>
            </a:r>
            <a:r>
              <a:rPr lang="en-US" altLang="zh-CN" i="1"/>
              <a:t>R</a:t>
            </a:r>
            <a:r>
              <a:rPr lang="en-US" altLang="zh-CN" baseline="-25000"/>
              <a:t>3</a:t>
            </a:r>
            <a:r>
              <a:rPr lang="en-US" altLang="zh-CN"/>
              <a:t>, </a:t>
            </a:r>
            <a:r>
              <a:rPr lang="en-US" altLang="zh-CN" i="1"/>
              <a:t>R</a:t>
            </a:r>
            <a:r>
              <a:rPr lang="en-US" altLang="zh-CN" baseline="-25000"/>
              <a:t>4</a:t>
            </a:r>
            <a:r>
              <a:rPr lang="zh-CN" altLang="en-US"/>
              <a:t>是从 </a:t>
            </a:r>
            <a:r>
              <a:rPr lang="en-US" altLang="zh-CN" i="1"/>
              <a:t>A </a:t>
            </a:r>
            <a:r>
              <a:rPr lang="zh-CN" altLang="en-US"/>
              <a:t>到 </a:t>
            </a:r>
            <a:r>
              <a:rPr lang="en-US" altLang="zh-CN" i="1"/>
              <a:t>B </a:t>
            </a:r>
            <a:r>
              <a:rPr lang="zh-CN" altLang="en-US"/>
              <a:t>的二元关系</a:t>
            </a:r>
            <a:r>
              <a:rPr lang="en-US" altLang="zh-CN"/>
              <a:t>, </a:t>
            </a:r>
            <a:endParaRPr lang="en-US" altLang="zh-CN" i="1"/>
          </a:p>
          <a:p>
            <a:pPr eaLnBrk="1" hangingPunct="1"/>
            <a:r>
              <a:rPr lang="en-US" altLang="zh-CN" i="1"/>
              <a:t>R</a:t>
            </a:r>
            <a:r>
              <a:rPr lang="en-US" altLang="zh-CN" baseline="-25000"/>
              <a:t>3 </a:t>
            </a:r>
            <a:r>
              <a:rPr lang="zh-CN" altLang="en-US"/>
              <a:t>和 </a:t>
            </a:r>
            <a:r>
              <a:rPr lang="en-US" altLang="zh-CN" i="1"/>
              <a:t>R</a:t>
            </a:r>
            <a:r>
              <a:rPr lang="en-US" altLang="zh-CN" baseline="-25000"/>
              <a:t>4 </a:t>
            </a:r>
            <a:r>
              <a:rPr lang="zh-CN" altLang="en-US"/>
              <a:t>也是</a:t>
            </a:r>
            <a:r>
              <a:rPr lang="en-US" altLang="zh-CN" i="1"/>
              <a:t>A</a:t>
            </a:r>
            <a:r>
              <a:rPr lang="zh-CN" altLang="en-US"/>
              <a:t>上的二元关系</a:t>
            </a:r>
            <a:r>
              <a:rPr lang="en-US" altLang="zh-CN"/>
              <a:t>. 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CN"/>
              <a:t>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6" name="Rectangle 6"/>
          <p:cNvSpPr>
            <a:spLocks noChangeArrowheads="1"/>
          </p:cNvSpPr>
          <p:nvPr/>
        </p:nvSpPr>
        <p:spPr bwMode="auto">
          <a:xfrm>
            <a:off x="611188" y="1628775"/>
            <a:ext cx="8208962" cy="331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716280" indent="-71628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18110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589405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997075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40538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8625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3197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7769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23418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60000"/>
              </a:spcBef>
            </a:pPr>
            <a:r>
              <a:rPr lang="zh-CN" altLang="en-US" dirty="0"/>
              <a:t>若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/>
              <a:t>|=</a:t>
            </a:r>
            <a:r>
              <a:rPr lang="en-US" altLang="zh-CN" i="1" dirty="0"/>
              <a:t>n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  <a:r>
              <a:rPr lang="en-US" altLang="zh-CN" dirty="0"/>
              <a:t> |</a:t>
            </a:r>
            <a:r>
              <a:rPr lang="en-US" altLang="zh-CN" i="1" dirty="0"/>
              <a:t>A</a:t>
            </a:r>
            <a:r>
              <a:rPr lang="en-US" altLang="zh-CN" dirty="0"/>
              <a:t>×</a:t>
            </a:r>
            <a:r>
              <a:rPr lang="en-US" altLang="zh-CN" i="1" dirty="0"/>
              <a:t>A</a:t>
            </a:r>
            <a:r>
              <a:rPr lang="en-US" altLang="zh-CN" dirty="0"/>
              <a:t>|=</a:t>
            </a:r>
            <a:r>
              <a:rPr lang="en-US" altLang="zh-CN" i="1" dirty="0"/>
              <a:t>n</a:t>
            </a:r>
            <a:r>
              <a:rPr lang="en-US" altLang="zh-CN" baseline="30000" dirty="0"/>
              <a:t>2</a:t>
            </a:r>
            <a:endParaRPr lang="en-US" altLang="zh-CN" dirty="0"/>
          </a:p>
          <a:p>
            <a:pPr eaLnBrk="1" hangingPunct="1">
              <a:spcBef>
                <a:spcPct val="60000"/>
              </a:spcBef>
            </a:pPr>
            <a:r>
              <a:rPr lang="zh-CN" altLang="en-US" dirty="0"/>
              <a:t>问</a:t>
            </a:r>
            <a:r>
              <a:rPr lang="en-US" altLang="zh-CN" dirty="0">
                <a:sym typeface="Wingdings" panose="05000000000000000000" pitchFamily="2" charset="2"/>
              </a:rPr>
              <a:t>:</a:t>
            </a:r>
            <a:r>
              <a:rPr lang="zh-CN" altLang="en-US" dirty="0">
                <a:sym typeface="Wingdings" panose="05000000000000000000" pitchFamily="2" charset="2"/>
              </a:rPr>
              <a:t> </a:t>
            </a:r>
            <a:r>
              <a:rPr lang="en-US" altLang="zh-CN" dirty="0">
                <a:sym typeface="Wingdings" panose="05000000000000000000" pitchFamily="2" charset="2"/>
              </a:rPr>
              <a:t>(1) </a:t>
            </a:r>
            <a:r>
              <a:rPr lang="en-US" altLang="zh-CN" i="1" dirty="0"/>
              <a:t>A</a:t>
            </a:r>
            <a:r>
              <a:rPr lang="en-US" altLang="zh-CN" dirty="0"/>
              <a:t>×</a:t>
            </a:r>
            <a:r>
              <a:rPr lang="en-US" altLang="zh-CN" i="1" dirty="0"/>
              <a:t>A</a:t>
            </a:r>
            <a:r>
              <a:rPr lang="zh-CN" altLang="en-US" dirty="0"/>
              <a:t>的子集有多少个？</a:t>
            </a:r>
            <a:r>
              <a:rPr lang="en-US" altLang="zh-CN" dirty="0"/>
              <a:t> 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CN" dirty="0">
                <a:sym typeface="Wingdings" panose="05000000000000000000" pitchFamily="2" charset="2"/>
              </a:rPr>
              <a:t>      (2) </a:t>
            </a:r>
            <a:r>
              <a:rPr lang="en-US" altLang="zh-CN" i="1" dirty="0"/>
              <a:t>A</a:t>
            </a:r>
            <a:r>
              <a:rPr lang="zh-CN" altLang="en-US" dirty="0"/>
              <a:t>上有多少个不同的二元关系</a:t>
            </a:r>
            <a:r>
              <a:rPr lang="en-US" altLang="zh-CN" dirty="0"/>
              <a:t>?</a:t>
            </a:r>
          </a:p>
          <a:p>
            <a:pPr eaLnBrk="1" hangingPunct="1">
              <a:spcBef>
                <a:spcPct val="60000"/>
              </a:spcBef>
            </a:pPr>
            <a:endParaRPr lang="en-US" altLang="zh-CN" dirty="0"/>
          </a:p>
          <a:p>
            <a:pPr eaLnBrk="1" hangingPunct="1">
              <a:spcBef>
                <a:spcPct val="60000"/>
              </a:spcBef>
            </a:pPr>
            <a:endParaRPr lang="en-US" altLang="zh-CN" dirty="0"/>
          </a:p>
          <a:p>
            <a:pPr eaLnBrk="1" hangingPunct="1"/>
            <a:r>
              <a:rPr lang="zh-CN" altLang="en-US" dirty="0"/>
              <a:t>例如 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/>
              <a:t>| = 3,  </a:t>
            </a:r>
            <a:r>
              <a:rPr lang="zh-CN" altLang="en-US" dirty="0"/>
              <a:t>则 </a:t>
            </a:r>
            <a:r>
              <a:rPr lang="en-US" altLang="zh-CN" i="1" dirty="0"/>
              <a:t>A</a:t>
            </a:r>
            <a:r>
              <a:rPr lang="zh-CN" altLang="en-US" dirty="0"/>
              <a:t>上有</a:t>
            </a:r>
            <a:r>
              <a:rPr lang="en-US" altLang="zh-CN" dirty="0"/>
              <a:t>=512</a:t>
            </a:r>
            <a:r>
              <a:rPr lang="zh-CN" altLang="en-US" dirty="0"/>
              <a:t>个不同的二元关系</a:t>
            </a:r>
            <a:r>
              <a:rPr lang="en-US" altLang="zh-CN" dirty="0"/>
              <a:t>. </a:t>
            </a:r>
          </a:p>
        </p:txBody>
      </p:sp>
      <p:sp>
        <p:nvSpPr>
          <p:cNvPr id="24579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4B695F1-1C1B-4BDE-83A1-7D58DAFC2633}" type="slidenum">
              <a:rPr lang="en-US" altLang="zh-CN" sz="1400" b="0" smtClean="0">
                <a:latin typeface="Arial" panose="020B0604020202020204" pitchFamily="34" charset="0"/>
              </a:rPr>
              <a:t>11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i="1"/>
              <a:t>A</a:t>
            </a:r>
            <a:r>
              <a:rPr lang="zh-CN" altLang="en-US"/>
              <a:t>到</a:t>
            </a:r>
            <a:r>
              <a:rPr lang="en-US" altLang="zh-CN" i="1"/>
              <a:t>B</a:t>
            </a:r>
            <a:r>
              <a:rPr lang="zh-CN" altLang="en-US"/>
              <a:t>的关系与</a:t>
            </a:r>
            <a:r>
              <a:rPr lang="en-US" altLang="zh-CN" i="1"/>
              <a:t>A</a:t>
            </a:r>
            <a:r>
              <a:rPr lang="zh-CN" altLang="en-US"/>
              <a:t>上的关系</a:t>
            </a:r>
          </a:p>
        </p:txBody>
      </p:sp>
      <p:graphicFrame>
        <p:nvGraphicFramePr>
          <p:cNvPr id="22534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5040313" y="1989138"/>
          <a:ext cx="600075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28600" imgH="215900" progId="Equation.3">
                  <p:embed/>
                </p:oleObj>
              </mc:Choice>
              <mc:Fallback>
                <p:oleObj name="公式" r:id="rId3" imgW="228600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313" y="1989138"/>
                        <a:ext cx="600075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/>
        </p:nvGraphicFramePr>
        <p:xfrm>
          <a:off x="6253163" y="2636838"/>
          <a:ext cx="600075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28600" imgH="215900" progId="Equation.3">
                  <p:embed/>
                </p:oleObj>
              </mc:Choice>
              <mc:Fallback>
                <p:oleObj name="公式" r:id="rId5" imgW="228600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3163" y="2636838"/>
                        <a:ext cx="600075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27450A0-07F3-472E-A8D2-DE7FB29CEC81}" type="slidenum">
              <a:rPr lang="en-US" altLang="zh-CN" sz="1400" b="0" smtClean="0">
                <a:latin typeface="Arial" panose="020B0604020202020204" pitchFamily="34" charset="0"/>
              </a:rPr>
              <a:t>12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i="1"/>
              <a:t>A</a:t>
            </a:r>
            <a:r>
              <a:rPr lang="zh-CN" altLang="en-US"/>
              <a:t>上重要关系的实例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70000"/>
            <a:ext cx="8229600" cy="410368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7.5 </a:t>
            </a:r>
            <a:r>
              <a:rPr lang="en-US" altLang="zh-CN"/>
              <a:t> </a:t>
            </a:r>
            <a:r>
              <a:rPr lang="zh-CN" altLang="en-US"/>
              <a:t>设 </a:t>
            </a:r>
            <a:r>
              <a:rPr lang="en-US" altLang="zh-CN" i="1"/>
              <a:t>A </a:t>
            </a:r>
            <a:r>
              <a:rPr lang="zh-CN" altLang="en-US"/>
              <a:t>为集合</a:t>
            </a:r>
            <a:r>
              <a:rPr lang="en-US" altLang="zh-CN"/>
              <a:t>, 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(1)  </a:t>
            </a:r>
            <a:r>
              <a:rPr lang="zh-CN" altLang="en-US"/>
              <a:t>是</a:t>
            </a:r>
            <a:r>
              <a:rPr lang="en-US" altLang="zh-CN" i="1"/>
              <a:t>A</a:t>
            </a:r>
            <a:r>
              <a:rPr lang="zh-CN" altLang="en-US"/>
              <a:t>上的关系，称为</a:t>
            </a:r>
            <a:r>
              <a:rPr lang="zh-CN" altLang="en-US">
                <a:solidFill>
                  <a:srgbClr val="A50021"/>
                </a:solidFill>
              </a:rPr>
              <a:t>空关系</a:t>
            </a:r>
            <a:endParaRPr lang="zh-CN" altLang="en-US" i="1">
              <a:solidFill>
                <a:srgbClr val="A50021"/>
              </a:solidFill>
            </a:endParaRPr>
          </a:p>
          <a:p>
            <a:pPr eaLnBrk="1" hangingPunct="1"/>
            <a:r>
              <a:rPr lang="en-US" altLang="zh-CN"/>
              <a:t>(2)</a:t>
            </a:r>
            <a:r>
              <a:rPr lang="en-US" altLang="zh-CN" i="1"/>
              <a:t> </a:t>
            </a:r>
            <a:r>
              <a:rPr lang="zh-CN" altLang="en-US">
                <a:solidFill>
                  <a:srgbClr val="A50021"/>
                </a:solidFill>
              </a:rPr>
              <a:t>全域关系</a:t>
            </a:r>
            <a:r>
              <a:rPr lang="zh-CN" altLang="en-US"/>
              <a:t>  </a:t>
            </a:r>
            <a:r>
              <a:rPr lang="en-US" altLang="zh-CN" i="1"/>
              <a:t>E</a:t>
            </a:r>
            <a:r>
              <a:rPr lang="en-US" altLang="zh-CN" i="1" baseline="-25000"/>
              <a:t>A </a:t>
            </a:r>
            <a:r>
              <a:rPr lang="en-US" altLang="zh-CN"/>
              <a:t>= {&lt;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&gt;| </a:t>
            </a:r>
            <a:r>
              <a:rPr lang="en-US" altLang="zh-CN" i="1"/>
              <a:t>x</a:t>
            </a:r>
            <a:r>
              <a:rPr lang="en-US" altLang="zh-CN"/>
              <a:t>∈</a:t>
            </a:r>
            <a:r>
              <a:rPr lang="en-US" altLang="zh-CN" i="1"/>
              <a:t>A</a:t>
            </a:r>
            <a:r>
              <a:rPr lang="en-US" altLang="zh-CN"/>
              <a:t>∧</a:t>
            </a:r>
            <a:r>
              <a:rPr lang="en-US" altLang="zh-CN" i="1"/>
              <a:t>y</a:t>
            </a:r>
            <a:r>
              <a:rPr lang="en-US" altLang="zh-CN"/>
              <a:t>∈</a:t>
            </a:r>
            <a:r>
              <a:rPr lang="en-US" altLang="zh-CN" i="1"/>
              <a:t>A</a:t>
            </a:r>
            <a:r>
              <a:rPr lang="en-US" altLang="zh-CN"/>
              <a:t>} = </a:t>
            </a:r>
            <a:r>
              <a:rPr lang="en-US" altLang="zh-CN" i="1"/>
              <a:t>A</a:t>
            </a:r>
            <a:r>
              <a:rPr lang="en-US" altLang="zh-CN"/>
              <a:t>×</a:t>
            </a:r>
            <a:r>
              <a:rPr lang="en-US" altLang="zh-CN" i="1"/>
              <a:t>A  </a:t>
            </a:r>
          </a:p>
          <a:p>
            <a:pPr eaLnBrk="1" hangingPunct="1"/>
            <a:r>
              <a:rPr lang="en-US" altLang="zh-CN">
                <a:solidFill>
                  <a:srgbClr val="A50021"/>
                </a:solidFill>
              </a:rPr>
              <a:t>      </a:t>
            </a:r>
            <a:r>
              <a:rPr lang="zh-CN" altLang="en-US">
                <a:solidFill>
                  <a:srgbClr val="A50021"/>
                </a:solidFill>
              </a:rPr>
              <a:t>恒等关系 </a:t>
            </a:r>
            <a:r>
              <a:rPr lang="en-US" altLang="zh-CN" i="1"/>
              <a:t>I</a:t>
            </a:r>
            <a:r>
              <a:rPr lang="en-US" altLang="zh-CN" i="1" baseline="-25000"/>
              <a:t>A</a:t>
            </a:r>
            <a:r>
              <a:rPr lang="en-US" altLang="zh-CN" i="1"/>
              <a:t> </a:t>
            </a:r>
            <a:r>
              <a:rPr lang="en-US" altLang="zh-CN"/>
              <a:t>= {&lt;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x</a:t>
            </a:r>
            <a:r>
              <a:rPr lang="en-US" altLang="zh-CN"/>
              <a:t>&gt;| </a:t>
            </a:r>
            <a:r>
              <a:rPr lang="en-US" altLang="zh-CN" i="1"/>
              <a:t>x</a:t>
            </a:r>
            <a:r>
              <a:rPr lang="en-US" altLang="zh-CN"/>
              <a:t>∈</a:t>
            </a:r>
            <a:r>
              <a:rPr lang="en-US" altLang="zh-CN" i="1"/>
              <a:t>A</a:t>
            </a:r>
            <a:r>
              <a:rPr lang="en-US" altLang="zh-CN"/>
              <a:t>}</a:t>
            </a:r>
          </a:p>
          <a:p>
            <a:pPr eaLnBrk="1" hangingPunct="1"/>
            <a:r>
              <a:rPr lang="en-US" altLang="zh-CN">
                <a:solidFill>
                  <a:srgbClr val="A50021"/>
                </a:solidFill>
              </a:rPr>
              <a:t>      </a:t>
            </a:r>
          </a:p>
          <a:p>
            <a:pPr eaLnBrk="1" hangingPunct="1"/>
            <a:endParaRPr lang="en-US" altLang="zh-CN">
              <a:solidFill>
                <a:srgbClr val="A50021"/>
              </a:solidFill>
            </a:endParaRPr>
          </a:p>
          <a:p>
            <a:pPr eaLnBrk="1" hangingPunct="1"/>
            <a:r>
              <a:rPr lang="en-US" altLang="zh-CN">
                <a:solidFill>
                  <a:srgbClr val="A50021"/>
                </a:solidFill>
              </a:rPr>
              <a:t>      </a:t>
            </a:r>
          </a:p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      小于等于关系</a:t>
            </a:r>
            <a:r>
              <a:rPr lang="zh-CN" altLang="en-US" i="1"/>
              <a:t> </a:t>
            </a:r>
            <a:r>
              <a:rPr lang="en-US" altLang="zh-CN" i="1"/>
              <a:t>L</a:t>
            </a:r>
            <a:r>
              <a:rPr lang="en-US" altLang="zh-CN" i="1" baseline="-25000"/>
              <a:t>A</a:t>
            </a:r>
            <a:r>
              <a:rPr lang="en-US" altLang="zh-CN" i="1"/>
              <a:t> </a:t>
            </a:r>
            <a:r>
              <a:rPr lang="en-US" altLang="zh-CN"/>
              <a:t>= {&lt;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&gt;| 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∈</a:t>
            </a:r>
            <a:r>
              <a:rPr lang="en-US" altLang="zh-CN" i="1"/>
              <a:t>A</a:t>
            </a:r>
            <a:r>
              <a:rPr lang="en-US" altLang="zh-CN"/>
              <a:t>∧</a:t>
            </a:r>
            <a:r>
              <a:rPr lang="en-US" altLang="zh-CN" i="1"/>
              <a:t>x</a:t>
            </a:r>
            <a:r>
              <a:rPr lang="en-US" altLang="zh-CN"/>
              <a:t>≤</a:t>
            </a:r>
            <a:r>
              <a:rPr lang="en-US" altLang="zh-CN" i="1"/>
              <a:t>y</a:t>
            </a:r>
            <a:r>
              <a:rPr lang="en-US" altLang="zh-CN"/>
              <a:t>}, </a:t>
            </a:r>
            <a:r>
              <a:rPr lang="en-US" altLang="zh-CN" i="1"/>
              <a:t>A</a:t>
            </a:r>
            <a:r>
              <a:rPr lang="zh-CN" altLang="en-US"/>
              <a:t>为实数子集 </a:t>
            </a:r>
            <a:endParaRPr lang="zh-CN" altLang="en-US" i="1"/>
          </a:p>
          <a:p>
            <a:pPr eaLnBrk="1" hangingPunct="1"/>
            <a:r>
              <a:rPr lang="zh-CN" altLang="en-US" i="1"/>
              <a:t>      </a:t>
            </a:r>
            <a:r>
              <a:rPr lang="zh-CN" altLang="en-US">
                <a:solidFill>
                  <a:srgbClr val="A50021"/>
                </a:solidFill>
              </a:rPr>
              <a:t>整除关系 </a:t>
            </a:r>
            <a:r>
              <a:rPr lang="en-US" altLang="zh-CN" i="1"/>
              <a:t>D</a:t>
            </a:r>
            <a:r>
              <a:rPr lang="en-US" altLang="zh-CN" i="1" baseline="-25000"/>
              <a:t>A </a:t>
            </a:r>
            <a:r>
              <a:rPr lang="en-US" altLang="zh-CN"/>
              <a:t>= {&lt;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&gt;| 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∈</a:t>
            </a:r>
            <a:r>
              <a:rPr lang="en-US" altLang="zh-CN" i="1"/>
              <a:t>A</a:t>
            </a:r>
            <a:r>
              <a:rPr lang="en-US" altLang="zh-CN"/>
              <a:t>∧</a:t>
            </a:r>
            <a:r>
              <a:rPr lang="en-US" altLang="zh-CN" i="1"/>
              <a:t>x</a:t>
            </a:r>
            <a:r>
              <a:rPr lang="zh-CN" altLang="en-US"/>
              <a:t>整除</a:t>
            </a:r>
            <a:r>
              <a:rPr lang="en-US" altLang="zh-CN" i="1"/>
              <a:t>y</a:t>
            </a:r>
            <a:r>
              <a:rPr lang="en-US" altLang="zh-CN"/>
              <a:t>}, </a:t>
            </a:r>
            <a:r>
              <a:rPr lang="en-US" altLang="zh-CN" i="1"/>
              <a:t>A</a:t>
            </a:r>
            <a:r>
              <a:rPr lang="zh-CN" altLang="en-US"/>
              <a:t>为非</a:t>
            </a:r>
            <a:r>
              <a:rPr lang="en-US" altLang="zh-CN"/>
              <a:t>0</a:t>
            </a:r>
            <a:r>
              <a:rPr lang="zh-CN" altLang="en-US"/>
              <a:t>整数子集    </a:t>
            </a:r>
            <a:endParaRPr lang="zh-CN" altLang="en-US" i="1"/>
          </a:p>
          <a:p>
            <a:pPr eaLnBrk="1" hangingPunct="1"/>
            <a:r>
              <a:rPr lang="zh-CN" altLang="en-US" i="1"/>
              <a:t>      </a:t>
            </a:r>
            <a:endParaRPr lang="en-US" altLang="zh-CN" i="1"/>
          </a:p>
          <a:p>
            <a:pPr eaLnBrk="1" hangingPunct="1"/>
            <a:endParaRPr lang="en-US" altLang="zh-CN" i="1">
              <a:solidFill>
                <a:srgbClr val="A50021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403350" y="3109913"/>
            <a:ext cx="5654675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rgbClr val="0066FF"/>
                </a:solidFill>
              </a:rPr>
              <a:t>例如</a:t>
            </a:r>
            <a:r>
              <a:rPr lang="en-US" altLang="zh-CN">
                <a:solidFill>
                  <a:srgbClr val="0066FF"/>
                </a:solidFill>
              </a:rPr>
              <a:t>, 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={1, 2}, </a:t>
            </a:r>
            <a:r>
              <a:rPr lang="zh-CN" altLang="en-US">
                <a:solidFill>
                  <a:srgbClr val="0066FF"/>
                </a:solidFill>
              </a:rPr>
              <a:t>则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rgbClr val="0066FF"/>
                </a:solidFill>
              </a:rPr>
              <a:t>      </a:t>
            </a:r>
            <a:r>
              <a:rPr lang="en-US" altLang="zh-CN" i="1">
                <a:solidFill>
                  <a:srgbClr val="0066FF"/>
                </a:solidFill>
              </a:rPr>
              <a:t>E</a:t>
            </a:r>
            <a:r>
              <a:rPr lang="en-US" altLang="zh-CN" i="1" baseline="-25000">
                <a:solidFill>
                  <a:srgbClr val="0066FF"/>
                </a:solidFill>
              </a:rPr>
              <a:t>A</a:t>
            </a:r>
            <a:r>
              <a:rPr lang="en-US" altLang="zh-CN" i="1">
                <a:solidFill>
                  <a:srgbClr val="0066FF"/>
                </a:solidFill>
              </a:rPr>
              <a:t> </a:t>
            </a:r>
            <a:r>
              <a:rPr lang="en-US" altLang="zh-CN">
                <a:solidFill>
                  <a:srgbClr val="0066FF"/>
                </a:solidFill>
              </a:rPr>
              <a:t>= {&lt;1,1&gt;,&lt;1,2&gt;,&lt;2,1&gt;,&lt;2,2&gt;}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solidFill>
                  <a:srgbClr val="0066FF"/>
                </a:solidFill>
              </a:rPr>
              <a:t>      </a:t>
            </a:r>
            <a:r>
              <a:rPr lang="en-US" altLang="zh-CN" i="1">
                <a:solidFill>
                  <a:srgbClr val="0066FF"/>
                </a:solidFill>
              </a:rPr>
              <a:t>I</a:t>
            </a:r>
            <a:r>
              <a:rPr lang="en-US" altLang="zh-CN" i="1" baseline="-25000">
                <a:solidFill>
                  <a:srgbClr val="0066FF"/>
                </a:solidFill>
              </a:rPr>
              <a:t>A</a:t>
            </a:r>
            <a:r>
              <a:rPr lang="en-US" altLang="zh-CN" i="1">
                <a:solidFill>
                  <a:srgbClr val="0066FF"/>
                </a:solidFill>
              </a:rPr>
              <a:t> </a:t>
            </a:r>
            <a:r>
              <a:rPr lang="en-US" altLang="zh-CN">
                <a:solidFill>
                  <a:srgbClr val="0066FF"/>
                </a:solidFill>
              </a:rPr>
              <a:t>= {&lt;1,1&gt;,&lt;2,2&gt;} 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403350" y="5338763"/>
            <a:ext cx="6697663" cy="1366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66FF"/>
                </a:solidFill>
              </a:rPr>
              <a:t>例如  </a:t>
            </a:r>
            <a:r>
              <a:rPr lang="en-US" altLang="zh-CN" i="1">
                <a:solidFill>
                  <a:srgbClr val="0066FF"/>
                </a:solidFill>
              </a:rPr>
              <a:t>A </a:t>
            </a:r>
            <a:r>
              <a:rPr lang="en-US" altLang="zh-CN">
                <a:solidFill>
                  <a:srgbClr val="0066FF"/>
                </a:solidFill>
              </a:rPr>
              <a:t>= {1, 2, 3}, </a:t>
            </a:r>
            <a:r>
              <a:rPr lang="zh-CN" altLang="en-US">
                <a:solidFill>
                  <a:srgbClr val="0066FF"/>
                </a:solidFill>
              </a:rPr>
              <a:t>则</a:t>
            </a:r>
            <a:br>
              <a:rPr lang="zh-CN" altLang="en-US">
                <a:solidFill>
                  <a:srgbClr val="0066FF"/>
                </a:solidFill>
              </a:rPr>
            </a:br>
            <a:r>
              <a:rPr lang="zh-CN" altLang="en-US">
                <a:solidFill>
                  <a:srgbClr val="0066FF"/>
                </a:solidFill>
              </a:rPr>
              <a:t>          </a:t>
            </a:r>
            <a:r>
              <a:rPr lang="en-US" altLang="zh-CN" i="1">
                <a:solidFill>
                  <a:srgbClr val="0066FF"/>
                </a:solidFill>
              </a:rPr>
              <a:t>L</a:t>
            </a:r>
            <a:r>
              <a:rPr lang="en-US" altLang="zh-CN" i="1" baseline="-25000">
                <a:solidFill>
                  <a:srgbClr val="0066FF"/>
                </a:solidFill>
              </a:rPr>
              <a:t>A </a:t>
            </a:r>
            <a:r>
              <a:rPr lang="en-US" altLang="zh-CN">
                <a:solidFill>
                  <a:srgbClr val="0066FF"/>
                </a:solidFill>
              </a:rPr>
              <a:t>= {&lt;1,1&gt;,&lt;1,2&gt;,&lt;1,3&gt;,&lt;2,2&gt;,&lt;2,3&gt;,&lt;3,3&gt;}</a:t>
            </a:r>
            <a:br>
              <a:rPr lang="en-US" altLang="zh-CN">
                <a:solidFill>
                  <a:srgbClr val="0066FF"/>
                </a:solidFill>
              </a:rPr>
            </a:br>
            <a:r>
              <a:rPr lang="en-US" altLang="zh-CN">
                <a:solidFill>
                  <a:srgbClr val="0066FF"/>
                </a:solidFill>
              </a:rPr>
              <a:t>          </a:t>
            </a:r>
            <a:r>
              <a:rPr lang="en-US" altLang="zh-CN" i="1">
                <a:solidFill>
                  <a:srgbClr val="0066FF"/>
                </a:solidFill>
              </a:rPr>
              <a:t>D</a:t>
            </a:r>
            <a:r>
              <a:rPr lang="en-US" altLang="zh-CN" i="1" baseline="-25000">
                <a:solidFill>
                  <a:srgbClr val="0066FF"/>
                </a:solidFill>
              </a:rPr>
              <a:t>A </a:t>
            </a:r>
            <a:r>
              <a:rPr lang="en-US" altLang="zh-CN">
                <a:solidFill>
                  <a:srgbClr val="0066FF"/>
                </a:solidFill>
              </a:rPr>
              <a:t>= {&lt;1,1&gt;,&lt;1,2&gt;,&lt;1,3&gt;,&lt;2,2&gt;,&lt;3,3&gt;}</a:t>
            </a:r>
            <a:br>
              <a:rPr lang="en-US" altLang="zh-CN">
                <a:solidFill>
                  <a:srgbClr val="0066FF"/>
                </a:solidFill>
              </a:rPr>
            </a:br>
            <a:endParaRPr lang="en-US" altLang="zh-CN">
              <a:solidFill>
                <a:srgbClr val="0066FF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580C902-40EC-4DDB-A5C1-0B9666742635}" type="slidenum">
              <a:rPr lang="en-US" altLang="zh-CN" sz="1400" b="0" smtClean="0">
                <a:latin typeface="Arial" panose="020B0604020202020204" pitchFamily="34" charset="0"/>
              </a:rPr>
              <a:t>13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i="1"/>
              <a:t>A</a:t>
            </a:r>
            <a:r>
              <a:rPr lang="zh-CN" altLang="en-US"/>
              <a:t>上重要关系的实例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70000"/>
            <a:ext cx="8229600" cy="646113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包含关系</a:t>
            </a:r>
            <a:r>
              <a:rPr lang="zh-CN" altLang="en-US" i="1"/>
              <a:t> </a:t>
            </a:r>
            <a:r>
              <a:rPr lang="en-US" altLang="zh-CN" i="1"/>
              <a:t>R</a:t>
            </a:r>
            <a:r>
              <a:rPr lang="en-US" altLang="zh-CN" baseline="-25000">
                <a:sym typeface="Symbol" panose="05050102010706020507" pitchFamily="18" charset="2"/>
              </a:rPr>
              <a:t></a:t>
            </a:r>
            <a:r>
              <a:rPr lang="en-US" altLang="zh-CN"/>
              <a:t> = {&lt;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&gt;| 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∈</a:t>
            </a:r>
            <a:r>
              <a:rPr lang="en-US" altLang="zh-CN" i="1"/>
              <a:t>A</a:t>
            </a:r>
            <a:r>
              <a:rPr lang="en-US" altLang="zh-CN"/>
              <a:t>∧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</a:t>
            </a:r>
            <a:r>
              <a:rPr lang="en-US" altLang="zh-CN" i="1"/>
              <a:t>y</a:t>
            </a:r>
            <a:r>
              <a:rPr lang="en-US" altLang="zh-CN"/>
              <a:t>}, </a:t>
            </a:r>
            <a:r>
              <a:rPr lang="en-US" altLang="zh-CN" i="1"/>
              <a:t>A</a:t>
            </a:r>
            <a:r>
              <a:rPr lang="zh-CN" altLang="en-US"/>
              <a:t>是集合族</a:t>
            </a:r>
            <a:r>
              <a:rPr lang="en-US" altLang="zh-CN"/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66725" y="2205038"/>
            <a:ext cx="8713788" cy="316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rgbClr val="0066FF"/>
                </a:solidFill>
              </a:rPr>
              <a:t>例如</a:t>
            </a:r>
            <a:r>
              <a:rPr lang="en-US" altLang="zh-CN">
                <a:solidFill>
                  <a:srgbClr val="0066FF"/>
                </a:solidFill>
              </a:rPr>
              <a:t>:</a:t>
            </a:r>
            <a:r>
              <a:rPr lang="zh-CN" altLang="en-US">
                <a:solidFill>
                  <a:srgbClr val="0066FF"/>
                </a:solidFill>
              </a:rPr>
              <a:t> </a:t>
            </a:r>
            <a:endParaRPr lang="en-US" altLang="zh-CN">
              <a:solidFill>
                <a:srgbClr val="0066FF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={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, 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}, </a:t>
            </a:r>
            <a:r>
              <a:rPr lang="en-US" altLang="zh-CN" i="1">
                <a:solidFill>
                  <a:srgbClr val="0066FF"/>
                </a:solidFill>
              </a:rPr>
              <a:t>A </a:t>
            </a:r>
            <a:r>
              <a:rPr lang="en-US" altLang="zh-CN">
                <a:solidFill>
                  <a:srgbClr val="0066FF"/>
                </a:solidFill>
              </a:rPr>
              <a:t>= </a:t>
            </a:r>
            <a:r>
              <a:rPr lang="en-US" altLang="zh-CN" i="1">
                <a:solidFill>
                  <a:srgbClr val="0066FF"/>
                </a:solidFill>
              </a:rPr>
              <a:t>P</a:t>
            </a:r>
            <a:r>
              <a:rPr lang="en-US" altLang="zh-CN">
                <a:solidFill>
                  <a:srgbClr val="0066FF"/>
                </a:solidFill>
              </a:rPr>
              <a:t>(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) = {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</a:t>
            </a:r>
            <a:r>
              <a:rPr lang="en-US" altLang="zh-CN">
                <a:solidFill>
                  <a:srgbClr val="0066FF"/>
                </a:solidFill>
              </a:rPr>
              <a:t>,{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},{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},{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}},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rgbClr val="0066FF"/>
                </a:solidFill>
              </a:rPr>
              <a:t>则 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zh-CN" altLang="en-US">
                <a:solidFill>
                  <a:srgbClr val="0066FF"/>
                </a:solidFill>
              </a:rPr>
              <a:t>上的包含关系是</a:t>
            </a:r>
            <a:br>
              <a:rPr lang="zh-CN" altLang="en-US">
                <a:solidFill>
                  <a:srgbClr val="0066FF"/>
                </a:solidFill>
              </a:rPr>
            </a:br>
            <a:r>
              <a:rPr lang="zh-CN" altLang="en-US">
                <a:solidFill>
                  <a:srgbClr val="0066FF"/>
                </a:solidFill>
              </a:rPr>
              <a:t>          </a:t>
            </a:r>
            <a:r>
              <a:rPr lang="en-US" altLang="zh-CN" i="1">
                <a:solidFill>
                  <a:srgbClr val="0066FF"/>
                </a:solidFill>
              </a:rPr>
              <a:t>R</a:t>
            </a:r>
            <a:r>
              <a:rPr lang="en-US" altLang="zh-CN" baseline="-25000">
                <a:solidFill>
                  <a:srgbClr val="0066FF"/>
                </a:solidFill>
                <a:sym typeface="Symbol" panose="05050102010706020507" pitchFamily="18" charset="2"/>
              </a:rPr>
              <a:t></a:t>
            </a:r>
            <a:r>
              <a:rPr lang="en-US" altLang="zh-CN">
                <a:solidFill>
                  <a:srgbClr val="0066FF"/>
                </a:solidFill>
              </a:rPr>
              <a:t> = {&lt;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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</a:t>
            </a:r>
            <a:r>
              <a:rPr lang="en-US" altLang="zh-CN">
                <a:solidFill>
                  <a:srgbClr val="0066FF"/>
                </a:solidFill>
              </a:rPr>
              <a:t>&gt;,&lt;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</a:t>
            </a:r>
            <a:r>
              <a:rPr lang="en-US" altLang="zh-CN">
                <a:solidFill>
                  <a:srgbClr val="0066FF"/>
                </a:solidFill>
              </a:rPr>
              <a:t>,{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}&gt;,&lt;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</a:t>
            </a:r>
            <a:r>
              <a:rPr lang="en-US" altLang="zh-CN">
                <a:solidFill>
                  <a:srgbClr val="0066FF"/>
                </a:solidFill>
              </a:rPr>
              <a:t>,{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}&gt;,&lt;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</a:t>
            </a:r>
            <a:r>
              <a:rPr lang="en-US" altLang="zh-CN">
                <a:solidFill>
                  <a:srgbClr val="0066FF"/>
                </a:solidFill>
              </a:rPr>
              <a:t>,{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}&gt;,&lt;{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},{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}&gt;, 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solidFill>
                  <a:srgbClr val="0066FF"/>
                </a:solidFill>
              </a:rPr>
              <a:t>                &lt;{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},{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}&gt;,&lt;{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},{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}&gt;,&lt;{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},{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}&gt;,&lt;{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},{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}&gt;}</a:t>
            </a:r>
            <a:br>
              <a:rPr lang="en-US" altLang="zh-CN"/>
            </a:br>
            <a:endParaRPr lang="en-US" altLang="zh-CN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类似的还可以定义：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       大于等于关系</a:t>
            </a:r>
            <a:r>
              <a:rPr lang="en-US" altLang="zh-CN"/>
              <a:t>, </a:t>
            </a:r>
            <a:r>
              <a:rPr lang="zh-CN" altLang="en-US"/>
              <a:t>小于关系</a:t>
            </a:r>
            <a:r>
              <a:rPr lang="en-US" altLang="zh-CN"/>
              <a:t>, </a:t>
            </a:r>
            <a:r>
              <a:rPr lang="zh-CN" altLang="en-US"/>
              <a:t>大于关系</a:t>
            </a:r>
            <a:r>
              <a:rPr lang="en-US" altLang="zh-CN"/>
              <a:t>, </a:t>
            </a:r>
            <a:r>
              <a:rPr lang="zh-CN" altLang="en-US"/>
              <a:t>真包含关系等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0BA7DE5-E1E8-4309-A4AE-08327ADB1786}" type="slidenum">
              <a:rPr lang="en-US" altLang="zh-CN" sz="1400" b="0" smtClean="0">
                <a:latin typeface="Arial" panose="020B0604020202020204" pitchFamily="34" charset="0"/>
              </a:rPr>
              <a:t>14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关系的表示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557020"/>
            <a:ext cx="8362950" cy="3526790"/>
          </a:xfrm>
        </p:spPr>
        <p:txBody>
          <a:bodyPr/>
          <a:lstStyle/>
          <a:p>
            <a:pPr marL="441325" indent="-441325" eaLnBrk="1" hangingPunct="1">
              <a:spcBef>
                <a:spcPct val="60000"/>
              </a:spcBef>
            </a:pPr>
            <a:r>
              <a:rPr lang="en-US" altLang="zh-CN" dirty="0"/>
              <a:t>1.  </a:t>
            </a:r>
            <a:r>
              <a:rPr lang="zh-CN" altLang="en-US" dirty="0">
                <a:solidFill>
                  <a:srgbClr val="A50021"/>
                </a:solidFill>
              </a:rPr>
              <a:t>关系矩阵</a:t>
            </a:r>
          </a:p>
          <a:p>
            <a:pPr marL="441325" indent="-441325" eaLnBrk="1" hangingPunct="1"/>
            <a:r>
              <a:rPr lang="zh-CN" altLang="en-US" dirty="0"/>
              <a:t>     若</a:t>
            </a:r>
            <a:r>
              <a:rPr lang="en-US" altLang="zh-CN" i="1" dirty="0"/>
              <a:t>A</a:t>
            </a:r>
            <a:r>
              <a:rPr lang="en-US" altLang="zh-CN" dirty="0"/>
              <a:t>={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m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上的关系，</a:t>
            </a:r>
            <a:r>
              <a:rPr lang="en-US" altLang="zh-CN" i="1" dirty="0"/>
              <a:t>R</a:t>
            </a:r>
            <a:r>
              <a:rPr lang="zh-CN" altLang="en-US" dirty="0"/>
              <a:t>的关系矩阵是布尔矩阵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R</a:t>
            </a:r>
            <a:r>
              <a:rPr lang="en-US" altLang="zh-CN" dirty="0"/>
              <a:t> = [ </a:t>
            </a:r>
            <a:r>
              <a:rPr lang="en-US" altLang="zh-CN" i="1" dirty="0" err="1"/>
              <a:t>r</a:t>
            </a:r>
            <a:r>
              <a:rPr lang="en-US" altLang="zh-CN" i="1" baseline="-25000" dirty="0" err="1"/>
              <a:t>ij</a:t>
            </a:r>
            <a:r>
              <a:rPr lang="en-US" altLang="zh-CN" baseline="-25000" dirty="0"/>
              <a:t> </a:t>
            </a:r>
            <a:r>
              <a:rPr lang="en-US" altLang="zh-CN" dirty="0"/>
              <a:t>] </a:t>
            </a:r>
            <a:r>
              <a:rPr lang="en-US" altLang="zh-CN" i="1" baseline="-25000" dirty="0" err="1"/>
              <a:t>m</a:t>
            </a:r>
            <a:r>
              <a:rPr lang="en-US" altLang="zh-CN" baseline="-25000" dirty="0" err="1">
                <a:sym typeface="Symbol" panose="05050102010706020507" pitchFamily="18" charset="2"/>
              </a:rPr>
              <a:t></a:t>
            </a:r>
            <a:r>
              <a:rPr lang="en-US" altLang="zh-CN" i="1" baseline="-25000" dirty="0" err="1"/>
              <a:t>n</a:t>
            </a:r>
            <a:r>
              <a:rPr lang="en-US" altLang="zh-CN" dirty="0"/>
              <a:t>, </a:t>
            </a:r>
            <a:r>
              <a:rPr lang="zh-CN" altLang="en-US" dirty="0"/>
              <a:t>其中</a:t>
            </a:r>
          </a:p>
          <a:p>
            <a:pPr marL="441325" indent="-441325" eaLnBrk="1" hangingPunct="1"/>
            <a:r>
              <a:rPr lang="zh-CN" altLang="en-US" dirty="0"/>
              <a:t>                          </a:t>
            </a:r>
            <a:r>
              <a:rPr lang="en-US" altLang="zh-CN" i="1" dirty="0" err="1"/>
              <a:t>r</a:t>
            </a:r>
            <a:r>
              <a:rPr lang="en-US" altLang="zh-CN" i="1" baseline="-25000" dirty="0" err="1"/>
              <a:t>ij</a:t>
            </a:r>
            <a:r>
              <a:rPr lang="en-US" altLang="zh-CN" baseline="-25000" dirty="0"/>
              <a:t> </a:t>
            </a:r>
            <a:r>
              <a:rPr lang="en-US" altLang="zh-CN" dirty="0"/>
              <a:t>=</a:t>
            </a:r>
            <a:r>
              <a:rPr lang="en-US" altLang="zh-CN" sz="2500" b="0" dirty="0"/>
              <a:t> 1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&lt;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i</a:t>
            </a:r>
            <a:r>
              <a:rPr lang="en-US" altLang="zh-CN" dirty="0"/>
              <a:t>, </a:t>
            </a:r>
            <a:r>
              <a:rPr lang="en-US" altLang="zh-CN" i="1" dirty="0" err="1"/>
              <a:t>y</a:t>
            </a:r>
            <a:r>
              <a:rPr lang="en-US" altLang="zh-CN" i="1" baseline="-25000" dirty="0" err="1"/>
              <a:t>j</a:t>
            </a:r>
            <a:r>
              <a:rPr lang="en-US" altLang="zh-CN" dirty="0"/>
              <a:t>&gt;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. </a:t>
            </a:r>
          </a:p>
          <a:p>
            <a:pPr marL="441325" indent="-441325" eaLnBrk="1" hangingPunct="1"/>
            <a:r>
              <a:rPr lang="en-US" altLang="zh-CN" dirty="0"/>
              <a:t>2.  </a:t>
            </a:r>
            <a:r>
              <a:rPr lang="zh-CN" altLang="en-US" dirty="0">
                <a:solidFill>
                  <a:srgbClr val="A50021"/>
                </a:solidFill>
              </a:rPr>
              <a:t>关系图</a:t>
            </a:r>
          </a:p>
          <a:p>
            <a:pPr marL="441325" indent="-441325" eaLnBrk="1" hangingPunct="1"/>
            <a:r>
              <a:rPr lang="zh-CN" altLang="en-US" dirty="0"/>
              <a:t>      若</a:t>
            </a:r>
            <a:r>
              <a:rPr lang="en-US" altLang="zh-CN" i="1" dirty="0"/>
              <a:t>A</a:t>
            </a:r>
            <a:r>
              <a:rPr lang="en-US" altLang="zh-CN" dirty="0"/>
              <a:t>= {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m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上的关系，</a:t>
            </a:r>
            <a:r>
              <a:rPr lang="en-US" altLang="zh-CN" i="1" dirty="0"/>
              <a:t>R</a:t>
            </a:r>
            <a:r>
              <a:rPr lang="zh-CN" altLang="en-US" dirty="0"/>
              <a:t>的关系图是</a:t>
            </a:r>
            <a:r>
              <a:rPr lang="en-US" altLang="zh-CN" i="1" dirty="0"/>
              <a:t>G</a:t>
            </a:r>
            <a:r>
              <a:rPr lang="en-US" altLang="zh-CN" i="1" baseline="-25000" dirty="0"/>
              <a:t>R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dirty="0"/>
              <a:t>&gt;, </a:t>
            </a:r>
            <a:r>
              <a:rPr lang="zh-CN" altLang="en-US" dirty="0"/>
              <a:t>其中</a:t>
            </a:r>
            <a:r>
              <a:rPr lang="en-US" altLang="zh-CN" i="1" dirty="0"/>
              <a:t>A</a:t>
            </a:r>
            <a:r>
              <a:rPr lang="zh-CN" altLang="en-US" dirty="0"/>
              <a:t>为结点集，</a:t>
            </a:r>
            <a:r>
              <a:rPr lang="en-US" altLang="zh-CN" i="1" dirty="0"/>
              <a:t>R</a:t>
            </a:r>
            <a:r>
              <a:rPr lang="zh-CN" altLang="en-US" dirty="0"/>
              <a:t>为边集</a:t>
            </a:r>
            <a:r>
              <a:rPr lang="en-US" altLang="zh-CN" dirty="0"/>
              <a:t>.  </a:t>
            </a:r>
            <a:r>
              <a:rPr lang="zh-CN" altLang="en-US" dirty="0"/>
              <a:t>如果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i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j</a:t>
            </a:r>
            <a:r>
              <a:rPr lang="en-US" altLang="zh-CN" dirty="0"/>
              <a:t>&gt;</a:t>
            </a:r>
            <a:r>
              <a:rPr lang="zh-CN" altLang="en-US" dirty="0"/>
              <a:t>属于</a:t>
            </a:r>
          </a:p>
          <a:p>
            <a:pPr marL="441325" indent="-441325" eaLnBrk="1" hangingPunct="1"/>
            <a:r>
              <a:rPr lang="zh-CN" altLang="en-US" dirty="0"/>
              <a:t>     关系</a:t>
            </a:r>
            <a:r>
              <a:rPr lang="en-US" altLang="zh-CN" i="1" dirty="0"/>
              <a:t>R</a:t>
            </a:r>
            <a:r>
              <a:rPr lang="zh-CN" altLang="en-US" dirty="0"/>
              <a:t>，在图中就有一条从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i </a:t>
            </a:r>
            <a:r>
              <a:rPr lang="zh-CN" altLang="en-US" dirty="0"/>
              <a:t>到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j</a:t>
            </a:r>
            <a:r>
              <a:rPr lang="en-US" altLang="zh-CN" i="1" baseline="-25000" dirty="0"/>
              <a:t> </a:t>
            </a:r>
            <a:r>
              <a:rPr lang="zh-CN" altLang="en-US" dirty="0"/>
              <a:t>的有向边</a:t>
            </a:r>
            <a:r>
              <a:rPr lang="en-US" altLang="zh-CN" dirty="0"/>
              <a:t>. </a:t>
            </a:r>
          </a:p>
          <a:p>
            <a:pPr marL="441325" indent="-441325" eaLnBrk="1" hangingPunct="1">
              <a:spcBef>
                <a:spcPct val="60000"/>
              </a:spcBef>
              <a:buClr>
                <a:srgbClr val="FF9900"/>
              </a:buClr>
            </a:pP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B0D96ED-59F5-48E0-B4F2-64B382207CDA}" type="slidenum">
              <a:rPr lang="en-US" altLang="zh-CN" sz="1400" b="0" smtClean="0">
                <a:latin typeface="Arial" panose="020B0604020202020204" pitchFamily="34" charset="0"/>
              </a:rPr>
              <a:t>15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1439862"/>
          </a:xfrm>
        </p:spPr>
        <p:txBody>
          <a:bodyPr/>
          <a:lstStyle/>
          <a:p>
            <a:pPr marL="457200" indent="-457200" eaLnBrk="1" hangingPunct="1"/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4</a:t>
            </a:r>
            <a:endParaRPr lang="en-US" altLang="zh-CN" i="1" dirty="0">
              <a:solidFill>
                <a:srgbClr val="A50021"/>
              </a:solidFill>
            </a:endParaRPr>
          </a:p>
          <a:p>
            <a:pPr marL="457200" indent="-457200" eaLnBrk="1" hangingPunct="1"/>
            <a:r>
              <a:rPr lang="en-US" altLang="zh-CN" i="1" dirty="0"/>
              <a:t>          A</a:t>
            </a:r>
            <a:r>
              <a:rPr lang="en-US" altLang="zh-CN" dirty="0"/>
              <a:t>={1,2,3,4}, </a:t>
            </a:r>
            <a:r>
              <a:rPr lang="en-US" altLang="zh-CN" i="1" dirty="0"/>
              <a:t>R</a:t>
            </a:r>
            <a:r>
              <a:rPr lang="en-US" altLang="zh-CN" dirty="0"/>
              <a:t>={&lt;1,1&gt;,&lt;1,2&gt;,&lt;2,3&gt;,&lt;2,4&gt;,&lt;4,2&gt;},</a:t>
            </a:r>
            <a:endParaRPr lang="en-US" altLang="zh-CN" i="1" dirty="0"/>
          </a:p>
          <a:p>
            <a:pPr marL="457200" indent="-457200" eaLnBrk="1" hangingPunct="1"/>
            <a:r>
              <a:rPr lang="en-US" altLang="zh-CN" i="1" dirty="0"/>
              <a:t>          R</a:t>
            </a:r>
            <a:r>
              <a:rPr lang="zh-CN" altLang="en-US" dirty="0"/>
              <a:t>的关系矩阵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R</a:t>
            </a:r>
            <a:endParaRPr lang="en-US" altLang="zh-CN" dirty="0"/>
          </a:p>
          <a:p>
            <a:pPr marL="457200" indent="-457200" eaLnBrk="1" hangingPunct="1"/>
            <a:r>
              <a:rPr lang="zh-CN" altLang="en-US" dirty="0"/>
              <a:t>                                                               关系图</a:t>
            </a:r>
            <a:r>
              <a:rPr lang="en-US" altLang="zh-CN" i="1" dirty="0"/>
              <a:t>G</a:t>
            </a:r>
            <a:r>
              <a:rPr lang="en-US" altLang="zh-CN" i="1" baseline="-25000" dirty="0"/>
              <a:t>R</a:t>
            </a:r>
            <a:r>
              <a:rPr lang="zh-CN" altLang="en-US" dirty="0"/>
              <a:t>如下：</a:t>
            </a:r>
          </a:p>
        </p:txBody>
      </p:sp>
      <p:pic>
        <p:nvPicPr>
          <p:cNvPr id="30725" name="Picture 4" descr="图片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3141663"/>
            <a:ext cx="2663825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0" y="3000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>
              <a:latin typeface="Arial" panose="020B0604020202020204" pitchFamily="34" charset="0"/>
            </a:endParaRPr>
          </a:p>
        </p:txBody>
      </p:sp>
      <p:graphicFrame>
        <p:nvGraphicFramePr>
          <p:cNvPr id="32775" name="Object 5"/>
          <p:cNvGraphicFramePr>
            <a:graphicFrameLocks noChangeAspect="1"/>
          </p:cNvGraphicFramePr>
          <p:nvPr/>
        </p:nvGraphicFramePr>
        <p:xfrm>
          <a:off x="1100138" y="3268663"/>
          <a:ext cx="3417887" cy="241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08100" imgH="927100" progId="Equation.3">
                  <p:embed/>
                </p:oleObj>
              </mc:Choice>
              <mc:Fallback>
                <p:oleObj name="公式" r:id="rId4" imgW="1308100" imgH="927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8" y="3268663"/>
                        <a:ext cx="3417887" cy="241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9FFD04E-8652-4CCC-8CC2-2CE19A6E7DF1}" type="slidenum">
              <a:rPr lang="en-US" altLang="zh-CN" sz="1400" b="0" smtClean="0">
                <a:latin typeface="Arial" panose="020B0604020202020204" pitchFamily="34" charset="0"/>
              </a:rPr>
              <a:t>16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4924425"/>
          </a:xfrm>
        </p:spPr>
        <p:txBody>
          <a:bodyPr/>
          <a:lstStyle/>
          <a:p>
            <a:pPr marL="361950" indent="-361950" eaLnBrk="1" hangingPunct="1">
              <a:buClr>
                <a:srgbClr val="FF9900"/>
              </a:buClr>
            </a:pPr>
            <a:r>
              <a:rPr lang="zh-CN" altLang="en-US"/>
              <a:t>主要内容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7.1</a:t>
            </a:r>
            <a:r>
              <a:rPr lang="zh-CN" altLang="en-US"/>
              <a:t>有序对与笛卡儿积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7.2</a:t>
            </a:r>
            <a:r>
              <a:rPr lang="zh-CN" altLang="en-US"/>
              <a:t>二元关系的定义与表示法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FF0000"/>
                </a:solidFill>
              </a:rPr>
              <a:t>7.3</a:t>
            </a:r>
            <a:r>
              <a:rPr lang="zh-CN" altLang="en-US">
                <a:solidFill>
                  <a:srgbClr val="FF0000"/>
                </a:solidFill>
              </a:rPr>
              <a:t>关系的运算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7.4</a:t>
            </a:r>
            <a:r>
              <a:rPr lang="zh-CN" altLang="en-US"/>
              <a:t>关系的性质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7.5</a:t>
            </a:r>
            <a:r>
              <a:rPr lang="zh-CN" altLang="en-US"/>
              <a:t>关系的闭包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7.6</a:t>
            </a:r>
            <a:r>
              <a:rPr lang="zh-CN" altLang="en-US"/>
              <a:t>等价关系与划分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7.7</a:t>
            </a:r>
            <a:r>
              <a:rPr lang="zh-CN" altLang="en-US"/>
              <a:t>偏序关系</a:t>
            </a:r>
          </a:p>
          <a:p>
            <a:pPr marL="361950" indent="-361950" eaLnBrk="1" hangingPunct="1"/>
            <a:endParaRPr lang="en-US" altLang="zh-CN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latin typeface="华文中宋" panose="02010600040101010101" pitchFamily="2" charset="-122"/>
              </a:rPr>
              <a:t>第七章 二元关系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EB10F76-DD8C-4A27-9D1A-4AB175FF9896}" type="slidenum">
              <a:rPr lang="en-US" altLang="zh-CN" sz="1400" b="0" smtClean="0">
                <a:latin typeface="Arial" panose="020B0604020202020204" pitchFamily="34" charset="0"/>
              </a:rPr>
              <a:t>17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7.3</a:t>
            </a:r>
            <a:r>
              <a:rPr lang="en-US" altLang="zh-CN">
                <a:latin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</a:rPr>
              <a:t>关系的运算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147050" cy="2305050"/>
          </a:xfrm>
        </p:spPr>
        <p:txBody>
          <a:bodyPr/>
          <a:lstStyle/>
          <a:p>
            <a:pPr marL="457200" indent="-457200" eaLnBrk="1" hangingPunct="1"/>
            <a:r>
              <a:rPr lang="zh-CN" altLang="en-US" dirty="0"/>
              <a:t>关系的基本运算</a:t>
            </a:r>
          </a:p>
          <a:p>
            <a:pPr marL="457200" indent="-457200"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7.6  </a:t>
            </a:r>
            <a:r>
              <a:rPr lang="zh-CN" altLang="en-US" dirty="0"/>
              <a:t>关系的</a:t>
            </a:r>
            <a:r>
              <a:rPr lang="zh-CN" altLang="en-US" dirty="0">
                <a:solidFill>
                  <a:srgbClr val="A50021"/>
                </a:solidFill>
              </a:rPr>
              <a:t>定义域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A50021"/>
                </a:solidFill>
              </a:rPr>
              <a:t>值域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A50021"/>
                </a:solidFill>
              </a:rPr>
              <a:t>域</a:t>
            </a:r>
            <a:r>
              <a:rPr lang="zh-CN" altLang="en-US" dirty="0"/>
              <a:t>分别定义为</a:t>
            </a:r>
            <a:endParaRPr lang="zh-CN" altLang="en-US" dirty="0">
              <a:solidFill>
                <a:srgbClr val="A50021"/>
              </a:solidFill>
            </a:endParaRPr>
          </a:p>
          <a:p>
            <a:pPr marL="457200" indent="-457200" eaLnBrk="1" hangingPunct="1"/>
            <a:r>
              <a:rPr lang="zh-CN" altLang="en-US" dirty="0"/>
              <a:t>              </a:t>
            </a:r>
            <a:r>
              <a:rPr lang="en-US" altLang="zh-CN" dirty="0" err="1"/>
              <a:t>dom</a:t>
            </a:r>
            <a:r>
              <a:rPr lang="en-US" altLang="zh-CN" i="1" dirty="0" err="1"/>
              <a:t>R</a:t>
            </a:r>
            <a:r>
              <a:rPr lang="en-US" altLang="zh-CN" dirty="0"/>
              <a:t> = { </a:t>
            </a:r>
            <a:r>
              <a:rPr lang="en-US" altLang="zh-CN" i="1" dirty="0"/>
              <a:t>x</a:t>
            </a:r>
            <a:r>
              <a:rPr lang="en-US" altLang="zh-CN" dirty="0"/>
              <a:t> |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y</a:t>
            </a:r>
            <a:r>
              <a:rPr lang="en-US" altLang="zh-CN" dirty="0"/>
              <a:t> (&lt;</a:t>
            </a:r>
            <a:r>
              <a:rPr lang="en-US" altLang="zh-CN" i="1" dirty="0"/>
              <a:t>x</a:t>
            </a:r>
            <a:r>
              <a:rPr lang="en-US" altLang="zh-CN" dirty="0"/>
              <a:t>,</a:t>
            </a:r>
            <a:r>
              <a:rPr lang="en-US" altLang="zh-CN" i="1" dirty="0"/>
              <a:t>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) }</a:t>
            </a:r>
          </a:p>
          <a:p>
            <a:pPr marL="457200" indent="-457200" eaLnBrk="1" hangingPunct="1"/>
            <a:r>
              <a:rPr lang="en-US" altLang="zh-CN" dirty="0"/>
              <a:t>              </a:t>
            </a:r>
            <a:r>
              <a:rPr lang="en-US" altLang="zh-CN" dirty="0" err="1"/>
              <a:t>ran</a:t>
            </a:r>
            <a:r>
              <a:rPr lang="en-US" altLang="zh-CN" i="1" dirty="0" err="1"/>
              <a:t>R</a:t>
            </a:r>
            <a:r>
              <a:rPr lang="en-US" altLang="zh-CN" dirty="0"/>
              <a:t> = { </a:t>
            </a:r>
            <a:r>
              <a:rPr lang="en-US" altLang="zh-CN" i="1" dirty="0"/>
              <a:t>y</a:t>
            </a:r>
            <a:r>
              <a:rPr lang="en-US" altLang="zh-CN" dirty="0"/>
              <a:t> |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x</a:t>
            </a:r>
            <a:r>
              <a:rPr lang="en-US" altLang="zh-CN" dirty="0"/>
              <a:t> (&lt;</a:t>
            </a:r>
            <a:r>
              <a:rPr lang="en-US" altLang="zh-CN" i="1" dirty="0"/>
              <a:t>x</a:t>
            </a:r>
            <a:r>
              <a:rPr lang="en-US" altLang="zh-CN" dirty="0"/>
              <a:t>,</a:t>
            </a:r>
            <a:r>
              <a:rPr lang="en-US" altLang="zh-CN" i="1" dirty="0"/>
              <a:t>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) }</a:t>
            </a:r>
          </a:p>
          <a:p>
            <a:pPr marL="457200" indent="-457200" eaLnBrk="1" hangingPunct="1"/>
            <a:r>
              <a:rPr lang="en-US" altLang="zh-CN" dirty="0"/>
              <a:t>              </a:t>
            </a:r>
            <a:r>
              <a:rPr lang="en-US" altLang="zh-CN" dirty="0" err="1"/>
              <a:t>fld</a:t>
            </a:r>
            <a:r>
              <a:rPr lang="en-US" altLang="zh-CN" i="1" dirty="0" err="1"/>
              <a:t>R</a:t>
            </a:r>
            <a:r>
              <a:rPr lang="en-US" altLang="zh-CN" dirty="0"/>
              <a:t> = </a:t>
            </a:r>
            <a:r>
              <a:rPr lang="en-US" altLang="zh-CN" dirty="0" err="1"/>
              <a:t>dom</a:t>
            </a:r>
            <a:r>
              <a:rPr lang="en-US" altLang="zh-CN" i="1" dirty="0" err="1"/>
              <a:t>R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 </a:t>
            </a:r>
            <a:r>
              <a:rPr lang="en-US" altLang="zh-CN" dirty="0" err="1"/>
              <a:t>ran</a:t>
            </a:r>
            <a:r>
              <a:rPr lang="en-US" altLang="zh-CN" i="1" dirty="0" err="1"/>
              <a:t>R</a:t>
            </a:r>
            <a:r>
              <a:rPr lang="en-US" altLang="zh-CN" i="1" dirty="0"/>
              <a:t> </a:t>
            </a:r>
            <a:endParaRPr lang="en-US" altLang="zh-CN" dirty="0"/>
          </a:p>
        </p:txBody>
      </p:sp>
      <p:sp>
        <p:nvSpPr>
          <p:cNvPr id="34821" name="Rectangle 4"/>
          <p:cNvSpPr>
            <a:spLocks noChangeArrowheads="1"/>
          </p:cNvSpPr>
          <p:nvPr/>
        </p:nvSpPr>
        <p:spPr bwMode="auto">
          <a:xfrm>
            <a:off x="468313" y="3932238"/>
            <a:ext cx="8459787" cy="194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763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333500" indent="-4191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7907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47900" indent="-4191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7051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623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6195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767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75000"/>
              </a:spcBef>
            </a:pPr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5</a:t>
            </a:r>
            <a:r>
              <a:rPr lang="en-US" altLang="zh-CN"/>
              <a:t>   </a:t>
            </a:r>
            <a:r>
              <a:rPr lang="en-US" altLang="zh-CN" i="1"/>
              <a:t>R</a:t>
            </a:r>
            <a:r>
              <a:rPr lang="en-US" altLang="zh-CN"/>
              <a:t>={&lt;1,2&gt;,&lt;1,3&gt;,&lt;2,4&gt;,&lt;4,3&gt;}, </a:t>
            </a:r>
            <a:r>
              <a:rPr lang="zh-CN" altLang="en-US"/>
              <a:t>则   </a:t>
            </a:r>
          </a:p>
          <a:p>
            <a:pPr eaLnBrk="1" hangingPunct="1"/>
            <a:r>
              <a:rPr lang="zh-CN" altLang="en-US"/>
              <a:t>              </a:t>
            </a:r>
            <a:r>
              <a:rPr lang="en-US" altLang="zh-CN"/>
              <a:t>dom</a:t>
            </a:r>
            <a:r>
              <a:rPr lang="en-US" altLang="zh-CN" i="1"/>
              <a:t>R</a:t>
            </a:r>
            <a:r>
              <a:rPr lang="en-US" altLang="zh-CN"/>
              <a:t>={1, 2, 4}   </a:t>
            </a:r>
          </a:p>
          <a:p>
            <a:pPr eaLnBrk="1" hangingPunct="1"/>
            <a:r>
              <a:rPr lang="en-US" altLang="zh-CN"/>
              <a:t>              ran</a:t>
            </a:r>
            <a:r>
              <a:rPr lang="en-US" altLang="zh-CN" i="1"/>
              <a:t>R</a:t>
            </a:r>
            <a:r>
              <a:rPr lang="en-US" altLang="zh-CN"/>
              <a:t>={2, 3, 4} </a:t>
            </a:r>
          </a:p>
          <a:p>
            <a:pPr eaLnBrk="1" hangingPunct="1"/>
            <a:r>
              <a:rPr lang="en-US" altLang="zh-CN"/>
              <a:t>              fld</a:t>
            </a:r>
            <a:r>
              <a:rPr lang="en-US" altLang="zh-CN" i="1"/>
              <a:t>R</a:t>
            </a:r>
            <a:r>
              <a:rPr lang="en-US" altLang="zh-CN"/>
              <a:t>={1, 2, 3, 4}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FE79D040-866A-4178-B429-CC2B55D551B7}" type="slidenum">
              <a:rPr lang="zh-CN" altLang="en-US" sz="1400" b="0" smtClean="0"/>
              <a:t>18</a:t>
            </a:fld>
            <a:endParaRPr lang="en-US" altLang="zh-CN" sz="1400" b="0"/>
          </a:p>
        </p:txBody>
      </p:sp>
      <p:sp>
        <p:nvSpPr>
          <p:cNvPr id="67174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+mn-ea"/>
              </a:rPr>
              <a:t>逆运算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latin typeface="+mn-ea"/>
                <a:ea typeface="+mn-ea"/>
              </a:rPr>
              <a:t>例如</a:t>
            </a:r>
            <a:r>
              <a:rPr lang="en-US" altLang="zh-CN" sz="2400" b="1" dirty="0">
                <a:latin typeface="+mn-ea"/>
                <a:ea typeface="+mn-ea"/>
              </a:rPr>
              <a:t>: </a:t>
            </a:r>
            <a:r>
              <a:rPr lang="zh-CN" altLang="en-US" sz="2400" b="1" dirty="0">
                <a:latin typeface="+mn-ea"/>
                <a:ea typeface="+mn-ea"/>
              </a:rPr>
              <a:t>整数集合</a:t>
            </a:r>
            <a:r>
              <a:rPr lang="en-US" altLang="zh-CN" sz="2400" b="1" dirty="0">
                <a:latin typeface="+mn-ea"/>
                <a:ea typeface="+mn-ea"/>
              </a:rPr>
              <a:t>Z</a:t>
            </a:r>
            <a:r>
              <a:rPr lang="zh-CN" altLang="en-US" sz="2400" b="1" dirty="0">
                <a:latin typeface="+mn-ea"/>
                <a:ea typeface="+mn-ea"/>
              </a:rPr>
              <a:t>上的大于关系            </a:t>
            </a:r>
          </a:p>
          <a:p>
            <a:pPr lvl="1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+mn-ea"/>
                <a:ea typeface="+mn-ea"/>
              </a:rPr>
              <a:t>逆关系为 </a:t>
            </a:r>
            <a:r>
              <a:rPr lang="en-US" altLang="zh-CN" sz="2400" b="1" dirty="0">
                <a:latin typeface="+mn-ea"/>
                <a:ea typeface="+mn-ea"/>
              </a:rPr>
              <a:t>Z</a:t>
            </a:r>
            <a:r>
              <a:rPr lang="zh-CN" altLang="en-US" sz="2400" b="1" dirty="0">
                <a:latin typeface="+mn-ea"/>
                <a:ea typeface="+mn-ea"/>
              </a:rPr>
              <a:t>上的小于关系</a:t>
            </a:r>
            <a:endParaRPr lang="en-US" altLang="zh-CN" sz="2400" b="1" dirty="0">
              <a:latin typeface="+mn-ea"/>
              <a:ea typeface="+mn-ea"/>
            </a:endParaRPr>
          </a:p>
          <a:p>
            <a:pPr eaLnBrk="1" hangingPunct="1">
              <a:defRPr/>
            </a:pPr>
            <a:endParaRPr lang="en-US" altLang="zh-CN" dirty="0">
              <a:latin typeface="+mn-ea"/>
            </a:endParaRPr>
          </a:p>
          <a:p>
            <a:pPr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+mn-ea"/>
              </a:rPr>
              <a:t>复合运算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latin typeface="+mn-ea"/>
                <a:ea typeface="+mn-ea"/>
              </a:rPr>
              <a:t>例如</a:t>
            </a:r>
            <a:r>
              <a:rPr lang="en-US" altLang="zh-CN" sz="2400" b="1" dirty="0">
                <a:latin typeface="+mn-ea"/>
                <a:ea typeface="+mn-ea"/>
              </a:rPr>
              <a:t>:    F:</a:t>
            </a:r>
            <a:r>
              <a:rPr lang="zh-CN" altLang="en-US" sz="2400" b="1" dirty="0">
                <a:latin typeface="+mn-ea"/>
                <a:ea typeface="+mn-ea"/>
              </a:rPr>
              <a:t>父子关系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latin typeface="+mn-ea"/>
                <a:ea typeface="+mn-ea"/>
              </a:rPr>
              <a:t> </a:t>
            </a:r>
            <a:r>
              <a:rPr lang="en-US" altLang="zh-CN" sz="2400" b="1" dirty="0">
                <a:latin typeface="+mn-ea"/>
                <a:ea typeface="+mn-ea"/>
              </a:rPr>
              <a:t>F = {&lt;</a:t>
            </a:r>
            <a:r>
              <a:rPr lang="zh-CN" altLang="en-US" sz="2400" b="1" dirty="0">
                <a:latin typeface="+mn-ea"/>
                <a:ea typeface="+mn-ea"/>
              </a:rPr>
              <a:t>老李</a:t>
            </a:r>
            <a:r>
              <a:rPr lang="en-US" altLang="zh-CN" sz="2400" b="1" dirty="0">
                <a:latin typeface="+mn-ea"/>
                <a:ea typeface="+mn-ea"/>
              </a:rPr>
              <a:t>,</a:t>
            </a:r>
            <a:r>
              <a:rPr lang="zh-CN" altLang="en-US" sz="2400" b="1" dirty="0">
                <a:latin typeface="+mn-ea"/>
                <a:ea typeface="+mn-ea"/>
              </a:rPr>
              <a:t>大李</a:t>
            </a:r>
            <a:r>
              <a:rPr lang="en-US" altLang="zh-CN" sz="2400" b="1" dirty="0">
                <a:latin typeface="+mn-ea"/>
                <a:ea typeface="+mn-ea"/>
              </a:rPr>
              <a:t>&gt;, &lt;</a:t>
            </a:r>
            <a:r>
              <a:rPr lang="zh-CN" altLang="en-US" sz="2400" b="1" dirty="0">
                <a:latin typeface="+mn-ea"/>
                <a:ea typeface="+mn-ea"/>
              </a:rPr>
              <a:t>大李</a:t>
            </a:r>
            <a:r>
              <a:rPr lang="en-US" altLang="zh-CN" sz="2400" b="1" dirty="0">
                <a:latin typeface="+mn-ea"/>
                <a:ea typeface="+mn-ea"/>
              </a:rPr>
              <a:t>,</a:t>
            </a:r>
            <a:r>
              <a:rPr lang="zh-CN" altLang="en-US" sz="2400" b="1" dirty="0">
                <a:latin typeface="+mn-ea"/>
                <a:ea typeface="+mn-ea"/>
              </a:rPr>
              <a:t>小李</a:t>
            </a:r>
            <a:r>
              <a:rPr lang="en-US" altLang="zh-CN" sz="2400" b="1" dirty="0">
                <a:latin typeface="+mn-ea"/>
                <a:ea typeface="+mn-ea"/>
              </a:rPr>
              <a:t>&gt;}</a:t>
            </a:r>
          </a:p>
          <a:p>
            <a:pPr lvl="1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zh-CN" sz="2400" b="1" dirty="0">
                <a:latin typeface="+mn-ea"/>
                <a:ea typeface="+mn-ea"/>
              </a:rPr>
              <a:t> F </a:t>
            </a:r>
            <a:r>
              <a:rPr lang="en-US" altLang="zh-CN" sz="2400" b="1" baseline="-2000" dirty="0">
                <a:latin typeface="+mn-ea"/>
                <a:ea typeface="+mn-ea"/>
              </a:rPr>
              <a:t>º</a:t>
            </a:r>
            <a:r>
              <a:rPr lang="en-US" altLang="zh-CN" sz="2400" b="1" dirty="0">
                <a:latin typeface="+mn-ea"/>
                <a:ea typeface="+mn-ea"/>
              </a:rPr>
              <a:t> F : </a:t>
            </a:r>
            <a:r>
              <a:rPr lang="zh-CN" altLang="en-US" sz="2400" b="1" dirty="0">
                <a:latin typeface="+mn-ea"/>
                <a:ea typeface="+mn-ea"/>
              </a:rPr>
              <a:t>祖孙关系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+mn-ea"/>
                <a:ea typeface="+mn-ea"/>
              </a:rPr>
              <a:t>B : </a:t>
            </a:r>
            <a:r>
              <a:rPr lang="zh-CN" altLang="en-US" sz="2400" b="1" dirty="0">
                <a:latin typeface="+mn-ea"/>
                <a:ea typeface="+mn-ea"/>
              </a:rPr>
              <a:t>兄弟关系    </a:t>
            </a:r>
            <a:r>
              <a:rPr lang="en-US" altLang="zh-CN" sz="2400" b="1" dirty="0">
                <a:latin typeface="+mn-ea"/>
                <a:ea typeface="+mn-ea"/>
              </a:rPr>
              <a:t>B = {&lt;</a:t>
            </a:r>
            <a:r>
              <a:rPr lang="zh-CN" altLang="en-US" sz="2400" b="1" dirty="0">
                <a:latin typeface="+mn-ea"/>
                <a:ea typeface="+mn-ea"/>
              </a:rPr>
              <a:t>老李</a:t>
            </a:r>
            <a:r>
              <a:rPr lang="en-US" altLang="zh-CN" sz="2400" b="1" dirty="0">
                <a:latin typeface="+mn-ea"/>
                <a:ea typeface="+mn-ea"/>
              </a:rPr>
              <a:t>1,</a:t>
            </a:r>
            <a:r>
              <a:rPr lang="zh-CN" altLang="en-US" sz="2400" b="1" dirty="0">
                <a:latin typeface="+mn-ea"/>
                <a:ea typeface="+mn-ea"/>
              </a:rPr>
              <a:t>老李</a:t>
            </a:r>
            <a:r>
              <a:rPr lang="en-US" altLang="zh-CN" sz="2400" b="1" dirty="0">
                <a:latin typeface="+mn-ea"/>
                <a:ea typeface="+mn-ea"/>
              </a:rPr>
              <a:t>&gt;}</a:t>
            </a:r>
            <a:endParaRPr lang="zh-CN" altLang="en-US" sz="2400" b="1" dirty="0">
              <a:latin typeface="+mn-ea"/>
              <a:ea typeface="+mn-ea"/>
            </a:endParaRPr>
          </a:p>
          <a:p>
            <a:pPr lvl="1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latin typeface="+mn-ea"/>
                <a:ea typeface="+mn-ea"/>
              </a:rPr>
              <a:t> </a:t>
            </a:r>
            <a:r>
              <a:rPr lang="en-US" altLang="zh-CN" sz="2400" b="1" dirty="0">
                <a:latin typeface="+mn-ea"/>
                <a:ea typeface="+mn-ea"/>
              </a:rPr>
              <a:t>B </a:t>
            </a:r>
            <a:r>
              <a:rPr lang="en-US" altLang="zh-CN" sz="2400" b="1" baseline="-2000" dirty="0">
                <a:latin typeface="+mn-ea"/>
                <a:ea typeface="+mn-ea"/>
              </a:rPr>
              <a:t>º </a:t>
            </a:r>
            <a:r>
              <a:rPr lang="en-US" altLang="zh-CN" sz="2400" b="1" dirty="0">
                <a:latin typeface="+mn-ea"/>
                <a:ea typeface="+mn-ea"/>
              </a:rPr>
              <a:t>F  :  </a:t>
            </a:r>
            <a:r>
              <a:rPr lang="zh-CN" altLang="en-US" sz="2400" b="1" dirty="0">
                <a:latin typeface="+mn-ea"/>
                <a:ea typeface="+mn-ea"/>
              </a:rPr>
              <a:t>叔侄关系</a:t>
            </a: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关系运算</a:t>
            </a:r>
            <a:r>
              <a:rPr lang="en-US" altLang="zh-CN" dirty="0"/>
              <a:t>(</a:t>
            </a:r>
            <a:r>
              <a:rPr lang="zh-CN" altLang="en-US" dirty="0"/>
              <a:t>逆与复合</a:t>
            </a:r>
            <a:r>
              <a:rPr lang="en-US" altLang="zh-CN" dirty="0"/>
              <a:t>)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48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4D23C0A-A66D-4EEC-96D9-08662347FE31}" type="slidenum">
              <a:rPr lang="en-US" altLang="zh-CN" sz="1400" b="0" smtClean="0">
                <a:latin typeface="Arial" panose="020B0604020202020204" pitchFamily="34" charset="0"/>
              </a:rPr>
              <a:t>19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关系运算</a:t>
            </a:r>
            <a:r>
              <a:rPr lang="en-US" altLang="zh-CN" dirty="0"/>
              <a:t>(</a:t>
            </a:r>
            <a:r>
              <a:rPr lang="zh-CN" altLang="en-US" dirty="0"/>
              <a:t>逆与复合</a:t>
            </a:r>
            <a:r>
              <a:rPr lang="en-US" altLang="zh-CN" dirty="0"/>
              <a:t>)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147050" cy="19431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7.7</a:t>
            </a:r>
            <a:r>
              <a:rPr lang="en-US" altLang="zh-CN" dirty="0"/>
              <a:t>  </a:t>
            </a:r>
            <a:r>
              <a:rPr lang="zh-CN" altLang="en-US" dirty="0"/>
              <a:t>关系的</a:t>
            </a:r>
            <a:r>
              <a:rPr lang="zh-CN" altLang="en-US" dirty="0">
                <a:solidFill>
                  <a:srgbClr val="A50021"/>
                </a:solidFill>
              </a:rPr>
              <a:t>逆运</a:t>
            </a:r>
            <a:r>
              <a:rPr lang="zh-CN" altLang="en-US" dirty="0"/>
              <a:t>算</a:t>
            </a:r>
          </a:p>
          <a:p>
            <a:pPr eaLnBrk="1" hangingPunct="1"/>
            <a:r>
              <a:rPr lang="zh-CN" altLang="en-US" i="1" dirty="0"/>
              <a:t>                 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 = { &lt;</a:t>
            </a:r>
            <a:r>
              <a:rPr lang="en-US" altLang="zh-CN" i="1" dirty="0"/>
              <a:t>y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dirty="0"/>
              <a:t>&gt; | &lt;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 </a:t>
            </a:r>
            <a:r>
              <a:rPr lang="en-US" altLang="zh-CN" dirty="0"/>
              <a:t>}</a:t>
            </a: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7.8</a:t>
            </a:r>
            <a:r>
              <a:rPr lang="en-US" altLang="zh-CN" dirty="0"/>
              <a:t>  </a:t>
            </a:r>
            <a:r>
              <a:rPr lang="zh-CN" altLang="en-US" dirty="0"/>
              <a:t>关系的</a:t>
            </a:r>
            <a:r>
              <a:rPr lang="zh-CN" altLang="en-US" dirty="0">
                <a:solidFill>
                  <a:srgbClr val="A50021"/>
                </a:solidFill>
              </a:rPr>
              <a:t>复合</a:t>
            </a:r>
            <a:r>
              <a:rPr lang="zh-CN" altLang="en-US" dirty="0"/>
              <a:t>运算</a:t>
            </a:r>
          </a:p>
          <a:p>
            <a:pPr eaLnBrk="1" hangingPunct="1"/>
            <a:r>
              <a:rPr lang="zh-CN" altLang="en-US" i="1" dirty="0"/>
              <a:t>                 </a:t>
            </a:r>
            <a:r>
              <a:rPr lang="en-US" altLang="zh-CN" i="1" dirty="0"/>
              <a:t>R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S</a:t>
            </a:r>
            <a:r>
              <a:rPr lang="en-US" altLang="zh-CN" dirty="0"/>
              <a:t> = { &lt;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z</a:t>
            </a:r>
            <a:r>
              <a:rPr lang="en-US" altLang="zh-CN" dirty="0"/>
              <a:t>&gt; |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y</a:t>
            </a:r>
            <a:r>
              <a:rPr lang="en-US" altLang="zh-CN" dirty="0"/>
              <a:t> (&lt;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 </a:t>
            </a:r>
            <a:r>
              <a:rPr lang="en-US" altLang="zh-CN" dirty="0"/>
              <a:t>&lt;</a:t>
            </a:r>
            <a:r>
              <a:rPr lang="en-US" altLang="zh-CN" i="1" dirty="0"/>
              <a:t>y</a:t>
            </a:r>
            <a:r>
              <a:rPr lang="en-US" altLang="zh-CN" dirty="0"/>
              <a:t>, </a:t>
            </a:r>
            <a:r>
              <a:rPr lang="en-US" altLang="zh-CN" i="1" dirty="0"/>
              <a:t>z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S</a:t>
            </a:r>
            <a:r>
              <a:rPr lang="en-US" altLang="zh-CN" dirty="0"/>
              <a:t>) } 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468313" y="3716338"/>
            <a:ext cx="8229600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6</a:t>
            </a:r>
            <a:r>
              <a:rPr lang="en-US" altLang="zh-CN" dirty="0"/>
              <a:t>   </a:t>
            </a:r>
            <a:r>
              <a:rPr lang="en-US" altLang="zh-CN" i="1" dirty="0"/>
              <a:t>R </a:t>
            </a:r>
            <a:r>
              <a:rPr lang="en-US" altLang="zh-CN" dirty="0"/>
              <a:t>= {&lt;1,2&gt;, &lt;2,3&gt;, &lt;1,4&gt;, &lt;2,2&gt;}</a:t>
            </a:r>
          </a:p>
          <a:p>
            <a:pPr eaLnBrk="1" hangingPunct="1"/>
            <a:r>
              <a:rPr lang="en-US" altLang="zh-CN" dirty="0"/>
              <a:t>         </a:t>
            </a:r>
            <a:r>
              <a:rPr lang="en-US" altLang="zh-CN" i="1" dirty="0"/>
              <a:t>S </a:t>
            </a:r>
            <a:r>
              <a:rPr lang="en-US" altLang="zh-CN" dirty="0"/>
              <a:t>= {&lt;1,1&gt;, &lt;1,3&gt;, &lt;2,3&gt;, &lt;3,2&gt;, &lt;3,3&gt;} </a:t>
            </a:r>
          </a:p>
          <a:p>
            <a:pPr eaLnBrk="1" hangingPunct="1"/>
            <a:r>
              <a:rPr lang="en-US" altLang="zh-CN" dirty="0"/>
              <a:t>         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 </a:t>
            </a:r>
            <a:r>
              <a:rPr lang="en-US" altLang="zh-CN" dirty="0"/>
              <a:t>= {&lt;2,1&gt;, &lt;3,2&gt;, &lt;4,1&gt;, &lt;2,2&gt;} </a:t>
            </a:r>
          </a:p>
          <a:p>
            <a:pPr eaLnBrk="1" hangingPunct="1"/>
            <a:r>
              <a:rPr lang="en-US" altLang="zh-CN" dirty="0"/>
              <a:t>         </a:t>
            </a:r>
            <a:r>
              <a:rPr lang="en-US" altLang="zh-CN" i="1" dirty="0"/>
              <a:t>R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S</a:t>
            </a:r>
            <a:r>
              <a:rPr lang="en-US" altLang="zh-CN" dirty="0"/>
              <a:t> = {&lt;1,3&gt;, &lt;2,2&gt;, &lt;2,3&gt;}</a:t>
            </a:r>
          </a:p>
          <a:p>
            <a:pPr eaLnBrk="1" hangingPunct="1"/>
            <a:r>
              <a:rPr lang="en-US" altLang="zh-CN" dirty="0"/>
              <a:t>         </a:t>
            </a:r>
            <a:r>
              <a:rPr lang="en-US" altLang="zh-CN" i="1" dirty="0"/>
              <a:t>S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R</a:t>
            </a:r>
            <a:r>
              <a:rPr lang="en-US" altLang="zh-CN" dirty="0"/>
              <a:t> = {&lt;1,2&gt;, &lt;1,4&gt;, &lt;3,2&gt;, &lt;3,3&gt;}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419872" y="6149330"/>
            <a:ext cx="1728192" cy="461665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i="1" dirty="0">
                <a:solidFill>
                  <a:srgbClr val="000000"/>
                </a:solidFill>
                <a:latin typeface="+mn-lt"/>
              </a:rPr>
              <a:t>R</a:t>
            </a:r>
            <a:r>
              <a:rPr lang="en-US" altLang="zh-CN" b="1" baseline="-16000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</a:t>
            </a:r>
            <a:r>
              <a:rPr lang="en-US" altLang="zh-CN" b="1" i="1" dirty="0">
                <a:solidFill>
                  <a:srgbClr val="000000"/>
                </a:solidFill>
                <a:latin typeface="+mn-lt"/>
              </a:rPr>
              <a:t>S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b="1" i="1" dirty="0">
                <a:latin typeface="Times New Roman" panose="02020603050405020304" pitchFamily="18" charset="0"/>
              </a:rPr>
              <a:t>  </a:t>
            </a:r>
            <a:r>
              <a:rPr lang="en-US" altLang="zh-CN" b="1" i="1" dirty="0">
                <a:solidFill>
                  <a:srgbClr val="000000"/>
                </a:solidFill>
                <a:latin typeface="+mn-lt"/>
              </a:rPr>
              <a:t>S</a:t>
            </a:r>
            <a:r>
              <a:rPr lang="en-US" altLang="zh-CN" sz="3600" b="1" baseline="-16000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</a:t>
            </a:r>
            <a:r>
              <a:rPr lang="en-US" altLang="zh-CN" b="1" i="1" dirty="0">
                <a:solidFill>
                  <a:srgbClr val="000000"/>
                </a:solidFill>
                <a:latin typeface="+mn-lt"/>
              </a:rPr>
              <a:t>R</a:t>
            </a:r>
            <a:endParaRPr lang="zh-CN" altLang="en-US" b="1" i="1" dirty="0">
              <a:latin typeface="+mn-lt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/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388267-EA72-4DD8-BD82-F255DFD2BA9B}" type="slidenum">
              <a:rPr lang="en-US" altLang="zh-CN" sz="1400" b="0" smtClean="0">
                <a:latin typeface="Arial" panose="020B0604020202020204" pitchFamily="34" charset="0"/>
              </a:rPr>
              <a:t>20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复合运算的图示法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997450"/>
          </a:xfrm>
        </p:spPr>
        <p:txBody>
          <a:bodyPr/>
          <a:lstStyle/>
          <a:p>
            <a:pPr eaLnBrk="1" hangingPunct="1"/>
            <a:r>
              <a:rPr lang="zh-CN" altLang="en-US" dirty="0"/>
              <a:t>利用图示（不是关系图）方法求复合</a:t>
            </a:r>
          </a:p>
          <a:p>
            <a:pPr eaLnBrk="1" hangingPunct="1"/>
            <a:r>
              <a:rPr lang="zh-CN" altLang="en-US" dirty="0"/>
              <a:t>                  </a:t>
            </a:r>
            <a:r>
              <a:rPr lang="en-US" altLang="zh-CN" i="1" dirty="0"/>
              <a:t>R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S</a:t>
            </a:r>
            <a:r>
              <a:rPr lang="en-US" altLang="zh-CN" dirty="0"/>
              <a:t> ={&lt;1,3&gt;, &lt;2,2&gt;, &lt;2,3&gt;}</a:t>
            </a:r>
          </a:p>
          <a:p>
            <a:pPr eaLnBrk="1" hangingPunct="1"/>
            <a:r>
              <a:rPr lang="en-US" altLang="zh-CN" dirty="0"/>
              <a:t>                  </a:t>
            </a:r>
            <a:r>
              <a:rPr lang="en-US" altLang="zh-CN" i="1" dirty="0"/>
              <a:t>S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R</a:t>
            </a:r>
            <a:r>
              <a:rPr lang="en-US" altLang="zh-CN" dirty="0"/>
              <a:t> ={&lt;1,2&gt;, &lt;1,4&gt;, &lt;3,2&gt;, &lt;3,3&gt;}</a:t>
            </a:r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pic>
        <p:nvPicPr>
          <p:cNvPr id="43013" name="Picture 4" descr="图片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867"/>
          <a:stretch>
            <a:fillRect/>
          </a:stretch>
        </p:blipFill>
        <p:spPr bwMode="auto">
          <a:xfrm>
            <a:off x="1258888" y="3141663"/>
            <a:ext cx="3313112" cy="268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图片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67"/>
          <a:stretch>
            <a:fillRect/>
          </a:stretch>
        </p:blipFill>
        <p:spPr bwMode="auto">
          <a:xfrm>
            <a:off x="5032375" y="3192463"/>
            <a:ext cx="3313113" cy="268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55650" y="5922963"/>
            <a:ext cx="5502275" cy="7080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000" b="1" i="1" dirty="0">
                <a:latin typeface="+mn-lt"/>
              </a:rPr>
              <a:t>R </a:t>
            </a:r>
            <a:r>
              <a:rPr lang="en-US" altLang="zh-CN" sz="2000" b="1" dirty="0">
                <a:latin typeface="+mn-lt"/>
              </a:rPr>
              <a:t>= {&lt;1,2&gt;, &lt;2,3&gt;, &lt;1,4&gt;, &lt;2,2&gt;}</a:t>
            </a:r>
          </a:p>
          <a:p>
            <a:pPr eaLnBrk="1" hangingPunct="1">
              <a:defRPr/>
            </a:pPr>
            <a:r>
              <a:rPr lang="en-US" altLang="zh-CN" sz="2000" b="1" i="1" dirty="0">
                <a:latin typeface="+mn-lt"/>
              </a:rPr>
              <a:t>S </a:t>
            </a:r>
            <a:r>
              <a:rPr lang="en-US" altLang="zh-CN" sz="2000" b="1" dirty="0">
                <a:latin typeface="+mn-lt"/>
              </a:rPr>
              <a:t>= {&lt;1,1&gt;, &lt;1,3&gt;, &lt;2,3&gt;, &lt;3,2&gt;, &lt;3,3&gt;}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960005D-85FD-4314-8E99-23D3E6AB52E0}" type="slidenum">
              <a:rPr lang="en-US" altLang="zh-CN" sz="1400" b="0" smtClean="0">
                <a:latin typeface="Arial" panose="020B0604020202020204" pitchFamily="34" charset="0"/>
              </a:rPr>
              <a:t>21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关系运算</a:t>
            </a:r>
            <a:r>
              <a:rPr lang="en-US" altLang="zh-CN"/>
              <a:t>(</a:t>
            </a:r>
            <a:r>
              <a:rPr lang="zh-CN" altLang="en-US"/>
              <a:t>限制与像</a:t>
            </a:r>
            <a:r>
              <a:rPr lang="en-US" altLang="zh-CN"/>
              <a:t>)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7.9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为二元关系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zh-CN" altLang="en-US" dirty="0"/>
              <a:t>是集合 </a:t>
            </a:r>
          </a:p>
          <a:p>
            <a:pPr eaLnBrk="1" hangingPunct="1"/>
            <a:r>
              <a:rPr lang="en-US" altLang="zh-CN" dirty="0"/>
              <a:t>(1) </a:t>
            </a:r>
            <a:r>
              <a:rPr lang="en-US" altLang="zh-CN" i="1" dirty="0"/>
              <a:t>R</a:t>
            </a:r>
            <a:r>
              <a:rPr lang="zh-CN" altLang="en-US" dirty="0"/>
              <a:t>在</a:t>
            </a:r>
            <a:r>
              <a:rPr lang="en-US" altLang="zh-CN" i="1" dirty="0"/>
              <a:t>A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A50021"/>
                </a:solidFill>
              </a:rPr>
              <a:t>限制</a:t>
            </a:r>
            <a:r>
              <a:rPr lang="zh-CN" altLang="en-US" dirty="0"/>
              <a:t>记作</a:t>
            </a:r>
            <a:r>
              <a:rPr lang="zh-CN" altLang="en-US" i="1" dirty="0"/>
              <a:t> </a:t>
            </a:r>
            <a:r>
              <a:rPr lang="en-US" altLang="zh-CN" i="1" dirty="0"/>
              <a:t>R</a:t>
            </a:r>
            <a:r>
              <a:rPr lang="en-US" altLang="zh-CN" sz="2800" dirty="0"/>
              <a:t>↾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zh-CN" altLang="en-US" dirty="0"/>
              <a:t>其中   </a:t>
            </a:r>
            <a:br>
              <a:rPr lang="zh-CN" altLang="en-US" dirty="0"/>
            </a:br>
            <a:r>
              <a:rPr lang="zh-CN" altLang="en-US" dirty="0"/>
              <a:t>               </a:t>
            </a:r>
            <a:r>
              <a:rPr lang="en-US" altLang="zh-CN" i="1" dirty="0"/>
              <a:t>R</a:t>
            </a:r>
            <a:r>
              <a:rPr lang="en-US" altLang="zh-CN" sz="2800" dirty="0"/>
              <a:t>↾</a:t>
            </a:r>
            <a:r>
              <a:rPr lang="en-US" altLang="zh-CN" i="1" dirty="0"/>
              <a:t>A </a:t>
            </a:r>
            <a:r>
              <a:rPr lang="en-US" altLang="zh-CN" dirty="0"/>
              <a:t>= { &lt;</a:t>
            </a:r>
            <a:r>
              <a:rPr lang="en-US" altLang="zh-CN" i="1" dirty="0"/>
              <a:t>x</a:t>
            </a:r>
            <a:r>
              <a:rPr lang="en-US" altLang="zh-CN" dirty="0"/>
              <a:t>,</a:t>
            </a:r>
            <a:r>
              <a:rPr lang="en-US" altLang="zh-CN" i="1" dirty="0"/>
              <a:t>y</a:t>
            </a:r>
            <a:r>
              <a:rPr lang="en-US" altLang="zh-CN" dirty="0"/>
              <a:t>&gt; | </a:t>
            </a:r>
            <a:r>
              <a:rPr lang="en-US" altLang="zh-CN" i="1" dirty="0"/>
              <a:t>xRy</a:t>
            </a:r>
            <a:r>
              <a:rPr lang="en-US" altLang="zh-CN" dirty="0"/>
              <a:t>∧</a:t>
            </a:r>
            <a:r>
              <a:rPr lang="en-US" altLang="zh-CN" i="1" dirty="0"/>
              <a:t>x</a:t>
            </a:r>
            <a:r>
              <a:rPr lang="en-US" altLang="zh-CN" dirty="0"/>
              <a:t>∈</a:t>
            </a:r>
            <a:r>
              <a:rPr lang="en-US" altLang="zh-CN" i="1" dirty="0"/>
              <a:t>A </a:t>
            </a:r>
            <a:r>
              <a:rPr lang="en-US" altLang="zh-CN" dirty="0"/>
              <a:t>}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/>
              <a:t>(2)  </a:t>
            </a:r>
            <a:r>
              <a:rPr lang="en-US" altLang="zh-CN" i="1" dirty="0"/>
              <a:t>A</a:t>
            </a:r>
            <a:r>
              <a:rPr lang="zh-CN" altLang="en-US" dirty="0"/>
              <a:t>在</a:t>
            </a:r>
            <a:r>
              <a:rPr lang="en-US" altLang="zh-CN" i="1" dirty="0"/>
              <a:t>R</a:t>
            </a:r>
            <a:r>
              <a:rPr lang="zh-CN" altLang="en-US" dirty="0"/>
              <a:t>下的</a:t>
            </a:r>
            <a:r>
              <a:rPr lang="zh-CN" altLang="en-US" dirty="0">
                <a:solidFill>
                  <a:srgbClr val="A50021"/>
                </a:solidFill>
              </a:rPr>
              <a:t>像</a:t>
            </a:r>
            <a:r>
              <a:rPr lang="zh-CN" altLang="en-US" dirty="0"/>
              <a:t>记作</a:t>
            </a:r>
            <a:r>
              <a:rPr lang="en-US" altLang="zh-CN" i="1" dirty="0"/>
              <a:t>R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], </a:t>
            </a:r>
            <a:r>
              <a:rPr lang="zh-CN" altLang="en-US" dirty="0"/>
              <a:t>其中</a:t>
            </a:r>
            <a:br>
              <a:rPr lang="zh-CN" altLang="en-US" dirty="0"/>
            </a:br>
            <a:r>
              <a:rPr lang="zh-CN" altLang="en-US" dirty="0"/>
              <a:t>               </a:t>
            </a:r>
            <a:r>
              <a:rPr lang="en-US" altLang="zh-CN" i="1" dirty="0"/>
              <a:t>R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]=ran(</a:t>
            </a:r>
            <a:r>
              <a:rPr lang="en-US" altLang="zh-CN" i="1" dirty="0"/>
              <a:t>R</a:t>
            </a:r>
            <a:r>
              <a:rPr lang="en-US" altLang="zh-CN" sz="2800" dirty="0"/>
              <a:t>↾</a:t>
            </a:r>
            <a:r>
              <a:rPr lang="en-US" altLang="zh-CN" i="1" dirty="0"/>
              <a:t>A</a:t>
            </a:r>
            <a:r>
              <a:rPr lang="en-US" altLang="zh-CN" dirty="0"/>
              <a:t>) 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说明：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z="2600" i="1" dirty="0"/>
              <a:t>R</a:t>
            </a:r>
            <a:r>
              <a:rPr lang="zh-CN" altLang="en-US" sz="2600" dirty="0"/>
              <a:t>在</a:t>
            </a:r>
            <a:r>
              <a:rPr lang="en-US" altLang="zh-CN" sz="2600" i="1" dirty="0"/>
              <a:t>A</a:t>
            </a:r>
            <a:r>
              <a:rPr lang="zh-CN" altLang="en-US" sz="2600" dirty="0"/>
              <a:t>上的限制 </a:t>
            </a:r>
            <a:r>
              <a:rPr lang="en-US" altLang="zh-CN" sz="2600" i="1" dirty="0"/>
              <a:t>R</a:t>
            </a:r>
            <a:r>
              <a:rPr lang="en-US" altLang="zh-CN" sz="2600" dirty="0">
                <a:sym typeface="+mn-ea"/>
              </a:rPr>
              <a:t>↾</a:t>
            </a:r>
            <a:r>
              <a:rPr lang="en-US" altLang="zh-CN" sz="2600" i="1" dirty="0"/>
              <a:t>A</a:t>
            </a:r>
            <a:r>
              <a:rPr lang="zh-CN" altLang="en-US" sz="2600" dirty="0"/>
              <a:t>是 </a:t>
            </a:r>
            <a:r>
              <a:rPr lang="en-US" altLang="zh-CN" sz="2600" i="1" dirty="0"/>
              <a:t>R </a:t>
            </a:r>
            <a:r>
              <a:rPr lang="zh-CN" altLang="en-US" sz="2600" dirty="0"/>
              <a:t>的子关系，即 </a:t>
            </a:r>
            <a:r>
              <a:rPr lang="en-US" altLang="zh-CN" sz="2600" i="1" dirty="0"/>
              <a:t>R</a:t>
            </a:r>
            <a:r>
              <a:rPr lang="en-US" altLang="zh-CN" sz="2900" dirty="0"/>
              <a:t>↾</a:t>
            </a:r>
            <a:r>
              <a:rPr lang="en-US" altLang="zh-CN" sz="2600" i="1" dirty="0"/>
              <a:t>A </a:t>
            </a:r>
            <a:r>
              <a:rPr lang="en-US" altLang="zh-CN" sz="2600" dirty="0">
                <a:sym typeface="Symbol" panose="05050102010706020507" pitchFamily="18" charset="2"/>
              </a:rPr>
              <a:t> </a:t>
            </a:r>
            <a:r>
              <a:rPr lang="en-US" altLang="zh-CN" sz="2600" i="1" dirty="0"/>
              <a:t>R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z="2600" i="1" dirty="0"/>
              <a:t>A</a:t>
            </a:r>
            <a:r>
              <a:rPr lang="zh-CN" altLang="en-US" sz="2600" dirty="0"/>
              <a:t>在</a:t>
            </a:r>
            <a:r>
              <a:rPr lang="en-US" altLang="zh-CN" sz="2600" i="1" dirty="0"/>
              <a:t>R</a:t>
            </a:r>
            <a:r>
              <a:rPr lang="zh-CN" altLang="en-US" sz="2600" dirty="0"/>
              <a:t>下的像 </a:t>
            </a:r>
            <a:r>
              <a:rPr lang="en-US" altLang="zh-CN" sz="2600" i="1" dirty="0"/>
              <a:t>R</a:t>
            </a:r>
            <a:r>
              <a:rPr lang="en-US" altLang="zh-CN" sz="2600" dirty="0"/>
              <a:t>[</a:t>
            </a:r>
            <a:r>
              <a:rPr lang="en-US" altLang="zh-CN" sz="2600" i="1" dirty="0"/>
              <a:t>A</a:t>
            </a:r>
            <a:r>
              <a:rPr lang="en-US" altLang="zh-CN" sz="2600" dirty="0"/>
              <a:t>] </a:t>
            </a:r>
            <a:r>
              <a:rPr lang="zh-CN" altLang="en-US" sz="2600" dirty="0"/>
              <a:t>是 </a:t>
            </a:r>
            <a:r>
              <a:rPr lang="en-US" altLang="zh-CN" sz="2600" dirty="0" err="1"/>
              <a:t>ran</a:t>
            </a:r>
            <a:r>
              <a:rPr lang="en-US" altLang="zh-CN" sz="2600" i="1" dirty="0" err="1"/>
              <a:t>R</a:t>
            </a:r>
            <a:r>
              <a:rPr lang="en-US" altLang="zh-CN" sz="2600" i="1" dirty="0"/>
              <a:t> </a:t>
            </a:r>
            <a:r>
              <a:rPr lang="zh-CN" altLang="en-US" sz="2600" dirty="0"/>
              <a:t>的子集，即 </a:t>
            </a:r>
            <a:r>
              <a:rPr lang="en-US" altLang="zh-CN" sz="2600" i="1" dirty="0"/>
              <a:t>R</a:t>
            </a:r>
            <a:r>
              <a:rPr lang="en-US" altLang="zh-CN" sz="2600" dirty="0"/>
              <a:t>[</a:t>
            </a:r>
            <a:r>
              <a:rPr lang="en-US" altLang="zh-CN" sz="2600" i="1" dirty="0"/>
              <a:t>A</a:t>
            </a:r>
            <a:r>
              <a:rPr lang="en-US" altLang="zh-CN" sz="2600" dirty="0"/>
              <a:t>]</a:t>
            </a:r>
            <a:r>
              <a:rPr lang="en-US" altLang="zh-CN" sz="2600" dirty="0">
                <a:sym typeface="Symbol" panose="05050102010706020507" pitchFamily="18" charset="2"/>
              </a:rPr>
              <a:t> </a:t>
            </a:r>
            <a:r>
              <a:rPr lang="en-US" altLang="zh-CN" sz="2600" dirty="0" err="1"/>
              <a:t>ran</a:t>
            </a:r>
            <a:r>
              <a:rPr lang="en-US" altLang="zh-CN" sz="2600" i="1" dirty="0" err="1"/>
              <a:t>R</a:t>
            </a:r>
            <a:r>
              <a:rPr lang="en-US" altLang="zh-CN" dirty="0"/>
              <a:t>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211BEE0-D014-4872-808B-88B739369C0B}" type="slidenum">
              <a:rPr lang="en-US" altLang="zh-CN" sz="1400" b="0" smtClean="0">
                <a:latin typeface="Arial" panose="020B0604020202020204" pitchFamily="34" charset="0"/>
              </a:rPr>
              <a:t>22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7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en-US" altLang="zh-CN" dirty="0"/>
              <a:t>={&lt;1,2&gt;,&lt;1,3&gt;,&lt;2,2&gt;,&lt;2,4&gt;,&lt;3,2&gt;}, </a:t>
            </a:r>
            <a:r>
              <a:rPr lang="zh-CN" altLang="en-US" dirty="0"/>
              <a:t>则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br>
              <a:rPr lang="zh-CN" altLang="en-US" dirty="0"/>
            </a:br>
            <a:r>
              <a:rPr lang="zh-CN" altLang="en-US" dirty="0"/>
              <a:t> </a:t>
            </a:r>
            <a:r>
              <a:rPr lang="en-US" altLang="zh-CN" i="1" dirty="0"/>
              <a:t>R</a:t>
            </a:r>
            <a:r>
              <a:rPr lang="en-US" altLang="zh-CN" sz="2800" dirty="0"/>
              <a:t>↾</a:t>
            </a:r>
            <a:r>
              <a:rPr lang="en-US" altLang="zh-CN" dirty="0"/>
              <a:t>{1} = {&lt;1,2&gt;,&lt;1,3&gt;}</a:t>
            </a:r>
            <a:br>
              <a:rPr lang="en-US" altLang="zh-CN" dirty="0"/>
            </a:br>
            <a:r>
              <a:rPr lang="en-US" altLang="zh-CN" dirty="0"/>
              <a:t> </a:t>
            </a:r>
            <a:r>
              <a:rPr lang="en-US" altLang="zh-CN" i="1" dirty="0"/>
              <a:t>R</a:t>
            </a:r>
            <a:r>
              <a:rPr lang="en-US" altLang="zh-CN" sz="2800" dirty="0"/>
              <a:t>↾</a:t>
            </a:r>
            <a:r>
              <a:rPr lang="en-US" altLang="zh-CN" dirty="0">
                <a:sym typeface="Symbol" panose="05050102010706020507" pitchFamily="18" charset="2"/>
              </a:rPr>
              <a:t> </a:t>
            </a:r>
            <a:r>
              <a:rPr lang="en-US" altLang="zh-CN" dirty="0"/>
              <a:t>= 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br>
              <a:rPr lang="en-US" altLang="zh-CN" dirty="0"/>
            </a:br>
            <a:r>
              <a:rPr lang="en-US" altLang="zh-CN" dirty="0"/>
              <a:t> </a:t>
            </a:r>
            <a:r>
              <a:rPr lang="en-US" altLang="zh-CN" i="1" dirty="0"/>
              <a:t>R</a:t>
            </a:r>
            <a:r>
              <a:rPr lang="en-US" altLang="zh-CN" sz="2800" dirty="0"/>
              <a:t>↾</a:t>
            </a:r>
            <a:r>
              <a:rPr lang="en-US" altLang="zh-CN" dirty="0"/>
              <a:t>{2,3} = {&lt;2,2&gt;,&lt;2,4&gt;,&lt;3,2&gt;}</a:t>
            </a:r>
          </a:p>
          <a:p>
            <a:pPr eaLnBrk="1" hangingPunct="1">
              <a:lnSpc>
                <a:spcPct val="120000"/>
              </a:lnSpc>
            </a:pPr>
            <a:br>
              <a:rPr lang="en-US" altLang="zh-CN" dirty="0"/>
            </a:br>
            <a:r>
              <a:rPr lang="en-US" altLang="zh-CN" dirty="0">
                <a:solidFill>
                  <a:srgbClr val="0066FF"/>
                </a:solidFill>
              </a:rPr>
              <a:t> 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[{1}] = {2,3}</a:t>
            </a:r>
            <a:br>
              <a:rPr lang="en-US" altLang="zh-CN" dirty="0">
                <a:solidFill>
                  <a:srgbClr val="0066FF"/>
                </a:solidFill>
              </a:rPr>
            </a:br>
            <a:r>
              <a:rPr lang="en-US" altLang="zh-CN" dirty="0">
                <a:solidFill>
                  <a:srgbClr val="0066FF"/>
                </a:solidFill>
              </a:rPr>
              <a:t> 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[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</a:t>
            </a:r>
            <a:r>
              <a:rPr lang="en-US" altLang="zh-CN" dirty="0">
                <a:solidFill>
                  <a:srgbClr val="0066FF"/>
                </a:solidFill>
              </a:rPr>
              <a:t>] =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</a:t>
            </a:r>
            <a:br>
              <a:rPr lang="en-US" altLang="zh-CN" dirty="0">
                <a:solidFill>
                  <a:srgbClr val="0066FF"/>
                </a:solidFill>
              </a:rPr>
            </a:br>
            <a:r>
              <a:rPr lang="en-US" altLang="zh-CN" dirty="0">
                <a:solidFill>
                  <a:srgbClr val="0066FF"/>
                </a:solidFill>
              </a:rPr>
              <a:t> 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[{3}] = {2}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3159DFB-B3B5-405C-B4A2-EA2729BCB573}" type="slidenum">
              <a:rPr lang="en-US" altLang="zh-CN" sz="1400" b="0" smtClean="0">
                <a:latin typeface="Arial" panose="020B0604020202020204" pitchFamily="34" charset="0"/>
              </a:rPr>
              <a:t>23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关系运算的性质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18488" cy="1439863"/>
          </a:xfrm>
        </p:spPr>
        <p:txBody>
          <a:bodyPr/>
          <a:lstStyle/>
          <a:p>
            <a:pPr marL="1616075" indent="-1616075" eaLnBrk="1" hangingPunct="1"/>
            <a:r>
              <a:rPr lang="zh-CN" altLang="en-US">
                <a:solidFill>
                  <a:srgbClr val="A50021"/>
                </a:solidFill>
              </a:rPr>
              <a:t>定理</a:t>
            </a:r>
            <a:r>
              <a:rPr lang="en-US" altLang="zh-CN">
                <a:solidFill>
                  <a:srgbClr val="A50021"/>
                </a:solidFill>
              </a:rPr>
              <a:t>7.1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 i="1"/>
              <a:t>F</a:t>
            </a:r>
            <a:r>
              <a:rPr lang="zh-CN" altLang="en-US"/>
              <a:t>是任意的关系</a:t>
            </a:r>
            <a:r>
              <a:rPr lang="en-US" altLang="zh-CN"/>
              <a:t>, </a:t>
            </a:r>
            <a:r>
              <a:rPr lang="zh-CN" altLang="en-US"/>
              <a:t>则</a:t>
            </a:r>
          </a:p>
          <a:p>
            <a:pPr marL="1616075" indent="-1616075" eaLnBrk="1" hangingPunct="1"/>
            <a:r>
              <a:rPr lang="zh-CN" altLang="en-US"/>
              <a:t> </a:t>
            </a:r>
            <a:r>
              <a:rPr lang="en-US" altLang="zh-CN"/>
              <a:t>(1)  (</a:t>
            </a:r>
            <a:r>
              <a:rPr lang="en-US" altLang="zh-CN" i="1"/>
              <a:t>F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)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 i="1"/>
              <a:t>=F</a:t>
            </a:r>
          </a:p>
          <a:p>
            <a:pPr marL="1616075" indent="-1616075" eaLnBrk="1" hangingPunct="1"/>
            <a:r>
              <a:rPr lang="en-US" altLang="zh-CN"/>
              <a:t> </a:t>
            </a:r>
            <a:r>
              <a:rPr lang="en-US" altLang="zh-CN">
                <a:solidFill>
                  <a:srgbClr val="0066FF"/>
                </a:solidFill>
              </a:rPr>
              <a:t>(2)  dom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 i="1" baseline="3000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>
                <a:solidFill>
                  <a:srgbClr val="0066FF"/>
                </a:solidFill>
              </a:rPr>
              <a:t>1</a:t>
            </a:r>
            <a:r>
              <a:rPr lang="en-US" altLang="zh-CN">
                <a:solidFill>
                  <a:srgbClr val="0066FF"/>
                </a:solidFill>
              </a:rPr>
              <a:t>= ran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>
                <a:solidFill>
                  <a:srgbClr val="0066FF"/>
                </a:solidFill>
              </a:rPr>
              <a:t>,  ran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 i="1" baseline="3000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>
                <a:solidFill>
                  <a:srgbClr val="0066FF"/>
                </a:solidFill>
              </a:rPr>
              <a:t>1</a:t>
            </a:r>
            <a:r>
              <a:rPr lang="en-US" altLang="zh-CN">
                <a:solidFill>
                  <a:srgbClr val="0066FF"/>
                </a:solidFill>
              </a:rPr>
              <a:t>= dom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endParaRPr lang="en-US" altLang="zh-CN">
              <a:solidFill>
                <a:srgbClr val="0066FF"/>
              </a:solidFill>
            </a:endParaRPr>
          </a:p>
        </p:txBody>
      </p:sp>
      <p:sp>
        <p:nvSpPr>
          <p:cNvPr id="45061" name="Rectangle 4"/>
          <p:cNvSpPr>
            <a:spLocks noChangeArrowheads="1"/>
          </p:cNvSpPr>
          <p:nvPr/>
        </p:nvSpPr>
        <p:spPr bwMode="auto">
          <a:xfrm>
            <a:off x="468313" y="2852738"/>
            <a:ext cx="7704137" cy="129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616075" indent="-161607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2263775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267208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307975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3488055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394525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440245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485965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531685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证 </a:t>
            </a:r>
            <a:r>
              <a:rPr lang="en-US" altLang="zh-CN"/>
              <a:t>(1) </a:t>
            </a:r>
            <a:r>
              <a:rPr lang="zh-CN" altLang="en-US"/>
              <a:t>任取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&gt;, </a:t>
            </a:r>
            <a:r>
              <a:rPr lang="zh-CN" altLang="en-US"/>
              <a:t>由逆的定义有</a:t>
            </a:r>
          </a:p>
          <a:p>
            <a:pPr eaLnBrk="1" hangingPunct="1"/>
            <a:r>
              <a:rPr lang="zh-CN" altLang="en-US"/>
              <a:t>                      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&gt;∈(</a:t>
            </a:r>
            <a:r>
              <a:rPr lang="en-US" altLang="zh-CN" i="1"/>
              <a:t>F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)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&lt;</a:t>
            </a:r>
            <a:r>
              <a:rPr lang="en-US" altLang="zh-CN" i="1"/>
              <a:t>y</a:t>
            </a:r>
            <a:r>
              <a:rPr lang="en-US" altLang="zh-CN"/>
              <a:t>,</a:t>
            </a:r>
            <a:r>
              <a:rPr lang="en-US" altLang="zh-CN" i="1"/>
              <a:t>x</a:t>
            </a:r>
            <a:r>
              <a:rPr lang="en-US" altLang="zh-CN"/>
              <a:t>&gt;∈</a:t>
            </a:r>
            <a:r>
              <a:rPr lang="en-US" altLang="zh-CN" i="1"/>
              <a:t>F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F</a:t>
            </a:r>
            <a:r>
              <a:rPr lang="en-US" altLang="zh-CN"/>
              <a:t>.</a:t>
            </a:r>
          </a:p>
          <a:p>
            <a:pPr eaLnBrk="1" hangingPunct="1"/>
            <a:r>
              <a:rPr lang="zh-CN" altLang="en-US"/>
              <a:t>所以有</a:t>
            </a:r>
            <a:r>
              <a:rPr lang="en-US" altLang="zh-CN"/>
              <a:t>(</a:t>
            </a:r>
            <a:r>
              <a:rPr lang="en-US" altLang="zh-CN" i="1"/>
              <a:t>F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)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=</a:t>
            </a:r>
            <a:r>
              <a:rPr lang="en-US" altLang="zh-CN" i="1"/>
              <a:t>F</a:t>
            </a:r>
            <a:r>
              <a:rPr lang="en-US" altLang="zh-CN"/>
              <a:t>.</a:t>
            </a:r>
          </a:p>
        </p:txBody>
      </p:sp>
      <p:sp>
        <p:nvSpPr>
          <p:cNvPr id="45062" name="Rectangle 5"/>
          <p:cNvSpPr>
            <a:spLocks noChangeArrowheads="1"/>
          </p:cNvSpPr>
          <p:nvPr/>
        </p:nvSpPr>
        <p:spPr bwMode="auto">
          <a:xfrm>
            <a:off x="468313" y="4292600"/>
            <a:ext cx="7777162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616075" indent="-161607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2263775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267208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307975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3488055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394525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440245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485965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531685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66FF"/>
                </a:solidFill>
              </a:rPr>
              <a:t>(2)  </a:t>
            </a:r>
            <a:r>
              <a:rPr lang="zh-CN" altLang="en-US">
                <a:solidFill>
                  <a:srgbClr val="0066FF"/>
                </a:solidFill>
              </a:rPr>
              <a:t>任取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,</a:t>
            </a:r>
          </a:p>
          <a:p>
            <a:pPr eaLnBrk="1" hangingPunct="1"/>
            <a:r>
              <a:rPr lang="en-US" altLang="zh-CN" i="1">
                <a:solidFill>
                  <a:srgbClr val="0066FF"/>
                </a:solidFill>
              </a:rPr>
              <a:t>                     x</a:t>
            </a:r>
            <a:r>
              <a:rPr lang="en-US" altLang="zh-CN">
                <a:solidFill>
                  <a:srgbClr val="0066FF"/>
                </a:solidFill>
              </a:rPr>
              <a:t>∈dom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 i="1" baseline="3000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>
                <a:solidFill>
                  <a:srgbClr val="0066FF"/>
                </a:solidFill>
              </a:rPr>
              <a:t>1</a:t>
            </a:r>
            <a:r>
              <a:rPr lang="en-US" altLang="zh-CN">
                <a:solidFill>
                  <a:srgbClr val="0066FF"/>
                </a:solidFill>
              </a:rPr>
              <a:t> 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0066FF"/>
                </a:solidFill>
              </a:rPr>
              <a:t> 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(&lt;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&gt;∈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 i="1" baseline="3000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>
                <a:solidFill>
                  <a:srgbClr val="0066FF"/>
                </a:solidFill>
              </a:rPr>
              <a:t>1</a:t>
            </a:r>
            <a:r>
              <a:rPr lang="en-US" altLang="zh-CN">
                <a:solidFill>
                  <a:srgbClr val="0066FF"/>
                </a:solidFill>
              </a:rPr>
              <a:t>) </a:t>
            </a:r>
          </a:p>
          <a:p>
            <a:pPr eaLnBrk="1" hangingPunct="1"/>
            <a:r>
              <a:rPr lang="en-US" altLang="zh-CN">
                <a:solidFill>
                  <a:srgbClr val="0066FF"/>
                </a:solidFill>
              </a:rPr>
              <a:t>                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0066FF"/>
                </a:solidFill>
              </a:rPr>
              <a:t> 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(&lt;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&gt;∈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>
                <a:solidFill>
                  <a:srgbClr val="0066FF"/>
                </a:solidFill>
              </a:rPr>
              <a:t>)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0066FF"/>
                </a:solidFill>
              </a:rPr>
              <a:t> 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∈ran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>
                <a:solidFill>
                  <a:srgbClr val="0066FF"/>
                </a:solidFill>
              </a:rPr>
              <a:t> </a:t>
            </a:r>
          </a:p>
          <a:p>
            <a:pPr eaLnBrk="1" hangingPunct="1"/>
            <a:r>
              <a:rPr lang="zh-CN" altLang="en-US">
                <a:solidFill>
                  <a:srgbClr val="0066FF"/>
                </a:solidFill>
              </a:rPr>
              <a:t>所以有 </a:t>
            </a:r>
            <a:r>
              <a:rPr lang="en-US" altLang="zh-CN">
                <a:solidFill>
                  <a:srgbClr val="0066FF"/>
                </a:solidFill>
              </a:rPr>
              <a:t>dom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 i="1" baseline="3000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>
                <a:solidFill>
                  <a:srgbClr val="0066FF"/>
                </a:solidFill>
              </a:rPr>
              <a:t>1</a:t>
            </a:r>
            <a:r>
              <a:rPr lang="en-US" altLang="zh-CN">
                <a:solidFill>
                  <a:srgbClr val="0066FF"/>
                </a:solidFill>
              </a:rPr>
              <a:t>=ran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>
                <a:solidFill>
                  <a:srgbClr val="0066FF"/>
                </a:solidFill>
              </a:rPr>
              <a:t>. </a:t>
            </a:r>
          </a:p>
          <a:p>
            <a:pPr eaLnBrk="1" hangingPunct="1"/>
            <a:r>
              <a:rPr lang="zh-CN" altLang="en-US">
                <a:solidFill>
                  <a:srgbClr val="0066FF"/>
                </a:solidFill>
              </a:rPr>
              <a:t>同理可证 </a:t>
            </a:r>
            <a:r>
              <a:rPr lang="en-US" altLang="zh-CN">
                <a:solidFill>
                  <a:srgbClr val="0066FF"/>
                </a:solidFill>
              </a:rPr>
              <a:t>ran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 i="1" baseline="3000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>
                <a:solidFill>
                  <a:srgbClr val="0066FF"/>
                </a:solidFill>
              </a:rPr>
              <a:t>1</a:t>
            </a:r>
            <a:r>
              <a:rPr lang="en-US" altLang="zh-CN">
                <a:solidFill>
                  <a:srgbClr val="0066FF"/>
                </a:solidFill>
              </a:rPr>
              <a:t>=dom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>
                <a:solidFill>
                  <a:srgbClr val="0066FF"/>
                </a:solidFill>
              </a:rPr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/>
      <p:bldP spid="4506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1E4C96D-52BF-41F1-89AF-0D2E25BCAEAB}" type="slidenum">
              <a:rPr lang="en-US" altLang="zh-CN" sz="1400" b="0" smtClean="0">
                <a:latin typeface="Arial" panose="020B0604020202020204" pitchFamily="34" charset="0"/>
              </a:rPr>
              <a:t>24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052513"/>
            <a:ext cx="8280400" cy="136842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定理</a:t>
            </a:r>
            <a:r>
              <a:rPr lang="en-US" altLang="zh-CN">
                <a:solidFill>
                  <a:srgbClr val="A50021"/>
                </a:solidFill>
              </a:rPr>
              <a:t>7.2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 i="1"/>
              <a:t>F</a:t>
            </a:r>
            <a:r>
              <a:rPr lang="en-US" altLang="zh-CN"/>
              <a:t>, </a:t>
            </a:r>
            <a:r>
              <a:rPr lang="en-US" altLang="zh-CN" i="1"/>
              <a:t>G</a:t>
            </a:r>
            <a:r>
              <a:rPr lang="en-US" altLang="zh-CN"/>
              <a:t>, </a:t>
            </a:r>
            <a:r>
              <a:rPr lang="en-US" altLang="zh-CN" i="1"/>
              <a:t>H</a:t>
            </a:r>
            <a:r>
              <a:rPr lang="zh-CN" altLang="en-US"/>
              <a:t>是任意的关系</a:t>
            </a:r>
            <a:r>
              <a:rPr lang="en-US" altLang="zh-CN"/>
              <a:t>, </a:t>
            </a:r>
            <a:r>
              <a:rPr lang="zh-CN" altLang="en-US"/>
              <a:t>则</a:t>
            </a:r>
          </a:p>
          <a:p>
            <a:pPr eaLnBrk="1" hangingPunct="1"/>
            <a:r>
              <a:rPr lang="en-US" altLang="zh-CN"/>
              <a:t>(1) (</a:t>
            </a:r>
            <a:r>
              <a:rPr lang="en-US" altLang="zh-CN" i="1"/>
              <a:t>F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G</a:t>
            </a:r>
            <a:r>
              <a:rPr lang="en-US" altLang="zh-CN"/>
              <a:t>)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H </a:t>
            </a:r>
            <a:r>
              <a:rPr lang="en-US" altLang="zh-CN"/>
              <a:t>= </a:t>
            </a:r>
            <a:r>
              <a:rPr lang="en-US" altLang="zh-CN" i="1"/>
              <a:t>F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H</a:t>
            </a:r>
            <a:r>
              <a:rPr lang="en-US" altLang="zh-CN"/>
              <a:t>)</a:t>
            </a:r>
          </a:p>
          <a:p>
            <a:pPr eaLnBrk="1" hangingPunct="1"/>
            <a:r>
              <a:rPr lang="en-US" altLang="zh-CN"/>
              <a:t>(2) (</a:t>
            </a:r>
            <a:r>
              <a:rPr lang="en-US" altLang="zh-CN" i="1"/>
              <a:t>F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G</a:t>
            </a:r>
            <a:r>
              <a:rPr lang="en-US" altLang="zh-CN"/>
              <a:t>)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 = </a:t>
            </a:r>
            <a:r>
              <a:rPr lang="en-US" altLang="zh-CN" i="1"/>
              <a:t>G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F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关系运算的性质</a:t>
            </a:r>
          </a:p>
        </p:txBody>
      </p: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395288" y="2348880"/>
            <a:ext cx="8064500" cy="4372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证 </a:t>
            </a:r>
            <a:r>
              <a:rPr lang="en-US" altLang="zh-CN" dirty="0"/>
              <a:t>(1) </a:t>
            </a:r>
            <a:r>
              <a:rPr lang="zh-CN" altLang="en-US" dirty="0"/>
              <a:t>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 </a:t>
            </a:r>
          </a:p>
          <a:p>
            <a:pPr eaLnBrk="1" hangingPunct="1"/>
            <a:r>
              <a:rPr lang="en-US" altLang="zh-CN" dirty="0"/>
              <a:t>                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G</a:t>
            </a:r>
            <a:r>
              <a:rPr lang="en-US" altLang="zh-CN" dirty="0"/>
              <a:t>)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H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           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66FF"/>
                </a:solidFill>
              </a:rPr>
              <a:t>t </a:t>
            </a:r>
            <a:r>
              <a:rPr lang="en-US" altLang="zh-CN" dirty="0">
                <a:solidFill>
                  <a:srgbClr val="0066FF"/>
                </a:solidFill>
              </a:rPr>
              <a:t>(&lt;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t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sz="3600" baseline="-16000" dirty="0">
                <a:solidFill>
                  <a:srgbClr val="0066FF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en-US" altLang="zh-CN" dirty="0">
                <a:solidFill>
                  <a:srgbClr val="0066FF"/>
                </a:solidFill>
              </a:rPr>
              <a:t>∧&lt;</a:t>
            </a:r>
            <a:r>
              <a:rPr lang="en-US" altLang="zh-CN" i="1" dirty="0" err="1">
                <a:solidFill>
                  <a:srgbClr val="0066FF"/>
                </a:solidFill>
              </a:rPr>
              <a:t>t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endParaRPr lang="en-US" altLang="zh-CN" dirty="0">
              <a:solidFill>
                <a:srgbClr val="0066FF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           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66FF"/>
                </a:solidFill>
              </a:rPr>
              <a:t>t </a:t>
            </a:r>
            <a:r>
              <a:rPr lang="en-US" altLang="zh-CN" dirty="0">
                <a:solidFill>
                  <a:srgbClr val="0066FF"/>
                </a:solidFill>
              </a:rPr>
              <a:t>(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66FF"/>
                </a:solidFill>
              </a:rPr>
              <a:t>s </a:t>
            </a:r>
            <a:r>
              <a:rPr lang="en-US" altLang="zh-CN" dirty="0">
                <a:solidFill>
                  <a:srgbClr val="0066FF"/>
                </a:solidFill>
              </a:rPr>
              <a:t>(&lt;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s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dirty="0">
                <a:solidFill>
                  <a:srgbClr val="0066FF"/>
                </a:solidFill>
              </a:rPr>
              <a:t>∧&lt;</a:t>
            </a:r>
            <a:r>
              <a:rPr lang="en-US" altLang="zh-CN" i="1" dirty="0" err="1">
                <a:solidFill>
                  <a:srgbClr val="0066FF"/>
                </a:solidFill>
              </a:rPr>
              <a:t>s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t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en-US" altLang="zh-CN" dirty="0">
                <a:solidFill>
                  <a:srgbClr val="0066FF"/>
                </a:solidFill>
              </a:rPr>
              <a:t>)∧&lt;</a:t>
            </a:r>
            <a:r>
              <a:rPr lang="en-US" altLang="zh-CN" i="1" dirty="0" err="1">
                <a:solidFill>
                  <a:srgbClr val="0066FF"/>
                </a:solidFill>
              </a:rPr>
              <a:t>t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</a:rPr>
              <a:t>	</a:t>
            </a:r>
            <a:r>
              <a:rPr lang="en-US" altLang="zh-CN" dirty="0">
                <a:solidFill>
                  <a:srgbClr val="FF0000"/>
                </a:solidFill>
              </a:rPr>
              <a:t>      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FF0000"/>
                </a:solidFill>
              </a:rPr>
              <a:t>t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FF0000"/>
                </a:solidFill>
              </a:rPr>
              <a:t>s </a:t>
            </a:r>
            <a:r>
              <a:rPr lang="en-US" altLang="zh-CN" dirty="0">
                <a:solidFill>
                  <a:srgbClr val="FF0000"/>
                </a:solidFill>
              </a:rPr>
              <a:t>(&lt;</a:t>
            </a:r>
            <a:r>
              <a:rPr lang="en-US" altLang="zh-CN" i="1" dirty="0" err="1">
                <a:solidFill>
                  <a:srgbClr val="FF0000"/>
                </a:solidFill>
              </a:rPr>
              <a:t>x</a:t>
            </a:r>
            <a:r>
              <a:rPr lang="en-US" altLang="zh-CN" dirty="0" err="1">
                <a:solidFill>
                  <a:srgbClr val="FF0000"/>
                </a:solidFill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</a:rPr>
              <a:t>s</a:t>
            </a:r>
            <a:r>
              <a:rPr lang="en-US" altLang="zh-CN" dirty="0">
                <a:solidFill>
                  <a:srgbClr val="FF0000"/>
                </a:solidFill>
              </a:rPr>
              <a:t>&gt;∈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en-US" altLang="zh-CN" dirty="0">
                <a:solidFill>
                  <a:srgbClr val="FF0000"/>
                </a:solidFill>
              </a:rPr>
              <a:t>∧&lt;</a:t>
            </a:r>
            <a:r>
              <a:rPr lang="en-US" altLang="zh-CN" i="1" dirty="0" err="1">
                <a:solidFill>
                  <a:srgbClr val="FF0000"/>
                </a:solidFill>
              </a:rPr>
              <a:t>s</a:t>
            </a:r>
            <a:r>
              <a:rPr lang="en-US" altLang="zh-CN" dirty="0" err="1">
                <a:solidFill>
                  <a:srgbClr val="FF0000"/>
                </a:solidFill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</a:rPr>
              <a:t>t</a:t>
            </a:r>
            <a:r>
              <a:rPr lang="en-US" altLang="zh-CN" dirty="0">
                <a:solidFill>
                  <a:srgbClr val="FF0000"/>
                </a:solidFill>
              </a:rPr>
              <a:t>&gt;∈</a:t>
            </a:r>
            <a:r>
              <a:rPr lang="en-US" altLang="zh-CN" i="1" dirty="0">
                <a:solidFill>
                  <a:srgbClr val="FF0000"/>
                </a:solidFill>
              </a:rPr>
              <a:t>G</a:t>
            </a:r>
            <a:r>
              <a:rPr lang="en-US" altLang="zh-CN" dirty="0">
                <a:solidFill>
                  <a:srgbClr val="FF0000"/>
                </a:solidFill>
              </a:rPr>
              <a:t>∧&lt;</a:t>
            </a:r>
            <a:r>
              <a:rPr lang="en-US" altLang="zh-CN" i="1" dirty="0" err="1">
                <a:solidFill>
                  <a:srgbClr val="FF0000"/>
                </a:solidFill>
              </a:rPr>
              <a:t>t</a:t>
            </a:r>
            <a:r>
              <a:rPr lang="en-US" altLang="zh-CN" dirty="0" err="1">
                <a:solidFill>
                  <a:srgbClr val="FF0000"/>
                </a:solidFill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</a:rPr>
              <a:t>y</a:t>
            </a:r>
            <a:r>
              <a:rPr lang="en-US" altLang="zh-CN" dirty="0">
                <a:solidFill>
                  <a:srgbClr val="FF0000"/>
                </a:solidFill>
              </a:rPr>
              <a:t>&gt;∈</a:t>
            </a:r>
            <a:r>
              <a:rPr lang="en-US" altLang="zh-CN" i="1" dirty="0">
                <a:solidFill>
                  <a:srgbClr val="FF0000"/>
                </a:solidFill>
              </a:rPr>
              <a:t>H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            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solidFill>
                  <a:srgbClr val="00B050"/>
                </a:solidFill>
              </a:rPr>
              <a:t>s</a:t>
            </a:r>
            <a:r>
              <a:rPr lang="en-US" altLang="zh-CN" dirty="0" err="1">
                <a:solidFill>
                  <a:srgbClr val="00B050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solidFill>
                  <a:srgbClr val="00B050"/>
                </a:solidFill>
              </a:rPr>
              <a:t>t</a:t>
            </a:r>
            <a:r>
              <a:rPr lang="en-US" altLang="zh-CN" i="1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(&lt;</a:t>
            </a:r>
            <a:r>
              <a:rPr lang="en-US" altLang="zh-CN" i="1" dirty="0" err="1">
                <a:solidFill>
                  <a:srgbClr val="00B050"/>
                </a:solidFill>
              </a:rPr>
              <a:t>x</a:t>
            </a:r>
            <a:r>
              <a:rPr lang="en-US" altLang="zh-CN" dirty="0" err="1">
                <a:solidFill>
                  <a:srgbClr val="00B050"/>
                </a:solidFill>
              </a:rPr>
              <a:t>,</a:t>
            </a:r>
            <a:r>
              <a:rPr lang="en-US" altLang="zh-CN" i="1" dirty="0" err="1">
                <a:solidFill>
                  <a:srgbClr val="00B050"/>
                </a:solidFill>
              </a:rPr>
              <a:t>s</a:t>
            </a:r>
            <a:r>
              <a:rPr lang="en-US" altLang="zh-CN" dirty="0">
                <a:solidFill>
                  <a:srgbClr val="00B050"/>
                </a:solidFill>
              </a:rPr>
              <a:t>&gt;∈</a:t>
            </a:r>
            <a:r>
              <a:rPr lang="en-US" altLang="zh-CN" i="1" dirty="0">
                <a:solidFill>
                  <a:srgbClr val="00B050"/>
                </a:solidFill>
              </a:rPr>
              <a:t>F</a:t>
            </a:r>
            <a:r>
              <a:rPr lang="en-US" altLang="zh-CN" dirty="0">
                <a:solidFill>
                  <a:srgbClr val="00B050"/>
                </a:solidFill>
              </a:rPr>
              <a:t>∧&lt;</a:t>
            </a:r>
            <a:r>
              <a:rPr lang="en-US" altLang="zh-CN" i="1" dirty="0" err="1">
                <a:solidFill>
                  <a:srgbClr val="00B050"/>
                </a:solidFill>
              </a:rPr>
              <a:t>s</a:t>
            </a:r>
            <a:r>
              <a:rPr lang="en-US" altLang="zh-CN" dirty="0" err="1">
                <a:solidFill>
                  <a:srgbClr val="00B050"/>
                </a:solidFill>
              </a:rPr>
              <a:t>,</a:t>
            </a:r>
            <a:r>
              <a:rPr lang="en-US" altLang="zh-CN" i="1" dirty="0" err="1">
                <a:solidFill>
                  <a:srgbClr val="00B050"/>
                </a:solidFill>
              </a:rPr>
              <a:t>t</a:t>
            </a:r>
            <a:r>
              <a:rPr lang="en-US" altLang="zh-CN" dirty="0">
                <a:solidFill>
                  <a:srgbClr val="00B050"/>
                </a:solidFill>
              </a:rPr>
              <a:t>&gt;∈</a:t>
            </a:r>
            <a:r>
              <a:rPr lang="en-US" altLang="zh-CN" i="1" dirty="0">
                <a:solidFill>
                  <a:srgbClr val="00B050"/>
                </a:solidFill>
              </a:rPr>
              <a:t>G</a:t>
            </a:r>
            <a:r>
              <a:rPr lang="en-US" altLang="zh-CN" dirty="0">
                <a:solidFill>
                  <a:srgbClr val="00B050"/>
                </a:solidFill>
              </a:rPr>
              <a:t>∧&lt;</a:t>
            </a:r>
            <a:r>
              <a:rPr lang="en-US" altLang="zh-CN" i="1" dirty="0" err="1">
                <a:solidFill>
                  <a:srgbClr val="00B050"/>
                </a:solidFill>
              </a:rPr>
              <a:t>t</a:t>
            </a:r>
            <a:r>
              <a:rPr lang="en-US" altLang="zh-CN" dirty="0" err="1">
                <a:solidFill>
                  <a:srgbClr val="00B050"/>
                </a:solidFill>
              </a:rPr>
              <a:t>,</a:t>
            </a:r>
            <a:r>
              <a:rPr lang="en-US" altLang="zh-CN" i="1" dirty="0" err="1">
                <a:solidFill>
                  <a:srgbClr val="00B050"/>
                </a:solidFill>
              </a:rPr>
              <a:t>y</a:t>
            </a:r>
            <a:r>
              <a:rPr lang="en-US" altLang="zh-CN" dirty="0">
                <a:solidFill>
                  <a:srgbClr val="00B050"/>
                </a:solidFill>
              </a:rPr>
              <a:t>&gt;∈</a:t>
            </a:r>
            <a:r>
              <a:rPr lang="en-US" altLang="zh-CN" i="1" dirty="0">
                <a:solidFill>
                  <a:srgbClr val="00B050"/>
                </a:solidFill>
              </a:rPr>
              <a:t>H</a:t>
            </a:r>
            <a:r>
              <a:rPr lang="en-US" altLang="zh-CN" dirty="0">
                <a:solidFill>
                  <a:srgbClr val="00B050"/>
                </a:solidFill>
              </a:rPr>
              <a:t>)</a:t>
            </a: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</a:rPr>
              <a:t>            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B050"/>
                </a:solidFill>
              </a:rPr>
              <a:t>s </a:t>
            </a:r>
            <a:r>
              <a:rPr lang="en-US" altLang="zh-CN" dirty="0">
                <a:solidFill>
                  <a:srgbClr val="00B050"/>
                </a:solidFill>
              </a:rPr>
              <a:t>(&lt;</a:t>
            </a:r>
            <a:r>
              <a:rPr lang="en-US" altLang="zh-CN" i="1" dirty="0" err="1">
                <a:solidFill>
                  <a:srgbClr val="00B050"/>
                </a:solidFill>
              </a:rPr>
              <a:t>x</a:t>
            </a:r>
            <a:r>
              <a:rPr lang="en-US" altLang="zh-CN" dirty="0" err="1">
                <a:solidFill>
                  <a:srgbClr val="00B050"/>
                </a:solidFill>
              </a:rPr>
              <a:t>,</a:t>
            </a:r>
            <a:r>
              <a:rPr lang="en-US" altLang="zh-CN" i="1" dirty="0" err="1">
                <a:solidFill>
                  <a:srgbClr val="00B050"/>
                </a:solidFill>
              </a:rPr>
              <a:t>s</a:t>
            </a:r>
            <a:r>
              <a:rPr lang="en-US" altLang="zh-CN" dirty="0">
                <a:solidFill>
                  <a:srgbClr val="00B050"/>
                </a:solidFill>
              </a:rPr>
              <a:t>&gt;∈</a:t>
            </a:r>
            <a:r>
              <a:rPr lang="en-US" altLang="zh-CN" i="1" dirty="0">
                <a:solidFill>
                  <a:srgbClr val="00B050"/>
                </a:solidFill>
              </a:rPr>
              <a:t>F</a:t>
            </a:r>
            <a:r>
              <a:rPr lang="en-US" altLang="zh-CN" dirty="0">
                <a:solidFill>
                  <a:srgbClr val="00B050"/>
                </a:solidFill>
              </a:rPr>
              <a:t>∧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B050"/>
                </a:solidFill>
              </a:rPr>
              <a:t>t </a:t>
            </a:r>
            <a:r>
              <a:rPr lang="en-US" altLang="zh-CN" dirty="0">
                <a:solidFill>
                  <a:srgbClr val="00B050"/>
                </a:solidFill>
              </a:rPr>
              <a:t>(&lt;</a:t>
            </a:r>
            <a:r>
              <a:rPr lang="en-US" altLang="zh-CN" i="1" dirty="0" err="1">
                <a:solidFill>
                  <a:srgbClr val="00B050"/>
                </a:solidFill>
              </a:rPr>
              <a:t>s</a:t>
            </a:r>
            <a:r>
              <a:rPr lang="en-US" altLang="zh-CN" dirty="0" err="1">
                <a:solidFill>
                  <a:srgbClr val="00B050"/>
                </a:solidFill>
              </a:rPr>
              <a:t>,</a:t>
            </a:r>
            <a:r>
              <a:rPr lang="en-US" altLang="zh-CN" i="1" dirty="0" err="1">
                <a:solidFill>
                  <a:srgbClr val="00B050"/>
                </a:solidFill>
              </a:rPr>
              <a:t>t</a:t>
            </a:r>
            <a:r>
              <a:rPr lang="en-US" altLang="zh-CN" dirty="0">
                <a:solidFill>
                  <a:srgbClr val="00B050"/>
                </a:solidFill>
              </a:rPr>
              <a:t>&gt;∈</a:t>
            </a:r>
            <a:r>
              <a:rPr lang="en-US" altLang="zh-CN" i="1" dirty="0">
                <a:solidFill>
                  <a:srgbClr val="00B050"/>
                </a:solidFill>
              </a:rPr>
              <a:t>G</a:t>
            </a:r>
            <a:r>
              <a:rPr lang="en-US" altLang="zh-CN" dirty="0">
                <a:solidFill>
                  <a:srgbClr val="00B050"/>
                </a:solidFill>
              </a:rPr>
              <a:t>∧&lt;</a:t>
            </a:r>
            <a:r>
              <a:rPr lang="en-US" altLang="zh-CN" i="1" dirty="0" err="1">
                <a:solidFill>
                  <a:srgbClr val="00B050"/>
                </a:solidFill>
              </a:rPr>
              <a:t>t</a:t>
            </a:r>
            <a:r>
              <a:rPr lang="en-US" altLang="zh-CN" dirty="0" err="1">
                <a:solidFill>
                  <a:srgbClr val="00B050"/>
                </a:solidFill>
              </a:rPr>
              <a:t>,</a:t>
            </a:r>
            <a:r>
              <a:rPr lang="en-US" altLang="zh-CN" i="1" dirty="0" err="1">
                <a:solidFill>
                  <a:srgbClr val="00B050"/>
                </a:solidFill>
              </a:rPr>
              <a:t>y</a:t>
            </a:r>
            <a:r>
              <a:rPr lang="en-US" altLang="zh-CN" dirty="0">
                <a:solidFill>
                  <a:srgbClr val="00B050"/>
                </a:solidFill>
              </a:rPr>
              <a:t>&gt;∈</a:t>
            </a:r>
            <a:r>
              <a:rPr lang="en-US" altLang="zh-CN" i="1" dirty="0">
                <a:solidFill>
                  <a:srgbClr val="00B050"/>
                </a:solidFill>
              </a:rPr>
              <a:t>H</a:t>
            </a:r>
            <a:r>
              <a:rPr lang="en-US" altLang="zh-CN" dirty="0">
                <a:solidFill>
                  <a:srgbClr val="00B050"/>
                </a:solidFill>
              </a:rPr>
              <a:t>))</a:t>
            </a: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</a:rPr>
              <a:t>            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B050"/>
                </a:solidFill>
              </a:rPr>
              <a:t>s </a:t>
            </a:r>
            <a:r>
              <a:rPr lang="en-US" altLang="zh-CN" dirty="0">
                <a:solidFill>
                  <a:srgbClr val="00B050"/>
                </a:solidFill>
              </a:rPr>
              <a:t>(&lt;</a:t>
            </a:r>
            <a:r>
              <a:rPr lang="en-US" altLang="zh-CN" i="1" dirty="0" err="1">
                <a:solidFill>
                  <a:srgbClr val="00B050"/>
                </a:solidFill>
              </a:rPr>
              <a:t>x</a:t>
            </a:r>
            <a:r>
              <a:rPr lang="en-US" altLang="zh-CN" dirty="0" err="1">
                <a:solidFill>
                  <a:srgbClr val="00B050"/>
                </a:solidFill>
              </a:rPr>
              <a:t>,</a:t>
            </a:r>
            <a:r>
              <a:rPr lang="en-US" altLang="zh-CN" i="1" dirty="0" err="1">
                <a:solidFill>
                  <a:srgbClr val="00B050"/>
                </a:solidFill>
              </a:rPr>
              <a:t>s</a:t>
            </a:r>
            <a:r>
              <a:rPr lang="en-US" altLang="zh-CN" dirty="0">
                <a:solidFill>
                  <a:srgbClr val="00B050"/>
                </a:solidFill>
              </a:rPr>
              <a:t>&gt;∈</a:t>
            </a:r>
            <a:r>
              <a:rPr lang="en-US" altLang="zh-CN" i="1" dirty="0">
                <a:solidFill>
                  <a:srgbClr val="00B050"/>
                </a:solidFill>
              </a:rPr>
              <a:t>F</a:t>
            </a:r>
            <a:r>
              <a:rPr lang="en-US" altLang="zh-CN" dirty="0">
                <a:solidFill>
                  <a:srgbClr val="00B050"/>
                </a:solidFill>
              </a:rPr>
              <a:t>∧&lt;</a:t>
            </a:r>
            <a:r>
              <a:rPr lang="en-US" altLang="zh-CN" i="1" dirty="0" err="1">
                <a:solidFill>
                  <a:srgbClr val="00B050"/>
                </a:solidFill>
              </a:rPr>
              <a:t>s</a:t>
            </a:r>
            <a:r>
              <a:rPr lang="en-US" altLang="zh-CN" dirty="0" err="1">
                <a:solidFill>
                  <a:srgbClr val="00B050"/>
                </a:solidFill>
              </a:rPr>
              <a:t>,</a:t>
            </a:r>
            <a:r>
              <a:rPr lang="en-US" altLang="zh-CN" i="1" dirty="0" err="1">
                <a:solidFill>
                  <a:srgbClr val="00B050"/>
                </a:solidFill>
              </a:rPr>
              <a:t>y</a:t>
            </a:r>
            <a:r>
              <a:rPr lang="en-US" altLang="zh-CN" dirty="0">
                <a:solidFill>
                  <a:srgbClr val="00B050"/>
                </a:solidFill>
              </a:rPr>
              <a:t>&gt;∈</a:t>
            </a:r>
            <a:r>
              <a:rPr lang="en-US" altLang="zh-CN" i="1" dirty="0">
                <a:solidFill>
                  <a:srgbClr val="00B050"/>
                </a:solidFill>
              </a:rPr>
              <a:t>G</a:t>
            </a:r>
            <a:r>
              <a:rPr lang="en-US" altLang="zh-CN" sz="3600" baseline="-16000" dirty="0">
                <a:solidFill>
                  <a:srgbClr val="00B05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B050"/>
                </a:solidFill>
              </a:rPr>
              <a:t>H</a:t>
            </a:r>
            <a:r>
              <a:rPr lang="en-US" altLang="zh-CN" dirty="0">
                <a:solidFill>
                  <a:srgbClr val="00B050"/>
                </a:solidFill>
              </a:rPr>
              <a:t>)</a:t>
            </a:r>
          </a:p>
          <a:p>
            <a:pPr eaLnBrk="1" hangingPunct="1"/>
            <a:r>
              <a:rPr lang="en-US" altLang="zh-CN" dirty="0"/>
              <a:t>           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H</a:t>
            </a:r>
            <a:r>
              <a:rPr lang="en-US" altLang="zh-CN" dirty="0"/>
              <a:t>) </a:t>
            </a:r>
          </a:p>
          <a:p>
            <a:pPr eaLnBrk="1" hangingPunct="1"/>
            <a:r>
              <a:rPr lang="zh-CN" altLang="en-US" dirty="0"/>
              <a:t>所以 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G</a:t>
            </a:r>
            <a:r>
              <a:rPr lang="en-US" altLang="zh-CN" dirty="0"/>
              <a:t>)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H </a:t>
            </a:r>
            <a:r>
              <a:rPr lang="en-US" altLang="zh-CN" dirty="0"/>
              <a:t>= 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H</a:t>
            </a:r>
            <a:r>
              <a:rPr lang="en-US" altLang="zh-CN" dirty="0"/>
              <a:t>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9FEFBFD-E8FD-4EFA-BDB0-35F35327D822}" type="slidenum">
              <a:rPr lang="en-US" altLang="zh-CN" sz="1400" b="0" smtClean="0">
                <a:latin typeface="Arial" panose="020B0604020202020204" pitchFamily="34" charset="0"/>
              </a:rPr>
              <a:t>25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>
              <a:spcBef>
                <a:spcPct val="90000"/>
              </a:spcBef>
            </a:pPr>
            <a:r>
              <a:rPr lang="en-US" altLang="zh-CN"/>
              <a:t>(2) (</a:t>
            </a:r>
            <a:r>
              <a:rPr lang="en-US" altLang="zh-CN" i="1"/>
              <a:t>F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G</a:t>
            </a:r>
            <a:r>
              <a:rPr lang="en-US" altLang="zh-CN"/>
              <a:t>)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 = </a:t>
            </a:r>
            <a:r>
              <a:rPr lang="en-US" altLang="zh-CN" i="1"/>
              <a:t>G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F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endParaRPr lang="en-US" altLang="zh-CN"/>
          </a:p>
          <a:p>
            <a:pPr eaLnBrk="1" hangingPunct="1">
              <a:spcBef>
                <a:spcPct val="90000"/>
              </a:spcBef>
            </a:pPr>
            <a:r>
              <a:rPr lang="zh-CN" altLang="en-US"/>
              <a:t>证明：</a:t>
            </a:r>
            <a:endParaRPr lang="en-US" altLang="zh-CN"/>
          </a:p>
          <a:p>
            <a:pPr eaLnBrk="1" hangingPunct="1">
              <a:spcBef>
                <a:spcPct val="90000"/>
              </a:spcBef>
            </a:pPr>
            <a:r>
              <a:rPr lang="en-US" altLang="zh-CN"/>
              <a:t>   </a:t>
            </a:r>
            <a:r>
              <a:rPr lang="zh-CN" altLang="en-US"/>
              <a:t>任取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&gt;, </a:t>
            </a:r>
          </a:p>
          <a:p>
            <a:pPr eaLnBrk="1" hangingPunct="1">
              <a:spcBef>
                <a:spcPct val="90000"/>
              </a:spcBef>
            </a:pPr>
            <a:r>
              <a:rPr lang="en-US" altLang="zh-CN"/>
              <a:t>       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&gt;∈(</a:t>
            </a:r>
            <a:r>
              <a:rPr lang="en-US" altLang="zh-CN" i="1"/>
              <a:t>F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G</a:t>
            </a:r>
            <a:r>
              <a:rPr lang="en-US" altLang="zh-CN"/>
              <a:t>)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 </a:t>
            </a:r>
          </a:p>
          <a:p>
            <a:pPr eaLnBrk="1" hangingPunct="1">
              <a:spcBef>
                <a:spcPct val="90000"/>
              </a:spcBef>
            </a:pPr>
            <a:r>
              <a:rPr lang="en-US" altLang="zh-CN"/>
              <a:t>        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0066FF"/>
                </a:solidFill>
              </a:rPr>
              <a:t> &lt;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&gt;∈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 sz="3600" baseline="-16000">
                <a:solidFill>
                  <a:srgbClr val="0066FF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66FF"/>
                </a:solidFill>
              </a:rPr>
              <a:t>G</a:t>
            </a:r>
            <a:br>
              <a:rPr lang="en-US" altLang="zh-CN">
                <a:solidFill>
                  <a:srgbClr val="0066FF"/>
                </a:solidFill>
              </a:rPr>
            </a:br>
            <a:r>
              <a:rPr lang="en-US" altLang="zh-CN">
                <a:solidFill>
                  <a:srgbClr val="0066FF"/>
                </a:solidFill>
              </a:rPr>
              <a:t>   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0066FF"/>
                </a:solidFill>
              </a:rPr>
              <a:t> 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>
                <a:solidFill>
                  <a:srgbClr val="0066FF"/>
                </a:solidFill>
              </a:rPr>
              <a:t>t </a:t>
            </a:r>
            <a:r>
              <a:rPr lang="en-US" altLang="zh-CN">
                <a:solidFill>
                  <a:srgbClr val="0066FF"/>
                </a:solidFill>
              </a:rPr>
              <a:t>(&lt;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t</a:t>
            </a:r>
            <a:r>
              <a:rPr lang="en-US" altLang="zh-CN">
                <a:solidFill>
                  <a:srgbClr val="0066FF"/>
                </a:solidFill>
              </a:rPr>
              <a:t>&gt;∈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>
                <a:solidFill>
                  <a:srgbClr val="0066FF"/>
                </a:solidFill>
              </a:rPr>
              <a:t>∧&lt;</a:t>
            </a:r>
            <a:r>
              <a:rPr lang="en-US" altLang="zh-CN" i="1">
                <a:solidFill>
                  <a:srgbClr val="0066FF"/>
                </a:solidFill>
              </a:rPr>
              <a:t>t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x&gt;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G</a:t>
            </a:r>
            <a:r>
              <a:rPr lang="en-US" altLang="zh-CN">
                <a:solidFill>
                  <a:srgbClr val="0066FF"/>
                </a:solidFill>
              </a:rPr>
              <a:t>)</a:t>
            </a:r>
            <a:br>
              <a:rPr lang="en-US" altLang="zh-CN">
                <a:solidFill>
                  <a:srgbClr val="0066FF"/>
                </a:solidFill>
              </a:rPr>
            </a:br>
            <a:r>
              <a:rPr lang="en-US" altLang="zh-CN">
                <a:solidFill>
                  <a:srgbClr val="0066FF"/>
                </a:solidFill>
              </a:rPr>
              <a:t>   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0066FF"/>
                </a:solidFill>
              </a:rPr>
              <a:t> 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>
                <a:solidFill>
                  <a:srgbClr val="0066FF"/>
                </a:solidFill>
              </a:rPr>
              <a:t>t </a:t>
            </a:r>
            <a:r>
              <a:rPr lang="en-US" altLang="zh-CN">
                <a:solidFill>
                  <a:srgbClr val="0066FF"/>
                </a:solidFill>
              </a:rPr>
              <a:t>(&lt;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t</a:t>
            </a:r>
            <a:r>
              <a:rPr lang="en-US" altLang="zh-CN">
                <a:solidFill>
                  <a:srgbClr val="0066FF"/>
                </a:solidFill>
              </a:rPr>
              <a:t>&gt;∈</a:t>
            </a:r>
            <a:r>
              <a:rPr lang="en-US" altLang="zh-CN" i="1">
                <a:solidFill>
                  <a:srgbClr val="0066FF"/>
                </a:solidFill>
              </a:rPr>
              <a:t>G</a:t>
            </a:r>
            <a:r>
              <a:rPr lang="en-US" altLang="zh-CN" i="1" baseline="3000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>
                <a:solidFill>
                  <a:srgbClr val="0066FF"/>
                </a:solidFill>
              </a:rPr>
              <a:t>1</a:t>
            </a:r>
            <a:r>
              <a:rPr lang="en-US" altLang="zh-CN">
                <a:solidFill>
                  <a:srgbClr val="0066FF"/>
                </a:solidFill>
              </a:rPr>
              <a:t>∧&lt;</a:t>
            </a:r>
            <a:r>
              <a:rPr lang="en-US" altLang="zh-CN" i="1">
                <a:solidFill>
                  <a:srgbClr val="0066FF"/>
                </a:solidFill>
              </a:rPr>
              <a:t>t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&gt;∈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 i="1" baseline="3000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>
                <a:solidFill>
                  <a:srgbClr val="0066FF"/>
                </a:solidFill>
              </a:rPr>
              <a:t>1</a:t>
            </a:r>
            <a:r>
              <a:rPr lang="en-US" altLang="zh-CN">
                <a:solidFill>
                  <a:srgbClr val="0066FF"/>
                </a:solidFill>
              </a:rPr>
              <a:t>)</a:t>
            </a:r>
          </a:p>
          <a:p>
            <a:pPr eaLnBrk="1" hangingPunct="1">
              <a:spcBef>
                <a:spcPct val="90000"/>
              </a:spcBef>
            </a:pPr>
            <a:r>
              <a:rPr lang="en-US" altLang="zh-CN"/>
              <a:t>        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G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 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F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br>
              <a:rPr lang="en-US" altLang="zh-CN"/>
            </a:br>
            <a:r>
              <a:rPr lang="zh-CN" altLang="en-US"/>
              <a:t>所以 </a:t>
            </a:r>
            <a:r>
              <a:rPr lang="en-US" altLang="zh-CN"/>
              <a:t>(</a:t>
            </a:r>
            <a:r>
              <a:rPr lang="en-US" altLang="zh-CN" i="1"/>
              <a:t>F 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sz="360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CN" i="1"/>
              <a:t>G</a:t>
            </a:r>
            <a:r>
              <a:rPr lang="en-US" altLang="zh-CN"/>
              <a:t>)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 = </a:t>
            </a:r>
            <a:r>
              <a:rPr lang="en-US" altLang="zh-CN" i="1"/>
              <a:t>G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 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F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 </a:t>
            </a:r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E500DA7-51E0-4B38-A3D1-73464B00AC26}" type="slidenum">
              <a:rPr lang="en-US" altLang="zh-CN" sz="1400" b="0" smtClean="0">
                <a:latin typeface="Arial" panose="020B0604020202020204" pitchFamily="34" charset="0"/>
              </a:rPr>
              <a:t>26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关系运算的性质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147050" cy="10795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rgbClr val="A50021"/>
                </a:solidFill>
              </a:rPr>
              <a:t>定理</a:t>
            </a:r>
            <a:r>
              <a:rPr lang="en-US" altLang="zh-CN">
                <a:solidFill>
                  <a:srgbClr val="A50021"/>
                </a:solidFill>
              </a:rPr>
              <a:t>7.3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 i="1"/>
              <a:t>R</a:t>
            </a:r>
            <a:r>
              <a:rPr lang="zh-CN" altLang="en-US"/>
              <a:t>为</a:t>
            </a:r>
            <a:r>
              <a:rPr lang="en-US" altLang="zh-CN" i="1"/>
              <a:t>A</a:t>
            </a:r>
            <a:r>
              <a:rPr lang="zh-CN" altLang="en-US"/>
              <a:t>上的关系</a:t>
            </a:r>
            <a:r>
              <a:rPr lang="en-US" altLang="zh-CN"/>
              <a:t>, </a:t>
            </a:r>
            <a:r>
              <a:rPr lang="zh-CN" altLang="en-US"/>
              <a:t>则</a:t>
            </a:r>
            <a:br>
              <a:rPr lang="zh-CN" altLang="en-US"/>
            </a:br>
            <a:r>
              <a:rPr lang="zh-CN" altLang="en-US"/>
              <a:t>       </a:t>
            </a:r>
            <a:r>
              <a:rPr lang="en-US" altLang="zh-CN" i="1"/>
              <a:t>R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I</a:t>
            </a:r>
            <a:r>
              <a:rPr lang="en-US" altLang="zh-CN" i="1" baseline="-25000"/>
              <a:t>A</a:t>
            </a:r>
            <a:r>
              <a:rPr lang="en-US" altLang="zh-CN"/>
              <a:t>= </a:t>
            </a:r>
            <a:r>
              <a:rPr lang="en-US" altLang="zh-CN" i="1"/>
              <a:t>I</a:t>
            </a:r>
            <a:r>
              <a:rPr lang="en-US" altLang="zh-CN" i="1" baseline="-25000"/>
              <a:t>A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R</a:t>
            </a:r>
            <a:r>
              <a:rPr lang="en-US" altLang="zh-CN"/>
              <a:t>=</a:t>
            </a:r>
            <a:r>
              <a:rPr lang="en-US" altLang="zh-CN" i="1"/>
              <a:t>R</a:t>
            </a:r>
          </a:p>
        </p:txBody>
      </p:sp>
      <p:sp>
        <p:nvSpPr>
          <p:cNvPr id="51205" name="Rectangle 4"/>
          <p:cNvSpPr>
            <a:spLocks noChangeArrowheads="1"/>
          </p:cNvSpPr>
          <p:nvPr/>
        </p:nvSpPr>
        <p:spPr bwMode="auto">
          <a:xfrm>
            <a:off x="468313" y="2565400"/>
            <a:ext cx="8064500" cy="224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/>
              <a:t>证任取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</a:t>
            </a:r>
            <a:br>
              <a:rPr lang="en-US" altLang="zh-CN"/>
            </a:br>
            <a:r>
              <a:rPr lang="en-US" altLang="zh-CN"/>
              <a:t>               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R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I</a:t>
            </a:r>
            <a:r>
              <a:rPr lang="en-US" altLang="zh-CN" i="1" baseline="-25000"/>
              <a:t>A</a:t>
            </a:r>
            <a:br>
              <a:rPr lang="en-US" altLang="zh-CN"/>
            </a:br>
            <a:r>
              <a:rPr lang="en-US" altLang="zh-CN">
                <a:solidFill>
                  <a:srgbClr val="0066FF"/>
                </a:solidFill>
              </a:rPr>
              <a:t>       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0066FF"/>
                </a:solidFill>
              </a:rPr>
              <a:t> 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>
                <a:solidFill>
                  <a:srgbClr val="0066FF"/>
                </a:solidFill>
              </a:rPr>
              <a:t>t </a:t>
            </a:r>
            <a:r>
              <a:rPr lang="en-US" altLang="zh-CN">
                <a:solidFill>
                  <a:srgbClr val="0066FF"/>
                </a:solidFill>
              </a:rPr>
              <a:t>(&lt;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t</a:t>
            </a:r>
            <a:r>
              <a:rPr lang="en-US" altLang="zh-CN">
                <a:solidFill>
                  <a:srgbClr val="0066FF"/>
                </a:solidFill>
              </a:rPr>
              <a:t>&gt;∈</a:t>
            </a:r>
            <a:r>
              <a:rPr lang="en-US" altLang="zh-CN" i="1">
                <a:solidFill>
                  <a:srgbClr val="0066FF"/>
                </a:solidFill>
              </a:rPr>
              <a:t>R</a:t>
            </a:r>
            <a:r>
              <a:rPr lang="en-US" altLang="zh-CN">
                <a:solidFill>
                  <a:srgbClr val="0066FF"/>
                </a:solidFill>
              </a:rPr>
              <a:t>∧&lt;</a:t>
            </a:r>
            <a:r>
              <a:rPr lang="en-US" altLang="zh-CN" i="1">
                <a:solidFill>
                  <a:srgbClr val="0066FF"/>
                </a:solidFill>
              </a:rPr>
              <a:t>t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&gt;∈</a:t>
            </a:r>
            <a:r>
              <a:rPr lang="en-US" altLang="zh-CN" i="1">
                <a:solidFill>
                  <a:srgbClr val="0066FF"/>
                </a:solidFill>
              </a:rPr>
              <a:t>I</a:t>
            </a:r>
            <a:r>
              <a:rPr lang="en-US" altLang="zh-CN" i="1" baseline="-25000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) </a:t>
            </a:r>
            <a:endParaRPr lang="en-US" altLang="zh-CN">
              <a:solidFill>
                <a:srgbClr val="0066FF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               </a:t>
            </a:r>
            <a:r>
              <a:rPr lang="en-US" altLang="zh-CN">
                <a:solidFill>
                  <a:srgbClr val="0066FF"/>
                </a:solidFill>
              </a:rPr>
              <a:t> 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>
                <a:solidFill>
                  <a:srgbClr val="0066FF"/>
                </a:solidFill>
              </a:rPr>
              <a:t>t </a:t>
            </a:r>
            <a:r>
              <a:rPr lang="en-US" altLang="zh-CN">
                <a:solidFill>
                  <a:srgbClr val="0066FF"/>
                </a:solidFill>
              </a:rPr>
              <a:t>(&lt;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t</a:t>
            </a:r>
            <a:r>
              <a:rPr lang="en-US" altLang="zh-CN">
                <a:solidFill>
                  <a:srgbClr val="0066FF"/>
                </a:solidFill>
              </a:rPr>
              <a:t>&gt;∈</a:t>
            </a:r>
            <a:r>
              <a:rPr lang="en-US" altLang="zh-CN" i="1">
                <a:solidFill>
                  <a:srgbClr val="0066FF"/>
                </a:solidFill>
              </a:rPr>
              <a:t>R</a:t>
            </a:r>
            <a:r>
              <a:rPr lang="en-US" altLang="zh-CN">
                <a:solidFill>
                  <a:srgbClr val="0066FF"/>
                </a:solidFill>
              </a:rPr>
              <a:t>∧</a:t>
            </a:r>
            <a:r>
              <a:rPr lang="en-US" altLang="zh-CN" i="1">
                <a:solidFill>
                  <a:srgbClr val="0066FF"/>
                </a:solidFill>
              </a:rPr>
              <a:t>t</a:t>
            </a:r>
            <a:r>
              <a:rPr lang="en-US" altLang="zh-CN">
                <a:solidFill>
                  <a:srgbClr val="0066FF"/>
                </a:solidFill>
              </a:rPr>
              <a:t>=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∧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)   </a:t>
            </a:r>
            <a:endParaRPr lang="en-US" altLang="zh-CN">
              <a:solidFill>
                <a:srgbClr val="0066FF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               </a:t>
            </a:r>
            <a:r>
              <a:rPr lang="en-US" altLang="zh-CN"/>
              <a:t>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R</a:t>
            </a:r>
          </a:p>
          <a:p>
            <a:pPr eaLnBrk="1" hangingPunct="1"/>
            <a:endParaRPr lang="en-US" altLang="zh-CN" i="1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2868C36-01C5-42C1-BF8D-083B29D86BF0}" type="slidenum">
              <a:rPr lang="en-US" altLang="zh-CN" sz="1400" b="0" smtClean="0">
                <a:latin typeface="Arial" panose="020B0604020202020204" pitchFamily="34" charset="0"/>
              </a:rPr>
              <a:t>27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关系运算的性质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147050" cy="143986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7.4</a:t>
            </a:r>
            <a:r>
              <a:rPr lang="en-US" altLang="zh-CN" dirty="0"/>
              <a:t> </a:t>
            </a:r>
          </a:p>
          <a:p>
            <a:pPr eaLnBrk="1" hangingPunct="1"/>
            <a:r>
              <a:rPr lang="en-US" altLang="zh-CN" dirty="0"/>
              <a:t> (1)  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i="1" dirty="0"/>
              <a:t>H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G</a:t>
            </a:r>
            <a:r>
              <a:rPr lang="en-US" altLang="zh-CN" dirty="0"/>
              <a:t>∪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H      </a:t>
            </a:r>
            <a:r>
              <a:rPr lang="en-US" altLang="zh-CN" dirty="0"/>
              <a:t> (2)  (</a:t>
            </a:r>
            <a:r>
              <a:rPr lang="en-US" altLang="zh-CN" i="1" dirty="0"/>
              <a:t>G</a:t>
            </a:r>
            <a:r>
              <a:rPr lang="en-US" altLang="zh-CN" dirty="0"/>
              <a:t>∪</a:t>
            </a:r>
            <a:r>
              <a:rPr lang="en-US" altLang="zh-CN" i="1" dirty="0"/>
              <a:t>H</a:t>
            </a:r>
            <a:r>
              <a:rPr lang="en-US" altLang="zh-CN" dirty="0"/>
              <a:t>)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F </a:t>
            </a:r>
            <a:r>
              <a:rPr lang="en-US" altLang="zh-CN" dirty="0"/>
              <a:t>= </a:t>
            </a:r>
            <a:r>
              <a:rPr lang="en-US" altLang="zh-CN" i="1" dirty="0"/>
              <a:t>G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F</a:t>
            </a:r>
            <a:r>
              <a:rPr lang="en-US" altLang="zh-CN" dirty="0"/>
              <a:t>∪</a:t>
            </a:r>
            <a:r>
              <a:rPr lang="en-US" altLang="zh-CN" i="1" dirty="0"/>
              <a:t>H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F</a:t>
            </a:r>
            <a:endParaRPr lang="en-US" altLang="zh-CN" dirty="0"/>
          </a:p>
          <a:p>
            <a:pPr eaLnBrk="1" hangingPunct="1"/>
            <a:r>
              <a:rPr lang="en-US" altLang="zh-CN" dirty="0"/>
              <a:t> (3)  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∩</a:t>
            </a:r>
            <a:r>
              <a:rPr lang="en-US" altLang="zh-CN" i="1" dirty="0"/>
              <a:t>H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G</a:t>
            </a:r>
            <a:r>
              <a:rPr lang="en-US" altLang="zh-CN" dirty="0"/>
              <a:t>∩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H        </a:t>
            </a:r>
            <a:r>
              <a:rPr lang="en-US" altLang="zh-CN" dirty="0"/>
              <a:t>(4)  (</a:t>
            </a:r>
            <a:r>
              <a:rPr lang="en-US" altLang="zh-CN" i="1" dirty="0"/>
              <a:t>G</a:t>
            </a:r>
            <a:r>
              <a:rPr lang="en-US" altLang="zh-CN" dirty="0"/>
              <a:t>∩</a:t>
            </a:r>
            <a:r>
              <a:rPr lang="en-US" altLang="zh-CN" i="1" dirty="0"/>
              <a:t>H</a:t>
            </a:r>
            <a:r>
              <a:rPr lang="en-US" altLang="zh-CN" dirty="0"/>
              <a:t>)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F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G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F</a:t>
            </a:r>
            <a:r>
              <a:rPr lang="en-US" altLang="zh-CN" dirty="0"/>
              <a:t>∩</a:t>
            </a:r>
            <a:r>
              <a:rPr lang="en-US" altLang="zh-CN" i="1" dirty="0"/>
              <a:t>H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F</a:t>
            </a:r>
            <a:endParaRPr lang="en-US" altLang="zh-CN" dirty="0"/>
          </a:p>
        </p:txBody>
      </p:sp>
      <p:sp>
        <p:nvSpPr>
          <p:cNvPr id="53253" name="Rectangle 4"/>
          <p:cNvSpPr>
            <a:spLocks noChangeArrowheads="1"/>
          </p:cNvSpPr>
          <p:nvPr/>
        </p:nvSpPr>
        <p:spPr bwMode="auto">
          <a:xfrm>
            <a:off x="468313" y="2420938"/>
            <a:ext cx="7848600" cy="422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70000"/>
              </a:spcBef>
            </a:pPr>
            <a:r>
              <a:rPr lang="zh-CN" altLang="en-US" dirty="0"/>
              <a:t>只证 </a:t>
            </a:r>
            <a:r>
              <a:rPr lang="en-US" altLang="zh-CN" dirty="0"/>
              <a:t>(3)  </a:t>
            </a:r>
            <a:r>
              <a:rPr lang="zh-CN" altLang="en-US" dirty="0"/>
              <a:t>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</a:t>
            </a:r>
            <a:br>
              <a:rPr lang="en-US" altLang="zh-CN" dirty="0"/>
            </a:b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∩</a:t>
            </a:r>
            <a:r>
              <a:rPr lang="en-US" altLang="zh-CN" i="1" dirty="0"/>
              <a:t>H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66FF"/>
                </a:solidFill>
              </a:rPr>
              <a:t>t </a:t>
            </a:r>
            <a:r>
              <a:rPr lang="en-US" altLang="zh-CN" dirty="0">
                <a:solidFill>
                  <a:srgbClr val="0066FF"/>
                </a:solidFill>
              </a:rPr>
              <a:t>(&lt;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t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dirty="0">
                <a:solidFill>
                  <a:srgbClr val="0066FF"/>
                </a:solidFill>
              </a:rPr>
              <a:t>∧&lt;</a:t>
            </a:r>
            <a:r>
              <a:rPr lang="en-US" altLang="zh-CN" i="1" dirty="0" err="1">
                <a:solidFill>
                  <a:srgbClr val="0066FF"/>
                </a:solidFill>
              </a:rPr>
              <a:t>t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en-US" altLang="zh-CN" dirty="0">
                <a:solidFill>
                  <a:srgbClr val="0066FF"/>
                </a:solidFill>
              </a:rPr>
              <a:t>∩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br>
              <a:rPr lang="en-US" altLang="zh-CN" dirty="0">
                <a:solidFill>
                  <a:srgbClr val="0066FF"/>
                </a:solidFill>
              </a:rPr>
            </a:b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66FF"/>
                </a:solidFill>
              </a:rPr>
              <a:t>t </a:t>
            </a:r>
            <a:r>
              <a:rPr lang="en-US" altLang="zh-CN" dirty="0">
                <a:solidFill>
                  <a:srgbClr val="0066FF"/>
                </a:solidFill>
              </a:rPr>
              <a:t>(&lt;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t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dirty="0">
                <a:solidFill>
                  <a:srgbClr val="0066FF"/>
                </a:solidFill>
              </a:rPr>
              <a:t>∧&lt;</a:t>
            </a:r>
            <a:r>
              <a:rPr lang="en-US" altLang="zh-CN" i="1" dirty="0" err="1">
                <a:solidFill>
                  <a:srgbClr val="0066FF"/>
                </a:solidFill>
              </a:rPr>
              <a:t>t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en-US" altLang="zh-CN" dirty="0">
                <a:solidFill>
                  <a:srgbClr val="0066FF"/>
                </a:solidFill>
              </a:rPr>
              <a:t>∧&lt;</a:t>
            </a:r>
            <a:r>
              <a:rPr lang="en-US" altLang="zh-CN" i="1" dirty="0" err="1">
                <a:solidFill>
                  <a:srgbClr val="0066FF"/>
                </a:solidFill>
              </a:rPr>
              <a:t>t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br>
              <a:rPr lang="en-US" altLang="zh-CN" dirty="0">
                <a:solidFill>
                  <a:srgbClr val="0066FF"/>
                </a:solidFill>
              </a:rPr>
            </a:b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66FF"/>
                </a:solidFill>
              </a:rPr>
              <a:t>t 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(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t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dirty="0">
                <a:solidFill>
                  <a:srgbClr val="0066FF"/>
                </a:solidFill>
              </a:rPr>
              <a:t>∧&lt;</a:t>
            </a:r>
            <a:r>
              <a:rPr lang="en-US" altLang="zh-CN" i="1" dirty="0" err="1">
                <a:solidFill>
                  <a:srgbClr val="0066FF"/>
                </a:solidFill>
              </a:rPr>
              <a:t>t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en-US" altLang="zh-CN" dirty="0">
                <a:solidFill>
                  <a:srgbClr val="00B050"/>
                </a:solidFill>
              </a:rPr>
              <a:t>)</a:t>
            </a:r>
            <a:r>
              <a:rPr lang="en-US" altLang="zh-CN" dirty="0">
                <a:solidFill>
                  <a:srgbClr val="0066FF"/>
                </a:solidFill>
              </a:rPr>
              <a:t>∧</a:t>
            </a:r>
            <a:r>
              <a:rPr lang="en-US" altLang="zh-CN" dirty="0">
                <a:solidFill>
                  <a:srgbClr val="00B050"/>
                </a:solidFill>
              </a:rPr>
              <a:t>(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t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dirty="0">
                <a:solidFill>
                  <a:srgbClr val="0066FF"/>
                </a:solidFill>
              </a:rPr>
              <a:t>∧&lt;</a:t>
            </a:r>
            <a:r>
              <a:rPr lang="en-US" altLang="zh-CN" i="1" dirty="0" err="1">
                <a:solidFill>
                  <a:srgbClr val="0066FF"/>
                </a:solidFill>
              </a:rPr>
              <a:t>t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dirty="0">
                <a:solidFill>
                  <a:srgbClr val="00B050"/>
                </a:solidFill>
              </a:rPr>
              <a:t>)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br>
              <a:rPr lang="en-US" altLang="zh-CN" dirty="0">
                <a:solidFill>
                  <a:srgbClr val="0066FF"/>
                </a:solidFill>
              </a:rPr>
            </a:b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66FF"/>
                </a:solidFill>
              </a:rPr>
              <a:t>t </a:t>
            </a:r>
            <a:r>
              <a:rPr lang="en-US" altLang="zh-CN" dirty="0">
                <a:solidFill>
                  <a:srgbClr val="00B050"/>
                </a:solidFill>
              </a:rPr>
              <a:t>(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t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dirty="0">
                <a:solidFill>
                  <a:srgbClr val="0066FF"/>
                </a:solidFill>
              </a:rPr>
              <a:t>∧&lt;</a:t>
            </a:r>
            <a:r>
              <a:rPr lang="en-US" altLang="zh-CN" i="1" dirty="0" err="1">
                <a:solidFill>
                  <a:srgbClr val="0066FF"/>
                </a:solidFill>
              </a:rPr>
              <a:t>t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en-US" altLang="zh-CN" dirty="0">
                <a:solidFill>
                  <a:srgbClr val="00B050"/>
                </a:solidFill>
              </a:rPr>
              <a:t>)</a:t>
            </a:r>
            <a:r>
              <a:rPr lang="en-US" altLang="zh-CN" dirty="0">
                <a:solidFill>
                  <a:srgbClr val="0066FF"/>
                </a:solidFill>
              </a:rPr>
              <a:t>∧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66FF"/>
                </a:solidFill>
              </a:rPr>
              <a:t>t </a:t>
            </a:r>
            <a:r>
              <a:rPr lang="en-US" altLang="zh-CN" dirty="0">
                <a:solidFill>
                  <a:srgbClr val="00B050"/>
                </a:solidFill>
              </a:rPr>
              <a:t>(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t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dirty="0">
                <a:solidFill>
                  <a:srgbClr val="0066FF"/>
                </a:solidFill>
              </a:rPr>
              <a:t>∧&lt;</a:t>
            </a:r>
            <a:r>
              <a:rPr lang="en-US" altLang="zh-CN" i="1" dirty="0" err="1">
                <a:solidFill>
                  <a:srgbClr val="0066FF"/>
                </a:solidFill>
              </a:rPr>
              <a:t>t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dirty="0">
                <a:solidFill>
                  <a:srgbClr val="00B050"/>
                </a:solidFill>
              </a:rPr>
              <a:t>)</a:t>
            </a:r>
            <a:br>
              <a:rPr lang="en-US" altLang="zh-CN" dirty="0">
                <a:solidFill>
                  <a:srgbClr val="0066FF"/>
                </a:solidFill>
              </a:rPr>
            </a:b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sz="3600" baseline="-16000" dirty="0">
                <a:solidFill>
                  <a:srgbClr val="0066FF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en-US" altLang="zh-CN" dirty="0">
                <a:solidFill>
                  <a:srgbClr val="0066FF"/>
                </a:solidFill>
              </a:rPr>
              <a:t>∧&lt;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sz="3600" baseline="-16000" dirty="0">
                <a:solidFill>
                  <a:srgbClr val="0066FF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br>
              <a:rPr lang="en-US" altLang="zh-CN" dirty="0">
                <a:solidFill>
                  <a:srgbClr val="0066FF"/>
                </a:solidFill>
              </a:rPr>
            </a:b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G</a:t>
            </a:r>
            <a:r>
              <a:rPr lang="en-US" altLang="zh-CN" dirty="0"/>
              <a:t>∩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H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/>
              <a:t>所以有 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∩</a:t>
            </a:r>
            <a:r>
              <a:rPr lang="en-US" altLang="zh-CN" i="1" dirty="0"/>
              <a:t>H</a:t>
            </a:r>
            <a:r>
              <a:rPr lang="en-US" altLang="zh-CN" dirty="0"/>
              <a:t>)  </a:t>
            </a:r>
            <a:r>
              <a:rPr lang="en-US" altLang="zh-CN" dirty="0">
                <a:sym typeface="Symbol" panose="05050102010706020507" pitchFamily="18" charset="2"/>
              </a:rPr>
              <a:t>  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G</a:t>
            </a:r>
            <a:r>
              <a:rPr lang="en-US" altLang="zh-CN" dirty="0"/>
              <a:t>∩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H</a:t>
            </a:r>
          </a:p>
        </p:txBody>
      </p:sp>
      <p:graphicFrame>
        <p:nvGraphicFramePr>
          <p:cNvPr id="2" name="Object 10"/>
          <p:cNvGraphicFramePr>
            <a:graphicFrameLocks noChangeAspect="1"/>
          </p:cNvGraphicFramePr>
          <p:nvPr/>
        </p:nvGraphicFramePr>
        <p:xfrm>
          <a:off x="824895" y="6204744"/>
          <a:ext cx="6297613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594550" imgH="2962910" progId="Equation.3">
                  <p:embed/>
                </p:oleObj>
              </mc:Choice>
              <mc:Fallback>
                <p:oleObj name="Equation" r:id="rId3" imgW="32594550" imgH="296291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895" y="6204744"/>
                        <a:ext cx="6297613" cy="557212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F319F16-3109-4A42-A4AA-DF9150796B90}" type="slidenum">
              <a:rPr lang="en-US" altLang="zh-CN" sz="1400" b="0" smtClean="0">
                <a:latin typeface="Arial" panose="020B0604020202020204" pitchFamily="34" charset="0"/>
              </a:rPr>
              <a:t>28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推广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algn="just" eaLnBrk="1" hangingPunct="1"/>
            <a:r>
              <a:rPr lang="zh-CN" altLang="en-US"/>
              <a:t>定理</a:t>
            </a:r>
            <a:r>
              <a:rPr lang="en-US" altLang="zh-CN"/>
              <a:t>7.4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</a:rPr>
              <a:t>的结论可以推广到有限多个关系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rgbClr val="000000"/>
                </a:solidFill>
              </a:rPr>
              <a:t> 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>
                <a:solidFill>
                  <a:srgbClr val="000000"/>
                </a:solidFill>
              </a:rPr>
              <a:t>(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-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-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>
                <a:solidFill>
                  <a:srgbClr val="000000"/>
                </a:solidFill>
              </a:rPr>
              <a:t>…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-30000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) =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-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-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>
                <a:solidFill>
                  <a:srgbClr val="000000"/>
                </a:solidFill>
              </a:rPr>
              <a:t>…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-30000">
                <a:solidFill>
                  <a:srgbClr val="000000"/>
                </a:solidFill>
              </a:rPr>
              <a:t>n</a:t>
            </a:r>
            <a:br>
              <a:rPr lang="en-US" altLang="zh-CN">
                <a:solidFill>
                  <a:srgbClr val="000000"/>
                </a:solidFill>
              </a:rPr>
            </a:br>
            <a:r>
              <a:rPr lang="en-US" altLang="zh-CN">
                <a:solidFill>
                  <a:srgbClr val="000000"/>
                </a:solidFill>
              </a:rPr>
              <a:t>  (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-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-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>
                <a:solidFill>
                  <a:srgbClr val="000000"/>
                </a:solidFill>
              </a:rPr>
              <a:t>…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-30000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 </a:t>
            </a:r>
            <a:r>
              <a:rPr lang="en-US" altLang="zh-CN">
                <a:solidFill>
                  <a:srgbClr val="000000"/>
                </a:solidFill>
              </a:rPr>
              <a:t>=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-30000">
                <a:solidFill>
                  <a:srgbClr val="000000"/>
                </a:solidFill>
              </a:rPr>
              <a:t>1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-30000">
                <a:solidFill>
                  <a:srgbClr val="000000"/>
                </a:solidFill>
              </a:rPr>
              <a:t>2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>
                <a:solidFill>
                  <a:srgbClr val="000000"/>
                </a:solidFill>
              </a:rPr>
              <a:t>…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-30000">
                <a:solidFill>
                  <a:srgbClr val="000000"/>
                </a:solidFill>
              </a:rPr>
              <a:t>n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br>
              <a:rPr lang="en-US" altLang="zh-CN">
                <a:solidFill>
                  <a:srgbClr val="000000"/>
                </a:solidFill>
              </a:rPr>
            </a:br>
            <a:r>
              <a:rPr lang="en-US" altLang="zh-CN">
                <a:solidFill>
                  <a:srgbClr val="000000"/>
                </a:solidFill>
              </a:rPr>
              <a:t> 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>
                <a:solidFill>
                  <a:srgbClr val="000000"/>
                </a:solidFill>
              </a:rPr>
              <a:t>(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-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∩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-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∩ … ∩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-30000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) 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-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∩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-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∩ … ∩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-30000">
                <a:solidFill>
                  <a:srgbClr val="000000"/>
                </a:solidFill>
              </a:rPr>
              <a:t>n</a:t>
            </a:r>
            <a:br>
              <a:rPr lang="en-US" altLang="zh-CN">
                <a:solidFill>
                  <a:srgbClr val="000000"/>
                </a:solidFill>
              </a:rPr>
            </a:br>
            <a:r>
              <a:rPr lang="en-US" altLang="zh-CN">
                <a:solidFill>
                  <a:srgbClr val="000000"/>
                </a:solidFill>
              </a:rPr>
              <a:t>  (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-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∩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-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∩ … ∩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-30000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 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-30000">
                <a:solidFill>
                  <a:srgbClr val="000000"/>
                </a:solidFill>
              </a:rPr>
              <a:t>1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>
                <a:solidFill>
                  <a:srgbClr val="000000"/>
                </a:solidFill>
              </a:rPr>
              <a:t>∩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-30000">
                <a:solidFill>
                  <a:srgbClr val="000000"/>
                </a:solidFill>
              </a:rPr>
              <a:t>2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>
                <a:solidFill>
                  <a:srgbClr val="000000"/>
                </a:solidFill>
              </a:rPr>
              <a:t>∩ … ∩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-30000">
                <a:solidFill>
                  <a:srgbClr val="000000"/>
                </a:solidFill>
              </a:rPr>
              <a:t>n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/>
              <a:t> </a:t>
            </a: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8D6272C-874D-419A-ABBA-5881C59C2611}" type="slidenum">
              <a:rPr lang="en-US" altLang="zh-CN" sz="1400" b="0" smtClean="0">
                <a:latin typeface="Arial" panose="020B0604020202020204" pitchFamily="34" charset="0"/>
              </a:rPr>
              <a:t>29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关系运算的性质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定理</a:t>
            </a:r>
            <a:r>
              <a:rPr lang="en-US" altLang="zh-CN">
                <a:solidFill>
                  <a:srgbClr val="A50021"/>
                </a:solidFill>
              </a:rPr>
              <a:t>7.5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 i="1"/>
              <a:t>F </a:t>
            </a:r>
            <a:r>
              <a:rPr lang="zh-CN" altLang="en-US"/>
              <a:t>为关系</a:t>
            </a:r>
            <a:r>
              <a:rPr lang="en-US" altLang="zh-CN"/>
              <a:t>,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zh-CN" altLang="en-US"/>
              <a:t>为集合</a:t>
            </a:r>
            <a:r>
              <a:rPr lang="en-US" altLang="zh-CN"/>
              <a:t>, </a:t>
            </a:r>
            <a:r>
              <a:rPr lang="zh-CN" altLang="en-US"/>
              <a:t>则</a:t>
            </a:r>
          </a:p>
          <a:p>
            <a:pPr eaLnBrk="1" hangingPunct="1"/>
            <a:r>
              <a:rPr lang="en-US" altLang="zh-CN"/>
              <a:t>(1)  </a:t>
            </a:r>
            <a:r>
              <a:rPr lang="en-US" altLang="zh-CN" i="1"/>
              <a:t>F </a:t>
            </a:r>
            <a:r>
              <a:rPr lang="en-US" altLang="zh-CN" sz="2800"/>
              <a:t>↾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/>
              <a:t>∪</a:t>
            </a:r>
            <a:r>
              <a:rPr lang="en-US" altLang="zh-CN" i="1"/>
              <a:t>B</a:t>
            </a:r>
            <a:r>
              <a:rPr lang="en-US" altLang="zh-CN"/>
              <a:t>) = </a:t>
            </a:r>
            <a:r>
              <a:rPr lang="en-US" altLang="zh-CN" i="1"/>
              <a:t>F </a:t>
            </a:r>
            <a:r>
              <a:rPr lang="en-US" altLang="zh-CN" sz="2800"/>
              <a:t>↾</a:t>
            </a:r>
            <a:r>
              <a:rPr lang="en-US" altLang="zh-CN" i="1"/>
              <a:t>A</a:t>
            </a:r>
            <a:r>
              <a:rPr lang="en-US" altLang="zh-CN"/>
              <a:t>∪</a:t>
            </a:r>
            <a:r>
              <a:rPr lang="en-US" altLang="zh-CN" i="1"/>
              <a:t>F </a:t>
            </a:r>
            <a:r>
              <a:rPr lang="en-US" altLang="zh-CN" sz="2800"/>
              <a:t>↾</a:t>
            </a:r>
            <a:r>
              <a:rPr lang="en-US" altLang="zh-CN" i="1"/>
              <a:t>B</a:t>
            </a:r>
          </a:p>
          <a:p>
            <a:pPr eaLnBrk="1" hangingPunct="1"/>
            <a:r>
              <a:rPr lang="en-US" altLang="zh-CN"/>
              <a:t>(2)  </a:t>
            </a:r>
            <a:r>
              <a:rPr lang="en-US" altLang="zh-CN" i="1"/>
              <a:t>F </a:t>
            </a:r>
            <a:r>
              <a:rPr lang="en-US" altLang="zh-CN"/>
              <a:t>[</a:t>
            </a:r>
            <a:r>
              <a:rPr lang="en-US" altLang="zh-CN" i="1"/>
              <a:t>A</a:t>
            </a:r>
            <a:r>
              <a:rPr lang="en-US" altLang="zh-CN"/>
              <a:t>∪</a:t>
            </a:r>
            <a:r>
              <a:rPr lang="en-US" altLang="zh-CN" i="1"/>
              <a:t>B</a:t>
            </a:r>
            <a:r>
              <a:rPr lang="en-US" altLang="zh-CN"/>
              <a:t>] = </a:t>
            </a:r>
            <a:r>
              <a:rPr lang="en-US" altLang="zh-CN" i="1"/>
              <a:t>F </a:t>
            </a:r>
            <a:r>
              <a:rPr lang="en-US" altLang="zh-CN"/>
              <a:t>[</a:t>
            </a:r>
            <a:r>
              <a:rPr lang="en-US" altLang="zh-CN" i="1"/>
              <a:t>A</a:t>
            </a:r>
            <a:r>
              <a:rPr lang="en-US" altLang="zh-CN"/>
              <a:t>]∪</a:t>
            </a:r>
            <a:r>
              <a:rPr lang="en-US" altLang="zh-CN" i="1"/>
              <a:t>F </a:t>
            </a:r>
            <a:r>
              <a:rPr lang="en-US" altLang="zh-CN"/>
              <a:t>[</a:t>
            </a:r>
            <a:r>
              <a:rPr lang="en-US" altLang="zh-CN" i="1"/>
              <a:t>B</a:t>
            </a:r>
            <a:r>
              <a:rPr lang="en-US" altLang="zh-CN"/>
              <a:t>]</a:t>
            </a:r>
          </a:p>
          <a:p>
            <a:pPr eaLnBrk="1" hangingPunct="1"/>
            <a:r>
              <a:rPr lang="en-US" altLang="zh-CN"/>
              <a:t>(3)  </a:t>
            </a:r>
            <a:r>
              <a:rPr lang="en-US" altLang="zh-CN" i="1"/>
              <a:t>F </a:t>
            </a:r>
            <a:r>
              <a:rPr lang="en-US" altLang="zh-CN" sz="2800"/>
              <a:t>↾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/>
              <a:t>∩</a:t>
            </a:r>
            <a:r>
              <a:rPr lang="en-US" altLang="zh-CN" i="1"/>
              <a:t>B</a:t>
            </a:r>
            <a:r>
              <a:rPr lang="en-US" altLang="zh-CN"/>
              <a:t>) = </a:t>
            </a:r>
            <a:r>
              <a:rPr lang="en-US" altLang="zh-CN" i="1"/>
              <a:t>F </a:t>
            </a:r>
            <a:r>
              <a:rPr lang="en-US" altLang="zh-CN" sz="2800"/>
              <a:t>↾</a:t>
            </a:r>
            <a:r>
              <a:rPr lang="en-US" altLang="zh-CN" i="1"/>
              <a:t>A</a:t>
            </a:r>
            <a:r>
              <a:rPr lang="en-US" altLang="zh-CN"/>
              <a:t>∩</a:t>
            </a:r>
            <a:r>
              <a:rPr lang="en-US" altLang="zh-CN" i="1"/>
              <a:t>F </a:t>
            </a:r>
            <a:r>
              <a:rPr lang="en-US" altLang="zh-CN" sz="2800"/>
              <a:t>↾</a:t>
            </a:r>
            <a:r>
              <a:rPr lang="en-US" altLang="zh-CN" i="1"/>
              <a:t>B</a:t>
            </a:r>
          </a:p>
          <a:p>
            <a:pPr eaLnBrk="1" hangingPunct="1"/>
            <a:r>
              <a:rPr lang="en-US" altLang="zh-CN"/>
              <a:t>(4)  </a:t>
            </a:r>
            <a:r>
              <a:rPr lang="en-US" altLang="zh-CN" i="1"/>
              <a:t>F </a:t>
            </a:r>
            <a:r>
              <a:rPr lang="en-US" altLang="zh-CN"/>
              <a:t>[</a:t>
            </a:r>
            <a:r>
              <a:rPr lang="en-US" altLang="zh-CN" i="1"/>
              <a:t>A</a:t>
            </a:r>
            <a:r>
              <a:rPr lang="en-US" altLang="zh-CN"/>
              <a:t>∩</a:t>
            </a:r>
            <a:r>
              <a:rPr lang="en-US" altLang="zh-CN" i="1"/>
              <a:t>B</a:t>
            </a:r>
            <a:r>
              <a:rPr lang="en-US" altLang="zh-CN"/>
              <a:t>] </a:t>
            </a:r>
            <a:r>
              <a:rPr lang="en-US" altLang="zh-CN">
                <a:sym typeface="Symbol" panose="05050102010706020507" pitchFamily="18" charset="2"/>
              </a:rPr>
              <a:t></a:t>
            </a:r>
            <a:r>
              <a:rPr lang="en-US" altLang="zh-CN"/>
              <a:t> </a:t>
            </a:r>
            <a:r>
              <a:rPr lang="en-US" altLang="zh-CN" i="1"/>
              <a:t>F </a:t>
            </a:r>
            <a:r>
              <a:rPr lang="en-US" altLang="zh-CN"/>
              <a:t>[</a:t>
            </a:r>
            <a:r>
              <a:rPr lang="en-US" altLang="zh-CN" i="1"/>
              <a:t>A</a:t>
            </a:r>
            <a:r>
              <a:rPr lang="en-US" altLang="zh-CN"/>
              <a:t>]∩</a:t>
            </a:r>
            <a:r>
              <a:rPr lang="en-US" altLang="zh-CN" i="1"/>
              <a:t>F </a:t>
            </a:r>
            <a:r>
              <a:rPr lang="en-US" altLang="zh-CN"/>
              <a:t>[</a:t>
            </a:r>
            <a:r>
              <a:rPr lang="en-US" altLang="zh-CN" i="1"/>
              <a:t>B</a:t>
            </a:r>
            <a:r>
              <a:rPr lang="en-US" altLang="zh-CN"/>
              <a:t>]</a:t>
            </a:r>
            <a:br>
              <a:rPr lang="en-US" altLang="zh-CN"/>
            </a:br>
            <a:r>
              <a:rPr lang="en-US" altLang="zh-CN"/>
              <a:t> </a:t>
            </a: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1F7B9A1-7CB6-4E61-9EC9-B1322419107E}" type="slidenum">
              <a:rPr lang="en-US" altLang="zh-CN" sz="1400" b="0" smtClean="0">
                <a:latin typeface="Arial" panose="020B0604020202020204" pitchFamily="34" charset="0"/>
              </a:rPr>
              <a:t>30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400675"/>
          </a:xfrm>
        </p:spPr>
        <p:txBody>
          <a:bodyPr/>
          <a:lstStyle/>
          <a:p>
            <a:pPr eaLnBrk="1" hangingPunct="1"/>
            <a:r>
              <a:rPr lang="zh-CN" altLang="en-US"/>
              <a:t>证 只证 </a:t>
            </a:r>
            <a:r>
              <a:rPr lang="en-US" altLang="zh-CN"/>
              <a:t>(1) </a:t>
            </a:r>
            <a:r>
              <a:rPr lang="zh-CN" altLang="en-US"/>
              <a:t>和 </a:t>
            </a:r>
            <a:r>
              <a:rPr lang="en-US" altLang="zh-CN"/>
              <a:t>(4).</a:t>
            </a:r>
          </a:p>
          <a:p>
            <a:pPr eaLnBrk="1" hangingPunct="1"/>
            <a:r>
              <a:rPr lang="en-US" altLang="zh-CN"/>
              <a:t> (1)</a:t>
            </a:r>
            <a:r>
              <a:rPr lang="en-US" altLang="zh-CN" i="1"/>
              <a:t> F </a:t>
            </a:r>
            <a:r>
              <a:rPr lang="en-US" altLang="zh-CN" sz="2800"/>
              <a:t>↾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/>
              <a:t>∪</a:t>
            </a:r>
            <a:r>
              <a:rPr lang="en-US" altLang="zh-CN" i="1"/>
              <a:t>B</a:t>
            </a:r>
            <a:r>
              <a:rPr lang="en-US" altLang="zh-CN"/>
              <a:t>) = </a:t>
            </a:r>
            <a:r>
              <a:rPr lang="en-US" altLang="zh-CN" i="1"/>
              <a:t>F </a:t>
            </a:r>
            <a:r>
              <a:rPr lang="en-US" altLang="zh-CN" sz="2800"/>
              <a:t>↾</a:t>
            </a:r>
            <a:r>
              <a:rPr lang="en-US" altLang="zh-CN" i="1"/>
              <a:t>A</a:t>
            </a:r>
            <a:r>
              <a:rPr lang="en-US" altLang="zh-CN"/>
              <a:t>∪</a:t>
            </a:r>
            <a:r>
              <a:rPr lang="en-US" altLang="zh-CN" i="1"/>
              <a:t>F </a:t>
            </a:r>
            <a:r>
              <a:rPr lang="en-US" altLang="zh-CN" sz="2800"/>
              <a:t>↾</a:t>
            </a:r>
            <a:r>
              <a:rPr lang="en-US" altLang="zh-CN" i="1"/>
              <a:t>B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r>
              <a:rPr lang="en-US" altLang="zh-CN"/>
              <a:t> </a:t>
            </a:r>
            <a:r>
              <a:rPr lang="zh-CN" altLang="en-US"/>
              <a:t>证明：任取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</a:t>
            </a:r>
            <a:br>
              <a:rPr lang="en-US" altLang="zh-CN"/>
            </a:br>
            <a:r>
              <a:rPr lang="en-US" altLang="zh-CN"/>
              <a:t>      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F </a:t>
            </a:r>
            <a:r>
              <a:rPr lang="en-US" altLang="zh-CN" sz="2800"/>
              <a:t>↾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/>
              <a:t>∪</a:t>
            </a:r>
            <a:r>
              <a:rPr lang="en-US" altLang="zh-CN" i="1"/>
              <a:t>B</a:t>
            </a:r>
            <a:r>
              <a:rPr lang="en-US" altLang="zh-CN"/>
              <a:t>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                  </a:t>
            </a:r>
            <a:r>
              <a:rPr lang="en-US" altLang="zh-CN">
                <a:solidFill>
                  <a:srgbClr val="0066FF"/>
                </a:solidFill>
              </a:rPr>
              <a:t> &lt;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&gt;∈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>
                <a:solidFill>
                  <a:srgbClr val="0066FF"/>
                </a:solidFill>
              </a:rPr>
              <a:t>∧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∪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endParaRPr lang="en-US" altLang="zh-CN">
              <a:solidFill>
                <a:srgbClr val="0066FF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                  </a:t>
            </a:r>
            <a:r>
              <a:rPr lang="en-US" altLang="zh-CN">
                <a:solidFill>
                  <a:srgbClr val="0066FF"/>
                </a:solidFill>
              </a:rPr>
              <a:t> &lt;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&gt;∈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>
                <a:solidFill>
                  <a:srgbClr val="0066FF"/>
                </a:solidFill>
              </a:rPr>
              <a:t>∧(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∨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)</a:t>
            </a:r>
            <a:endParaRPr lang="en-US" altLang="zh-CN">
              <a:solidFill>
                <a:srgbClr val="0066FF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                  </a:t>
            </a:r>
            <a:r>
              <a:rPr lang="en-US" altLang="zh-CN">
                <a:solidFill>
                  <a:srgbClr val="0066FF"/>
                </a:solidFill>
              </a:rPr>
              <a:t> (&lt;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&gt;∈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>
                <a:solidFill>
                  <a:srgbClr val="0066FF"/>
                </a:solidFill>
              </a:rPr>
              <a:t>∧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)∨(&lt;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&gt;∈</a:t>
            </a:r>
            <a:r>
              <a:rPr lang="en-US" altLang="zh-CN" i="1">
                <a:solidFill>
                  <a:srgbClr val="0066FF"/>
                </a:solidFill>
              </a:rPr>
              <a:t>F</a:t>
            </a:r>
            <a:r>
              <a:rPr lang="en-US" altLang="zh-CN">
                <a:solidFill>
                  <a:srgbClr val="0066FF"/>
                </a:solidFill>
              </a:rPr>
              <a:t>∧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)</a:t>
            </a:r>
            <a:endParaRPr lang="en-US" altLang="zh-CN">
              <a:solidFill>
                <a:srgbClr val="0066FF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                  </a:t>
            </a:r>
            <a:r>
              <a:rPr lang="en-US" altLang="zh-CN">
                <a:solidFill>
                  <a:srgbClr val="0066FF"/>
                </a:solidFill>
              </a:rPr>
              <a:t> &lt;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&gt;∈</a:t>
            </a:r>
            <a:r>
              <a:rPr lang="en-US" altLang="zh-CN" i="1">
                <a:solidFill>
                  <a:srgbClr val="0066FF"/>
                </a:solidFill>
              </a:rPr>
              <a:t>F </a:t>
            </a:r>
            <a:r>
              <a:rPr lang="en-US" altLang="zh-CN" sz="2800">
                <a:solidFill>
                  <a:srgbClr val="0066FF"/>
                </a:solidFill>
              </a:rPr>
              <a:t>↾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∨&lt;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,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&gt;∈</a:t>
            </a:r>
            <a:r>
              <a:rPr lang="en-US" altLang="zh-CN" i="1">
                <a:solidFill>
                  <a:srgbClr val="0066FF"/>
                </a:solidFill>
              </a:rPr>
              <a:t>F </a:t>
            </a:r>
            <a:r>
              <a:rPr lang="en-US" altLang="zh-CN" sz="2800">
                <a:solidFill>
                  <a:srgbClr val="0066FF"/>
                </a:solidFill>
              </a:rPr>
              <a:t>↾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endParaRPr lang="en-US" altLang="zh-CN">
              <a:solidFill>
                <a:srgbClr val="0066FF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                  </a:t>
            </a:r>
            <a:r>
              <a:rPr lang="en-US" altLang="zh-CN"/>
              <a:t>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F </a:t>
            </a:r>
            <a:r>
              <a:rPr lang="en-US" altLang="zh-CN" sz="2800"/>
              <a:t>↾</a:t>
            </a:r>
            <a:r>
              <a:rPr lang="en-US" altLang="zh-CN" i="1"/>
              <a:t>A</a:t>
            </a:r>
            <a:r>
              <a:rPr lang="en-US" altLang="zh-CN"/>
              <a:t>∪</a:t>
            </a:r>
            <a:r>
              <a:rPr lang="en-US" altLang="zh-CN" i="1"/>
              <a:t>F </a:t>
            </a:r>
            <a:r>
              <a:rPr lang="en-US" altLang="zh-CN" sz="2800"/>
              <a:t>↾</a:t>
            </a:r>
            <a:r>
              <a:rPr lang="en-US" altLang="zh-CN" i="1"/>
              <a:t>B</a:t>
            </a:r>
            <a:endParaRPr lang="en-US" altLang="zh-CN"/>
          </a:p>
          <a:p>
            <a:pPr eaLnBrk="1" hangingPunct="1">
              <a:spcBef>
                <a:spcPct val="60000"/>
              </a:spcBef>
            </a:pPr>
            <a:r>
              <a:rPr lang="en-US" altLang="zh-CN"/>
              <a:t> </a:t>
            </a:r>
            <a:r>
              <a:rPr lang="zh-CN" altLang="en-US"/>
              <a:t>所以有</a:t>
            </a:r>
            <a:r>
              <a:rPr lang="en-US" altLang="zh-CN" i="1"/>
              <a:t>F </a:t>
            </a:r>
            <a:r>
              <a:rPr lang="en-US" altLang="zh-CN" sz="2800"/>
              <a:t>↾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/>
              <a:t>∪</a:t>
            </a:r>
            <a:r>
              <a:rPr lang="en-US" altLang="zh-CN" i="1"/>
              <a:t>B</a:t>
            </a:r>
            <a:r>
              <a:rPr lang="en-US" altLang="zh-CN"/>
              <a:t>) = </a:t>
            </a:r>
            <a:r>
              <a:rPr lang="en-US" altLang="zh-CN" i="1"/>
              <a:t>F </a:t>
            </a:r>
            <a:r>
              <a:rPr lang="en-US" altLang="zh-CN" sz="2800"/>
              <a:t>↾</a:t>
            </a:r>
            <a:r>
              <a:rPr lang="en-US" altLang="zh-CN" i="1"/>
              <a:t>A</a:t>
            </a:r>
            <a:r>
              <a:rPr lang="en-US" altLang="zh-CN"/>
              <a:t>∪</a:t>
            </a:r>
            <a:r>
              <a:rPr lang="en-US" altLang="zh-CN" i="1"/>
              <a:t>F </a:t>
            </a:r>
            <a:r>
              <a:rPr lang="en-US" altLang="zh-CN" sz="2800"/>
              <a:t>↾</a:t>
            </a:r>
            <a:r>
              <a:rPr lang="en-US" altLang="zh-CN" i="1"/>
              <a:t>B</a:t>
            </a:r>
            <a:r>
              <a:rPr lang="en-US" altLang="zh-CN"/>
              <a:t>. </a:t>
            </a:r>
          </a:p>
        </p:txBody>
      </p:sp>
      <p:sp>
        <p:nvSpPr>
          <p:cNvPr id="63493" name="矩形 1"/>
          <p:cNvSpPr>
            <a:spLocks noChangeArrowheads="1"/>
          </p:cNvSpPr>
          <p:nvPr/>
        </p:nvSpPr>
        <p:spPr bwMode="auto">
          <a:xfrm>
            <a:off x="4964113" y="1196975"/>
            <a:ext cx="3970337" cy="5238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0">
                <a:latin typeface="Arial" panose="020B0604020202020204" pitchFamily="34" charset="0"/>
              </a:rPr>
              <a:t> </a:t>
            </a:r>
            <a:r>
              <a:rPr lang="en-US" altLang="zh-CN" b="0" i="1">
                <a:latin typeface="Arial" panose="020B0604020202020204" pitchFamily="34" charset="0"/>
              </a:rPr>
              <a:t>R</a:t>
            </a:r>
            <a:r>
              <a:rPr lang="en-US" altLang="zh-CN" sz="2800" b="0">
                <a:latin typeface="Arial" panose="020B0604020202020204" pitchFamily="34" charset="0"/>
              </a:rPr>
              <a:t>↾</a:t>
            </a:r>
            <a:r>
              <a:rPr lang="en-US" altLang="zh-CN" b="0" i="1">
                <a:latin typeface="Arial" panose="020B0604020202020204" pitchFamily="34" charset="0"/>
              </a:rPr>
              <a:t>A </a:t>
            </a:r>
            <a:r>
              <a:rPr lang="en-US" altLang="zh-CN" b="0">
                <a:latin typeface="Arial" panose="020B0604020202020204" pitchFamily="34" charset="0"/>
              </a:rPr>
              <a:t>= { &lt;</a:t>
            </a:r>
            <a:r>
              <a:rPr lang="en-US" altLang="zh-CN" b="0" i="1">
                <a:latin typeface="Arial" panose="020B0604020202020204" pitchFamily="34" charset="0"/>
              </a:rPr>
              <a:t>x</a:t>
            </a:r>
            <a:r>
              <a:rPr lang="en-US" altLang="zh-CN" b="0">
                <a:latin typeface="Arial" panose="020B0604020202020204" pitchFamily="34" charset="0"/>
              </a:rPr>
              <a:t>,</a:t>
            </a:r>
            <a:r>
              <a:rPr lang="en-US" altLang="zh-CN" b="0" i="1">
                <a:latin typeface="Arial" panose="020B0604020202020204" pitchFamily="34" charset="0"/>
              </a:rPr>
              <a:t>y</a:t>
            </a:r>
            <a:r>
              <a:rPr lang="en-US" altLang="zh-CN" b="0">
                <a:latin typeface="Arial" panose="020B0604020202020204" pitchFamily="34" charset="0"/>
              </a:rPr>
              <a:t>&gt; | </a:t>
            </a:r>
            <a:r>
              <a:rPr lang="en-US" altLang="zh-CN" b="0" i="1">
                <a:latin typeface="Arial" panose="020B0604020202020204" pitchFamily="34" charset="0"/>
              </a:rPr>
              <a:t>xRy</a:t>
            </a:r>
            <a:r>
              <a:rPr lang="en-US" altLang="zh-CN" b="0">
                <a:latin typeface="Arial" panose="020B0604020202020204" pitchFamily="34" charset="0"/>
              </a:rPr>
              <a:t>∧</a:t>
            </a:r>
            <a:r>
              <a:rPr lang="en-US" altLang="zh-CN" b="0" i="1">
                <a:latin typeface="Arial" panose="020B0604020202020204" pitchFamily="34" charset="0"/>
              </a:rPr>
              <a:t>x</a:t>
            </a:r>
            <a:r>
              <a:rPr lang="en-US" altLang="zh-CN" b="0">
                <a:latin typeface="Arial" panose="020B0604020202020204" pitchFamily="34" charset="0"/>
              </a:rPr>
              <a:t>∈</a:t>
            </a:r>
            <a:r>
              <a:rPr lang="en-US" altLang="zh-CN" b="0" i="1">
                <a:latin typeface="Arial" panose="020B0604020202020204" pitchFamily="34" charset="0"/>
              </a:rPr>
              <a:t>A </a:t>
            </a:r>
            <a:r>
              <a:rPr lang="en-US" altLang="zh-CN" b="0">
                <a:latin typeface="Arial" panose="020B0604020202020204" pitchFamily="34" charset="0"/>
              </a:rPr>
              <a:t>}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B1CA5F4-4B0D-4D95-BFD1-2202B93D00DC}" type="slidenum">
              <a:rPr lang="en-US" altLang="zh-CN" sz="1400" b="0" smtClean="0">
                <a:latin typeface="Arial" panose="020B0604020202020204" pitchFamily="34" charset="0"/>
              </a:rPr>
              <a:t>31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5453062"/>
          </a:xfrm>
        </p:spPr>
        <p:txBody>
          <a:bodyPr/>
          <a:lstStyle/>
          <a:p>
            <a:pPr eaLnBrk="1" hangingPunct="1"/>
            <a:r>
              <a:rPr lang="en-US" altLang="zh-CN" dirty="0"/>
              <a:t>(4) </a:t>
            </a:r>
            <a:r>
              <a:rPr lang="en-US" altLang="zh-CN" i="1" dirty="0"/>
              <a:t>F 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∩</a:t>
            </a:r>
            <a:r>
              <a:rPr lang="en-US" altLang="zh-CN" i="1" dirty="0"/>
              <a:t>B</a:t>
            </a:r>
            <a:r>
              <a:rPr lang="en-US" altLang="zh-CN" dirty="0"/>
              <a:t>]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F 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]∩</a:t>
            </a:r>
            <a:r>
              <a:rPr lang="en-US" altLang="zh-CN" i="1" dirty="0"/>
              <a:t>F </a:t>
            </a:r>
            <a:r>
              <a:rPr lang="en-US" altLang="zh-CN" dirty="0"/>
              <a:t>[</a:t>
            </a:r>
            <a:r>
              <a:rPr lang="en-US" altLang="zh-CN" i="1" dirty="0"/>
              <a:t>B</a:t>
            </a:r>
            <a:r>
              <a:rPr lang="en-US" altLang="zh-CN" dirty="0"/>
              <a:t>]</a:t>
            </a:r>
            <a:br>
              <a:rPr lang="en-US" altLang="zh-CN" dirty="0"/>
            </a:br>
            <a:endParaRPr lang="en-US" altLang="zh-CN" dirty="0"/>
          </a:p>
          <a:p>
            <a:pPr eaLnBrk="1" hangingPunct="1"/>
            <a:r>
              <a:rPr lang="zh-CN" altLang="en-US" dirty="0"/>
              <a:t>证明：任取</a:t>
            </a:r>
            <a:r>
              <a:rPr lang="en-US" altLang="zh-CN" i="1" dirty="0"/>
              <a:t>y</a:t>
            </a:r>
            <a:r>
              <a:rPr lang="en-US" altLang="zh-CN" dirty="0"/>
              <a:t>,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      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F</a:t>
            </a:r>
            <a:r>
              <a:rPr lang="en-US" altLang="zh-CN" i="1" dirty="0"/>
              <a:t> 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∩</a:t>
            </a:r>
            <a:r>
              <a:rPr lang="en-US" altLang="zh-CN" i="1" dirty="0"/>
              <a:t>B</a:t>
            </a:r>
            <a:r>
              <a:rPr lang="en-US" altLang="zh-CN" dirty="0"/>
              <a:t>]</a:t>
            </a:r>
            <a:br>
              <a:rPr lang="en-US" altLang="zh-CN" dirty="0"/>
            </a:br>
            <a:r>
              <a:rPr lang="en-US" altLang="zh-CN" dirty="0">
                <a:solidFill>
                  <a:srgbClr val="0066FF"/>
                </a:solidFill>
              </a:rPr>
              <a:t>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66FF"/>
                </a:solidFill>
              </a:rPr>
              <a:t>x </a:t>
            </a:r>
            <a:r>
              <a:rPr lang="en-US" altLang="zh-CN" dirty="0">
                <a:solidFill>
                  <a:srgbClr val="0066FF"/>
                </a:solidFill>
              </a:rPr>
              <a:t>(&lt;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 err="1">
                <a:solidFill>
                  <a:srgbClr val="0066FF"/>
                </a:solidFill>
              </a:rPr>
              <a:t>F</a:t>
            </a:r>
            <a:r>
              <a:rPr lang="en-US" altLang="zh-CN" dirty="0" err="1">
                <a:solidFill>
                  <a:srgbClr val="0066FF"/>
                </a:solidFill>
              </a:rPr>
              <a:t>∧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 err="1">
                <a:solidFill>
                  <a:srgbClr val="0066FF"/>
                </a:solidFill>
              </a:rPr>
              <a:t>∩</a:t>
            </a:r>
            <a:r>
              <a:rPr lang="en-US" altLang="zh-CN" i="1" dirty="0" err="1">
                <a:solidFill>
                  <a:srgbClr val="0066FF"/>
                </a:solidFill>
              </a:rPr>
              <a:t>B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br>
              <a:rPr lang="en-US" altLang="zh-CN" dirty="0">
                <a:solidFill>
                  <a:srgbClr val="0066FF"/>
                </a:solidFill>
              </a:rPr>
            </a:br>
            <a:r>
              <a:rPr lang="en-US" altLang="zh-CN" dirty="0">
                <a:solidFill>
                  <a:srgbClr val="0066FF"/>
                </a:solidFill>
              </a:rPr>
              <a:t>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66FF"/>
                </a:solidFill>
              </a:rPr>
              <a:t>x </a:t>
            </a:r>
            <a:r>
              <a:rPr lang="en-US" altLang="zh-CN" dirty="0">
                <a:solidFill>
                  <a:srgbClr val="0066FF"/>
                </a:solidFill>
              </a:rPr>
              <a:t>(&lt;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 err="1">
                <a:solidFill>
                  <a:srgbClr val="0066FF"/>
                </a:solidFill>
              </a:rPr>
              <a:t>F</a:t>
            </a:r>
            <a:r>
              <a:rPr lang="en-US" altLang="zh-CN" dirty="0" err="1">
                <a:solidFill>
                  <a:srgbClr val="0066FF"/>
                </a:solidFill>
              </a:rPr>
              <a:t>∧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 err="1">
                <a:solidFill>
                  <a:srgbClr val="0066FF"/>
                </a:solidFill>
              </a:rPr>
              <a:t>∧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B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br>
              <a:rPr lang="en-US" altLang="zh-CN" dirty="0">
                <a:solidFill>
                  <a:srgbClr val="0066FF"/>
                </a:solidFill>
              </a:rPr>
            </a:br>
            <a:r>
              <a:rPr lang="en-US" altLang="zh-CN" dirty="0">
                <a:solidFill>
                  <a:srgbClr val="0066FF"/>
                </a:solidFill>
              </a:rPr>
              <a:t>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66FF"/>
                </a:solidFill>
              </a:rPr>
              <a:t>x </a:t>
            </a:r>
            <a:r>
              <a:rPr lang="en-US" altLang="zh-CN" dirty="0">
                <a:solidFill>
                  <a:srgbClr val="0066FF"/>
                </a:solidFill>
              </a:rPr>
              <a:t>( </a:t>
            </a:r>
            <a:r>
              <a:rPr lang="en-US" altLang="zh-CN" dirty="0">
                <a:solidFill>
                  <a:srgbClr val="FF0000"/>
                </a:solidFill>
              </a:rPr>
              <a:t>(&lt;</a:t>
            </a:r>
            <a:r>
              <a:rPr lang="en-US" altLang="zh-CN" i="1" dirty="0" err="1">
                <a:solidFill>
                  <a:srgbClr val="FF0000"/>
                </a:solidFill>
              </a:rPr>
              <a:t>x</a:t>
            </a:r>
            <a:r>
              <a:rPr lang="en-US" altLang="zh-CN" dirty="0" err="1">
                <a:solidFill>
                  <a:srgbClr val="FF0000"/>
                </a:solidFill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</a:rPr>
              <a:t>y</a:t>
            </a:r>
            <a:r>
              <a:rPr lang="en-US" altLang="zh-CN" dirty="0">
                <a:solidFill>
                  <a:srgbClr val="FF0000"/>
                </a:solidFill>
              </a:rPr>
              <a:t>&gt;∈</a:t>
            </a:r>
            <a:r>
              <a:rPr lang="en-US" altLang="zh-CN" i="1" dirty="0" err="1">
                <a:solidFill>
                  <a:srgbClr val="FF0000"/>
                </a:solidFill>
              </a:rPr>
              <a:t>F</a:t>
            </a:r>
            <a:r>
              <a:rPr lang="en-US" altLang="zh-CN" dirty="0" err="1">
                <a:solidFill>
                  <a:srgbClr val="FF0000"/>
                </a:solidFill>
              </a:rPr>
              <a:t>∧</a:t>
            </a:r>
            <a:r>
              <a:rPr lang="en-US" altLang="zh-CN" i="1" dirty="0" err="1">
                <a:solidFill>
                  <a:srgbClr val="FF0000"/>
                </a:solidFill>
              </a:rPr>
              <a:t>x</a:t>
            </a:r>
            <a:r>
              <a:rPr lang="en-US" altLang="zh-CN" dirty="0" err="1">
                <a:solidFill>
                  <a:srgbClr val="FF0000"/>
                </a:solidFill>
              </a:rPr>
              <a:t>∈</a:t>
            </a:r>
            <a:r>
              <a:rPr lang="en-US" altLang="zh-CN" i="1" dirty="0" err="1">
                <a:solidFill>
                  <a:srgbClr val="FF0000"/>
                </a:solidFill>
              </a:rPr>
              <a:t>A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>
                <a:solidFill>
                  <a:srgbClr val="0066FF"/>
                </a:solidFill>
              </a:rPr>
              <a:t>∧</a:t>
            </a:r>
            <a:r>
              <a:rPr lang="en-US" altLang="zh-CN" dirty="0">
                <a:solidFill>
                  <a:srgbClr val="FF0000"/>
                </a:solidFill>
              </a:rPr>
              <a:t>(&lt;</a:t>
            </a:r>
            <a:r>
              <a:rPr lang="en-US" altLang="zh-CN" i="1" dirty="0" err="1">
                <a:solidFill>
                  <a:srgbClr val="FF0000"/>
                </a:solidFill>
              </a:rPr>
              <a:t>x</a:t>
            </a:r>
            <a:r>
              <a:rPr lang="en-US" altLang="zh-CN" dirty="0" err="1">
                <a:solidFill>
                  <a:srgbClr val="FF0000"/>
                </a:solidFill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</a:rPr>
              <a:t>y</a:t>
            </a:r>
            <a:r>
              <a:rPr lang="en-US" altLang="zh-CN" dirty="0">
                <a:solidFill>
                  <a:srgbClr val="FF0000"/>
                </a:solidFill>
              </a:rPr>
              <a:t>&gt;∈</a:t>
            </a:r>
            <a:r>
              <a:rPr lang="en-US" altLang="zh-CN" i="1" dirty="0" err="1">
                <a:solidFill>
                  <a:srgbClr val="FF0000"/>
                </a:solidFill>
              </a:rPr>
              <a:t>F</a:t>
            </a:r>
            <a:r>
              <a:rPr lang="en-US" altLang="zh-CN" dirty="0" err="1">
                <a:solidFill>
                  <a:srgbClr val="FF0000"/>
                </a:solidFill>
              </a:rPr>
              <a:t>∧</a:t>
            </a:r>
            <a:r>
              <a:rPr lang="en-US" altLang="zh-CN" i="1" dirty="0" err="1">
                <a:solidFill>
                  <a:srgbClr val="FF0000"/>
                </a:solidFill>
              </a:rPr>
              <a:t>x</a:t>
            </a:r>
            <a:r>
              <a:rPr lang="en-US" altLang="zh-CN" dirty="0" err="1">
                <a:solidFill>
                  <a:srgbClr val="FF0000"/>
                </a:solidFill>
              </a:rPr>
              <a:t>∈</a:t>
            </a:r>
            <a:r>
              <a:rPr lang="en-US" altLang="zh-CN" i="1" dirty="0" err="1">
                <a:solidFill>
                  <a:srgbClr val="FF0000"/>
                </a:solidFill>
              </a:rPr>
              <a:t>B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>
                <a:solidFill>
                  <a:srgbClr val="0066FF"/>
                </a:solidFill>
              </a:rPr>
              <a:t> )</a:t>
            </a:r>
            <a:br>
              <a:rPr lang="en-US" altLang="zh-CN" dirty="0">
                <a:solidFill>
                  <a:srgbClr val="0066FF"/>
                </a:solidFill>
              </a:rPr>
            </a:br>
            <a:r>
              <a:rPr lang="en-US" altLang="zh-CN" dirty="0">
                <a:solidFill>
                  <a:srgbClr val="0066FF"/>
                </a:solidFill>
              </a:rPr>
              <a:t>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FF0000"/>
                </a:solidFill>
              </a:rPr>
              <a:t>x </a:t>
            </a:r>
            <a:r>
              <a:rPr lang="en-US" altLang="zh-CN" dirty="0">
                <a:solidFill>
                  <a:srgbClr val="FF0000"/>
                </a:solidFill>
              </a:rPr>
              <a:t>(&lt;</a:t>
            </a:r>
            <a:r>
              <a:rPr lang="en-US" altLang="zh-CN" i="1" dirty="0" err="1">
                <a:solidFill>
                  <a:srgbClr val="FF0000"/>
                </a:solidFill>
              </a:rPr>
              <a:t>x</a:t>
            </a:r>
            <a:r>
              <a:rPr lang="en-US" altLang="zh-CN" dirty="0" err="1">
                <a:solidFill>
                  <a:srgbClr val="FF0000"/>
                </a:solidFill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</a:rPr>
              <a:t>y</a:t>
            </a:r>
            <a:r>
              <a:rPr lang="en-US" altLang="zh-CN" dirty="0">
                <a:solidFill>
                  <a:srgbClr val="FF0000"/>
                </a:solidFill>
              </a:rPr>
              <a:t>&gt;∈</a:t>
            </a:r>
            <a:r>
              <a:rPr lang="en-US" altLang="zh-CN" i="1" dirty="0" err="1">
                <a:solidFill>
                  <a:srgbClr val="FF0000"/>
                </a:solidFill>
              </a:rPr>
              <a:t>F</a:t>
            </a:r>
            <a:r>
              <a:rPr lang="en-US" altLang="zh-CN" dirty="0" err="1">
                <a:solidFill>
                  <a:srgbClr val="FF0000"/>
                </a:solidFill>
              </a:rPr>
              <a:t>∧</a:t>
            </a:r>
            <a:r>
              <a:rPr lang="en-US" altLang="zh-CN" i="1" dirty="0" err="1">
                <a:solidFill>
                  <a:srgbClr val="FF0000"/>
                </a:solidFill>
              </a:rPr>
              <a:t>x</a:t>
            </a:r>
            <a:r>
              <a:rPr lang="en-US" altLang="zh-CN" dirty="0" err="1">
                <a:solidFill>
                  <a:srgbClr val="FF0000"/>
                </a:solidFill>
              </a:rPr>
              <a:t>∈</a:t>
            </a:r>
            <a:r>
              <a:rPr lang="en-US" altLang="zh-CN" i="1" dirty="0" err="1">
                <a:solidFill>
                  <a:srgbClr val="FF0000"/>
                </a:solidFill>
              </a:rPr>
              <a:t>A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>
                <a:solidFill>
                  <a:srgbClr val="0066FF"/>
                </a:solidFill>
              </a:rPr>
              <a:t>∧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FF0000"/>
                </a:solidFill>
              </a:rPr>
              <a:t>x </a:t>
            </a:r>
            <a:r>
              <a:rPr lang="en-US" altLang="zh-CN" dirty="0">
                <a:solidFill>
                  <a:srgbClr val="FF0000"/>
                </a:solidFill>
              </a:rPr>
              <a:t>(&lt;</a:t>
            </a:r>
            <a:r>
              <a:rPr lang="en-US" altLang="zh-CN" i="1" dirty="0" err="1">
                <a:solidFill>
                  <a:srgbClr val="FF0000"/>
                </a:solidFill>
              </a:rPr>
              <a:t>x</a:t>
            </a:r>
            <a:r>
              <a:rPr lang="en-US" altLang="zh-CN" dirty="0" err="1">
                <a:solidFill>
                  <a:srgbClr val="FF0000"/>
                </a:solidFill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</a:rPr>
              <a:t>y</a:t>
            </a:r>
            <a:r>
              <a:rPr lang="en-US" altLang="zh-CN" dirty="0">
                <a:solidFill>
                  <a:srgbClr val="FF0000"/>
                </a:solidFill>
              </a:rPr>
              <a:t>&gt;∈</a:t>
            </a:r>
            <a:r>
              <a:rPr lang="en-US" altLang="zh-CN" i="1" dirty="0" err="1">
                <a:solidFill>
                  <a:srgbClr val="FF0000"/>
                </a:solidFill>
              </a:rPr>
              <a:t>F</a:t>
            </a:r>
            <a:r>
              <a:rPr lang="en-US" altLang="zh-CN" dirty="0" err="1">
                <a:solidFill>
                  <a:srgbClr val="FF0000"/>
                </a:solidFill>
              </a:rPr>
              <a:t>∧</a:t>
            </a:r>
            <a:r>
              <a:rPr lang="en-US" altLang="zh-CN" i="1" dirty="0" err="1">
                <a:solidFill>
                  <a:srgbClr val="FF0000"/>
                </a:solidFill>
              </a:rPr>
              <a:t>x</a:t>
            </a:r>
            <a:r>
              <a:rPr lang="en-US" altLang="zh-CN" dirty="0" err="1">
                <a:solidFill>
                  <a:srgbClr val="FF0000"/>
                </a:solidFill>
              </a:rPr>
              <a:t>∈</a:t>
            </a:r>
            <a:r>
              <a:rPr lang="en-US" altLang="zh-CN" i="1" dirty="0" err="1">
                <a:solidFill>
                  <a:srgbClr val="FF0000"/>
                </a:solidFill>
              </a:rPr>
              <a:t>B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dirty="0">
                <a:solidFill>
                  <a:srgbClr val="0066FF"/>
                </a:solidFill>
              </a:rPr>
              <a:t>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FF0000"/>
                </a:solidFill>
              </a:rPr>
              <a:t>y</a:t>
            </a:r>
            <a:r>
              <a:rPr lang="en-US" altLang="zh-CN" dirty="0" err="1">
                <a:solidFill>
                  <a:srgbClr val="FF0000"/>
                </a:solidFill>
              </a:rPr>
              <a:t>∈</a:t>
            </a:r>
            <a:r>
              <a:rPr lang="en-US" altLang="zh-CN" i="1" dirty="0" err="1">
                <a:solidFill>
                  <a:srgbClr val="FF0000"/>
                </a:solidFill>
              </a:rPr>
              <a:t>F</a:t>
            </a:r>
            <a:r>
              <a:rPr lang="en-US" altLang="zh-CN" i="1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en-US" altLang="zh-CN" i="1" dirty="0">
                <a:solidFill>
                  <a:srgbClr val="FF0000"/>
                </a:solidFill>
              </a:rPr>
              <a:t>A</a:t>
            </a:r>
            <a:r>
              <a:rPr lang="en-US" altLang="zh-CN" dirty="0">
                <a:solidFill>
                  <a:srgbClr val="FF0000"/>
                </a:solidFill>
              </a:rPr>
              <a:t>]</a:t>
            </a:r>
            <a:r>
              <a:rPr lang="en-US" altLang="zh-CN" dirty="0">
                <a:solidFill>
                  <a:srgbClr val="0066FF"/>
                </a:solidFill>
              </a:rPr>
              <a:t>∧</a:t>
            </a:r>
            <a:r>
              <a:rPr lang="en-US" altLang="zh-CN" i="1" dirty="0" err="1">
                <a:solidFill>
                  <a:srgbClr val="FF0000"/>
                </a:solidFill>
              </a:rPr>
              <a:t>y</a:t>
            </a:r>
            <a:r>
              <a:rPr lang="en-US" altLang="zh-CN" dirty="0" err="1">
                <a:solidFill>
                  <a:srgbClr val="FF0000"/>
                </a:solidFill>
              </a:rPr>
              <a:t>∈</a:t>
            </a:r>
            <a:r>
              <a:rPr lang="en-US" altLang="zh-CN" i="1" dirty="0" err="1">
                <a:solidFill>
                  <a:srgbClr val="FF0000"/>
                </a:solidFill>
              </a:rPr>
              <a:t>F</a:t>
            </a:r>
            <a:r>
              <a:rPr lang="en-US" altLang="zh-CN" i="1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en-US" altLang="zh-CN" i="1" dirty="0">
                <a:solidFill>
                  <a:srgbClr val="FF0000"/>
                </a:solidFill>
              </a:rPr>
              <a:t>B</a:t>
            </a:r>
            <a:r>
              <a:rPr lang="en-US" altLang="zh-CN" dirty="0">
                <a:solidFill>
                  <a:srgbClr val="FF0000"/>
                </a:solidFill>
              </a:rPr>
              <a:t>]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dirty="0"/>
              <a:t>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F</a:t>
            </a:r>
            <a:r>
              <a:rPr lang="en-US" altLang="zh-CN" i="1" dirty="0"/>
              <a:t> 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]∩</a:t>
            </a:r>
            <a:r>
              <a:rPr lang="en-US" altLang="zh-CN" i="1" dirty="0"/>
              <a:t>F </a:t>
            </a:r>
            <a:r>
              <a:rPr lang="en-US" altLang="zh-CN" dirty="0"/>
              <a:t>[</a:t>
            </a:r>
            <a:r>
              <a:rPr lang="en-US" altLang="zh-CN" i="1" dirty="0"/>
              <a:t>B</a:t>
            </a:r>
            <a:r>
              <a:rPr lang="en-US" altLang="zh-CN" dirty="0"/>
              <a:t>]</a:t>
            </a:r>
            <a:br>
              <a:rPr lang="en-US" altLang="zh-CN" dirty="0"/>
            </a:br>
            <a:r>
              <a:rPr lang="zh-CN" altLang="en-US" dirty="0"/>
              <a:t>所以有</a:t>
            </a:r>
            <a:r>
              <a:rPr lang="en-US" altLang="zh-CN" i="1" dirty="0"/>
              <a:t>F 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∩</a:t>
            </a:r>
            <a:r>
              <a:rPr lang="en-US" altLang="zh-CN" i="1" dirty="0"/>
              <a:t>B</a:t>
            </a:r>
            <a:r>
              <a:rPr lang="en-US" altLang="zh-CN" dirty="0"/>
              <a:t>] 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F 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]∩</a:t>
            </a:r>
            <a:r>
              <a:rPr lang="en-US" altLang="zh-CN" i="1" dirty="0"/>
              <a:t>F </a:t>
            </a:r>
            <a:r>
              <a:rPr lang="en-US" altLang="zh-CN" dirty="0"/>
              <a:t>[</a:t>
            </a:r>
            <a:r>
              <a:rPr lang="en-US" altLang="zh-CN" i="1" dirty="0"/>
              <a:t>B</a:t>
            </a:r>
            <a:r>
              <a:rPr lang="en-US" altLang="zh-CN" dirty="0"/>
              <a:t>]. 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65541" name="矩形 1"/>
          <p:cNvSpPr>
            <a:spLocks noChangeArrowheads="1"/>
          </p:cNvSpPr>
          <p:nvPr/>
        </p:nvSpPr>
        <p:spPr bwMode="auto">
          <a:xfrm>
            <a:off x="5935345" y="1830705"/>
            <a:ext cx="3075305" cy="524510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</a:ln>
        </p:spPr>
        <p:txBody>
          <a:bodyPr>
            <a:no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b="0">
                <a:latin typeface="Arial" panose="020B0604020202020204" pitchFamily="34" charset="0"/>
              </a:rPr>
              <a:t> </a:t>
            </a:r>
            <a:r>
              <a:rPr lang="en-US" altLang="zh-CN" b="0" i="1">
                <a:latin typeface="Arial" panose="020B0604020202020204" pitchFamily="34" charset="0"/>
              </a:rPr>
              <a:t>R</a:t>
            </a:r>
            <a:r>
              <a:rPr lang="en-US" altLang="zh-CN" b="0">
                <a:latin typeface="Arial" panose="020B0604020202020204" pitchFamily="34" charset="0"/>
              </a:rPr>
              <a:t>[</a:t>
            </a:r>
            <a:r>
              <a:rPr lang="en-US" altLang="zh-CN" b="0" i="1">
                <a:latin typeface="Arial" panose="020B0604020202020204" pitchFamily="34" charset="0"/>
              </a:rPr>
              <a:t>A</a:t>
            </a:r>
            <a:r>
              <a:rPr lang="en-US" altLang="zh-CN" b="0">
                <a:latin typeface="Arial" panose="020B0604020202020204" pitchFamily="34" charset="0"/>
              </a:rPr>
              <a:t>]=ran(</a:t>
            </a:r>
            <a:r>
              <a:rPr lang="en-US" altLang="zh-CN" b="0" i="1">
                <a:latin typeface="Arial" panose="020B0604020202020204" pitchFamily="34" charset="0"/>
              </a:rPr>
              <a:t>R</a:t>
            </a:r>
            <a:r>
              <a:rPr lang="en-US" altLang="zh-CN" sz="2800" b="0">
                <a:latin typeface="Arial" panose="020B0604020202020204" pitchFamily="34" charset="0"/>
              </a:rPr>
              <a:t>↾</a:t>
            </a:r>
            <a:r>
              <a:rPr lang="en-US" altLang="zh-CN" b="0" i="1">
                <a:latin typeface="Arial" panose="020B0604020202020204" pitchFamily="34" charset="0"/>
              </a:rPr>
              <a:t>A</a:t>
            </a:r>
            <a:r>
              <a:rPr lang="en-US" altLang="zh-CN" b="0">
                <a:latin typeface="Arial" panose="020B0604020202020204" pitchFamily="34" charset="0"/>
              </a:rPr>
              <a:t>) </a:t>
            </a:r>
          </a:p>
        </p:txBody>
      </p:sp>
      <p:sp>
        <p:nvSpPr>
          <p:cNvPr id="65542" name="矩形 1"/>
          <p:cNvSpPr>
            <a:spLocks noChangeArrowheads="1"/>
          </p:cNvSpPr>
          <p:nvPr/>
        </p:nvSpPr>
        <p:spPr bwMode="auto">
          <a:xfrm>
            <a:off x="4525645" y="1287780"/>
            <a:ext cx="4485005" cy="54292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</a:ln>
        </p:spPr>
        <p:txBody>
          <a:bodyPr>
            <a:no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0">
                <a:latin typeface="Arial" panose="020B0604020202020204" pitchFamily="34" charset="0"/>
              </a:rPr>
              <a:t> </a:t>
            </a:r>
            <a:r>
              <a:rPr lang="en-US" altLang="zh-CN" b="0" i="1">
                <a:latin typeface="Arial" panose="020B0604020202020204" pitchFamily="34" charset="0"/>
              </a:rPr>
              <a:t>R</a:t>
            </a:r>
            <a:r>
              <a:rPr lang="en-US" altLang="zh-CN" sz="2800" b="0">
                <a:latin typeface="Arial" panose="020B0604020202020204" pitchFamily="34" charset="0"/>
              </a:rPr>
              <a:t>↾</a:t>
            </a:r>
            <a:r>
              <a:rPr lang="en-US" altLang="zh-CN" b="0" i="1">
                <a:latin typeface="Arial" panose="020B0604020202020204" pitchFamily="34" charset="0"/>
              </a:rPr>
              <a:t>A </a:t>
            </a:r>
            <a:r>
              <a:rPr lang="en-US" altLang="zh-CN" b="0">
                <a:latin typeface="Arial" panose="020B0604020202020204" pitchFamily="34" charset="0"/>
              </a:rPr>
              <a:t>= { &lt;</a:t>
            </a:r>
            <a:r>
              <a:rPr lang="en-US" altLang="zh-CN" b="0" i="1">
                <a:latin typeface="Arial" panose="020B0604020202020204" pitchFamily="34" charset="0"/>
              </a:rPr>
              <a:t>x</a:t>
            </a:r>
            <a:r>
              <a:rPr lang="en-US" altLang="zh-CN" b="0">
                <a:latin typeface="Arial" panose="020B0604020202020204" pitchFamily="34" charset="0"/>
              </a:rPr>
              <a:t>,</a:t>
            </a:r>
            <a:r>
              <a:rPr lang="en-US" altLang="zh-CN" b="0" i="1">
                <a:latin typeface="Arial" panose="020B0604020202020204" pitchFamily="34" charset="0"/>
              </a:rPr>
              <a:t>y</a:t>
            </a:r>
            <a:r>
              <a:rPr lang="en-US" altLang="zh-CN" b="0">
                <a:latin typeface="Arial" panose="020B0604020202020204" pitchFamily="34" charset="0"/>
              </a:rPr>
              <a:t>&gt; | </a:t>
            </a:r>
            <a:r>
              <a:rPr lang="en-US" altLang="zh-CN" b="0" i="1">
                <a:latin typeface="Arial" panose="020B0604020202020204" pitchFamily="34" charset="0"/>
              </a:rPr>
              <a:t>xRy</a:t>
            </a:r>
            <a:r>
              <a:rPr lang="en-US" altLang="zh-CN" b="0">
                <a:latin typeface="Arial" panose="020B0604020202020204" pitchFamily="34" charset="0"/>
              </a:rPr>
              <a:t>∧</a:t>
            </a:r>
            <a:r>
              <a:rPr lang="en-US" altLang="zh-CN" b="0" i="1">
                <a:latin typeface="Arial" panose="020B0604020202020204" pitchFamily="34" charset="0"/>
              </a:rPr>
              <a:t>x</a:t>
            </a:r>
            <a:r>
              <a:rPr lang="en-US" altLang="zh-CN" b="0">
                <a:latin typeface="Arial" panose="020B0604020202020204" pitchFamily="34" charset="0"/>
              </a:rPr>
              <a:t>∈</a:t>
            </a:r>
            <a:r>
              <a:rPr lang="en-US" altLang="zh-CN" b="0" i="1">
                <a:latin typeface="Arial" panose="020B0604020202020204" pitchFamily="34" charset="0"/>
              </a:rPr>
              <a:t>A </a:t>
            </a:r>
            <a:r>
              <a:rPr lang="en-US" altLang="zh-CN" b="0">
                <a:latin typeface="Arial" panose="020B0604020202020204" pitchFamily="34" charset="0"/>
              </a:rPr>
              <a:t>}</a:t>
            </a:r>
          </a:p>
        </p:txBody>
      </p:sp>
      <p:graphicFrame>
        <p:nvGraphicFramePr>
          <p:cNvPr id="2" name="Object 10"/>
          <p:cNvGraphicFramePr>
            <a:graphicFrameLocks noChangeAspect="1"/>
          </p:cNvGraphicFramePr>
          <p:nvPr/>
        </p:nvGraphicFramePr>
        <p:xfrm>
          <a:off x="824895" y="6204744"/>
          <a:ext cx="6297613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594550" imgH="2962910" progId="Equation.3">
                  <p:embed/>
                </p:oleObj>
              </mc:Choice>
              <mc:Fallback>
                <p:oleObj name="Equation" r:id="rId3" imgW="32594550" imgH="296291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895" y="6204744"/>
                        <a:ext cx="6297613" cy="557212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57F257-915D-4C4A-8411-8BDA32FAB601}" type="slidenum">
              <a:rPr lang="en-US" altLang="zh-CN" sz="1400" b="0" smtClean="0">
                <a:latin typeface="Arial" panose="020B0604020202020204" pitchFamily="34" charset="0"/>
              </a:rPr>
              <a:t>32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关系的幂运算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5453062"/>
          </a:xfrm>
        </p:spPr>
        <p:txBody>
          <a:bodyPr/>
          <a:lstStyle/>
          <a:p>
            <a:pPr marL="609600" indent="-609600" eaLnBrk="1" hangingPunct="1">
              <a:defRPr/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7.10</a:t>
            </a:r>
          </a:p>
          <a:p>
            <a:pPr marL="609600" indent="-609600" eaLnBrk="1" hangingPunct="1">
              <a:defRPr/>
            </a:pPr>
            <a:r>
              <a:rPr lang="zh-CN" altLang="en-US" dirty="0"/>
              <a:t>设 </a:t>
            </a:r>
            <a:r>
              <a:rPr lang="en-US" altLang="zh-CN" i="1" dirty="0"/>
              <a:t>R </a:t>
            </a:r>
            <a:r>
              <a:rPr lang="zh-CN" altLang="en-US" dirty="0"/>
              <a:t>为 </a:t>
            </a:r>
            <a:r>
              <a:rPr lang="en-US" altLang="zh-CN" i="1" dirty="0"/>
              <a:t>A 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  <a:r>
              <a:rPr lang="en-US" altLang="zh-CN" i="1" dirty="0"/>
              <a:t>n</a:t>
            </a:r>
            <a:r>
              <a:rPr lang="zh-CN" altLang="en-US" dirty="0"/>
              <a:t>为自然数</a:t>
            </a:r>
            <a:r>
              <a:rPr lang="en-US" altLang="zh-CN" dirty="0"/>
              <a:t>, </a:t>
            </a:r>
            <a:r>
              <a:rPr lang="zh-CN" altLang="en-US" dirty="0"/>
              <a:t>则 </a:t>
            </a:r>
            <a:r>
              <a:rPr lang="en-US" altLang="zh-CN" i="1" dirty="0"/>
              <a:t>R </a:t>
            </a:r>
            <a:r>
              <a:rPr lang="zh-CN" altLang="en-US" dirty="0"/>
              <a:t>的 </a:t>
            </a:r>
            <a:r>
              <a:rPr lang="en-US" altLang="zh-CN" i="1" dirty="0">
                <a:solidFill>
                  <a:srgbClr val="A50021"/>
                </a:solidFill>
              </a:rPr>
              <a:t>n </a:t>
            </a:r>
            <a:r>
              <a:rPr lang="zh-CN" altLang="en-US" dirty="0">
                <a:solidFill>
                  <a:srgbClr val="A50021"/>
                </a:solidFill>
              </a:rPr>
              <a:t>次幂</a:t>
            </a:r>
            <a:r>
              <a:rPr lang="zh-CN" altLang="en-US" dirty="0"/>
              <a:t>定义为：</a:t>
            </a:r>
          </a:p>
          <a:p>
            <a:pPr marL="609600" indent="-609600" eaLnBrk="1" hangingPunct="1">
              <a:defRPr/>
            </a:pPr>
            <a:r>
              <a:rPr lang="en-US" altLang="zh-CN" dirty="0"/>
              <a:t>(1)  </a:t>
            </a:r>
            <a:r>
              <a:rPr lang="en-US" altLang="zh-CN" i="1" dirty="0"/>
              <a:t>R</a:t>
            </a:r>
            <a:r>
              <a:rPr lang="en-US" altLang="zh-CN" baseline="30000" dirty="0"/>
              <a:t>0 </a:t>
            </a:r>
            <a:r>
              <a:rPr lang="en-US" altLang="zh-CN" dirty="0"/>
              <a:t>= { &lt;</a:t>
            </a:r>
            <a:r>
              <a:rPr lang="en-US" altLang="zh-CN" i="1" dirty="0"/>
              <a:t>x</a:t>
            </a:r>
            <a:r>
              <a:rPr lang="en-US" altLang="zh-CN" dirty="0"/>
              <a:t>,</a:t>
            </a:r>
            <a:r>
              <a:rPr lang="en-US" altLang="zh-CN" i="1" dirty="0"/>
              <a:t>x</a:t>
            </a:r>
            <a:r>
              <a:rPr lang="en-US" altLang="zh-CN" dirty="0"/>
              <a:t>&gt; | </a:t>
            </a:r>
            <a:r>
              <a:rPr lang="en-US" altLang="zh-CN" i="1" dirty="0"/>
              <a:t>x</a:t>
            </a:r>
            <a:r>
              <a:rPr lang="en-US" altLang="zh-CN" dirty="0"/>
              <a:t>∈</a:t>
            </a:r>
            <a:r>
              <a:rPr lang="en-US" altLang="zh-CN" i="1" dirty="0"/>
              <a:t>A </a:t>
            </a:r>
            <a:r>
              <a:rPr lang="en-US" altLang="zh-CN" dirty="0"/>
              <a:t>} = 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</a:p>
          <a:p>
            <a:pPr marL="609600" indent="-609600" eaLnBrk="1" hangingPunct="1">
              <a:defRPr/>
            </a:pPr>
            <a:r>
              <a:rPr lang="en-US" altLang="zh-CN" dirty="0"/>
              <a:t>(2)</a:t>
            </a:r>
            <a:r>
              <a:rPr lang="en-US" altLang="zh-CN" i="1" dirty="0"/>
              <a:t> 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baseline="30000" dirty="0"/>
              <a:t>+1 </a:t>
            </a:r>
            <a:r>
              <a:rPr lang="en-US" altLang="zh-CN" dirty="0"/>
              <a:t>= 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R</a:t>
            </a:r>
            <a:endParaRPr lang="en-US" altLang="zh-CN" dirty="0"/>
          </a:p>
          <a:p>
            <a:pPr marL="609600" indent="-609600" eaLnBrk="1" hangingPunct="1">
              <a:spcBef>
                <a:spcPct val="110000"/>
              </a:spcBef>
              <a:defRPr/>
            </a:pPr>
            <a:r>
              <a:rPr lang="zh-CN" altLang="en-US" dirty="0"/>
              <a:t>注意：</a:t>
            </a:r>
          </a:p>
          <a:p>
            <a:pPr marL="609600" indent="-609600" eaLnBrk="1" hangingPunct="1">
              <a:buClr>
                <a:srgbClr val="FF99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500" dirty="0"/>
              <a:t>对于</a:t>
            </a:r>
            <a:r>
              <a:rPr lang="en-US" altLang="zh-CN" sz="2500" i="1" dirty="0"/>
              <a:t>A</a:t>
            </a:r>
            <a:r>
              <a:rPr lang="zh-CN" altLang="en-US" sz="2500" dirty="0"/>
              <a:t>上的任何关系 </a:t>
            </a:r>
            <a:r>
              <a:rPr lang="en-US" altLang="zh-CN" sz="2500" i="1" dirty="0"/>
              <a:t>R</a:t>
            </a:r>
            <a:r>
              <a:rPr lang="en-US" altLang="zh-CN" sz="2500" baseline="-25000" dirty="0"/>
              <a:t>1 </a:t>
            </a:r>
            <a:r>
              <a:rPr lang="zh-CN" altLang="en-US" sz="2500" dirty="0"/>
              <a:t>和 </a:t>
            </a:r>
            <a:r>
              <a:rPr lang="en-US" altLang="zh-CN" sz="2500" i="1" dirty="0"/>
              <a:t>R</a:t>
            </a:r>
            <a:r>
              <a:rPr lang="en-US" altLang="zh-CN" sz="2500" baseline="-25000" dirty="0"/>
              <a:t>2 </a:t>
            </a:r>
            <a:r>
              <a:rPr lang="zh-CN" altLang="en-US" sz="2500" dirty="0"/>
              <a:t>都有 </a:t>
            </a:r>
            <a:r>
              <a:rPr lang="en-US" altLang="zh-CN" sz="2500" i="1" dirty="0"/>
              <a:t>R</a:t>
            </a:r>
            <a:r>
              <a:rPr lang="en-US" altLang="zh-CN" sz="2500" baseline="-25000" dirty="0"/>
              <a:t>1</a:t>
            </a:r>
            <a:r>
              <a:rPr lang="en-US" altLang="zh-CN" sz="2500" baseline="30000" dirty="0"/>
              <a:t>0 </a:t>
            </a:r>
            <a:r>
              <a:rPr lang="en-US" altLang="zh-CN" sz="2500" dirty="0"/>
              <a:t>= </a:t>
            </a:r>
            <a:r>
              <a:rPr lang="en-US" altLang="zh-CN" sz="2500" i="1" dirty="0"/>
              <a:t>R</a:t>
            </a:r>
            <a:r>
              <a:rPr lang="en-US" altLang="zh-CN" sz="2500" baseline="-25000" dirty="0"/>
              <a:t>2</a:t>
            </a:r>
            <a:r>
              <a:rPr lang="en-US" altLang="zh-CN" sz="2500" baseline="30000" dirty="0"/>
              <a:t>0 </a:t>
            </a:r>
            <a:r>
              <a:rPr lang="en-US" altLang="zh-CN" sz="2500" dirty="0"/>
              <a:t>= </a:t>
            </a:r>
            <a:r>
              <a:rPr lang="en-US" altLang="zh-CN" sz="2500" i="1" dirty="0"/>
              <a:t>I</a:t>
            </a:r>
            <a:r>
              <a:rPr lang="en-US" altLang="zh-CN" sz="2500" i="1" baseline="-25000" dirty="0"/>
              <a:t>A</a:t>
            </a:r>
            <a:r>
              <a:rPr lang="en-US" altLang="zh-CN" sz="2500" dirty="0"/>
              <a:t> </a:t>
            </a:r>
          </a:p>
          <a:p>
            <a:pPr marL="609600" indent="-609600" eaLnBrk="1" hangingPunct="1">
              <a:buClr>
                <a:srgbClr val="FF99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500" dirty="0"/>
              <a:t>对于</a:t>
            </a:r>
            <a:r>
              <a:rPr lang="en-US" altLang="zh-CN" sz="2500" i="1" dirty="0"/>
              <a:t>A</a:t>
            </a:r>
            <a:r>
              <a:rPr lang="zh-CN" altLang="en-US" sz="2500" dirty="0"/>
              <a:t>上的任何关系 </a:t>
            </a:r>
            <a:r>
              <a:rPr lang="en-US" altLang="zh-CN" sz="2500" i="1" dirty="0"/>
              <a:t>R </a:t>
            </a:r>
            <a:r>
              <a:rPr lang="zh-CN" altLang="en-US" sz="2500" dirty="0"/>
              <a:t>都有 </a:t>
            </a:r>
            <a:r>
              <a:rPr lang="en-US" altLang="zh-CN" sz="2500" i="1" dirty="0"/>
              <a:t>R</a:t>
            </a:r>
            <a:r>
              <a:rPr lang="en-US" altLang="zh-CN" sz="2500" baseline="30000" dirty="0"/>
              <a:t>1 </a:t>
            </a:r>
            <a:r>
              <a:rPr lang="en-US" altLang="zh-CN" sz="2500" dirty="0"/>
              <a:t>= </a:t>
            </a:r>
            <a:r>
              <a:rPr lang="en-US" altLang="zh-CN" sz="2500" i="1" dirty="0"/>
              <a:t>R</a:t>
            </a:r>
          </a:p>
          <a:p>
            <a:pPr marL="0" indent="0" eaLnBrk="1" hangingPunct="1">
              <a:buClr>
                <a:srgbClr val="FF9900"/>
              </a:buClr>
              <a:defRPr/>
            </a:pPr>
            <a:endParaRPr lang="en-US" altLang="zh-CN" dirty="0"/>
          </a:p>
          <a:p>
            <a:pPr marL="0" indent="0" eaLnBrk="1" hangingPunct="1">
              <a:buClr>
                <a:srgbClr val="FF9900"/>
              </a:buClr>
              <a:defRPr/>
            </a:pPr>
            <a:r>
              <a:rPr lang="zh-CN" altLang="en-US" dirty="0">
                <a:solidFill>
                  <a:srgbClr val="0066FF"/>
                </a:solidFill>
              </a:rPr>
              <a:t>关系的幂运算的两种求法：</a:t>
            </a:r>
            <a:endParaRPr lang="en-US" altLang="zh-CN" dirty="0">
              <a:solidFill>
                <a:srgbClr val="0066FF"/>
              </a:solidFill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关系矩阵法</a:t>
            </a:r>
            <a:endParaRPr lang="en-US" altLang="zh-CN" dirty="0"/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关系图法</a:t>
            </a:r>
            <a:endParaRPr lang="en-US" altLang="zh-CN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73863" y="6273800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B8A2CFE-09FF-4C77-8573-B26B69E2C77D}" type="slidenum">
              <a:rPr lang="zh-CN" altLang="en-US" sz="1400" b="0" smtClean="0"/>
              <a:t>33</a:t>
            </a:fld>
            <a:endParaRPr lang="en-US" altLang="zh-CN" sz="1400" b="0"/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用关系矩阵求关系的幂</a:t>
            </a: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5348288" y="1820863"/>
            <a:ext cx="1744662" cy="19081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>
                <a:solidFill>
                  <a:srgbClr val="FF3300"/>
                </a:solidFill>
              </a:rPr>
              <a:t>逻辑乘</a:t>
            </a:r>
            <a:r>
              <a:rPr kumimoji="1" lang="en-US" altLang="zh-CN">
                <a:solidFill>
                  <a:srgbClr val="FF3300"/>
                </a:solidFill>
              </a:rPr>
              <a:t>(</a:t>
            </a:r>
            <a:r>
              <a:rPr kumimoji="1"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)</a:t>
            </a:r>
            <a:endParaRPr kumimoji="1" lang="en-US" altLang="zh-CN">
              <a:solidFill>
                <a:srgbClr val="FF3300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solidFill>
                  <a:srgbClr val="FF3300"/>
                </a:solidFill>
              </a:rPr>
              <a:t>0 </a:t>
            </a:r>
            <a:r>
              <a:rPr kumimoji="1"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 0 = 0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solidFill>
                  <a:srgbClr val="FF3300"/>
                </a:solidFill>
              </a:rPr>
              <a:t>0 </a:t>
            </a:r>
            <a:r>
              <a:rPr kumimoji="1"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 1 = 0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solidFill>
                  <a:srgbClr val="FF3300"/>
                </a:solidFill>
              </a:rPr>
              <a:t>1 </a:t>
            </a:r>
            <a:r>
              <a:rPr kumimoji="1"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 0 = 0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solidFill>
                  <a:srgbClr val="FF3300"/>
                </a:solidFill>
              </a:rPr>
              <a:t>1 </a:t>
            </a:r>
            <a:r>
              <a:rPr kumimoji="1"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 1 = 1</a:t>
            </a: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7124700" y="1820863"/>
            <a:ext cx="1744663" cy="19081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>
                <a:solidFill>
                  <a:srgbClr val="FF3300"/>
                </a:solidFill>
              </a:rPr>
              <a:t>逻辑加</a:t>
            </a:r>
            <a:r>
              <a:rPr kumimoji="1" lang="en-US" altLang="zh-CN">
                <a:solidFill>
                  <a:srgbClr val="FF3300"/>
                </a:solidFill>
              </a:rPr>
              <a:t>(</a:t>
            </a:r>
            <a:r>
              <a:rPr kumimoji="1"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)</a:t>
            </a:r>
            <a:endParaRPr kumimoji="1" lang="en-US" altLang="zh-CN">
              <a:solidFill>
                <a:srgbClr val="FF3300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solidFill>
                  <a:srgbClr val="FF3300"/>
                </a:solidFill>
              </a:rPr>
              <a:t>0 </a:t>
            </a:r>
            <a:r>
              <a:rPr kumimoji="1"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 0 = 0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solidFill>
                  <a:srgbClr val="FF3300"/>
                </a:solidFill>
              </a:rPr>
              <a:t>0 </a:t>
            </a:r>
            <a:r>
              <a:rPr kumimoji="1"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 1 = 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solidFill>
                  <a:srgbClr val="FF3300"/>
                </a:solidFill>
              </a:rPr>
              <a:t>1 </a:t>
            </a:r>
            <a:r>
              <a:rPr kumimoji="1"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 0 = 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>
                <a:solidFill>
                  <a:srgbClr val="FF3300"/>
                </a:solidFill>
              </a:rPr>
              <a:t>1 </a:t>
            </a:r>
            <a:r>
              <a:rPr kumimoji="1"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 1 = 1</a:t>
            </a:r>
          </a:p>
        </p:txBody>
      </p:sp>
      <p:pic>
        <p:nvPicPr>
          <p:cNvPr id="69648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270000"/>
            <a:ext cx="44386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49" name="图片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38" y="1751013"/>
            <a:ext cx="3324225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3484563"/>
            <a:ext cx="309562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197600"/>
            <a:ext cx="4495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75" y="4033838"/>
            <a:ext cx="4654550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6176" y="4260468"/>
            <a:ext cx="2463034" cy="19081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E3DB07EA-1222-4E4B-88FE-5F415A89E683}" type="slidenum">
              <a:rPr lang="zh-CN" altLang="en-US" sz="1400" b="0" smtClean="0"/>
              <a:t>34</a:t>
            </a:fld>
            <a:endParaRPr lang="en-US" altLang="zh-CN" sz="1400" b="0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上例（续）</a:t>
            </a:r>
          </a:p>
        </p:txBody>
      </p:sp>
      <p:pic>
        <p:nvPicPr>
          <p:cNvPr id="71684" name="图片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270000"/>
            <a:ext cx="44386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33550"/>
            <a:ext cx="4495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20938"/>
            <a:ext cx="321151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3009900"/>
            <a:ext cx="3495675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" y="4271963"/>
            <a:ext cx="21621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350" y="5870575"/>
            <a:ext cx="40386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C18CFD7B-92E1-4B5F-91EE-A13FFDFE515C}" type="slidenum">
              <a:rPr lang="zh-CN" altLang="en-US" sz="1400" b="0" smtClean="0"/>
              <a:t>35</a:t>
            </a:fld>
            <a:endParaRPr lang="en-US" altLang="zh-CN" sz="1400" b="0"/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用关系图求关系的幂</a:t>
            </a:r>
          </a:p>
        </p:txBody>
      </p:sp>
      <p:sp>
        <p:nvSpPr>
          <p:cNvPr id="688146" name="Text Box 18"/>
          <p:cNvSpPr txBox="1">
            <a:spLocks noChangeArrowheads="1"/>
          </p:cNvSpPr>
          <p:nvPr/>
        </p:nvSpPr>
        <p:spPr bwMode="auto">
          <a:xfrm>
            <a:off x="488950" y="2057400"/>
            <a:ext cx="16160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4400" b="0" dirty="0">
                <a:ea typeface="隶书" panose="02010509060101010101" pitchFamily="49" charset="-122"/>
              </a:rPr>
              <a:t>解：</a:t>
            </a:r>
          </a:p>
        </p:txBody>
      </p:sp>
      <p:pic>
        <p:nvPicPr>
          <p:cNvPr id="72717" name="图片 5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270000"/>
            <a:ext cx="44386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8" name="图片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063" y="1911350"/>
            <a:ext cx="48736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组合 12"/>
          <p:cNvGrpSpPr/>
          <p:nvPr/>
        </p:nvGrpSpPr>
        <p:grpSpPr>
          <a:xfrm>
            <a:off x="1412771" y="3435350"/>
            <a:ext cx="5333997" cy="1523999"/>
            <a:chOff x="1412771" y="3435350"/>
            <a:chExt cx="5333997" cy="1523999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12771" y="3435350"/>
              <a:ext cx="5333997" cy="1523999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6214463" y="4088358"/>
              <a:ext cx="47754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i="1" dirty="0">
                  <a:latin typeface="+mn-lt"/>
                </a:rPr>
                <a:t>c</a:t>
              </a:r>
              <a:endParaRPr lang="zh-CN" altLang="en-US" sz="4800" i="1" dirty="0">
                <a:latin typeface="+mn-lt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649413" y="4919355"/>
            <a:ext cx="5515425" cy="1523999"/>
            <a:chOff x="1649413" y="4919355"/>
            <a:chExt cx="5515425" cy="1523999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49413" y="4919355"/>
              <a:ext cx="5515425" cy="1523999"/>
            </a:xfrm>
            <a:prstGeom prst="rect">
              <a:avLst/>
            </a:prstGeom>
          </p:spPr>
        </p:pic>
        <p:sp>
          <p:nvSpPr>
            <p:cNvPr id="45" name="文本框 44"/>
            <p:cNvSpPr txBox="1"/>
            <p:nvPr/>
          </p:nvSpPr>
          <p:spPr>
            <a:xfrm>
              <a:off x="6314428" y="5520024"/>
              <a:ext cx="47754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400" i="1" dirty="0">
                  <a:latin typeface="+mn-lt"/>
                </a:rPr>
                <a:t>c</a:t>
              </a:r>
              <a:endParaRPr lang="zh-CN" altLang="en-US" sz="5400" i="1" dirty="0">
                <a:latin typeface="+mn-lt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8146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FC9928-E876-41B6-AAFD-76B6EF8CA988}" type="slidenum">
              <a:rPr lang="en-US" altLang="zh-CN" sz="1400" b="0" smtClean="0">
                <a:latin typeface="Arial" panose="020B0604020202020204" pitchFamily="34" charset="0"/>
              </a:rPr>
              <a:t>36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br>
              <a:rPr lang="en-US" altLang="zh-CN">
                <a:solidFill>
                  <a:srgbClr val="000000"/>
                </a:solidFill>
              </a:rPr>
            </a:b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96975"/>
            <a:ext cx="8291513" cy="936625"/>
          </a:xfrm>
        </p:spPr>
        <p:txBody>
          <a:bodyPr/>
          <a:lstStyle/>
          <a:p>
            <a:pPr marL="0" indent="0" eaLnBrk="1" hangingPunct="1"/>
            <a:r>
              <a:rPr lang="zh-CN" altLang="en-US">
                <a:solidFill>
                  <a:srgbClr val="A50021"/>
                </a:solidFill>
              </a:rPr>
              <a:t>例 </a:t>
            </a:r>
            <a:r>
              <a:rPr lang="en-US" altLang="zh-CN">
                <a:solidFill>
                  <a:srgbClr val="A50021"/>
                </a:solidFill>
              </a:rPr>
              <a:t>8</a:t>
            </a:r>
            <a:r>
              <a:rPr lang="en-US" altLang="zh-CN">
                <a:solidFill>
                  <a:srgbClr val="000000"/>
                </a:solidFill>
              </a:rPr>
              <a:t>  </a:t>
            </a:r>
            <a:r>
              <a:rPr lang="zh-CN" altLang="en-US">
                <a:solidFill>
                  <a:srgbClr val="000000"/>
                </a:solidFill>
              </a:rPr>
              <a:t>设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en-US" altLang="zh-CN">
                <a:solidFill>
                  <a:srgbClr val="000000"/>
                </a:solidFill>
              </a:rPr>
              <a:t> = {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en-US" altLang="zh-CN">
                <a:solidFill>
                  <a:srgbClr val="000000"/>
                </a:solidFill>
              </a:rPr>
              <a:t>,</a:t>
            </a:r>
            <a:r>
              <a:rPr lang="en-US" altLang="zh-CN" i="1">
                <a:solidFill>
                  <a:srgbClr val="000000"/>
                </a:solidFill>
              </a:rPr>
              <a:t>b</a:t>
            </a:r>
            <a:r>
              <a:rPr lang="en-US" altLang="zh-CN">
                <a:solidFill>
                  <a:srgbClr val="000000"/>
                </a:solidFill>
              </a:rPr>
              <a:t>,</a:t>
            </a:r>
            <a:r>
              <a:rPr lang="en-US" altLang="zh-CN" i="1">
                <a:solidFill>
                  <a:srgbClr val="000000"/>
                </a:solidFill>
              </a:rPr>
              <a:t>c</a:t>
            </a:r>
            <a:r>
              <a:rPr lang="en-US" altLang="zh-CN">
                <a:solidFill>
                  <a:srgbClr val="000000"/>
                </a:solidFill>
              </a:rPr>
              <a:t>,</a:t>
            </a:r>
            <a:r>
              <a:rPr lang="en-US" altLang="zh-CN" i="1">
                <a:solidFill>
                  <a:srgbClr val="000000"/>
                </a:solidFill>
              </a:rPr>
              <a:t>d</a:t>
            </a:r>
            <a:r>
              <a:rPr lang="en-US" altLang="zh-CN">
                <a:solidFill>
                  <a:srgbClr val="000000"/>
                </a:solidFill>
              </a:rPr>
              <a:t>},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>
                <a:solidFill>
                  <a:srgbClr val="000000"/>
                </a:solidFill>
              </a:rPr>
              <a:t> = {&lt;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en-US" altLang="zh-CN">
                <a:solidFill>
                  <a:srgbClr val="000000"/>
                </a:solidFill>
              </a:rPr>
              <a:t>,</a:t>
            </a:r>
            <a:r>
              <a:rPr lang="en-US" altLang="zh-CN" i="1">
                <a:solidFill>
                  <a:srgbClr val="000000"/>
                </a:solidFill>
              </a:rPr>
              <a:t>b</a:t>
            </a:r>
            <a:r>
              <a:rPr lang="en-US" altLang="zh-CN">
                <a:solidFill>
                  <a:srgbClr val="000000"/>
                </a:solidFill>
              </a:rPr>
              <a:t>&gt;,&lt;</a:t>
            </a:r>
            <a:r>
              <a:rPr lang="en-US" altLang="zh-CN" i="1">
                <a:solidFill>
                  <a:srgbClr val="000000"/>
                </a:solidFill>
              </a:rPr>
              <a:t>b</a:t>
            </a:r>
            <a:r>
              <a:rPr lang="en-US" altLang="zh-CN">
                <a:solidFill>
                  <a:srgbClr val="000000"/>
                </a:solidFill>
              </a:rPr>
              <a:t>,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en-US" altLang="zh-CN">
                <a:solidFill>
                  <a:srgbClr val="000000"/>
                </a:solidFill>
              </a:rPr>
              <a:t>&gt;,&lt;</a:t>
            </a:r>
            <a:r>
              <a:rPr lang="en-US" altLang="zh-CN" i="1">
                <a:solidFill>
                  <a:srgbClr val="000000"/>
                </a:solidFill>
              </a:rPr>
              <a:t>b</a:t>
            </a:r>
            <a:r>
              <a:rPr lang="en-US" altLang="zh-CN">
                <a:solidFill>
                  <a:srgbClr val="000000"/>
                </a:solidFill>
              </a:rPr>
              <a:t>,</a:t>
            </a:r>
            <a:r>
              <a:rPr lang="en-US" altLang="zh-CN" i="1">
                <a:solidFill>
                  <a:srgbClr val="000000"/>
                </a:solidFill>
              </a:rPr>
              <a:t>c</a:t>
            </a:r>
            <a:r>
              <a:rPr lang="en-US" altLang="zh-CN">
                <a:solidFill>
                  <a:srgbClr val="000000"/>
                </a:solidFill>
              </a:rPr>
              <a:t>&gt;,&lt;</a:t>
            </a:r>
            <a:r>
              <a:rPr lang="en-US" altLang="zh-CN" i="1">
                <a:solidFill>
                  <a:srgbClr val="000000"/>
                </a:solidFill>
              </a:rPr>
              <a:t>c</a:t>
            </a:r>
            <a:r>
              <a:rPr lang="en-US" altLang="zh-CN">
                <a:solidFill>
                  <a:srgbClr val="000000"/>
                </a:solidFill>
              </a:rPr>
              <a:t>,</a:t>
            </a:r>
            <a:r>
              <a:rPr lang="en-US" altLang="zh-CN" i="1">
                <a:solidFill>
                  <a:srgbClr val="000000"/>
                </a:solidFill>
              </a:rPr>
              <a:t>d</a:t>
            </a:r>
            <a:r>
              <a:rPr lang="en-US" altLang="zh-CN">
                <a:solidFill>
                  <a:srgbClr val="000000"/>
                </a:solidFill>
              </a:rPr>
              <a:t>&gt;}, </a:t>
            </a:r>
          </a:p>
          <a:p>
            <a:pPr marL="0" indent="0" eaLnBrk="1" hangingPunct="1"/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zh-CN" altLang="en-US">
                <a:solidFill>
                  <a:srgbClr val="000000"/>
                </a:solidFill>
              </a:rPr>
              <a:t>的各次幂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分别用矩阵和关系图表示</a:t>
            </a:r>
            <a:r>
              <a:rPr lang="en-US" altLang="zh-CN">
                <a:solidFill>
                  <a:srgbClr val="000000"/>
                </a:solidFill>
              </a:rPr>
              <a:t>. </a:t>
            </a:r>
            <a:endParaRPr lang="en-US" altLang="zh-CN">
              <a:solidFill>
                <a:srgbClr val="808080"/>
              </a:solidFill>
              <a:ea typeface="华文中宋" panose="02010600040101010101" pitchFamily="2" charset="-122"/>
            </a:endParaRP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/>
        </p:nvGraphicFramePr>
        <p:xfrm>
          <a:off x="971550" y="2708275"/>
          <a:ext cx="2374900" cy="178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31900" imgH="927100" progId="Equation.3">
                  <p:embed/>
                </p:oleObj>
              </mc:Choice>
              <mc:Fallback>
                <p:oleObj name="公式" r:id="rId3" imgW="1231900" imgH="927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708275"/>
                        <a:ext cx="2374900" cy="178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2" name="Rectangle 6"/>
          <p:cNvSpPr>
            <a:spLocks noChangeArrowheads="1"/>
          </p:cNvSpPr>
          <p:nvPr/>
        </p:nvSpPr>
        <p:spPr bwMode="auto">
          <a:xfrm>
            <a:off x="539750" y="2205038"/>
            <a:ext cx="4383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解  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R </a:t>
            </a: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与</a:t>
            </a:r>
            <a:r>
              <a:rPr lang="zh-CN" altLang="en-US" i="1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30000">
                <a:solidFill>
                  <a:srgbClr val="000000"/>
                </a:solidFill>
                <a:sym typeface="Symbol" panose="05050102010706020507" pitchFamily="18" charset="2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的关系矩阵分别是：</a:t>
            </a:r>
          </a:p>
        </p:txBody>
      </p:sp>
      <p:graphicFrame>
        <p:nvGraphicFramePr>
          <p:cNvPr id="65543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827088" y="4665663"/>
          <a:ext cx="6265862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251200" imgH="927100" progId="Equation.3">
                  <p:embed/>
                </p:oleObj>
              </mc:Choice>
              <mc:Fallback>
                <p:oleObj name="公式" r:id="rId5" imgW="3251200" imgH="927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665663"/>
                        <a:ext cx="6265862" cy="178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6" name="Rectangle 9"/>
          <p:cNvSpPr>
            <a:spLocks noChangeArrowheads="1"/>
          </p:cNvSpPr>
          <p:nvPr/>
        </p:nvSpPr>
        <p:spPr bwMode="auto">
          <a:xfrm>
            <a:off x="1908175" y="260350"/>
            <a:ext cx="61928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/>
              <a:t>求关系的幂</a:t>
            </a:r>
            <a:endParaRPr lang="zh-CN" altLang="en-US" sz="3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C662059-A0CC-4F0A-94B2-685D3E5A57A2}" type="slidenum">
              <a:rPr lang="en-US" altLang="zh-CN" sz="1400" b="0" smtClean="0">
                <a:latin typeface="Arial" panose="020B0604020202020204" pitchFamily="34" charset="0"/>
              </a:rPr>
              <a:t>37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184775"/>
          </a:xfrm>
        </p:spPr>
        <p:txBody>
          <a:bodyPr/>
          <a:lstStyle/>
          <a:p>
            <a:pPr eaLnBrk="1" hangingPunct="1"/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3</a:t>
            </a:r>
            <a:r>
              <a:rPr lang="zh-CN" altLang="en-US">
                <a:solidFill>
                  <a:srgbClr val="000000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4</a:t>
            </a:r>
            <a:r>
              <a:rPr lang="zh-CN" altLang="en-US">
                <a:solidFill>
                  <a:srgbClr val="000000"/>
                </a:solidFill>
                <a:cs typeface="Times New Roman" panose="02020603050405020304" pitchFamily="18" charset="0"/>
              </a:rPr>
              <a:t>的矩阵是：</a:t>
            </a:r>
          </a:p>
          <a:p>
            <a:pPr eaLnBrk="1" hangingPunct="1"/>
            <a:endParaRPr lang="zh-CN" altLang="en-US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/>
            <a:endParaRPr lang="zh-CN" altLang="en-US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/>
            <a:endParaRPr lang="zh-CN" altLang="en-US">
              <a:solidFill>
                <a:srgbClr val="000000"/>
              </a:solidFill>
            </a:endParaRPr>
          </a:p>
          <a:p>
            <a:pPr eaLnBrk="1" hangingPunct="1"/>
            <a:endParaRPr lang="zh-CN" altLang="en-US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</a:rPr>
              <a:t>因此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30000">
                <a:solidFill>
                  <a:srgbClr val="000000"/>
                </a:solidFill>
              </a:rPr>
              <a:t>4</a:t>
            </a:r>
            <a:r>
              <a:rPr lang="en-US" altLang="zh-CN">
                <a:solidFill>
                  <a:srgbClr val="000000"/>
                </a:solidFill>
              </a:rPr>
              <a:t>=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即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4</a:t>
            </a:r>
            <a:r>
              <a:rPr lang="en-US" altLang="zh-CN">
                <a:solidFill>
                  <a:srgbClr val="000000"/>
                </a:solidFill>
              </a:rPr>
              <a:t>=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. </a:t>
            </a:r>
            <a:r>
              <a:rPr lang="zh-CN" altLang="en-US">
                <a:solidFill>
                  <a:srgbClr val="000000"/>
                </a:solidFill>
              </a:rPr>
              <a:t>因此可以得到</a:t>
            </a:r>
            <a:br>
              <a:rPr lang="zh-CN" altLang="en-US">
                <a:solidFill>
                  <a:srgbClr val="000000"/>
                </a:solidFill>
              </a:rPr>
            </a:br>
            <a:r>
              <a:rPr lang="zh-CN" altLang="en-US">
                <a:solidFill>
                  <a:srgbClr val="000000"/>
                </a:solidFill>
              </a:rPr>
              <a:t>      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=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4</a:t>
            </a:r>
            <a:r>
              <a:rPr lang="en-US" altLang="zh-CN">
                <a:solidFill>
                  <a:srgbClr val="000000"/>
                </a:solidFill>
              </a:rPr>
              <a:t>=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6</a:t>
            </a:r>
            <a:r>
              <a:rPr lang="en-US" altLang="zh-CN">
                <a:solidFill>
                  <a:srgbClr val="000000"/>
                </a:solidFill>
              </a:rPr>
              <a:t>=…</a:t>
            </a:r>
            <a:r>
              <a:rPr lang="zh-CN" altLang="en-US">
                <a:solidFill>
                  <a:srgbClr val="000000"/>
                </a:solidFill>
              </a:rPr>
              <a:t>，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3</a:t>
            </a:r>
            <a:r>
              <a:rPr lang="en-US" altLang="zh-CN">
                <a:solidFill>
                  <a:srgbClr val="000000"/>
                </a:solidFill>
              </a:rPr>
              <a:t>=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5</a:t>
            </a:r>
            <a:r>
              <a:rPr lang="en-US" altLang="zh-CN">
                <a:solidFill>
                  <a:srgbClr val="000000"/>
                </a:solidFill>
              </a:rPr>
              <a:t>=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7</a:t>
            </a:r>
            <a:r>
              <a:rPr lang="en-US" altLang="zh-CN">
                <a:solidFill>
                  <a:srgbClr val="000000"/>
                </a:solidFill>
              </a:rPr>
              <a:t>=…</a:t>
            </a:r>
            <a:br>
              <a:rPr lang="en-US" altLang="zh-CN">
                <a:solidFill>
                  <a:srgbClr val="000000"/>
                </a:solidFill>
              </a:rPr>
            </a:br>
            <a:endParaRPr lang="en-US" altLang="zh-CN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0</a:t>
            </a:r>
            <a:r>
              <a:rPr lang="zh-CN" altLang="en-US">
                <a:solidFill>
                  <a:srgbClr val="000000"/>
                </a:solidFill>
              </a:rPr>
              <a:t>的关系矩阵是</a:t>
            </a:r>
          </a:p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      </a:t>
            </a:r>
          </a:p>
        </p:txBody>
      </p:sp>
      <p:sp>
        <p:nvSpPr>
          <p:cNvPr id="75780" name="Rectangle 5"/>
          <p:cNvSpPr>
            <a:spLocks noChangeArrowheads="1"/>
          </p:cNvSpPr>
          <p:nvPr/>
        </p:nvSpPr>
        <p:spPr bwMode="auto">
          <a:xfrm>
            <a:off x="0" y="3067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>
              <a:latin typeface="Arial" panose="020B0604020202020204" pitchFamily="34" charset="0"/>
            </a:endParaRPr>
          </a:p>
        </p:txBody>
      </p:sp>
      <p:graphicFrame>
        <p:nvGraphicFramePr>
          <p:cNvPr id="75781" name="Object 4"/>
          <p:cNvGraphicFramePr>
            <a:graphicFrameLocks noChangeAspect="1"/>
          </p:cNvGraphicFramePr>
          <p:nvPr/>
        </p:nvGraphicFramePr>
        <p:xfrm>
          <a:off x="1498600" y="1628775"/>
          <a:ext cx="5160963" cy="176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717800" imgH="927100" progId="Equation.3">
                  <p:embed/>
                </p:oleObj>
              </mc:Choice>
              <mc:Fallback>
                <p:oleObj name="公式" r:id="rId3" imgW="2717800" imgH="927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1628775"/>
                        <a:ext cx="5160963" cy="176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2" name="Rectangle 7"/>
          <p:cNvSpPr>
            <a:spLocks noChangeArrowheads="1"/>
          </p:cNvSpPr>
          <p:nvPr/>
        </p:nvSpPr>
        <p:spPr bwMode="auto">
          <a:xfrm>
            <a:off x="0" y="3062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>
              <a:latin typeface="Arial" panose="020B0604020202020204" pitchFamily="34" charset="0"/>
            </a:endParaRPr>
          </a:p>
        </p:txBody>
      </p:sp>
      <p:graphicFrame>
        <p:nvGraphicFramePr>
          <p:cNvPr id="67591" name="Object 6"/>
          <p:cNvGraphicFramePr>
            <a:graphicFrameLocks noChangeAspect="1"/>
          </p:cNvGraphicFramePr>
          <p:nvPr/>
        </p:nvGraphicFramePr>
        <p:xfrm>
          <a:off x="2987675" y="4508500"/>
          <a:ext cx="2592388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295400" imgH="927100" progId="Equation.3">
                  <p:embed/>
                </p:oleObj>
              </mc:Choice>
              <mc:Fallback>
                <p:oleObj name="公式" r:id="rId5" imgW="1295400" imgH="927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508500"/>
                        <a:ext cx="2592388" cy="187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4" name="Rectangle 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求关系的幂（续）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48024E9-DB89-4EEE-AAA2-37777D90778D}" type="slidenum">
              <a:rPr lang="en-US" altLang="zh-CN" sz="1400" b="0" smtClean="0">
                <a:latin typeface="Arial" panose="020B0604020202020204" pitchFamily="34" charset="0"/>
              </a:rPr>
              <a:t>38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求关系的幂（续）</a:t>
            </a:r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68413"/>
            <a:ext cx="8229600" cy="863600"/>
          </a:xfrm>
        </p:spPr>
        <p:txBody>
          <a:bodyPr/>
          <a:lstStyle/>
          <a:p>
            <a:pPr eaLnBrk="1" hangingPunct="1"/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0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3</a:t>
            </a:r>
            <a:r>
              <a:rPr lang="en-US" altLang="zh-CN">
                <a:solidFill>
                  <a:srgbClr val="000000"/>
                </a:solidFill>
              </a:rPr>
              <a:t>,…</a:t>
            </a:r>
            <a:r>
              <a:rPr lang="zh-CN" altLang="en-US">
                <a:solidFill>
                  <a:srgbClr val="000000"/>
                </a:solidFill>
              </a:rPr>
              <a:t>的关系图如下图所示</a:t>
            </a:r>
            <a:r>
              <a:rPr lang="en-US" altLang="zh-CN">
                <a:solidFill>
                  <a:srgbClr val="000000"/>
                </a:solidFill>
              </a:rPr>
              <a:t>.</a:t>
            </a:r>
            <a:r>
              <a:rPr lang="en-US" altLang="zh-CN"/>
              <a:t> </a:t>
            </a:r>
          </a:p>
        </p:txBody>
      </p:sp>
      <p:pic>
        <p:nvPicPr>
          <p:cNvPr id="77829" name="Picture 4" descr="图片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855"/>
          <a:stretch>
            <a:fillRect/>
          </a:stretch>
        </p:blipFill>
        <p:spPr bwMode="auto">
          <a:xfrm>
            <a:off x="684213" y="2420938"/>
            <a:ext cx="7848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1" name="Text Box 8"/>
          <p:cNvSpPr txBox="1">
            <a:spLocks noChangeArrowheads="1"/>
          </p:cNvSpPr>
          <p:nvPr/>
        </p:nvSpPr>
        <p:spPr bwMode="auto">
          <a:xfrm>
            <a:off x="2211388" y="33051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/>
              <a:t>R</a:t>
            </a:r>
            <a:r>
              <a:rPr lang="en-US" altLang="zh-CN" baseline="30000"/>
              <a:t>0</a:t>
            </a:r>
          </a:p>
        </p:txBody>
      </p:sp>
      <p:sp>
        <p:nvSpPr>
          <p:cNvPr id="77832" name="Text Box 9"/>
          <p:cNvSpPr txBox="1">
            <a:spLocks noChangeArrowheads="1"/>
          </p:cNvSpPr>
          <p:nvPr/>
        </p:nvSpPr>
        <p:spPr bwMode="auto">
          <a:xfrm>
            <a:off x="6588125" y="32845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/>
              <a:t>R</a:t>
            </a:r>
            <a:r>
              <a:rPr lang="en-US" altLang="zh-CN" baseline="30000"/>
              <a:t>1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19" y="4197349"/>
            <a:ext cx="4169769" cy="20478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236" y="4068763"/>
            <a:ext cx="3899545" cy="204787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966DD120-7F94-439C-B2DA-F075A5BFA410}" type="slidenum">
              <a:rPr lang="zh-CN" altLang="en-US" sz="1400" b="0" smtClean="0"/>
              <a:t>39</a:t>
            </a:fld>
            <a:endParaRPr lang="en-US" altLang="zh-CN" sz="1400" b="0"/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endParaRPr lang="en-US" altLang="zh-CN"/>
          </a:p>
        </p:txBody>
      </p:sp>
      <p:pic>
        <p:nvPicPr>
          <p:cNvPr id="7987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700213"/>
            <a:ext cx="5829300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C86E4232-A35F-485C-B4E4-8873C43E1F55}" type="slidenum">
              <a:rPr lang="zh-CN" altLang="en-US" sz="1400" b="0" smtClean="0"/>
              <a:t>40</a:t>
            </a:fld>
            <a:endParaRPr lang="en-US" altLang="zh-CN" sz="1400" b="0"/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R1</a:t>
            </a:r>
          </a:p>
        </p:txBody>
      </p:sp>
      <p:pic>
        <p:nvPicPr>
          <p:cNvPr id="81924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385888"/>
            <a:ext cx="54864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5" name="图片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2409825"/>
            <a:ext cx="300037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6" name="图片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351213"/>
            <a:ext cx="15335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7" name="图片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4411663"/>
            <a:ext cx="211455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23063" y="627697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EC2E52D-0078-43FC-A70E-E3CB630488DD}" type="slidenum">
              <a:rPr lang="zh-CN" altLang="en-US" sz="1400" b="0" smtClean="0"/>
              <a:t>41</a:t>
            </a:fld>
            <a:endParaRPr lang="en-US" altLang="zh-CN" sz="1400" b="0"/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R2</a:t>
            </a:r>
          </a:p>
        </p:txBody>
      </p:sp>
      <p:sp>
        <p:nvSpPr>
          <p:cNvPr id="684047" name="Text Box 15"/>
          <p:cNvSpPr txBox="1">
            <a:spLocks noChangeArrowheads="1"/>
          </p:cNvSpPr>
          <p:nvPr/>
        </p:nvSpPr>
        <p:spPr bwMode="auto">
          <a:xfrm>
            <a:off x="-165100" y="3905250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200" b="0">
                <a:solidFill>
                  <a:srgbClr val="C00000"/>
                </a:solidFill>
              </a:rPr>
              <a:t>即</a:t>
            </a:r>
          </a:p>
        </p:txBody>
      </p:sp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5"/>
          <a:stretch>
            <a:fillRect/>
          </a:stretch>
        </p:blipFill>
        <p:spPr bwMode="auto">
          <a:xfrm>
            <a:off x="771525" y="1797050"/>
            <a:ext cx="44862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50" name="图片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25" y="1173163"/>
            <a:ext cx="45624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185988"/>
            <a:ext cx="5194300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25" y="2722563"/>
            <a:ext cx="44481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3248025"/>
            <a:ext cx="40290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3" y="4484688"/>
            <a:ext cx="4905375" cy="226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04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F730BEE6-402F-4F07-AA66-79427F6E9C8D}" type="slidenum">
              <a:rPr lang="zh-CN" altLang="en-US" sz="1400" b="0" smtClean="0"/>
              <a:t>42</a:t>
            </a:fld>
            <a:endParaRPr lang="en-US" altLang="zh-CN" sz="1400" b="0"/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R3</a:t>
            </a:r>
          </a:p>
        </p:txBody>
      </p:sp>
      <p:pic>
        <p:nvPicPr>
          <p:cNvPr id="83972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1447800"/>
            <a:ext cx="56959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2546350"/>
            <a:ext cx="585787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730625"/>
            <a:ext cx="3514725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74B181C9-9452-4334-948B-1736D25D996E}" type="slidenum">
              <a:rPr lang="zh-CN" altLang="en-US" sz="1400" b="0" smtClean="0"/>
              <a:t>43</a:t>
            </a:fld>
            <a:endParaRPr lang="en-US" altLang="zh-CN" sz="1400" b="0"/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R4</a:t>
            </a:r>
          </a:p>
        </p:txBody>
      </p:sp>
      <p:sp>
        <p:nvSpPr>
          <p:cNvPr id="686089" name="Text Box 9" descr="新闻纸"/>
          <p:cNvSpPr txBox="1">
            <a:spLocks noChangeArrowheads="1"/>
          </p:cNvSpPr>
          <p:nvPr/>
        </p:nvSpPr>
        <p:spPr bwMode="auto">
          <a:xfrm>
            <a:off x="533400" y="5029200"/>
            <a:ext cx="8001000" cy="1247775"/>
          </a:xfrm>
          <a:prstGeom prst="rect">
            <a:avLst/>
          </a:prstGeom>
          <a:noFill/>
          <a:ln w="57150">
            <a:pattFill prst="ltDnDiag">
              <a:fgClr>
                <a:schemeClr val="accent2"/>
              </a:fgClr>
              <a:bgClr>
                <a:srgbClr val="FFFFFF"/>
              </a:bgClr>
            </a:patt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 b="0">
                <a:solidFill>
                  <a:srgbClr val="000000"/>
                </a:solidFill>
                <a:ea typeface="隶书" panose="02010509060101010101" pitchFamily="49" charset="-122"/>
              </a:rPr>
              <a:t>对于有穷集 </a:t>
            </a:r>
            <a:r>
              <a:rPr kumimoji="1" lang="en-US" altLang="zh-CN" sz="3600" b="0" i="1">
                <a:solidFill>
                  <a:srgbClr val="000000"/>
                </a:solidFill>
                <a:ea typeface="隶书" panose="02010509060101010101" pitchFamily="49" charset="-122"/>
              </a:rPr>
              <a:t>A </a:t>
            </a:r>
            <a:r>
              <a:rPr kumimoji="1" lang="zh-CN" altLang="en-US" sz="3600" b="0">
                <a:solidFill>
                  <a:srgbClr val="000000"/>
                </a:solidFill>
                <a:ea typeface="隶书" panose="02010509060101010101" pitchFamily="49" charset="-122"/>
              </a:rPr>
              <a:t>和 </a:t>
            </a:r>
            <a:r>
              <a:rPr kumimoji="1" lang="en-US" altLang="zh-CN" sz="3600" b="0" i="1">
                <a:solidFill>
                  <a:srgbClr val="000000"/>
                </a:solidFill>
                <a:ea typeface="隶书" panose="02010509060101010101" pitchFamily="49" charset="-122"/>
              </a:rPr>
              <a:t>A</a:t>
            </a:r>
            <a:r>
              <a:rPr kumimoji="1" lang="en-US" altLang="zh-CN" sz="3600" b="0">
                <a:solidFill>
                  <a:srgbClr val="000000"/>
                </a:solidFill>
                <a:ea typeface="隶书" panose="02010509060101010101" pitchFamily="49" charset="-122"/>
              </a:rPr>
              <a:t> </a:t>
            </a:r>
            <a:r>
              <a:rPr kumimoji="1" lang="zh-CN" altLang="en-US" sz="3600" b="0">
                <a:solidFill>
                  <a:srgbClr val="000000"/>
                </a:solidFill>
                <a:ea typeface="隶书" panose="02010509060101010101" pitchFamily="49" charset="-122"/>
              </a:rPr>
              <a:t>上的关系 </a:t>
            </a:r>
            <a:r>
              <a:rPr kumimoji="1" lang="en-US" altLang="zh-CN" sz="3600" b="0" i="1">
                <a:solidFill>
                  <a:srgbClr val="000000"/>
                </a:solidFill>
                <a:ea typeface="隶书" panose="02010509060101010101" pitchFamily="49" charset="-122"/>
              </a:rPr>
              <a:t>R</a:t>
            </a:r>
            <a:r>
              <a:rPr kumimoji="1" lang="zh-CN" altLang="en-US" sz="3600" b="0">
                <a:solidFill>
                  <a:srgbClr val="000000"/>
                </a:solidFill>
                <a:ea typeface="隶书" panose="02010509060101010101" pitchFamily="49" charset="-122"/>
              </a:rPr>
              <a:t>，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 b="0" i="1">
                <a:solidFill>
                  <a:srgbClr val="FF3300"/>
                </a:solidFill>
                <a:ea typeface="隶书" panose="02010509060101010101" pitchFamily="49" charset="-122"/>
              </a:rPr>
              <a:t>R</a:t>
            </a:r>
            <a:r>
              <a:rPr kumimoji="1" lang="en-US" altLang="zh-CN" sz="3600" b="0">
                <a:solidFill>
                  <a:srgbClr val="FF3300"/>
                </a:solidFill>
                <a:ea typeface="隶书" panose="02010509060101010101" pitchFamily="49" charset="-122"/>
              </a:rPr>
              <a:t> </a:t>
            </a:r>
            <a:r>
              <a:rPr kumimoji="1" lang="zh-CN" altLang="en-US" sz="3600" b="0">
                <a:solidFill>
                  <a:srgbClr val="FF3300"/>
                </a:solidFill>
                <a:ea typeface="隶书" panose="02010509060101010101" pitchFamily="49" charset="-122"/>
              </a:rPr>
              <a:t>的不同次幂只有有限个</a:t>
            </a:r>
            <a:r>
              <a:rPr kumimoji="1" lang="en-US" altLang="zh-CN" sz="3600" b="0">
                <a:solidFill>
                  <a:srgbClr val="000000"/>
                </a:solidFill>
                <a:ea typeface="隶书" panose="02010509060101010101" pitchFamily="49" charset="-122"/>
              </a:rPr>
              <a:t>.</a:t>
            </a:r>
          </a:p>
        </p:txBody>
      </p:sp>
      <p:pic>
        <p:nvPicPr>
          <p:cNvPr id="84997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25" y="1174750"/>
            <a:ext cx="41338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25" y="1838325"/>
            <a:ext cx="48577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25" y="2460625"/>
            <a:ext cx="2855913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25" y="3227388"/>
            <a:ext cx="180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8" y="3930650"/>
            <a:ext cx="41529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" fill="hold"/>
                                        <p:tgtEl>
                                          <p:spTgt spid="686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" fill="hold"/>
                                        <p:tgtEl>
                                          <p:spTgt spid="686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089" grpId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18F11C-FF4E-4DCD-8075-27F558A69645}" type="slidenum">
              <a:rPr lang="en-US" altLang="zh-CN" sz="1400" b="0" smtClean="0">
                <a:latin typeface="Arial" panose="020B0604020202020204" pitchFamily="34" charset="0"/>
              </a:rPr>
              <a:t>44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solidFill>
                  <a:srgbClr val="000000"/>
                </a:solidFill>
              </a:rPr>
              <a:t>幂运算的性质</a:t>
            </a: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075613" cy="863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7.6</a:t>
            </a:r>
            <a:r>
              <a:rPr lang="en-US" altLang="zh-CN" dirty="0">
                <a:solidFill>
                  <a:srgbClr val="000000"/>
                </a:solidFill>
              </a:rPr>
              <a:t>  </a:t>
            </a:r>
            <a:r>
              <a:rPr lang="zh-CN" altLang="en-US" dirty="0">
                <a:solidFill>
                  <a:srgbClr val="000000"/>
                </a:solidFill>
              </a:rPr>
              <a:t>设 </a:t>
            </a:r>
            <a:r>
              <a:rPr lang="en-US" altLang="zh-CN" i="1" dirty="0">
                <a:solidFill>
                  <a:srgbClr val="000000"/>
                </a:solidFill>
              </a:rPr>
              <a:t>A </a:t>
            </a:r>
            <a:r>
              <a:rPr lang="zh-CN" altLang="en-US" dirty="0">
                <a:solidFill>
                  <a:srgbClr val="000000"/>
                </a:solidFill>
              </a:rPr>
              <a:t>为 </a:t>
            </a:r>
            <a:r>
              <a:rPr lang="en-US" altLang="zh-CN" i="1" dirty="0">
                <a:solidFill>
                  <a:srgbClr val="000000"/>
                </a:solidFill>
              </a:rPr>
              <a:t>n </a:t>
            </a:r>
            <a:r>
              <a:rPr lang="zh-CN" altLang="en-US" dirty="0">
                <a:solidFill>
                  <a:srgbClr val="000000"/>
                </a:solidFill>
              </a:rPr>
              <a:t>元集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zh-CN" altLang="en-US" dirty="0">
                <a:solidFill>
                  <a:srgbClr val="000000"/>
                </a:solidFill>
              </a:rPr>
              <a:t>是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上的关系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zh-CN" altLang="en-US" dirty="0">
                <a:solidFill>
                  <a:srgbClr val="000000"/>
                </a:solidFill>
              </a:rPr>
              <a:t>则存在自然数 </a:t>
            </a:r>
            <a:r>
              <a:rPr lang="en-US" altLang="zh-CN" i="1" dirty="0">
                <a:solidFill>
                  <a:srgbClr val="000000"/>
                </a:solidFill>
              </a:rPr>
              <a:t>s </a:t>
            </a:r>
            <a:r>
              <a:rPr lang="zh-CN" altLang="en-US" dirty="0">
                <a:solidFill>
                  <a:srgbClr val="000000"/>
                </a:solidFill>
              </a:rPr>
              <a:t>和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i="1" dirty="0">
                <a:solidFill>
                  <a:srgbClr val="000000"/>
                </a:solidFill>
              </a:rPr>
              <a:t>t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zh-CN" altLang="en-US" dirty="0">
                <a:solidFill>
                  <a:srgbClr val="000000"/>
                </a:solidFill>
              </a:rPr>
              <a:t>使得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</a:rPr>
              <a:t>s </a:t>
            </a:r>
            <a:r>
              <a:rPr lang="en-US" altLang="zh-CN" dirty="0">
                <a:solidFill>
                  <a:srgbClr val="000000"/>
                </a:solidFill>
              </a:rPr>
              <a:t>=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</a:rPr>
              <a:t>t </a:t>
            </a:r>
            <a:r>
              <a:rPr lang="en-US" altLang="zh-CN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>
              <a:latin typeface="Arial" panose="020B0604020202020204" pitchFamily="34" charset="0"/>
            </a:endParaRPr>
          </a:p>
        </p:txBody>
      </p:sp>
      <p:sp>
        <p:nvSpPr>
          <p:cNvPr id="8704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>
              <a:latin typeface="Arial" panose="020B0604020202020204" pitchFamily="34" charset="0"/>
            </a:endParaRPr>
          </a:p>
        </p:txBody>
      </p:sp>
      <p:grpSp>
        <p:nvGrpSpPr>
          <p:cNvPr id="71687" name="Group 9"/>
          <p:cNvGrpSpPr/>
          <p:nvPr/>
        </p:nvGrpSpPr>
        <p:grpSpPr bwMode="auto">
          <a:xfrm>
            <a:off x="468313" y="2278063"/>
            <a:ext cx="8207375" cy="2735262"/>
            <a:chOff x="295" y="1344"/>
            <a:chExt cx="5170" cy="1723"/>
          </a:xfrm>
        </p:grpSpPr>
        <p:sp>
          <p:nvSpPr>
            <p:cNvPr id="87048" name="Rectangle 8"/>
            <p:cNvSpPr>
              <a:spLocks noChangeArrowheads="1"/>
            </p:cNvSpPr>
            <p:nvPr/>
          </p:nvSpPr>
          <p:spPr bwMode="auto">
            <a:xfrm>
              <a:off x="295" y="1344"/>
              <a:ext cx="5170" cy="17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5000"/>
                </a:spcBef>
              </a:pPr>
              <a:r>
                <a:rPr lang="zh-CN" altLang="en-US" dirty="0">
                  <a:solidFill>
                    <a:srgbClr val="000000"/>
                  </a:solidFill>
                </a:rPr>
                <a:t>证  </a:t>
              </a:r>
              <a:r>
                <a:rPr lang="en-US" altLang="zh-CN" i="1" dirty="0">
                  <a:solidFill>
                    <a:srgbClr val="000000"/>
                  </a:solidFill>
                </a:rPr>
                <a:t>R </a:t>
              </a:r>
              <a:r>
                <a:rPr lang="zh-CN" altLang="en-US" dirty="0">
                  <a:solidFill>
                    <a:srgbClr val="000000"/>
                  </a:solidFill>
                </a:rPr>
                <a:t>为</a:t>
              </a:r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r>
                <a:rPr lang="zh-CN" altLang="en-US" dirty="0">
                  <a:solidFill>
                    <a:srgbClr val="000000"/>
                  </a:solidFill>
                </a:rPr>
                <a:t>上的关系</a:t>
              </a:r>
              <a:r>
                <a:rPr lang="en-US" altLang="zh-CN" dirty="0">
                  <a:solidFill>
                    <a:srgbClr val="000000"/>
                  </a:solidFill>
                </a:rPr>
                <a:t>, </a:t>
              </a:r>
            </a:p>
            <a:p>
              <a:pPr eaLnBrk="1" hangingPunct="1"/>
              <a:r>
                <a:rPr lang="zh-CN" altLang="en-US" dirty="0">
                  <a:solidFill>
                    <a:srgbClr val="000000"/>
                  </a:solidFill>
                </a:rPr>
                <a:t>由于</a:t>
              </a:r>
              <a:r>
                <a:rPr lang="en-US" altLang="zh-CN" dirty="0">
                  <a:solidFill>
                    <a:srgbClr val="000000"/>
                  </a:solidFill>
                </a:rPr>
                <a:t>|</a:t>
              </a:r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</a:rPr>
                <a:t>|=</a:t>
              </a:r>
              <a:r>
                <a:rPr lang="en-US" altLang="zh-CN" i="1" dirty="0">
                  <a:solidFill>
                    <a:srgbClr val="000000"/>
                  </a:solidFill>
                </a:rPr>
                <a:t>n</a:t>
              </a:r>
              <a:r>
                <a:rPr lang="en-US" altLang="zh-CN" dirty="0">
                  <a:solidFill>
                    <a:srgbClr val="000000"/>
                  </a:solidFill>
                </a:rPr>
                <a:t>,  </a:t>
              </a:r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r>
                <a:rPr lang="zh-CN" altLang="en-US" dirty="0">
                  <a:solidFill>
                    <a:srgbClr val="000000"/>
                  </a:solidFill>
                </a:rPr>
                <a:t>上的不同关系只有      个</a:t>
              </a:r>
              <a:r>
                <a:rPr lang="en-US" altLang="zh-CN" dirty="0">
                  <a:solidFill>
                    <a:srgbClr val="000000"/>
                  </a:solidFill>
                </a:rPr>
                <a:t>. </a:t>
              </a:r>
            </a:p>
            <a:p>
              <a:pPr eaLnBrk="1" hangingPunct="1">
                <a:spcAft>
                  <a:spcPct val="45000"/>
                </a:spcAft>
              </a:pPr>
              <a:r>
                <a:rPr lang="zh-CN" altLang="en-US" dirty="0">
                  <a:solidFill>
                    <a:srgbClr val="000000"/>
                  </a:solidFill>
                </a:rPr>
                <a:t>列出 </a:t>
              </a:r>
              <a:r>
                <a:rPr lang="en-US" altLang="zh-CN" i="1" dirty="0">
                  <a:solidFill>
                    <a:srgbClr val="000000"/>
                  </a:solidFill>
                </a:rPr>
                <a:t>R </a:t>
              </a:r>
              <a:r>
                <a:rPr lang="zh-CN" altLang="en-US" dirty="0">
                  <a:solidFill>
                    <a:srgbClr val="000000"/>
                  </a:solidFill>
                </a:rPr>
                <a:t>的各次幂</a:t>
              </a:r>
              <a:endParaRPr lang="zh-CN" altLang="en-US" i="1" dirty="0">
                <a:solidFill>
                  <a:srgbClr val="000000"/>
                </a:solidFill>
              </a:endParaRPr>
            </a:p>
            <a:p>
              <a:pPr eaLnBrk="1" hangingPunct="1"/>
              <a:r>
                <a:rPr lang="zh-CN" altLang="en-US" i="1" dirty="0">
                  <a:solidFill>
                    <a:srgbClr val="000000"/>
                  </a:solidFill>
                </a:rPr>
                <a:t>                  </a:t>
              </a:r>
              <a:r>
                <a:rPr lang="en-US" altLang="zh-CN" i="1" dirty="0">
                  <a:solidFill>
                    <a:srgbClr val="000000"/>
                  </a:solidFill>
                </a:rPr>
                <a:t>R</a:t>
              </a:r>
              <a:r>
                <a:rPr lang="en-US" altLang="zh-CN" baseline="30000" dirty="0">
                  <a:solidFill>
                    <a:srgbClr val="000000"/>
                  </a:solidFill>
                </a:rPr>
                <a:t>0</a:t>
              </a:r>
              <a:r>
                <a:rPr lang="en-US" altLang="zh-CN" dirty="0">
                  <a:solidFill>
                    <a:srgbClr val="000000"/>
                  </a:solidFill>
                </a:rPr>
                <a:t>, </a:t>
              </a:r>
              <a:r>
                <a:rPr lang="en-US" altLang="zh-CN" i="1" dirty="0">
                  <a:solidFill>
                    <a:srgbClr val="000000"/>
                  </a:solidFill>
                </a:rPr>
                <a:t>R</a:t>
              </a:r>
              <a:r>
                <a:rPr lang="en-US" altLang="zh-CN" baseline="30000" dirty="0">
                  <a:solidFill>
                    <a:srgbClr val="000000"/>
                  </a:solidFill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</a:rPr>
                <a:t>, </a:t>
              </a:r>
              <a:r>
                <a:rPr lang="en-US" altLang="zh-CN" i="1" dirty="0">
                  <a:solidFill>
                    <a:srgbClr val="000000"/>
                  </a:solidFill>
                </a:rPr>
                <a:t>R</a:t>
              </a:r>
              <a:r>
                <a:rPr lang="en-US" altLang="zh-CN" baseline="30000" dirty="0">
                  <a:solidFill>
                    <a:srgbClr val="000000"/>
                  </a:solidFill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</a:rPr>
                <a:t>, … ,        , …, 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000000"/>
                  </a:solidFill>
                </a:rPr>
                <a:t>必存在自然数 </a:t>
              </a:r>
              <a:r>
                <a:rPr lang="en-US" altLang="zh-CN" i="1" dirty="0">
                  <a:solidFill>
                    <a:srgbClr val="000000"/>
                  </a:solidFill>
                </a:rPr>
                <a:t>s </a:t>
              </a:r>
              <a:r>
                <a:rPr lang="zh-CN" altLang="en-US" dirty="0">
                  <a:solidFill>
                    <a:srgbClr val="000000"/>
                  </a:solidFill>
                </a:rPr>
                <a:t>和 </a:t>
              </a:r>
              <a:r>
                <a:rPr lang="en-US" altLang="zh-CN" i="1" dirty="0">
                  <a:solidFill>
                    <a:srgbClr val="000000"/>
                  </a:solidFill>
                </a:rPr>
                <a:t>t </a:t>
              </a:r>
              <a:r>
                <a:rPr lang="zh-CN" altLang="en-US" dirty="0">
                  <a:solidFill>
                    <a:srgbClr val="000000"/>
                  </a:solidFill>
                </a:rPr>
                <a:t>使得 </a:t>
              </a:r>
              <a:r>
                <a:rPr lang="en-US" altLang="zh-CN" i="1" dirty="0">
                  <a:solidFill>
                    <a:srgbClr val="000000"/>
                  </a:solidFill>
                </a:rPr>
                <a:t>R</a:t>
              </a:r>
              <a:r>
                <a:rPr lang="en-US" altLang="zh-CN" i="1" baseline="30000" dirty="0">
                  <a:solidFill>
                    <a:srgbClr val="000000"/>
                  </a:solidFill>
                </a:rPr>
                <a:t>s </a:t>
              </a:r>
              <a:r>
                <a:rPr lang="en-US" altLang="zh-CN" dirty="0">
                  <a:solidFill>
                    <a:srgbClr val="000000"/>
                  </a:solidFill>
                </a:rPr>
                <a:t>= </a:t>
              </a:r>
              <a:r>
                <a:rPr lang="en-US" altLang="zh-CN" i="1" dirty="0">
                  <a:solidFill>
                    <a:srgbClr val="000000"/>
                  </a:solidFill>
                </a:rPr>
                <a:t>R</a:t>
              </a:r>
              <a:r>
                <a:rPr lang="en-US" altLang="zh-CN" i="1" baseline="30000" dirty="0">
                  <a:solidFill>
                    <a:srgbClr val="000000"/>
                  </a:solidFill>
                </a:rPr>
                <a:t>t  </a:t>
              </a:r>
              <a:endParaRPr lang="en-US" altLang="zh-CN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87049" name="Object 4"/>
            <p:cNvGraphicFramePr>
              <a:graphicFrameLocks noChangeAspect="1"/>
            </p:cNvGraphicFramePr>
            <p:nvPr/>
          </p:nvGraphicFramePr>
          <p:xfrm>
            <a:off x="2381" y="2233"/>
            <a:ext cx="362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304800" imgH="241300" progId="Equation.3">
                    <p:embed/>
                  </p:oleObj>
                </mc:Choice>
                <mc:Fallback>
                  <p:oleObj name="公式" r:id="rId3" imgW="304800" imgH="2413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1" y="2233"/>
                          <a:ext cx="362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050" name="Object 6"/>
            <p:cNvGraphicFramePr>
              <a:graphicFrameLocks noChangeAspect="1"/>
            </p:cNvGraphicFramePr>
            <p:nvPr/>
          </p:nvGraphicFramePr>
          <p:xfrm>
            <a:off x="2990" y="1570"/>
            <a:ext cx="343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28600" imgH="215900" progId="Equation.3">
                    <p:embed/>
                  </p:oleObj>
                </mc:Choice>
                <mc:Fallback>
                  <p:oleObj name="公式" r:id="rId5" imgW="228600" imgH="2159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0" y="1570"/>
                          <a:ext cx="343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用实例理解关系的幂运算</a:t>
            </a:r>
          </a:p>
        </p:txBody>
      </p:sp>
      <p:sp>
        <p:nvSpPr>
          <p:cNvPr id="1024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E99B522-90C9-40C8-8C7F-227A9E504CAC}" type="slidenum">
              <a:rPr lang="en-US" altLang="zh-CN" sz="1400" b="0">
                <a:latin typeface="Arial" panose="020B0604020202020204" pitchFamily="34" charset="0"/>
              </a:rPr>
              <a:t>45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113" y="1030288"/>
            <a:ext cx="8840787" cy="54530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defRPr/>
            </a:pPr>
            <a:r>
              <a:rPr lang="zh-CN" altLang="en-US" dirty="0">
                <a:solidFill>
                  <a:srgbClr val="A50021"/>
                </a:solidFill>
              </a:rPr>
              <a:t>例 </a:t>
            </a:r>
            <a:r>
              <a:rPr lang="en-US" altLang="zh-CN" dirty="0">
                <a:solidFill>
                  <a:srgbClr val="000000"/>
                </a:solidFill>
              </a:rPr>
              <a:t>  </a:t>
            </a:r>
            <a:r>
              <a:rPr lang="zh-CN" altLang="en-US" dirty="0">
                <a:solidFill>
                  <a:srgbClr val="000000"/>
                </a:solidFill>
              </a:rPr>
              <a:t>设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en-US" altLang="zh-CN" dirty="0">
                <a:solidFill>
                  <a:srgbClr val="000000"/>
                </a:solidFill>
              </a:rPr>
              <a:t> = {</a:t>
            </a:r>
            <a:r>
              <a:rPr lang="en-US" altLang="zh-CN" i="1" dirty="0" err="1">
                <a:solidFill>
                  <a:srgbClr val="000000"/>
                </a:solidFill>
              </a:rPr>
              <a:t>a</a:t>
            </a:r>
            <a:r>
              <a:rPr lang="en-US" altLang="zh-CN" dirty="0" err="1">
                <a:solidFill>
                  <a:srgbClr val="000000"/>
                </a:solidFill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</a:rPr>
              <a:t>b</a:t>
            </a:r>
            <a:r>
              <a:rPr lang="en-US" altLang="zh-CN" dirty="0" err="1">
                <a:solidFill>
                  <a:srgbClr val="000000"/>
                </a:solidFill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</a:rPr>
              <a:t>c</a:t>
            </a:r>
            <a:r>
              <a:rPr lang="en-US" altLang="zh-CN" dirty="0">
                <a:solidFill>
                  <a:srgbClr val="000000"/>
                </a:solidFill>
              </a:rPr>
              <a:t>}</a:t>
            </a:r>
            <a:r>
              <a:rPr lang="zh-CN" altLang="en-US" dirty="0">
                <a:solidFill>
                  <a:srgbClr val="000000"/>
                </a:solidFill>
              </a:rPr>
              <a:t>                  </a:t>
            </a:r>
            <a:r>
              <a:rPr lang="en-US" altLang="zh-CN" dirty="0">
                <a:solidFill>
                  <a:srgbClr val="00B050"/>
                </a:solidFill>
              </a:rPr>
              <a:t>【</a:t>
            </a:r>
            <a:r>
              <a:rPr lang="en-US" altLang="zh-CN" i="1" dirty="0">
                <a:solidFill>
                  <a:srgbClr val="00B050"/>
                </a:solidFill>
              </a:rPr>
              <a:t>|A|</a:t>
            </a:r>
            <a:r>
              <a:rPr lang="en-US" altLang="zh-CN" dirty="0">
                <a:solidFill>
                  <a:srgbClr val="00B050"/>
                </a:solidFill>
              </a:rPr>
              <a:t> =</a:t>
            </a:r>
            <a:r>
              <a:rPr lang="en-US" altLang="zh-CN" dirty="0"/>
              <a:t>3</a:t>
            </a:r>
            <a:r>
              <a:rPr lang="en-US" altLang="zh-CN" dirty="0">
                <a:solidFill>
                  <a:srgbClr val="00B050"/>
                </a:solidFill>
              </a:rPr>
              <a:t>】</a:t>
            </a:r>
          </a:p>
          <a:p>
            <a:pPr eaLnBrk="1" hangingPunct="1">
              <a:defRPr/>
            </a:pPr>
            <a:r>
              <a:rPr lang="en-US" altLang="zh-CN" i="1" dirty="0">
                <a:solidFill>
                  <a:srgbClr val="000000"/>
                </a:solidFill>
              </a:rPr>
              <a:t>       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A</a:t>
            </a:r>
            <a:r>
              <a:rPr lang="en-US" altLang="zh-CN" dirty="0">
                <a:solidFill>
                  <a:srgbClr val="000000"/>
                </a:solidFill>
              </a:rPr>
              <a:t> = {</a:t>
            </a:r>
            <a:r>
              <a:rPr lang="en-US" altLang="zh-CN" i="1" dirty="0" err="1">
                <a:solidFill>
                  <a:srgbClr val="000000"/>
                </a:solidFill>
              </a:rPr>
              <a:t>a</a:t>
            </a:r>
            <a:r>
              <a:rPr lang="en-US" altLang="zh-CN" dirty="0" err="1">
                <a:solidFill>
                  <a:srgbClr val="000000"/>
                </a:solidFill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</a:rPr>
              <a:t>b</a:t>
            </a:r>
            <a:r>
              <a:rPr lang="en-US" altLang="zh-CN" dirty="0" err="1">
                <a:solidFill>
                  <a:srgbClr val="000000"/>
                </a:solidFill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</a:rPr>
              <a:t>c</a:t>
            </a:r>
            <a:r>
              <a:rPr lang="en-US" altLang="zh-CN" dirty="0">
                <a:solidFill>
                  <a:srgbClr val="000000"/>
                </a:solidFill>
              </a:rPr>
              <a:t>}</a:t>
            </a:r>
            <a:r>
              <a:rPr lang="en-US" altLang="zh-CN" dirty="0">
                <a:sym typeface="Symbol" panose="05050102010706020507" pitchFamily="18" charset="2"/>
              </a:rPr>
              <a:t> </a:t>
            </a:r>
            <a:r>
              <a:rPr lang="en-US" altLang="zh-CN" dirty="0">
                <a:solidFill>
                  <a:srgbClr val="000000"/>
                </a:solidFill>
              </a:rPr>
              <a:t> {</a:t>
            </a:r>
            <a:r>
              <a:rPr lang="en-US" altLang="zh-CN" i="1" dirty="0" err="1">
                <a:solidFill>
                  <a:srgbClr val="000000"/>
                </a:solidFill>
              </a:rPr>
              <a:t>a</a:t>
            </a:r>
            <a:r>
              <a:rPr lang="en-US" altLang="zh-CN" dirty="0" err="1">
                <a:solidFill>
                  <a:srgbClr val="000000"/>
                </a:solidFill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</a:rPr>
              <a:t>b</a:t>
            </a:r>
            <a:r>
              <a:rPr lang="en-US" altLang="zh-CN" dirty="0" err="1">
                <a:solidFill>
                  <a:srgbClr val="000000"/>
                </a:solidFill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</a:rPr>
              <a:t>c</a:t>
            </a:r>
            <a:r>
              <a:rPr lang="en-US" altLang="zh-CN" dirty="0">
                <a:solidFill>
                  <a:srgbClr val="000000"/>
                </a:solidFill>
              </a:rPr>
              <a:t>}</a:t>
            </a:r>
            <a:r>
              <a:rPr lang="en-US" altLang="zh-CN" dirty="0">
                <a:sym typeface="Symbol" panose="05050102010706020507" pitchFamily="18" charset="2"/>
              </a:rPr>
              <a:t>  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【</a:t>
            </a:r>
            <a:r>
              <a:rPr lang="en-US" altLang="zh-CN" i="1" dirty="0">
                <a:solidFill>
                  <a:srgbClr val="00B050"/>
                </a:solidFill>
              </a:rPr>
              <a:t>| A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 </a:t>
            </a:r>
            <a:r>
              <a:rPr lang="en-US" altLang="zh-CN" i="1" dirty="0">
                <a:solidFill>
                  <a:srgbClr val="00B050"/>
                </a:solidFill>
              </a:rPr>
              <a:t>A |</a:t>
            </a:r>
            <a:r>
              <a:rPr lang="en-US" altLang="zh-CN" dirty="0">
                <a:solidFill>
                  <a:srgbClr val="00B050"/>
                </a:solidFill>
              </a:rPr>
              <a:t> =</a:t>
            </a:r>
            <a:r>
              <a:rPr lang="en-US" altLang="zh-CN" dirty="0"/>
              <a:t>3</a:t>
            </a:r>
            <a:r>
              <a:rPr lang="en-US" altLang="zh-CN" baseline="30000" dirty="0"/>
              <a:t>2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】</a:t>
            </a:r>
            <a:endParaRPr lang="en-US" altLang="zh-CN" i="1" dirty="0">
              <a:solidFill>
                <a:srgbClr val="00B050"/>
              </a:solidFill>
            </a:endParaRPr>
          </a:p>
          <a:p>
            <a:pPr eaLnBrk="1" hangingPunct="1">
              <a:defRPr/>
            </a:pPr>
            <a:r>
              <a:rPr lang="en-US" altLang="zh-CN" dirty="0"/>
              <a:t>               = {&lt;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/>
              <a:t>&gt;,&lt;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>
                <a:solidFill>
                  <a:srgbClr val="000000"/>
                </a:solidFill>
              </a:rPr>
              <a:t>b</a:t>
            </a:r>
            <a:r>
              <a:rPr lang="en-US" altLang="zh-CN" dirty="0"/>
              <a:t>&gt;,&lt;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>
                <a:solidFill>
                  <a:srgbClr val="000000"/>
                </a:solidFill>
              </a:rPr>
              <a:t>c</a:t>
            </a:r>
            <a:r>
              <a:rPr lang="en-US" altLang="zh-CN" dirty="0"/>
              <a:t>&gt;,&lt;</a:t>
            </a:r>
            <a:r>
              <a:rPr lang="en-US" altLang="zh-CN" i="1" dirty="0" err="1">
                <a:solidFill>
                  <a:srgbClr val="000000"/>
                </a:solidFill>
              </a:rPr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/>
              <a:t>&gt;,&lt;</a:t>
            </a:r>
            <a:r>
              <a:rPr lang="en-US" altLang="zh-CN" i="1" dirty="0" err="1">
                <a:solidFill>
                  <a:srgbClr val="000000"/>
                </a:solidFill>
              </a:rPr>
              <a:t>b</a:t>
            </a:r>
            <a:r>
              <a:rPr lang="en-US" altLang="zh-CN" dirty="0" err="1"/>
              <a:t>,</a:t>
            </a:r>
            <a:r>
              <a:rPr lang="en-US" altLang="zh-CN" i="1" dirty="0" err="1">
                <a:solidFill>
                  <a:srgbClr val="000000"/>
                </a:solidFill>
              </a:rPr>
              <a:t>b</a:t>
            </a:r>
            <a:r>
              <a:rPr lang="en-US" altLang="zh-CN" dirty="0"/>
              <a:t>&gt;,&lt;</a:t>
            </a:r>
            <a:r>
              <a:rPr lang="en-US" altLang="zh-CN" i="1" dirty="0" err="1">
                <a:solidFill>
                  <a:srgbClr val="000000"/>
                </a:solidFill>
              </a:rPr>
              <a:t>b</a:t>
            </a:r>
            <a:r>
              <a:rPr lang="en-US" altLang="zh-CN" dirty="0" err="1"/>
              <a:t>,</a:t>
            </a:r>
            <a:r>
              <a:rPr lang="en-US" altLang="zh-CN" i="1" dirty="0" err="1">
                <a:solidFill>
                  <a:srgbClr val="000000"/>
                </a:solidFill>
              </a:rPr>
              <a:t>c</a:t>
            </a:r>
            <a:r>
              <a:rPr lang="en-US" altLang="zh-CN" dirty="0"/>
              <a:t>&gt;,&lt;</a:t>
            </a:r>
            <a:r>
              <a:rPr lang="en-US" altLang="zh-CN" i="1" dirty="0" err="1">
                <a:solidFill>
                  <a:srgbClr val="000000"/>
                </a:solidFill>
              </a:rPr>
              <a:t>c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/>
              <a:t>&gt;,&lt;</a:t>
            </a:r>
            <a:r>
              <a:rPr lang="en-US" altLang="zh-CN" i="1" dirty="0" err="1">
                <a:solidFill>
                  <a:srgbClr val="000000"/>
                </a:solidFill>
              </a:rPr>
              <a:t>c</a:t>
            </a:r>
            <a:r>
              <a:rPr lang="en-US" altLang="zh-CN" dirty="0" err="1"/>
              <a:t>,</a:t>
            </a:r>
            <a:r>
              <a:rPr lang="en-US" altLang="zh-CN" i="1" dirty="0" err="1">
                <a:solidFill>
                  <a:srgbClr val="000000"/>
                </a:solidFill>
              </a:rPr>
              <a:t>b</a:t>
            </a:r>
            <a:r>
              <a:rPr lang="en-US" altLang="zh-CN" dirty="0"/>
              <a:t>&gt;,&lt;</a:t>
            </a:r>
            <a:r>
              <a:rPr lang="en-US" altLang="zh-CN" i="1" dirty="0" err="1">
                <a:solidFill>
                  <a:srgbClr val="000000"/>
                </a:solidFill>
              </a:rPr>
              <a:t>c</a:t>
            </a:r>
            <a:r>
              <a:rPr lang="en-US" altLang="zh-CN" dirty="0" err="1"/>
              <a:t>,</a:t>
            </a:r>
            <a:r>
              <a:rPr lang="en-US" altLang="zh-CN" i="1" dirty="0" err="1">
                <a:solidFill>
                  <a:srgbClr val="000000"/>
                </a:solidFill>
              </a:rPr>
              <a:t>c</a:t>
            </a:r>
            <a:r>
              <a:rPr lang="en-US" altLang="zh-CN" dirty="0"/>
              <a:t>&gt;} </a:t>
            </a:r>
            <a:endParaRPr lang="en-US" altLang="zh-CN" i="1" dirty="0"/>
          </a:p>
          <a:p>
            <a:pPr eaLnBrk="1" hangingPunct="1">
              <a:defRPr/>
            </a:pPr>
            <a:r>
              <a:rPr lang="en-US" altLang="zh-CN" i="1" dirty="0">
                <a:solidFill>
                  <a:srgbClr val="000000"/>
                </a:solidFill>
              </a:rPr>
              <a:t> </a:t>
            </a:r>
          </a:p>
          <a:p>
            <a:pPr eaLnBrk="1" hangingPunct="1">
              <a:defRPr/>
            </a:pPr>
            <a:r>
              <a:rPr lang="en-US" altLang="zh-CN" i="1" dirty="0">
                <a:solidFill>
                  <a:srgbClr val="000000"/>
                </a:solidFill>
              </a:rPr>
              <a:t>P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rgbClr val="000000"/>
                </a:solidFill>
              </a:rPr>
              <a:t>                                  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【</a:t>
            </a:r>
            <a:r>
              <a:rPr lang="en-US" altLang="zh-CN" i="1" dirty="0">
                <a:solidFill>
                  <a:srgbClr val="00B050"/>
                </a:solidFill>
              </a:rPr>
              <a:t>| P</a:t>
            </a:r>
            <a:r>
              <a:rPr lang="en-US" altLang="zh-CN" dirty="0">
                <a:solidFill>
                  <a:srgbClr val="00B050"/>
                </a:solidFill>
              </a:rPr>
              <a:t>(</a:t>
            </a:r>
            <a:r>
              <a:rPr lang="en-US" altLang="zh-CN" i="1" dirty="0">
                <a:solidFill>
                  <a:srgbClr val="00B050"/>
                </a:solidFill>
              </a:rPr>
              <a:t>A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</a:t>
            </a:r>
            <a:r>
              <a:rPr lang="en-US" altLang="zh-CN" i="1" dirty="0">
                <a:solidFill>
                  <a:srgbClr val="00B050"/>
                </a:solidFill>
              </a:rPr>
              <a:t>A</a:t>
            </a:r>
            <a:r>
              <a:rPr lang="en-US" altLang="zh-CN" dirty="0">
                <a:solidFill>
                  <a:srgbClr val="00B050"/>
                </a:solidFill>
              </a:rPr>
              <a:t>)</a:t>
            </a:r>
            <a:r>
              <a:rPr lang="en-US" altLang="zh-CN" i="1" dirty="0">
                <a:solidFill>
                  <a:srgbClr val="00B050"/>
                </a:solidFill>
              </a:rPr>
              <a:t> |</a:t>
            </a:r>
            <a:r>
              <a:rPr lang="en-US" altLang="zh-CN" dirty="0">
                <a:solidFill>
                  <a:srgbClr val="00B050"/>
                </a:solidFill>
              </a:rPr>
              <a:t> =      =512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】</a:t>
            </a:r>
            <a:endParaRPr lang="en-US" altLang="zh-CN" i="1" dirty="0">
              <a:solidFill>
                <a:srgbClr val="00B050"/>
              </a:solidFill>
            </a:endParaRPr>
          </a:p>
          <a:p>
            <a:pPr eaLnBrk="1" hangingPunct="1">
              <a:defRPr/>
            </a:pP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dirty="0"/>
              <a:t>={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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en-US" altLang="zh-CN" dirty="0"/>
              <a:t>{&lt;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/>
              <a:t>&gt;},{&lt;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&gt;},{&lt;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&gt;},{&lt;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/>
              <a:t>&gt;},{&lt;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&gt;},{&lt;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&gt;},{&lt;</a:t>
            </a:r>
            <a:r>
              <a:rPr lang="en-US" altLang="zh-CN" i="1" dirty="0" err="1"/>
              <a:t>c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/>
              <a:t>&gt;},</a:t>
            </a:r>
          </a:p>
          <a:p>
            <a:pPr eaLnBrk="1" hangingPunct="1">
              <a:defRPr/>
            </a:pPr>
            <a:r>
              <a:rPr lang="en-US" altLang="zh-CN" dirty="0"/>
              <a:t>     {&lt;</a:t>
            </a:r>
            <a:r>
              <a:rPr lang="en-US" altLang="zh-CN" i="1" dirty="0" err="1"/>
              <a:t>c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&gt;},{&lt;</a:t>
            </a:r>
            <a:r>
              <a:rPr lang="en-US" altLang="zh-CN" i="1" dirty="0" err="1"/>
              <a:t>c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&gt;}, {&lt;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/>
              <a:t>&gt;,&lt;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&gt;},{&lt;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/>
              <a:t>&gt;,&lt;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&gt;}…,</a:t>
            </a:r>
          </a:p>
          <a:p>
            <a:pPr eaLnBrk="1" hangingPunct="1">
              <a:defRPr/>
            </a:pPr>
            <a:r>
              <a:rPr lang="en-US" altLang="zh-CN" dirty="0"/>
              <a:t>     {&lt;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/>
              <a:t>&gt;,&lt;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>
                <a:solidFill>
                  <a:srgbClr val="000000"/>
                </a:solidFill>
              </a:rPr>
              <a:t>b</a:t>
            </a:r>
            <a:r>
              <a:rPr lang="en-US" altLang="zh-CN" dirty="0"/>
              <a:t>&gt;,&lt;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>
                <a:solidFill>
                  <a:srgbClr val="000000"/>
                </a:solidFill>
              </a:rPr>
              <a:t>c</a:t>
            </a:r>
            <a:r>
              <a:rPr lang="en-US" altLang="zh-CN" dirty="0"/>
              <a:t>&gt;}, … ,</a:t>
            </a:r>
            <a:r>
              <a:rPr lang="en-US" altLang="zh-CN" dirty="0">
                <a:solidFill>
                  <a:srgbClr val="0066FF"/>
                </a:solidFill>
              </a:rPr>
              <a:t>{&lt;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>
                <a:solidFill>
                  <a:srgbClr val="0066FF"/>
                </a:solidFill>
              </a:rPr>
              <a:t>&gt;,&lt;</a:t>
            </a:r>
            <a:r>
              <a:rPr lang="en-US" altLang="zh-CN" i="1" dirty="0" err="1">
                <a:solidFill>
                  <a:srgbClr val="0066FF"/>
                </a:solidFill>
              </a:rPr>
              <a:t>b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b</a:t>
            </a:r>
            <a:r>
              <a:rPr lang="en-US" altLang="zh-CN" dirty="0">
                <a:solidFill>
                  <a:srgbClr val="0066FF"/>
                </a:solidFill>
              </a:rPr>
              <a:t>&gt;,&lt;</a:t>
            </a:r>
            <a:r>
              <a:rPr lang="en-US" altLang="zh-CN" i="1" dirty="0" err="1">
                <a:solidFill>
                  <a:srgbClr val="0066FF"/>
                </a:solidFill>
              </a:rPr>
              <a:t>c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c</a:t>
            </a:r>
            <a:r>
              <a:rPr lang="en-US" altLang="zh-CN" dirty="0">
                <a:solidFill>
                  <a:srgbClr val="0066FF"/>
                </a:solidFill>
              </a:rPr>
              <a:t>&gt;}</a:t>
            </a:r>
            <a:r>
              <a:rPr lang="en-US" altLang="zh-CN" dirty="0"/>
              <a:t>, … ,</a:t>
            </a:r>
          </a:p>
          <a:p>
            <a:pPr eaLnBrk="1" hangingPunct="1"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</a:t>
            </a:r>
            <a:r>
              <a:rPr lang="en-US" altLang="zh-CN" dirty="0">
                <a:solidFill>
                  <a:srgbClr val="FF0000"/>
                </a:solidFill>
              </a:rPr>
              <a:t>{&lt;</a:t>
            </a:r>
            <a:r>
              <a:rPr lang="en-US" altLang="zh-CN" i="1" dirty="0" err="1">
                <a:solidFill>
                  <a:srgbClr val="FF0000"/>
                </a:solidFill>
              </a:rPr>
              <a:t>a</a:t>
            </a:r>
            <a:r>
              <a:rPr lang="en-US" altLang="zh-CN" dirty="0" err="1">
                <a:solidFill>
                  <a:srgbClr val="FF0000"/>
                </a:solidFill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</a:rPr>
              <a:t>b</a:t>
            </a:r>
            <a:r>
              <a:rPr lang="en-US" altLang="zh-CN" dirty="0">
                <a:solidFill>
                  <a:srgbClr val="FF0000"/>
                </a:solidFill>
              </a:rPr>
              <a:t>&gt;,&lt;</a:t>
            </a:r>
            <a:r>
              <a:rPr lang="en-US" altLang="zh-CN" i="1" dirty="0" err="1">
                <a:solidFill>
                  <a:srgbClr val="FF0000"/>
                </a:solidFill>
              </a:rPr>
              <a:t>b</a:t>
            </a:r>
            <a:r>
              <a:rPr lang="en-US" altLang="zh-CN" dirty="0" err="1">
                <a:solidFill>
                  <a:srgbClr val="FF0000"/>
                </a:solidFill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</a:rPr>
              <a:t>c</a:t>
            </a:r>
            <a:r>
              <a:rPr lang="en-US" altLang="zh-CN" dirty="0">
                <a:solidFill>
                  <a:srgbClr val="FF0000"/>
                </a:solidFill>
              </a:rPr>
              <a:t>&gt;,&lt;</a:t>
            </a:r>
            <a:r>
              <a:rPr lang="en-US" altLang="zh-CN" i="1" dirty="0" err="1">
                <a:solidFill>
                  <a:srgbClr val="FF0000"/>
                </a:solidFill>
              </a:rPr>
              <a:t>c</a:t>
            </a:r>
            <a:r>
              <a:rPr lang="en-US" altLang="zh-CN" dirty="0" err="1">
                <a:solidFill>
                  <a:srgbClr val="FF0000"/>
                </a:solidFill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</a:rPr>
              <a:t>a</a:t>
            </a:r>
            <a:r>
              <a:rPr lang="en-US" altLang="zh-CN" dirty="0">
                <a:solidFill>
                  <a:srgbClr val="FF0000"/>
                </a:solidFill>
              </a:rPr>
              <a:t>&gt;}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… , </a:t>
            </a:r>
            <a:r>
              <a:rPr lang="en-US" altLang="zh-CN" dirty="0">
                <a:solidFill>
                  <a:srgbClr val="FF00FF"/>
                </a:solidFill>
              </a:rPr>
              <a:t>{&lt;</a:t>
            </a:r>
            <a:r>
              <a:rPr lang="en-US" altLang="zh-CN" i="1" dirty="0" err="1">
                <a:solidFill>
                  <a:srgbClr val="FF00FF"/>
                </a:solidFill>
              </a:rPr>
              <a:t>a</a:t>
            </a:r>
            <a:r>
              <a:rPr lang="en-US" altLang="zh-CN" dirty="0" err="1">
                <a:solidFill>
                  <a:srgbClr val="FF00FF"/>
                </a:solidFill>
              </a:rPr>
              <a:t>,</a:t>
            </a:r>
            <a:r>
              <a:rPr lang="en-US" altLang="zh-CN" i="1" dirty="0" err="1">
                <a:solidFill>
                  <a:srgbClr val="FF00FF"/>
                </a:solidFill>
              </a:rPr>
              <a:t>c</a:t>
            </a:r>
            <a:r>
              <a:rPr lang="en-US" altLang="zh-CN" dirty="0">
                <a:solidFill>
                  <a:srgbClr val="FF00FF"/>
                </a:solidFill>
              </a:rPr>
              <a:t>&gt;,&lt;</a:t>
            </a:r>
            <a:r>
              <a:rPr lang="en-US" altLang="zh-CN" i="1" dirty="0" err="1">
                <a:solidFill>
                  <a:srgbClr val="FF00FF"/>
                </a:solidFill>
              </a:rPr>
              <a:t>b</a:t>
            </a:r>
            <a:r>
              <a:rPr lang="en-US" altLang="zh-CN" dirty="0" err="1">
                <a:solidFill>
                  <a:srgbClr val="FF00FF"/>
                </a:solidFill>
              </a:rPr>
              <a:t>,</a:t>
            </a:r>
            <a:r>
              <a:rPr lang="en-US" altLang="zh-CN" i="1" dirty="0" err="1">
                <a:solidFill>
                  <a:srgbClr val="FF00FF"/>
                </a:solidFill>
              </a:rPr>
              <a:t>a</a:t>
            </a:r>
            <a:r>
              <a:rPr lang="en-US" altLang="zh-CN" dirty="0">
                <a:solidFill>
                  <a:srgbClr val="FF00FF"/>
                </a:solidFill>
              </a:rPr>
              <a:t>&gt;,&lt;</a:t>
            </a:r>
            <a:r>
              <a:rPr lang="en-US" altLang="zh-CN" i="1" dirty="0" err="1">
                <a:solidFill>
                  <a:srgbClr val="FF00FF"/>
                </a:solidFill>
              </a:rPr>
              <a:t>c</a:t>
            </a:r>
            <a:r>
              <a:rPr lang="en-US" altLang="zh-CN" dirty="0" err="1">
                <a:solidFill>
                  <a:srgbClr val="FF00FF"/>
                </a:solidFill>
              </a:rPr>
              <a:t>,</a:t>
            </a:r>
            <a:r>
              <a:rPr lang="en-US" altLang="zh-CN" i="1" dirty="0" err="1">
                <a:solidFill>
                  <a:srgbClr val="FF00FF"/>
                </a:solidFill>
              </a:rPr>
              <a:t>b</a:t>
            </a:r>
            <a:r>
              <a:rPr lang="en-US" altLang="zh-CN" dirty="0">
                <a:solidFill>
                  <a:srgbClr val="FF00FF"/>
                </a:solidFill>
              </a:rPr>
              <a:t>&gt;}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FF00FF"/>
                </a:solidFill>
              </a:rPr>
              <a:t> </a:t>
            </a:r>
            <a:r>
              <a:rPr lang="en-US" altLang="zh-CN" dirty="0"/>
              <a:t>… ,</a:t>
            </a:r>
            <a:r>
              <a:rPr lang="en-US" altLang="zh-CN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C00000"/>
                </a:solidFill>
              </a:rPr>
              <a:t>A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</a:t>
            </a:r>
            <a:r>
              <a:rPr lang="en-US" altLang="zh-CN" i="1" dirty="0">
                <a:solidFill>
                  <a:srgbClr val="C00000"/>
                </a:solidFill>
              </a:rPr>
              <a:t>A</a:t>
            </a:r>
            <a:r>
              <a:rPr lang="en-US" altLang="zh-CN" dirty="0"/>
              <a:t>} </a:t>
            </a:r>
            <a:endParaRPr lang="en-US" altLang="zh-CN" i="1" dirty="0">
              <a:solidFill>
                <a:srgbClr val="000000"/>
              </a:solidFill>
            </a:endParaRPr>
          </a:p>
          <a:p>
            <a:pPr marL="0" indent="0" eaLnBrk="1" hangingPunct="1">
              <a:defRPr/>
            </a:pPr>
            <a:endParaRPr lang="en-US" altLang="zh-CN" i="1" dirty="0">
              <a:solidFill>
                <a:srgbClr val="000000"/>
              </a:solidFill>
            </a:endParaRPr>
          </a:p>
          <a:p>
            <a:pPr marL="0" indent="0" eaLnBrk="1" hangingPunct="1">
              <a:defRPr/>
            </a:pPr>
            <a:r>
              <a:rPr lang="en-US" altLang="zh-CN" i="1" dirty="0">
                <a:solidFill>
                  <a:srgbClr val="FF0000"/>
                </a:solidFill>
              </a:rPr>
              <a:t>      R</a:t>
            </a:r>
            <a:r>
              <a:rPr lang="en-US" altLang="zh-CN" dirty="0">
                <a:solidFill>
                  <a:srgbClr val="FF0000"/>
                </a:solidFill>
              </a:rPr>
              <a:t>  = {&lt;</a:t>
            </a:r>
            <a:r>
              <a:rPr lang="en-US" altLang="zh-CN" i="1" dirty="0" err="1">
                <a:solidFill>
                  <a:srgbClr val="FF0000"/>
                </a:solidFill>
              </a:rPr>
              <a:t>a</a:t>
            </a:r>
            <a:r>
              <a:rPr lang="en-US" altLang="zh-CN" dirty="0" err="1">
                <a:solidFill>
                  <a:srgbClr val="FF0000"/>
                </a:solidFill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</a:rPr>
              <a:t>b</a:t>
            </a:r>
            <a:r>
              <a:rPr lang="en-US" altLang="zh-CN" dirty="0">
                <a:solidFill>
                  <a:srgbClr val="FF0000"/>
                </a:solidFill>
              </a:rPr>
              <a:t>&gt;,&lt;</a:t>
            </a:r>
            <a:r>
              <a:rPr lang="en-US" altLang="zh-CN" i="1" dirty="0" err="1">
                <a:solidFill>
                  <a:srgbClr val="FF0000"/>
                </a:solidFill>
              </a:rPr>
              <a:t>b</a:t>
            </a:r>
            <a:r>
              <a:rPr lang="en-US" altLang="zh-CN" dirty="0" err="1">
                <a:solidFill>
                  <a:srgbClr val="FF0000"/>
                </a:solidFill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</a:rPr>
              <a:t>c</a:t>
            </a:r>
            <a:r>
              <a:rPr lang="en-US" altLang="zh-CN" dirty="0">
                <a:solidFill>
                  <a:srgbClr val="FF0000"/>
                </a:solidFill>
              </a:rPr>
              <a:t>&gt;,&lt;</a:t>
            </a:r>
            <a:r>
              <a:rPr lang="en-US" altLang="zh-CN" i="1" dirty="0" err="1">
                <a:solidFill>
                  <a:srgbClr val="FF0000"/>
                </a:solidFill>
              </a:rPr>
              <a:t>c</a:t>
            </a:r>
            <a:r>
              <a:rPr lang="en-US" altLang="zh-CN" dirty="0" err="1">
                <a:solidFill>
                  <a:srgbClr val="FF0000"/>
                </a:solidFill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</a:rPr>
              <a:t>a</a:t>
            </a:r>
            <a:r>
              <a:rPr lang="en-US" altLang="zh-CN" dirty="0">
                <a:solidFill>
                  <a:srgbClr val="FF0000"/>
                </a:solidFill>
              </a:rPr>
              <a:t>&gt;}</a:t>
            </a:r>
          </a:p>
          <a:p>
            <a:pPr marL="0" indent="0" eaLnBrk="1" hangingPunct="1">
              <a:defRPr/>
            </a:pPr>
            <a:r>
              <a:rPr lang="en-US" altLang="zh-CN" i="1" dirty="0">
                <a:solidFill>
                  <a:srgbClr val="000000"/>
                </a:solidFill>
              </a:rPr>
              <a:t>      </a:t>
            </a:r>
            <a:r>
              <a:rPr lang="en-US" altLang="zh-CN" i="1" dirty="0">
                <a:solidFill>
                  <a:srgbClr val="FF00FF"/>
                </a:solidFill>
              </a:rPr>
              <a:t>R</a:t>
            </a:r>
            <a:r>
              <a:rPr lang="en-US" altLang="zh-CN" baseline="30000" dirty="0">
                <a:solidFill>
                  <a:srgbClr val="FF00FF"/>
                </a:solidFill>
              </a:rPr>
              <a:t>2</a:t>
            </a:r>
            <a:r>
              <a:rPr lang="en-US" altLang="zh-CN" dirty="0">
                <a:solidFill>
                  <a:srgbClr val="FF00FF"/>
                </a:solidFill>
              </a:rPr>
              <a:t> = {&lt;</a:t>
            </a:r>
            <a:r>
              <a:rPr lang="en-US" altLang="zh-CN" i="1" dirty="0" err="1">
                <a:solidFill>
                  <a:srgbClr val="FF00FF"/>
                </a:solidFill>
              </a:rPr>
              <a:t>a</a:t>
            </a:r>
            <a:r>
              <a:rPr lang="en-US" altLang="zh-CN" dirty="0" err="1">
                <a:solidFill>
                  <a:srgbClr val="FF00FF"/>
                </a:solidFill>
              </a:rPr>
              <a:t>,</a:t>
            </a:r>
            <a:r>
              <a:rPr lang="en-US" altLang="zh-CN" i="1" dirty="0" err="1">
                <a:solidFill>
                  <a:srgbClr val="FF00FF"/>
                </a:solidFill>
              </a:rPr>
              <a:t>c</a:t>
            </a:r>
            <a:r>
              <a:rPr lang="en-US" altLang="zh-CN" dirty="0">
                <a:solidFill>
                  <a:srgbClr val="FF00FF"/>
                </a:solidFill>
              </a:rPr>
              <a:t>&gt;,&lt;</a:t>
            </a:r>
            <a:r>
              <a:rPr lang="en-US" altLang="zh-CN" i="1" dirty="0" err="1">
                <a:solidFill>
                  <a:srgbClr val="FF00FF"/>
                </a:solidFill>
              </a:rPr>
              <a:t>b</a:t>
            </a:r>
            <a:r>
              <a:rPr lang="en-US" altLang="zh-CN" dirty="0" err="1">
                <a:solidFill>
                  <a:srgbClr val="FF00FF"/>
                </a:solidFill>
              </a:rPr>
              <a:t>,</a:t>
            </a:r>
            <a:r>
              <a:rPr lang="en-US" altLang="zh-CN" i="1" dirty="0" err="1">
                <a:solidFill>
                  <a:srgbClr val="FF00FF"/>
                </a:solidFill>
              </a:rPr>
              <a:t>a</a:t>
            </a:r>
            <a:r>
              <a:rPr lang="en-US" altLang="zh-CN" dirty="0">
                <a:solidFill>
                  <a:srgbClr val="FF00FF"/>
                </a:solidFill>
              </a:rPr>
              <a:t>&gt;,&lt;</a:t>
            </a:r>
            <a:r>
              <a:rPr lang="en-US" altLang="zh-CN" i="1" dirty="0" err="1">
                <a:solidFill>
                  <a:srgbClr val="FF00FF"/>
                </a:solidFill>
              </a:rPr>
              <a:t>c</a:t>
            </a:r>
            <a:r>
              <a:rPr lang="en-US" altLang="zh-CN" dirty="0" err="1">
                <a:solidFill>
                  <a:srgbClr val="FF00FF"/>
                </a:solidFill>
              </a:rPr>
              <a:t>,</a:t>
            </a:r>
            <a:r>
              <a:rPr lang="en-US" altLang="zh-CN" i="1" dirty="0" err="1">
                <a:solidFill>
                  <a:srgbClr val="FF00FF"/>
                </a:solidFill>
              </a:rPr>
              <a:t>b</a:t>
            </a:r>
            <a:r>
              <a:rPr lang="en-US" altLang="zh-CN" dirty="0">
                <a:solidFill>
                  <a:srgbClr val="FF00FF"/>
                </a:solidFill>
              </a:rPr>
              <a:t>&gt;}</a:t>
            </a:r>
          </a:p>
          <a:p>
            <a:pPr marL="0" indent="0" eaLnBrk="1" hangingPunct="1">
              <a:defRPr/>
            </a:pPr>
            <a:r>
              <a:rPr lang="en-US" altLang="zh-CN" i="1" dirty="0">
                <a:solidFill>
                  <a:srgbClr val="0066FF"/>
                </a:solidFill>
              </a:rPr>
              <a:t>      R</a:t>
            </a:r>
            <a:r>
              <a:rPr lang="en-US" altLang="zh-CN" baseline="30000" dirty="0">
                <a:solidFill>
                  <a:srgbClr val="0066FF"/>
                </a:solidFill>
              </a:rPr>
              <a:t>3</a:t>
            </a:r>
            <a:r>
              <a:rPr lang="en-US" altLang="zh-CN" dirty="0">
                <a:solidFill>
                  <a:srgbClr val="0066FF"/>
                </a:solidFill>
              </a:rPr>
              <a:t> = {&lt;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>
                <a:solidFill>
                  <a:srgbClr val="0066FF"/>
                </a:solidFill>
              </a:rPr>
              <a:t>&gt;,&lt;</a:t>
            </a:r>
            <a:r>
              <a:rPr lang="en-US" altLang="zh-CN" i="1" dirty="0" err="1">
                <a:solidFill>
                  <a:srgbClr val="0066FF"/>
                </a:solidFill>
              </a:rPr>
              <a:t>b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b</a:t>
            </a:r>
            <a:r>
              <a:rPr lang="en-US" altLang="zh-CN" dirty="0">
                <a:solidFill>
                  <a:srgbClr val="0066FF"/>
                </a:solidFill>
              </a:rPr>
              <a:t>&gt;,&lt;</a:t>
            </a:r>
            <a:r>
              <a:rPr lang="en-US" altLang="zh-CN" i="1" dirty="0" err="1">
                <a:solidFill>
                  <a:srgbClr val="0066FF"/>
                </a:solidFill>
              </a:rPr>
              <a:t>c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c</a:t>
            </a:r>
            <a:r>
              <a:rPr lang="en-US" altLang="zh-CN" dirty="0">
                <a:solidFill>
                  <a:srgbClr val="0066FF"/>
                </a:solidFill>
              </a:rPr>
              <a:t>&gt;} </a:t>
            </a:r>
          </a:p>
          <a:p>
            <a:pPr marL="0" indent="0" eaLnBrk="1" hangingPunct="1">
              <a:defRPr/>
            </a:pPr>
            <a:endParaRPr lang="en-US" altLang="zh-CN" dirty="0">
              <a:solidFill>
                <a:srgbClr val="808080"/>
              </a:solidFill>
              <a:ea typeface="华文中宋" panose="02010600040101010101" pitchFamily="2" charset="-122"/>
            </a:endParaRPr>
          </a:p>
        </p:txBody>
      </p:sp>
      <p:graphicFrame>
        <p:nvGraphicFramePr>
          <p:cNvPr id="10245" name="Object 6"/>
          <p:cNvGraphicFramePr>
            <a:graphicFrameLocks noChangeAspect="1"/>
          </p:cNvGraphicFramePr>
          <p:nvPr/>
        </p:nvGraphicFramePr>
        <p:xfrm>
          <a:off x="5435600" y="2709863"/>
          <a:ext cx="484188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03200" imgH="215900" progId="Equation.3">
                  <p:embed/>
                </p:oleObj>
              </mc:Choice>
              <mc:Fallback>
                <p:oleObj name="公式" r:id="rId3" imgW="203200" imgH="215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709863"/>
                        <a:ext cx="484188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995936" y="5877272"/>
            <a:ext cx="525175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30000" dirty="0">
                <a:solidFill>
                  <a:srgbClr val="FF0000"/>
                </a:solidFill>
              </a:rPr>
              <a:t>1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FF00FF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30000" dirty="0">
                <a:solidFill>
                  <a:srgbClr val="FF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| 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/>
              </a:rPr>
              <a:t>R</a:t>
            </a:r>
            <a:r>
              <a:rPr lang="en-US" altLang="zh-CN" b="1" baseline="30000" dirty="0">
                <a:solidFill>
                  <a:srgbClr val="0066FF"/>
                </a:solidFill>
                <a:latin typeface="Times New Roman" panose="02020603050405020304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,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/>
              </a:rPr>
              <a:t>R</a:t>
            </a:r>
            <a:r>
              <a:rPr lang="en-US" altLang="zh-CN" baseline="30000" dirty="0">
                <a:solidFill>
                  <a:srgbClr val="FF0000"/>
                </a:solidFill>
              </a:rPr>
              <a:t>1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, </a:t>
            </a:r>
            <a:r>
              <a:rPr lang="en-US" altLang="zh-CN" b="1" i="1" dirty="0">
                <a:solidFill>
                  <a:srgbClr val="FF00FF"/>
                </a:solidFill>
                <a:latin typeface="Times New Roman" panose="02020603050405020304"/>
              </a:rPr>
              <a:t>R</a:t>
            </a:r>
            <a:r>
              <a:rPr lang="en-US" altLang="zh-CN" b="1" baseline="30000" dirty="0">
                <a:solidFill>
                  <a:srgbClr val="FF00FF"/>
                </a:solidFill>
                <a:latin typeface="Times New Roman" panose="02020603050405020304"/>
              </a:rPr>
              <a:t>2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 |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/>
              </a:rPr>
              <a:t> R</a:t>
            </a:r>
            <a:r>
              <a:rPr lang="en-US" altLang="zh-CN" b="1" baseline="30000" dirty="0">
                <a:solidFill>
                  <a:srgbClr val="0066FF"/>
                </a:solidFill>
                <a:latin typeface="Times New Roman" panose="02020603050405020304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/>
              </a:rPr>
              <a:t>,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/>
              </a:rPr>
              <a:t>R</a:t>
            </a:r>
            <a:r>
              <a:rPr lang="en-US" altLang="zh-CN" baseline="30000" dirty="0">
                <a:solidFill>
                  <a:srgbClr val="FF0000"/>
                </a:solidFill>
              </a:rPr>
              <a:t>1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, </a:t>
            </a:r>
            <a:r>
              <a:rPr lang="en-US" altLang="zh-CN" b="1" i="1" dirty="0">
                <a:solidFill>
                  <a:srgbClr val="FF00FF"/>
                </a:solidFill>
                <a:latin typeface="Times New Roman" panose="02020603050405020304"/>
              </a:rPr>
              <a:t>R</a:t>
            </a:r>
            <a:r>
              <a:rPr lang="en-US" altLang="zh-CN" b="1" baseline="30000" dirty="0">
                <a:solidFill>
                  <a:srgbClr val="FF00FF"/>
                </a:solidFill>
                <a:latin typeface="Times New Roman" panose="02020603050405020304"/>
              </a:rPr>
              <a:t>2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zh-CN" dirty="0"/>
              <a:t>|……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179388" y="2492375"/>
            <a:ext cx="8672512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34950" y="5229225"/>
            <a:ext cx="8674100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015673" y="5373216"/>
            <a:ext cx="512832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i="1" dirty="0">
                <a:solidFill>
                  <a:srgbClr val="0066FF"/>
                </a:solidFill>
                <a:latin typeface="+mn-lt"/>
              </a:rPr>
              <a:t>R</a:t>
            </a:r>
            <a:r>
              <a:rPr lang="en-US" altLang="zh-CN" b="1" baseline="30000" dirty="0">
                <a:solidFill>
                  <a:srgbClr val="0066FF"/>
                </a:solidFill>
                <a:latin typeface="+mn-lt"/>
              </a:rPr>
              <a:t>0</a:t>
            </a:r>
            <a:r>
              <a:rPr lang="en-US" altLang="zh-CN" b="1" dirty="0">
                <a:latin typeface="+mn-lt"/>
              </a:rPr>
              <a:t>, 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</a:rPr>
              <a:t>R</a:t>
            </a:r>
            <a:r>
              <a:rPr lang="en-US" altLang="zh-CN" baseline="30000" dirty="0">
                <a:solidFill>
                  <a:srgbClr val="FF0000"/>
                </a:solidFill>
              </a:rPr>
              <a:t>1</a:t>
            </a:r>
            <a:r>
              <a:rPr lang="en-US" altLang="zh-CN" b="1" i="1" dirty="0">
                <a:latin typeface="+mn-lt"/>
              </a:rPr>
              <a:t>, </a:t>
            </a:r>
            <a:r>
              <a:rPr lang="en-US" altLang="zh-CN" b="1" i="1" dirty="0">
                <a:solidFill>
                  <a:srgbClr val="FF00FF"/>
                </a:solidFill>
                <a:latin typeface="+mn-lt"/>
              </a:rPr>
              <a:t>R</a:t>
            </a:r>
            <a:r>
              <a:rPr lang="en-US" altLang="zh-CN" b="1" baseline="30000" dirty="0">
                <a:solidFill>
                  <a:srgbClr val="FF00FF"/>
                </a:solidFill>
                <a:latin typeface="+mn-lt"/>
              </a:rPr>
              <a:t>2</a:t>
            </a:r>
            <a:r>
              <a:rPr lang="en-US" altLang="zh-CN" b="1" i="1" dirty="0">
                <a:latin typeface="+mn-lt"/>
              </a:rPr>
              <a:t> | </a:t>
            </a:r>
            <a:r>
              <a:rPr lang="en-US" altLang="zh-CN" b="1" i="1" dirty="0">
                <a:solidFill>
                  <a:srgbClr val="0066FF"/>
                </a:solidFill>
                <a:latin typeface="+mn-lt"/>
              </a:rPr>
              <a:t>R</a:t>
            </a:r>
            <a:r>
              <a:rPr lang="en-US" altLang="zh-CN" b="1" baseline="30000" dirty="0">
                <a:solidFill>
                  <a:srgbClr val="0066FF"/>
                </a:solidFill>
                <a:latin typeface="+mn-lt"/>
              </a:rPr>
              <a:t>3</a:t>
            </a:r>
            <a:r>
              <a:rPr lang="en-US" altLang="zh-CN" b="1" i="1" dirty="0"/>
              <a:t>,</a:t>
            </a:r>
            <a:r>
              <a:rPr lang="en-US" altLang="zh-CN" baseline="30000" dirty="0">
                <a:solidFill>
                  <a:srgbClr val="000000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/>
              </a:rPr>
              <a:t>R</a:t>
            </a:r>
            <a:r>
              <a:rPr lang="en-US" altLang="zh-CN" baseline="30000" dirty="0">
                <a:solidFill>
                  <a:srgbClr val="FF0000"/>
                </a:solidFill>
              </a:rPr>
              <a:t>4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, </a:t>
            </a:r>
            <a:r>
              <a:rPr lang="en-US" altLang="zh-CN" b="1" i="1" dirty="0">
                <a:solidFill>
                  <a:srgbClr val="FF00FF"/>
                </a:solidFill>
                <a:latin typeface="Times New Roman" panose="02020603050405020304"/>
              </a:rPr>
              <a:t>R</a:t>
            </a:r>
            <a:r>
              <a:rPr lang="en-US" altLang="zh-CN" b="1" baseline="30000" dirty="0">
                <a:solidFill>
                  <a:srgbClr val="FF00FF"/>
                </a:solidFill>
                <a:latin typeface="Times New Roman" panose="02020603050405020304"/>
              </a:rPr>
              <a:t>5 </a:t>
            </a:r>
            <a:r>
              <a:rPr lang="en-US" altLang="zh-CN" dirty="0"/>
              <a:t>| 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/>
              </a:rPr>
              <a:t>R</a:t>
            </a:r>
            <a:r>
              <a:rPr lang="en-US" altLang="zh-CN" b="1" baseline="30000" dirty="0">
                <a:solidFill>
                  <a:srgbClr val="0066FF"/>
                </a:solidFill>
                <a:latin typeface="Times New Roman" panose="02020603050405020304"/>
              </a:rPr>
              <a:t>6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,</a:t>
            </a:r>
            <a:r>
              <a:rPr lang="en-US" altLang="zh-CN" baseline="30000" dirty="0">
                <a:solidFill>
                  <a:srgbClr val="000000"/>
                </a:solidFill>
              </a:rPr>
              <a:t> 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/>
              </a:rPr>
              <a:t>R</a:t>
            </a:r>
            <a:r>
              <a:rPr lang="en-US" altLang="zh-CN" baseline="30000" dirty="0">
                <a:solidFill>
                  <a:srgbClr val="FF0000"/>
                </a:solidFill>
              </a:rPr>
              <a:t>7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/>
              </a:rPr>
              <a:t>, </a:t>
            </a:r>
            <a:r>
              <a:rPr lang="en-US" altLang="zh-CN" b="1" i="1" dirty="0">
                <a:solidFill>
                  <a:srgbClr val="FF00FF"/>
                </a:solidFill>
                <a:latin typeface="Times New Roman" panose="02020603050405020304"/>
              </a:rPr>
              <a:t>R</a:t>
            </a:r>
            <a:r>
              <a:rPr lang="en-US" altLang="zh-CN" b="1" baseline="30000" dirty="0">
                <a:solidFill>
                  <a:srgbClr val="FF00FF"/>
                </a:solidFill>
                <a:latin typeface="Times New Roman" panose="02020603050405020304"/>
              </a:rPr>
              <a:t>8 </a:t>
            </a:r>
            <a:r>
              <a:rPr lang="en-US" altLang="zh-CN" dirty="0"/>
              <a:t>|……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 noChangeArrowheads="1"/>
          </p:cNvSpPr>
          <p:nvPr>
            <p:ph idx="1"/>
          </p:nvPr>
        </p:nvSpPr>
        <p:spPr>
          <a:xfrm>
            <a:off x="1182452" y="2618916"/>
            <a:ext cx="5626968" cy="3325142"/>
          </a:xfrm>
        </p:spPr>
        <p:txBody>
          <a:bodyPr/>
          <a:lstStyle/>
          <a:p>
            <a:r>
              <a:rPr lang="fr-FR" altLang="zh-CN" i="1" dirty="0">
                <a:solidFill>
                  <a:srgbClr val="FF0000"/>
                </a:solidFill>
              </a:rPr>
              <a:t>R</a:t>
            </a:r>
            <a:r>
              <a:rPr lang="fr-FR" altLang="zh-CN" dirty="0">
                <a:solidFill>
                  <a:srgbClr val="FF0000"/>
                </a:solidFill>
              </a:rPr>
              <a:t> = { &lt;</a:t>
            </a:r>
            <a:r>
              <a:rPr lang="fr-FR" altLang="zh-CN" i="1" dirty="0">
                <a:solidFill>
                  <a:srgbClr val="FF0000"/>
                </a:solidFill>
              </a:rPr>
              <a:t>a</a:t>
            </a:r>
            <a:r>
              <a:rPr lang="fr-FR" altLang="zh-CN" dirty="0">
                <a:solidFill>
                  <a:srgbClr val="FF0000"/>
                </a:solidFill>
              </a:rPr>
              <a:t>,</a:t>
            </a:r>
            <a:r>
              <a:rPr lang="fr-FR" altLang="zh-CN" i="1" dirty="0">
                <a:solidFill>
                  <a:srgbClr val="FF0000"/>
                </a:solidFill>
              </a:rPr>
              <a:t>b</a:t>
            </a:r>
            <a:r>
              <a:rPr lang="fr-FR" altLang="zh-CN" dirty="0">
                <a:solidFill>
                  <a:srgbClr val="FF0000"/>
                </a:solidFill>
              </a:rPr>
              <a:t>&gt;,&lt;</a:t>
            </a:r>
            <a:r>
              <a:rPr lang="fr-FR" altLang="zh-CN" i="1" dirty="0">
                <a:solidFill>
                  <a:srgbClr val="FF0000"/>
                </a:solidFill>
              </a:rPr>
              <a:t>b</a:t>
            </a:r>
            <a:r>
              <a:rPr lang="fr-FR" altLang="zh-CN" dirty="0">
                <a:solidFill>
                  <a:srgbClr val="FF0000"/>
                </a:solidFill>
              </a:rPr>
              <a:t>,</a:t>
            </a:r>
            <a:r>
              <a:rPr lang="fr-FR" altLang="zh-CN" i="1" dirty="0">
                <a:solidFill>
                  <a:srgbClr val="FF0000"/>
                </a:solidFill>
              </a:rPr>
              <a:t>c</a:t>
            </a:r>
            <a:r>
              <a:rPr lang="fr-FR" altLang="zh-CN" dirty="0">
                <a:solidFill>
                  <a:srgbClr val="FF0000"/>
                </a:solidFill>
              </a:rPr>
              <a:t>&gt;,&lt;</a:t>
            </a:r>
            <a:r>
              <a:rPr lang="fr-FR" altLang="zh-CN" i="1" dirty="0">
                <a:solidFill>
                  <a:srgbClr val="FF0000"/>
                </a:solidFill>
              </a:rPr>
              <a:t>c</a:t>
            </a:r>
            <a:r>
              <a:rPr lang="fr-FR" altLang="zh-CN" dirty="0">
                <a:solidFill>
                  <a:srgbClr val="FF0000"/>
                </a:solidFill>
              </a:rPr>
              <a:t>,</a:t>
            </a:r>
            <a:r>
              <a:rPr lang="fr-FR" altLang="zh-CN" i="1" dirty="0">
                <a:solidFill>
                  <a:srgbClr val="FF0000"/>
                </a:solidFill>
              </a:rPr>
              <a:t>a</a:t>
            </a:r>
            <a:r>
              <a:rPr lang="fr-FR" altLang="zh-CN" dirty="0">
                <a:solidFill>
                  <a:srgbClr val="FF0000"/>
                </a:solidFill>
              </a:rPr>
              <a:t>&gt;, &lt;</a:t>
            </a:r>
            <a:r>
              <a:rPr lang="fr-FR" altLang="zh-CN" i="1" dirty="0">
                <a:solidFill>
                  <a:srgbClr val="FF0000"/>
                </a:solidFill>
              </a:rPr>
              <a:t>e</a:t>
            </a:r>
            <a:r>
              <a:rPr lang="fr-FR" altLang="zh-CN" dirty="0">
                <a:solidFill>
                  <a:srgbClr val="FF0000"/>
                </a:solidFill>
              </a:rPr>
              <a:t>,</a:t>
            </a:r>
            <a:r>
              <a:rPr lang="fr-FR" altLang="zh-CN" i="1" dirty="0">
                <a:solidFill>
                  <a:srgbClr val="FF0000"/>
                </a:solidFill>
              </a:rPr>
              <a:t>f</a:t>
            </a:r>
            <a:r>
              <a:rPr lang="fr-FR" altLang="zh-CN" dirty="0">
                <a:solidFill>
                  <a:srgbClr val="FF0000"/>
                </a:solidFill>
              </a:rPr>
              <a:t>&gt;,&lt;</a:t>
            </a:r>
            <a:r>
              <a:rPr lang="fr-FR" altLang="zh-CN" i="1" dirty="0">
                <a:solidFill>
                  <a:srgbClr val="FF0000"/>
                </a:solidFill>
              </a:rPr>
              <a:t>f</a:t>
            </a:r>
            <a:r>
              <a:rPr lang="fr-FR" altLang="zh-CN" dirty="0">
                <a:solidFill>
                  <a:srgbClr val="FF0000"/>
                </a:solidFill>
              </a:rPr>
              <a:t>,</a:t>
            </a:r>
            <a:r>
              <a:rPr lang="fr-FR" altLang="zh-CN" i="1" dirty="0">
                <a:solidFill>
                  <a:srgbClr val="FF0000"/>
                </a:solidFill>
              </a:rPr>
              <a:t>e</a:t>
            </a:r>
            <a:r>
              <a:rPr lang="fr-FR" altLang="zh-CN" dirty="0">
                <a:solidFill>
                  <a:srgbClr val="FF0000"/>
                </a:solidFill>
              </a:rPr>
              <a:t>&gt; }</a:t>
            </a:r>
          </a:p>
          <a:p>
            <a:r>
              <a:rPr lang="fr-FR" altLang="zh-CN" i="1" dirty="0"/>
              <a:t>R</a:t>
            </a:r>
            <a:r>
              <a:rPr lang="fr-FR" altLang="zh-CN" baseline="30000" dirty="0"/>
              <a:t>2</a:t>
            </a:r>
            <a:r>
              <a:rPr lang="fr-FR" altLang="zh-CN" dirty="0"/>
              <a:t> = { &lt;</a:t>
            </a:r>
            <a:r>
              <a:rPr lang="fr-FR" altLang="zh-CN" i="1" dirty="0"/>
              <a:t>a</a:t>
            </a:r>
            <a:r>
              <a:rPr lang="fr-FR" altLang="zh-CN" dirty="0"/>
              <a:t>,</a:t>
            </a:r>
            <a:r>
              <a:rPr lang="fr-FR" altLang="zh-CN" i="1" dirty="0"/>
              <a:t>c</a:t>
            </a:r>
            <a:r>
              <a:rPr lang="fr-FR" altLang="zh-CN" dirty="0"/>
              <a:t>&gt;,&lt;</a:t>
            </a:r>
            <a:r>
              <a:rPr lang="fr-FR" altLang="zh-CN" i="1" dirty="0"/>
              <a:t>b</a:t>
            </a:r>
            <a:r>
              <a:rPr lang="fr-FR" altLang="zh-CN" dirty="0"/>
              <a:t>,</a:t>
            </a:r>
            <a:r>
              <a:rPr lang="fr-FR" altLang="zh-CN" i="1" dirty="0"/>
              <a:t>a</a:t>
            </a:r>
            <a:r>
              <a:rPr lang="fr-FR" altLang="zh-CN" dirty="0"/>
              <a:t>&gt;,&lt;</a:t>
            </a:r>
            <a:r>
              <a:rPr lang="fr-FR" altLang="zh-CN" i="1" dirty="0"/>
              <a:t>c</a:t>
            </a:r>
            <a:r>
              <a:rPr lang="fr-FR" altLang="zh-CN" dirty="0"/>
              <a:t>,</a:t>
            </a:r>
            <a:r>
              <a:rPr lang="fr-FR" altLang="zh-CN" i="1" dirty="0"/>
              <a:t>b</a:t>
            </a:r>
            <a:r>
              <a:rPr lang="fr-FR" altLang="zh-CN" dirty="0"/>
              <a:t>&gt;, &lt;</a:t>
            </a:r>
            <a:r>
              <a:rPr lang="fr-FR" altLang="zh-CN" i="1" dirty="0"/>
              <a:t>e</a:t>
            </a:r>
            <a:r>
              <a:rPr lang="fr-FR" altLang="zh-CN" dirty="0"/>
              <a:t>,</a:t>
            </a:r>
            <a:r>
              <a:rPr lang="fr-FR" altLang="zh-CN" i="1" dirty="0"/>
              <a:t>e</a:t>
            </a:r>
            <a:r>
              <a:rPr lang="fr-FR" altLang="zh-CN" dirty="0"/>
              <a:t>&gt;,&lt;</a:t>
            </a:r>
            <a:r>
              <a:rPr lang="fr-FR" altLang="zh-CN" i="1" dirty="0"/>
              <a:t>f</a:t>
            </a:r>
            <a:r>
              <a:rPr lang="fr-FR" altLang="zh-CN" dirty="0"/>
              <a:t>,</a:t>
            </a:r>
            <a:r>
              <a:rPr lang="fr-FR" altLang="zh-CN" i="1" dirty="0"/>
              <a:t>f</a:t>
            </a:r>
            <a:r>
              <a:rPr lang="fr-FR" altLang="zh-CN" dirty="0"/>
              <a:t>&gt; }</a:t>
            </a:r>
          </a:p>
          <a:p>
            <a:r>
              <a:rPr lang="fr-FR" altLang="zh-CN" i="1" dirty="0"/>
              <a:t>R</a:t>
            </a:r>
            <a:r>
              <a:rPr lang="fr-FR" altLang="zh-CN" baseline="30000" dirty="0"/>
              <a:t>3</a:t>
            </a:r>
            <a:r>
              <a:rPr lang="fr-FR" altLang="zh-CN" dirty="0"/>
              <a:t> = { &lt;</a:t>
            </a:r>
            <a:r>
              <a:rPr lang="fr-FR" altLang="zh-CN" i="1" dirty="0"/>
              <a:t>a</a:t>
            </a:r>
            <a:r>
              <a:rPr lang="fr-FR" altLang="zh-CN" dirty="0"/>
              <a:t>,</a:t>
            </a:r>
            <a:r>
              <a:rPr lang="fr-FR" altLang="zh-CN" i="1" dirty="0"/>
              <a:t>a</a:t>
            </a:r>
            <a:r>
              <a:rPr lang="fr-FR" altLang="zh-CN" dirty="0"/>
              <a:t>&gt;,&lt;</a:t>
            </a:r>
            <a:r>
              <a:rPr lang="fr-FR" altLang="zh-CN" i="1" dirty="0"/>
              <a:t>b</a:t>
            </a:r>
            <a:r>
              <a:rPr lang="fr-FR" altLang="zh-CN" dirty="0"/>
              <a:t>,</a:t>
            </a:r>
            <a:r>
              <a:rPr lang="fr-FR" altLang="zh-CN" i="1" dirty="0"/>
              <a:t>b</a:t>
            </a:r>
            <a:r>
              <a:rPr lang="fr-FR" altLang="zh-CN" dirty="0"/>
              <a:t>&gt;,&lt;</a:t>
            </a:r>
            <a:r>
              <a:rPr lang="fr-FR" altLang="zh-CN" i="1" dirty="0"/>
              <a:t>c</a:t>
            </a:r>
            <a:r>
              <a:rPr lang="fr-FR" altLang="zh-CN" dirty="0"/>
              <a:t>,</a:t>
            </a:r>
            <a:r>
              <a:rPr lang="fr-FR" altLang="zh-CN" i="1" dirty="0"/>
              <a:t>c</a:t>
            </a:r>
            <a:r>
              <a:rPr lang="fr-FR" altLang="zh-CN" dirty="0"/>
              <a:t>&gt;, &lt;</a:t>
            </a:r>
            <a:r>
              <a:rPr lang="fr-FR" altLang="zh-CN" i="1" dirty="0"/>
              <a:t>e</a:t>
            </a:r>
            <a:r>
              <a:rPr lang="fr-FR" altLang="zh-CN" dirty="0"/>
              <a:t>,</a:t>
            </a:r>
            <a:r>
              <a:rPr lang="fr-FR" altLang="zh-CN" i="1" dirty="0"/>
              <a:t>f</a:t>
            </a:r>
            <a:r>
              <a:rPr lang="fr-FR" altLang="zh-CN" dirty="0"/>
              <a:t>&gt;,&lt;</a:t>
            </a:r>
            <a:r>
              <a:rPr lang="fr-FR" altLang="zh-CN" i="1" dirty="0"/>
              <a:t>f</a:t>
            </a:r>
            <a:r>
              <a:rPr lang="fr-FR" altLang="zh-CN" dirty="0"/>
              <a:t>,</a:t>
            </a:r>
            <a:r>
              <a:rPr lang="fr-FR" altLang="zh-CN" i="1" dirty="0"/>
              <a:t>e</a:t>
            </a:r>
            <a:r>
              <a:rPr lang="fr-FR" altLang="zh-CN" dirty="0"/>
              <a:t>&gt; }</a:t>
            </a:r>
          </a:p>
          <a:p>
            <a:r>
              <a:rPr lang="fr-FR" altLang="zh-CN" i="1" dirty="0"/>
              <a:t>R</a:t>
            </a:r>
            <a:r>
              <a:rPr lang="fr-FR" altLang="zh-CN" baseline="30000" dirty="0"/>
              <a:t>4</a:t>
            </a:r>
            <a:r>
              <a:rPr lang="fr-FR" altLang="zh-CN" dirty="0"/>
              <a:t>= { &lt;</a:t>
            </a:r>
            <a:r>
              <a:rPr lang="fr-FR" altLang="zh-CN" i="1" dirty="0"/>
              <a:t>a</a:t>
            </a:r>
            <a:r>
              <a:rPr lang="fr-FR" altLang="zh-CN" dirty="0"/>
              <a:t>,</a:t>
            </a:r>
            <a:r>
              <a:rPr lang="fr-FR" altLang="zh-CN" i="1" dirty="0"/>
              <a:t>b</a:t>
            </a:r>
            <a:r>
              <a:rPr lang="fr-FR" altLang="zh-CN" dirty="0"/>
              <a:t>&gt;,&lt;</a:t>
            </a:r>
            <a:r>
              <a:rPr lang="fr-FR" altLang="zh-CN" i="1" dirty="0"/>
              <a:t>b</a:t>
            </a:r>
            <a:r>
              <a:rPr lang="fr-FR" altLang="zh-CN" dirty="0"/>
              <a:t>,</a:t>
            </a:r>
            <a:r>
              <a:rPr lang="fr-FR" altLang="zh-CN" i="1" dirty="0"/>
              <a:t>c</a:t>
            </a:r>
            <a:r>
              <a:rPr lang="fr-FR" altLang="zh-CN" dirty="0"/>
              <a:t>&gt;,&lt;</a:t>
            </a:r>
            <a:r>
              <a:rPr lang="fr-FR" altLang="zh-CN" i="1" dirty="0"/>
              <a:t>c</a:t>
            </a:r>
            <a:r>
              <a:rPr lang="fr-FR" altLang="zh-CN" dirty="0"/>
              <a:t>,</a:t>
            </a:r>
            <a:r>
              <a:rPr lang="fr-FR" altLang="zh-CN" i="1" dirty="0"/>
              <a:t>a</a:t>
            </a:r>
            <a:r>
              <a:rPr lang="fr-FR" altLang="zh-CN" dirty="0"/>
              <a:t>&gt;, &lt;</a:t>
            </a:r>
            <a:r>
              <a:rPr lang="fr-FR" altLang="zh-CN" i="1" dirty="0"/>
              <a:t>e</a:t>
            </a:r>
            <a:r>
              <a:rPr lang="fr-FR" altLang="zh-CN" dirty="0"/>
              <a:t>,</a:t>
            </a:r>
            <a:r>
              <a:rPr lang="fr-FR" altLang="zh-CN" i="1" dirty="0"/>
              <a:t>e</a:t>
            </a:r>
            <a:r>
              <a:rPr lang="fr-FR" altLang="zh-CN" dirty="0"/>
              <a:t>&gt;,&lt;</a:t>
            </a:r>
            <a:r>
              <a:rPr lang="fr-FR" altLang="zh-CN" i="1" dirty="0"/>
              <a:t>f</a:t>
            </a:r>
            <a:r>
              <a:rPr lang="fr-FR" altLang="zh-CN" dirty="0"/>
              <a:t>,</a:t>
            </a:r>
            <a:r>
              <a:rPr lang="fr-FR" altLang="zh-CN" i="1" dirty="0"/>
              <a:t>f</a:t>
            </a:r>
            <a:r>
              <a:rPr lang="fr-FR" altLang="zh-CN" dirty="0"/>
              <a:t>&gt; }</a:t>
            </a:r>
          </a:p>
          <a:p>
            <a:r>
              <a:rPr lang="fr-FR" altLang="zh-CN" i="1" dirty="0">
                <a:solidFill>
                  <a:srgbClr val="000000"/>
                </a:solidFill>
              </a:rPr>
              <a:t>R</a:t>
            </a:r>
            <a:r>
              <a:rPr lang="fr-FR" altLang="zh-CN" baseline="30000" dirty="0"/>
              <a:t>5</a:t>
            </a:r>
            <a:r>
              <a:rPr lang="fr-FR" altLang="zh-CN" dirty="0">
                <a:solidFill>
                  <a:srgbClr val="000000"/>
                </a:solidFill>
              </a:rPr>
              <a:t> = { &lt;</a:t>
            </a:r>
            <a:r>
              <a:rPr lang="fr-FR" altLang="zh-CN" i="1" dirty="0">
                <a:solidFill>
                  <a:srgbClr val="000000"/>
                </a:solidFill>
              </a:rPr>
              <a:t>a</a:t>
            </a:r>
            <a:r>
              <a:rPr lang="fr-FR" altLang="zh-CN" dirty="0">
                <a:solidFill>
                  <a:srgbClr val="000000"/>
                </a:solidFill>
              </a:rPr>
              <a:t>,</a:t>
            </a:r>
            <a:r>
              <a:rPr lang="fr-FR" altLang="zh-CN" i="1" dirty="0">
                <a:solidFill>
                  <a:srgbClr val="000000"/>
                </a:solidFill>
              </a:rPr>
              <a:t>c</a:t>
            </a:r>
            <a:r>
              <a:rPr lang="fr-FR" altLang="zh-CN" dirty="0">
                <a:solidFill>
                  <a:srgbClr val="000000"/>
                </a:solidFill>
              </a:rPr>
              <a:t>&gt;,&lt;</a:t>
            </a:r>
            <a:r>
              <a:rPr lang="fr-FR" altLang="zh-CN" i="1" dirty="0">
                <a:solidFill>
                  <a:srgbClr val="000000"/>
                </a:solidFill>
              </a:rPr>
              <a:t>b</a:t>
            </a:r>
            <a:r>
              <a:rPr lang="fr-FR" altLang="zh-CN" dirty="0">
                <a:solidFill>
                  <a:srgbClr val="000000"/>
                </a:solidFill>
              </a:rPr>
              <a:t>,</a:t>
            </a:r>
            <a:r>
              <a:rPr lang="fr-FR" altLang="zh-CN" i="1" dirty="0">
                <a:solidFill>
                  <a:srgbClr val="000000"/>
                </a:solidFill>
              </a:rPr>
              <a:t>a</a:t>
            </a:r>
            <a:r>
              <a:rPr lang="fr-FR" altLang="zh-CN" dirty="0">
                <a:solidFill>
                  <a:srgbClr val="000000"/>
                </a:solidFill>
              </a:rPr>
              <a:t>&gt;,&lt;</a:t>
            </a:r>
            <a:r>
              <a:rPr lang="fr-FR" altLang="zh-CN" i="1" dirty="0">
                <a:solidFill>
                  <a:srgbClr val="000000"/>
                </a:solidFill>
              </a:rPr>
              <a:t>c</a:t>
            </a:r>
            <a:r>
              <a:rPr lang="fr-FR" altLang="zh-CN" dirty="0">
                <a:solidFill>
                  <a:srgbClr val="000000"/>
                </a:solidFill>
              </a:rPr>
              <a:t>,</a:t>
            </a:r>
            <a:r>
              <a:rPr lang="fr-FR" altLang="zh-CN" i="1" dirty="0">
                <a:solidFill>
                  <a:srgbClr val="000000"/>
                </a:solidFill>
              </a:rPr>
              <a:t>b</a:t>
            </a:r>
            <a:r>
              <a:rPr lang="fr-FR" altLang="zh-CN" dirty="0">
                <a:solidFill>
                  <a:srgbClr val="000000"/>
                </a:solidFill>
              </a:rPr>
              <a:t>&gt;, </a:t>
            </a:r>
            <a:r>
              <a:rPr lang="fr-FR" altLang="zh-CN" dirty="0"/>
              <a:t>&lt;</a:t>
            </a:r>
            <a:r>
              <a:rPr lang="fr-FR" altLang="zh-CN" i="1" dirty="0"/>
              <a:t>e</a:t>
            </a:r>
            <a:r>
              <a:rPr lang="fr-FR" altLang="zh-CN" dirty="0"/>
              <a:t>,</a:t>
            </a:r>
            <a:r>
              <a:rPr lang="fr-FR" altLang="zh-CN" i="1" dirty="0"/>
              <a:t>f</a:t>
            </a:r>
            <a:r>
              <a:rPr lang="fr-FR" altLang="zh-CN" dirty="0"/>
              <a:t>&gt;,&lt;</a:t>
            </a:r>
            <a:r>
              <a:rPr lang="fr-FR" altLang="zh-CN" i="1" dirty="0"/>
              <a:t>f</a:t>
            </a:r>
            <a:r>
              <a:rPr lang="fr-FR" altLang="zh-CN" dirty="0"/>
              <a:t>,</a:t>
            </a:r>
            <a:r>
              <a:rPr lang="fr-FR" altLang="zh-CN" i="1" dirty="0"/>
              <a:t>e</a:t>
            </a:r>
            <a:r>
              <a:rPr lang="fr-FR" altLang="zh-CN" dirty="0"/>
              <a:t>&gt; </a:t>
            </a:r>
            <a:r>
              <a:rPr lang="fr-FR" altLang="zh-CN" dirty="0">
                <a:solidFill>
                  <a:srgbClr val="000000"/>
                </a:solidFill>
              </a:rPr>
              <a:t>}</a:t>
            </a:r>
          </a:p>
          <a:p>
            <a:r>
              <a:rPr lang="fr-FR" altLang="zh-CN" i="1" dirty="0"/>
              <a:t>R</a:t>
            </a:r>
            <a:r>
              <a:rPr lang="fr-FR" altLang="zh-CN" baseline="30000" dirty="0"/>
              <a:t>6</a:t>
            </a:r>
            <a:r>
              <a:rPr lang="fr-FR" altLang="zh-CN" dirty="0"/>
              <a:t> = { &lt;</a:t>
            </a:r>
            <a:r>
              <a:rPr lang="fr-FR" altLang="zh-CN" i="1" dirty="0"/>
              <a:t>a</a:t>
            </a:r>
            <a:r>
              <a:rPr lang="fr-FR" altLang="zh-CN" dirty="0"/>
              <a:t>,</a:t>
            </a:r>
            <a:r>
              <a:rPr lang="fr-FR" altLang="zh-CN" i="1" dirty="0"/>
              <a:t>a</a:t>
            </a:r>
            <a:r>
              <a:rPr lang="fr-FR" altLang="zh-CN" dirty="0"/>
              <a:t>&gt;,&lt;</a:t>
            </a:r>
            <a:r>
              <a:rPr lang="fr-FR" altLang="zh-CN" i="1" dirty="0"/>
              <a:t>b</a:t>
            </a:r>
            <a:r>
              <a:rPr lang="fr-FR" altLang="zh-CN" dirty="0"/>
              <a:t>,</a:t>
            </a:r>
            <a:r>
              <a:rPr lang="fr-FR" altLang="zh-CN" i="1" dirty="0"/>
              <a:t>b</a:t>
            </a:r>
            <a:r>
              <a:rPr lang="fr-FR" altLang="zh-CN" dirty="0"/>
              <a:t>&gt;,&lt;</a:t>
            </a:r>
            <a:r>
              <a:rPr lang="fr-FR" altLang="zh-CN" i="1" dirty="0"/>
              <a:t>c</a:t>
            </a:r>
            <a:r>
              <a:rPr lang="fr-FR" altLang="zh-CN" dirty="0"/>
              <a:t>,</a:t>
            </a:r>
            <a:r>
              <a:rPr lang="fr-FR" altLang="zh-CN" i="1" dirty="0"/>
              <a:t>c</a:t>
            </a:r>
            <a:r>
              <a:rPr lang="fr-FR" altLang="zh-CN" dirty="0"/>
              <a:t>&gt;, &lt;</a:t>
            </a:r>
            <a:r>
              <a:rPr lang="fr-FR" altLang="zh-CN" i="1" dirty="0"/>
              <a:t>e</a:t>
            </a:r>
            <a:r>
              <a:rPr lang="fr-FR" altLang="zh-CN" dirty="0"/>
              <a:t>,</a:t>
            </a:r>
            <a:r>
              <a:rPr lang="fr-FR" altLang="zh-CN" i="1" dirty="0"/>
              <a:t>e</a:t>
            </a:r>
            <a:r>
              <a:rPr lang="fr-FR" altLang="zh-CN" dirty="0"/>
              <a:t>&gt;,&lt;</a:t>
            </a:r>
            <a:r>
              <a:rPr lang="fr-FR" altLang="zh-CN" i="1" dirty="0"/>
              <a:t>f</a:t>
            </a:r>
            <a:r>
              <a:rPr lang="fr-FR" altLang="zh-CN" dirty="0"/>
              <a:t>,</a:t>
            </a:r>
            <a:r>
              <a:rPr lang="fr-FR" altLang="zh-CN" i="1" dirty="0"/>
              <a:t>f</a:t>
            </a:r>
            <a:r>
              <a:rPr lang="fr-FR" altLang="zh-CN" dirty="0"/>
              <a:t>&gt; }</a:t>
            </a:r>
          </a:p>
          <a:p>
            <a:r>
              <a:rPr lang="fr-FR" altLang="zh-CN" i="1" dirty="0">
                <a:solidFill>
                  <a:srgbClr val="FF0000"/>
                </a:solidFill>
              </a:rPr>
              <a:t>R</a:t>
            </a:r>
            <a:r>
              <a:rPr lang="fr-FR" altLang="zh-CN" baseline="30000" dirty="0">
                <a:solidFill>
                  <a:srgbClr val="FF0000"/>
                </a:solidFill>
              </a:rPr>
              <a:t>7</a:t>
            </a:r>
            <a:r>
              <a:rPr lang="fr-FR" altLang="zh-CN" dirty="0">
                <a:solidFill>
                  <a:srgbClr val="FF0000"/>
                </a:solidFill>
              </a:rPr>
              <a:t> = { &lt;</a:t>
            </a:r>
            <a:r>
              <a:rPr lang="fr-FR" altLang="zh-CN" i="1" dirty="0">
                <a:solidFill>
                  <a:srgbClr val="FF0000"/>
                </a:solidFill>
              </a:rPr>
              <a:t>a</a:t>
            </a:r>
            <a:r>
              <a:rPr lang="fr-FR" altLang="zh-CN" dirty="0">
                <a:solidFill>
                  <a:srgbClr val="FF0000"/>
                </a:solidFill>
              </a:rPr>
              <a:t>,</a:t>
            </a:r>
            <a:r>
              <a:rPr lang="fr-FR" altLang="zh-CN" i="1" dirty="0">
                <a:solidFill>
                  <a:srgbClr val="FF0000"/>
                </a:solidFill>
              </a:rPr>
              <a:t>b</a:t>
            </a:r>
            <a:r>
              <a:rPr lang="fr-FR" altLang="zh-CN" dirty="0">
                <a:solidFill>
                  <a:srgbClr val="FF0000"/>
                </a:solidFill>
              </a:rPr>
              <a:t>&gt;,&lt;</a:t>
            </a:r>
            <a:r>
              <a:rPr lang="fr-FR" altLang="zh-CN" i="1" dirty="0">
                <a:solidFill>
                  <a:srgbClr val="FF0000"/>
                </a:solidFill>
              </a:rPr>
              <a:t>b</a:t>
            </a:r>
            <a:r>
              <a:rPr lang="fr-FR" altLang="zh-CN" dirty="0">
                <a:solidFill>
                  <a:srgbClr val="FF0000"/>
                </a:solidFill>
              </a:rPr>
              <a:t>,</a:t>
            </a:r>
            <a:r>
              <a:rPr lang="fr-FR" altLang="zh-CN" i="1" dirty="0">
                <a:solidFill>
                  <a:srgbClr val="FF0000"/>
                </a:solidFill>
              </a:rPr>
              <a:t>c</a:t>
            </a:r>
            <a:r>
              <a:rPr lang="fr-FR" altLang="zh-CN" dirty="0">
                <a:solidFill>
                  <a:srgbClr val="FF0000"/>
                </a:solidFill>
              </a:rPr>
              <a:t>&gt;,&lt;</a:t>
            </a:r>
            <a:r>
              <a:rPr lang="fr-FR" altLang="zh-CN" i="1" dirty="0">
                <a:solidFill>
                  <a:srgbClr val="FF0000"/>
                </a:solidFill>
              </a:rPr>
              <a:t>c</a:t>
            </a:r>
            <a:r>
              <a:rPr lang="fr-FR" altLang="zh-CN" dirty="0">
                <a:solidFill>
                  <a:srgbClr val="FF0000"/>
                </a:solidFill>
              </a:rPr>
              <a:t>,</a:t>
            </a:r>
            <a:r>
              <a:rPr lang="fr-FR" altLang="zh-CN" i="1" dirty="0">
                <a:solidFill>
                  <a:srgbClr val="FF0000"/>
                </a:solidFill>
              </a:rPr>
              <a:t>a</a:t>
            </a:r>
            <a:r>
              <a:rPr lang="fr-FR" altLang="zh-CN" dirty="0">
                <a:solidFill>
                  <a:srgbClr val="FF0000"/>
                </a:solidFill>
              </a:rPr>
              <a:t>&gt;, &lt;</a:t>
            </a:r>
            <a:r>
              <a:rPr lang="fr-FR" altLang="zh-CN" i="1" dirty="0">
                <a:solidFill>
                  <a:srgbClr val="FF0000"/>
                </a:solidFill>
              </a:rPr>
              <a:t>e</a:t>
            </a:r>
            <a:r>
              <a:rPr lang="fr-FR" altLang="zh-CN" dirty="0">
                <a:solidFill>
                  <a:srgbClr val="FF0000"/>
                </a:solidFill>
              </a:rPr>
              <a:t>,</a:t>
            </a:r>
            <a:r>
              <a:rPr lang="fr-FR" altLang="zh-CN" i="1" dirty="0">
                <a:solidFill>
                  <a:srgbClr val="FF0000"/>
                </a:solidFill>
              </a:rPr>
              <a:t>f</a:t>
            </a:r>
            <a:r>
              <a:rPr lang="fr-FR" altLang="zh-CN" dirty="0">
                <a:solidFill>
                  <a:srgbClr val="FF0000"/>
                </a:solidFill>
              </a:rPr>
              <a:t>&gt;,&lt;</a:t>
            </a:r>
            <a:r>
              <a:rPr lang="fr-FR" altLang="zh-CN" i="1" dirty="0">
                <a:solidFill>
                  <a:srgbClr val="FF0000"/>
                </a:solidFill>
              </a:rPr>
              <a:t>f</a:t>
            </a:r>
            <a:r>
              <a:rPr lang="fr-FR" altLang="zh-CN" dirty="0">
                <a:solidFill>
                  <a:srgbClr val="FF0000"/>
                </a:solidFill>
              </a:rPr>
              <a:t>,</a:t>
            </a:r>
            <a:r>
              <a:rPr lang="fr-FR" altLang="zh-CN" i="1" dirty="0">
                <a:solidFill>
                  <a:srgbClr val="FF0000"/>
                </a:solidFill>
              </a:rPr>
              <a:t>e</a:t>
            </a:r>
            <a:r>
              <a:rPr lang="fr-FR" altLang="zh-CN" dirty="0">
                <a:solidFill>
                  <a:srgbClr val="FF0000"/>
                </a:solidFill>
              </a:rPr>
              <a:t>&gt; }</a:t>
            </a:r>
          </a:p>
          <a:p>
            <a:r>
              <a:rPr lang="fr-FR" altLang="zh-CN" dirty="0"/>
              <a:t>……</a:t>
            </a:r>
          </a:p>
          <a:p>
            <a:endParaRPr lang="fr-FR" altLang="zh-CN" dirty="0"/>
          </a:p>
          <a:p>
            <a:endParaRPr lang="fr-FR" altLang="zh-CN" dirty="0">
              <a:solidFill>
                <a:srgbClr val="000000"/>
              </a:solidFill>
            </a:endParaRPr>
          </a:p>
          <a:p>
            <a:endParaRPr lang="zh-CN" altLang="en-US" dirty="0"/>
          </a:p>
        </p:txBody>
      </p:sp>
      <p:sp>
        <p:nvSpPr>
          <p:cNvPr id="409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ABD6C9-DE68-4A3D-9374-665FBA489F0F}" type="slidenum">
              <a:rPr lang="en-US" altLang="zh-CN" sz="1400" b="0" smtClean="0">
                <a:latin typeface="Arial" panose="020B0604020202020204" pitchFamily="34" charset="0"/>
              </a:rPr>
              <a:t>46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410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进阶例题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866864" y="1901735"/>
            <a:ext cx="1800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s=1,t=7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0112" y="44624"/>
            <a:ext cx="1135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  <a:sym typeface="Webdings" panose="05030102010509060703" pitchFamily="18" charset="2"/>
              </a:rPr>
              <a:t>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23528" y="1282240"/>
                <a:ext cx="8272149" cy="1130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设</a:t>
                </a:r>
                <a:r>
                  <a:rPr lang="fr-FR" altLang="zh-CN" sz="2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lang="fr-FR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= {</a:t>
                </a:r>
                <a:r>
                  <a:rPr lang="fr-FR" altLang="zh-CN" sz="2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lang="fr-FR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:r>
                  <a:rPr lang="fr-FR" altLang="zh-CN" sz="2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lang="fr-FR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:r>
                  <a:rPr lang="fr-FR" altLang="zh-CN" sz="2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lang="fr-FR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:r>
                  <a:rPr lang="fr-FR" altLang="zh-CN" sz="2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lang="fr-FR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:r>
                  <a:rPr lang="fr-FR" altLang="zh-CN" sz="2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fr-FR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:r>
                  <a:rPr lang="fr-FR" altLang="zh-CN" sz="2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f</a:t>
                </a:r>
                <a:r>
                  <a:rPr lang="fr-FR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}, </a:t>
                </a:r>
                <a:r>
                  <a:rPr lang="fr-FR" altLang="zh-CN" sz="2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fr-FR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= {&lt;</a:t>
                </a:r>
                <a:r>
                  <a:rPr lang="fr-FR" altLang="zh-CN" sz="2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lang="fr-FR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:r>
                  <a:rPr lang="fr-FR" altLang="zh-CN" sz="2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lang="fr-FR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&gt;,&lt;</a:t>
                </a:r>
                <a:r>
                  <a:rPr lang="fr-FR" altLang="zh-CN" sz="2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lang="fr-FR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:r>
                  <a:rPr lang="fr-FR" altLang="zh-CN" sz="2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lang="fr-FR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&gt;,&lt;</a:t>
                </a:r>
                <a:r>
                  <a:rPr lang="fr-FR" altLang="zh-CN" sz="2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lang="fr-FR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:r>
                  <a:rPr lang="fr-FR" altLang="zh-CN" sz="2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lang="fr-FR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&gt;,&lt;</a:t>
                </a:r>
                <a:r>
                  <a:rPr lang="fr-FR" altLang="zh-CN" sz="2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fr-FR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:r>
                  <a:rPr lang="fr-FR" altLang="zh-CN" sz="2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f</a:t>
                </a:r>
                <a:r>
                  <a:rPr lang="fr-FR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&gt;,&lt;</a:t>
                </a:r>
                <a:r>
                  <a:rPr lang="fr-FR" altLang="zh-CN" sz="2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f</a:t>
                </a:r>
                <a:r>
                  <a:rPr lang="fr-FR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:r>
                  <a:rPr lang="fr-FR" altLang="zh-CN" sz="2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fr-FR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&gt;}, 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则使得</a:t>
                </a:r>
                <a:r>
                  <a:rPr lang="en-US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sz="2400" b="1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𝒔</m:t>
                        </m:r>
                      </m:sup>
                    </m:sSup>
                    <m:r>
                      <a:rPr lang="fr-FR" altLang="zh-CN" sz="24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b="1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sz="2400" b="1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𝒕</m:t>
                        </m:r>
                      </m:sup>
                    </m:sSup>
                  </m:oMath>
                </a14:m>
                <a:r>
                  <a:rPr lang="zh-CN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成立的最小自然数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𝒔</m:t>
                    </m:r>
                  </m:oMath>
                </a14:m>
                <a:r>
                  <a:rPr lang="fr-FR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fr-FR" altLang="zh-CN" sz="24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  <m:r>
                      <a:rPr lang="fr-FR" altLang="zh-CN" sz="24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(</m:t>
                    </m:r>
                    <m:r>
                      <a:rPr lang="en-US" altLang="zh-CN" sz="24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𝒔</m:t>
                    </m:r>
                    <m:r>
                      <a:rPr lang="fr-FR" altLang="zh-CN" sz="24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24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  <m:r>
                      <a:rPr lang="fr-FR" altLang="zh-CN" sz="24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:r>
                  <a:rPr lang="en-US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: </a:t>
                </a:r>
                <a:r>
                  <a:rPr lang="en-US" altLang="zh-CN" sz="2400" b="1" u="sng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                )</a:t>
                </a:r>
                <a:r>
                  <a:rPr lang="en-US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u="sng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 </a:t>
                </a:r>
                <a:r>
                  <a:rPr lang="en-US" altLang="zh-CN" sz="2400" b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endParaRPr lang="zh-CN" altLang="en-US" b="1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282240"/>
                <a:ext cx="8272149" cy="1130246"/>
              </a:xfrm>
              <a:prstGeom prst="rect">
                <a:avLst/>
              </a:prstGeom>
              <a:blipFill rotWithShape="1">
                <a:blip r:embed="rId3"/>
                <a:stretch>
                  <a:fillRect l="-4" t="-15" r="4" b="-25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3441B52-F822-41C0-BC66-F0FA5C89CB06}" type="slidenum">
              <a:rPr lang="en-US" altLang="zh-CN" sz="1400" b="0" smtClean="0">
                <a:latin typeface="Arial" panose="020B0604020202020204" pitchFamily="34" charset="0"/>
              </a:rPr>
              <a:t>47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91513" cy="1368425"/>
          </a:xfrm>
        </p:spPr>
        <p:txBody>
          <a:bodyPr/>
          <a:lstStyle/>
          <a:p>
            <a:pPr marL="457200" indent="-457200" eaLnBrk="1" hangingPunct="1"/>
            <a:r>
              <a:rPr lang="zh-CN" altLang="en-US">
                <a:solidFill>
                  <a:srgbClr val="A50021"/>
                </a:solidFill>
              </a:rPr>
              <a:t>定理</a:t>
            </a:r>
            <a:r>
              <a:rPr lang="en-US" altLang="zh-CN">
                <a:solidFill>
                  <a:srgbClr val="A50021"/>
                </a:solidFill>
              </a:rPr>
              <a:t>7.7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</a:rPr>
              <a:t>设 </a:t>
            </a:r>
            <a:r>
              <a:rPr lang="en-US" altLang="zh-CN" i="1">
                <a:solidFill>
                  <a:srgbClr val="000000"/>
                </a:solidFill>
              </a:rPr>
              <a:t>R </a:t>
            </a:r>
            <a:r>
              <a:rPr lang="zh-CN" altLang="en-US">
                <a:solidFill>
                  <a:srgbClr val="000000"/>
                </a:solidFill>
              </a:rPr>
              <a:t>是 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上的关系</a:t>
            </a:r>
            <a:r>
              <a:rPr lang="en-US" altLang="zh-CN">
                <a:solidFill>
                  <a:srgbClr val="000000"/>
                </a:solidFill>
              </a:rPr>
              <a:t>,  </a:t>
            </a:r>
            <a:r>
              <a:rPr lang="en-US" altLang="zh-CN" i="1">
                <a:solidFill>
                  <a:srgbClr val="000000"/>
                </a:solidFill>
              </a:rPr>
              <a:t> m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∈N, </a:t>
            </a:r>
            <a:r>
              <a:rPr lang="zh-CN" altLang="en-US">
                <a:solidFill>
                  <a:srgbClr val="000000"/>
                </a:solidFill>
              </a:rPr>
              <a:t>则 </a:t>
            </a:r>
            <a:endParaRPr lang="zh-CN" altLang="en-US" i="1">
              <a:solidFill>
                <a:srgbClr val="000000"/>
              </a:solidFill>
            </a:endParaRPr>
          </a:p>
          <a:p>
            <a:pPr marL="457200" indent="-457200" eaLnBrk="1" hangingPunct="1"/>
            <a:r>
              <a:rPr lang="en-US" altLang="zh-CN">
                <a:solidFill>
                  <a:srgbClr val="000000"/>
                </a:solidFill>
              </a:rPr>
              <a:t>(1)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n </a:t>
            </a:r>
            <a:r>
              <a:rPr lang="en-US" altLang="zh-CN">
                <a:solidFill>
                  <a:srgbClr val="000000"/>
                </a:solidFill>
              </a:rPr>
              <a:t>=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 baseline="30000">
                <a:solidFill>
                  <a:srgbClr val="000000"/>
                </a:solidFill>
              </a:rPr>
              <a:t>+</a:t>
            </a:r>
            <a:r>
              <a:rPr lang="en-US" altLang="zh-CN" i="1" baseline="30000">
                <a:solidFill>
                  <a:srgbClr val="000000"/>
                </a:solidFill>
              </a:rPr>
              <a:t>n</a:t>
            </a:r>
            <a:endParaRPr lang="en-US" altLang="zh-CN">
              <a:solidFill>
                <a:srgbClr val="000000"/>
              </a:solidFill>
            </a:endParaRPr>
          </a:p>
          <a:p>
            <a:pPr marL="457200" indent="-457200" eaLnBrk="1" hangingPunct="1"/>
            <a:r>
              <a:rPr lang="en-US" altLang="zh-CN">
                <a:solidFill>
                  <a:srgbClr val="000000"/>
                </a:solidFill>
              </a:rPr>
              <a:t>(2) (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en-US" altLang="zh-CN" i="1" baseline="30000">
                <a:solidFill>
                  <a:srgbClr val="000000"/>
                </a:solidFill>
              </a:rPr>
              <a:t>n </a:t>
            </a:r>
            <a:r>
              <a:rPr lang="en-US" altLang="zh-CN">
                <a:solidFill>
                  <a:srgbClr val="000000"/>
                </a:solidFill>
              </a:rPr>
              <a:t>=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mn</a:t>
            </a:r>
            <a:r>
              <a:rPr lang="en-US" altLang="zh-CN"/>
              <a:t> </a:t>
            </a:r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幂运算的性质</a:t>
            </a:r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457200" y="2852738"/>
            <a:ext cx="8229600" cy="345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证 用归纳法</a:t>
            </a:r>
          </a:p>
          <a:p>
            <a:pPr eaLnBrk="1" hangingPunct="1"/>
            <a:r>
              <a:rPr lang="en-US" altLang="zh-CN">
                <a:solidFill>
                  <a:srgbClr val="000000"/>
                </a:solidFill>
              </a:rPr>
              <a:t>(1)  </a:t>
            </a:r>
            <a:r>
              <a:rPr lang="zh-CN" altLang="en-US">
                <a:solidFill>
                  <a:srgbClr val="000000"/>
                </a:solidFill>
              </a:rPr>
              <a:t>对于任意给定的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>
                <a:solidFill>
                  <a:srgbClr val="000000"/>
                </a:solidFill>
              </a:rPr>
              <a:t>∈N, </a:t>
            </a:r>
            <a:r>
              <a:rPr lang="zh-CN" altLang="en-US">
                <a:solidFill>
                  <a:srgbClr val="000000"/>
                </a:solidFill>
              </a:rPr>
              <a:t>施归纳于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.</a:t>
            </a:r>
          </a:p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若</a:t>
            </a:r>
            <a:r>
              <a:rPr lang="en-US" altLang="zh-CN" i="1">
                <a:solidFill>
                  <a:srgbClr val="000000"/>
                </a:solidFill>
              </a:rPr>
              <a:t>n=</a:t>
            </a:r>
            <a:r>
              <a:rPr lang="en-US" altLang="zh-CN">
                <a:solidFill>
                  <a:srgbClr val="000000"/>
                </a:solidFill>
              </a:rPr>
              <a:t>0, </a:t>
            </a:r>
            <a:r>
              <a:rPr lang="zh-CN" altLang="en-US">
                <a:solidFill>
                  <a:srgbClr val="000000"/>
                </a:solidFill>
              </a:rPr>
              <a:t>则有 </a:t>
            </a:r>
          </a:p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                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0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I</a:t>
            </a:r>
            <a:r>
              <a:rPr lang="en-US" altLang="zh-CN" i="1" baseline="-30000">
                <a:solidFill>
                  <a:srgbClr val="000000"/>
                </a:solidFill>
              </a:rPr>
              <a:t>A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i="1" baseline="30000">
                <a:solidFill>
                  <a:srgbClr val="000000"/>
                </a:solidFill>
              </a:rPr>
              <a:t>m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 baseline="30000">
                <a:solidFill>
                  <a:srgbClr val="000000"/>
                </a:solidFill>
              </a:rPr>
              <a:t>+0</a:t>
            </a:r>
            <a:r>
              <a:rPr lang="en-US" altLang="zh-CN" i="1">
                <a:solidFill>
                  <a:srgbClr val="000000"/>
                </a:solidFill>
              </a:rPr>
              <a:t>  </a:t>
            </a:r>
          </a:p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假设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n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i="1" baseline="30000">
                <a:solidFill>
                  <a:srgbClr val="000000"/>
                </a:solidFill>
              </a:rPr>
              <a:t>m+n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则有</a:t>
            </a:r>
          </a:p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          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n+</a:t>
            </a:r>
            <a:r>
              <a:rPr lang="en-US" altLang="zh-CN" baseline="30000">
                <a:solidFill>
                  <a:srgbClr val="000000"/>
                </a:solidFill>
              </a:rPr>
              <a:t>1</a:t>
            </a:r>
            <a:r>
              <a:rPr lang="en-US" altLang="zh-CN" i="1" baseline="30000">
                <a:solidFill>
                  <a:srgbClr val="000000"/>
                </a:solidFill>
              </a:rPr>
              <a:t>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i="1" baseline="30000">
                <a:solidFill>
                  <a:srgbClr val="000000"/>
                </a:solidFill>
              </a:rPr>
              <a:t>m 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>
                <a:solidFill>
                  <a:srgbClr val="000000"/>
                </a:solidFill>
              </a:rPr>
              <a:t>(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n 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en-US" altLang="zh-CN" i="1">
                <a:solidFill>
                  <a:srgbClr val="000000"/>
                </a:solidFill>
              </a:rPr>
              <a:t> =</a:t>
            </a:r>
            <a:r>
              <a:rPr lang="en-US" altLang="zh-CN">
                <a:solidFill>
                  <a:srgbClr val="000000"/>
                </a:solidFill>
              </a:rPr>
              <a:t> (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 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 = R</a:t>
            </a:r>
            <a:r>
              <a:rPr lang="en-US" altLang="zh-CN" i="1" baseline="30000">
                <a:solidFill>
                  <a:srgbClr val="000000"/>
                </a:solidFill>
              </a:rPr>
              <a:t>m+n+</a:t>
            </a:r>
            <a:r>
              <a:rPr lang="en-US" altLang="zh-CN" baseline="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 , </a:t>
            </a:r>
          </a:p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所以对一切</a:t>
            </a:r>
            <a:r>
              <a:rPr lang="en-US" altLang="zh-CN" i="1">
                <a:solidFill>
                  <a:srgbClr val="000000"/>
                </a:solidFill>
              </a:rPr>
              <a:t>m,n</a:t>
            </a:r>
            <a:r>
              <a:rPr lang="en-US" altLang="zh-CN">
                <a:solidFill>
                  <a:srgbClr val="000000"/>
                </a:solidFill>
              </a:rPr>
              <a:t>∈N </a:t>
            </a:r>
            <a:r>
              <a:rPr lang="zh-CN" altLang="en-US">
                <a:solidFill>
                  <a:srgbClr val="000000"/>
                </a:solidFill>
              </a:rPr>
              <a:t>有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n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i="1" baseline="30000">
                <a:solidFill>
                  <a:srgbClr val="000000"/>
                </a:solidFill>
              </a:rPr>
              <a:t>m+n</a:t>
            </a:r>
            <a:r>
              <a:rPr lang="en-US" altLang="zh-CN">
                <a:solidFill>
                  <a:srgbClr val="000000"/>
                </a:solidFill>
              </a:rPr>
              <a:t>.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F0F58DD-13DF-446E-AFBF-A629AA7E0FC6}" type="slidenum">
              <a:rPr lang="en-US" altLang="zh-CN" sz="1400" b="0" smtClean="0">
                <a:latin typeface="Arial" panose="020B0604020202020204" pitchFamily="34" charset="0"/>
              </a:rPr>
              <a:t>48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196975"/>
            <a:ext cx="8229600" cy="4525963"/>
          </a:xfrm>
        </p:spPr>
        <p:txBody>
          <a:bodyPr/>
          <a:lstStyle/>
          <a:p>
            <a:pPr marL="895350" indent="-895350" eaLnBrk="1" hangingPunct="1"/>
            <a:r>
              <a:rPr lang="en-US" altLang="zh-CN">
                <a:solidFill>
                  <a:srgbClr val="000000"/>
                </a:solidFill>
              </a:rPr>
              <a:t>(2) ) (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en-US" altLang="zh-CN" i="1" baseline="30000">
                <a:solidFill>
                  <a:srgbClr val="000000"/>
                </a:solidFill>
              </a:rPr>
              <a:t>n </a:t>
            </a:r>
            <a:r>
              <a:rPr lang="en-US" altLang="zh-CN">
                <a:solidFill>
                  <a:srgbClr val="000000"/>
                </a:solidFill>
              </a:rPr>
              <a:t>=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mn</a:t>
            </a:r>
            <a:r>
              <a:rPr lang="en-US" altLang="zh-CN"/>
              <a:t> </a:t>
            </a:r>
            <a:endParaRPr lang="en-US" altLang="zh-CN">
              <a:solidFill>
                <a:srgbClr val="000000"/>
              </a:solidFill>
            </a:endParaRPr>
          </a:p>
          <a:p>
            <a:pPr marL="895350" indent="-895350" eaLnBrk="1" hangingPunct="1"/>
            <a:endParaRPr lang="en-US" altLang="zh-CN">
              <a:solidFill>
                <a:srgbClr val="000000"/>
              </a:solidFill>
            </a:endParaRPr>
          </a:p>
          <a:p>
            <a:pPr marL="895350" indent="-895350" eaLnBrk="1" hangingPunct="1"/>
            <a:r>
              <a:rPr lang="zh-CN" altLang="en-US">
                <a:solidFill>
                  <a:srgbClr val="000000"/>
                </a:solidFill>
              </a:rPr>
              <a:t>证明：对于任意给定的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>
                <a:solidFill>
                  <a:srgbClr val="000000"/>
                </a:solidFill>
              </a:rPr>
              <a:t>∈N, </a:t>
            </a:r>
            <a:r>
              <a:rPr lang="zh-CN" altLang="en-US">
                <a:solidFill>
                  <a:srgbClr val="000000"/>
                </a:solidFill>
              </a:rPr>
              <a:t>施归纳于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.</a:t>
            </a:r>
          </a:p>
          <a:p>
            <a:pPr marL="895350" indent="-895350" eaLnBrk="1" hangingPunct="1"/>
            <a:r>
              <a:rPr lang="zh-CN" altLang="en-US">
                <a:solidFill>
                  <a:srgbClr val="000000"/>
                </a:solidFill>
              </a:rPr>
              <a:t>若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=0, </a:t>
            </a:r>
            <a:r>
              <a:rPr lang="zh-CN" altLang="en-US">
                <a:solidFill>
                  <a:srgbClr val="000000"/>
                </a:solidFill>
              </a:rPr>
              <a:t>则有 </a:t>
            </a:r>
          </a:p>
          <a:p>
            <a:pPr marL="895350" indent="-895350" eaLnBrk="1" hangingPunct="1"/>
            <a:r>
              <a:rPr lang="zh-CN" altLang="en-US">
                <a:solidFill>
                  <a:srgbClr val="000000"/>
                </a:solidFill>
              </a:rPr>
              <a:t>                        </a:t>
            </a:r>
            <a:r>
              <a:rPr lang="en-US" altLang="zh-CN">
                <a:solidFill>
                  <a:srgbClr val="000000"/>
                </a:solidFill>
              </a:rPr>
              <a:t>(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en-US" altLang="zh-CN" baseline="30000">
                <a:solidFill>
                  <a:srgbClr val="000000"/>
                </a:solidFill>
              </a:rPr>
              <a:t>0 </a:t>
            </a:r>
            <a:r>
              <a:rPr lang="en-US" altLang="zh-CN" i="1">
                <a:solidFill>
                  <a:srgbClr val="000000"/>
                </a:solidFill>
              </a:rPr>
              <a:t>= I</a:t>
            </a:r>
            <a:r>
              <a:rPr lang="en-US" altLang="zh-CN" i="1" baseline="-30000">
                <a:solidFill>
                  <a:srgbClr val="000000"/>
                </a:solidFill>
              </a:rPr>
              <a:t>A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baseline="30000">
                <a:solidFill>
                  <a:srgbClr val="000000"/>
                </a:solidFill>
              </a:rPr>
              <a:t>0</a:t>
            </a:r>
            <a:r>
              <a:rPr lang="en-US" altLang="zh-CN" i="1" baseline="30000">
                <a:solidFill>
                  <a:srgbClr val="000000"/>
                </a:solidFill>
              </a:rPr>
              <a:t>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 baseline="30000">
                <a:solidFill>
                  <a:srgbClr val="000000"/>
                </a:solidFill>
              </a:rPr>
              <a:t>×0</a:t>
            </a:r>
            <a:r>
              <a:rPr lang="en-US" altLang="zh-CN">
                <a:solidFill>
                  <a:srgbClr val="000000"/>
                </a:solidFill>
              </a:rPr>
              <a:t> </a:t>
            </a:r>
          </a:p>
          <a:p>
            <a:pPr marL="895350" indent="-895350" eaLnBrk="1" hangingPunct="1"/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</a:rPr>
              <a:t>假设 </a:t>
            </a:r>
            <a:r>
              <a:rPr lang="en-US" altLang="zh-CN">
                <a:solidFill>
                  <a:srgbClr val="000000"/>
                </a:solidFill>
              </a:rPr>
              <a:t>(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en-US" altLang="zh-CN" i="1" baseline="30000">
                <a:solidFill>
                  <a:srgbClr val="000000"/>
                </a:solidFill>
              </a:rPr>
              <a:t>n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i="1" baseline="30000">
                <a:solidFill>
                  <a:srgbClr val="000000"/>
                </a:solidFill>
              </a:rPr>
              <a:t>mn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则有</a:t>
            </a:r>
          </a:p>
          <a:p>
            <a:pPr marL="895350" indent="-895350" eaLnBrk="1" hangingPunct="1"/>
            <a:r>
              <a:rPr lang="zh-CN" altLang="en-US">
                <a:solidFill>
                  <a:srgbClr val="000000"/>
                </a:solidFill>
              </a:rPr>
              <a:t>                    </a:t>
            </a:r>
            <a:r>
              <a:rPr lang="en-US" altLang="zh-CN">
                <a:solidFill>
                  <a:srgbClr val="000000"/>
                </a:solidFill>
              </a:rPr>
              <a:t>(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en-US" altLang="zh-CN" i="1" baseline="30000">
                <a:solidFill>
                  <a:srgbClr val="000000"/>
                </a:solidFill>
              </a:rPr>
              <a:t>n+</a:t>
            </a:r>
            <a:r>
              <a:rPr lang="en-US" altLang="zh-CN" baseline="30000">
                <a:solidFill>
                  <a:srgbClr val="000000"/>
                </a:solidFill>
              </a:rPr>
              <a:t>1</a:t>
            </a:r>
            <a:r>
              <a:rPr lang="en-US" altLang="zh-CN" i="1" baseline="30000">
                <a:solidFill>
                  <a:srgbClr val="000000"/>
                </a:solidFill>
              </a:rPr>
              <a:t> </a:t>
            </a:r>
            <a:r>
              <a:rPr lang="en-US" altLang="zh-CN" i="1">
                <a:solidFill>
                  <a:srgbClr val="000000"/>
                </a:solidFill>
              </a:rPr>
              <a:t>= </a:t>
            </a:r>
            <a:r>
              <a:rPr lang="en-US" altLang="zh-CN">
                <a:solidFill>
                  <a:srgbClr val="000000"/>
                </a:solidFill>
              </a:rPr>
              <a:t>(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en-US" altLang="zh-CN" i="1" baseline="30000">
                <a:solidFill>
                  <a:srgbClr val="000000"/>
                </a:solidFill>
              </a:rPr>
              <a:t>n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 </a:t>
            </a:r>
            <a:r>
              <a:rPr lang="en-US" altLang="zh-CN" i="1">
                <a:solidFill>
                  <a:srgbClr val="000000"/>
                </a:solidFill>
              </a:rPr>
              <a:t>= </a:t>
            </a:r>
            <a:r>
              <a:rPr lang="en-US" altLang="zh-CN">
                <a:solidFill>
                  <a:srgbClr val="000000"/>
                </a:solidFill>
              </a:rPr>
              <a:t>(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mn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n </a:t>
            </a:r>
          </a:p>
          <a:p>
            <a:pPr marL="895350" indent="-895350" eaLnBrk="1" hangingPunct="1"/>
            <a:r>
              <a:rPr lang="en-US" altLang="zh-CN" i="1">
                <a:solidFill>
                  <a:srgbClr val="000000"/>
                </a:solidFill>
              </a:rPr>
              <a:t>                                 = R</a:t>
            </a:r>
            <a:r>
              <a:rPr lang="en-US" altLang="zh-CN" i="1" baseline="30000">
                <a:solidFill>
                  <a:srgbClr val="000000"/>
                </a:solidFill>
              </a:rPr>
              <a:t>mn+m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 baseline="30000">
                <a:solidFill>
                  <a:srgbClr val="000000"/>
                </a:solidFill>
              </a:rPr>
              <a:t>(</a:t>
            </a:r>
            <a:r>
              <a:rPr lang="en-US" altLang="zh-CN" i="1" baseline="30000">
                <a:solidFill>
                  <a:srgbClr val="000000"/>
                </a:solidFill>
              </a:rPr>
              <a:t>n+</a:t>
            </a:r>
            <a:r>
              <a:rPr lang="en-US" altLang="zh-CN" baseline="30000">
                <a:solidFill>
                  <a:srgbClr val="000000"/>
                </a:solidFill>
              </a:rPr>
              <a:t>1)</a:t>
            </a:r>
          </a:p>
          <a:p>
            <a:pPr marL="895350" indent="-895350" eaLnBrk="1" hangingPunct="1">
              <a:spcBef>
                <a:spcPct val="60000"/>
              </a:spcBef>
            </a:pPr>
            <a:r>
              <a:rPr lang="zh-CN" altLang="en-US">
                <a:solidFill>
                  <a:srgbClr val="000000"/>
                </a:solidFill>
              </a:rPr>
              <a:t>所以对一切</a:t>
            </a:r>
            <a:r>
              <a:rPr lang="en-US" altLang="zh-CN" i="1">
                <a:solidFill>
                  <a:srgbClr val="000000"/>
                </a:solidFill>
              </a:rPr>
              <a:t>m,n</a:t>
            </a:r>
            <a:r>
              <a:rPr lang="en-US" altLang="zh-CN">
                <a:solidFill>
                  <a:srgbClr val="000000"/>
                </a:solidFill>
              </a:rPr>
              <a:t>∈N </a:t>
            </a:r>
            <a:r>
              <a:rPr lang="zh-CN" altLang="en-US">
                <a:solidFill>
                  <a:srgbClr val="000000"/>
                </a:solidFill>
              </a:rPr>
              <a:t>有 </a:t>
            </a:r>
            <a:r>
              <a:rPr lang="en-US" altLang="zh-CN">
                <a:solidFill>
                  <a:srgbClr val="000000"/>
                </a:solidFill>
              </a:rPr>
              <a:t>(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en-US" altLang="zh-CN" i="1" baseline="30000">
                <a:solidFill>
                  <a:srgbClr val="000000"/>
                </a:solidFill>
              </a:rPr>
              <a:t>n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i="1" baseline="30000">
                <a:solidFill>
                  <a:srgbClr val="000000"/>
                </a:solidFill>
              </a:rPr>
              <a:t>mn</a:t>
            </a:r>
            <a:r>
              <a:rPr lang="en-US" altLang="zh-CN">
                <a:solidFill>
                  <a:srgbClr val="000000"/>
                </a:solidFill>
              </a:rPr>
              <a:t>.</a:t>
            </a:r>
            <a:r>
              <a:rPr lang="en-US" altLang="zh-CN"/>
              <a:t> </a:t>
            </a:r>
          </a:p>
          <a:p>
            <a:pPr marL="895350" indent="-895350" eaLnBrk="1" hangingPunct="1"/>
            <a:endParaRPr lang="en-US" altLang="zh-CN"/>
          </a:p>
        </p:txBody>
      </p:sp>
    </p:spTree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92DD4A8-E2A9-4D66-A9C8-41AA2DDFBB8A}" type="slidenum">
              <a:rPr lang="en-US" altLang="zh-CN" sz="1400" b="0" smtClean="0">
                <a:latin typeface="Arial" panose="020B0604020202020204" pitchFamily="34" charset="0"/>
              </a:rPr>
              <a:t>49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2232025"/>
          </a:xfrm>
        </p:spPr>
        <p:txBody>
          <a:bodyPr/>
          <a:lstStyle/>
          <a:p>
            <a:pPr eaLnBrk="1" hangingPunct="1"/>
            <a:r>
              <a:rPr lang="zh-CN" altLang="zh-CN">
                <a:solidFill>
                  <a:srgbClr val="A50021"/>
                </a:solidFill>
              </a:rPr>
              <a:t>定理</a:t>
            </a:r>
            <a:r>
              <a:rPr lang="en-US" altLang="zh-CN">
                <a:solidFill>
                  <a:srgbClr val="A50021"/>
                </a:solidFill>
              </a:rPr>
              <a:t>7.8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</a:rPr>
              <a:t>设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</a:rPr>
              <a:t>是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上的关系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</a:p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若存在自然数 </a:t>
            </a:r>
            <a:r>
              <a:rPr lang="en-US" altLang="zh-CN" i="1">
                <a:solidFill>
                  <a:srgbClr val="000000"/>
                </a:solidFill>
              </a:rPr>
              <a:t>s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en-US" altLang="zh-CN" i="1">
                <a:solidFill>
                  <a:srgbClr val="000000"/>
                </a:solidFill>
              </a:rPr>
              <a:t>t </a:t>
            </a:r>
            <a:r>
              <a:rPr lang="en-US" altLang="zh-CN">
                <a:solidFill>
                  <a:srgbClr val="000000"/>
                </a:solidFill>
              </a:rPr>
              <a:t>(</a:t>
            </a:r>
            <a:r>
              <a:rPr lang="en-US" altLang="zh-CN" i="1">
                <a:solidFill>
                  <a:srgbClr val="000000"/>
                </a:solidFill>
              </a:rPr>
              <a:t>s</a:t>
            </a:r>
            <a:r>
              <a:rPr lang="en-US" altLang="zh-CN">
                <a:solidFill>
                  <a:srgbClr val="000000"/>
                </a:solidFill>
              </a:rPr>
              <a:t>&lt;</a:t>
            </a:r>
            <a:r>
              <a:rPr lang="en-US" altLang="zh-CN" i="1">
                <a:solidFill>
                  <a:srgbClr val="000000"/>
                </a:solidFill>
              </a:rPr>
              <a:t>t</a:t>
            </a:r>
            <a:r>
              <a:rPr lang="en-US" altLang="zh-CN">
                <a:solidFill>
                  <a:srgbClr val="000000"/>
                </a:solidFill>
              </a:rPr>
              <a:t>) </a:t>
            </a:r>
            <a:r>
              <a:rPr lang="zh-CN" altLang="en-US">
                <a:solidFill>
                  <a:srgbClr val="000000"/>
                </a:solidFill>
              </a:rPr>
              <a:t>使得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s</a:t>
            </a:r>
            <a:r>
              <a:rPr lang="en-US" altLang="zh-CN">
                <a:solidFill>
                  <a:srgbClr val="000000"/>
                </a:solidFill>
              </a:rPr>
              <a:t>=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t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则</a:t>
            </a:r>
          </a:p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 </a:t>
            </a:r>
            <a:r>
              <a:rPr lang="en-US" altLang="zh-CN">
                <a:solidFill>
                  <a:srgbClr val="000000"/>
                </a:solidFill>
              </a:rPr>
              <a:t>(1) </a:t>
            </a:r>
            <a:r>
              <a:rPr lang="zh-CN" altLang="en-US">
                <a:solidFill>
                  <a:srgbClr val="000000"/>
                </a:solidFill>
                <a:cs typeface="Times New Roman" panose="02020603050405020304" pitchFamily="18" charset="0"/>
              </a:rPr>
              <a:t>对任何 </a:t>
            </a:r>
            <a:r>
              <a:rPr lang="en-US" altLang="zh-CN" i="1">
                <a:solidFill>
                  <a:srgbClr val="000000"/>
                </a:solidFill>
              </a:rPr>
              <a:t>k</a:t>
            </a:r>
            <a:r>
              <a:rPr lang="en-US" altLang="zh-CN">
                <a:solidFill>
                  <a:srgbClr val="000000"/>
                </a:solidFill>
              </a:rPr>
              <a:t>∈N</a:t>
            </a:r>
            <a:r>
              <a:rPr lang="zh-CN" altLang="en-US">
                <a:solidFill>
                  <a:srgbClr val="000000"/>
                </a:solidFill>
                <a:cs typeface="Times New Roman" panose="02020603050405020304" pitchFamily="18" charset="0"/>
              </a:rPr>
              <a:t>有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s</a:t>
            </a:r>
            <a:r>
              <a:rPr lang="en-US" altLang="zh-CN" baseline="30000">
                <a:solidFill>
                  <a:srgbClr val="000000"/>
                </a:solidFill>
              </a:rPr>
              <a:t>+</a:t>
            </a:r>
            <a:r>
              <a:rPr lang="en-US" altLang="zh-CN" i="1" baseline="30000">
                <a:solidFill>
                  <a:srgbClr val="000000"/>
                </a:solidFill>
              </a:rPr>
              <a:t>k </a:t>
            </a:r>
            <a:r>
              <a:rPr lang="en-US" altLang="zh-CN">
                <a:solidFill>
                  <a:srgbClr val="000000"/>
                </a:solidFill>
              </a:rPr>
              <a:t>=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t</a:t>
            </a:r>
            <a:r>
              <a:rPr lang="en-US" altLang="zh-CN" baseline="30000">
                <a:solidFill>
                  <a:srgbClr val="000000"/>
                </a:solidFill>
              </a:rPr>
              <a:t>+</a:t>
            </a:r>
            <a:r>
              <a:rPr lang="en-US" altLang="zh-CN" i="1" baseline="30000">
                <a:solidFill>
                  <a:srgbClr val="000000"/>
                </a:solidFill>
              </a:rPr>
              <a:t>k</a:t>
            </a:r>
            <a:r>
              <a:rPr lang="en-US" altLang="zh-CN">
                <a:solidFill>
                  <a:srgbClr val="000000"/>
                </a:solidFill>
              </a:rPr>
              <a:t> </a:t>
            </a:r>
          </a:p>
          <a:p>
            <a:pPr eaLnBrk="1" hangingPunct="1"/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en-US" altLang="zh-CN">
                <a:solidFill>
                  <a:srgbClr val="0066FF"/>
                </a:solidFill>
              </a:rPr>
              <a:t>(2) </a:t>
            </a:r>
            <a:r>
              <a:rPr lang="zh-CN" altLang="en-US">
                <a:solidFill>
                  <a:srgbClr val="0066FF"/>
                </a:solidFill>
                <a:cs typeface="Times New Roman" panose="02020603050405020304" pitchFamily="18" charset="0"/>
              </a:rPr>
              <a:t>对任何 </a:t>
            </a:r>
            <a:r>
              <a:rPr lang="en-US" altLang="zh-CN" i="1">
                <a:solidFill>
                  <a:srgbClr val="0066FF"/>
                </a:solidFill>
              </a:rPr>
              <a:t>k</a:t>
            </a:r>
            <a:r>
              <a:rPr lang="en-US" altLang="zh-CN">
                <a:solidFill>
                  <a:srgbClr val="0066FF"/>
                </a:solidFill>
              </a:rPr>
              <a:t>, </a:t>
            </a:r>
            <a:r>
              <a:rPr lang="en-US" altLang="zh-CN" i="1">
                <a:solidFill>
                  <a:srgbClr val="0066FF"/>
                </a:solidFill>
              </a:rPr>
              <a:t>i</a:t>
            </a:r>
            <a:r>
              <a:rPr lang="en-US" altLang="zh-CN">
                <a:solidFill>
                  <a:srgbClr val="0066FF"/>
                </a:solidFill>
              </a:rPr>
              <a:t>∈N</a:t>
            </a:r>
            <a:r>
              <a:rPr lang="zh-CN" altLang="en-US">
                <a:solidFill>
                  <a:srgbClr val="0066FF"/>
                </a:solidFill>
                <a:cs typeface="Times New Roman" panose="02020603050405020304" pitchFamily="18" charset="0"/>
              </a:rPr>
              <a:t>有 </a:t>
            </a:r>
            <a:r>
              <a:rPr lang="en-US" altLang="zh-CN" i="1">
                <a:solidFill>
                  <a:srgbClr val="0066FF"/>
                </a:solidFill>
              </a:rPr>
              <a:t>R</a:t>
            </a:r>
            <a:r>
              <a:rPr lang="en-US" altLang="zh-CN" i="1" baseline="30000">
                <a:solidFill>
                  <a:srgbClr val="0066FF"/>
                </a:solidFill>
              </a:rPr>
              <a:t>s</a:t>
            </a:r>
            <a:r>
              <a:rPr lang="en-US" altLang="zh-CN" baseline="30000">
                <a:solidFill>
                  <a:srgbClr val="0066FF"/>
                </a:solidFill>
              </a:rPr>
              <a:t>+</a:t>
            </a:r>
            <a:r>
              <a:rPr lang="en-US" altLang="zh-CN" i="1" baseline="30000">
                <a:solidFill>
                  <a:srgbClr val="0066FF"/>
                </a:solidFill>
              </a:rPr>
              <a:t>kp</a:t>
            </a:r>
            <a:r>
              <a:rPr lang="en-US" altLang="zh-CN" baseline="30000">
                <a:solidFill>
                  <a:srgbClr val="0066FF"/>
                </a:solidFill>
              </a:rPr>
              <a:t>+</a:t>
            </a:r>
            <a:r>
              <a:rPr lang="en-US" altLang="zh-CN" i="1" baseline="30000">
                <a:solidFill>
                  <a:srgbClr val="0066FF"/>
                </a:solidFill>
              </a:rPr>
              <a:t>i </a:t>
            </a:r>
            <a:r>
              <a:rPr lang="en-US" altLang="zh-CN">
                <a:solidFill>
                  <a:srgbClr val="0066FF"/>
                </a:solidFill>
              </a:rPr>
              <a:t>= </a:t>
            </a:r>
            <a:r>
              <a:rPr lang="en-US" altLang="zh-CN" i="1">
                <a:solidFill>
                  <a:srgbClr val="0066FF"/>
                </a:solidFill>
              </a:rPr>
              <a:t>R</a:t>
            </a:r>
            <a:r>
              <a:rPr lang="en-US" altLang="zh-CN" i="1" baseline="30000">
                <a:solidFill>
                  <a:srgbClr val="0066FF"/>
                </a:solidFill>
              </a:rPr>
              <a:t>s</a:t>
            </a:r>
            <a:r>
              <a:rPr lang="en-US" altLang="zh-CN" baseline="30000">
                <a:solidFill>
                  <a:srgbClr val="0066FF"/>
                </a:solidFill>
              </a:rPr>
              <a:t>+</a:t>
            </a:r>
            <a:r>
              <a:rPr lang="en-US" altLang="zh-CN" i="1" baseline="30000">
                <a:solidFill>
                  <a:srgbClr val="0066FF"/>
                </a:solidFill>
              </a:rPr>
              <a:t>i</a:t>
            </a:r>
            <a:r>
              <a:rPr lang="en-US" altLang="zh-CN">
                <a:solidFill>
                  <a:srgbClr val="0066FF"/>
                </a:solidFill>
              </a:rPr>
              <a:t>, </a:t>
            </a:r>
            <a:r>
              <a:rPr lang="zh-CN" altLang="en-US">
                <a:solidFill>
                  <a:srgbClr val="0066FF"/>
                </a:solidFill>
                <a:cs typeface="Times New Roman" panose="02020603050405020304" pitchFamily="18" charset="0"/>
              </a:rPr>
              <a:t>其中 </a:t>
            </a:r>
            <a:r>
              <a:rPr lang="en-US" altLang="zh-CN" i="1">
                <a:solidFill>
                  <a:srgbClr val="0066FF"/>
                </a:solidFill>
              </a:rPr>
              <a:t>p </a:t>
            </a:r>
            <a:r>
              <a:rPr lang="en-US" altLang="zh-CN">
                <a:solidFill>
                  <a:srgbClr val="0066FF"/>
                </a:solidFill>
              </a:rPr>
              <a:t>= </a:t>
            </a:r>
            <a:r>
              <a:rPr lang="en-US" altLang="zh-CN" i="1">
                <a:solidFill>
                  <a:srgbClr val="0066FF"/>
                </a:solidFill>
              </a:rPr>
              <a:t>t</a:t>
            </a:r>
            <a:r>
              <a:rPr lang="en-US" altLang="zh-CN">
                <a:solidFill>
                  <a:srgbClr val="0066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>
                <a:solidFill>
                  <a:srgbClr val="0066FF"/>
                </a:solidFill>
              </a:rPr>
              <a:t>s</a:t>
            </a:r>
          </a:p>
          <a:p>
            <a:pPr eaLnBrk="1" hangingPunct="1"/>
            <a:r>
              <a:rPr lang="en-US" altLang="zh-CN">
                <a:solidFill>
                  <a:srgbClr val="000000"/>
                </a:solidFill>
              </a:rPr>
              <a:t> (3) </a:t>
            </a:r>
            <a:r>
              <a:rPr lang="zh-CN" altLang="en-US">
                <a:solidFill>
                  <a:srgbClr val="000000"/>
                </a:solidFill>
                <a:cs typeface="Times New Roman" panose="02020603050405020304" pitchFamily="18" charset="0"/>
              </a:rPr>
              <a:t>令</a:t>
            </a:r>
            <a:r>
              <a:rPr lang="en-US" altLang="zh-CN" i="1">
                <a:solidFill>
                  <a:srgbClr val="000000"/>
                </a:solidFill>
              </a:rPr>
              <a:t>S </a:t>
            </a:r>
            <a:r>
              <a:rPr lang="en-US" altLang="zh-CN">
                <a:solidFill>
                  <a:srgbClr val="000000"/>
                </a:solidFill>
              </a:rPr>
              <a:t>= {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0</a:t>
            </a:r>
            <a:r>
              <a:rPr lang="en-US" altLang="zh-CN">
                <a:solidFill>
                  <a:srgbClr val="000000"/>
                </a:solidFill>
              </a:rPr>
              <a:t>,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,…,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t</a:t>
            </a:r>
            <a:r>
              <a:rPr lang="en-US" altLang="zh-CN" baseline="3000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}, </a:t>
            </a:r>
            <a:r>
              <a:rPr lang="zh-CN" altLang="en-US">
                <a:solidFill>
                  <a:srgbClr val="000000"/>
                </a:solidFill>
                <a:cs typeface="Times New Roman" panose="02020603050405020304" pitchFamily="18" charset="0"/>
              </a:rPr>
              <a:t>则对于任意的 </a:t>
            </a:r>
            <a:r>
              <a:rPr lang="en-US" altLang="zh-CN" i="1">
                <a:solidFill>
                  <a:srgbClr val="000000"/>
                </a:solidFill>
              </a:rPr>
              <a:t>q</a:t>
            </a:r>
            <a:r>
              <a:rPr lang="en-US" altLang="zh-CN">
                <a:solidFill>
                  <a:srgbClr val="000000"/>
                </a:solidFill>
              </a:rPr>
              <a:t>∈N </a:t>
            </a:r>
            <a:r>
              <a:rPr lang="zh-CN" altLang="en-US">
                <a:solidFill>
                  <a:srgbClr val="000000"/>
                </a:solidFill>
                <a:cs typeface="Times New Roman" panose="02020603050405020304" pitchFamily="18" charset="0"/>
              </a:rPr>
              <a:t>有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q</a:t>
            </a:r>
            <a:r>
              <a:rPr lang="en-US" altLang="zh-CN">
                <a:solidFill>
                  <a:srgbClr val="000000"/>
                </a:solidFill>
              </a:rPr>
              <a:t>∈</a:t>
            </a:r>
            <a:r>
              <a:rPr lang="en-US" altLang="zh-CN"/>
              <a:t>S</a:t>
            </a:r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幂运算的性质</a:t>
            </a: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446088" y="3643313"/>
            <a:ext cx="8229600" cy="288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证 </a:t>
            </a:r>
            <a:r>
              <a:rPr lang="en-US" altLang="zh-CN">
                <a:solidFill>
                  <a:srgbClr val="000000"/>
                </a:solidFill>
              </a:rPr>
              <a:t>(1) 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s+k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i="1" baseline="30000">
                <a:solidFill>
                  <a:srgbClr val="000000"/>
                </a:solidFill>
              </a:rPr>
              <a:t>s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k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i="1" baseline="30000">
                <a:solidFill>
                  <a:srgbClr val="000000"/>
                </a:solidFill>
              </a:rPr>
              <a:t>t 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k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i="1" baseline="30000">
                <a:solidFill>
                  <a:srgbClr val="000000"/>
                </a:solidFill>
              </a:rPr>
              <a:t>t+k</a:t>
            </a:r>
            <a:endParaRPr lang="en-US" altLang="zh-CN" i="1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en-US" altLang="zh-CN">
                <a:solidFill>
                  <a:srgbClr val="0066FF"/>
                </a:solidFill>
              </a:rPr>
              <a:t>(2)  </a:t>
            </a:r>
            <a:r>
              <a:rPr lang="zh-CN" altLang="en-US">
                <a:solidFill>
                  <a:srgbClr val="0066FF"/>
                </a:solidFill>
              </a:rPr>
              <a:t>对</a:t>
            </a:r>
            <a:r>
              <a:rPr lang="en-US" altLang="zh-CN" i="1">
                <a:solidFill>
                  <a:srgbClr val="0066FF"/>
                </a:solidFill>
              </a:rPr>
              <a:t>k</a:t>
            </a:r>
            <a:r>
              <a:rPr lang="zh-CN" altLang="en-US">
                <a:solidFill>
                  <a:srgbClr val="0066FF"/>
                </a:solidFill>
              </a:rPr>
              <a:t>归纳</a:t>
            </a:r>
            <a:r>
              <a:rPr lang="en-US" altLang="zh-CN">
                <a:solidFill>
                  <a:srgbClr val="0066FF"/>
                </a:solidFill>
              </a:rPr>
              <a:t>.  </a:t>
            </a:r>
            <a:r>
              <a:rPr lang="zh-CN" altLang="en-US">
                <a:solidFill>
                  <a:srgbClr val="0066FF"/>
                </a:solidFill>
              </a:rPr>
              <a:t>若</a:t>
            </a:r>
            <a:r>
              <a:rPr lang="en-US" altLang="zh-CN" i="1">
                <a:solidFill>
                  <a:srgbClr val="0066FF"/>
                </a:solidFill>
              </a:rPr>
              <a:t>k</a:t>
            </a:r>
            <a:r>
              <a:rPr lang="en-US" altLang="zh-CN">
                <a:solidFill>
                  <a:srgbClr val="0066FF"/>
                </a:solidFill>
              </a:rPr>
              <a:t>=0, </a:t>
            </a:r>
            <a:r>
              <a:rPr lang="zh-CN" altLang="en-US">
                <a:solidFill>
                  <a:srgbClr val="0066FF"/>
                </a:solidFill>
              </a:rPr>
              <a:t>则有</a:t>
            </a:r>
            <a:r>
              <a:rPr lang="en-US" altLang="zh-CN" i="1">
                <a:solidFill>
                  <a:srgbClr val="0066FF"/>
                </a:solidFill>
              </a:rPr>
              <a:t>R</a:t>
            </a:r>
            <a:r>
              <a:rPr lang="en-US" altLang="zh-CN" i="1" baseline="30000">
                <a:solidFill>
                  <a:srgbClr val="0066FF"/>
                </a:solidFill>
              </a:rPr>
              <a:t>s+</a:t>
            </a:r>
            <a:r>
              <a:rPr lang="en-US" altLang="zh-CN" baseline="30000">
                <a:solidFill>
                  <a:srgbClr val="0066FF"/>
                </a:solidFill>
              </a:rPr>
              <a:t>0</a:t>
            </a:r>
            <a:r>
              <a:rPr lang="en-US" altLang="zh-CN" i="1" baseline="30000">
                <a:solidFill>
                  <a:srgbClr val="0066FF"/>
                </a:solidFill>
              </a:rPr>
              <a:t>p+i </a:t>
            </a:r>
            <a:r>
              <a:rPr lang="en-US" altLang="zh-CN" i="1">
                <a:solidFill>
                  <a:srgbClr val="0066FF"/>
                </a:solidFill>
              </a:rPr>
              <a:t>= R</a:t>
            </a:r>
            <a:r>
              <a:rPr lang="en-US" altLang="zh-CN" i="1" baseline="30000">
                <a:solidFill>
                  <a:srgbClr val="0066FF"/>
                </a:solidFill>
              </a:rPr>
              <a:t>s+i</a:t>
            </a:r>
            <a:endParaRPr lang="en-US" altLang="zh-CN" i="1">
              <a:solidFill>
                <a:srgbClr val="0066FF"/>
              </a:solidFill>
            </a:endParaRPr>
          </a:p>
          <a:p>
            <a:pPr eaLnBrk="1" hangingPunct="1"/>
            <a:r>
              <a:rPr lang="zh-CN" altLang="en-US">
                <a:solidFill>
                  <a:srgbClr val="0066FF"/>
                </a:solidFill>
              </a:rPr>
              <a:t>假设 </a:t>
            </a:r>
            <a:r>
              <a:rPr lang="en-US" altLang="zh-CN" i="1">
                <a:solidFill>
                  <a:srgbClr val="0066FF"/>
                </a:solidFill>
              </a:rPr>
              <a:t>R</a:t>
            </a:r>
            <a:r>
              <a:rPr lang="en-US" altLang="zh-CN" i="1" baseline="30000">
                <a:solidFill>
                  <a:srgbClr val="0066FF"/>
                </a:solidFill>
              </a:rPr>
              <a:t>s+kp+i </a:t>
            </a:r>
            <a:r>
              <a:rPr lang="en-US" altLang="zh-CN" i="1">
                <a:solidFill>
                  <a:srgbClr val="0066FF"/>
                </a:solidFill>
              </a:rPr>
              <a:t>= R</a:t>
            </a:r>
            <a:r>
              <a:rPr lang="en-US" altLang="zh-CN" i="1" baseline="30000">
                <a:solidFill>
                  <a:srgbClr val="0066FF"/>
                </a:solidFill>
              </a:rPr>
              <a:t>s+i</a:t>
            </a:r>
            <a:r>
              <a:rPr lang="en-US" altLang="zh-CN">
                <a:solidFill>
                  <a:srgbClr val="0066FF"/>
                </a:solidFill>
              </a:rPr>
              <a:t>, </a:t>
            </a:r>
            <a:r>
              <a:rPr lang="zh-CN" altLang="en-US">
                <a:solidFill>
                  <a:srgbClr val="0066FF"/>
                </a:solidFill>
              </a:rPr>
              <a:t>其中</a:t>
            </a:r>
            <a:r>
              <a:rPr lang="en-US" altLang="zh-CN" i="1">
                <a:solidFill>
                  <a:srgbClr val="0066FF"/>
                </a:solidFill>
              </a:rPr>
              <a:t>p = t</a:t>
            </a: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i="1">
                <a:solidFill>
                  <a:srgbClr val="0066FF"/>
                </a:solidFill>
              </a:rPr>
              <a:t>s</a:t>
            </a:r>
            <a:r>
              <a:rPr lang="en-US" altLang="zh-CN">
                <a:solidFill>
                  <a:srgbClr val="0066FF"/>
                </a:solidFill>
              </a:rPr>
              <a:t>, </a:t>
            </a:r>
            <a:r>
              <a:rPr lang="zh-CN" altLang="en-US">
                <a:solidFill>
                  <a:srgbClr val="0066FF"/>
                </a:solidFill>
              </a:rPr>
              <a:t>则</a:t>
            </a:r>
          </a:p>
          <a:p>
            <a:pPr eaLnBrk="1" hangingPunct="1"/>
            <a:r>
              <a:rPr lang="zh-CN" altLang="en-US">
                <a:solidFill>
                  <a:srgbClr val="0066FF"/>
                </a:solidFill>
              </a:rPr>
              <a:t>                 </a:t>
            </a:r>
            <a:r>
              <a:rPr lang="en-US" altLang="zh-CN" i="1">
                <a:solidFill>
                  <a:srgbClr val="0066FF"/>
                </a:solidFill>
              </a:rPr>
              <a:t>R</a:t>
            </a:r>
            <a:r>
              <a:rPr lang="en-US" altLang="zh-CN" i="1" baseline="30000">
                <a:solidFill>
                  <a:srgbClr val="0066FF"/>
                </a:solidFill>
              </a:rPr>
              <a:t>s+(k+1)p+i </a:t>
            </a:r>
            <a:r>
              <a:rPr lang="en-US" altLang="zh-CN" i="1">
                <a:solidFill>
                  <a:srgbClr val="0066FF"/>
                </a:solidFill>
              </a:rPr>
              <a:t>= R</a:t>
            </a:r>
            <a:r>
              <a:rPr lang="en-US" altLang="zh-CN" i="1" baseline="30000">
                <a:solidFill>
                  <a:srgbClr val="0066FF"/>
                </a:solidFill>
              </a:rPr>
              <a:t>s+kp+i+p </a:t>
            </a:r>
            <a:r>
              <a:rPr lang="en-US" altLang="zh-CN" i="1">
                <a:solidFill>
                  <a:srgbClr val="0066FF"/>
                </a:solidFill>
              </a:rPr>
              <a:t>= R</a:t>
            </a:r>
            <a:r>
              <a:rPr lang="en-US" altLang="zh-CN" i="1" baseline="30000">
                <a:solidFill>
                  <a:srgbClr val="0066FF"/>
                </a:solidFill>
              </a:rPr>
              <a:t>s+kp+i</a:t>
            </a:r>
            <a:r>
              <a:rPr lang="en-US" altLang="zh-CN" sz="3600" baseline="-16000">
                <a:solidFill>
                  <a:srgbClr val="0066FF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66FF"/>
                </a:solidFill>
              </a:rPr>
              <a:t>R</a:t>
            </a:r>
            <a:r>
              <a:rPr lang="en-US" altLang="zh-CN" i="1" baseline="30000">
                <a:solidFill>
                  <a:srgbClr val="0066FF"/>
                </a:solidFill>
              </a:rPr>
              <a:t>p</a:t>
            </a:r>
            <a:r>
              <a:rPr lang="en-US" altLang="zh-CN">
                <a:solidFill>
                  <a:srgbClr val="0066FF"/>
                </a:solidFill>
              </a:rPr>
              <a:t> </a:t>
            </a:r>
          </a:p>
          <a:p>
            <a:pPr eaLnBrk="1" hangingPunct="1"/>
            <a:r>
              <a:rPr lang="en-US" altLang="zh-CN">
                <a:solidFill>
                  <a:srgbClr val="0066FF"/>
                </a:solidFill>
              </a:rPr>
              <a:t>              </a:t>
            </a:r>
            <a:r>
              <a:rPr lang="en-US" altLang="zh-CN" i="1">
                <a:solidFill>
                  <a:srgbClr val="0066FF"/>
                </a:solidFill>
              </a:rPr>
              <a:t>= R</a:t>
            </a:r>
            <a:r>
              <a:rPr lang="en-US" altLang="zh-CN" i="1" baseline="30000">
                <a:solidFill>
                  <a:srgbClr val="0066FF"/>
                </a:solidFill>
              </a:rPr>
              <a:t>s+i</a:t>
            </a:r>
            <a:r>
              <a:rPr lang="en-US" altLang="zh-CN" sz="3600" baseline="-16000">
                <a:solidFill>
                  <a:srgbClr val="0066FF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66FF"/>
                </a:solidFill>
              </a:rPr>
              <a:t>R</a:t>
            </a:r>
            <a:r>
              <a:rPr lang="en-US" altLang="zh-CN" i="1" baseline="30000">
                <a:solidFill>
                  <a:srgbClr val="0066FF"/>
                </a:solidFill>
              </a:rPr>
              <a:t>p </a:t>
            </a:r>
            <a:r>
              <a:rPr lang="en-US" altLang="zh-CN" i="1">
                <a:solidFill>
                  <a:srgbClr val="0066FF"/>
                </a:solidFill>
              </a:rPr>
              <a:t>= R</a:t>
            </a:r>
            <a:r>
              <a:rPr lang="en-US" altLang="zh-CN" i="1" baseline="30000">
                <a:solidFill>
                  <a:srgbClr val="0066FF"/>
                </a:solidFill>
              </a:rPr>
              <a:t>s+p+i </a:t>
            </a:r>
            <a:r>
              <a:rPr lang="en-US" altLang="zh-CN" i="1">
                <a:solidFill>
                  <a:srgbClr val="0066FF"/>
                </a:solidFill>
              </a:rPr>
              <a:t>= R</a:t>
            </a:r>
            <a:r>
              <a:rPr lang="en-US" altLang="zh-CN" i="1" baseline="30000">
                <a:solidFill>
                  <a:srgbClr val="0066FF"/>
                </a:solidFill>
              </a:rPr>
              <a:t>s+t</a:t>
            </a:r>
            <a:r>
              <a:rPr lang="en-US" altLang="zh-CN" i="1" baseline="3000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i="1" baseline="30000">
                <a:solidFill>
                  <a:srgbClr val="0066FF"/>
                </a:solidFill>
              </a:rPr>
              <a:t>s+i</a:t>
            </a:r>
            <a:r>
              <a:rPr lang="en-US" altLang="zh-CN" i="1">
                <a:solidFill>
                  <a:srgbClr val="0066FF"/>
                </a:solidFill>
              </a:rPr>
              <a:t> = R</a:t>
            </a:r>
            <a:r>
              <a:rPr lang="en-US" altLang="zh-CN" i="1" baseline="30000">
                <a:solidFill>
                  <a:srgbClr val="0066FF"/>
                </a:solidFill>
              </a:rPr>
              <a:t>t+i </a:t>
            </a:r>
            <a:r>
              <a:rPr lang="en-US" altLang="zh-CN" i="1">
                <a:solidFill>
                  <a:srgbClr val="0066FF"/>
                </a:solidFill>
              </a:rPr>
              <a:t>= R</a:t>
            </a:r>
            <a:r>
              <a:rPr lang="en-US" altLang="zh-CN" i="1" baseline="30000">
                <a:solidFill>
                  <a:srgbClr val="0066FF"/>
                </a:solidFill>
              </a:rPr>
              <a:t>s+i</a:t>
            </a:r>
            <a:r>
              <a:rPr lang="en-US" altLang="zh-CN">
                <a:solidFill>
                  <a:srgbClr val="0066FF"/>
                </a:solidFill>
              </a:rPr>
              <a:t> </a:t>
            </a:r>
          </a:p>
          <a:p>
            <a:pPr eaLnBrk="1" hangingPunct="1"/>
            <a:r>
              <a:rPr lang="zh-CN" altLang="en-US">
                <a:solidFill>
                  <a:srgbClr val="0066FF"/>
                </a:solidFill>
              </a:rPr>
              <a:t>由归纳法命题得证</a:t>
            </a:r>
            <a:r>
              <a:rPr lang="en-US" altLang="zh-CN">
                <a:solidFill>
                  <a:srgbClr val="0066FF"/>
                </a:solidFill>
              </a:rPr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82E106-F2EA-4265-9FCC-5B32AB9487E6}" type="slidenum">
              <a:rPr lang="en-US" altLang="zh-CN" sz="1400" b="0" smtClean="0">
                <a:latin typeface="Arial" panose="020B0604020202020204" pitchFamily="34" charset="0"/>
              </a:rPr>
              <a:t>50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</a:rPr>
              <a:t>(3)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令</a:t>
            </a:r>
            <a:r>
              <a:rPr lang="en-US" altLang="zh-CN" i="1" dirty="0">
                <a:solidFill>
                  <a:srgbClr val="000000"/>
                </a:solidFill>
              </a:rPr>
              <a:t>S </a:t>
            </a:r>
            <a:r>
              <a:rPr lang="en-US" altLang="zh-CN" dirty="0">
                <a:solidFill>
                  <a:srgbClr val="000000"/>
                </a:solidFill>
              </a:rPr>
              <a:t>= {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30000" dirty="0">
                <a:solidFill>
                  <a:srgbClr val="000000"/>
                </a:solidFill>
              </a:rPr>
              <a:t>0</a:t>
            </a:r>
            <a:r>
              <a:rPr lang="en-US" altLang="zh-CN" dirty="0">
                <a:solidFill>
                  <a:srgbClr val="000000"/>
                </a:solidFill>
              </a:rPr>
              <a:t>,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3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,…,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</a:rPr>
              <a:t>t</a:t>
            </a:r>
            <a:r>
              <a:rPr lang="en-US" altLang="zh-CN" baseline="30000" dirty="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}, 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则对于任意的 </a:t>
            </a:r>
            <a:r>
              <a:rPr lang="en-US" altLang="zh-CN" i="1" dirty="0" err="1">
                <a:solidFill>
                  <a:srgbClr val="000000"/>
                </a:solidFill>
              </a:rPr>
              <a:t>q</a:t>
            </a:r>
            <a:r>
              <a:rPr lang="en-US" altLang="zh-CN" dirty="0" err="1">
                <a:solidFill>
                  <a:srgbClr val="000000"/>
                </a:solidFill>
              </a:rPr>
              <a:t>∈N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有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q</a:t>
            </a:r>
            <a:r>
              <a:rPr lang="en-US" altLang="zh-CN" dirty="0" err="1">
                <a:solidFill>
                  <a:srgbClr val="000000"/>
                </a:solidFill>
              </a:rPr>
              <a:t>∈</a:t>
            </a:r>
            <a:r>
              <a:rPr lang="en-US" altLang="zh-CN" dirty="0" err="1"/>
              <a:t>S</a:t>
            </a:r>
            <a:endParaRPr lang="en-US" altLang="zh-CN" dirty="0">
              <a:solidFill>
                <a:srgbClr val="000000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lang="en-US" altLang="zh-CN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zh-CN" altLang="en-US" dirty="0">
                <a:solidFill>
                  <a:srgbClr val="00B050"/>
                </a:solidFill>
              </a:rPr>
              <a:t>若存在自然数 </a:t>
            </a:r>
            <a:r>
              <a:rPr lang="en-US" altLang="zh-CN" i="1" dirty="0">
                <a:solidFill>
                  <a:srgbClr val="00B050"/>
                </a:solidFill>
              </a:rPr>
              <a:t>s</a:t>
            </a:r>
            <a:r>
              <a:rPr lang="en-US" altLang="zh-CN" dirty="0">
                <a:solidFill>
                  <a:srgbClr val="00B050"/>
                </a:solidFill>
              </a:rPr>
              <a:t>, </a:t>
            </a:r>
            <a:r>
              <a:rPr lang="en-US" altLang="zh-CN" i="1" dirty="0">
                <a:solidFill>
                  <a:srgbClr val="00B050"/>
                </a:solidFill>
              </a:rPr>
              <a:t>t </a:t>
            </a:r>
            <a:r>
              <a:rPr lang="en-US" altLang="zh-CN" dirty="0">
                <a:solidFill>
                  <a:srgbClr val="00B050"/>
                </a:solidFill>
              </a:rPr>
              <a:t>(</a:t>
            </a:r>
            <a:r>
              <a:rPr lang="en-US" altLang="zh-CN" i="1" dirty="0">
                <a:solidFill>
                  <a:srgbClr val="00B050"/>
                </a:solidFill>
              </a:rPr>
              <a:t>s</a:t>
            </a:r>
            <a:r>
              <a:rPr lang="en-US" altLang="zh-CN" dirty="0">
                <a:solidFill>
                  <a:srgbClr val="00B050"/>
                </a:solidFill>
              </a:rPr>
              <a:t>&lt;</a:t>
            </a:r>
            <a:r>
              <a:rPr lang="en-US" altLang="zh-CN" i="1" dirty="0">
                <a:solidFill>
                  <a:srgbClr val="00B050"/>
                </a:solidFill>
              </a:rPr>
              <a:t>t</a:t>
            </a:r>
            <a:r>
              <a:rPr lang="en-US" altLang="zh-CN" dirty="0">
                <a:solidFill>
                  <a:srgbClr val="00B050"/>
                </a:solidFill>
              </a:rPr>
              <a:t>) </a:t>
            </a:r>
            <a:r>
              <a:rPr lang="zh-CN" altLang="en-US" dirty="0">
                <a:solidFill>
                  <a:srgbClr val="00B050"/>
                </a:solidFill>
              </a:rPr>
              <a:t>使得 </a:t>
            </a:r>
            <a:r>
              <a:rPr lang="en-US" altLang="zh-CN" i="1" dirty="0">
                <a:solidFill>
                  <a:srgbClr val="00B050"/>
                </a:solidFill>
              </a:rPr>
              <a:t>R</a:t>
            </a:r>
            <a:r>
              <a:rPr lang="en-US" altLang="zh-CN" i="1" baseline="30000" dirty="0">
                <a:solidFill>
                  <a:srgbClr val="00B050"/>
                </a:solidFill>
              </a:rPr>
              <a:t>s</a:t>
            </a:r>
            <a:r>
              <a:rPr lang="en-US" altLang="zh-CN" dirty="0">
                <a:solidFill>
                  <a:srgbClr val="00B050"/>
                </a:solidFill>
              </a:rPr>
              <a:t>=</a:t>
            </a:r>
            <a:r>
              <a:rPr lang="en-US" altLang="zh-CN" i="1" dirty="0">
                <a:solidFill>
                  <a:srgbClr val="00B050"/>
                </a:solidFill>
              </a:rPr>
              <a:t>R</a:t>
            </a:r>
            <a:r>
              <a:rPr lang="en-US" altLang="zh-CN" i="1" baseline="30000" dirty="0">
                <a:solidFill>
                  <a:srgbClr val="00B050"/>
                </a:solidFill>
              </a:rPr>
              <a:t>t</a:t>
            </a:r>
            <a:r>
              <a:rPr lang="en-US" altLang="zh-CN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证明：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任取 </a:t>
            </a:r>
            <a:r>
              <a:rPr lang="en-US" altLang="zh-CN" i="1" dirty="0" err="1">
                <a:solidFill>
                  <a:srgbClr val="000000"/>
                </a:solidFill>
              </a:rPr>
              <a:t>q</a:t>
            </a:r>
            <a:r>
              <a:rPr lang="en-US" altLang="zh-CN" dirty="0" err="1">
                <a:solidFill>
                  <a:srgbClr val="000000"/>
                </a:solidFill>
              </a:rPr>
              <a:t>∈N</a:t>
            </a:r>
            <a:r>
              <a:rPr lang="en-US" altLang="zh-CN" i="1" dirty="0">
                <a:solidFill>
                  <a:srgbClr val="000000"/>
                </a:solidFill>
              </a:rPr>
              <a:t>,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若 </a:t>
            </a:r>
            <a:r>
              <a:rPr lang="en-US" altLang="zh-CN" i="1" dirty="0">
                <a:solidFill>
                  <a:srgbClr val="000000"/>
                </a:solidFill>
              </a:rPr>
              <a:t>q &lt; t,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显然有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q</a:t>
            </a:r>
            <a:r>
              <a:rPr lang="en-US" altLang="zh-CN" dirty="0" err="1">
                <a:solidFill>
                  <a:srgbClr val="000000"/>
                </a:solidFill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</a:rPr>
              <a:t>S</a:t>
            </a:r>
            <a:r>
              <a:rPr lang="en-US" altLang="zh-CN" i="1" dirty="0">
                <a:solidFill>
                  <a:srgbClr val="000000"/>
                </a:solidFill>
              </a:rPr>
              <a:t>,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若</a:t>
            </a:r>
            <a:r>
              <a:rPr lang="en-US" altLang="zh-CN" i="1" dirty="0">
                <a:solidFill>
                  <a:srgbClr val="000000"/>
                </a:solidFill>
              </a:rPr>
              <a:t>q </a:t>
            </a:r>
            <a:r>
              <a:rPr lang="en-US" altLang="zh-CN" dirty="0">
                <a:solidFill>
                  <a:srgbClr val="000000"/>
                </a:solidFill>
              </a:rPr>
              <a:t>≥</a:t>
            </a:r>
            <a:r>
              <a:rPr lang="en-US" altLang="zh-CN" i="1" dirty="0">
                <a:solidFill>
                  <a:srgbClr val="000000"/>
                </a:solidFill>
              </a:rPr>
              <a:t> t,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则存在自然数 </a:t>
            </a:r>
            <a:r>
              <a:rPr lang="en-US" altLang="zh-CN" i="1" dirty="0">
                <a:solidFill>
                  <a:srgbClr val="000000"/>
                </a:solidFill>
              </a:rPr>
              <a:t>k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和 </a:t>
            </a:r>
            <a:r>
              <a:rPr lang="en-US" altLang="zh-CN" i="1" dirty="0" err="1">
                <a:solidFill>
                  <a:srgbClr val="000000"/>
                </a:solidFill>
              </a:rPr>
              <a:t>i</a:t>
            </a:r>
            <a:r>
              <a:rPr lang="en-US" altLang="zh-CN" i="1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使得 </a:t>
            </a: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                    </a:t>
            </a:r>
            <a:r>
              <a:rPr lang="en-US" altLang="zh-CN" i="1" dirty="0">
                <a:solidFill>
                  <a:srgbClr val="000000"/>
                </a:solidFill>
              </a:rPr>
              <a:t>q = </a:t>
            </a:r>
            <a:r>
              <a:rPr lang="en-US" altLang="zh-CN" i="1" dirty="0" err="1">
                <a:solidFill>
                  <a:srgbClr val="000000"/>
                </a:solidFill>
              </a:rPr>
              <a:t>s+kp+i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其中</a:t>
            </a:r>
            <a:r>
              <a:rPr lang="en-US" altLang="zh-CN" dirty="0">
                <a:solidFill>
                  <a:srgbClr val="000000"/>
                </a:solidFill>
              </a:rPr>
              <a:t>0≤</a:t>
            </a:r>
            <a:r>
              <a:rPr lang="en-US" altLang="zh-CN" i="1" dirty="0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≤</a:t>
            </a:r>
            <a:r>
              <a:rPr lang="en-US" altLang="zh-CN" i="1" dirty="0">
                <a:solidFill>
                  <a:srgbClr val="000000"/>
                </a:solidFill>
              </a:rPr>
              <a:t>p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0000"/>
                </a:solidFill>
              </a:rPr>
              <a:t>1.</a:t>
            </a:r>
            <a:endParaRPr lang="en-US" altLang="zh-CN" dirty="0">
              <a:solidFill>
                <a:srgbClr val="000000"/>
              </a:solidFill>
              <a:latin typeface="华文中宋" panose="02010600040101010101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于是</a:t>
            </a:r>
            <a:r>
              <a:rPr lang="zh-CN" altLang="en-US" dirty="0">
                <a:solidFill>
                  <a:srgbClr val="000000"/>
                </a:solidFill>
              </a:rPr>
              <a:t>  </a:t>
            </a:r>
            <a:br>
              <a:rPr lang="zh-CN" altLang="en-US" dirty="0">
                <a:solidFill>
                  <a:srgbClr val="000000"/>
                </a:solidFill>
              </a:rPr>
            </a:br>
            <a:r>
              <a:rPr lang="zh-CN" altLang="en-US" dirty="0">
                <a:solidFill>
                  <a:srgbClr val="000000"/>
                </a:solidFill>
              </a:rPr>
              <a:t>                  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q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s+kp+i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s+i</a:t>
            </a:r>
            <a:r>
              <a:rPr lang="en-US" altLang="zh-CN" i="1" dirty="0">
                <a:solidFill>
                  <a:srgbClr val="000000"/>
                </a:solidFill>
              </a:rPr>
              <a:t>  </a:t>
            </a: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而 </a:t>
            </a: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                       </a:t>
            </a:r>
            <a:r>
              <a:rPr lang="en-US" altLang="zh-CN" i="1" dirty="0" err="1">
                <a:solidFill>
                  <a:srgbClr val="000000"/>
                </a:solidFill>
              </a:rPr>
              <a:t>s+i</a:t>
            </a:r>
            <a:r>
              <a:rPr lang="en-US" altLang="zh-CN" i="1" dirty="0">
                <a:solidFill>
                  <a:srgbClr val="000000"/>
                </a:solidFill>
              </a:rPr>
              <a:t> ≤ s+</a:t>
            </a:r>
            <a:r>
              <a:rPr lang="en-US" altLang="zh-CN" i="1" dirty="0">
                <a:solidFill>
                  <a:srgbClr val="FF0000"/>
                </a:solidFill>
              </a:rPr>
              <a:t>p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  <a:r>
              <a:rPr lang="en-US" altLang="zh-CN" i="1" dirty="0">
                <a:solidFill>
                  <a:srgbClr val="000000"/>
                </a:solidFill>
              </a:rPr>
              <a:t> = s+</a:t>
            </a:r>
            <a:r>
              <a:rPr lang="en-US" altLang="zh-CN" i="1" dirty="0">
                <a:solidFill>
                  <a:srgbClr val="FF0000"/>
                </a:solidFill>
              </a:rPr>
              <a:t>t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i="1" dirty="0">
                <a:solidFill>
                  <a:srgbClr val="FF0000"/>
                </a:solidFill>
              </a:rPr>
              <a:t>s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  <a:r>
              <a:rPr lang="en-US" altLang="zh-CN" i="1" dirty="0">
                <a:solidFill>
                  <a:srgbClr val="000000"/>
                </a:solidFill>
              </a:rPr>
              <a:t> = t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</a:rPr>
              <a:t>从而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证明了</a:t>
            </a:r>
            <a:r>
              <a:rPr lang="zh-CN" altLang="en-US" dirty="0">
                <a:solidFill>
                  <a:srgbClr val="000000"/>
                </a:solidFill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q</a:t>
            </a:r>
            <a:r>
              <a:rPr lang="en-US" altLang="zh-CN" dirty="0" err="1">
                <a:solidFill>
                  <a:srgbClr val="000000"/>
                </a:solidFill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</a:rPr>
              <a:t>S</a:t>
            </a:r>
            <a:r>
              <a:rPr lang="en-US" altLang="zh-CN" i="1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50BFD06-6809-401C-BA5C-B71380ED4A86}" type="slidenum">
              <a:rPr lang="en-US" altLang="zh-CN" sz="1400" b="0" smtClean="0">
                <a:latin typeface="Arial" panose="020B0604020202020204" pitchFamily="34" charset="0"/>
              </a:rPr>
              <a:t>51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4924425"/>
          </a:xfrm>
        </p:spPr>
        <p:txBody>
          <a:bodyPr/>
          <a:lstStyle/>
          <a:p>
            <a:pPr marL="361950" indent="-361950" eaLnBrk="1" hangingPunct="1">
              <a:buClr>
                <a:srgbClr val="FF9900"/>
              </a:buClr>
            </a:pPr>
            <a:r>
              <a:rPr lang="zh-CN" altLang="en-US"/>
              <a:t>主要内容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7.1</a:t>
            </a:r>
            <a:r>
              <a:rPr lang="zh-CN" altLang="en-US"/>
              <a:t>有序对与笛卡儿积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7.2</a:t>
            </a:r>
            <a:r>
              <a:rPr lang="zh-CN" altLang="en-US"/>
              <a:t>二元关系的定义与表示法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7.3</a:t>
            </a:r>
            <a:r>
              <a:rPr lang="zh-CN" altLang="en-US"/>
              <a:t>关系的运算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FF0000"/>
                </a:solidFill>
              </a:rPr>
              <a:t>7.4</a:t>
            </a:r>
            <a:r>
              <a:rPr lang="zh-CN" altLang="en-US">
                <a:solidFill>
                  <a:srgbClr val="FF0000"/>
                </a:solidFill>
              </a:rPr>
              <a:t>关系的性质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7.5</a:t>
            </a:r>
            <a:r>
              <a:rPr lang="zh-CN" altLang="en-US"/>
              <a:t>关系的闭包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7.6</a:t>
            </a:r>
            <a:r>
              <a:rPr lang="zh-CN" altLang="en-US"/>
              <a:t>等价关系与划分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7.7</a:t>
            </a:r>
            <a:r>
              <a:rPr lang="zh-CN" altLang="en-US"/>
              <a:t>偏序关系</a:t>
            </a:r>
          </a:p>
          <a:p>
            <a:pPr marL="361950" indent="-361950" eaLnBrk="1" hangingPunct="1"/>
            <a:endParaRPr lang="en-US" altLang="zh-CN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latin typeface="华文中宋" panose="02010600040101010101" pitchFamily="2" charset="-122"/>
              </a:rPr>
              <a:t>第七章 二元关系</a:t>
            </a:r>
          </a:p>
        </p:txBody>
      </p:sp>
    </p:spTree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372200" y="6121400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6D6F205-10C8-43F3-803A-081BCFF49F19}" type="slidenum">
              <a:rPr lang="zh-CN" altLang="en-US" sz="1400" b="0" smtClean="0"/>
              <a:t>52</a:t>
            </a:fld>
            <a:endParaRPr lang="en-US" altLang="zh-CN" sz="1400" b="0" dirty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7.4 </a:t>
            </a:r>
            <a:r>
              <a:rPr lang="zh-CN" altLang="en-US" dirty="0"/>
              <a:t>关系的性质 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dirty="0"/>
              <a:t>1.</a:t>
            </a:r>
            <a:r>
              <a:rPr lang="zh-CN" altLang="en-US" dirty="0"/>
              <a:t>自反性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r</a:t>
            </a:r>
            <a:r>
              <a:rPr lang="en-US" altLang="zh-CN" dirty="0"/>
              <a:t>eflexive)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2.</a:t>
            </a:r>
            <a:r>
              <a:rPr lang="zh-CN" altLang="en-US" dirty="0"/>
              <a:t>反自反性</a:t>
            </a:r>
            <a:r>
              <a:rPr lang="en-US" altLang="zh-CN" dirty="0"/>
              <a:t>(irreflexive)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3.</a:t>
            </a:r>
            <a:r>
              <a:rPr lang="zh-CN" altLang="en-US" dirty="0"/>
              <a:t>对称性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en-US" altLang="zh-CN" dirty="0"/>
              <a:t>ymmetric)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4.</a:t>
            </a:r>
            <a:r>
              <a:rPr lang="zh-CN" altLang="en-US" dirty="0"/>
              <a:t>反对称性</a:t>
            </a:r>
            <a:r>
              <a:rPr lang="en-US" altLang="zh-CN" dirty="0"/>
              <a:t>(antisymmetric)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5.</a:t>
            </a:r>
            <a:r>
              <a:rPr lang="zh-CN" altLang="en-US" dirty="0"/>
              <a:t>传递性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t</a:t>
            </a:r>
            <a:r>
              <a:rPr lang="en-US" altLang="zh-CN" dirty="0"/>
              <a:t>ransitive)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C0F831D-04A5-4E98-94A6-66D84E5C0A95}" type="slidenum">
              <a:rPr lang="en-US" altLang="zh-CN" sz="1400" b="0" smtClean="0">
                <a:latin typeface="Arial" panose="020B0604020202020204" pitchFamily="34" charset="0"/>
              </a:rPr>
              <a:t>53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华文中宋" panose="02010600040101010101" pitchFamily="2" charset="-122"/>
              </a:rPr>
              <a:t>自反性与反自反性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125538"/>
            <a:ext cx="8713788" cy="1439862"/>
          </a:xfrm>
        </p:spPr>
        <p:txBody>
          <a:bodyPr/>
          <a:lstStyle/>
          <a:p>
            <a:pPr marL="1260475" indent="-1260475" eaLnBrk="1" hangingPunct="1">
              <a:tabLst>
                <a:tab pos="1703070" algn="l"/>
              </a:tabLst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7.11 </a:t>
            </a:r>
            <a:r>
              <a:rPr lang="en-US" altLang="zh-CN" dirty="0"/>
              <a:t> </a:t>
            </a:r>
            <a:r>
              <a:rPr lang="zh-CN" altLang="en-US" dirty="0"/>
              <a:t>设 </a:t>
            </a:r>
            <a:r>
              <a:rPr lang="en-US" altLang="zh-CN" i="1" dirty="0"/>
              <a:t>R </a:t>
            </a:r>
            <a:r>
              <a:rPr lang="zh-CN" altLang="en-US" dirty="0"/>
              <a:t>为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</a:p>
          <a:p>
            <a:pPr marL="1260475" indent="-1260475" eaLnBrk="1" hangingPunct="1">
              <a:tabLst>
                <a:tab pos="1703070" algn="l"/>
              </a:tabLst>
            </a:pPr>
            <a:r>
              <a:rPr lang="en-US" altLang="zh-CN" dirty="0"/>
              <a:t>(1) </a:t>
            </a:r>
            <a:r>
              <a:rPr lang="zh-CN" altLang="en-US" dirty="0"/>
              <a:t>若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→&lt;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), </a:t>
            </a:r>
            <a:r>
              <a:rPr lang="zh-CN" altLang="en-US" dirty="0"/>
              <a:t>则称 </a:t>
            </a:r>
            <a:r>
              <a:rPr lang="en-US" altLang="zh-CN" i="1" dirty="0"/>
              <a:t>R </a:t>
            </a:r>
            <a:r>
              <a:rPr lang="zh-CN" altLang="en-US" dirty="0"/>
              <a:t>在 </a:t>
            </a:r>
            <a:r>
              <a:rPr lang="en-US" altLang="zh-CN" i="1" dirty="0"/>
              <a:t>A </a:t>
            </a:r>
            <a:r>
              <a:rPr lang="zh-CN" altLang="en-US" dirty="0"/>
              <a:t>上是</a:t>
            </a:r>
            <a:r>
              <a:rPr lang="zh-CN" altLang="en-US" dirty="0">
                <a:solidFill>
                  <a:srgbClr val="A50021"/>
                </a:solidFill>
              </a:rPr>
              <a:t>自反</a:t>
            </a:r>
            <a:r>
              <a:rPr lang="zh-CN" altLang="en-US" dirty="0"/>
              <a:t>的</a:t>
            </a:r>
            <a:r>
              <a:rPr lang="en-US" altLang="zh-CN" dirty="0"/>
              <a:t>.</a:t>
            </a:r>
          </a:p>
          <a:p>
            <a:pPr marL="1260475" indent="-1260475" eaLnBrk="1" hangingPunct="1">
              <a:tabLst>
                <a:tab pos="1703070" algn="l"/>
              </a:tabLst>
            </a:pPr>
            <a:endParaRPr lang="en-US" altLang="zh-CN" dirty="0"/>
          </a:p>
          <a:p>
            <a:pPr marL="1260475" indent="-1260475" eaLnBrk="1" hangingPunct="1">
              <a:tabLst>
                <a:tab pos="1703070" algn="l"/>
              </a:tabLst>
            </a:pPr>
            <a:endParaRPr lang="en-US" altLang="zh-CN" dirty="0"/>
          </a:p>
          <a:p>
            <a:pPr marL="1260475" indent="-1260475" eaLnBrk="1" hangingPunct="1">
              <a:tabLst>
                <a:tab pos="1703070" algn="l"/>
              </a:tabLst>
            </a:pPr>
            <a:endParaRPr lang="en-US" altLang="zh-CN" dirty="0"/>
          </a:p>
          <a:p>
            <a:pPr marL="1260475" indent="-1260475" eaLnBrk="1" hangingPunct="1">
              <a:tabLst>
                <a:tab pos="1703070" algn="l"/>
              </a:tabLst>
            </a:pPr>
            <a:endParaRPr lang="en-US" altLang="zh-CN" dirty="0"/>
          </a:p>
          <a:p>
            <a:pPr marL="1260475" indent="-1260475" eaLnBrk="1" hangingPunct="1">
              <a:tabLst>
                <a:tab pos="1703070" algn="l"/>
              </a:tabLst>
            </a:pPr>
            <a:endParaRPr lang="en-US" altLang="zh-CN" dirty="0"/>
          </a:p>
          <a:p>
            <a:pPr marL="1260475" indent="-1260475" eaLnBrk="1" hangingPunct="1">
              <a:tabLst>
                <a:tab pos="1703070" algn="l"/>
              </a:tabLst>
            </a:pPr>
            <a:r>
              <a:rPr lang="en-US" altLang="zh-CN" dirty="0"/>
              <a:t>(2) </a:t>
            </a:r>
            <a:r>
              <a:rPr lang="zh-CN" altLang="en-US" dirty="0"/>
              <a:t>若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→&lt;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</a:t>
            </a:r>
            <a:r>
              <a:rPr lang="en-US" altLang="zh-CN" i="1" dirty="0"/>
              <a:t>R</a:t>
            </a:r>
            <a:r>
              <a:rPr lang="en-US" altLang="zh-CN" dirty="0"/>
              <a:t>), </a:t>
            </a:r>
            <a:r>
              <a:rPr lang="zh-CN" altLang="en-US" dirty="0"/>
              <a:t>则称 </a:t>
            </a:r>
            <a:r>
              <a:rPr lang="en-US" altLang="zh-CN" i="1" dirty="0"/>
              <a:t>R </a:t>
            </a:r>
            <a:r>
              <a:rPr lang="zh-CN" altLang="en-US" dirty="0"/>
              <a:t>在 </a:t>
            </a:r>
            <a:r>
              <a:rPr lang="en-US" altLang="zh-CN" i="1" dirty="0"/>
              <a:t>A </a:t>
            </a:r>
            <a:r>
              <a:rPr lang="zh-CN" altLang="en-US" dirty="0"/>
              <a:t>上是</a:t>
            </a:r>
            <a:r>
              <a:rPr lang="zh-CN" altLang="en-US" dirty="0">
                <a:solidFill>
                  <a:srgbClr val="A50021"/>
                </a:solidFill>
              </a:rPr>
              <a:t>反自反</a:t>
            </a:r>
            <a:r>
              <a:rPr lang="zh-CN" altLang="en-US" dirty="0"/>
              <a:t>的</a:t>
            </a:r>
            <a:r>
              <a:rPr lang="en-US" altLang="zh-CN" dirty="0"/>
              <a:t>.         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862" y="2163999"/>
            <a:ext cx="2916908" cy="205009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076" y="4824519"/>
            <a:ext cx="2944694" cy="186541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0072" y="2437892"/>
            <a:ext cx="1680570" cy="179429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0072" y="4799675"/>
            <a:ext cx="1680570" cy="1868693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891A31C8-F32B-45FE-8351-F84A6202D641}" type="slidenum">
              <a:rPr lang="zh-CN" altLang="en-US" sz="1400" b="0" smtClean="0"/>
              <a:t>54</a:t>
            </a:fld>
            <a:endParaRPr lang="en-US" altLang="zh-CN" sz="1400" b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09700"/>
            <a:ext cx="7840663" cy="349250"/>
          </a:xfrm>
          <a:noFill/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: </a:t>
            </a:r>
            <a:r>
              <a:rPr lang="zh-CN" altLang="en-US"/>
              <a:t>已知</a:t>
            </a:r>
            <a:r>
              <a:rPr lang="en-US" altLang="zh-CN"/>
              <a:t>X={a,b,c}, </a:t>
            </a:r>
            <a:r>
              <a:rPr lang="zh-CN" altLang="en-US"/>
              <a:t>下面关系哪些是自反的</a:t>
            </a:r>
            <a:r>
              <a:rPr lang="en-US" altLang="zh-CN"/>
              <a:t>?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7450" y="2060575"/>
            <a:ext cx="7110413" cy="5105400"/>
          </a:xfrm>
        </p:spPr>
        <p:txBody>
          <a:bodyPr/>
          <a:lstStyle/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1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2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3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4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5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6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7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8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</p:txBody>
      </p:sp>
      <p:sp>
        <p:nvSpPr>
          <p:cNvPr id="646148" name="Rectangle 4"/>
          <p:cNvSpPr>
            <a:spLocks noChangeArrowheads="1"/>
          </p:cNvSpPr>
          <p:nvPr/>
        </p:nvSpPr>
        <p:spPr bwMode="auto">
          <a:xfrm>
            <a:off x="696913" y="2047875"/>
            <a:ext cx="43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</a:p>
        </p:txBody>
      </p:sp>
      <p:sp>
        <p:nvSpPr>
          <p:cNvPr id="646149" name="Rectangle 5"/>
          <p:cNvSpPr>
            <a:spLocks noChangeArrowheads="1"/>
          </p:cNvSpPr>
          <p:nvPr/>
        </p:nvSpPr>
        <p:spPr bwMode="auto">
          <a:xfrm>
            <a:off x="696913" y="4270375"/>
            <a:ext cx="43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</a:p>
        </p:txBody>
      </p:sp>
      <p:sp>
        <p:nvSpPr>
          <p:cNvPr id="646150" name="Rectangle 6"/>
          <p:cNvSpPr>
            <a:spLocks noChangeArrowheads="1"/>
          </p:cNvSpPr>
          <p:nvPr/>
        </p:nvSpPr>
        <p:spPr bwMode="auto">
          <a:xfrm>
            <a:off x="731838" y="2514600"/>
            <a:ext cx="403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646151" name="Rectangle 7"/>
          <p:cNvSpPr>
            <a:spLocks noChangeArrowheads="1"/>
          </p:cNvSpPr>
          <p:nvPr/>
        </p:nvSpPr>
        <p:spPr bwMode="auto">
          <a:xfrm>
            <a:off x="731838" y="3067050"/>
            <a:ext cx="403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646152" name="Rectangle 8"/>
          <p:cNvSpPr>
            <a:spLocks noChangeArrowheads="1"/>
          </p:cNvSpPr>
          <p:nvPr/>
        </p:nvSpPr>
        <p:spPr bwMode="auto">
          <a:xfrm>
            <a:off x="731838" y="3681413"/>
            <a:ext cx="403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646153" name="Rectangle 9"/>
          <p:cNvSpPr>
            <a:spLocks noChangeArrowheads="1"/>
          </p:cNvSpPr>
          <p:nvPr/>
        </p:nvSpPr>
        <p:spPr bwMode="auto">
          <a:xfrm>
            <a:off x="731838" y="4749800"/>
            <a:ext cx="642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646154" name="Rectangle 10"/>
          <p:cNvSpPr>
            <a:spLocks noChangeArrowheads="1"/>
          </p:cNvSpPr>
          <p:nvPr/>
        </p:nvSpPr>
        <p:spPr bwMode="auto">
          <a:xfrm>
            <a:off x="731838" y="5302250"/>
            <a:ext cx="642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646155" name="Rectangle 11"/>
          <p:cNvSpPr>
            <a:spLocks noChangeArrowheads="1"/>
          </p:cNvSpPr>
          <p:nvPr/>
        </p:nvSpPr>
        <p:spPr bwMode="auto">
          <a:xfrm>
            <a:off x="731838" y="5916613"/>
            <a:ext cx="642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50194" name="Line 12"/>
          <p:cNvSpPr>
            <a:spLocks noChangeShapeType="1"/>
          </p:cNvSpPr>
          <p:nvPr/>
        </p:nvSpPr>
        <p:spPr bwMode="auto">
          <a:xfrm flipV="1">
            <a:off x="2268538" y="2555875"/>
            <a:ext cx="87788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5" name="Line 13"/>
          <p:cNvSpPr>
            <a:spLocks noChangeShapeType="1"/>
          </p:cNvSpPr>
          <p:nvPr/>
        </p:nvSpPr>
        <p:spPr bwMode="auto">
          <a:xfrm flipV="1">
            <a:off x="4692650" y="2555875"/>
            <a:ext cx="8794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6" name="Line 14"/>
          <p:cNvSpPr>
            <a:spLocks noChangeShapeType="1"/>
          </p:cNvSpPr>
          <p:nvPr/>
        </p:nvSpPr>
        <p:spPr bwMode="auto">
          <a:xfrm flipV="1">
            <a:off x="5853113" y="2555875"/>
            <a:ext cx="8794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1" name="Line 15"/>
          <p:cNvSpPr>
            <a:spLocks noChangeShapeType="1"/>
          </p:cNvSpPr>
          <p:nvPr/>
        </p:nvSpPr>
        <p:spPr bwMode="auto">
          <a:xfrm>
            <a:off x="2368550" y="4749800"/>
            <a:ext cx="75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2" name="Line 16"/>
          <p:cNvSpPr>
            <a:spLocks noChangeShapeType="1"/>
          </p:cNvSpPr>
          <p:nvPr/>
        </p:nvSpPr>
        <p:spPr bwMode="auto">
          <a:xfrm>
            <a:off x="5978525" y="4727575"/>
            <a:ext cx="75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3" name="Line 17"/>
          <p:cNvSpPr>
            <a:spLocks noChangeShapeType="1"/>
          </p:cNvSpPr>
          <p:nvPr/>
        </p:nvSpPr>
        <p:spPr bwMode="auto">
          <a:xfrm>
            <a:off x="7092950" y="4730750"/>
            <a:ext cx="75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5" name="Rectangle 2"/>
          <p:cNvSpPr txBox="1"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tx2"/>
                </a:solidFill>
                <a:latin typeface="华文中宋" panose="02010600040101010101" pitchFamily="2" charset="-122"/>
              </a:rPr>
              <a:t>自反性与反自反性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4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4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4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4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46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46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4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4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46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46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46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46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46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46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148" grpId="0" autoUpdateAnimBg="0"/>
      <p:bldP spid="646149" grpId="0" autoUpdateAnimBg="0"/>
      <p:bldP spid="646150" grpId="0" autoUpdateAnimBg="0"/>
      <p:bldP spid="646151" grpId="0" autoUpdateAnimBg="0"/>
      <p:bldP spid="646152" grpId="0" autoUpdateAnimBg="0"/>
      <p:bldP spid="646153" grpId="0" autoUpdateAnimBg="0"/>
      <p:bldP spid="646154" grpId="0" autoUpdateAnimBg="0"/>
      <p:bldP spid="646155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DAFEB7F7-1C2E-488D-B3D1-8EEADA19812E}" type="slidenum">
              <a:rPr lang="zh-CN" altLang="en-US" sz="1400" b="0" smtClean="0"/>
              <a:t>55</a:t>
            </a:fld>
            <a:endParaRPr lang="en-US" altLang="zh-CN" sz="1400" b="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62063"/>
            <a:ext cx="8137525" cy="476250"/>
          </a:xfrm>
          <a:noFill/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: </a:t>
            </a:r>
            <a:r>
              <a:rPr lang="zh-CN" altLang="en-US"/>
              <a:t>已知</a:t>
            </a:r>
            <a:r>
              <a:rPr lang="en-US" altLang="zh-CN"/>
              <a:t>X={a,b,c}, </a:t>
            </a:r>
            <a:r>
              <a:rPr lang="zh-CN" altLang="en-US"/>
              <a:t>下面关系哪些是反自反的</a:t>
            </a:r>
            <a:r>
              <a:rPr lang="en-US" altLang="zh-CN"/>
              <a:t>?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1989138"/>
            <a:ext cx="7661275" cy="5105400"/>
          </a:xfrm>
        </p:spPr>
        <p:txBody>
          <a:bodyPr/>
          <a:lstStyle/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1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2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3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4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5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6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7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8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</p:txBody>
      </p:sp>
      <p:sp>
        <p:nvSpPr>
          <p:cNvPr id="648196" name="Rectangle 4"/>
          <p:cNvSpPr>
            <a:spLocks noChangeArrowheads="1"/>
          </p:cNvSpPr>
          <p:nvPr/>
        </p:nvSpPr>
        <p:spPr bwMode="auto">
          <a:xfrm>
            <a:off x="668338" y="4751388"/>
            <a:ext cx="43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</a:p>
        </p:txBody>
      </p:sp>
      <p:sp>
        <p:nvSpPr>
          <p:cNvPr id="648197" name="Rectangle 5"/>
          <p:cNvSpPr>
            <a:spLocks noChangeArrowheads="1"/>
          </p:cNvSpPr>
          <p:nvPr/>
        </p:nvSpPr>
        <p:spPr bwMode="auto">
          <a:xfrm>
            <a:off x="684213" y="5280025"/>
            <a:ext cx="43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</a:p>
        </p:txBody>
      </p:sp>
      <p:sp>
        <p:nvSpPr>
          <p:cNvPr id="648198" name="Rectangle 6"/>
          <p:cNvSpPr>
            <a:spLocks noChangeArrowheads="1"/>
          </p:cNvSpPr>
          <p:nvPr/>
        </p:nvSpPr>
        <p:spPr bwMode="auto">
          <a:xfrm>
            <a:off x="684213" y="5776913"/>
            <a:ext cx="43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</a:p>
        </p:txBody>
      </p:sp>
      <p:sp>
        <p:nvSpPr>
          <p:cNvPr id="648199" name="Rectangle 7"/>
          <p:cNvSpPr>
            <a:spLocks noChangeArrowheads="1"/>
          </p:cNvSpPr>
          <p:nvPr/>
        </p:nvSpPr>
        <p:spPr bwMode="auto">
          <a:xfrm>
            <a:off x="638175" y="2506663"/>
            <a:ext cx="403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648200" name="Rectangle 8"/>
          <p:cNvSpPr>
            <a:spLocks noChangeArrowheads="1"/>
          </p:cNvSpPr>
          <p:nvPr/>
        </p:nvSpPr>
        <p:spPr bwMode="auto">
          <a:xfrm>
            <a:off x="647700" y="3059113"/>
            <a:ext cx="403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648201" name="Rectangle 9"/>
          <p:cNvSpPr>
            <a:spLocks noChangeArrowheads="1"/>
          </p:cNvSpPr>
          <p:nvPr/>
        </p:nvSpPr>
        <p:spPr bwMode="auto">
          <a:xfrm>
            <a:off x="646113" y="3587750"/>
            <a:ext cx="403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648202" name="Rectangle 10"/>
          <p:cNvSpPr>
            <a:spLocks noChangeArrowheads="1"/>
          </p:cNvSpPr>
          <p:nvPr/>
        </p:nvSpPr>
        <p:spPr bwMode="auto">
          <a:xfrm>
            <a:off x="630238" y="1931988"/>
            <a:ext cx="403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648203" name="Rectangle 11"/>
          <p:cNvSpPr>
            <a:spLocks noChangeArrowheads="1"/>
          </p:cNvSpPr>
          <p:nvPr/>
        </p:nvSpPr>
        <p:spPr bwMode="auto">
          <a:xfrm>
            <a:off x="674688" y="4149725"/>
            <a:ext cx="403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10253" name="Rectangle 2"/>
          <p:cNvSpPr txBox="1"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tx2"/>
                </a:solidFill>
                <a:latin typeface="华文中宋" panose="02010600040101010101" pitchFamily="2" charset="-122"/>
              </a:rPr>
              <a:t>自反性与反自反性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8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8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8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48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8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48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4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4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4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4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4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4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196" grpId="0" autoUpdateAnimBg="0"/>
      <p:bldP spid="648197" grpId="0" autoUpdateAnimBg="0"/>
      <p:bldP spid="648198" grpId="0" autoUpdateAnimBg="0"/>
      <p:bldP spid="648199" grpId="0" autoUpdateAnimBg="0"/>
      <p:bldP spid="648200" grpId="0" autoUpdateAnimBg="0"/>
      <p:bldP spid="648201" grpId="0" autoUpdateAnimBg="0"/>
      <p:bldP spid="648202" grpId="0" autoUpdateAnimBg="0"/>
      <p:bldP spid="648203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4213" y="3429000"/>
            <a:ext cx="1079500" cy="1187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rgbClr val="FF0000"/>
                </a:solidFill>
              </a:rPr>
              <a:t>不一定</a:t>
            </a:r>
          </a:p>
        </p:txBody>
      </p:sp>
      <p:sp>
        <p:nvSpPr>
          <p:cNvPr id="1126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085A366-569A-4016-97AF-D236B1C31FBB}" type="slidenum">
              <a:rPr lang="en-US" altLang="zh-CN" sz="1400" b="0" smtClean="0">
                <a:latin typeface="Arial" panose="020B0604020202020204" pitchFamily="34" charset="0"/>
              </a:rPr>
              <a:t>56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华文中宋" panose="02010600040101010101" pitchFamily="2" charset="-122"/>
              </a:rPr>
              <a:t>自反性与反自反性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322263" y="1341438"/>
            <a:ext cx="8499475" cy="1395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326130" indent="-161798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37338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4142105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4549775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500697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546417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592137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637857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实例：</a:t>
            </a:r>
          </a:p>
          <a:p>
            <a:pPr eaLnBrk="1" hangingPunct="1"/>
            <a:r>
              <a:rPr lang="zh-CN" altLang="en-US" dirty="0"/>
              <a:t>自反：全域关系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A</a:t>
            </a:r>
            <a:r>
              <a:rPr lang="en-US" altLang="zh-CN" dirty="0"/>
              <a:t>, </a:t>
            </a:r>
            <a:r>
              <a:rPr lang="zh-CN" altLang="en-US" dirty="0"/>
              <a:t>恒等关系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en-US" altLang="zh-CN" dirty="0"/>
              <a:t>, </a:t>
            </a:r>
            <a:r>
              <a:rPr lang="zh-CN" altLang="en-US" dirty="0"/>
              <a:t>小于等于关系</a:t>
            </a:r>
            <a:r>
              <a:rPr lang="en-US" altLang="zh-CN" i="1" dirty="0"/>
              <a:t>L</a:t>
            </a:r>
            <a:r>
              <a:rPr lang="en-US" altLang="zh-CN" i="1" baseline="-25000" dirty="0"/>
              <a:t>A</a:t>
            </a:r>
            <a:r>
              <a:rPr lang="en-US" altLang="zh-CN" dirty="0"/>
              <a:t>, </a:t>
            </a:r>
            <a:r>
              <a:rPr lang="zh-CN" altLang="en-US" dirty="0"/>
              <a:t>整除关系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A</a:t>
            </a:r>
            <a:endParaRPr lang="en-US" altLang="zh-CN" baseline="-25000" dirty="0"/>
          </a:p>
          <a:p>
            <a:pPr eaLnBrk="1" hangingPunct="1"/>
            <a:r>
              <a:rPr lang="zh-CN" altLang="en-US" dirty="0"/>
              <a:t>反自反：实数集上的小于关系、幂集上的真包含关系</a:t>
            </a:r>
            <a:r>
              <a:rPr lang="en-US" altLang="zh-CN" dirty="0"/>
              <a:t>.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                </a:t>
            </a:r>
            <a:endParaRPr lang="en-US" altLang="zh-CN" dirty="0"/>
          </a:p>
          <a:p>
            <a:pPr eaLnBrk="1" hangingPunct="1"/>
            <a:r>
              <a:rPr lang="zh-CN" altLang="en-US" dirty="0"/>
              <a:t>                                 已知：</a:t>
            </a:r>
            <a:r>
              <a:rPr lang="en-US" altLang="zh-CN" i="1" dirty="0"/>
              <a:t>A</a:t>
            </a:r>
            <a:r>
              <a:rPr lang="en-US" altLang="zh-CN" dirty="0"/>
              <a:t>={1,2,3},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</a:t>
            </a:r>
          </a:p>
          <a:p>
            <a:pPr eaLnBrk="1" hangingPunct="1"/>
            <a:r>
              <a:rPr lang="en-US" altLang="zh-CN" i="1" dirty="0"/>
              <a:t>                                 </a:t>
            </a:r>
            <a:r>
              <a:rPr lang="zh-CN" altLang="en-US" dirty="0"/>
              <a:t>如：</a:t>
            </a:r>
            <a:r>
              <a:rPr lang="en-US" altLang="zh-CN" i="1" dirty="0"/>
              <a:t> R</a:t>
            </a:r>
            <a:r>
              <a:rPr lang="en-US" altLang="zh-CN" baseline="-25000" dirty="0"/>
              <a:t>1</a:t>
            </a:r>
            <a:r>
              <a:rPr lang="zh-CN" altLang="en-US" dirty="0"/>
              <a:t>＝</a:t>
            </a:r>
            <a:r>
              <a:rPr lang="en-US" altLang="zh-CN" dirty="0"/>
              <a:t>{&lt;1,1&gt;,&lt;2,2&gt;}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                                     </a:t>
            </a:r>
            <a:r>
              <a:rPr lang="zh-CN" altLang="en-US" dirty="0"/>
              <a:t>既不是自反的也不是反自反的</a:t>
            </a:r>
            <a:r>
              <a:rPr lang="en-US" altLang="zh-CN" dirty="0"/>
              <a:t>.</a:t>
            </a:r>
            <a:endParaRPr lang="en-US" altLang="zh-CN" sz="2000" dirty="0"/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135188" y="3100388"/>
            <a:ext cx="62976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dirty="0">
                <a:solidFill>
                  <a:srgbClr val="FF0000"/>
                </a:solidFill>
                <a:latin typeface="+mn-ea"/>
                <a:ea typeface="+mn-ea"/>
              </a:rPr>
              <a:t>一个关系不是自反的，就一定是反自反的吗？</a:t>
            </a: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539750" y="2736850"/>
            <a:ext cx="1423988" cy="118745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4800">
                <a:solidFill>
                  <a:srgbClr val="FF3300"/>
                </a:solidFill>
                <a:ea typeface="黑体" panose="02010609060101010101" pitchFamily="49" charset="-122"/>
              </a:rPr>
              <a:t>？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utoUpdateAnimBg="0"/>
      <p:bldP spid="9" grpId="0" animBg="1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814DED2-8977-4A88-BAFA-64D340208B7D}" type="slidenum">
              <a:rPr lang="en-US" altLang="zh-CN" sz="1400" b="0" smtClean="0">
                <a:latin typeface="Arial" panose="020B0604020202020204" pitchFamily="34" charset="0"/>
              </a:rPr>
              <a:t>57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对称性与反对称性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291512" cy="2305050"/>
          </a:xfrm>
        </p:spPr>
        <p:txBody>
          <a:bodyPr/>
          <a:lstStyle/>
          <a:p>
            <a:pPr marL="1071880" indent="-1071880"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7.12</a:t>
            </a:r>
            <a:r>
              <a:rPr lang="en-US" altLang="zh-CN" dirty="0"/>
              <a:t> </a:t>
            </a:r>
            <a:r>
              <a:rPr lang="zh-CN" altLang="en-US" dirty="0"/>
              <a:t>设 </a:t>
            </a:r>
            <a:r>
              <a:rPr lang="en-US" altLang="zh-CN" i="1" dirty="0"/>
              <a:t>R </a:t>
            </a:r>
            <a:r>
              <a:rPr lang="zh-CN" altLang="en-US" dirty="0"/>
              <a:t>为 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 </a:t>
            </a:r>
          </a:p>
          <a:p>
            <a:pPr marL="1071880" indent="-1071880" eaLnBrk="1" hangingPunct="1"/>
            <a:r>
              <a:rPr lang="en-US" altLang="zh-CN" dirty="0"/>
              <a:t>(1) </a:t>
            </a:r>
            <a:r>
              <a:rPr lang="zh-CN" altLang="en-US" dirty="0"/>
              <a:t>若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y</a:t>
            </a:r>
            <a:r>
              <a:rPr lang="en-US" altLang="zh-CN" dirty="0"/>
              <a:t>( 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∧&lt;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→&lt;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), </a:t>
            </a:r>
            <a:r>
              <a:rPr lang="zh-CN" altLang="en-US" dirty="0"/>
              <a:t>则称 </a:t>
            </a:r>
            <a:r>
              <a:rPr lang="en-US" altLang="zh-CN" i="1" dirty="0"/>
              <a:t>R </a:t>
            </a:r>
            <a:r>
              <a:rPr lang="zh-CN" altLang="en-US" dirty="0"/>
              <a:t>为 </a:t>
            </a:r>
            <a:r>
              <a:rPr lang="en-US" altLang="zh-CN" i="1" dirty="0"/>
              <a:t>A</a:t>
            </a:r>
            <a:r>
              <a:rPr lang="zh-CN" altLang="en-US" dirty="0"/>
              <a:t>上 的  </a:t>
            </a:r>
            <a:endParaRPr lang="en-US" altLang="zh-CN" dirty="0"/>
          </a:p>
          <a:p>
            <a:pPr marL="1071880" indent="-1071880" eaLnBrk="1" hangingPunct="1"/>
            <a:r>
              <a:rPr lang="zh-CN" altLang="en-US" dirty="0">
                <a:solidFill>
                  <a:srgbClr val="A50021"/>
                </a:solidFill>
              </a:rPr>
              <a:t>对称</a:t>
            </a:r>
            <a:r>
              <a:rPr lang="zh-CN" altLang="en-US" dirty="0"/>
              <a:t>关系</a:t>
            </a:r>
            <a:r>
              <a:rPr lang="en-US" altLang="zh-CN" dirty="0"/>
              <a:t>.</a:t>
            </a:r>
          </a:p>
          <a:p>
            <a:pPr marL="1071880" indent="-1071880" eaLnBrk="1" hangingPunct="1"/>
            <a:endParaRPr lang="en-US" altLang="zh-CN" dirty="0"/>
          </a:p>
          <a:p>
            <a:pPr marL="1071880" indent="-1071880" eaLnBrk="1" hangingPunct="1"/>
            <a:endParaRPr lang="en-US" altLang="zh-CN" dirty="0"/>
          </a:p>
          <a:p>
            <a:pPr marL="1071880" indent="-1071880" eaLnBrk="1" hangingPunct="1"/>
            <a:endParaRPr lang="en-US" altLang="zh-CN" dirty="0"/>
          </a:p>
          <a:p>
            <a:pPr marL="1071880" indent="-1071880" eaLnBrk="1" hangingPunct="1"/>
            <a:r>
              <a:rPr lang="en-US" altLang="zh-CN" dirty="0"/>
              <a:t>(2) </a:t>
            </a:r>
            <a:r>
              <a:rPr lang="zh-CN" altLang="en-US" dirty="0"/>
              <a:t>若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y</a:t>
            </a:r>
            <a:r>
              <a:rPr lang="en-US" altLang="zh-CN" dirty="0"/>
              <a:t>( 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∧&lt;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∧&lt;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 err="1"/>
              <a:t>R</a:t>
            </a:r>
            <a:r>
              <a:rPr lang="en-US" altLang="zh-CN" dirty="0" err="1"/>
              <a:t>→</a:t>
            </a:r>
            <a:r>
              <a:rPr lang="en-US" altLang="zh-CN" i="1" dirty="0" err="1"/>
              <a:t>x</a:t>
            </a:r>
            <a:r>
              <a:rPr lang="en-US" altLang="zh-CN" dirty="0"/>
              <a:t>=</a:t>
            </a:r>
            <a:r>
              <a:rPr lang="en-US" altLang="zh-CN" i="1" dirty="0"/>
              <a:t>y</a:t>
            </a:r>
            <a:r>
              <a:rPr lang="en-US" altLang="zh-CN" dirty="0"/>
              <a:t>), </a:t>
            </a:r>
            <a:r>
              <a:rPr lang="zh-CN" altLang="en-US" dirty="0"/>
              <a:t>则称 </a:t>
            </a:r>
            <a:r>
              <a:rPr lang="en-US" altLang="zh-CN" i="1" dirty="0"/>
              <a:t>R </a:t>
            </a:r>
            <a:r>
              <a:rPr lang="zh-CN" altLang="en-US" dirty="0"/>
              <a:t>为</a:t>
            </a:r>
          </a:p>
          <a:p>
            <a:pPr marL="1071880" indent="-1071880" eaLnBrk="1" hangingPunct="1"/>
            <a:r>
              <a:rPr lang="en-US" altLang="zh-CN" i="1" dirty="0"/>
              <a:t>A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A50021"/>
                </a:solidFill>
              </a:rPr>
              <a:t>反对称</a:t>
            </a:r>
            <a:r>
              <a:rPr lang="zh-CN" altLang="en-US" dirty="0"/>
              <a:t>关系</a:t>
            </a:r>
            <a:r>
              <a:rPr lang="en-US" altLang="zh-CN" dirty="0"/>
              <a:t>.</a:t>
            </a:r>
            <a:endParaRPr lang="en-US" altLang="zh-CN" sz="2200" dirty="0"/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373063" y="2608263"/>
            <a:ext cx="26098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000" b="0" i="1">
                <a:solidFill>
                  <a:srgbClr val="0066FF"/>
                </a:solidFill>
                <a:latin typeface="Arial" panose="020B0604020202020204" pitchFamily="34" charset="0"/>
              </a:rPr>
              <a:t>A</a:t>
            </a:r>
            <a:r>
              <a:rPr lang="zh-CN" altLang="en-US" sz="2000" b="0">
                <a:solidFill>
                  <a:srgbClr val="0066FF"/>
                </a:solidFill>
                <a:latin typeface="Arial" panose="020B0604020202020204" pitchFamily="34" charset="0"/>
              </a:rPr>
              <a:t>上的全域关系</a:t>
            </a:r>
            <a:r>
              <a:rPr lang="en-US" altLang="zh-CN" sz="2000" b="0" i="1">
                <a:solidFill>
                  <a:srgbClr val="0066FF"/>
                </a:solidFill>
                <a:latin typeface="Arial" panose="020B0604020202020204" pitchFamily="34" charset="0"/>
              </a:rPr>
              <a:t>E</a:t>
            </a:r>
            <a:r>
              <a:rPr lang="en-US" altLang="zh-CN" sz="2000" b="0" i="1" baseline="-25000">
                <a:solidFill>
                  <a:srgbClr val="0066FF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000" b="0">
                <a:solidFill>
                  <a:srgbClr val="0066FF"/>
                </a:solidFill>
                <a:latin typeface="Arial" panose="020B0604020202020204" pitchFamily="34" charset="0"/>
              </a:rPr>
              <a:t> </a:t>
            </a:r>
          </a:p>
          <a:p>
            <a:pPr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en-US" sz="2000" b="0">
                <a:solidFill>
                  <a:srgbClr val="0066FF"/>
                </a:solidFill>
                <a:latin typeface="Arial" panose="020B0604020202020204" pitchFamily="34" charset="0"/>
              </a:rPr>
              <a:t>恒等关系</a:t>
            </a:r>
            <a:r>
              <a:rPr lang="en-US" altLang="zh-CN" sz="2000" b="0" i="1">
                <a:solidFill>
                  <a:srgbClr val="0066FF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000" b="0" i="1" baseline="-25000">
                <a:solidFill>
                  <a:srgbClr val="0066FF"/>
                </a:solidFill>
                <a:latin typeface="Arial" panose="020B0604020202020204" pitchFamily="34" charset="0"/>
              </a:rPr>
              <a:t>A</a:t>
            </a:r>
          </a:p>
          <a:p>
            <a:pPr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en-US" sz="2000" b="0">
                <a:solidFill>
                  <a:srgbClr val="0066FF"/>
                </a:solidFill>
                <a:latin typeface="Arial" panose="020B0604020202020204" pitchFamily="34" charset="0"/>
              </a:rPr>
              <a:t>空关系</a:t>
            </a:r>
            <a:r>
              <a:rPr lang="zh-CN" altLang="en-US" sz="2000" b="0">
                <a:solidFill>
                  <a:srgbClr val="0066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</a:t>
            </a:r>
            <a:endParaRPr lang="zh-CN" altLang="en-US" sz="2000" b="0">
              <a:solidFill>
                <a:srgbClr val="0066FF"/>
              </a:solidFill>
              <a:latin typeface="Arial" panose="020B0604020202020204" pitchFamily="34" charset="0"/>
            </a:endParaRPr>
          </a:p>
        </p:txBody>
      </p:sp>
      <p:sp>
        <p:nvSpPr>
          <p:cNvPr id="37" name="文本框 36"/>
          <p:cNvSpPr txBox="1">
            <a:spLocks noChangeArrowheads="1"/>
          </p:cNvSpPr>
          <p:nvPr/>
        </p:nvSpPr>
        <p:spPr bwMode="auto">
          <a:xfrm>
            <a:off x="476250" y="4887913"/>
            <a:ext cx="26098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en-US" sz="2000" b="0">
                <a:solidFill>
                  <a:srgbClr val="0066FF"/>
                </a:solidFill>
                <a:latin typeface="Arial" panose="020B0604020202020204" pitchFamily="34" charset="0"/>
              </a:rPr>
              <a:t>恒等关系</a:t>
            </a:r>
            <a:r>
              <a:rPr lang="en-US" altLang="zh-CN" sz="2000" b="0" i="1">
                <a:solidFill>
                  <a:srgbClr val="0066FF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000" b="0" i="1" baseline="-25000">
                <a:solidFill>
                  <a:srgbClr val="0066FF"/>
                </a:solidFill>
                <a:latin typeface="Arial" panose="020B0604020202020204" pitchFamily="34" charset="0"/>
              </a:rPr>
              <a:t>A</a:t>
            </a:r>
          </a:p>
          <a:p>
            <a:pPr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en-US" sz="2000" b="0">
                <a:solidFill>
                  <a:srgbClr val="0066FF"/>
                </a:solidFill>
                <a:latin typeface="Arial" panose="020B0604020202020204" pitchFamily="34" charset="0"/>
              </a:rPr>
              <a:t>空关系</a:t>
            </a:r>
            <a:r>
              <a:rPr lang="zh-CN" altLang="en-US" sz="2000" b="0">
                <a:solidFill>
                  <a:srgbClr val="0066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</a:t>
            </a:r>
            <a:endParaRPr lang="zh-CN" altLang="en-US" sz="2000" b="0">
              <a:solidFill>
                <a:srgbClr val="0066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588" y="1946685"/>
            <a:ext cx="2522964" cy="178653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905" y="4427537"/>
            <a:ext cx="2539647" cy="1850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7082" y="2264753"/>
            <a:ext cx="1568670" cy="146331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8479" y="4584699"/>
            <a:ext cx="1568670" cy="1603529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DA957C98-61D6-4F44-B0FB-2894AD78AA6D}" type="slidenum">
              <a:rPr lang="zh-CN" altLang="en-US" sz="1400" b="0" smtClean="0"/>
              <a:t>58</a:t>
            </a:fld>
            <a:endParaRPr lang="en-US" altLang="zh-CN" sz="1400" b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427163"/>
            <a:ext cx="7993063" cy="325437"/>
          </a:xfrm>
          <a:noFill/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: </a:t>
            </a:r>
            <a:r>
              <a:rPr lang="zh-CN" altLang="en-US"/>
              <a:t>已知</a:t>
            </a:r>
            <a:r>
              <a:rPr lang="en-US" altLang="zh-CN"/>
              <a:t>X={a,b,c}, </a:t>
            </a:r>
            <a:r>
              <a:rPr lang="zh-CN" altLang="en-US"/>
              <a:t>下面关系哪些是对称的</a:t>
            </a:r>
            <a:r>
              <a:rPr lang="en-US" altLang="zh-CN"/>
              <a:t>?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8888" y="2068513"/>
            <a:ext cx="7777162" cy="5105400"/>
          </a:xfrm>
        </p:spPr>
        <p:txBody>
          <a:bodyPr/>
          <a:lstStyle/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1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2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3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4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5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6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7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8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</p:txBody>
      </p:sp>
      <p:sp>
        <p:nvSpPr>
          <p:cNvPr id="651268" name="Rectangle 4"/>
          <p:cNvSpPr>
            <a:spLocks noChangeArrowheads="1"/>
          </p:cNvSpPr>
          <p:nvPr/>
        </p:nvSpPr>
        <p:spPr bwMode="auto">
          <a:xfrm>
            <a:off x="803275" y="3702050"/>
            <a:ext cx="43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</a:p>
        </p:txBody>
      </p:sp>
      <p:sp>
        <p:nvSpPr>
          <p:cNvPr id="651269" name="Rectangle 5"/>
          <p:cNvSpPr>
            <a:spLocks noChangeArrowheads="1"/>
          </p:cNvSpPr>
          <p:nvPr/>
        </p:nvSpPr>
        <p:spPr bwMode="auto">
          <a:xfrm>
            <a:off x="803275" y="4311650"/>
            <a:ext cx="43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</a:p>
        </p:txBody>
      </p:sp>
      <p:sp>
        <p:nvSpPr>
          <p:cNvPr id="651270" name="Rectangle 6"/>
          <p:cNvSpPr>
            <a:spLocks noChangeArrowheads="1"/>
          </p:cNvSpPr>
          <p:nvPr/>
        </p:nvSpPr>
        <p:spPr bwMode="auto">
          <a:xfrm>
            <a:off x="754063" y="4773613"/>
            <a:ext cx="642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651271" name="Rectangle 7"/>
          <p:cNvSpPr>
            <a:spLocks noChangeArrowheads="1"/>
          </p:cNvSpPr>
          <p:nvPr/>
        </p:nvSpPr>
        <p:spPr bwMode="auto">
          <a:xfrm>
            <a:off x="754063" y="5326063"/>
            <a:ext cx="642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651272" name="Rectangle 8"/>
          <p:cNvSpPr>
            <a:spLocks noChangeArrowheads="1"/>
          </p:cNvSpPr>
          <p:nvPr/>
        </p:nvSpPr>
        <p:spPr bwMode="auto">
          <a:xfrm>
            <a:off x="754063" y="5880100"/>
            <a:ext cx="642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651273" name="Rectangle 9"/>
          <p:cNvSpPr>
            <a:spLocks noChangeArrowheads="1"/>
          </p:cNvSpPr>
          <p:nvPr/>
        </p:nvSpPr>
        <p:spPr bwMode="auto">
          <a:xfrm>
            <a:off x="779463" y="2019300"/>
            <a:ext cx="642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651274" name="Rectangle 10"/>
          <p:cNvSpPr>
            <a:spLocks noChangeArrowheads="1"/>
          </p:cNvSpPr>
          <p:nvPr/>
        </p:nvSpPr>
        <p:spPr bwMode="auto">
          <a:xfrm>
            <a:off x="779463" y="2571750"/>
            <a:ext cx="642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651275" name="Rectangle 11"/>
          <p:cNvSpPr>
            <a:spLocks noChangeArrowheads="1"/>
          </p:cNvSpPr>
          <p:nvPr/>
        </p:nvSpPr>
        <p:spPr bwMode="auto">
          <a:xfrm>
            <a:off x="779463" y="3125788"/>
            <a:ext cx="642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15373" name="Rectangle 2"/>
          <p:cNvSpPr txBox="1"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tx2"/>
                </a:solidFill>
              </a:rPr>
              <a:t>对称性与反对称性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1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1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1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1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1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1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5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5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5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5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5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1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5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5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5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1268" grpId="0" autoUpdateAnimBg="0"/>
      <p:bldP spid="651269" grpId="0" autoUpdateAnimBg="0"/>
      <p:bldP spid="651270" grpId="0" autoUpdateAnimBg="0"/>
      <p:bldP spid="651271" grpId="0" autoUpdateAnimBg="0"/>
      <p:bldP spid="651272" grpId="0" autoUpdateAnimBg="0"/>
      <p:bldP spid="651273" grpId="0" autoUpdateAnimBg="0"/>
      <p:bldP spid="651274" grpId="0" autoUpdateAnimBg="0"/>
      <p:bldP spid="651275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91BD0210-C72C-4219-BC6A-034FA31135C8}" type="slidenum">
              <a:rPr lang="zh-CN" altLang="en-US" sz="1400" b="0" smtClean="0"/>
              <a:t>59</a:t>
            </a:fld>
            <a:endParaRPr lang="en-US" altLang="zh-CN" sz="1400" b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412875"/>
            <a:ext cx="8135937" cy="465138"/>
          </a:xfrm>
          <a:noFill/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: </a:t>
            </a:r>
            <a:r>
              <a:rPr lang="zh-CN" altLang="en-US"/>
              <a:t>已知</a:t>
            </a:r>
            <a:r>
              <a:rPr lang="en-US" altLang="zh-CN"/>
              <a:t>X={a,b,c}, </a:t>
            </a:r>
            <a:r>
              <a:rPr lang="zh-CN" altLang="en-US"/>
              <a:t>下面关系哪些是反对称的</a:t>
            </a:r>
            <a:r>
              <a:rPr lang="en-US" altLang="zh-CN"/>
              <a:t>?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31875" y="1985963"/>
            <a:ext cx="7689850" cy="5105400"/>
          </a:xfrm>
        </p:spPr>
        <p:txBody>
          <a:bodyPr/>
          <a:lstStyle/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1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2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3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4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5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6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7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8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</p:txBody>
      </p:sp>
      <p:sp>
        <p:nvSpPr>
          <p:cNvPr id="653316" name="Rectangle 4"/>
          <p:cNvSpPr>
            <a:spLocks noChangeArrowheads="1"/>
          </p:cNvSpPr>
          <p:nvPr/>
        </p:nvSpPr>
        <p:spPr bwMode="auto">
          <a:xfrm>
            <a:off x="582613" y="2011363"/>
            <a:ext cx="43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</a:p>
        </p:txBody>
      </p:sp>
      <p:sp>
        <p:nvSpPr>
          <p:cNvPr id="653317" name="Rectangle 5"/>
          <p:cNvSpPr>
            <a:spLocks noChangeArrowheads="1"/>
          </p:cNvSpPr>
          <p:nvPr/>
        </p:nvSpPr>
        <p:spPr bwMode="auto">
          <a:xfrm>
            <a:off x="582613" y="2544763"/>
            <a:ext cx="43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</a:p>
        </p:txBody>
      </p:sp>
      <p:sp>
        <p:nvSpPr>
          <p:cNvPr id="653318" name="Rectangle 6"/>
          <p:cNvSpPr>
            <a:spLocks noChangeArrowheads="1"/>
          </p:cNvSpPr>
          <p:nvPr/>
        </p:nvSpPr>
        <p:spPr bwMode="auto">
          <a:xfrm>
            <a:off x="582613" y="4640263"/>
            <a:ext cx="43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</a:p>
        </p:txBody>
      </p:sp>
      <p:sp>
        <p:nvSpPr>
          <p:cNvPr id="653319" name="Rectangle 7"/>
          <p:cNvSpPr>
            <a:spLocks noChangeArrowheads="1"/>
          </p:cNvSpPr>
          <p:nvPr/>
        </p:nvSpPr>
        <p:spPr bwMode="auto">
          <a:xfrm>
            <a:off x="582613" y="5249863"/>
            <a:ext cx="43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</a:p>
        </p:txBody>
      </p:sp>
      <p:sp>
        <p:nvSpPr>
          <p:cNvPr id="653320" name="Rectangle 8"/>
          <p:cNvSpPr>
            <a:spLocks noChangeArrowheads="1"/>
          </p:cNvSpPr>
          <p:nvPr/>
        </p:nvSpPr>
        <p:spPr bwMode="auto">
          <a:xfrm>
            <a:off x="582613" y="5859463"/>
            <a:ext cx="43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</a:p>
        </p:txBody>
      </p:sp>
      <p:sp>
        <p:nvSpPr>
          <p:cNvPr id="653321" name="Rectangle 9"/>
          <p:cNvSpPr>
            <a:spLocks noChangeArrowheads="1"/>
          </p:cNvSpPr>
          <p:nvPr/>
        </p:nvSpPr>
        <p:spPr bwMode="auto">
          <a:xfrm>
            <a:off x="554038" y="2938463"/>
            <a:ext cx="403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653322" name="Rectangle 10"/>
          <p:cNvSpPr>
            <a:spLocks noChangeArrowheads="1"/>
          </p:cNvSpPr>
          <p:nvPr/>
        </p:nvSpPr>
        <p:spPr bwMode="auto">
          <a:xfrm>
            <a:off x="554038" y="3490913"/>
            <a:ext cx="403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653323" name="Rectangle 11"/>
          <p:cNvSpPr>
            <a:spLocks noChangeArrowheads="1"/>
          </p:cNvSpPr>
          <p:nvPr/>
        </p:nvSpPr>
        <p:spPr bwMode="auto">
          <a:xfrm>
            <a:off x="554038" y="4076700"/>
            <a:ext cx="403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16397" name="Rectangle 2"/>
          <p:cNvSpPr txBox="1"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tx2"/>
                </a:solidFill>
              </a:rPr>
              <a:t>对称性与反对称性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3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5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53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5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5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5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5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5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5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3316" grpId="0" autoUpdateAnimBg="0"/>
      <p:bldP spid="653317" grpId="0" autoUpdateAnimBg="0"/>
      <p:bldP spid="653318" grpId="0" autoUpdateAnimBg="0"/>
      <p:bldP spid="653319" grpId="0" autoUpdateAnimBg="0"/>
      <p:bldP spid="653320" grpId="0" autoUpdateAnimBg="0"/>
      <p:bldP spid="653321" grpId="0" autoUpdateAnimBg="0"/>
      <p:bldP spid="653322" grpId="0" autoUpdateAnimBg="0"/>
      <p:bldP spid="653323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4681A9AA-1329-4BE4-BBCF-635E57A2C959}" type="slidenum">
              <a:rPr lang="zh-CN" altLang="en-US" sz="1400" b="0" smtClean="0"/>
              <a:t>60</a:t>
            </a:fld>
            <a:endParaRPr lang="en-US" altLang="zh-CN" sz="1400" b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问题</a:t>
            </a:r>
          </a:p>
        </p:txBody>
      </p:sp>
      <p:sp>
        <p:nvSpPr>
          <p:cNvPr id="654339" name="Text Box 3"/>
          <p:cNvSpPr txBox="1">
            <a:spLocks noChangeArrowheads="1"/>
          </p:cNvSpPr>
          <p:nvPr/>
        </p:nvSpPr>
        <p:spPr bwMode="auto">
          <a:xfrm>
            <a:off x="2209800" y="1295400"/>
            <a:ext cx="661067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200" dirty="0">
                <a:solidFill>
                  <a:srgbClr val="FF0000"/>
                </a:solidFill>
                <a:latin typeface="+mn-ea"/>
                <a:ea typeface="+mn-ea"/>
              </a:rPr>
              <a:t> 一个关系不是对称的，</a:t>
            </a:r>
            <a:endParaRPr kumimoji="1" lang="en-US" altLang="zh-CN" sz="3200" dirty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200" dirty="0">
                <a:solidFill>
                  <a:srgbClr val="FF0000"/>
                </a:solidFill>
                <a:latin typeface="+mn-ea"/>
                <a:ea typeface="+mn-ea"/>
              </a:rPr>
              <a:t>          就一定是反对称的吗？</a:t>
            </a:r>
          </a:p>
        </p:txBody>
      </p:sp>
      <p:sp>
        <p:nvSpPr>
          <p:cNvPr id="654340" name="Text Box 4"/>
          <p:cNvSpPr txBox="1">
            <a:spLocks noChangeArrowheads="1"/>
          </p:cNvSpPr>
          <p:nvPr/>
        </p:nvSpPr>
        <p:spPr bwMode="auto">
          <a:xfrm>
            <a:off x="711200" y="2971800"/>
            <a:ext cx="7924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200" dirty="0">
                <a:latin typeface="+mn-ea"/>
                <a:ea typeface="+mn-ea"/>
              </a:rPr>
              <a:t>不一定。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200" dirty="0">
                <a:latin typeface="+mn-ea"/>
                <a:ea typeface="+mn-ea"/>
              </a:rPr>
              <a:t>如：</a:t>
            </a:r>
            <a:r>
              <a:rPr kumimoji="1" lang="en-US" altLang="zh-CN" sz="3200" dirty="0">
                <a:latin typeface="+mn-lt"/>
                <a:ea typeface="+mn-ea"/>
              </a:rPr>
              <a:t>A={1,2,3},     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3200" dirty="0">
                <a:latin typeface="+mn-ea"/>
                <a:ea typeface="+mn-ea"/>
              </a:rPr>
              <a:t>        </a:t>
            </a:r>
            <a:r>
              <a:rPr kumimoji="1" lang="en-US" altLang="zh-CN" sz="3200" dirty="0">
                <a:latin typeface="+mn-lt"/>
                <a:ea typeface="+mn-ea"/>
              </a:rPr>
              <a:t>S={&lt;1,2&gt;,&lt;1,3&gt;, &lt;3,1&gt;}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200" dirty="0">
                <a:latin typeface="+mn-ea"/>
                <a:ea typeface="+mn-ea"/>
              </a:rPr>
              <a:t>则 </a:t>
            </a:r>
            <a:r>
              <a:rPr kumimoji="1" lang="en-US" altLang="zh-CN" sz="3200" dirty="0">
                <a:latin typeface="+mn-lt"/>
                <a:ea typeface="+mn-ea"/>
              </a:rPr>
              <a:t>S</a:t>
            </a:r>
            <a:r>
              <a:rPr kumimoji="1" lang="en-US" altLang="zh-CN" sz="3200" dirty="0">
                <a:latin typeface="+mn-ea"/>
                <a:ea typeface="+mn-ea"/>
              </a:rPr>
              <a:t> </a:t>
            </a:r>
            <a:r>
              <a:rPr kumimoji="1" lang="zh-CN" altLang="en-US" sz="3200" dirty="0">
                <a:latin typeface="+mn-ea"/>
                <a:ea typeface="+mn-ea"/>
              </a:rPr>
              <a:t>既不是对称的也不是反对称的。</a:t>
            </a:r>
          </a:p>
        </p:txBody>
      </p:sp>
      <p:sp>
        <p:nvSpPr>
          <p:cNvPr id="654341" name="AutoShape 5"/>
          <p:cNvSpPr>
            <a:spLocks noChangeArrowheads="1"/>
          </p:cNvSpPr>
          <p:nvPr/>
        </p:nvSpPr>
        <p:spPr bwMode="auto">
          <a:xfrm>
            <a:off x="228600" y="990600"/>
            <a:ext cx="1828800" cy="14478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4800">
                <a:solidFill>
                  <a:srgbClr val="FF3300"/>
                </a:solidFill>
                <a:ea typeface="黑体" panose="02010609060101010101" pitchFamily="49" charset="-122"/>
              </a:rPr>
              <a:t>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39" grpId="0" autoUpdateAnimBg="0"/>
      <p:bldP spid="654341" grpId="0" animBg="1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1B402F29-1093-4BAD-89FF-666E80EB504C}" type="slidenum">
              <a:rPr lang="zh-CN" altLang="en-US" sz="1400" b="0" smtClean="0"/>
              <a:t>61</a:t>
            </a:fld>
            <a:endParaRPr lang="en-US" altLang="zh-CN" sz="1400" b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问题</a:t>
            </a:r>
          </a:p>
        </p:txBody>
      </p:sp>
      <p:sp>
        <p:nvSpPr>
          <p:cNvPr id="654339" name="Text Box 3"/>
          <p:cNvSpPr txBox="1">
            <a:spLocks noChangeArrowheads="1"/>
          </p:cNvSpPr>
          <p:nvPr/>
        </p:nvSpPr>
        <p:spPr bwMode="auto">
          <a:xfrm>
            <a:off x="2555056" y="1295400"/>
            <a:ext cx="6121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200" dirty="0">
                <a:latin typeface="+mn-ea"/>
                <a:ea typeface="+mn-ea"/>
              </a:rPr>
              <a:t>有没有一个关系，既是对称的，也是反对称的？</a:t>
            </a:r>
          </a:p>
        </p:txBody>
      </p:sp>
      <p:sp>
        <p:nvSpPr>
          <p:cNvPr id="654340" name="Text Box 4"/>
          <p:cNvSpPr txBox="1">
            <a:spLocks noChangeArrowheads="1"/>
          </p:cNvSpPr>
          <p:nvPr/>
        </p:nvSpPr>
        <p:spPr bwMode="auto">
          <a:xfrm>
            <a:off x="1185863" y="2819400"/>
            <a:ext cx="7196137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endParaRPr kumimoji="1" lang="en-US" altLang="zh-CN" sz="3200" dirty="0">
              <a:latin typeface="+mn-ea"/>
              <a:ea typeface="+mn-ea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200" dirty="0">
                <a:latin typeface="+mn-ea"/>
                <a:ea typeface="+mn-ea"/>
              </a:rPr>
              <a:t>有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200" dirty="0">
                <a:solidFill>
                  <a:srgbClr val="0000FF"/>
                </a:solidFill>
                <a:latin typeface="+mn-ea"/>
                <a:ea typeface="+mn-ea"/>
              </a:rPr>
              <a:t>     </a:t>
            </a:r>
            <a:r>
              <a:rPr kumimoji="1" lang="en-US" altLang="zh-CN" sz="3200" dirty="0">
                <a:solidFill>
                  <a:srgbClr val="0000FF"/>
                </a:solidFill>
                <a:latin typeface="+mn-lt"/>
                <a:ea typeface="+mn-ea"/>
              </a:rPr>
              <a:t>N={&lt;1,1&gt;,&lt;2,2&gt;,&lt;3,3&gt;}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32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kumimoji="1" lang="en-US" altLang="zh-CN" sz="3200" dirty="0">
                <a:solidFill>
                  <a:srgbClr val="0000FF"/>
                </a:solidFill>
                <a:latin typeface="+mn-lt"/>
                <a:ea typeface="+mn-ea"/>
              </a:rPr>
              <a:t>N</a:t>
            </a:r>
            <a:r>
              <a:rPr kumimoji="1" lang="zh-CN" altLang="en-US" sz="3200" dirty="0">
                <a:solidFill>
                  <a:srgbClr val="0000FF"/>
                </a:solidFill>
                <a:latin typeface="+mn-ea"/>
                <a:ea typeface="+mn-ea"/>
              </a:rPr>
              <a:t>即是对称的，也是反对称的。</a:t>
            </a:r>
          </a:p>
        </p:txBody>
      </p:sp>
      <p:sp>
        <p:nvSpPr>
          <p:cNvPr id="654341" name="AutoShape 5"/>
          <p:cNvSpPr>
            <a:spLocks noChangeArrowheads="1"/>
          </p:cNvSpPr>
          <p:nvPr/>
        </p:nvSpPr>
        <p:spPr bwMode="auto">
          <a:xfrm>
            <a:off x="228600" y="990600"/>
            <a:ext cx="1828800" cy="14478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4800">
                <a:solidFill>
                  <a:srgbClr val="FF3300"/>
                </a:solidFill>
                <a:ea typeface="黑体" panose="02010609060101010101" pitchFamily="49" charset="-122"/>
              </a:rPr>
              <a:t>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39" grpId="0" autoUpdateAnimBg="0"/>
      <p:bldP spid="654341" grpId="0" animBg="1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31E4DBA-417E-446D-B3B5-045620AFCED0}" type="slidenum">
              <a:rPr lang="en-US" altLang="zh-CN" sz="1400" b="0" smtClean="0">
                <a:latin typeface="Arial" panose="020B0604020202020204" pitchFamily="34" charset="0"/>
              </a:rPr>
              <a:t>62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传递性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91513" cy="12954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7.13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为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  <a:r>
              <a:rPr lang="zh-CN" altLang="en-US" dirty="0"/>
              <a:t>若</a:t>
            </a:r>
            <a:br>
              <a:rPr lang="zh-CN" altLang="en-US" dirty="0"/>
            </a:br>
            <a:r>
              <a:rPr lang="zh-CN" altLang="en-US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y</a:t>
            </a:r>
            <a:r>
              <a:rPr lang="en-US" altLang="zh-CN" dirty="0" err="1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z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∧&lt;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∧&lt;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→&lt;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),</a:t>
            </a:r>
          </a:p>
          <a:p>
            <a:pPr eaLnBrk="1" hangingPunct="1"/>
            <a:r>
              <a:rPr lang="zh-CN" altLang="en-US" dirty="0"/>
              <a:t>则称 </a:t>
            </a:r>
            <a:r>
              <a:rPr lang="en-US" altLang="zh-CN" i="1" dirty="0"/>
              <a:t>R 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A50021"/>
                </a:solidFill>
              </a:rPr>
              <a:t>传递</a:t>
            </a:r>
            <a:r>
              <a:rPr lang="zh-CN" altLang="en-US" dirty="0"/>
              <a:t>关系</a:t>
            </a:r>
            <a:r>
              <a:rPr lang="en-US" altLang="zh-CN" dirty="0"/>
              <a:t>.</a:t>
            </a: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468313" y="2781300"/>
            <a:ext cx="8135937" cy="316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实例：</a:t>
            </a:r>
            <a:r>
              <a:rPr lang="zh-CN" altLang="en-US" i="1" dirty="0"/>
              <a:t> </a:t>
            </a:r>
            <a:r>
              <a:rPr lang="en-US" altLang="zh-CN" i="1" dirty="0"/>
              <a:t>A</a:t>
            </a:r>
            <a:r>
              <a:rPr lang="zh-CN" altLang="en-US" dirty="0"/>
              <a:t>上的全域关系 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A</a:t>
            </a:r>
            <a:r>
              <a:rPr lang="en-US" altLang="zh-CN" dirty="0"/>
              <a:t>, </a:t>
            </a:r>
            <a:r>
              <a:rPr lang="zh-CN" altLang="en-US" dirty="0"/>
              <a:t>恒等关系 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zh-CN" altLang="en-US" dirty="0"/>
              <a:t>和空关系 </a:t>
            </a:r>
            <a:r>
              <a:rPr lang="zh-CN" altLang="en-US" dirty="0">
                <a:sym typeface="Symbol" panose="05050102010706020507" pitchFamily="18" charset="2"/>
              </a:rPr>
              <a:t>，</a:t>
            </a:r>
            <a:r>
              <a:rPr lang="zh-CN" altLang="en-US" dirty="0"/>
              <a:t>小于等</a:t>
            </a:r>
          </a:p>
          <a:p>
            <a:pPr eaLnBrk="1" hangingPunct="1"/>
            <a:r>
              <a:rPr lang="zh-CN" altLang="en-US" dirty="0"/>
              <a:t>于和小于关系，整除关系，包含与真包含关系</a:t>
            </a:r>
          </a:p>
          <a:p>
            <a:pPr eaLnBrk="1" hangingPunct="1"/>
            <a:r>
              <a:rPr lang="zh-CN" altLang="en-US" dirty="0"/>
              <a:t>设 </a:t>
            </a:r>
            <a:r>
              <a:rPr lang="en-US" altLang="zh-CN" i="1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{1,2,3},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baseline="-25000" dirty="0"/>
              <a:t>3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  <a:r>
              <a:rPr lang="zh-CN" altLang="en-US" dirty="0"/>
              <a:t>其中</a:t>
            </a:r>
            <a:endParaRPr lang="zh-CN" altLang="en-US" i="1" dirty="0"/>
          </a:p>
          <a:p>
            <a:pPr eaLnBrk="1" hangingPunct="1"/>
            <a:r>
              <a:rPr lang="zh-CN" altLang="en-US" i="1" dirty="0"/>
              <a:t>                 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zh-CN" altLang="en-US" dirty="0"/>
              <a:t>＝</a:t>
            </a:r>
            <a:r>
              <a:rPr lang="en-US" altLang="zh-CN" dirty="0"/>
              <a:t>{&lt;1,1&gt;,&lt;2,2&gt;} </a:t>
            </a:r>
          </a:p>
          <a:p>
            <a:pPr eaLnBrk="1" hangingPunct="1"/>
            <a:r>
              <a:rPr lang="en-US" altLang="zh-CN" dirty="0"/>
              <a:t>                  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zh-CN" altLang="en-US" dirty="0"/>
              <a:t>＝</a:t>
            </a:r>
            <a:r>
              <a:rPr lang="en-US" altLang="zh-CN" dirty="0"/>
              <a:t>{&lt;1,2&gt;,&lt;2,3&gt;}</a:t>
            </a:r>
          </a:p>
          <a:p>
            <a:pPr eaLnBrk="1" hangingPunct="1"/>
            <a:r>
              <a:rPr lang="en-US" altLang="zh-CN" dirty="0"/>
              <a:t>                  </a:t>
            </a:r>
            <a:r>
              <a:rPr lang="en-US" altLang="zh-CN" i="1" dirty="0"/>
              <a:t>R</a:t>
            </a:r>
            <a:r>
              <a:rPr lang="en-US" altLang="zh-CN" baseline="-25000" dirty="0"/>
              <a:t>3</a:t>
            </a:r>
            <a:r>
              <a:rPr lang="zh-CN" altLang="en-US" dirty="0"/>
              <a:t>＝</a:t>
            </a:r>
            <a:r>
              <a:rPr lang="en-US" altLang="zh-CN" dirty="0"/>
              <a:t>{&lt;1,3&gt;}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i="1" dirty="0"/>
              <a:t>R</a:t>
            </a:r>
            <a:r>
              <a:rPr lang="en-US" altLang="zh-CN" baseline="-25000" dirty="0"/>
              <a:t>3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上的传递关系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zh-CN" altLang="en-US" dirty="0"/>
              <a:t>不是</a:t>
            </a:r>
            <a:r>
              <a:rPr lang="en-US" altLang="zh-CN" i="1" dirty="0"/>
              <a:t>A</a:t>
            </a:r>
            <a:r>
              <a:rPr lang="zh-CN" altLang="en-US" dirty="0"/>
              <a:t>上的传递关系</a:t>
            </a:r>
            <a:r>
              <a:rPr lang="en-US" altLang="zh-CN" dirty="0"/>
              <a:t>.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323850" y="6094413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08759A70-18A3-4BF7-953B-5A9741EEC304}" type="slidenum">
              <a:rPr lang="zh-CN" altLang="en-US" sz="1400" b="0" smtClean="0"/>
              <a:t>63</a:t>
            </a:fld>
            <a:endParaRPr lang="en-US" altLang="zh-CN" sz="1400" b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88988" y="1412875"/>
            <a:ext cx="7850187" cy="300038"/>
          </a:xfrm>
          <a:noFill/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: </a:t>
            </a:r>
            <a:r>
              <a:rPr lang="zh-CN" altLang="en-US"/>
              <a:t>已知</a:t>
            </a:r>
            <a:r>
              <a:rPr lang="en-US" altLang="zh-CN"/>
              <a:t>X={a,b,c}, </a:t>
            </a:r>
            <a:r>
              <a:rPr lang="zh-CN" altLang="en-US"/>
              <a:t>下面关系哪些是传递的</a:t>
            </a:r>
            <a:r>
              <a:rPr lang="en-US" altLang="zh-CN"/>
              <a:t>?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8738" y="1989138"/>
            <a:ext cx="7573962" cy="5105400"/>
          </a:xfrm>
        </p:spPr>
        <p:txBody>
          <a:bodyPr/>
          <a:lstStyle/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1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2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3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4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5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6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7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b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&gt;, &lt;</a:t>
            </a:r>
            <a:r>
              <a:rPr lang="en-US" altLang="zh-CN" sz="3000" i="1"/>
              <a:t>c</a:t>
            </a:r>
            <a:r>
              <a:rPr lang="en-US" altLang="zh-CN" sz="3000"/>
              <a:t>, </a:t>
            </a:r>
            <a:r>
              <a:rPr lang="en-US" altLang="zh-CN" sz="3000" i="1"/>
              <a:t>a</a:t>
            </a:r>
            <a:r>
              <a:rPr lang="en-US" altLang="zh-CN" sz="3000"/>
              <a:t>&gt;}</a:t>
            </a:r>
          </a:p>
          <a:p>
            <a:pPr eaLnBrk="1" hangingPunct="1"/>
            <a:r>
              <a:rPr lang="en-US" altLang="zh-CN" sz="3000" i="1"/>
              <a:t>R</a:t>
            </a:r>
            <a:r>
              <a:rPr lang="en-US" altLang="zh-CN" sz="3000" baseline="-25000"/>
              <a:t>8</a:t>
            </a:r>
            <a:r>
              <a:rPr lang="en-US" altLang="zh-CN" sz="3000"/>
              <a:t> = {&lt;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b</a:t>
            </a:r>
            <a:r>
              <a:rPr lang="en-US" altLang="zh-CN" sz="3000"/>
              <a:t>&gt;, &lt;</a:t>
            </a:r>
            <a:r>
              <a:rPr lang="en-US" altLang="zh-CN" sz="3000" i="1"/>
              <a:t>a</a:t>
            </a:r>
            <a:r>
              <a:rPr lang="en-US" altLang="zh-CN" sz="3000"/>
              <a:t>, </a:t>
            </a:r>
            <a:r>
              <a:rPr lang="en-US" altLang="zh-CN" sz="3000" i="1"/>
              <a:t>c</a:t>
            </a:r>
            <a:r>
              <a:rPr lang="en-US" altLang="zh-CN" sz="3000"/>
              <a:t>&gt;}</a:t>
            </a:r>
          </a:p>
        </p:txBody>
      </p:sp>
      <p:sp>
        <p:nvSpPr>
          <p:cNvPr id="656388" name="Rectangle 4"/>
          <p:cNvSpPr>
            <a:spLocks noChangeArrowheads="1"/>
          </p:cNvSpPr>
          <p:nvPr/>
        </p:nvSpPr>
        <p:spPr bwMode="auto">
          <a:xfrm>
            <a:off x="938213" y="1882775"/>
            <a:ext cx="43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</a:p>
        </p:txBody>
      </p:sp>
      <p:sp>
        <p:nvSpPr>
          <p:cNvPr id="656389" name="Rectangle 5"/>
          <p:cNvSpPr>
            <a:spLocks noChangeArrowheads="1"/>
          </p:cNvSpPr>
          <p:nvPr/>
        </p:nvSpPr>
        <p:spPr bwMode="auto">
          <a:xfrm>
            <a:off x="938213" y="4595813"/>
            <a:ext cx="43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</a:p>
        </p:txBody>
      </p:sp>
      <p:sp>
        <p:nvSpPr>
          <p:cNvPr id="656390" name="Rectangle 6"/>
          <p:cNvSpPr>
            <a:spLocks noChangeArrowheads="1"/>
          </p:cNvSpPr>
          <p:nvPr/>
        </p:nvSpPr>
        <p:spPr bwMode="auto">
          <a:xfrm>
            <a:off x="938213" y="5762625"/>
            <a:ext cx="43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</a:p>
        </p:txBody>
      </p:sp>
      <p:sp>
        <p:nvSpPr>
          <p:cNvPr id="656391" name="Rectangle 7"/>
          <p:cNvSpPr>
            <a:spLocks noChangeArrowheads="1"/>
          </p:cNvSpPr>
          <p:nvPr/>
        </p:nvSpPr>
        <p:spPr bwMode="auto">
          <a:xfrm>
            <a:off x="938213" y="4062413"/>
            <a:ext cx="43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</a:p>
        </p:txBody>
      </p:sp>
      <p:sp>
        <p:nvSpPr>
          <p:cNvPr id="656392" name="Rectangle 8"/>
          <p:cNvSpPr>
            <a:spLocks noChangeArrowheads="1"/>
          </p:cNvSpPr>
          <p:nvPr/>
        </p:nvSpPr>
        <p:spPr bwMode="auto">
          <a:xfrm>
            <a:off x="877888" y="2398713"/>
            <a:ext cx="642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656393" name="Rectangle 9"/>
          <p:cNvSpPr>
            <a:spLocks noChangeArrowheads="1"/>
          </p:cNvSpPr>
          <p:nvPr/>
        </p:nvSpPr>
        <p:spPr bwMode="auto">
          <a:xfrm>
            <a:off x="877888" y="2951163"/>
            <a:ext cx="642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656394" name="Rectangle 10"/>
          <p:cNvSpPr>
            <a:spLocks noChangeArrowheads="1"/>
          </p:cNvSpPr>
          <p:nvPr/>
        </p:nvSpPr>
        <p:spPr bwMode="auto">
          <a:xfrm>
            <a:off x="877888" y="3536950"/>
            <a:ext cx="642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656395" name="Rectangle 11"/>
          <p:cNvSpPr>
            <a:spLocks noChangeArrowheads="1"/>
          </p:cNvSpPr>
          <p:nvPr/>
        </p:nvSpPr>
        <p:spPr bwMode="auto">
          <a:xfrm>
            <a:off x="877888" y="5162550"/>
            <a:ext cx="642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>
                <a:solidFill>
                  <a:srgbClr val="0000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×</a:t>
            </a:r>
            <a:endParaRPr kumimoji="1" lang="zh-CN" altLang="en-US" sz="3600">
              <a:solidFill>
                <a:srgbClr val="0000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22541" name="Rectangle 2"/>
          <p:cNvSpPr txBox="1"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tx2"/>
                </a:solidFill>
              </a:rPr>
              <a:t>传递性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6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6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6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56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56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56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5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5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6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56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5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5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388" grpId="0" autoUpdateAnimBg="0"/>
      <p:bldP spid="656389" grpId="0" autoUpdateAnimBg="0"/>
      <p:bldP spid="656390" grpId="0" autoUpdateAnimBg="0"/>
      <p:bldP spid="656391" grpId="0" autoUpdateAnimBg="0"/>
      <p:bldP spid="656392" grpId="0" autoUpdateAnimBg="0"/>
      <p:bldP spid="656393" grpId="0" autoUpdateAnimBg="0"/>
      <p:bldP spid="656394" grpId="0" autoUpdateAnimBg="0"/>
      <p:bldP spid="656395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5BB8538C-1C7D-4448-85E6-6F16DA0887C1}" type="slidenum">
              <a:rPr lang="zh-CN" altLang="en-US" sz="1400" b="0" smtClean="0"/>
              <a:t>64</a:t>
            </a:fld>
            <a:endParaRPr lang="en-US" altLang="zh-CN" sz="1400" b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R1</a:t>
            </a:r>
          </a:p>
        </p:txBody>
      </p:sp>
      <p:sp>
        <p:nvSpPr>
          <p:cNvPr id="657428" name="Text Box 20"/>
          <p:cNvSpPr txBox="1">
            <a:spLocks noChangeArrowheads="1"/>
          </p:cNvSpPr>
          <p:nvPr/>
        </p:nvSpPr>
        <p:spPr bwMode="auto">
          <a:xfrm>
            <a:off x="727075" y="5521325"/>
            <a:ext cx="6661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 b="0">
                <a:ea typeface="黑体" panose="02010609060101010101" pitchFamily="49" charset="-122"/>
              </a:rPr>
              <a:t>R</a:t>
            </a:r>
            <a:r>
              <a:rPr kumimoji="1" lang="en-US" altLang="zh-CN" sz="3600" b="0" baseline="-25000">
                <a:ea typeface="黑体" panose="02010609060101010101" pitchFamily="49" charset="-122"/>
              </a:rPr>
              <a:t>1 </a:t>
            </a:r>
            <a:r>
              <a:rPr kumimoji="1" lang="zh-CN" altLang="en-US" sz="3600" b="0">
                <a:ea typeface="黑体" panose="02010609060101010101" pitchFamily="49" charset="-122"/>
              </a:rPr>
              <a:t>是自反的、反对称、传递的。</a:t>
            </a:r>
            <a:endParaRPr kumimoji="1" lang="zh-CN" altLang="en-US" sz="3600" b="0" baseline="-25000">
              <a:ea typeface="黑体" panose="02010609060101010101" pitchFamily="49" charset="-122"/>
            </a:endParaRPr>
          </a:p>
        </p:txBody>
      </p:sp>
      <p:sp>
        <p:nvSpPr>
          <p:cNvPr id="23559" name="Rectangle 21"/>
          <p:cNvSpPr>
            <a:spLocks noChangeArrowheads="1"/>
          </p:cNvSpPr>
          <p:nvPr/>
        </p:nvSpPr>
        <p:spPr bwMode="auto">
          <a:xfrm>
            <a:off x="581025" y="1365250"/>
            <a:ext cx="77009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i="1"/>
              <a:t>R</a:t>
            </a:r>
            <a:r>
              <a:rPr kumimoji="1" lang="en-US" altLang="zh-CN" sz="4000" baseline="-25000"/>
              <a:t>1</a:t>
            </a:r>
            <a:r>
              <a:rPr kumimoji="1" lang="en-US" altLang="zh-CN" sz="4000"/>
              <a:t> = {&lt;</a:t>
            </a:r>
            <a:r>
              <a:rPr kumimoji="1" lang="en-US" altLang="zh-CN" sz="4000" i="1"/>
              <a:t>a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a</a:t>
            </a:r>
            <a:r>
              <a:rPr kumimoji="1" lang="en-US" altLang="zh-CN" sz="4000"/>
              <a:t>&gt;, &lt;</a:t>
            </a:r>
            <a:r>
              <a:rPr kumimoji="1" lang="en-US" altLang="zh-CN" sz="4000" i="1"/>
              <a:t>a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b</a:t>
            </a:r>
            <a:r>
              <a:rPr kumimoji="1" lang="en-US" altLang="zh-CN" sz="4000"/>
              <a:t>&gt;, &lt;</a:t>
            </a:r>
            <a:r>
              <a:rPr kumimoji="1" lang="en-US" altLang="zh-CN" sz="4000" i="1"/>
              <a:t>b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b</a:t>
            </a:r>
            <a:r>
              <a:rPr kumimoji="1" lang="en-US" altLang="zh-CN" sz="4000"/>
              <a:t>&gt;, &lt;</a:t>
            </a:r>
            <a:r>
              <a:rPr kumimoji="1" lang="en-US" altLang="zh-CN" sz="4000" i="1"/>
              <a:t>c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c</a:t>
            </a:r>
            <a:r>
              <a:rPr kumimoji="1" lang="en-US" altLang="zh-CN" sz="4000"/>
              <a:t>&gt;}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4" y="2530474"/>
            <a:ext cx="4155073" cy="255470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2884908"/>
            <a:ext cx="2133600" cy="22002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7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7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428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EB777901-0FCD-47CF-B3E4-03585ED4CE51}" type="slidenum">
              <a:rPr lang="zh-CN" altLang="en-US" sz="1400" b="0" smtClean="0"/>
              <a:t>65</a:t>
            </a:fld>
            <a:endParaRPr lang="en-US" altLang="zh-CN" sz="1400" b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R2</a:t>
            </a:r>
          </a:p>
        </p:txBody>
      </p:sp>
      <p:sp>
        <p:nvSpPr>
          <p:cNvPr id="658454" name="Text Box 22"/>
          <p:cNvSpPr txBox="1">
            <a:spLocks noChangeArrowheads="1"/>
          </p:cNvSpPr>
          <p:nvPr/>
        </p:nvSpPr>
        <p:spPr bwMode="auto">
          <a:xfrm>
            <a:off x="2438400" y="5432425"/>
            <a:ext cx="38274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R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2 </a:t>
            </a:r>
            <a:r>
              <a:rPr kumimoji="1" lang="zh-CN" altLang="en-US" sz="4000" b="0">
                <a:ea typeface="黑体" panose="02010609060101010101" pitchFamily="49" charset="-122"/>
              </a:rPr>
              <a:t>是反对称的。</a:t>
            </a:r>
            <a:endParaRPr kumimoji="1" lang="zh-CN" altLang="en-US" sz="4000" b="0" baseline="-25000">
              <a:ea typeface="黑体" panose="02010609060101010101" pitchFamily="49" charset="-122"/>
            </a:endParaRPr>
          </a:p>
        </p:txBody>
      </p:sp>
      <p:sp>
        <p:nvSpPr>
          <p:cNvPr id="24583" name="Rectangle 23"/>
          <p:cNvSpPr>
            <a:spLocks noChangeArrowheads="1"/>
          </p:cNvSpPr>
          <p:nvPr/>
        </p:nvSpPr>
        <p:spPr bwMode="auto">
          <a:xfrm>
            <a:off x="617538" y="1243013"/>
            <a:ext cx="77295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Clr>
                <a:schemeClr val="folHlink"/>
              </a:buClr>
              <a:buSzPct val="60000"/>
            </a:pPr>
            <a:r>
              <a:rPr kumimoji="1" lang="en-US" altLang="zh-CN" sz="4000" i="1"/>
              <a:t>R</a:t>
            </a:r>
            <a:r>
              <a:rPr kumimoji="1" lang="en-US" altLang="zh-CN" sz="4000" baseline="-25000"/>
              <a:t>2</a:t>
            </a:r>
            <a:r>
              <a:rPr kumimoji="1" lang="en-US" altLang="zh-CN" sz="4000"/>
              <a:t> = {&lt;</a:t>
            </a:r>
            <a:r>
              <a:rPr kumimoji="1" lang="en-US" altLang="zh-CN" sz="4000" i="1"/>
              <a:t>a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a</a:t>
            </a:r>
            <a:r>
              <a:rPr kumimoji="1" lang="en-US" altLang="zh-CN" sz="4000"/>
              <a:t>&gt;, &lt;</a:t>
            </a:r>
            <a:r>
              <a:rPr kumimoji="1" lang="en-US" altLang="zh-CN" sz="4000" i="1"/>
              <a:t>a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b</a:t>
            </a:r>
            <a:r>
              <a:rPr kumimoji="1" lang="en-US" altLang="zh-CN" sz="4000"/>
              <a:t>&gt;, &lt;</a:t>
            </a:r>
            <a:r>
              <a:rPr kumimoji="1" lang="en-US" altLang="zh-CN" sz="4000" i="1"/>
              <a:t>b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b</a:t>
            </a:r>
            <a:r>
              <a:rPr kumimoji="1" lang="en-US" altLang="zh-CN" sz="4000"/>
              <a:t>&gt;, &lt;</a:t>
            </a:r>
            <a:r>
              <a:rPr kumimoji="1" lang="en-US" altLang="zh-CN" sz="4000" i="1"/>
              <a:t>c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a</a:t>
            </a:r>
            <a:r>
              <a:rPr kumimoji="1" lang="en-US" altLang="zh-CN" sz="4000"/>
              <a:t>&gt;}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74" y="2165229"/>
            <a:ext cx="4058451" cy="256552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136" y="2449513"/>
            <a:ext cx="1828800" cy="22098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8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8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8454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4AF432B1-67B3-4E68-BD06-B9CC6F64D833}" type="slidenum">
              <a:rPr lang="zh-CN" altLang="en-US" sz="1400" b="0" smtClean="0"/>
              <a:t>66</a:t>
            </a:fld>
            <a:endParaRPr lang="en-US" altLang="zh-CN" sz="1400" b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R3</a:t>
            </a:r>
          </a:p>
        </p:txBody>
      </p:sp>
      <p:sp>
        <p:nvSpPr>
          <p:cNvPr id="25606" name="Rectangle 20"/>
          <p:cNvSpPr>
            <a:spLocks noChangeArrowheads="1"/>
          </p:cNvSpPr>
          <p:nvPr/>
        </p:nvSpPr>
        <p:spPr bwMode="auto">
          <a:xfrm>
            <a:off x="736600" y="1341438"/>
            <a:ext cx="76723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i="1" dirty="0"/>
              <a:t>R</a:t>
            </a:r>
            <a:r>
              <a:rPr kumimoji="1" lang="en-US" altLang="zh-CN" sz="4000" baseline="-25000" dirty="0"/>
              <a:t>3</a:t>
            </a:r>
            <a:r>
              <a:rPr kumimoji="1" lang="en-US" altLang="zh-CN" sz="4000" dirty="0"/>
              <a:t> = {&lt;</a:t>
            </a:r>
            <a:r>
              <a:rPr kumimoji="1" lang="en-US" altLang="zh-CN" sz="4000" i="1" dirty="0"/>
              <a:t>a</a:t>
            </a:r>
            <a:r>
              <a:rPr kumimoji="1" lang="en-US" altLang="zh-CN" sz="4000" dirty="0"/>
              <a:t>, </a:t>
            </a:r>
            <a:r>
              <a:rPr kumimoji="1" lang="en-US" altLang="zh-CN" sz="4000" i="1" dirty="0"/>
              <a:t>c</a:t>
            </a:r>
            <a:r>
              <a:rPr kumimoji="1" lang="en-US" altLang="zh-CN" sz="4000" dirty="0"/>
              <a:t>&gt;, &lt;</a:t>
            </a:r>
            <a:r>
              <a:rPr kumimoji="1" lang="en-US" altLang="zh-CN" sz="4000" i="1" dirty="0"/>
              <a:t>a</a:t>
            </a:r>
            <a:r>
              <a:rPr kumimoji="1" lang="en-US" altLang="zh-CN" sz="4000" dirty="0"/>
              <a:t>, </a:t>
            </a:r>
            <a:r>
              <a:rPr kumimoji="1" lang="en-US" altLang="zh-CN" sz="4000" i="1" dirty="0"/>
              <a:t>b</a:t>
            </a:r>
            <a:r>
              <a:rPr kumimoji="1" lang="en-US" altLang="zh-CN" sz="4000" dirty="0"/>
              <a:t>&gt;, &lt;</a:t>
            </a:r>
            <a:r>
              <a:rPr kumimoji="1" lang="en-US" altLang="zh-CN" sz="4000" i="1" dirty="0"/>
              <a:t>b</a:t>
            </a:r>
            <a:r>
              <a:rPr kumimoji="1" lang="en-US" altLang="zh-CN" sz="4000" dirty="0"/>
              <a:t>, </a:t>
            </a:r>
            <a:r>
              <a:rPr kumimoji="1" lang="en-US" altLang="zh-CN" sz="4000" i="1" dirty="0"/>
              <a:t>a</a:t>
            </a:r>
            <a:r>
              <a:rPr kumimoji="1" lang="en-US" altLang="zh-CN" sz="4000" dirty="0"/>
              <a:t>&gt;, &lt;</a:t>
            </a:r>
            <a:r>
              <a:rPr kumimoji="1" lang="en-US" altLang="zh-CN" sz="4000" i="1" dirty="0"/>
              <a:t>c</a:t>
            </a:r>
            <a:r>
              <a:rPr kumimoji="1" lang="en-US" altLang="zh-CN" sz="4000" dirty="0"/>
              <a:t>, </a:t>
            </a:r>
            <a:r>
              <a:rPr kumimoji="1" lang="en-US" altLang="zh-CN" sz="4000" i="1" dirty="0"/>
              <a:t>c</a:t>
            </a:r>
            <a:r>
              <a:rPr kumimoji="1" lang="en-US" altLang="zh-CN" sz="4000" dirty="0"/>
              <a:t>&gt;}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7" y="2454573"/>
            <a:ext cx="3835977" cy="246002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2824297"/>
            <a:ext cx="1790700" cy="21050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A1C13EB4-A55E-4861-88FB-183E7F7D4C24}" type="slidenum">
              <a:rPr lang="zh-CN" altLang="en-US" sz="1400" b="0" smtClean="0"/>
              <a:t>67</a:t>
            </a:fld>
            <a:endParaRPr lang="en-US" altLang="zh-CN" sz="1400" b="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R4</a:t>
            </a:r>
          </a:p>
        </p:txBody>
      </p:sp>
      <p:sp>
        <p:nvSpPr>
          <p:cNvPr id="660500" name="Text Box 20"/>
          <p:cNvSpPr txBox="1">
            <a:spLocks noChangeArrowheads="1"/>
          </p:cNvSpPr>
          <p:nvPr/>
        </p:nvSpPr>
        <p:spPr bwMode="auto">
          <a:xfrm>
            <a:off x="2362200" y="5508625"/>
            <a:ext cx="33194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R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4 </a:t>
            </a:r>
            <a:r>
              <a:rPr kumimoji="1" lang="zh-CN" altLang="en-US" sz="4000" b="0">
                <a:ea typeface="黑体" panose="02010609060101010101" pitchFamily="49" charset="-122"/>
              </a:rPr>
              <a:t>是对称的。</a:t>
            </a:r>
            <a:endParaRPr kumimoji="1" lang="zh-CN" altLang="en-US" sz="4000" b="0" baseline="-25000">
              <a:ea typeface="黑体" panose="02010609060101010101" pitchFamily="49" charset="-122"/>
            </a:endParaRPr>
          </a:p>
        </p:txBody>
      </p:sp>
      <p:sp>
        <p:nvSpPr>
          <p:cNvPr id="26631" name="Rectangle 21"/>
          <p:cNvSpPr>
            <a:spLocks noChangeArrowheads="1"/>
          </p:cNvSpPr>
          <p:nvPr/>
        </p:nvSpPr>
        <p:spPr bwMode="auto">
          <a:xfrm>
            <a:off x="720725" y="1341438"/>
            <a:ext cx="77009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i="1"/>
              <a:t>R</a:t>
            </a:r>
            <a:r>
              <a:rPr kumimoji="1" lang="en-US" altLang="zh-CN" sz="4000" baseline="-25000"/>
              <a:t>4</a:t>
            </a:r>
            <a:r>
              <a:rPr kumimoji="1" lang="en-US" altLang="zh-CN" sz="4000"/>
              <a:t> = {&lt;</a:t>
            </a:r>
            <a:r>
              <a:rPr kumimoji="1" lang="en-US" altLang="zh-CN" sz="4000" i="1"/>
              <a:t>a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a</a:t>
            </a:r>
            <a:r>
              <a:rPr kumimoji="1" lang="en-US" altLang="zh-CN" sz="4000"/>
              <a:t>&gt;, &lt;</a:t>
            </a:r>
            <a:r>
              <a:rPr kumimoji="1" lang="en-US" altLang="zh-CN" sz="4000" i="1"/>
              <a:t>a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b</a:t>
            </a:r>
            <a:r>
              <a:rPr kumimoji="1" lang="en-US" altLang="zh-CN" sz="4000"/>
              <a:t>&gt;, &lt;</a:t>
            </a:r>
            <a:r>
              <a:rPr kumimoji="1" lang="en-US" altLang="zh-CN" sz="4000" i="1"/>
              <a:t>b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a</a:t>
            </a:r>
            <a:r>
              <a:rPr kumimoji="1" lang="en-US" altLang="zh-CN" sz="4000"/>
              <a:t>&gt;, &lt;</a:t>
            </a:r>
            <a:r>
              <a:rPr kumimoji="1" lang="en-US" altLang="zh-CN" sz="4000" i="1"/>
              <a:t>c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c</a:t>
            </a:r>
            <a:r>
              <a:rPr kumimoji="1" lang="en-US" altLang="zh-CN" sz="4000"/>
              <a:t>&gt;}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1" y="2485220"/>
            <a:ext cx="4080210" cy="252795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2784475"/>
            <a:ext cx="1971675" cy="22955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0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0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500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53792AF5-85E1-4EB2-A03B-059B1C06034F}" type="slidenum">
              <a:rPr lang="zh-CN" altLang="en-US" sz="1400" b="0" smtClean="0"/>
              <a:t>68</a:t>
            </a:fld>
            <a:endParaRPr lang="en-US" altLang="zh-CN" sz="1400" b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R5</a:t>
            </a:r>
          </a:p>
        </p:txBody>
      </p:sp>
      <p:sp>
        <p:nvSpPr>
          <p:cNvPr id="661526" name="Text Box 22"/>
          <p:cNvSpPr txBox="1">
            <a:spLocks noChangeArrowheads="1"/>
          </p:cNvSpPr>
          <p:nvPr/>
        </p:nvSpPr>
        <p:spPr bwMode="auto">
          <a:xfrm>
            <a:off x="533400" y="5508625"/>
            <a:ext cx="73834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R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5 </a:t>
            </a:r>
            <a:r>
              <a:rPr kumimoji="1" lang="zh-CN" altLang="en-US" sz="4000" b="0">
                <a:ea typeface="黑体" panose="02010609060101010101" pitchFamily="49" charset="-122"/>
              </a:rPr>
              <a:t>是自反的、对称的、传递的。</a:t>
            </a:r>
            <a:endParaRPr kumimoji="1" lang="zh-CN" altLang="en-US" sz="4000" b="0" baseline="-25000">
              <a:ea typeface="黑体" panose="02010609060101010101" pitchFamily="49" charset="-122"/>
            </a:endParaRPr>
          </a:p>
        </p:txBody>
      </p:sp>
      <p:sp>
        <p:nvSpPr>
          <p:cNvPr id="27655" name="Rectangle 23"/>
          <p:cNvSpPr>
            <a:spLocks noChangeArrowheads="1"/>
          </p:cNvSpPr>
          <p:nvPr/>
        </p:nvSpPr>
        <p:spPr bwMode="auto">
          <a:xfrm>
            <a:off x="379413" y="1341438"/>
            <a:ext cx="8385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600" i="1"/>
              <a:t>R</a:t>
            </a:r>
            <a:r>
              <a:rPr kumimoji="1" lang="en-US" altLang="zh-CN" sz="3600" baseline="-25000"/>
              <a:t>5</a:t>
            </a:r>
            <a:r>
              <a:rPr kumimoji="1" lang="en-US" altLang="zh-CN" sz="3600"/>
              <a:t> = {&lt;</a:t>
            </a:r>
            <a:r>
              <a:rPr kumimoji="1" lang="en-US" altLang="zh-CN" sz="3600" i="1"/>
              <a:t>a</a:t>
            </a:r>
            <a:r>
              <a:rPr kumimoji="1" lang="en-US" altLang="zh-CN" sz="3600"/>
              <a:t>, </a:t>
            </a:r>
            <a:r>
              <a:rPr kumimoji="1" lang="en-US" altLang="zh-CN" sz="3600" i="1"/>
              <a:t>a</a:t>
            </a:r>
            <a:r>
              <a:rPr kumimoji="1" lang="en-US" altLang="zh-CN" sz="3600"/>
              <a:t>&gt;, &lt;</a:t>
            </a:r>
            <a:r>
              <a:rPr kumimoji="1" lang="en-US" altLang="zh-CN" sz="3600" i="1"/>
              <a:t>a</a:t>
            </a:r>
            <a:r>
              <a:rPr kumimoji="1" lang="en-US" altLang="zh-CN" sz="3600"/>
              <a:t>, </a:t>
            </a:r>
            <a:r>
              <a:rPr kumimoji="1" lang="en-US" altLang="zh-CN" sz="3600" i="1"/>
              <a:t>b</a:t>
            </a:r>
            <a:r>
              <a:rPr kumimoji="1" lang="en-US" altLang="zh-CN" sz="3600"/>
              <a:t>&gt;, &lt;</a:t>
            </a:r>
            <a:r>
              <a:rPr kumimoji="1" lang="en-US" altLang="zh-CN" sz="3600" i="1"/>
              <a:t>b</a:t>
            </a:r>
            <a:r>
              <a:rPr kumimoji="1" lang="en-US" altLang="zh-CN" sz="3600"/>
              <a:t>, </a:t>
            </a:r>
            <a:r>
              <a:rPr kumimoji="1" lang="en-US" altLang="zh-CN" sz="3600" i="1"/>
              <a:t>a</a:t>
            </a:r>
            <a:r>
              <a:rPr kumimoji="1" lang="en-US" altLang="zh-CN" sz="3600"/>
              <a:t>&gt;, &lt;</a:t>
            </a:r>
            <a:r>
              <a:rPr kumimoji="1" lang="en-US" altLang="zh-CN" sz="3600" i="1"/>
              <a:t>b</a:t>
            </a:r>
            <a:r>
              <a:rPr kumimoji="1" lang="en-US" altLang="zh-CN" sz="3600"/>
              <a:t>, </a:t>
            </a:r>
            <a:r>
              <a:rPr kumimoji="1" lang="en-US" altLang="zh-CN" sz="3600" i="1"/>
              <a:t>b</a:t>
            </a:r>
            <a:r>
              <a:rPr kumimoji="1" lang="en-US" altLang="zh-CN" sz="3600"/>
              <a:t>&gt;, &lt;</a:t>
            </a:r>
            <a:r>
              <a:rPr kumimoji="1" lang="en-US" altLang="zh-CN" sz="3600" i="1"/>
              <a:t>c</a:t>
            </a:r>
            <a:r>
              <a:rPr kumimoji="1" lang="en-US" altLang="zh-CN" sz="3600"/>
              <a:t>, </a:t>
            </a:r>
            <a:r>
              <a:rPr kumimoji="1" lang="en-US" altLang="zh-CN" sz="3600" i="1"/>
              <a:t>c</a:t>
            </a:r>
            <a:r>
              <a:rPr kumimoji="1" lang="en-US" altLang="zh-CN" sz="3600"/>
              <a:t>&gt;}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3" y="2182018"/>
            <a:ext cx="4434505" cy="29031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2691087"/>
            <a:ext cx="2066925" cy="22002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1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1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1526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2C1FEE10-D15D-45B3-B1F0-71B103FCA55D}" type="slidenum">
              <a:rPr lang="zh-CN" altLang="en-US" sz="1400" b="0" smtClean="0"/>
              <a:t>69</a:t>
            </a:fld>
            <a:endParaRPr lang="en-US" altLang="zh-CN" sz="1400" b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R6</a:t>
            </a:r>
          </a:p>
        </p:txBody>
      </p:sp>
      <p:sp>
        <p:nvSpPr>
          <p:cNvPr id="662546" name="Text Box 18"/>
          <p:cNvSpPr txBox="1">
            <a:spLocks noChangeArrowheads="1"/>
          </p:cNvSpPr>
          <p:nvPr/>
        </p:nvSpPr>
        <p:spPr bwMode="auto">
          <a:xfrm>
            <a:off x="590550" y="5286375"/>
            <a:ext cx="78930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kumimoji="1" lang="en-US" altLang="zh-CN" sz="4000" b="0" baseline="-25000">
                <a:latin typeface="黑体" panose="02010609060101010101" pitchFamily="49" charset="-122"/>
                <a:ea typeface="黑体" panose="02010609060101010101" pitchFamily="49" charset="-122"/>
              </a:rPr>
              <a:t>6 </a:t>
            </a:r>
            <a:r>
              <a:rPr kumimoji="1" lang="zh-CN" altLang="en-US" sz="4000" b="0">
                <a:latin typeface="黑体" panose="02010609060101010101" pitchFamily="49" charset="-122"/>
                <a:ea typeface="黑体" panose="02010609060101010101" pitchFamily="49" charset="-122"/>
              </a:rPr>
              <a:t>是反自反的、反对称、传递的。</a:t>
            </a:r>
            <a:endParaRPr kumimoji="1" lang="zh-CN" altLang="en-US" sz="4000" b="0" baseline="-25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9" name="Rectangle 19"/>
          <p:cNvSpPr>
            <a:spLocks noChangeArrowheads="1"/>
          </p:cNvSpPr>
          <p:nvPr/>
        </p:nvSpPr>
        <p:spPr bwMode="auto">
          <a:xfrm>
            <a:off x="941388" y="1268413"/>
            <a:ext cx="61071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i="1"/>
              <a:t>R</a:t>
            </a:r>
            <a:r>
              <a:rPr kumimoji="1" lang="en-US" altLang="zh-CN" sz="4000" baseline="-25000"/>
              <a:t>6</a:t>
            </a:r>
            <a:r>
              <a:rPr kumimoji="1" lang="en-US" altLang="zh-CN" sz="4000"/>
              <a:t> = {&lt;</a:t>
            </a:r>
            <a:r>
              <a:rPr kumimoji="1" lang="en-US" altLang="zh-CN" sz="4000" i="1"/>
              <a:t>a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b</a:t>
            </a:r>
            <a:r>
              <a:rPr kumimoji="1" lang="en-US" altLang="zh-CN" sz="4000"/>
              <a:t>&gt;, &lt;</a:t>
            </a:r>
            <a:r>
              <a:rPr kumimoji="1" lang="en-US" altLang="zh-CN" sz="4000" i="1"/>
              <a:t>b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c</a:t>
            </a:r>
            <a:r>
              <a:rPr kumimoji="1" lang="en-US" altLang="zh-CN" sz="4000"/>
              <a:t>&gt;, &lt;</a:t>
            </a:r>
            <a:r>
              <a:rPr kumimoji="1" lang="en-US" altLang="zh-CN" sz="4000" i="1"/>
              <a:t>a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c</a:t>
            </a:r>
            <a:r>
              <a:rPr kumimoji="1" lang="en-US" altLang="zh-CN" sz="4000"/>
              <a:t>&gt;}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97" y="2333625"/>
            <a:ext cx="3924158" cy="24733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136" y="2745001"/>
            <a:ext cx="1524000" cy="21336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2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2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2546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7F24F8C2-FEE5-4380-A630-64E894E24C31}" type="slidenum">
              <a:rPr lang="zh-CN" altLang="en-US" sz="1400" b="0" smtClean="0"/>
              <a:t>70</a:t>
            </a:fld>
            <a:endParaRPr lang="en-US" altLang="zh-CN" sz="1400" b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R7</a:t>
            </a:r>
          </a:p>
        </p:txBody>
      </p:sp>
      <p:sp>
        <p:nvSpPr>
          <p:cNvPr id="663570" name="Text Box 18"/>
          <p:cNvSpPr txBox="1">
            <a:spLocks noChangeArrowheads="1"/>
          </p:cNvSpPr>
          <p:nvPr/>
        </p:nvSpPr>
        <p:spPr bwMode="auto">
          <a:xfrm>
            <a:off x="1447800" y="5508625"/>
            <a:ext cx="58594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R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7 </a:t>
            </a:r>
            <a:r>
              <a:rPr kumimoji="1" lang="zh-CN" altLang="en-US" sz="4000" b="0">
                <a:ea typeface="黑体" panose="02010609060101010101" pitchFamily="49" charset="-122"/>
              </a:rPr>
              <a:t>是反自反、反对称的。</a:t>
            </a:r>
          </a:p>
        </p:txBody>
      </p:sp>
      <p:sp>
        <p:nvSpPr>
          <p:cNvPr id="29703" name="Rectangle 19"/>
          <p:cNvSpPr>
            <a:spLocks noChangeArrowheads="1"/>
          </p:cNvSpPr>
          <p:nvPr/>
        </p:nvSpPr>
        <p:spPr bwMode="auto">
          <a:xfrm>
            <a:off x="868363" y="1341438"/>
            <a:ext cx="61071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Clr>
                <a:schemeClr val="folHlink"/>
              </a:buClr>
              <a:buSzPct val="60000"/>
            </a:pPr>
            <a:r>
              <a:rPr kumimoji="1" lang="en-US" altLang="zh-CN" sz="4000" i="1"/>
              <a:t>R</a:t>
            </a:r>
            <a:r>
              <a:rPr kumimoji="1" lang="en-US" altLang="zh-CN" sz="4000" baseline="-25000"/>
              <a:t>7</a:t>
            </a:r>
            <a:r>
              <a:rPr kumimoji="1" lang="en-US" altLang="zh-CN" sz="4000"/>
              <a:t> = {&lt;</a:t>
            </a:r>
            <a:r>
              <a:rPr kumimoji="1" lang="en-US" altLang="zh-CN" sz="4000" i="1"/>
              <a:t>a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b</a:t>
            </a:r>
            <a:r>
              <a:rPr kumimoji="1" lang="en-US" altLang="zh-CN" sz="4000"/>
              <a:t>&gt;, &lt;</a:t>
            </a:r>
            <a:r>
              <a:rPr kumimoji="1" lang="en-US" altLang="zh-CN" sz="4000" i="1"/>
              <a:t>b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c</a:t>
            </a:r>
            <a:r>
              <a:rPr kumimoji="1" lang="en-US" altLang="zh-CN" sz="4000"/>
              <a:t>&gt;, &lt;</a:t>
            </a:r>
            <a:r>
              <a:rPr kumimoji="1" lang="en-US" altLang="zh-CN" sz="4000" i="1"/>
              <a:t>c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a</a:t>
            </a:r>
            <a:r>
              <a:rPr kumimoji="1" lang="en-US" altLang="zh-CN" sz="4000"/>
              <a:t>&gt;}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285" y="2151435"/>
            <a:ext cx="4233699" cy="272377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2620139"/>
            <a:ext cx="1400175" cy="20955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3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3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3570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CFC86066-DC28-4467-8974-E59FDDDB0637}" type="slidenum">
              <a:rPr lang="zh-CN" altLang="en-US" sz="1400" b="0" smtClean="0"/>
              <a:t>71</a:t>
            </a:fld>
            <a:endParaRPr lang="en-US" altLang="zh-CN" sz="1400" b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R8</a:t>
            </a:r>
          </a:p>
        </p:txBody>
      </p:sp>
      <p:sp>
        <p:nvSpPr>
          <p:cNvPr id="664580" name="Text Box 4"/>
          <p:cNvSpPr txBox="1">
            <a:spLocks noChangeArrowheads="1"/>
          </p:cNvSpPr>
          <p:nvPr/>
        </p:nvSpPr>
        <p:spPr bwMode="auto">
          <a:xfrm>
            <a:off x="425450" y="5508625"/>
            <a:ext cx="73834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R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8 </a:t>
            </a:r>
            <a:r>
              <a:rPr kumimoji="1" lang="zh-CN" altLang="en-US" sz="4000" b="0">
                <a:ea typeface="黑体" panose="02010609060101010101" pitchFamily="49" charset="-122"/>
              </a:rPr>
              <a:t>是反自反、反对称、传递的。</a:t>
            </a:r>
          </a:p>
        </p:txBody>
      </p:sp>
      <p:sp>
        <p:nvSpPr>
          <p:cNvPr id="30728" name="Rectangle 17"/>
          <p:cNvSpPr>
            <a:spLocks noChangeArrowheads="1"/>
          </p:cNvSpPr>
          <p:nvPr/>
        </p:nvSpPr>
        <p:spPr bwMode="auto">
          <a:xfrm>
            <a:off x="868363" y="1412875"/>
            <a:ext cx="45418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i="1"/>
              <a:t>R</a:t>
            </a:r>
            <a:r>
              <a:rPr kumimoji="1" lang="en-US" altLang="zh-CN" sz="4000" baseline="-25000"/>
              <a:t>8</a:t>
            </a:r>
            <a:r>
              <a:rPr kumimoji="1" lang="en-US" altLang="zh-CN" sz="4000"/>
              <a:t> = {&lt;</a:t>
            </a:r>
            <a:r>
              <a:rPr kumimoji="1" lang="en-US" altLang="zh-CN" sz="4000" i="1"/>
              <a:t>a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b</a:t>
            </a:r>
            <a:r>
              <a:rPr kumimoji="1" lang="en-US" altLang="zh-CN" sz="4000"/>
              <a:t>&gt;, &lt;</a:t>
            </a:r>
            <a:r>
              <a:rPr kumimoji="1" lang="en-US" altLang="zh-CN" sz="4000" i="1"/>
              <a:t>a</a:t>
            </a:r>
            <a:r>
              <a:rPr kumimoji="1" lang="en-US" altLang="zh-CN" sz="4000"/>
              <a:t>, </a:t>
            </a:r>
            <a:r>
              <a:rPr kumimoji="1" lang="en-US" altLang="zh-CN" sz="4000" i="1"/>
              <a:t>c</a:t>
            </a:r>
            <a:r>
              <a:rPr kumimoji="1" lang="en-US" altLang="zh-CN" sz="4000"/>
              <a:t>&gt;}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32" y="2395842"/>
            <a:ext cx="3906738" cy="260449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2725738"/>
            <a:ext cx="1752600" cy="21717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4580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84B3CE93-CE4A-4FC9-8751-810CF2DCC488}" type="slidenum">
              <a:rPr lang="zh-CN" altLang="en-US" sz="1400" b="0" smtClean="0"/>
              <a:t>72</a:t>
            </a:fld>
            <a:endParaRPr lang="en-US" altLang="zh-CN" sz="1400" b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总结</a:t>
            </a:r>
            <a:endParaRPr lang="en-US" altLang="zh-CN"/>
          </a:p>
        </p:txBody>
      </p:sp>
      <p:sp>
        <p:nvSpPr>
          <p:cNvPr id="665603" name="Rectangle 3"/>
          <p:cNvSpPr>
            <a:spLocks noChangeArrowheads="1"/>
          </p:cNvSpPr>
          <p:nvPr/>
        </p:nvSpPr>
        <p:spPr bwMode="auto">
          <a:xfrm>
            <a:off x="0" y="1152525"/>
            <a:ext cx="9144000" cy="52482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4800" b="0">
              <a:solidFill>
                <a:srgbClr val="FF3300"/>
              </a:solidFill>
              <a:ea typeface="隶书" panose="02010509060101010101" pitchFamily="49" charset="-122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0" y="1393825"/>
            <a:ext cx="9144000" cy="4702175"/>
            <a:chOff x="-3" y="-3"/>
            <a:chExt cx="3930" cy="3462"/>
          </a:xfrm>
        </p:grpSpPr>
        <p:grpSp>
          <p:nvGrpSpPr>
            <p:cNvPr id="31752" name="Group 5"/>
            <p:cNvGrpSpPr/>
            <p:nvPr/>
          </p:nvGrpSpPr>
          <p:grpSpPr bwMode="auto">
            <a:xfrm>
              <a:off x="0" y="0"/>
              <a:ext cx="3924" cy="3456"/>
              <a:chOff x="0" y="0"/>
              <a:chExt cx="3924" cy="3456"/>
            </a:xfrm>
          </p:grpSpPr>
          <p:grpSp>
            <p:nvGrpSpPr>
              <p:cNvPr id="31754" name="Group 6"/>
              <p:cNvGrpSpPr/>
              <p:nvPr/>
            </p:nvGrpSpPr>
            <p:grpSpPr bwMode="auto">
              <a:xfrm>
                <a:off x="0" y="0"/>
                <a:ext cx="654" cy="384"/>
                <a:chOff x="0" y="0"/>
                <a:chExt cx="654" cy="384"/>
              </a:xfrm>
            </p:grpSpPr>
            <p:sp>
              <p:nvSpPr>
                <p:cNvPr id="31914" name="Rectangle 7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915" name="Rectangle 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55" name="Group 9"/>
              <p:cNvGrpSpPr/>
              <p:nvPr/>
            </p:nvGrpSpPr>
            <p:grpSpPr bwMode="auto">
              <a:xfrm>
                <a:off x="654" y="0"/>
                <a:ext cx="654" cy="384"/>
                <a:chOff x="654" y="0"/>
                <a:chExt cx="654" cy="384"/>
              </a:xfrm>
            </p:grpSpPr>
            <p:sp>
              <p:nvSpPr>
                <p:cNvPr id="31912" name="Rectangle 10"/>
                <p:cNvSpPr>
                  <a:spLocks noChangeArrowheads="1"/>
                </p:cNvSpPr>
                <p:nvPr/>
              </p:nvSpPr>
              <p:spPr bwMode="auto">
                <a:xfrm>
                  <a:off x="697" y="0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2000">
                      <a:solidFill>
                        <a:srgbClr val="000000"/>
                      </a:solidFill>
                    </a:rPr>
                    <a:t>自反性</a:t>
                  </a:r>
                  <a:endParaRPr kumimoji="1" lang="zh-CN" altLang="en-US" sz="28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913" name="Rectangle 11"/>
                <p:cNvSpPr>
                  <a:spLocks noChangeArrowheads="1"/>
                </p:cNvSpPr>
                <p:nvPr/>
              </p:nvSpPr>
              <p:spPr bwMode="auto">
                <a:xfrm>
                  <a:off x="654" y="0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56" name="Group 12"/>
              <p:cNvGrpSpPr/>
              <p:nvPr/>
            </p:nvGrpSpPr>
            <p:grpSpPr bwMode="auto">
              <a:xfrm>
                <a:off x="1308" y="0"/>
                <a:ext cx="654" cy="384"/>
                <a:chOff x="1308" y="0"/>
                <a:chExt cx="654" cy="384"/>
              </a:xfrm>
            </p:grpSpPr>
            <p:sp>
              <p:nvSpPr>
                <p:cNvPr id="31910" name="Rectangle 13"/>
                <p:cNvSpPr>
                  <a:spLocks noChangeArrowheads="1"/>
                </p:cNvSpPr>
                <p:nvPr/>
              </p:nvSpPr>
              <p:spPr bwMode="auto">
                <a:xfrm>
                  <a:off x="1351" y="0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2000">
                      <a:solidFill>
                        <a:srgbClr val="000000"/>
                      </a:solidFill>
                    </a:rPr>
                    <a:t>反自反性</a:t>
                  </a:r>
                  <a:endParaRPr kumimoji="1"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911" name="Rectangle 14"/>
                <p:cNvSpPr>
                  <a:spLocks noChangeArrowheads="1"/>
                </p:cNvSpPr>
                <p:nvPr/>
              </p:nvSpPr>
              <p:spPr bwMode="auto">
                <a:xfrm>
                  <a:off x="1308" y="0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57" name="Group 15"/>
              <p:cNvGrpSpPr/>
              <p:nvPr/>
            </p:nvGrpSpPr>
            <p:grpSpPr bwMode="auto">
              <a:xfrm>
                <a:off x="1962" y="0"/>
                <a:ext cx="654" cy="384"/>
                <a:chOff x="1962" y="0"/>
                <a:chExt cx="654" cy="384"/>
              </a:xfrm>
            </p:grpSpPr>
            <p:sp>
              <p:nvSpPr>
                <p:cNvPr id="31908" name="Rectangle 16"/>
                <p:cNvSpPr>
                  <a:spLocks noChangeArrowheads="1"/>
                </p:cNvSpPr>
                <p:nvPr/>
              </p:nvSpPr>
              <p:spPr bwMode="auto">
                <a:xfrm>
                  <a:off x="2005" y="0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2000">
                      <a:solidFill>
                        <a:srgbClr val="000000"/>
                      </a:solidFill>
                    </a:rPr>
                    <a:t>对称性</a:t>
                  </a:r>
                  <a:endParaRPr kumimoji="1" lang="zh-CN" altLang="en-US" sz="28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909" name="Rectangle 17"/>
                <p:cNvSpPr>
                  <a:spLocks noChangeArrowheads="1"/>
                </p:cNvSpPr>
                <p:nvPr/>
              </p:nvSpPr>
              <p:spPr bwMode="auto">
                <a:xfrm>
                  <a:off x="1962" y="0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58" name="Group 18"/>
              <p:cNvGrpSpPr/>
              <p:nvPr/>
            </p:nvGrpSpPr>
            <p:grpSpPr bwMode="auto">
              <a:xfrm>
                <a:off x="2616" y="0"/>
                <a:ext cx="654" cy="384"/>
                <a:chOff x="2616" y="0"/>
                <a:chExt cx="654" cy="384"/>
              </a:xfrm>
            </p:grpSpPr>
            <p:sp>
              <p:nvSpPr>
                <p:cNvPr id="31906" name="Rectangle 19"/>
                <p:cNvSpPr>
                  <a:spLocks noChangeArrowheads="1"/>
                </p:cNvSpPr>
                <p:nvPr/>
              </p:nvSpPr>
              <p:spPr bwMode="auto">
                <a:xfrm>
                  <a:off x="2659" y="0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2000">
                      <a:solidFill>
                        <a:srgbClr val="000000"/>
                      </a:solidFill>
                    </a:rPr>
                    <a:t>反对称性</a:t>
                  </a: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907" name="Rectangle 20"/>
                <p:cNvSpPr>
                  <a:spLocks noChangeArrowheads="1"/>
                </p:cNvSpPr>
                <p:nvPr/>
              </p:nvSpPr>
              <p:spPr bwMode="auto">
                <a:xfrm>
                  <a:off x="2616" y="0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59" name="Group 21"/>
              <p:cNvGrpSpPr/>
              <p:nvPr/>
            </p:nvGrpSpPr>
            <p:grpSpPr bwMode="auto">
              <a:xfrm>
                <a:off x="3270" y="0"/>
                <a:ext cx="654" cy="384"/>
                <a:chOff x="3270" y="0"/>
                <a:chExt cx="654" cy="384"/>
              </a:xfrm>
            </p:grpSpPr>
            <p:sp>
              <p:nvSpPr>
                <p:cNvPr id="31904" name="Rectangle 22"/>
                <p:cNvSpPr>
                  <a:spLocks noChangeArrowheads="1"/>
                </p:cNvSpPr>
                <p:nvPr/>
              </p:nvSpPr>
              <p:spPr bwMode="auto">
                <a:xfrm>
                  <a:off x="3313" y="0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2000">
                      <a:solidFill>
                        <a:srgbClr val="000000"/>
                      </a:solidFill>
                    </a:rPr>
                    <a:t>传递性</a:t>
                  </a:r>
                  <a:endParaRPr kumimoji="1" lang="zh-CN" altLang="en-US" sz="28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905" name="Rectangle 23"/>
                <p:cNvSpPr>
                  <a:spLocks noChangeArrowheads="1"/>
                </p:cNvSpPr>
                <p:nvPr/>
              </p:nvSpPr>
              <p:spPr bwMode="auto">
                <a:xfrm>
                  <a:off x="3270" y="0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60" name="Group 24"/>
              <p:cNvGrpSpPr/>
              <p:nvPr/>
            </p:nvGrpSpPr>
            <p:grpSpPr bwMode="auto">
              <a:xfrm>
                <a:off x="0" y="384"/>
                <a:ext cx="654" cy="384"/>
                <a:chOff x="0" y="384"/>
                <a:chExt cx="654" cy="384"/>
              </a:xfrm>
            </p:grpSpPr>
            <p:sp>
              <p:nvSpPr>
                <p:cNvPr id="31902" name="Rectangle 25"/>
                <p:cNvSpPr>
                  <a:spLocks noChangeArrowheads="1"/>
                </p:cNvSpPr>
                <p:nvPr/>
              </p:nvSpPr>
              <p:spPr bwMode="auto">
                <a:xfrm>
                  <a:off x="43" y="384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3200">
                      <a:solidFill>
                        <a:srgbClr val="000000"/>
                      </a:solidFill>
                    </a:rPr>
                    <a:t>R1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903" name="Rectangle 26"/>
                <p:cNvSpPr>
                  <a:spLocks noChangeArrowheads="1"/>
                </p:cNvSpPr>
                <p:nvPr/>
              </p:nvSpPr>
              <p:spPr bwMode="auto">
                <a:xfrm>
                  <a:off x="0" y="384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61" name="Group 27"/>
              <p:cNvGrpSpPr/>
              <p:nvPr/>
            </p:nvGrpSpPr>
            <p:grpSpPr bwMode="auto">
              <a:xfrm>
                <a:off x="654" y="384"/>
                <a:ext cx="654" cy="384"/>
                <a:chOff x="654" y="384"/>
                <a:chExt cx="654" cy="384"/>
              </a:xfrm>
            </p:grpSpPr>
            <p:sp>
              <p:nvSpPr>
                <p:cNvPr id="31900" name="Rectangle 28"/>
                <p:cNvSpPr>
                  <a:spLocks noChangeArrowheads="1"/>
                </p:cNvSpPr>
                <p:nvPr/>
              </p:nvSpPr>
              <p:spPr bwMode="auto">
                <a:xfrm>
                  <a:off x="697" y="384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  <a:sym typeface="Symbol" panose="05050102010706020507" pitchFamily="18" charset="2"/>
                    </a:rPr>
                    <a:t></a:t>
                  </a:r>
                  <a:endParaRPr kumimoji="1" lang="zh-CN" altLang="en-US" sz="3200">
                    <a:solidFill>
                      <a:srgbClr val="000000"/>
                    </a:solidFill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901" name="Rectangle 29"/>
                <p:cNvSpPr>
                  <a:spLocks noChangeArrowheads="1"/>
                </p:cNvSpPr>
                <p:nvPr/>
              </p:nvSpPr>
              <p:spPr bwMode="auto">
                <a:xfrm>
                  <a:off x="654" y="384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62" name="Group 30"/>
              <p:cNvGrpSpPr/>
              <p:nvPr/>
            </p:nvGrpSpPr>
            <p:grpSpPr bwMode="auto">
              <a:xfrm>
                <a:off x="1308" y="384"/>
                <a:ext cx="654" cy="384"/>
                <a:chOff x="1308" y="384"/>
                <a:chExt cx="654" cy="384"/>
              </a:xfrm>
            </p:grpSpPr>
            <p:sp>
              <p:nvSpPr>
                <p:cNvPr id="31898" name="Rectangle 31"/>
                <p:cNvSpPr>
                  <a:spLocks noChangeArrowheads="1"/>
                </p:cNvSpPr>
                <p:nvPr/>
              </p:nvSpPr>
              <p:spPr bwMode="auto">
                <a:xfrm>
                  <a:off x="1351" y="384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99" name="Rectangle 32"/>
                <p:cNvSpPr>
                  <a:spLocks noChangeArrowheads="1"/>
                </p:cNvSpPr>
                <p:nvPr/>
              </p:nvSpPr>
              <p:spPr bwMode="auto">
                <a:xfrm>
                  <a:off x="1308" y="384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63" name="Group 33"/>
              <p:cNvGrpSpPr/>
              <p:nvPr/>
            </p:nvGrpSpPr>
            <p:grpSpPr bwMode="auto">
              <a:xfrm>
                <a:off x="1962" y="384"/>
                <a:ext cx="654" cy="384"/>
                <a:chOff x="1962" y="384"/>
                <a:chExt cx="654" cy="384"/>
              </a:xfrm>
            </p:grpSpPr>
            <p:sp>
              <p:nvSpPr>
                <p:cNvPr id="31896" name="Rectangle 34"/>
                <p:cNvSpPr>
                  <a:spLocks noChangeArrowheads="1"/>
                </p:cNvSpPr>
                <p:nvPr/>
              </p:nvSpPr>
              <p:spPr bwMode="auto">
                <a:xfrm>
                  <a:off x="2005" y="384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97" name="Rectangle 35"/>
                <p:cNvSpPr>
                  <a:spLocks noChangeArrowheads="1"/>
                </p:cNvSpPr>
                <p:nvPr/>
              </p:nvSpPr>
              <p:spPr bwMode="auto">
                <a:xfrm>
                  <a:off x="1962" y="384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64" name="Group 36"/>
              <p:cNvGrpSpPr/>
              <p:nvPr/>
            </p:nvGrpSpPr>
            <p:grpSpPr bwMode="auto">
              <a:xfrm>
                <a:off x="2616" y="384"/>
                <a:ext cx="654" cy="384"/>
                <a:chOff x="2616" y="384"/>
                <a:chExt cx="654" cy="384"/>
              </a:xfrm>
            </p:grpSpPr>
            <p:sp>
              <p:nvSpPr>
                <p:cNvPr id="31894" name="Rectangle 37"/>
                <p:cNvSpPr>
                  <a:spLocks noChangeArrowheads="1"/>
                </p:cNvSpPr>
                <p:nvPr/>
              </p:nvSpPr>
              <p:spPr bwMode="auto">
                <a:xfrm>
                  <a:off x="2659" y="384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  <a:sym typeface="Symbol" panose="05050102010706020507" pitchFamily="18" charset="2"/>
                    </a:rPr>
                    <a:t></a:t>
                  </a:r>
                  <a:endParaRPr kumimoji="1" lang="zh-CN" altLang="en-US" sz="3200">
                    <a:solidFill>
                      <a:srgbClr val="000000"/>
                    </a:solidFill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95" name="Rectangle 38"/>
                <p:cNvSpPr>
                  <a:spLocks noChangeArrowheads="1"/>
                </p:cNvSpPr>
                <p:nvPr/>
              </p:nvSpPr>
              <p:spPr bwMode="auto">
                <a:xfrm>
                  <a:off x="2616" y="384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65" name="Group 39"/>
              <p:cNvGrpSpPr/>
              <p:nvPr/>
            </p:nvGrpSpPr>
            <p:grpSpPr bwMode="auto">
              <a:xfrm>
                <a:off x="3270" y="384"/>
                <a:ext cx="654" cy="384"/>
                <a:chOff x="3270" y="384"/>
                <a:chExt cx="654" cy="384"/>
              </a:xfrm>
            </p:grpSpPr>
            <p:sp>
              <p:nvSpPr>
                <p:cNvPr id="31892" name="Rectangle 40"/>
                <p:cNvSpPr>
                  <a:spLocks noChangeArrowheads="1"/>
                </p:cNvSpPr>
                <p:nvPr/>
              </p:nvSpPr>
              <p:spPr bwMode="auto">
                <a:xfrm>
                  <a:off x="3313" y="384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  <a:sym typeface="Symbol" panose="05050102010706020507" pitchFamily="18" charset="2"/>
                    </a:rPr>
                    <a:t></a:t>
                  </a:r>
                  <a:endParaRPr kumimoji="1" lang="zh-CN" altLang="en-US" sz="3200">
                    <a:solidFill>
                      <a:srgbClr val="000000"/>
                    </a:solidFill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93" name="Rectangle 41"/>
                <p:cNvSpPr>
                  <a:spLocks noChangeArrowheads="1"/>
                </p:cNvSpPr>
                <p:nvPr/>
              </p:nvSpPr>
              <p:spPr bwMode="auto">
                <a:xfrm>
                  <a:off x="3270" y="384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66" name="Group 42"/>
              <p:cNvGrpSpPr/>
              <p:nvPr/>
            </p:nvGrpSpPr>
            <p:grpSpPr bwMode="auto">
              <a:xfrm>
                <a:off x="0" y="768"/>
                <a:ext cx="654" cy="384"/>
                <a:chOff x="0" y="768"/>
                <a:chExt cx="654" cy="384"/>
              </a:xfrm>
            </p:grpSpPr>
            <p:sp>
              <p:nvSpPr>
                <p:cNvPr id="31890" name="Rectangle 43"/>
                <p:cNvSpPr>
                  <a:spLocks noChangeArrowheads="1"/>
                </p:cNvSpPr>
                <p:nvPr/>
              </p:nvSpPr>
              <p:spPr bwMode="auto">
                <a:xfrm>
                  <a:off x="43" y="768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3200">
                      <a:solidFill>
                        <a:srgbClr val="000000"/>
                      </a:solidFill>
                    </a:rPr>
                    <a:t>R2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91" name="Rectangle 44"/>
                <p:cNvSpPr>
                  <a:spLocks noChangeArrowheads="1"/>
                </p:cNvSpPr>
                <p:nvPr/>
              </p:nvSpPr>
              <p:spPr bwMode="auto">
                <a:xfrm>
                  <a:off x="0" y="768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67" name="Group 45"/>
              <p:cNvGrpSpPr/>
              <p:nvPr/>
            </p:nvGrpSpPr>
            <p:grpSpPr bwMode="auto">
              <a:xfrm>
                <a:off x="654" y="768"/>
                <a:ext cx="654" cy="384"/>
                <a:chOff x="654" y="768"/>
                <a:chExt cx="654" cy="384"/>
              </a:xfrm>
            </p:grpSpPr>
            <p:sp>
              <p:nvSpPr>
                <p:cNvPr id="31888" name="Rectangle 46"/>
                <p:cNvSpPr>
                  <a:spLocks noChangeArrowheads="1"/>
                </p:cNvSpPr>
                <p:nvPr/>
              </p:nvSpPr>
              <p:spPr bwMode="auto">
                <a:xfrm>
                  <a:off x="697" y="768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89" name="Rectangle 47"/>
                <p:cNvSpPr>
                  <a:spLocks noChangeArrowheads="1"/>
                </p:cNvSpPr>
                <p:nvPr/>
              </p:nvSpPr>
              <p:spPr bwMode="auto">
                <a:xfrm>
                  <a:off x="654" y="768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68" name="Group 48"/>
              <p:cNvGrpSpPr/>
              <p:nvPr/>
            </p:nvGrpSpPr>
            <p:grpSpPr bwMode="auto">
              <a:xfrm>
                <a:off x="1308" y="768"/>
                <a:ext cx="654" cy="384"/>
                <a:chOff x="1308" y="768"/>
                <a:chExt cx="654" cy="384"/>
              </a:xfrm>
            </p:grpSpPr>
            <p:sp>
              <p:nvSpPr>
                <p:cNvPr id="31886" name="Rectangle 49"/>
                <p:cNvSpPr>
                  <a:spLocks noChangeArrowheads="1"/>
                </p:cNvSpPr>
                <p:nvPr/>
              </p:nvSpPr>
              <p:spPr bwMode="auto">
                <a:xfrm>
                  <a:off x="1351" y="768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87" name="Rectangle 50"/>
                <p:cNvSpPr>
                  <a:spLocks noChangeArrowheads="1"/>
                </p:cNvSpPr>
                <p:nvPr/>
              </p:nvSpPr>
              <p:spPr bwMode="auto">
                <a:xfrm>
                  <a:off x="1308" y="768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69" name="Group 51"/>
              <p:cNvGrpSpPr/>
              <p:nvPr/>
            </p:nvGrpSpPr>
            <p:grpSpPr bwMode="auto">
              <a:xfrm>
                <a:off x="1962" y="768"/>
                <a:ext cx="654" cy="384"/>
                <a:chOff x="1962" y="768"/>
                <a:chExt cx="654" cy="384"/>
              </a:xfrm>
            </p:grpSpPr>
            <p:sp>
              <p:nvSpPr>
                <p:cNvPr id="31884" name="Rectangle 52"/>
                <p:cNvSpPr>
                  <a:spLocks noChangeArrowheads="1"/>
                </p:cNvSpPr>
                <p:nvPr/>
              </p:nvSpPr>
              <p:spPr bwMode="auto">
                <a:xfrm>
                  <a:off x="2005" y="768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85" name="Rectangle 53"/>
                <p:cNvSpPr>
                  <a:spLocks noChangeArrowheads="1"/>
                </p:cNvSpPr>
                <p:nvPr/>
              </p:nvSpPr>
              <p:spPr bwMode="auto">
                <a:xfrm>
                  <a:off x="1962" y="768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70" name="Group 54"/>
              <p:cNvGrpSpPr/>
              <p:nvPr/>
            </p:nvGrpSpPr>
            <p:grpSpPr bwMode="auto">
              <a:xfrm>
                <a:off x="2616" y="768"/>
                <a:ext cx="654" cy="384"/>
                <a:chOff x="2616" y="768"/>
                <a:chExt cx="654" cy="384"/>
              </a:xfrm>
            </p:grpSpPr>
            <p:sp>
              <p:nvSpPr>
                <p:cNvPr id="31882" name="Rectangle 55"/>
                <p:cNvSpPr>
                  <a:spLocks noChangeArrowheads="1"/>
                </p:cNvSpPr>
                <p:nvPr/>
              </p:nvSpPr>
              <p:spPr bwMode="auto">
                <a:xfrm>
                  <a:off x="2659" y="768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  <a:sym typeface="Symbol" panose="05050102010706020507" pitchFamily="18" charset="2"/>
                    </a:rPr>
                    <a:t></a:t>
                  </a:r>
                  <a:endParaRPr kumimoji="1" lang="zh-CN" altLang="en-US" sz="3200">
                    <a:solidFill>
                      <a:srgbClr val="000000"/>
                    </a:solidFill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83" name="Rectangle 56"/>
                <p:cNvSpPr>
                  <a:spLocks noChangeArrowheads="1"/>
                </p:cNvSpPr>
                <p:nvPr/>
              </p:nvSpPr>
              <p:spPr bwMode="auto">
                <a:xfrm>
                  <a:off x="2616" y="768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71" name="Group 57"/>
              <p:cNvGrpSpPr/>
              <p:nvPr/>
            </p:nvGrpSpPr>
            <p:grpSpPr bwMode="auto">
              <a:xfrm>
                <a:off x="3270" y="768"/>
                <a:ext cx="654" cy="384"/>
                <a:chOff x="3270" y="768"/>
                <a:chExt cx="654" cy="384"/>
              </a:xfrm>
            </p:grpSpPr>
            <p:sp>
              <p:nvSpPr>
                <p:cNvPr id="31880" name="Rectangle 58"/>
                <p:cNvSpPr>
                  <a:spLocks noChangeArrowheads="1"/>
                </p:cNvSpPr>
                <p:nvPr/>
              </p:nvSpPr>
              <p:spPr bwMode="auto">
                <a:xfrm>
                  <a:off x="3313" y="768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81" name="Rectangle 59"/>
                <p:cNvSpPr>
                  <a:spLocks noChangeArrowheads="1"/>
                </p:cNvSpPr>
                <p:nvPr/>
              </p:nvSpPr>
              <p:spPr bwMode="auto">
                <a:xfrm>
                  <a:off x="3270" y="768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72" name="Group 60"/>
              <p:cNvGrpSpPr/>
              <p:nvPr/>
            </p:nvGrpSpPr>
            <p:grpSpPr bwMode="auto">
              <a:xfrm>
                <a:off x="0" y="1152"/>
                <a:ext cx="654" cy="384"/>
                <a:chOff x="0" y="1152"/>
                <a:chExt cx="654" cy="384"/>
              </a:xfrm>
            </p:grpSpPr>
            <p:sp>
              <p:nvSpPr>
                <p:cNvPr id="31878" name="Rectangle 61"/>
                <p:cNvSpPr>
                  <a:spLocks noChangeArrowheads="1"/>
                </p:cNvSpPr>
                <p:nvPr/>
              </p:nvSpPr>
              <p:spPr bwMode="auto">
                <a:xfrm>
                  <a:off x="43" y="1152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3200">
                      <a:solidFill>
                        <a:srgbClr val="000000"/>
                      </a:solidFill>
                    </a:rPr>
                    <a:t>R3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79" name="Rectangle 62"/>
                <p:cNvSpPr>
                  <a:spLocks noChangeArrowheads="1"/>
                </p:cNvSpPr>
                <p:nvPr/>
              </p:nvSpPr>
              <p:spPr bwMode="auto">
                <a:xfrm>
                  <a:off x="0" y="1152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73" name="Group 63"/>
              <p:cNvGrpSpPr/>
              <p:nvPr/>
            </p:nvGrpSpPr>
            <p:grpSpPr bwMode="auto">
              <a:xfrm>
                <a:off x="654" y="1152"/>
                <a:ext cx="654" cy="384"/>
                <a:chOff x="654" y="1152"/>
                <a:chExt cx="654" cy="384"/>
              </a:xfrm>
            </p:grpSpPr>
            <p:sp>
              <p:nvSpPr>
                <p:cNvPr id="31876" name="Rectangle 64"/>
                <p:cNvSpPr>
                  <a:spLocks noChangeArrowheads="1"/>
                </p:cNvSpPr>
                <p:nvPr/>
              </p:nvSpPr>
              <p:spPr bwMode="auto">
                <a:xfrm>
                  <a:off x="697" y="1152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77" name="Rectangle 65"/>
                <p:cNvSpPr>
                  <a:spLocks noChangeArrowheads="1"/>
                </p:cNvSpPr>
                <p:nvPr/>
              </p:nvSpPr>
              <p:spPr bwMode="auto">
                <a:xfrm>
                  <a:off x="654" y="1152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74" name="Group 66"/>
              <p:cNvGrpSpPr/>
              <p:nvPr/>
            </p:nvGrpSpPr>
            <p:grpSpPr bwMode="auto">
              <a:xfrm>
                <a:off x="1308" y="1152"/>
                <a:ext cx="654" cy="384"/>
                <a:chOff x="1308" y="1152"/>
                <a:chExt cx="654" cy="384"/>
              </a:xfrm>
            </p:grpSpPr>
            <p:sp>
              <p:nvSpPr>
                <p:cNvPr id="31874" name="Rectangle 67"/>
                <p:cNvSpPr>
                  <a:spLocks noChangeArrowheads="1"/>
                </p:cNvSpPr>
                <p:nvPr/>
              </p:nvSpPr>
              <p:spPr bwMode="auto">
                <a:xfrm>
                  <a:off x="1351" y="1152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75" name="Rectangle 68"/>
                <p:cNvSpPr>
                  <a:spLocks noChangeArrowheads="1"/>
                </p:cNvSpPr>
                <p:nvPr/>
              </p:nvSpPr>
              <p:spPr bwMode="auto">
                <a:xfrm>
                  <a:off x="1308" y="1152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75" name="Group 69"/>
              <p:cNvGrpSpPr/>
              <p:nvPr/>
            </p:nvGrpSpPr>
            <p:grpSpPr bwMode="auto">
              <a:xfrm>
                <a:off x="1962" y="1152"/>
                <a:ext cx="654" cy="384"/>
                <a:chOff x="1962" y="1152"/>
                <a:chExt cx="654" cy="384"/>
              </a:xfrm>
            </p:grpSpPr>
            <p:sp>
              <p:nvSpPr>
                <p:cNvPr id="31872" name="Rectangle 70"/>
                <p:cNvSpPr>
                  <a:spLocks noChangeArrowheads="1"/>
                </p:cNvSpPr>
                <p:nvPr/>
              </p:nvSpPr>
              <p:spPr bwMode="auto">
                <a:xfrm>
                  <a:off x="2005" y="1152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73" name="Rectangle 71"/>
                <p:cNvSpPr>
                  <a:spLocks noChangeArrowheads="1"/>
                </p:cNvSpPr>
                <p:nvPr/>
              </p:nvSpPr>
              <p:spPr bwMode="auto">
                <a:xfrm>
                  <a:off x="1962" y="1152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76" name="Group 72"/>
              <p:cNvGrpSpPr/>
              <p:nvPr/>
            </p:nvGrpSpPr>
            <p:grpSpPr bwMode="auto">
              <a:xfrm>
                <a:off x="2616" y="1152"/>
                <a:ext cx="654" cy="384"/>
                <a:chOff x="2616" y="1152"/>
                <a:chExt cx="654" cy="384"/>
              </a:xfrm>
            </p:grpSpPr>
            <p:sp>
              <p:nvSpPr>
                <p:cNvPr id="31870" name="Rectangle 73"/>
                <p:cNvSpPr>
                  <a:spLocks noChangeArrowheads="1"/>
                </p:cNvSpPr>
                <p:nvPr/>
              </p:nvSpPr>
              <p:spPr bwMode="auto">
                <a:xfrm>
                  <a:off x="2659" y="1152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71" name="Rectangle 74"/>
                <p:cNvSpPr>
                  <a:spLocks noChangeArrowheads="1"/>
                </p:cNvSpPr>
                <p:nvPr/>
              </p:nvSpPr>
              <p:spPr bwMode="auto">
                <a:xfrm>
                  <a:off x="2616" y="1152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77" name="Group 75"/>
              <p:cNvGrpSpPr/>
              <p:nvPr/>
            </p:nvGrpSpPr>
            <p:grpSpPr bwMode="auto">
              <a:xfrm>
                <a:off x="3270" y="1152"/>
                <a:ext cx="654" cy="384"/>
                <a:chOff x="3270" y="1152"/>
                <a:chExt cx="654" cy="384"/>
              </a:xfrm>
            </p:grpSpPr>
            <p:sp>
              <p:nvSpPr>
                <p:cNvPr id="31868" name="Rectangle 76"/>
                <p:cNvSpPr>
                  <a:spLocks noChangeArrowheads="1"/>
                </p:cNvSpPr>
                <p:nvPr/>
              </p:nvSpPr>
              <p:spPr bwMode="auto">
                <a:xfrm>
                  <a:off x="3313" y="1152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69" name="Rectangle 77"/>
                <p:cNvSpPr>
                  <a:spLocks noChangeArrowheads="1"/>
                </p:cNvSpPr>
                <p:nvPr/>
              </p:nvSpPr>
              <p:spPr bwMode="auto">
                <a:xfrm>
                  <a:off x="3270" y="1152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78" name="Group 78"/>
              <p:cNvGrpSpPr/>
              <p:nvPr/>
            </p:nvGrpSpPr>
            <p:grpSpPr bwMode="auto">
              <a:xfrm>
                <a:off x="0" y="1536"/>
                <a:ext cx="654" cy="384"/>
                <a:chOff x="0" y="1536"/>
                <a:chExt cx="654" cy="384"/>
              </a:xfrm>
            </p:grpSpPr>
            <p:sp>
              <p:nvSpPr>
                <p:cNvPr id="31866" name="Rectangle 79"/>
                <p:cNvSpPr>
                  <a:spLocks noChangeArrowheads="1"/>
                </p:cNvSpPr>
                <p:nvPr/>
              </p:nvSpPr>
              <p:spPr bwMode="auto">
                <a:xfrm>
                  <a:off x="43" y="1536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3200">
                      <a:solidFill>
                        <a:srgbClr val="000000"/>
                      </a:solidFill>
                    </a:rPr>
                    <a:t>R4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67" name="Rectangle 80"/>
                <p:cNvSpPr>
                  <a:spLocks noChangeArrowheads="1"/>
                </p:cNvSpPr>
                <p:nvPr/>
              </p:nvSpPr>
              <p:spPr bwMode="auto">
                <a:xfrm>
                  <a:off x="0" y="1536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79" name="Group 81"/>
              <p:cNvGrpSpPr/>
              <p:nvPr/>
            </p:nvGrpSpPr>
            <p:grpSpPr bwMode="auto">
              <a:xfrm>
                <a:off x="654" y="1536"/>
                <a:ext cx="654" cy="384"/>
                <a:chOff x="654" y="1536"/>
                <a:chExt cx="654" cy="384"/>
              </a:xfrm>
            </p:grpSpPr>
            <p:sp>
              <p:nvSpPr>
                <p:cNvPr id="31864" name="Rectangle 82"/>
                <p:cNvSpPr>
                  <a:spLocks noChangeArrowheads="1"/>
                </p:cNvSpPr>
                <p:nvPr/>
              </p:nvSpPr>
              <p:spPr bwMode="auto">
                <a:xfrm>
                  <a:off x="697" y="1536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65" name="Rectangle 83"/>
                <p:cNvSpPr>
                  <a:spLocks noChangeArrowheads="1"/>
                </p:cNvSpPr>
                <p:nvPr/>
              </p:nvSpPr>
              <p:spPr bwMode="auto">
                <a:xfrm>
                  <a:off x="654" y="1536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80" name="Group 84"/>
              <p:cNvGrpSpPr/>
              <p:nvPr/>
            </p:nvGrpSpPr>
            <p:grpSpPr bwMode="auto">
              <a:xfrm>
                <a:off x="1308" y="1536"/>
                <a:ext cx="654" cy="384"/>
                <a:chOff x="1308" y="1536"/>
                <a:chExt cx="654" cy="384"/>
              </a:xfrm>
            </p:grpSpPr>
            <p:sp>
              <p:nvSpPr>
                <p:cNvPr id="31862" name="Rectangle 85"/>
                <p:cNvSpPr>
                  <a:spLocks noChangeArrowheads="1"/>
                </p:cNvSpPr>
                <p:nvPr/>
              </p:nvSpPr>
              <p:spPr bwMode="auto">
                <a:xfrm>
                  <a:off x="1351" y="1536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63" name="Rectangle 86"/>
                <p:cNvSpPr>
                  <a:spLocks noChangeArrowheads="1"/>
                </p:cNvSpPr>
                <p:nvPr/>
              </p:nvSpPr>
              <p:spPr bwMode="auto">
                <a:xfrm>
                  <a:off x="1308" y="1536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81" name="Group 87"/>
              <p:cNvGrpSpPr/>
              <p:nvPr/>
            </p:nvGrpSpPr>
            <p:grpSpPr bwMode="auto">
              <a:xfrm>
                <a:off x="1962" y="1536"/>
                <a:ext cx="654" cy="384"/>
                <a:chOff x="1962" y="1536"/>
                <a:chExt cx="654" cy="384"/>
              </a:xfrm>
            </p:grpSpPr>
            <p:sp>
              <p:nvSpPr>
                <p:cNvPr id="31860" name="Rectangle 88"/>
                <p:cNvSpPr>
                  <a:spLocks noChangeArrowheads="1"/>
                </p:cNvSpPr>
                <p:nvPr/>
              </p:nvSpPr>
              <p:spPr bwMode="auto">
                <a:xfrm>
                  <a:off x="2005" y="1536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  <a:sym typeface="Symbol" panose="05050102010706020507" pitchFamily="18" charset="2"/>
                    </a:rPr>
                    <a:t></a:t>
                  </a:r>
                  <a:endParaRPr kumimoji="1" lang="zh-CN" altLang="en-US" sz="3200">
                    <a:solidFill>
                      <a:srgbClr val="000000"/>
                    </a:solidFill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61" name="Rectangle 89"/>
                <p:cNvSpPr>
                  <a:spLocks noChangeArrowheads="1"/>
                </p:cNvSpPr>
                <p:nvPr/>
              </p:nvSpPr>
              <p:spPr bwMode="auto">
                <a:xfrm>
                  <a:off x="1962" y="1536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82" name="Group 90"/>
              <p:cNvGrpSpPr/>
              <p:nvPr/>
            </p:nvGrpSpPr>
            <p:grpSpPr bwMode="auto">
              <a:xfrm>
                <a:off x="2616" y="1536"/>
                <a:ext cx="654" cy="384"/>
                <a:chOff x="2616" y="1536"/>
                <a:chExt cx="654" cy="384"/>
              </a:xfrm>
            </p:grpSpPr>
            <p:sp>
              <p:nvSpPr>
                <p:cNvPr id="31858" name="Rectangle 91"/>
                <p:cNvSpPr>
                  <a:spLocks noChangeArrowheads="1"/>
                </p:cNvSpPr>
                <p:nvPr/>
              </p:nvSpPr>
              <p:spPr bwMode="auto">
                <a:xfrm>
                  <a:off x="2659" y="1536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59" name="Rectangle 92"/>
                <p:cNvSpPr>
                  <a:spLocks noChangeArrowheads="1"/>
                </p:cNvSpPr>
                <p:nvPr/>
              </p:nvSpPr>
              <p:spPr bwMode="auto">
                <a:xfrm>
                  <a:off x="2616" y="1536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83" name="Group 93"/>
              <p:cNvGrpSpPr/>
              <p:nvPr/>
            </p:nvGrpSpPr>
            <p:grpSpPr bwMode="auto">
              <a:xfrm>
                <a:off x="3270" y="1536"/>
                <a:ext cx="654" cy="384"/>
                <a:chOff x="3270" y="1536"/>
                <a:chExt cx="654" cy="384"/>
              </a:xfrm>
            </p:grpSpPr>
            <p:sp>
              <p:nvSpPr>
                <p:cNvPr id="31856" name="Rectangle 94"/>
                <p:cNvSpPr>
                  <a:spLocks noChangeArrowheads="1"/>
                </p:cNvSpPr>
                <p:nvPr/>
              </p:nvSpPr>
              <p:spPr bwMode="auto">
                <a:xfrm>
                  <a:off x="3313" y="1536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57" name="Rectangle 95"/>
                <p:cNvSpPr>
                  <a:spLocks noChangeArrowheads="1"/>
                </p:cNvSpPr>
                <p:nvPr/>
              </p:nvSpPr>
              <p:spPr bwMode="auto">
                <a:xfrm>
                  <a:off x="3270" y="1536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84" name="Group 96"/>
              <p:cNvGrpSpPr/>
              <p:nvPr/>
            </p:nvGrpSpPr>
            <p:grpSpPr bwMode="auto">
              <a:xfrm>
                <a:off x="0" y="1920"/>
                <a:ext cx="654" cy="384"/>
                <a:chOff x="0" y="1920"/>
                <a:chExt cx="654" cy="384"/>
              </a:xfrm>
            </p:grpSpPr>
            <p:sp>
              <p:nvSpPr>
                <p:cNvPr id="31854" name="Rectangle 97"/>
                <p:cNvSpPr>
                  <a:spLocks noChangeArrowheads="1"/>
                </p:cNvSpPr>
                <p:nvPr/>
              </p:nvSpPr>
              <p:spPr bwMode="auto">
                <a:xfrm>
                  <a:off x="43" y="1920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3200">
                      <a:solidFill>
                        <a:srgbClr val="000000"/>
                      </a:solidFill>
                    </a:rPr>
                    <a:t>R5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55" name="Rectangle 98"/>
                <p:cNvSpPr>
                  <a:spLocks noChangeArrowheads="1"/>
                </p:cNvSpPr>
                <p:nvPr/>
              </p:nvSpPr>
              <p:spPr bwMode="auto">
                <a:xfrm>
                  <a:off x="0" y="1920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85" name="Group 99"/>
              <p:cNvGrpSpPr/>
              <p:nvPr/>
            </p:nvGrpSpPr>
            <p:grpSpPr bwMode="auto">
              <a:xfrm>
                <a:off x="654" y="1920"/>
                <a:ext cx="654" cy="384"/>
                <a:chOff x="654" y="1920"/>
                <a:chExt cx="654" cy="384"/>
              </a:xfrm>
            </p:grpSpPr>
            <p:sp>
              <p:nvSpPr>
                <p:cNvPr id="31852" name="Rectangle 100"/>
                <p:cNvSpPr>
                  <a:spLocks noChangeArrowheads="1"/>
                </p:cNvSpPr>
                <p:nvPr/>
              </p:nvSpPr>
              <p:spPr bwMode="auto">
                <a:xfrm>
                  <a:off x="697" y="1920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  <a:sym typeface="Symbol" panose="05050102010706020507" pitchFamily="18" charset="2"/>
                    </a:rPr>
                    <a:t></a:t>
                  </a:r>
                  <a:endParaRPr kumimoji="1" lang="zh-CN" altLang="en-US" sz="3200">
                    <a:solidFill>
                      <a:srgbClr val="000000"/>
                    </a:solidFill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53" name="Rectangle 101"/>
                <p:cNvSpPr>
                  <a:spLocks noChangeArrowheads="1"/>
                </p:cNvSpPr>
                <p:nvPr/>
              </p:nvSpPr>
              <p:spPr bwMode="auto">
                <a:xfrm>
                  <a:off x="654" y="1920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86" name="Group 102"/>
              <p:cNvGrpSpPr/>
              <p:nvPr/>
            </p:nvGrpSpPr>
            <p:grpSpPr bwMode="auto">
              <a:xfrm>
                <a:off x="1308" y="1920"/>
                <a:ext cx="654" cy="384"/>
                <a:chOff x="1308" y="1920"/>
                <a:chExt cx="654" cy="384"/>
              </a:xfrm>
            </p:grpSpPr>
            <p:sp>
              <p:nvSpPr>
                <p:cNvPr id="31850" name="Rectangle 103"/>
                <p:cNvSpPr>
                  <a:spLocks noChangeArrowheads="1"/>
                </p:cNvSpPr>
                <p:nvPr/>
              </p:nvSpPr>
              <p:spPr bwMode="auto">
                <a:xfrm>
                  <a:off x="1351" y="1920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51" name="Rectangle 104"/>
                <p:cNvSpPr>
                  <a:spLocks noChangeArrowheads="1"/>
                </p:cNvSpPr>
                <p:nvPr/>
              </p:nvSpPr>
              <p:spPr bwMode="auto">
                <a:xfrm>
                  <a:off x="1308" y="1920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87" name="Group 105"/>
              <p:cNvGrpSpPr/>
              <p:nvPr/>
            </p:nvGrpSpPr>
            <p:grpSpPr bwMode="auto">
              <a:xfrm>
                <a:off x="1962" y="1920"/>
                <a:ext cx="654" cy="384"/>
                <a:chOff x="1962" y="1920"/>
                <a:chExt cx="654" cy="384"/>
              </a:xfrm>
            </p:grpSpPr>
            <p:sp>
              <p:nvSpPr>
                <p:cNvPr id="31848" name="Rectangle 106"/>
                <p:cNvSpPr>
                  <a:spLocks noChangeArrowheads="1"/>
                </p:cNvSpPr>
                <p:nvPr/>
              </p:nvSpPr>
              <p:spPr bwMode="auto">
                <a:xfrm>
                  <a:off x="2005" y="1920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  <a:sym typeface="Symbol" panose="05050102010706020507" pitchFamily="18" charset="2"/>
                    </a:rPr>
                    <a:t></a:t>
                  </a:r>
                  <a:endParaRPr kumimoji="1" lang="zh-CN" altLang="en-US" sz="3200">
                    <a:solidFill>
                      <a:srgbClr val="000000"/>
                    </a:solidFill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49" name="Rectangle 107"/>
                <p:cNvSpPr>
                  <a:spLocks noChangeArrowheads="1"/>
                </p:cNvSpPr>
                <p:nvPr/>
              </p:nvSpPr>
              <p:spPr bwMode="auto">
                <a:xfrm>
                  <a:off x="1962" y="1920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88" name="Group 108"/>
              <p:cNvGrpSpPr/>
              <p:nvPr/>
            </p:nvGrpSpPr>
            <p:grpSpPr bwMode="auto">
              <a:xfrm>
                <a:off x="2616" y="1920"/>
                <a:ext cx="654" cy="384"/>
                <a:chOff x="2616" y="1920"/>
                <a:chExt cx="654" cy="384"/>
              </a:xfrm>
            </p:grpSpPr>
            <p:sp>
              <p:nvSpPr>
                <p:cNvPr id="31846" name="Rectangle 109"/>
                <p:cNvSpPr>
                  <a:spLocks noChangeArrowheads="1"/>
                </p:cNvSpPr>
                <p:nvPr/>
              </p:nvSpPr>
              <p:spPr bwMode="auto">
                <a:xfrm>
                  <a:off x="2659" y="1920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47" name="Rectangle 110"/>
                <p:cNvSpPr>
                  <a:spLocks noChangeArrowheads="1"/>
                </p:cNvSpPr>
                <p:nvPr/>
              </p:nvSpPr>
              <p:spPr bwMode="auto">
                <a:xfrm>
                  <a:off x="2616" y="1920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89" name="Group 111"/>
              <p:cNvGrpSpPr/>
              <p:nvPr/>
            </p:nvGrpSpPr>
            <p:grpSpPr bwMode="auto">
              <a:xfrm>
                <a:off x="3270" y="1920"/>
                <a:ext cx="654" cy="384"/>
                <a:chOff x="3270" y="1920"/>
                <a:chExt cx="654" cy="384"/>
              </a:xfrm>
            </p:grpSpPr>
            <p:sp>
              <p:nvSpPr>
                <p:cNvPr id="31844" name="Rectangle 112"/>
                <p:cNvSpPr>
                  <a:spLocks noChangeArrowheads="1"/>
                </p:cNvSpPr>
                <p:nvPr/>
              </p:nvSpPr>
              <p:spPr bwMode="auto">
                <a:xfrm>
                  <a:off x="3313" y="1920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  <a:sym typeface="Symbol" panose="05050102010706020507" pitchFamily="18" charset="2"/>
                    </a:rPr>
                    <a:t></a:t>
                  </a:r>
                  <a:endParaRPr kumimoji="1" lang="zh-CN" altLang="en-US" sz="3200">
                    <a:solidFill>
                      <a:srgbClr val="000000"/>
                    </a:solidFill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45" name="Rectangle 113"/>
                <p:cNvSpPr>
                  <a:spLocks noChangeArrowheads="1"/>
                </p:cNvSpPr>
                <p:nvPr/>
              </p:nvSpPr>
              <p:spPr bwMode="auto">
                <a:xfrm>
                  <a:off x="3270" y="1920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90" name="Group 114"/>
              <p:cNvGrpSpPr/>
              <p:nvPr/>
            </p:nvGrpSpPr>
            <p:grpSpPr bwMode="auto">
              <a:xfrm>
                <a:off x="0" y="2304"/>
                <a:ext cx="654" cy="384"/>
                <a:chOff x="0" y="2304"/>
                <a:chExt cx="654" cy="384"/>
              </a:xfrm>
            </p:grpSpPr>
            <p:sp>
              <p:nvSpPr>
                <p:cNvPr id="31842" name="Rectangle 115"/>
                <p:cNvSpPr>
                  <a:spLocks noChangeArrowheads="1"/>
                </p:cNvSpPr>
                <p:nvPr/>
              </p:nvSpPr>
              <p:spPr bwMode="auto">
                <a:xfrm>
                  <a:off x="43" y="2304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3200">
                      <a:solidFill>
                        <a:srgbClr val="000000"/>
                      </a:solidFill>
                    </a:rPr>
                    <a:t>R6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43" name="Rectangle 116"/>
                <p:cNvSpPr>
                  <a:spLocks noChangeArrowheads="1"/>
                </p:cNvSpPr>
                <p:nvPr/>
              </p:nvSpPr>
              <p:spPr bwMode="auto">
                <a:xfrm>
                  <a:off x="0" y="2304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91" name="Group 117"/>
              <p:cNvGrpSpPr/>
              <p:nvPr/>
            </p:nvGrpSpPr>
            <p:grpSpPr bwMode="auto">
              <a:xfrm>
                <a:off x="654" y="2304"/>
                <a:ext cx="654" cy="384"/>
                <a:chOff x="654" y="2304"/>
                <a:chExt cx="654" cy="384"/>
              </a:xfrm>
            </p:grpSpPr>
            <p:sp>
              <p:nvSpPr>
                <p:cNvPr id="31840" name="Rectangle 118"/>
                <p:cNvSpPr>
                  <a:spLocks noChangeArrowheads="1"/>
                </p:cNvSpPr>
                <p:nvPr/>
              </p:nvSpPr>
              <p:spPr bwMode="auto">
                <a:xfrm>
                  <a:off x="697" y="2304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41" name="Rectangle 119"/>
                <p:cNvSpPr>
                  <a:spLocks noChangeArrowheads="1"/>
                </p:cNvSpPr>
                <p:nvPr/>
              </p:nvSpPr>
              <p:spPr bwMode="auto">
                <a:xfrm>
                  <a:off x="654" y="2304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92" name="Group 120"/>
              <p:cNvGrpSpPr/>
              <p:nvPr/>
            </p:nvGrpSpPr>
            <p:grpSpPr bwMode="auto">
              <a:xfrm>
                <a:off x="1308" y="2304"/>
                <a:ext cx="654" cy="384"/>
                <a:chOff x="1308" y="2304"/>
                <a:chExt cx="654" cy="384"/>
              </a:xfrm>
            </p:grpSpPr>
            <p:sp>
              <p:nvSpPr>
                <p:cNvPr id="31838" name="Rectangle 121"/>
                <p:cNvSpPr>
                  <a:spLocks noChangeArrowheads="1"/>
                </p:cNvSpPr>
                <p:nvPr/>
              </p:nvSpPr>
              <p:spPr bwMode="auto">
                <a:xfrm>
                  <a:off x="1351" y="2304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  <a:sym typeface="Symbol" panose="05050102010706020507" pitchFamily="18" charset="2"/>
                    </a:rPr>
                    <a:t></a:t>
                  </a:r>
                  <a:endParaRPr kumimoji="1" lang="zh-CN" altLang="en-US" sz="3200">
                    <a:solidFill>
                      <a:srgbClr val="000000"/>
                    </a:solidFill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39" name="Rectangle 122"/>
                <p:cNvSpPr>
                  <a:spLocks noChangeArrowheads="1"/>
                </p:cNvSpPr>
                <p:nvPr/>
              </p:nvSpPr>
              <p:spPr bwMode="auto">
                <a:xfrm>
                  <a:off x="1308" y="2304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93" name="Group 123"/>
              <p:cNvGrpSpPr/>
              <p:nvPr/>
            </p:nvGrpSpPr>
            <p:grpSpPr bwMode="auto">
              <a:xfrm>
                <a:off x="1962" y="2304"/>
                <a:ext cx="654" cy="384"/>
                <a:chOff x="1962" y="2304"/>
                <a:chExt cx="654" cy="384"/>
              </a:xfrm>
            </p:grpSpPr>
            <p:sp>
              <p:nvSpPr>
                <p:cNvPr id="31836" name="Rectangle 124"/>
                <p:cNvSpPr>
                  <a:spLocks noChangeArrowheads="1"/>
                </p:cNvSpPr>
                <p:nvPr/>
              </p:nvSpPr>
              <p:spPr bwMode="auto">
                <a:xfrm>
                  <a:off x="2005" y="2304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37" name="Rectangle 125"/>
                <p:cNvSpPr>
                  <a:spLocks noChangeArrowheads="1"/>
                </p:cNvSpPr>
                <p:nvPr/>
              </p:nvSpPr>
              <p:spPr bwMode="auto">
                <a:xfrm>
                  <a:off x="1962" y="2304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94" name="Group 126"/>
              <p:cNvGrpSpPr/>
              <p:nvPr/>
            </p:nvGrpSpPr>
            <p:grpSpPr bwMode="auto">
              <a:xfrm>
                <a:off x="2616" y="2304"/>
                <a:ext cx="654" cy="384"/>
                <a:chOff x="2616" y="2304"/>
                <a:chExt cx="654" cy="384"/>
              </a:xfrm>
            </p:grpSpPr>
            <p:sp>
              <p:nvSpPr>
                <p:cNvPr id="31834" name="Rectangle 127"/>
                <p:cNvSpPr>
                  <a:spLocks noChangeArrowheads="1"/>
                </p:cNvSpPr>
                <p:nvPr/>
              </p:nvSpPr>
              <p:spPr bwMode="auto">
                <a:xfrm>
                  <a:off x="2659" y="2304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  <a:sym typeface="Symbol" panose="05050102010706020507" pitchFamily="18" charset="2"/>
                    </a:rPr>
                    <a:t></a:t>
                  </a:r>
                  <a:endParaRPr kumimoji="1" lang="zh-CN" altLang="en-US" sz="3200">
                    <a:solidFill>
                      <a:srgbClr val="000000"/>
                    </a:solidFill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35" name="Rectangle 128"/>
                <p:cNvSpPr>
                  <a:spLocks noChangeArrowheads="1"/>
                </p:cNvSpPr>
                <p:nvPr/>
              </p:nvSpPr>
              <p:spPr bwMode="auto">
                <a:xfrm>
                  <a:off x="2616" y="2304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95" name="Group 129"/>
              <p:cNvGrpSpPr/>
              <p:nvPr/>
            </p:nvGrpSpPr>
            <p:grpSpPr bwMode="auto">
              <a:xfrm>
                <a:off x="3270" y="2304"/>
                <a:ext cx="654" cy="384"/>
                <a:chOff x="3270" y="2304"/>
                <a:chExt cx="654" cy="384"/>
              </a:xfrm>
            </p:grpSpPr>
            <p:sp>
              <p:nvSpPr>
                <p:cNvPr id="31832" name="Rectangle 130"/>
                <p:cNvSpPr>
                  <a:spLocks noChangeArrowheads="1"/>
                </p:cNvSpPr>
                <p:nvPr/>
              </p:nvSpPr>
              <p:spPr bwMode="auto">
                <a:xfrm>
                  <a:off x="3313" y="2304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  <a:sym typeface="Symbol" panose="05050102010706020507" pitchFamily="18" charset="2"/>
                    </a:rPr>
                    <a:t></a:t>
                  </a:r>
                  <a:endParaRPr kumimoji="1" lang="zh-CN" altLang="en-US" sz="3200">
                    <a:solidFill>
                      <a:srgbClr val="000000"/>
                    </a:solidFill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33" name="Rectangle 131"/>
                <p:cNvSpPr>
                  <a:spLocks noChangeArrowheads="1"/>
                </p:cNvSpPr>
                <p:nvPr/>
              </p:nvSpPr>
              <p:spPr bwMode="auto">
                <a:xfrm>
                  <a:off x="3270" y="2304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96" name="Group 132"/>
              <p:cNvGrpSpPr/>
              <p:nvPr/>
            </p:nvGrpSpPr>
            <p:grpSpPr bwMode="auto">
              <a:xfrm>
                <a:off x="0" y="2688"/>
                <a:ext cx="654" cy="384"/>
                <a:chOff x="0" y="2688"/>
                <a:chExt cx="654" cy="384"/>
              </a:xfrm>
            </p:grpSpPr>
            <p:sp>
              <p:nvSpPr>
                <p:cNvPr id="31830" name="Rectangle 133"/>
                <p:cNvSpPr>
                  <a:spLocks noChangeArrowheads="1"/>
                </p:cNvSpPr>
                <p:nvPr/>
              </p:nvSpPr>
              <p:spPr bwMode="auto">
                <a:xfrm>
                  <a:off x="43" y="2688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3200">
                      <a:solidFill>
                        <a:srgbClr val="000000"/>
                      </a:solidFill>
                    </a:rPr>
                    <a:t>R7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31" name="Rectangle 134"/>
                <p:cNvSpPr>
                  <a:spLocks noChangeArrowheads="1"/>
                </p:cNvSpPr>
                <p:nvPr/>
              </p:nvSpPr>
              <p:spPr bwMode="auto">
                <a:xfrm>
                  <a:off x="0" y="2688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97" name="Group 135"/>
              <p:cNvGrpSpPr/>
              <p:nvPr/>
            </p:nvGrpSpPr>
            <p:grpSpPr bwMode="auto">
              <a:xfrm>
                <a:off x="654" y="2688"/>
                <a:ext cx="654" cy="384"/>
                <a:chOff x="654" y="2688"/>
                <a:chExt cx="654" cy="384"/>
              </a:xfrm>
            </p:grpSpPr>
            <p:sp>
              <p:nvSpPr>
                <p:cNvPr id="31828" name="Rectangle 136"/>
                <p:cNvSpPr>
                  <a:spLocks noChangeArrowheads="1"/>
                </p:cNvSpPr>
                <p:nvPr/>
              </p:nvSpPr>
              <p:spPr bwMode="auto">
                <a:xfrm>
                  <a:off x="697" y="2688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29" name="Rectangle 137"/>
                <p:cNvSpPr>
                  <a:spLocks noChangeArrowheads="1"/>
                </p:cNvSpPr>
                <p:nvPr/>
              </p:nvSpPr>
              <p:spPr bwMode="auto">
                <a:xfrm>
                  <a:off x="654" y="2688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98" name="Group 138"/>
              <p:cNvGrpSpPr/>
              <p:nvPr/>
            </p:nvGrpSpPr>
            <p:grpSpPr bwMode="auto">
              <a:xfrm>
                <a:off x="1308" y="2688"/>
                <a:ext cx="654" cy="384"/>
                <a:chOff x="1308" y="2688"/>
                <a:chExt cx="654" cy="384"/>
              </a:xfrm>
            </p:grpSpPr>
            <p:sp>
              <p:nvSpPr>
                <p:cNvPr id="31826" name="Rectangle 139"/>
                <p:cNvSpPr>
                  <a:spLocks noChangeArrowheads="1"/>
                </p:cNvSpPr>
                <p:nvPr/>
              </p:nvSpPr>
              <p:spPr bwMode="auto">
                <a:xfrm>
                  <a:off x="1351" y="2688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  <a:sym typeface="Symbol" panose="05050102010706020507" pitchFamily="18" charset="2"/>
                    </a:rPr>
                    <a:t></a:t>
                  </a:r>
                  <a:endParaRPr kumimoji="1" lang="zh-CN" altLang="en-US" sz="3200">
                    <a:solidFill>
                      <a:srgbClr val="000000"/>
                    </a:solidFill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27" name="Rectangle 140"/>
                <p:cNvSpPr>
                  <a:spLocks noChangeArrowheads="1"/>
                </p:cNvSpPr>
                <p:nvPr/>
              </p:nvSpPr>
              <p:spPr bwMode="auto">
                <a:xfrm>
                  <a:off x="1308" y="2688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799" name="Group 141"/>
              <p:cNvGrpSpPr/>
              <p:nvPr/>
            </p:nvGrpSpPr>
            <p:grpSpPr bwMode="auto">
              <a:xfrm>
                <a:off x="1962" y="2688"/>
                <a:ext cx="654" cy="384"/>
                <a:chOff x="1962" y="2688"/>
                <a:chExt cx="654" cy="384"/>
              </a:xfrm>
            </p:grpSpPr>
            <p:sp>
              <p:nvSpPr>
                <p:cNvPr id="31824" name="Rectangle 142"/>
                <p:cNvSpPr>
                  <a:spLocks noChangeArrowheads="1"/>
                </p:cNvSpPr>
                <p:nvPr/>
              </p:nvSpPr>
              <p:spPr bwMode="auto">
                <a:xfrm>
                  <a:off x="2005" y="2688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25" name="Rectangle 143"/>
                <p:cNvSpPr>
                  <a:spLocks noChangeArrowheads="1"/>
                </p:cNvSpPr>
                <p:nvPr/>
              </p:nvSpPr>
              <p:spPr bwMode="auto">
                <a:xfrm>
                  <a:off x="1962" y="2688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800" name="Group 144"/>
              <p:cNvGrpSpPr/>
              <p:nvPr/>
            </p:nvGrpSpPr>
            <p:grpSpPr bwMode="auto">
              <a:xfrm>
                <a:off x="2616" y="2688"/>
                <a:ext cx="654" cy="384"/>
                <a:chOff x="2616" y="2688"/>
                <a:chExt cx="654" cy="384"/>
              </a:xfrm>
            </p:grpSpPr>
            <p:sp>
              <p:nvSpPr>
                <p:cNvPr id="31822" name="Rectangle 145"/>
                <p:cNvSpPr>
                  <a:spLocks noChangeArrowheads="1"/>
                </p:cNvSpPr>
                <p:nvPr/>
              </p:nvSpPr>
              <p:spPr bwMode="auto">
                <a:xfrm>
                  <a:off x="2659" y="2688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  <a:sym typeface="Symbol" panose="05050102010706020507" pitchFamily="18" charset="2"/>
                    </a:rPr>
                    <a:t></a:t>
                  </a:r>
                  <a:endParaRPr kumimoji="1" lang="zh-CN" altLang="en-US" sz="3200">
                    <a:solidFill>
                      <a:srgbClr val="000000"/>
                    </a:solidFill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23" name="Rectangle 146"/>
                <p:cNvSpPr>
                  <a:spLocks noChangeArrowheads="1"/>
                </p:cNvSpPr>
                <p:nvPr/>
              </p:nvSpPr>
              <p:spPr bwMode="auto">
                <a:xfrm>
                  <a:off x="2616" y="2688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801" name="Group 147"/>
              <p:cNvGrpSpPr/>
              <p:nvPr/>
            </p:nvGrpSpPr>
            <p:grpSpPr bwMode="auto">
              <a:xfrm>
                <a:off x="3270" y="2688"/>
                <a:ext cx="654" cy="384"/>
                <a:chOff x="3270" y="2688"/>
                <a:chExt cx="654" cy="384"/>
              </a:xfrm>
            </p:grpSpPr>
            <p:sp>
              <p:nvSpPr>
                <p:cNvPr id="31820" name="Rectangle 148"/>
                <p:cNvSpPr>
                  <a:spLocks noChangeArrowheads="1"/>
                </p:cNvSpPr>
                <p:nvPr/>
              </p:nvSpPr>
              <p:spPr bwMode="auto">
                <a:xfrm>
                  <a:off x="3313" y="2688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21" name="Rectangle 149"/>
                <p:cNvSpPr>
                  <a:spLocks noChangeArrowheads="1"/>
                </p:cNvSpPr>
                <p:nvPr/>
              </p:nvSpPr>
              <p:spPr bwMode="auto">
                <a:xfrm>
                  <a:off x="3270" y="2688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802" name="Group 150"/>
              <p:cNvGrpSpPr/>
              <p:nvPr/>
            </p:nvGrpSpPr>
            <p:grpSpPr bwMode="auto">
              <a:xfrm>
                <a:off x="0" y="3072"/>
                <a:ext cx="654" cy="384"/>
                <a:chOff x="0" y="3072"/>
                <a:chExt cx="654" cy="384"/>
              </a:xfrm>
            </p:grpSpPr>
            <p:sp>
              <p:nvSpPr>
                <p:cNvPr id="31818" name="Rectangle 151"/>
                <p:cNvSpPr>
                  <a:spLocks noChangeArrowheads="1"/>
                </p:cNvSpPr>
                <p:nvPr/>
              </p:nvSpPr>
              <p:spPr bwMode="auto">
                <a:xfrm>
                  <a:off x="43" y="3072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3200">
                      <a:solidFill>
                        <a:srgbClr val="000000"/>
                      </a:solidFill>
                    </a:rPr>
                    <a:t>R8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19" name="Rectangle 152"/>
                <p:cNvSpPr>
                  <a:spLocks noChangeArrowheads="1"/>
                </p:cNvSpPr>
                <p:nvPr/>
              </p:nvSpPr>
              <p:spPr bwMode="auto">
                <a:xfrm>
                  <a:off x="0" y="3072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803" name="Group 153"/>
              <p:cNvGrpSpPr/>
              <p:nvPr/>
            </p:nvGrpSpPr>
            <p:grpSpPr bwMode="auto">
              <a:xfrm>
                <a:off x="654" y="3072"/>
                <a:ext cx="654" cy="384"/>
                <a:chOff x="654" y="3072"/>
                <a:chExt cx="654" cy="384"/>
              </a:xfrm>
            </p:grpSpPr>
            <p:sp>
              <p:nvSpPr>
                <p:cNvPr id="31816" name="Rectangle 154"/>
                <p:cNvSpPr>
                  <a:spLocks noChangeArrowheads="1"/>
                </p:cNvSpPr>
                <p:nvPr/>
              </p:nvSpPr>
              <p:spPr bwMode="auto">
                <a:xfrm>
                  <a:off x="697" y="3072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17" name="Rectangle 155"/>
                <p:cNvSpPr>
                  <a:spLocks noChangeArrowheads="1"/>
                </p:cNvSpPr>
                <p:nvPr/>
              </p:nvSpPr>
              <p:spPr bwMode="auto">
                <a:xfrm>
                  <a:off x="654" y="3072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804" name="Group 156"/>
              <p:cNvGrpSpPr/>
              <p:nvPr/>
            </p:nvGrpSpPr>
            <p:grpSpPr bwMode="auto">
              <a:xfrm>
                <a:off x="1308" y="3072"/>
                <a:ext cx="654" cy="384"/>
                <a:chOff x="1308" y="3072"/>
                <a:chExt cx="654" cy="384"/>
              </a:xfrm>
            </p:grpSpPr>
            <p:sp>
              <p:nvSpPr>
                <p:cNvPr id="31814" name="Rectangle 157"/>
                <p:cNvSpPr>
                  <a:spLocks noChangeArrowheads="1"/>
                </p:cNvSpPr>
                <p:nvPr/>
              </p:nvSpPr>
              <p:spPr bwMode="auto">
                <a:xfrm>
                  <a:off x="1351" y="3072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  <a:sym typeface="Symbol" panose="05050102010706020507" pitchFamily="18" charset="2"/>
                    </a:rPr>
                    <a:t></a:t>
                  </a:r>
                  <a:endParaRPr kumimoji="1" lang="zh-CN" altLang="en-US" sz="3200">
                    <a:solidFill>
                      <a:srgbClr val="000000"/>
                    </a:solidFill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15" name="Rectangle 158"/>
                <p:cNvSpPr>
                  <a:spLocks noChangeArrowheads="1"/>
                </p:cNvSpPr>
                <p:nvPr/>
              </p:nvSpPr>
              <p:spPr bwMode="auto">
                <a:xfrm>
                  <a:off x="1308" y="3072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805" name="Group 159"/>
              <p:cNvGrpSpPr/>
              <p:nvPr/>
            </p:nvGrpSpPr>
            <p:grpSpPr bwMode="auto">
              <a:xfrm>
                <a:off x="1962" y="3072"/>
                <a:ext cx="654" cy="384"/>
                <a:chOff x="1962" y="3072"/>
                <a:chExt cx="654" cy="384"/>
              </a:xfrm>
            </p:grpSpPr>
            <p:sp>
              <p:nvSpPr>
                <p:cNvPr id="31812" name="Rectangle 160"/>
                <p:cNvSpPr>
                  <a:spLocks noChangeArrowheads="1"/>
                </p:cNvSpPr>
                <p:nvPr/>
              </p:nvSpPr>
              <p:spPr bwMode="auto">
                <a:xfrm>
                  <a:off x="2005" y="3072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</a:rPr>
                    <a:t> 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813" name="Rectangle 161"/>
                <p:cNvSpPr>
                  <a:spLocks noChangeArrowheads="1"/>
                </p:cNvSpPr>
                <p:nvPr/>
              </p:nvSpPr>
              <p:spPr bwMode="auto">
                <a:xfrm>
                  <a:off x="1962" y="3072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806" name="Group 162"/>
              <p:cNvGrpSpPr/>
              <p:nvPr/>
            </p:nvGrpSpPr>
            <p:grpSpPr bwMode="auto">
              <a:xfrm>
                <a:off x="2616" y="3072"/>
                <a:ext cx="654" cy="384"/>
                <a:chOff x="2616" y="3072"/>
                <a:chExt cx="654" cy="384"/>
              </a:xfrm>
            </p:grpSpPr>
            <p:sp>
              <p:nvSpPr>
                <p:cNvPr id="31810" name="Rectangle 163"/>
                <p:cNvSpPr>
                  <a:spLocks noChangeArrowheads="1"/>
                </p:cNvSpPr>
                <p:nvPr/>
              </p:nvSpPr>
              <p:spPr bwMode="auto">
                <a:xfrm>
                  <a:off x="2659" y="3072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  <a:sym typeface="Symbol" panose="05050102010706020507" pitchFamily="18" charset="2"/>
                    </a:rPr>
                    <a:t></a:t>
                  </a:r>
                  <a:endParaRPr kumimoji="1" lang="zh-CN" altLang="en-US" sz="3200">
                    <a:solidFill>
                      <a:srgbClr val="000000"/>
                    </a:solidFill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11" name="Rectangle 164"/>
                <p:cNvSpPr>
                  <a:spLocks noChangeArrowheads="1"/>
                </p:cNvSpPr>
                <p:nvPr/>
              </p:nvSpPr>
              <p:spPr bwMode="auto">
                <a:xfrm>
                  <a:off x="2616" y="3072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31807" name="Group 165"/>
              <p:cNvGrpSpPr/>
              <p:nvPr/>
            </p:nvGrpSpPr>
            <p:grpSpPr bwMode="auto">
              <a:xfrm>
                <a:off x="3270" y="3072"/>
                <a:ext cx="654" cy="384"/>
                <a:chOff x="3270" y="3072"/>
                <a:chExt cx="654" cy="384"/>
              </a:xfrm>
            </p:grpSpPr>
            <p:sp>
              <p:nvSpPr>
                <p:cNvPr id="31808" name="Rectangle 166"/>
                <p:cNvSpPr>
                  <a:spLocks noChangeArrowheads="1"/>
                </p:cNvSpPr>
                <p:nvPr/>
              </p:nvSpPr>
              <p:spPr bwMode="auto">
                <a:xfrm>
                  <a:off x="3313" y="3072"/>
                  <a:ext cx="56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3200">
                      <a:solidFill>
                        <a:srgbClr val="000000"/>
                      </a:solidFill>
                      <a:sym typeface="Symbol" panose="05050102010706020507" pitchFamily="18" charset="2"/>
                    </a:rPr>
                    <a:t></a:t>
                  </a:r>
                  <a:endParaRPr kumimoji="1" lang="zh-CN" altLang="en-US" sz="3200">
                    <a:solidFill>
                      <a:srgbClr val="000000"/>
                    </a:solidFill>
                  </a:endParaRPr>
                </a:p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zh-CN" altLang="en-US" sz="3200">
                    <a:solidFill>
                      <a:srgbClr val="000000"/>
                    </a:solidFill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31809" name="Rectangle 167"/>
                <p:cNvSpPr>
                  <a:spLocks noChangeArrowheads="1"/>
                </p:cNvSpPr>
                <p:nvPr/>
              </p:nvSpPr>
              <p:spPr bwMode="auto">
                <a:xfrm>
                  <a:off x="3270" y="3072"/>
                  <a:ext cx="65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3000" b="0">
                    <a:latin typeface="Arial Narrow" panose="020B0606020202030204" pitchFamily="34" charset="0"/>
                  </a:endParaRPr>
                </a:p>
              </p:txBody>
            </p:sp>
          </p:grpSp>
        </p:grpSp>
        <p:sp>
          <p:nvSpPr>
            <p:cNvPr id="31753" name="Rectangle 168"/>
            <p:cNvSpPr>
              <a:spLocks noChangeArrowheads="1"/>
            </p:cNvSpPr>
            <p:nvPr/>
          </p:nvSpPr>
          <p:spPr bwMode="auto">
            <a:xfrm>
              <a:off x="-3" y="-3"/>
              <a:ext cx="3930" cy="3462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</p:grpSp>
      <p:sp>
        <p:nvSpPr>
          <p:cNvPr id="665769" name="Oval 169"/>
          <p:cNvSpPr>
            <a:spLocks noChangeArrowheads="1"/>
          </p:cNvSpPr>
          <p:nvPr/>
        </p:nvSpPr>
        <p:spPr bwMode="auto">
          <a:xfrm>
            <a:off x="76200" y="4038600"/>
            <a:ext cx="8991600" cy="533400"/>
          </a:xfrm>
          <a:prstGeom prst="ellipse">
            <a:avLst/>
          </a:prstGeom>
          <a:noFill/>
          <a:ln w="38100" cap="rnd">
            <a:solidFill>
              <a:schemeClr val="accent2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4000" b="0">
                <a:solidFill>
                  <a:srgbClr val="FF3300"/>
                </a:solidFill>
                <a:ea typeface="隶书" panose="02010509060101010101" pitchFamily="49" charset="-122"/>
              </a:rPr>
              <a:t>等价关系</a:t>
            </a:r>
          </a:p>
        </p:txBody>
      </p:sp>
      <p:sp>
        <p:nvSpPr>
          <p:cNvPr id="665770" name="Oval 170"/>
          <p:cNvSpPr>
            <a:spLocks noChangeArrowheads="1"/>
          </p:cNvSpPr>
          <p:nvPr/>
        </p:nvSpPr>
        <p:spPr bwMode="auto">
          <a:xfrm>
            <a:off x="76200" y="1905000"/>
            <a:ext cx="8991600" cy="533400"/>
          </a:xfrm>
          <a:prstGeom prst="ellipse">
            <a:avLst/>
          </a:prstGeom>
          <a:noFill/>
          <a:ln w="38100" cap="rnd">
            <a:solidFill>
              <a:schemeClr val="accent2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4000" b="0">
                <a:solidFill>
                  <a:srgbClr val="FF3300"/>
                </a:solidFill>
                <a:ea typeface="隶书" panose="02010509060101010101" pitchFamily="49" charset="-122"/>
              </a:rPr>
              <a:t>偏序关系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65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65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657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657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03" grpId="0" animBg="1" autoUpdateAnimBg="0"/>
      <p:bldP spid="665769" grpId="0" animBg="1" autoUpdateAnimBg="0"/>
      <p:bldP spid="665770" grpId="0" animBg="1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C63068A-5A2E-4E7D-8311-6EE993AD82FB}" type="slidenum">
              <a:rPr lang="en-US" altLang="zh-CN" sz="1400" b="0" smtClean="0">
                <a:latin typeface="Arial" panose="020B0604020202020204" pitchFamily="34" charset="0"/>
              </a:rPr>
              <a:t>73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6147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进阶例题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80112" y="44624"/>
            <a:ext cx="1135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  <a:sym typeface="Webdings" panose="05030102010509060703" pitchFamily="18" charset="2"/>
              </a:rPr>
              <a:t>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1030" y="1268760"/>
            <a:ext cx="8195770" cy="4455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设</a:t>
            </a:r>
            <a:r>
              <a:rPr lang="en-US" altLang="zh-CN" sz="24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{1,2,3}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4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P(</a:t>
            </a:r>
            <a:r>
              <a:rPr lang="en-US" altLang="zh-CN" sz="24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上的二元关系，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且</a:t>
            </a:r>
            <a:r>
              <a:rPr lang="en-US" altLang="zh-CN" sz="24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={&lt;</a:t>
            </a:r>
            <a:r>
              <a:rPr lang="en-US" altLang="zh-CN" sz="2400" b="1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 b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b="1" i="1" kern="100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&gt; | </a:t>
            </a:r>
            <a:r>
              <a:rPr lang="en-US" altLang="zh-CN" b="1" i="1" kern="100" dirty="0" err="1">
                <a:latin typeface="Times New Roman" panose="02020603050405020304" pitchFamily="18" charset="0"/>
              </a:rPr>
              <a:t>a</a:t>
            </a:r>
            <a:r>
              <a:rPr lang="en-US" altLang="zh-CN" sz="1800" b="1" dirty="0" err="1">
                <a:solidFill>
                  <a:srgbClr val="000000"/>
                </a:solidFill>
              </a:rPr>
              <a:t>∩</a:t>
            </a:r>
            <a:r>
              <a:rPr lang="en-US" altLang="zh-CN" b="1" i="1" kern="100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kern="100" dirty="0">
                <a:solidFill>
                  <a:srgbClr val="495057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≠</a:t>
            </a:r>
            <a:r>
              <a:rPr lang="en-US" altLang="zh-CN" b="1" kern="10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Symbol" panose="05050102010706020507" pitchFamily="18" charset="2"/>
              </a:rPr>
              <a:t>, </a:t>
            </a:r>
            <a:r>
              <a:rPr lang="en-US" altLang="zh-CN" b="1" i="1" kern="100" dirty="0">
                <a:latin typeface="Times New Roman" panose="02020603050405020304" pitchFamily="18" charset="0"/>
              </a:rPr>
              <a:t>a</a:t>
            </a:r>
            <a:r>
              <a:rPr lang="fr-FR" altLang="zh-CN" sz="18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P(</a:t>
            </a:r>
            <a:r>
              <a:rPr lang="en-US" altLang="zh-CN" b="1" i="1" kern="100" dirty="0">
                <a:latin typeface="Times New Roman" panose="02020603050405020304" pitchFamily="18" charset="0"/>
              </a:rPr>
              <a:t>A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r>
              <a:rPr lang="en-US" altLang="zh-CN" b="1" i="1" kern="100" dirty="0">
                <a:latin typeface="Times New Roman" panose="02020603050405020304" pitchFamily="18" charset="0"/>
              </a:rPr>
              <a:t>b</a:t>
            </a:r>
            <a:r>
              <a:rPr lang="fr-FR" altLang="zh-CN" sz="18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P(</a:t>
            </a:r>
            <a:r>
              <a:rPr lang="en-US" altLang="zh-CN" b="1" i="1" kern="100" dirty="0">
                <a:latin typeface="Times New Roman" panose="02020603050405020304" pitchFamily="18" charset="0"/>
              </a:rPr>
              <a:t>A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)}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则</a:t>
            </a:r>
            <a:r>
              <a:rPr lang="en-US" altLang="zh-CN" b="1" i="1" kern="100" dirty="0">
                <a:latin typeface="Times New Roman" panose="02020603050405020304" pitchFamily="18" charset="0"/>
              </a:rPr>
              <a:t>R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满足下列哪个性质？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buAutoNum type="alphaUcParenR"/>
            </a:pPr>
            <a:r>
              <a:rPr lang="zh-CN" altLang="zh-CN" b="1" kern="100" dirty="0">
                <a:latin typeface="Times New Roman" panose="02020603050405020304" pitchFamily="18" charset="0"/>
              </a:rPr>
              <a:t>自反性</a:t>
            </a:r>
            <a:r>
              <a:rPr lang="en-US" altLang="zh-CN" b="1" kern="100" dirty="0">
                <a:latin typeface="Times New Roman" panose="02020603050405020304" pitchFamily="18" charset="0"/>
              </a:rPr>
              <a:t>              </a:t>
            </a:r>
          </a:p>
          <a:p>
            <a:pPr marL="457200" indent="-457200">
              <a:lnSpc>
                <a:spcPct val="150000"/>
              </a:lnSpc>
              <a:buAutoNum type="alphaUcParenR"/>
            </a:pPr>
            <a:r>
              <a:rPr lang="zh-CN" altLang="zh-CN" b="1" kern="100" dirty="0">
                <a:latin typeface="Times New Roman" panose="02020603050405020304" pitchFamily="18" charset="0"/>
              </a:rPr>
              <a:t>反自反性</a:t>
            </a:r>
          </a:p>
          <a:p>
            <a:pPr>
              <a:lnSpc>
                <a:spcPct val="150000"/>
              </a:lnSpc>
            </a:pPr>
            <a:r>
              <a:rPr lang="en-US" altLang="zh-CN" b="1" kern="100" dirty="0">
                <a:latin typeface="Times New Roman" panose="02020603050405020304" pitchFamily="18" charset="0"/>
              </a:rPr>
              <a:t>C)  </a:t>
            </a:r>
            <a:r>
              <a:rPr lang="zh-CN" altLang="zh-CN" b="1" kern="100" dirty="0">
                <a:latin typeface="Times New Roman" panose="02020603050405020304" pitchFamily="18" charset="0"/>
              </a:rPr>
              <a:t>对称性</a:t>
            </a:r>
            <a:endParaRPr lang="en-US" altLang="zh-CN" b="1" kern="1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kern="100" dirty="0">
                <a:latin typeface="Times New Roman" panose="02020603050405020304" pitchFamily="18" charset="0"/>
              </a:rPr>
              <a:t>D)  </a:t>
            </a:r>
            <a:r>
              <a:rPr lang="zh-CN" altLang="zh-CN" b="1" kern="100" dirty="0">
                <a:latin typeface="Times New Roman" panose="02020603050405020304" pitchFamily="18" charset="0"/>
              </a:rPr>
              <a:t>反对称性</a:t>
            </a:r>
          </a:p>
          <a:p>
            <a:pPr>
              <a:lnSpc>
                <a:spcPct val="150000"/>
              </a:lnSpc>
            </a:pPr>
            <a:endParaRPr lang="zh-CN" altLang="en-US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251520" y="4191471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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C5A974D-E893-4ADE-AA1B-EF9685E85897}" type="slidenum">
              <a:rPr lang="en-US" altLang="zh-CN" sz="1400" b="0" smtClean="0">
                <a:latin typeface="Arial" panose="020B0604020202020204" pitchFamily="34" charset="0"/>
              </a:rPr>
              <a:t>74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solidFill>
                  <a:srgbClr val="000000"/>
                </a:solidFill>
              </a:rPr>
              <a:t>关系性质成立的充要条件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7.9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设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zh-CN" altLang="en-US" dirty="0">
                <a:solidFill>
                  <a:srgbClr val="000000"/>
                </a:solidFill>
              </a:rPr>
              <a:t>为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上的关系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zh-CN" altLang="en-US" dirty="0">
                <a:solidFill>
                  <a:srgbClr val="000000"/>
                </a:solidFill>
              </a:rPr>
              <a:t>则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(1) </a:t>
            </a:r>
            <a:r>
              <a:rPr lang="en-US" altLang="zh-CN" i="1" dirty="0">
                <a:solidFill>
                  <a:srgbClr val="000000"/>
                </a:solidFill>
              </a:rPr>
              <a:t> 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上自反当且仅当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I</a:t>
            </a:r>
            <a:r>
              <a:rPr lang="en-US" altLang="zh-CN" i="1" baseline="-30000" dirty="0">
                <a:solidFill>
                  <a:srgbClr val="000000"/>
                </a:solidFill>
              </a:rPr>
              <a:t>A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(2) </a:t>
            </a:r>
            <a:r>
              <a:rPr lang="en-US" altLang="zh-CN" i="1" dirty="0">
                <a:solidFill>
                  <a:srgbClr val="000000"/>
                </a:solidFill>
              </a:rPr>
              <a:t> 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上反自反当且仅当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</a:rPr>
              <a:t>∩</a:t>
            </a:r>
            <a:r>
              <a:rPr lang="en-US" altLang="zh-CN" i="1" dirty="0">
                <a:solidFill>
                  <a:srgbClr val="000000"/>
                </a:solidFill>
              </a:rPr>
              <a:t>I</a:t>
            </a:r>
            <a:r>
              <a:rPr lang="en-US" altLang="zh-CN" i="1" baseline="-30000" dirty="0">
                <a:solidFill>
                  <a:srgbClr val="000000"/>
                </a:solidFill>
              </a:rPr>
              <a:t>A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</a:t>
            </a:r>
            <a:endParaRPr lang="en-US" altLang="zh-CN" dirty="0">
              <a:solidFill>
                <a:srgbClr val="000000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(3) </a:t>
            </a:r>
            <a:r>
              <a:rPr lang="en-US" altLang="zh-CN" i="1" dirty="0">
                <a:solidFill>
                  <a:srgbClr val="000000"/>
                </a:solidFill>
              </a:rPr>
              <a:t> 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上对称当且仅当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R=R</a:t>
            </a:r>
            <a:r>
              <a:rPr lang="en-US" altLang="zh-CN" i="1" baseline="30000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0000"/>
                </a:solidFill>
              </a:rPr>
              <a:t>1</a:t>
            </a:r>
            <a:endParaRPr lang="en-US" altLang="zh-CN" dirty="0">
              <a:solidFill>
                <a:srgbClr val="000000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(4) </a:t>
            </a:r>
            <a:r>
              <a:rPr lang="en-US" altLang="zh-CN" i="1" dirty="0">
                <a:solidFill>
                  <a:srgbClr val="000000"/>
                </a:solidFill>
              </a:rPr>
              <a:t> 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上反对称当且仅当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</a:rPr>
              <a:t>∩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i="1" baseline="30000" dirty="0">
                <a:solidFill>
                  <a:srgbClr val="000000"/>
                </a:solidFill>
              </a:rPr>
              <a:t>1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solidFill>
                  <a:srgbClr val="000000"/>
                </a:solidFill>
              </a:rPr>
              <a:t>I</a:t>
            </a:r>
            <a:r>
              <a:rPr lang="en-US" altLang="zh-CN" i="1" baseline="-30000" dirty="0">
                <a:solidFill>
                  <a:srgbClr val="000000"/>
                </a:solidFill>
              </a:rPr>
              <a:t>A</a:t>
            </a:r>
            <a:endParaRPr lang="en-US" altLang="zh-CN" i="1" dirty="0">
              <a:solidFill>
                <a:srgbClr val="000000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(5) </a:t>
            </a:r>
            <a:r>
              <a:rPr lang="en-US" altLang="zh-CN" i="1" dirty="0">
                <a:solidFill>
                  <a:srgbClr val="000000"/>
                </a:solidFill>
              </a:rPr>
              <a:t> 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上传递当且仅当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dirty="0"/>
              <a:t> </a:t>
            </a:r>
          </a:p>
        </p:txBody>
      </p:sp>
    </p:spTree>
  </p:cSld>
  <p:clrMapOvr>
    <a:masterClrMapping/>
  </p:clrMapOvr>
  <p:transition spd="slow"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8C0412E-D732-489C-A848-F2D6E8E902D7}" type="slidenum">
              <a:rPr lang="en-US" altLang="zh-CN" sz="1400" b="0" smtClean="0">
                <a:latin typeface="Arial" panose="020B0604020202020204" pitchFamily="34" charset="0"/>
              </a:rPr>
              <a:t>75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dirty="0"/>
              <a:t>证明  只证</a:t>
            </a:r>
            <a:r>
              <a:rPr lang="en-US" altLang="zh-CN" dirty="0"/>
              <a:t>(1)</a:t>
            </a:r>
            <a:r>
              <a:rPr lang="zh-CN" altLang="en-US" dirty="0"/>
              <a:t>、</a:t>
            </a:r>
            <a:r>
              <a:rPr lang="en-US" altLang="zh-CN" dirty="0"/>
              <a:t>(3)</a:t>
            </a:r>
            <a:r>
              <a:rPr lang="zh-CN" altLang="en-US" dirty="0"/>
              <a:t>、</a:t>
            </a:r>
            <a:r>
              <a:rPr lang="en-US" altLang="zh-CN" dirty="0"/>
              <a:t>(4)</a:t>
            </a:r>
            <a:r>
              <a:rPr lang="zh-CN" altLang="en-US" dirty="0"/>
              <a:t>、</a:t>
            </a:r>
            <a:r>
              <a:rPr lang="en-US" altLang="zh-CN" dirty="0"/>
              <a:t>(5)</a:t>
            </a:r>
          </a:p>
          <a:p>
            <a:pPr eaLnBrk="1" hangingPunct="1"/>
            <a:r>
              <a:rPr lang="en-US" altLang="zh-CN" dirty="0"/>
              <a:t>(1) </a:t>
            </a:r>
            <a:r>
              <a:rPr lang="en-US" altLang="zh-CN" i="1" dirty="0">
                <a:solidFill>
                  <a:srgbClr val="000000"/>
                </a:solidFill>
              </a:rPr>
              <a:t> 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上自反当且仅当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I</a:t>
            </a:r>
            <a:r>
              <a:rPr lang="en-US" altLang="zh-CN" i="1" baseline="-30000" dirty="0">
                <a:solidFill>
                  <a:srgbClr val="000000"/>
                </a:solidFill>
              </a:rPr>
              <a:t>A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证明：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必要性：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上自反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I</a:t>
            </a:r>
            <a:r>
              <a:rPr lang="en-US" altLang="zh-CN" i="1" baseline="-30000" dirty="0">
                <a:solidFill>
                  <a:srgbClr val="000000"/>
                </a:solidFill>
              </a:rPr>
              <a:t>A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</a:rPr>
              <a:t>任取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&gt;, </a:t>
            </a:r>
            <a:r>
              <a:rPr lang="zh-CN" altLang="en-US" dirty="0">
                <a:solidFill>
                  <a:srgbClr val="0066FF"/>
                </a:solidFill>
              </a:rPr>
              <a:t>有</a:t>
            </a:r>
            <a:endParaRPr lang="en-US" altLang="zh-CN" dirty="0">
              <a:solidFill>
                <a:srgbClr val="0066FF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</a:rPr>
              <a:t>     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I</a:t>
            </a:r>
            <a:r>
              <a:rPr lang="en-US" altLang="zh-CN" i="1" baseline="-25000" dirty="0">
                <a:solidFill>
                  <a:srgbClr val="0066FF"/>
                </a:solidFill>
              </a:rPr>
              <a:t>A</a:t>
            </a:r>
            <a:r>
              <a:rPr lang="en-US" altLang="zh-CN" i="1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 err="1">
                <a:solidFill>
                  <a:srgbClr val="0066FF"/>
                </a:solidFill>
              </a:rPr>
              <a:t>∧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=</a:t>
            </a:r>
            <a:r>
              <a:rPr lang="en-US" altLang="zh-CN" i="1" dirty="0">
                <a:solidFill>
                  <a:srgbClr val="0066FF"/>
                </a:solidFill>
              </a:rPr>
              <a:t>y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</a:rPr>
              <a:t>从而证明了</a:t>
            </a:r>
            <a:r>
              <a:rPr lang="en-US" altLang="zh-CN" i="1" dirty="0">
                <a:solidFill>
                  <a:srgbClr val="0066FF"/>
                </a:solidFill>
              </a:rPr>
              <a:t>I</a:t>
            </a:r>
            <a:r>
              <a:rPr lang="en-US" altLang="zh-CN" i="1" baseline="-25000" dirty="0">
                <a:solidFill>
                  <a:srgbClr val="0066FF"/>
                </a:solidFill>
              </a:rPr>
              <a:t>A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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充分性：</a:t>
            </a:r>
            <a:r>
              <a:rPr lang="en-US" altLang="zh-CN" i="1" dirty="0">
                <a:solidFill>
                  <a:srgbClr val="000000"/>
                </a:solidFill>
              </a:rPr>
              <a:t>I</a:t>
            </a:r>
            <a:r>
              <a:rPr lang="en-US" altLang="zh-CN" i="1" baseline="-30000" dirty="0">
                <a:solidFill>
                  <a:srgbClr val="000000"/>
                </a:solidFill>
              </a:rPr>
              <a:t>A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 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上自反 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</a:rPr>
              <a:t>任取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, </a:t>
            </a:r>
            <a:r>
              <a:rPr lang="zh-CN" altLang="en-US" dirty="0">
                <a:solidFill>
                  <a:srgbClr val="0066FF"/>
                </a:solidFill>
              </a:rPr>
              <a:t>有</a:t>
            </a:r>
            <a:br>
              <a:rPr lang="zh-CN" altLang="en-US" dirty="0">
                <a:solidFill>
                  <a:srgbClr val="0066FF"/>
                </a:solidFill>
              </a:rPr>
            </a:br>
            <a:r>
              <a:rPr lang="zh-CN" altLang="en-US" dirty="0">
                <a:solidFill>
                  <a:srgbClr val="0066FF"/>
                </a:solidFill>
              </a:rPr>
              <a:t>       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i="1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I</a:t>
            </a:r>
            <a:r>
              <a:rPr lang="en-US" altLang="zh-CN" i="1" baseline="-25000" dirty="0">
                <a:solidFill>
                  <a:srgbClr val="0066FF"/>
                </a:solidFill>
              </a:rPr>
              <a:t>A</a:t>
            </a:r>
            <a:r>
              <a:rPr lang="en-US" altLang="zh-CN" i="1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dirty="0">
                <a:solidFill>
                  <a:srgbClr val="0066FF"/>
                </a:solidFill>
              </a:rPr>
              <a:t>因此 </a:t>
            </a:r>
            <a:r>
              <a:rPr lang="en-US" altLang="zh-CN" i="1" dirty="0">
                <a:solidFill>
                  <a:srgbClr val="0066FF"/>
                </a:solidFill>
              </a:rPr>
              <a:t>R </a:t>
            </a:r>
            <a:r>
              <a:rPr lang="zh-CN" altLang="en-US" dirty="0">
                <a:solidFill>
                  <a:srgbClr val="0066FF"/>
                </a:solidFill>
              </a:rPr>
              <a:t>在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zh-CN" altLang="en-US" dirty="0">
                <a:solidFill>
                  <a:srgbClr val="0066FF"/>
                </a:solidFill>
              </a:rPr>
              <a:t>上是自反的</a:t>
            </a:r>
            <a:r>
              <a:rPr lang="en-US" altLang="zh-CN" dirty="0">
                <a:solidFill>
                  <a:srgbClr val="0066FF"/>
                </a:solidFill>
              </a:rPr>
              <a:t>.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030E878-6172-46FD-B1E6-DC6F81C389E9}" type="slidenum">
              <a:rPr lang="en-US" altLang="zh-CN" sz="1400" b="0" smtClean="0">
                <a:latin typeface="Arial" panose="020B0604020202020204" pitchFamily="34" charset="0"/>
              </a:rPr>
              <a:t>76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3686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3686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zh-CN" dirty="0"/>
              <a:t>(3) 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上对称当且仅当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R=R</a:t>
            </a:r>
            <a:r>
              <a:rPr lang="en-US" altLang="zh-CN" i="1" baseline="30000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0000"/>
                </a:solidFill>
              </a:rPr>
              <a:t>1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证明：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必要性：</a:t>
            </a:r>
            <a:r>
              <a:rPr lang="en-US" altLang="zh-CN" i="1" dirty="0"/>
              <a:t>R </a:t>
            </a:r>
            <a:r>
              <a:rPr lang="zh-CN" altLang="en-US" dirty="0"/>
              <a:t>在</a:t>
            </a:r>
            <a:r>
              <a:rPr lang="en-US" altLang="zh-CN" i="1" dirty="0"/>
              <a:t>A</a:t>
            </a:r>
            <a:r>
              <a:rPr lang="zh-CN" altLang="en-US" dirty="0"/>
              <a:t>上对称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zh-CN" altLang="en-US" i="1" dirty="0">
                <a:solidFill>
                  <a:srgbClr val="FF0000"/>
                </a:solidFill>
              </a:rPr>
              <a:t> </a:t>
            </a:r>
            <a:r>
              <a:rPr lang="en-US" altLang="zh-CN" i="1" dirty="0"/>
              <a:t>R=R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</a:rPr>
              <a:t>任取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&gt;, </a:t>
            </a:r>
            <a:br>
              <a:rPr lang="en-US" altLang="zh-CN" dirty="0">
                <a:solidFill>
                  <a:srgbClr val="0066FF"/>
                </a:solidFill>
              </a:rPr>
            </a:br>
            <a:r>
              <a:rPr lang="en-US" altLang="zh-CN" dirty="0">
                <a:solidFill>
                  <a:srgbClr val="0066FF"/>
                </a:solidFill>
              </a:rPr>
              <a:t>&lt;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</a:rPr>
              <a:t></a:t>
            </a: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</a:rPr>
              <a:t>所以 </a:t>
            </a:r>
            <a:r>
              <a:rPr lang="en-US" altLang="zh-CN" i="1" dirty="0">
                <a:solidFill>
                  <a:srgbClr val="0066FF"/>
                </a:solidFill>
              </a:rPr>
              <a:t>R </a:t>
            </a:r>
            <a:r>
              <a:rPr lang="en-US" altLang="zh-CN" dirty="0">
                <a:solidFill>
                  <a:srgbClr val="0066FF"/>
                </a:solidFill>
              </a:rPr>
              <a:t>= 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充分性：</a:t>
            </a:r>
            <a:r>
              <a:rPr lang="en-US" altLang="zh-CN" i="1" dirty="0"/>
              <a:t>R=R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 </a:t>
            </a:r>
            <a:r>
              <a:rPr lang="en-US" altLang="zh-CN" i="1" dirty="0"/>
              <a:t>R </a:t>
            </a:r>
            <a:r>
              <a:rPr lang="zh-CN" altLang="en-US" dirty="0"/>
              <a:t>在</a:t>
            </a:r>
            <a:r>
              <a:rPr lang="en-US" altLang="zh-CN" i="1" dirty="0"/>
              <a:t>A</a:t>
            </a:r>
            <a:r>
              <a:rPr lang="zh-CN" altLang="en-US" dirty="0"/>
              <a:t>上对称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</a:rPr>
              <a:t>任取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&gt;, </a:t>
            </a: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</a:rPr>
              <a:t>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</a:rPr>
              <a:t>所以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zh-CN" altLang="en-US" dirty="0">
                <a:solidFill>
                  <a:srgbClr val="0066FF"/>
                </a:solidFill>
              </a:rPr>
              <a:t>在</a:t>
            </a:r>
            <a:r>
              <a:rPr lang="en-US" altLang="zh-CN" dirty="0">
                <a:solidFill>
                  <a:srgbClr val="0066FF"/>
                </a:solidFill>
              </a:rPr>
              <a:t>A</a:t>
            </a:r>
            <a:r>
              <a:rPr lang="zh-CN" altLang="en-US" dirty="0">
                <a:solidFill>
                  <a:srgbClr val="0066FF"/>
                </a:solidFill>
              </a:rPr>
              <a:t>上是对称的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40FE04-38A8-4DB2-BFA5-E5F484D23B45}" type="slidenum">
              <a:rPr lang="en-US" altLang="zh-CN" sz="1400" b="0" smtClean="0">
                <a:latin typeface="Arial" panose="020B0604020202020204" pitchFamily="34" charset="0"/>
              </a:rPr>
              <a:t>77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3891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3891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060450"/>
            <a:ext cx="8351838" cy="518477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dirty="0"/>
              <a:t>(4)  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上反对称当且仅当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</a:rPr>
              <a:t>∩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i="1" baseline="30000" dirty="0">
                <a:solidFill>
                  <a:srgbClr val="000000"/>
                </a:solidFill>
              </a:rPr>
              <a:t>1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solidFill>
                  <a:srgbClr val="000000"/>
                </a:solidFill>
              </a:rPr>
              <a:t>I</a:t>
            </a:r>
            <a:r>
              <a:rPr lang="en-US" altLang="zh-CN" i="1" baseline="-30000" dirty="0">
                <a:solidFill>
                  <a:srgbClr val="000000"/>
                </a:solidFill>
              </a:rPr>
              <a:t>A</a:t>
            </a:r>
            <a:endParaRPr lang="en-US" altLang="zh-CN" dirty="0"/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证明：</a:t>
            </a:r>
            <a:r>
              <a:rPr lang="zh-CN" altLang="en-US" dirty="0">
                <a:solidFill>
                  <a:srgbClr val="FF0000"/>
                </a:solidFill>
              </a:rPr>
              <a:t>必要性：</a:t>
            </a:r>
            <a:r>
              <a:rPr lang="en-US" altLang="zh-CN" i="1" dirty="0">
                <a:solidFill>
                  <a:srgbClr val="000000"/>
                </a:solidFill>
              </a:rPr>
              <a:t> 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上反对称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</a:rPr>
              <a:t>∩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  <a:sym typeface="Symbol" panose="05050102010706020507" pitchFamily="18" charset="2"/>
              </a:rPr>
              <a:t> </a:t>
            </a:r>
            <a:r>
              <a:rPr lang="en-US" altLang="zh-CN" i="1" baseline="30000" dirty="0">
                <a:solidFill>
                  <a:srgbClr val="000000"/>
                </a:solidFill>
              </a:rPr>
              <a:t>1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solidFill>
                  <a:srgbClr val="000000"/>
                </a:solidFill>
              </a:rPr>
              <a:t>I</a:t>
            </a:r>
            <a:r>
              <a:rPr lang="en-US" altLang="zh-CN" i="1" baseline="-30000" dirty="0">
                <a:solidFill>
                  <a:srgbClr val="000000"/>
                </a:solidFill>
              </a:rPr>
              <a:t>A</a:t>
            </a:r>
            <a:r>
              <a:rPr lang="en-US" altLang="zh-CN" dirty="0"/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0066FF"/>
                </a:solidFill>
              </a:rPr>
              <a:t>任取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&gt;, </a:t>
            </a:r>
            <a:r>
              <a:rPr lang="zh-CN" altLang="en-US" dirty="0">
                <a:solidFill>
                  <a:srgbClr val="0066FF"/>
                </a:solidFill>
              </a:rPr>
              <a:t>有</a:t>
            </a:r>
            <a:br>
              <a:rPr lang="zh-CN" altLang="en-US" dirty="0">
                <a:solidFill>
                  <a:srgbClr val="0066FF"/>
                </a:solidFill>
              </a:rPr>
            </a:br>
            <a:r>
              <a:rPr lang="zh-CN" altLang="en-US" dirty="0">
                <a:solidFill>
                  <a:srgbClr val="0066FF"/>
                </a:solidFill>
              </a:rPr>
              <a:t>       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∩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 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∧&lt;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br>
              <a:rPr lang="en-US" altLang="zh-CN" baseline="30000" dirty="0">
                <a:solidFill>
                  <a:srgbClr val="0066FF"/>
                </a:solidFill>
              </a:rPr>
            </a:br>
            <a:r>
              <a:rPr lang="en-US" altLang="zh-CN" baseline="30000" dirty="0">
                <a:solidFill>
                  <a:srgbClr val="0066FF"/>
                </a:solidFill>
              </a:rPr>
              <a:t>       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∧&lt;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=</a:t>
            </a:r>
            <a:r>
              <a:rPr lang="en-US" altLang="zh-CN" i="1" dirty="0">
                <a:solidFill>
                  <a:srgbClr val="0066FF"/>
                </a:solidFill>
              </a:rPr>
              <a:t>y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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 err="1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>
                <a:solidFill>
                  <a:srgbClr val="0066FF"/>
                </a:solidFill>
              </a:rPr>
              <a:t> </a:t>
            </a:r>
            <a:br>
              <a:rPr lang="en-US" altLang="zh-CN" dirty="0">
                <a:solidFill>
                  <a:srgbClr val="0066FF"/>
                </a:solidFill>
              </a:rPr>
            </a:br>
            <a:r>
              <a:rPr lang="en-US" altLang="zh-CN" dirty="0">
                <a:solidFill>
                  <a:srgbClr val="0066FF"/>
                </a:solidFill>
              </a:rPr>
              <a:t>     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I</a:t>
            </a:r>
            <a:r>
              <a:rPr lang="en-US" altLang="zh-CN" i="1" baseline="-25000" dirty="0">
                <a:solidFill>
                  <a:srgbClr val="0066FF"/>
                </a:solidFill>
              </a:rPr>
              <a:t>A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0066FF"/>
                </a:solidFill>
              </a:rPr>
              <a:t>这就证明了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∩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</a:t>
            </a:r>
            <a:r>
              <a:rPr lang="en-US" altLang="zh-CN" i="1" dirty="0">
                <a:solidFill>
                  <a:srgbClr val="0066FF"/>
                </a:solidFill>
              </a:rPr>
              <a:t>I</a:t>
            </a:r>
            <a:r>
              <a:rPr lang="en-US" altLang="zh-CN" i="1" baseline="-25000" dirty="0">
                <a:solidFill>
                  <a:srgbClr val="0066FF"/>
                </a:solidFill>
              </a:rPr>
              <a:t>A </a:t>
            </a:r>
            <a:endParaRPr lang="en-US" altLang="zh-CN" dirty="0">
              <a:solidFill>
                <a:srgbClr val="0066FF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45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充分性：</a:t>
            </a:r>
            <a:r>
              <a:rPr lang="zh-CN" altLang="en-US" dirty="0"/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 R</a:t>
            </a:r>
            <a:r>
              <a:rPr lang="en-US" altLang="zh-CN" dirty="0">
                <a:solidFill>
                  <a:srgbClr val="000000"/>
                </a:solidFill>
              </a:rPr>
              <a:t>∩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  <a:sym typeface="Symbol" panose="05050102010706020507" pitchFamily="18" charset="2"/>
              </a:rPr>
              <a:t> </a:t>
            </a:r>
            <a:r>
              <a:rPr lang="en-US" altLang="zh-CN" i="1" baseline="30000" dirty="0">
                <a:solidFill>
                  <a:srgbClr val="000000"/>
                </a:solidFill>
              </a:rPr>
              <a:t>1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solidFill>
                  <a:srgbClr val="000000"/>
                </a:solidFill>
              </a:rPr>
              <a:t>I</a:t>
            </a:r>
            <a:r>
              <a:rPr lang="en-US" altLang="zh-CN" i="1" baseline="-30000" dirty="0">
                <a:solidFill>
                  <a:srgbClr val="000000"/>
                </a:solidFill>
              </a:rPr>
              <a:t>A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上反对称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endParaRPr lang="en-US" altLang="zh-CN" dirty="0"/>
          </a:p>
          <a:p>
            <a:pPr eaLnBrk="1" hangingPunct="1">
              <a:lnSpc>
                <a:spcPct val="110000"/>
              </a:lnSpc>
              <a:spcBef>
                <a:spcPct val="45000"/>
              </a:spcBef>
            </a:pPr>
            <a:r>
              <a:rPr lang="zh-CN" altLang="en-US" dirty="0">
                <a:solidFill>
                  <a:srgbClr val="0066FF"/>
                </a:solidFill>
              </a:rPr>
              <a:t>任取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&gt;,</a:t>
            </a:r>
            <a:r>
              <a:rPr lang="zh-CN" altLang="en-US" dirty="0">
                <a:solidFill>
                  <a:srgbClr val="0066FF"/>
                </a:solidFill>
              </a:rPr>
              <a:t>有</a:t>
            </a:r>
            <a:endParaRPr lang="en-US" altLang="zh-CN" dirty="0">
              <a:solidFill>
                <a:srgbClr val="0066FF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dirty="0">
                <a:solidFill>
                  <a:srgbClr val="0066FF"/>
                </a:solidFill>
              </a:rPr>
              <a:t>      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∧&lt;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∧&lt;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br>
              <a:rPr lang="en-US" altLang="zh-CN" dirty="0">
                <a:solidFill>
                  <a:srgbClr val="0066FF"/>
                </a:solidFill>
              </a:rPr>
            </a:br>
            <a:r>
              <a:rPr lang="en-US" altLang="zh-CN" dirty="0">
                <a:solidFill>
                  <a:srgbClr val="0066FF"/>
                </a:solidFill>
              </a:rPr>
              <a:t> 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∩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I</a:t>
            </a:r>
            <a:r>
              <a:rPr lang="en-US" altLang="zh-CN" i="1" baseline="-25000" dirty="0">
                <a:solidFill>
                  <a:srgbClr val="0066FF"/>
                </a:solidFill>
              </a:rPr>
              <a:t>A</a:t>
            </a:r>
            <a:r>
              <a:rPr lang="en-US" altLang="zh-CN" baseline="-25000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=</a:t>
            </a:r>
            <a:r>
              <a:rPr lang="en-US" altLang="zh-CN" i="1" dirty="0">
                <a:solidFill>
                  <a:srgbClr val="0066FF"/>
                </a:solidFill>
              </a:rPr>
              <a:t>y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0066FF"/>
                </a:solidFill>
              </a:rPr>
              <a:t>从而证明了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zh-CN" altLang="en-US" dirty="0">
                <a:solidFill>
                  <a:srgbClr val="0066FF"/>
                </a:solidFill>
              </a:rPr>
              <a:t>在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zh-CN" altLang="en-US" dirty="0">
                <a:solidFill>
                  <a:srgbClr val="0066FF"/>
                </a:solidFill>
              </a:rPr>
              <a:t>上是反对称的</a:t>
            </a:r>
            <a:r>
              <a:rPr lang="en-US" altLang="zh-CN" dirty="0">
                <a:solidFill>
                  <a:srgbClr val="0066FF"/>
                </a:solidFill>
              </a:rPr>
              <a:t>.</a:t>
            </a:r>
            <a:br>
              <a:rPr lang="en-US" altLang="zh-CN" dirty="0">
                <a:solidFill>
                  <a:srgbClr val="0066FF"/>
                </a:solidFill>
              </a:rPr>
            </a:br>
            <a:endParaRPr lang="en-US" altLang="zh-CN" dirty="0">
              <a:solidFill>
                <a:srgbClr val="0066FF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E924EC-BEC3-4FC7-AA6E-995AD8F9A690}" type="slidenum">
              <a:rPr lang="en-US" altLang="zh-CN" sz="1400" b="0" smtClean="0">
                <a:latin typeface="Arial" panose="020B0604020202020204" pitchFamily="34" charset="0"/>
              </a:rPr>
              <a:t>78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graphicFrame>
        <p:nvGraphicFramePr>
          <p:cNvPr id="372738" name="Object 2"/>
          <p:cNvGraphicFramePr>
            <a:graphicFrameLocks noChangeAspect="1"/>
          </p:cNvGraphicFramePr>
          <p:nvPr/>
        </p:nvGraphicFramePr>
        <p:xfrm>
          <a:off x="107950" y="1411288"/>
          <a:ext cx="12612688" cy="845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5544185" imgH="3686810" progId="Word.Document.8">
                  <p:embed/>
                </p:oleObj>
              </mc:Choice>
              <mc:Fallback>
                <p:oleObj name="文档" r:id="rId3" imgW="5544185" imgH="368681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1411288"/>
                        <a:ext cx="12612688" cy="845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40965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250825" y="981075"/>
            <a:ext cx="8229600" cy="4895850"/>
          </a:xfrm>
        </p:spPr>
        <p:txBody>
          <a:bodyPr/>
          <a:lstStyle/>
          <a:p>
            <a:pPr eaLnBrk="1" hangingPunct="1"/>
            <a:r>
              <a:rPr lang="en-US" altLang="zh-CN" dirty="0"/>
              <a:t>(5)</a:t>
            </a:r>
            <a:r>
              <a:rPr lang="en-US" altLang="zh-CN" sz="2000" dirty="0"/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上传递当且仅当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dirty="0"/>
              <a:t> 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证明：</a:t>
            </a:r>
            <a:endParaRPr lang="en-US" altLang="zh-CN" dirty="0">
              <a:solidFill>
                <a:srgbClr val="C0000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必要性</a:t>
            </a:r>
            <a:r>
              <a:rPr lang="zh-CN" altLang="en-US" dirty="0"/>
              <a:t>：</a:t>
            </a:r>
            <a:r>
              <a:rPr lang="en-US" altLang="zh-CN" i="1" dirty="0">
                <a:solidFill>
                  <a:srgbClr val="000000"/>
                </a:solidFill>
              </a:rPr>
              <a:t> 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上传递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dirty="0"/>
              <a:t> 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</a:rPr>
              <a:t>任取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</a:t>
            </a:r>
            <a:r>
              <a:rPr lang="zh-CN" altLang="en-US" dirty="0">
                <a:solidFill>
                  <a:srgbClr val="0066FF"/>
                </a:solidFill>
              </a:rPr>
              <a:t>有</a:t>
            </a:r>
            <a:br>
              <a:rPr lang="zh-CN" altLang="en-US" dirty="0">
                <a:solidFill>
                  <a:srgbClr val="0066FF"/>
                </a:solidFill>
              </a:rPr>
            </a:br>
            <a:r>
              <a:rPr lang="zh-CN" altLang="en-US" dirty="0">
                <a:solidFill>
                  <a:srgbClr val="0066FF"/>
                </a:solidFill>
              </a:rPr>
              <a:t> 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sz="3200" baseline="-16000" dirty="0">
                <a:solidFill>
                  <a:srgbClr val="0066FF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endParaRPr lang="en-US" altLang="zh-CN" dirty="0">
              <a:solidFill>
                <a:srgbClr val="0066FF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</a:rPr>
              <a:t>     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66FF"/>
                </a:solidFill>
              </a:rPr>
              <a:t>t </a:t>
            </a:r>
            <a:r>
              <a:rPr lang="en-US" altLang="zh-CN" dirty="0">
                <a:solidFill>
                  <a:srgbClr val="0066FF"/>
                </a:solidFill>
              </a:rPr>
              <a:t>(&lt;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t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∧&lt;</a:t>
            </a:r>
            <a:r>
              <a:rPr lang="en-US" altLang="zh-CN" i="1" dirty="0" err="1">
                <a:solidFill>
                  <a:srgbClr val="0066FF"/>
                </a:solidFill>
              </a:rPr>
              <a:t>t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</a:rPr>
              <a:t>    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</a:t>
            </a: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</a:rPr>
              <a:t>所以 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sz="3200" baseline="-16000" dirty="0">
                <a:solidFill>
                  <a:srgbClr val="0066FF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</a:rPr>
              <a:t>R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充分性</a:t>
            </a:r>
            <a:r>
              <a:rPr lang="zh-CN" altLang="en-US" dirty="0"/>
              <a:t>：</a:t>
            </a:r>
            <a:r>
              <a:rPr lang="en-US" altLang="zh-CN" i="1" dirty="0">
                <a:solidFill>
                  <a:srgbClr val="000000"/>
                </a:solidFill>
              </a:rPr>
              <a:t> R</a:t>
            </a:r>
            <a:r>
              <a:rPr lang="en-US" altLang="zh-CN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上传递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</a:rPr>
              <a:t>任取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&gt;,&lt;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z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, </a:t>
            </a:r>
            <a:r>
              <a:rPr lang="zh-CN" altLang="en-US" dirty="0">
                <a:solidFill>
                  <a:srgbClr val="0066FF"/>
                </a:solidFill>
              </a:rPr>
              <a:t>则</a:t>
            </a:r>
            <a:br>
              <a:rPr lang="zh-CN" altLang="en-US" dirty="0">
                <a:solidFill>
                  <a:srgbClr val="0066FF"/>
                </a:solidFill>
              </a:rPr>
            </a:br>
            <a:r>
              <a:rPr lang="zh-CN" altLang="en-US" dirty="0">
                <a:solidFill>
                  <a:srgbClr val="0066FF"/>
                </a:solidFill>
              </a:rPr>
              <a:t>         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∧&lt;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z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</a:p>
          <a:p>
            <a:pPr eaLnBrk="1" hangingPunct="1"/>
            <a:r>
              <a:rPr lang="en-US" altLang="zh-CN" i="1" dirty="0">
                <a:solidFill>
                  <a:srgbClr val="0066FF"/>
                </a:solidFill>
              </a:rPr>
              <a:t>             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z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sz="3200" baseline="-16000" dirty="0">
                <a:solidFill>
                  <a:srgbClr val="0066FF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</a:rPr>
              <a:t>R 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z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</a:rPr>
              <a:t>所以 </a:t>
            </a:r>
            <a:r>
              <a:rPr lang="en-US" altLang="zh-CN" i="1" dirty="0">
                <a:solidFill>
                  <a:srgbClr val="0066FF"/>
                </a:solidFill>
              </a:rPr>
              <a:t>R </a:t>
            </a:r>
            <a:r>
              <a:rPr lang="zh-CN" altLang="en-US" dirty="0">
                <a:solidFill>
                  <a:srgbClr val="0066FF"/>
                </a:solidFill>
              </a:rPr>
              <a:t>在 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zh-CN" altLang="en-US" dirty="0">
                <a:solidFill>
                  <a:srgbClr val="0066FF"/>
                </a:solidFill>
              </a:rPr>
              <a:t>上是传递的</a:t>
            </a:r>
            <a:endParaRPr lang="zh-CN" altLang="en-US" sz="2000" dirty="0">
              <a:solidFill>
                <a:srgbClr val="0066FF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2D96FE0-0E15-40FA-8787-C3BC27451FD3}" type="slidenum">
              <a:rPr lang="en-US" altLang="zh-CN" sz="1400" b="0" smtClean="0">
                <a:latin typeface="Arial" panose="020B0604020202020204" pitchFamily="34" charset="0"/>
              </a:rPr>
              <a:t>79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graphicFrame>
        <p:nvGraphicFramePr>
          <p:cNvPr id="374983" name="Group 199"/>
          <p:cNvGraphicFramePr>
            <a:graphicFrameLocks noGrp="1"/>
          </p:cNvGraphicFramePr>
          <p:nvPr/>
        </p:nvGraphicFramePr>
        <p:xfrm>
          <a:off x="250825" y="1412875"/>
          <a:ext cx="8713788" cy="4465639"/>
        </p:xfrm>
        <a:graphic>
          <a:graphicData uri="http://schemas.openxmlformats.org/drawingml/2006/table">
            <a:tbl>
              <a:tblPr/>
              <a:tblGrid>
                <a:gridCol w="865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87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自反性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反自反性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对称性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反对称性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传递性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集合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4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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4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30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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I</a:t>
                      </a:r>
                      <a:r>
                        <a:rPr kumimoji="0" lang="en-US" altLang="zh-CN" sz="24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16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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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关系矩阵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主对角线元素全是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主对角线元素全是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矩阵是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对称矩阵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若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ij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1,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且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≠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则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ji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位置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中相应位置都是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4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关系图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每个顶点都有环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每个顶点都没有环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两点之间有边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是一对方向相反的边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两点之间有边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是一条有向边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点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到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有边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  <a:r>
                        <a:rPr kumimoji="0" lang="en-US" altLang="zh-CN" sz="24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到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有边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则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到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也有边 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048" name="Rectangle 169"/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/>
              <a:t>关系性质的三种等价条件</a:t>
            </a:r>
          </a:p>
        </p:txBody>
      </p:sp>
    </p:spTree>
  </p:cSld>
  <p:clrMapOvr>
    <a:masterClrMapping/>
  </p:clrMapOvr>
  <p:transition spd="slow"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07F72C7-1680-4C68-839E-DACFB3E3CE2C}" type="slidenum">
              <a:rPr lang="en-US" altLang="zh-CN" sz="1400" b="0" smtClean="0">
                <a:latin typeface="Arial" panose="020B0604020202020204" pitchFamily="34" charset="0"/>
              </a:rPr>
              <a:t>80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graphicFrame>
        <p:nvGraphicFramePr>
          <p:cNvPr id="379108" name="Group 228"/>
          <p:cNvGraphicFramePr>
            <a:graphicFrameLocks noGrp="1"/>
          </p:cNvGraphicFramePr>
          <p:nvPr/>
        </p:nvGraphicFramePr>
        <p:xfrm>
          <a:off x="323850" y="1557338"/>
          <a:ext cx="8424863" cy="3108326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01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自反性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反自反性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对称性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反对称性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传递性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  <a:endParaRPr kumimoji="0" lang="en-US" altLang="zh-CN" sz="24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∪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 </a:t>
                      </a:r>
                      <a:r>
                        <a:rPr kumimoji="0" lang="en-US" altLang="zh-CN" sz="3200" b="1" i="0" u="none" strike="noStrike" cap="none" normalizeH="0" baseline="-16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</a:t>
                      </a: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ea typeface="华文中宋" panose="02010600040101010101" pitchFamily="2" charset="-122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5110" name="Rectangle 217"/>
          <p:cNvSpPr>
            <a:spLocks noChangeArrowheads="1"/>
          </p:cNvSpPr>
          <p:nvPr/>
        </p:nvSpPr>
        <p:spPr bwMode="auto">
          <a:xfrm>
            <a:off x="2268538" y="188913"/>
            <a:ext cx="54879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latin typeface="Arial" panose="020B0604020202020204" pitchFamily="34" charset="0"/>
              </a:rPr>
              <a:t>关系的性质和运算之间的联系</a:t>
            </a:r>
          </a:p>
        </p:txBody>
      </p:sp>
    </p:spTree>
  </p:cSld>
  <p:clrMapOvr>
    <a:masterClrMapping/>
  </p:clrMapOvr>
  <p:transition spd="slow"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396EE1-5417-41EB-B497-22A69CE2D501}" type="slidenum">
              <a:rPr lang="en-US" altLang="zh-CN" smtClean="0"/>
              <a:t>81</a:t>
            </a:fld>
            <a:endParaRPr lang="en-US" altLang="zh-CN"/>
          </a:p>
        </p:txBody>
      </p:sp>
      <p:sp>
        <p:nvSpPr>
          <p:cNvPr id="3" name="Rectangle 217"/>
          <p:cNvSpPr>
            <a:spLocks noChangeArrowheads="1"/>
          </p:cNvSpPr>
          <p:nvPr/>
        </p:nvSpPr>
        <p:spPr bwMode="auto">
          <a:xfrm>
            <a:off x="1835696" y="241484"/>
            <a:ext cx="65678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zh-CN" altLang="en-US" sz="2800" dirty="0">
                <a:solidFill>
                  <a:srgbClr val="000000"/>
                </a:solidFill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zh-CN" altLang="en-US" sz="2800" dirty="0">
                <a:solidFill>
                  <a:srgbClr val="000000"/>
                </a:solidFill>
              </a:rPr>
              <a:t>是传递的，则</a:t>
            </a:r>
            <a:r>
              <a:rPr lang="en-US" altLang="zh-CN" sz="2800" i="1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ea typeface="华文中宋" panose="02010600040101010101" pitchFamily="2" charset="-122"/>
                <a:cs typeface="宋体" panose="02010600030101010101" pitchFamily="2" charset="-122"/>
              </a:rPr>
              <a:t>∩</a:t>
            </a:r>
            <a:r>
              <a:rPr lang="en-US" altLang="zh-CN" sz="2800" i="1" dirty="0">
                <a:solidFill>
                  <a:srgbClr val="000000"/>
                </a:solidFill>
              </a:rPr>
              <a:t>R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zh-CN" altLang="en-US" sz="2800" dirty="0">
                <a:solidFill>
                  <a:srgbClr val="000000"/>
                </a:solidFill>
              </a:rPr>
              <a:t>也是传递的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504577" y="1484784"/>
            <a:ext cx="8207375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5000"/>
              </a:spcBef>
            </a:pPr>
            <a:r>
              <a:rPr lang="zh-CN" altLang="en-US" dirty="0">
                <a:solidFill>
                  <a:srgbClr val="000000"/>
                </a:solidFill>
              </a:rPr>
              <a:t>证  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1" hangingPunct="1">
              <a:spcBef>
                <a:spcPct val="55000"/>
              </a:spcBef>
            </a:pPr>
            <a:r>
              <a:rPr lang="en-US" altLang="zh-CN" dirty="0">
                <a:solidFill>
                  <a:srgbClr val="000000"/>
                </a:solidFill>
              </a:rPr>
              <a:t>         </a:t>
            </a:r>
            <a:r>
              <a:rPr lang="zh-CN" altLang="en-US" dirty="0">
                <a:solidFill>
                  <a:srgbClr val="000000"/>
                </a:solidFill>
              </a:rPr>
              <a:t>由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25000" dirty="0">
                <a:solidFill>
                  <a:srgbClr val="000000"/>
                </a:solidFill>
              </a:rPr>
              <a:t>1</a:t>
            </a:r>
            <a:r>
              <a:rPr lang="zh-CN" altLang="en-US" dirty="0">
                <a:solidFill>
                  <a:srgbClr val="000000"/>
                </a:solidFill>
              </a:rPr>
              <a:t>和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25000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是传递的，可得：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1" hangingPunct="1">
              <a:spcBef>
                <a:spcPct val="55000"/>
              </a:spcBef>
            </a:pPr>
            <a:r>
              <a:rPr lang="en-US" altLang="zh-CN" i="1" dirty="0">
                <a:solidFill>
                  <a:srgbClr val="000000"/>
                </a:solidFill>
              </a:rPr>
              <a:t>          </a:t>
            </a:r>
            <a:r>
              <a:rPr lang="en-US" altLang="zh-CN" i="1" dirty="0">
                <a:solidFill>
                  <a:srgbClr val="FF0000"/>
                </a:solidFill>
              </a:rPr>
              <a:t>R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baseline="-16000" dirty="0">
                <a:solidFill>
                  <a:srgbClr val="FF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>
                <a:solidFill>
                  <a:srgbClr val="FF0000"/>
                </a:solidFill>
              </a:rPr>
              <a:t>R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baseline="-16000" dirty="0">
                <a:solidFill>
                  <a:srgbClr val="FF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C00000"/>
                </a:solidFill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</a:rPr>
              <a:t>1</a:t>
            </a:r>
            <a:r>
              <a:rPr lang="en-US" altLang="zh-CN" baseline="-25000" dirty="0">
                <a:solidFill>
                  <a:srgbClr val="000000"/>
                </a:solidFill>
              </a:rPr>
              <a:t>   </a:t>
            </a:r>
            <a:r>
              <a:rPr lang="zh-CN" altLang="en-US" dirty="0">
                <a:solidFill>
                  <a:srgbClr val="000000"/>
                </a:solidFill>
              </a:rPr>
              <a:t>和   </a:t>
            </a:r>
            <a:r>
              <a:rPr lang="en-US" altLang="zh-CN" i="1" dirty="0">
                <a:solidFill>
                  <a:srgbClr val="FF0000"/>
                </a:solidFill>
              </a:rPr>
              <a:t>R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r>
              <a:rPr lang="en-US" altLang="zh-CN" baseline="-16000" dirty="0">
                <a:solidFill>
                  <a:srgbClr val="FF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>
                <a:solidFill>
                  <a:srgbClr val="FF0000"/>
                </a:solidFill>
              </a:rPr>
              <a:t>R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r>
              <a:rPr lang="en-US" altLang="zh-CN" baseline="-16000" dirty="0">
                <a:solidFill>
                  <a:srgbClr val="FF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C00000"/>
                </a:solidFill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</a:rPr>
              <a:t>2</a:t>
            </a:r>
            <a:endParaRPr lang="en-US" altLang="zh-CN" dirty="0">
              <a:solidFill>
                <a:srgbClr val="C00000"/>
              </a:solidFill>
            </a:endParaRPr>
          </a:p>
          <a:p>
            <a:pPr eaLnBrk="1" hangingPunct="1">
              <a:spcBef>
                <a:spcPct val="55000"/>
              </a:spcBef>
            </a:pPr>
            <a:r>
              <a:rPr lang="zh-CN" altLang="en-US" dirty="0">
                <a:solidFill>
                  <a:srgbClr val="000000"/>
                </a:solidFill>
              </a:rPr>
              <a:t>           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25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ea typeface="华文中宋" panose="02010600040101010101" pitchFamily="2" charset="-122"/>
                <a:cs typeface="宋体" panose="02010600030101010101" pitchFamily="2" charset="-122"/>
              </a:rPr>
              <a:t>∩</a:t>
            </a:r>
            <a:r>
              <a:rPr lang="en-US" altLang="zh-CN" baseline="-16000" dirty="0">
                <a:solidFill>
                  <a:srgbClr val="00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25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en-US" altLang="zh-CN" baseline="-16000" dirty="0">
                <a:solidFill>
                  <a:srgbClr val="00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</a:t>
            </a:r>
            <a:r>
              <a:rPr lang="en-US" altLang="zh-CN" dirty="0">
                <a:solidFill>
                  <a:srgbClr val="000000"/>
                </a:solidFill>
              </a:rPr>
              <a:t> 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25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ea typeface="华文中宋" panose="02010600040101010101" pitchFamily="2" charset="-122"/>
                <a:cs typeface="宋体" panose="02010600030101010101" pitchFamily="2" charset="-122"/>
              </a:rPr>
              <a:t>∩</a:t>
            </a:r>
            <a:r>
              <a:rPr lang="en-US" altLang="zh-CN" baseline="-16000" dirty="0">
                <a:solidFill>
                  <a:srgbClr val="00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25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en-US" altLang="zh-CN" baseline="-16000" dirty="0">
                <a:solidFill>
                  <a:srgbClr val="00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55000"/>
              </a:spcBef>
            </a:pPr>
            <a:r>
              <a:rPr lang="en-US" altLang="zh-CN" baseline="-16000" dirty="0">
                <a:solidFill>
                  <a:srgbClr val="000000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                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R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baseline="-16000" dirty="0">
                <a:solidFill>
                  <a:srgbClr val="FF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>
                <a:solidFill>
                  <a:srgbClr val="FF0000"/>
                </a:solidFill>
              </a:rPr>
              <a:t>R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  <a:ea typeface="华文中宋" panose="0201060004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ea typeface="华文中宋" panose="02010600040101010101" pitchFamily="2" charset="-122"/>
                <a:cs typeface="宋体" panose="02010600030101010101" pitchFamily="2" charset="-122"/>
              </a:rPr>
              <a:t>∩</a:t>
            </a:r>
            <a:r>
              <a:rPr lang="en-US" altLang="zh-CN" baseline="-16000" dirty="0">
                <a:solidFill>
                  <a:srgbClr val="00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25000" dirty="0">
                <a:solidFill>
                  <a:srgbClr val="000000"/>
                </a:solidFill>
              </a:rPr>
              <a:t>1</a:t>
            </a:r>
            <a:r>
              <a:rPr lang="en-US" altLang="zh-CN" baseline="-16000" dirty="0">
                <a:solidFill>
                  <a:srgbClr val="00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25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ea typeface="华文中宋" panose="02010600040101010101" pitchFamily="2" charset="-122"/>
                <a:cs typeface="宋体" panose="02010600030101010101" pitchFamily="2" charset="-122"/>
              </a:rPr>
              <a:t> ∩</a:t>
            </a:r>
            <a:r>
              <a:rPr lang="en-US" altLang="zh-CN" baseline="-16000" dirty="0">
                <a:solidFill>
                  <a:srgbClr val="00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25000" dirty="0">
                <a:solidFill>
                  <a:srgbClr val="000000"/>
                </a:solidFill>
              </a:rPr>
              <a:t>2</a:t>
            </a:r>
            <a:r>
              <a:rPr lang="en-US" altLang="zh-CN" baseline="-16000" dirty="0">
                <a:solidFill>
                  <a:srgbClr val="00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25000" dirty="0">
                <a:solidFill>
                  <a:srgbClr val="000000"/>
                </a:solidFill>
              </a:rPr>
              <a:t>1</a:t>
            </a:r>
            <a:r>
              <a:rPr lang="en-US" altLang="zh-CN" baseline="-16000" dirty="0">
                <a:solidFill>
                  <a:srgbClr val="00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ea typeface="华文中宋" panose="02010600040101010101" pitchFamily="2" charset="-122"/>
                <a:cs typeface="宋体" panose="02010600030101010101" pitchFamily="2" charset="-122"/>
              </a:rPr>
              <a:t>∩ </a:t>
            </a:r>
            <a:r>
              <a:rPr lang="en-US" altLang="zh-CN" i="1" dirty="0">
                <a:solidFill>
                  <a:srgbClr val="FF0000"/>
                </a:solidFill>
              </a:rPr>
              <a:t>R</a:t>
            </a:r>
            <a:r>
              <a:rPr lang="en-US" altLang="zh-CN" i="1" baseline="-25000" dirty="0">
                <a:solidFill>
                  <a:srgbClr val="FF0000"/>
                </a:solidFill>
              </a:rPr>
              <a:t>2</a:t>
            </a:r>
            <a:r>
              <a:rPr lang="en-US" altLang="zh-CN" baseline="-16000" dirty="0">
                <a:solidFill>
                  <a:srgbClr val="FF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>
                <a:solidFill>
                  <a:srgbClr val="FF0000"/>
                </a:solidFill>
              </a:rPr>
              <a:t>R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r>
              <a:rPr lang="en-US" altLang="zh-CN" baseline="-16000" dirty="0">
                <a:solidFill>
                  <a:srgbClr val="FF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    </a:t>
            </a:r>
            <a:r>
              <a:rPr lang="en-US" altLang="zh-CN" dirty="0">
                <a:solidFill>
                  <a:srgbClr val="00B050"/>
                </a:solidFill>
              </a:rPr>
              <a:t>【</a:t>
            </a:r>
            <a:r>
              <a:rPr lang="zh-CN" altLang="en-US" dirty="0">
                <a:solidFill>
                  <a:srgbClr val="00B050"/>
                </a:solidFill>
              </a:rPr>
              <a:t>定理</a:t>
            </a:r>
            <a:r>
              <a:rPr lang="en-US" altLang="zh-CN" dirty="0">
                <a:solidFill>
                  <a:srgbClr val="00B050"/>
                </a:solidFill>
              </a:rPr>
              <a:t>7.4】</a:t>
            </a:r>
          </a:p>
          <a:p>
            <a:pPr eaLnBrk="1" hangingPunct="1">
              <a:spcBef>
                <a:spcPct val="55000"/>
              </a:spcBef>
            </a:pP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           </a:t>
            </a:r>
            <a:r>
              <a:rPr lang="en-US" altLang="zh-CN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C00000"/>
                </a:solidFill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</a:rPr>
              <a:t>1</a:t>
            </a:r>
            <a:r>
              <a:rPr lang="en-US" altLang="zh-CN" baseline="-16000" dirty="0">
                <a:solidFill>
                  <a:srgbClr val="00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ea typeface="华文中宋" panose="02010600040101010101" pitchFamily="2" charset="-122"/>
                <a:cs typeface="宋体" panose="02010600030101010101" pitchFamily="2" charset="-122"/>
              </a:rPr>
              <a:t>∩</a:t>
            </a:r>
            <a:r>
              <a:rPr lang="en-US" altLang="zh-CN" baseline="-16000" dirty="0">
                <a:solidFill>
                  <a:srgbClr val="00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25000" dirty="0">
                <a:solidFill>
                  <a:srgbClr val="000000"/>
                </a:solidFill>
              </a:rPr>
              <a:t>1</a:t>
            </a:r>
            <a:r>
              <a:rPr lang="en-US" altLang="zh-CN" baseline="-16000" dirty="0">
                <a:solidFill>
                  <a:srgbClr val="00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25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ea typeface="华文中宋" panose="02010600040101010101" pitchFamily="2" charset="-122"/>
                <a:cs typeface="宋体" panose="02010600030101010101" pitchFamily="2" charset="-122"/>
              </a:rPr>
              <a:t> ∩</a:t>
            </a:r>
            <a:r>
              <a:rPr lang="en-US" altLang="zh-CN" baseline="-16000" dirty="0">
                <a:solidFill>
                  <a:srgbClr val="00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25000" dirty="0">
                <a:solidFill>
                  <a:srgbClr val="000000"/>
                </a:solidFill>
              </a:rPr>
              <a:t>2</a:t>
            </a:r>
            <a:r>
              <a:rPr lang="en-US" altLang="zh-CN" baseline="-16000" dirty="0">
                <a:solidFill>
                  <a:srgbClr val="00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25000" dirty="0">
                <a:solidFill>
                  <a:srgbClr val="000000"/>
                </a:solidFill>
              </a:rPr>
              <a:t>1</a:t>
            </a:r>
            <a:r>
              <a:rPr lang="en-US" altLang="zh-CN" baseline="-16000" dirty="0">
                <a:solidFill>
                  <a:srgbClr val="00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ea typeface="华文中宋" panose="02010600040101010101" pitchFamily="2" charset="-122"/>
                <a:cs typeface="宋体" panose="02010600030101010101" pitchFamily="2" charset="-122"/>
              </a:rPr>
              <a:t>∩ </a:t>
            </a:r>
            <a:r>
              <a:rPr lang="en-US" altLang="zh-CN" i="1" dirty="0">
                <a:solidFill>
                  <a:srgbClr val="C00000"/>
                </a:solidFill>
              </a:rPr>
              <a:t>R</a:t>
            </a:r>
            <a:r>
              <a:rPr lang="en-US" altLang="zh-CN" i="1" baseline="-25000" dirty="0">
                <a:solidFill>
                  <a:srgbClr val="C00000"/>
                </a:solidFill>
              </a:rPr>
              <a:t>2</a:t>
            </a:r>
            <a:r>
              <a:rPr lang="en-US" altLang="zh-CN" baseline="-16000" dirty="0">
                <a:solidFill>
                  <a:srgbClr val="00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 i="1" dirty="0">
              <a:solidFill>
                <a:srgbClr val="000000"/>
              </a:solidFill>
            </a:endParaRPr>
          </a:p>
          <a:p>
            <a:pPr eaLnBrk="1" hangingPunct="1">
              <a:spcBef>
                <a:spcPct val="55000"/>
              </a:spcBef>
            </a:pP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           </a:t>
            </a:r>
            <a:r>
              <a:rPr lang="en-US" altLang="zh-CN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C00000"/>
                </a:solidFill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</a:rPr>
              <a:t>1</a:t>
            </a:r>
            <a:r>
              <a:rPr lang="en-US" altLang="zh-CN" baseline="-16000" dirty="0">
                <a:solidFill>
                  <a:srgbClr val="00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ea typeface="华文中宋" panose="02010600040101010101" pitchFamily="2" charset="-122"/>
                <a:cs typeface="宋体" panose="02010600030101010101" pitchFamily="2" charset="-122"/>
              </a:rPr>
              <a:t>∩ </a:t>
            </a:r>
            <a:r>
              <a:rPr lang="en-US" altLang="zh-CN" i="1" dirty="0">
                <a:solidFill>
                  <a:srgbClr val="C00000"/>
                </a:solidFill>
              </a:rPr>
              <a:t>R</a:t>
            </a:r>
            <a:r>
              <a:rPr lang="en-US" altLang="zh-CN" i="1" baseline="-25000" dirty="0">
                <a:solidFill>
                  <a:srgbClr val="C00000"/>
                </a:solidFill>
              </a:rPr>
              <a:t>2</a:t>
            </a:r>
            <a:r>
              <a:rPr lang="en-US" altLang="zh-CN" baseline="-16000" dirty="0">
                <a:solidFill>
                  <a:srgbClr val="000000"/>
                </a:solidFill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 i="1" dirty="0">
              <a:solidFill>
                <a:srgbClr val="000000"/>
              </a:solidFill>
            </a:endParaRPr>
          </a:p>
          <a:p>
            <a:pPr eaLnBrk="1" hangingPunct="1">
              <a:spcBef>
                <a:spcPct val="55000"/>
              </a:spcBef>
            </a:pPr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BBA5513-0DB2-44E8-935F-017BBD9A73A7}" type="slidenum">
              <a:rPr lang="en-US" altLang="zh-CN" sz="1400" b="0" smtClean="0">
                <a:latin typeface="Arial" panose="020B0604020202020204" pitchFamily="34" charset="0"/>
              </a:rPr>
              <a:t>82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4924425"/>
          </a:xfrm>
        </p:spPr>
        <p:txBody>
          <a:bodyPr/>
          <a:lstStyle/>
          <a:p>
            <a:pPr marL="361950" indent="-361950" eaLnBrk="1" hangingPunct="1">
              <a:buClr>
                <a:srgbClr val="FF9900"/>
              </a:buClr>
            </a:pPr>
            <a:r>
              <a:rPr lang="zh-CN" altLang="en-US"/>
              <a:t>主要内容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7.1</a:t>
            </a:r>
            <a:r>
              <a:rPr lang="zh-CN" altLang="en-US"/>
              <a:t>有序对与笛卡儿积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7.2</a:t>
            </a:r>
            <a:r>
              <a:rPr lang="zh-CN" altLang="en-US"/>
              <a:t>二元关系的定义与表示法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7.3</a:t>
            </a:r>
            <a:r>
              <a:rPr lang="zh-CN" altLang="en-US"/>
              <a:t>关系的运算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7.4</a:t>
            </a:r>
            <a:r>
              <a:rPr lang="zh-CN" altLang="en-US"/>
              <a:t>关系的性质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FF0000"/>
                </a:solidFill>
              </a:rPr>
              <a:t>7.5</a:t>
            </a:r>
            <a:r>
              <a:rPr lang="zh-CN" altLang="en-US">
                <a:solidFill>
                  <a:srgbClr val="FF0000"/>
                </a:solidFill>
              </a:rPr>
              <a:t>关系的闭包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7.6</a:t>
            </a:r>
            <a:r>
              <a:rPr lang="zh-CN" altLang="en-US"/>
              <a:t>等价关系与划分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7.7</a:t>
            </a:r>
            <a:r>
              <a:rPr lang="zh-CN" altLang="en-US"/>
              <a:t>偏序关系</a:t>
            </a:r>
          </a:p>
          <a:p>
            <a:pPr marL="361950" indent="-361950" eaLnBrk="1" hangingPunct="1"/>
            <a:endParaRPr lang="en-US" altLang="zh-CN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latin typeface="华文中宋" panose="02010600040101010101" pitchFamily="2" charset="-122"/>
              </a:rPr>
              <a:t>第七章 二元关系</a:t>
            </a:r>
          </a:p>
        </p:txBody>
      </p:sp>
    </p:spTree>
  </p:cSld>
  <p:clrMapOvr>
    <a:masterClrMapping/>
  </p:clrMapOvr>
  <p:transition spd="slow"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E036523-08F1-45CD-9F8C-F40F423CEBB7}" type="slidenum">
              <a:rPr lang="en-US" altLang="zh-CN" sz="1400" b="0" smtClean="0">
                <a:latin typeface="Arial" panose="020B0604020202020204" pitchFamily="34" charset="0"/>
              </a:rPr>
              <a:t>83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3809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dirty="0"/>
              <a:t>7.5 </a:t>
            </a:r>
            <a:r>
              <a:rPr lang="zh-CN" altLang="en-US" dirty="0">
                <a:latin typeface="华文中宋" panose="02010600040101010101" pitchFamily="2" charset="-122"/>
              </a:rPr>
              <a:t>关系的闭包</a:t>
            </a:r>
            <a:r>
              <a:rPr lang="zh-CN" altLang="en-US" dirty="0"/>
              <a:t> </a:t>
            </a:r>
          </a:p>
        </p:txBody>
      </p:sp>
      <p:sp>
        <p:nvSpPr>
          <p:cNvPr id="49156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闭包定义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闭包的构造方法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/>
              <a:t>     集合表示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/>
              <a:t>     矩阵表示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/>
              <a:t>     图表示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闭包的性质 </a:t>
            </a:r>
          </a:p>
        </p:txBody>
      </p:sp>
    </p:spTree>
  </p:cSld>
  <p:clrMapOvr>
    <a:masterClrMapping/>
  </p:clrMapOvr>
  <p:transition spd="slow"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E2560D5-C039-4D46-88F0-76E1E4349780}" type="slidenum">
              <a:rPr lang="en-US" altLang="zh-CN" sz="1400" b="0" smtClean="0">
                <a:latin typeface="Arial" panose="020B0604020202020204" pitchFamily="34" charset="0"/>
              </a:rPr>
              <a:t>84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51203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闭包定义</a:t>
            </a:r>
          </a:p>
        </p:txBody>
      </p:sp>
      <p:sp>
        <p:nvSpPr>
          <p:cNvPr id="51204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8497192" cy="4104679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7.14</a:t>
            </a:r>
            <a:r>
              <a:rPr lang="en-US" altLang="zh-CN" dirty="0"/>
              <a:t> </a:t>
            </a:r>
          </a:p>
          <a:p>
            <a:pPr eaLnBrk="1" hangingPunct="1"/>
            <a:r>
              <a:rPr lang="zh-CN" altLang="en-US" dirty="0"/>
              <a:t>    设</a:t>
            </a:r>
            <a:r>
              <a:rPr lang="en-US" altLang="zh-CN" i="1" dirty="0"/>
              <a:t>R</a:t>
            </a:r>
            <a:r>
              <a:rPr lang="zh-CN" altLang="en-US" dirty="0"/>
              <a:t>是非空集合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自反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A50021"/>
                </a:solidFill>
              </a:rPr>
              <a:t>对称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A50021"/>
                </a:solidFill>
              </a:rPr>
              <a:t>传递</a:t>
            </a:r>
            <a:r>
              <a:rPr lang="en-US" altLang="zh-CN" dirty="0"/>
              <a:t>)</a:t>
            </a:r>
            <a:r>
              <a:rPr lang="zh-CN" altLang="en-US" dirty="0">
                <a:solidFill>
                  <a:srgbClr val="A50021"/>
                </a:solidFill>
              </a:rPr>
              <a:t>闭包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i="1" dirty="0"/>
              <a:t>R</a:t>
            </a:r>
            <a:r>
              <a:rPr lang="en-US" altLang="zh-CN" i="1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, </a:t>
            </a:r>
            <a:r>
              <a:rPr lang="zh-CN" altLang="en-US" dirty="0"/>
              <a:t>使得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满足以下条件：</a:t>
            </a:r>
          </a:p>
          <a:p>
            <a:pPr eaLnBrk="1" hangingPunct="1"/>
            <a:r>
              <a:rPr lang="en-US" altLang="zh-CN" dirty="0"/>
              <a:t>(1) 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是自反的</a:t>
            </a:r>
            <a:r>
              <a:rPr lang="en-US" altLang="zh-CN" dirty="0"/>
              <a:t>(</a:t>
            </a:r>
            <a:r>
              <a:rPr lang="zh-CN" altLang="en-US" dirty="0"/>
              <a:t>对称的或传递的</a:t>
            </a:r>
            <a:r>
              <a:rPr lang="en-US" altLang="zh-CN" dirty="0"/>
              <a:t>) </a:t>
            </a:r>
          </a:p>
          <a:p>
            <a:pPr eaLnBrk="1" hangingPunct="1"/>
            <a:r>
              <a:rPr lang="en-US" altLang="zh-CN" dirty="0"/>
              <a:t>(2) 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endParaRPr lang="en-US" altLang="zh-CN" dirty="0"/>
          </a:p>
          <a:p>
            <a:pPr eaLnBrk="1" hangingPunct="1"/>
            <a:r>
              <a:rPr lang="en-US" altLang="zh-CN" dirty="0"/>
              <a:t>(3) </a:t>
            </a:r>
            <a:r>
              <a:rPr lang="zh-CN" altLang="en-US" dirty="0"/>
              <a:t>对</a:t>
            </a:r>
            <a:r>
              <a:rPr lang="en-US" altLang="zh-CN" i="1" dirty="0"/>
              <a:t>A</a:t>
            </a:r>
            <a:r>
              <a:rPr lang="zh-CN" altLang="en-US" dirty="0"/>
              <a:t>上任何包含</a:t>
            </a:r>
            <a:r>
              <a:rPr lang="en-US" altLang="zh-CN" i="1" dirty="0"/>
              <a:t>R</a:t>
            </a:r>
            <a:r>
              <a:rPr lang="zh-CN" altLang="en-US" dirty="0"/>
              <a:t>的自反</a:t>
            </a:r>
            <a:r>
              <a:rPr lang="en-US" altLang="zh-CN" dirty="0"/>
              <a:t>(</a:t>
            </a:r>
            <a:r>
              <a:rPr lang="zh-CN" altLang="en-US" dirty="0"/>
              <a:t>对称或传递</a:t>
            </a:r>
            <a:r>
              <a:rPr lang="en-US" altLang="zh-CN" dirty="0"/>
              <a:t>)</a:t>
            </a:r>
            <a:r>
              <a:rPr lang="zh-CN" altLang="en-US" dirty="0"/>
              <a:t>关系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</a:t>
            </a:r>
            <a:r>
              <a:rPr lang="en-US" altLang="zh-CN" dirty="0"/>
              <a:t> </a:t>
            </a:r>
            <a:r>
              <a:rPr lang="zh-CN" altLang="en-US" dirty="0"/>
              <a:t>有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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</a:t>
            </a:r>
            <a:endParaRPr lang="en-US" altLang="zh-CN" dirty="0"/>
          </a:p>
          <a:p>
            <a:pPr eaLnBrk="1" hangingPunct="1"/>
            <a:endParaRPr lang="en-US" altLang="zh-CN" i="1" dirty="0"/>
          </a:p>
          <a:p>
            <a:pPr eaLnBrk="1" hangingPunct="1"/>
            <a:r>
              <a:rPr lang="en-US" altLang="zh-CN" i="1" dirty="0"/>
              <a:t>R</a:t>
            </a:r>
            <a:r>
              <a:rPr lang="zh-CN" altLang="en-US" dirty="0"/>
              <a:t>的自反闭包记作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</a:t>
            </a:r>
          </a:p>
          <a:p>
            <a:pPr eaLnBrk="1" hangingPunct="1"/>
            <a:r>
              <a:rPr lang="en-US" altLang="zh-CN" i="1" dirty="0"/>
              <a:t>R</a:t>
            </a:r>
            <a:r>
              <a:rPr lang="zh-CN" altLang="en-US" dirty="0"/>
              <a:t>的对称闭包记作</a:t>
            </a:r>
            <a:r>
              <a:rPr lang="en-US" altLang="zh-CN" i="1" dirty="0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</a:t>
            </a:r>
          </a:p>
          <a:p>
            <a:pPr eaLnBrk="1" hangingPunct="1"/>
            <a:r>
              <a:rPr lang="en-US" altLang="zh-CN" i="1" dirty="0"/>
              <a:t>R</a:t>
            </a:r>
            <a:r>
              <a:rPr lang="zh-CN" altLang="en-US" dirty="0"/>
              <a:t>的传递闭包记作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闭包的构造方法</a:t>
            </a:r>
          </a:p>
        </p:txBody>
      </p:sp>
      <p:sp>
        <p:nvSpPr>
          <p:cNvPr id="53251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/>
              <a:t>集合表示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/>
              <a:t>矩阵表示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/>
              <a:t>图表示</a:t>
            </a:r>
          </a:p>
          <a:p>
            <a:endParaRPr lang="zh-CN" altLang="en-US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0BD09ED-C2F6-431C-BC63-7BBF80ED56DD}" type="slidenum">
              <a:rPr lang="en-US" altLang="zh-CN" sz="1400" b="0" smtClean="0">
                <a:latin typeface="Arial" panose="020B0604020202020204" pitchFamily="34" charset="0"/>
              </a:rPr>
              <a:t>85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FD72D2B-BB86-4E08-96FD-5A9363A4967D}" type="slidenum">
              <a:rPr lang="en-US" altLang="zh-CN" sz="1400" b="0" smtClean="0">
                <a:latin typeface="Arial" panose="020B0604020202020204" pitchFamily="34" charset="0"/>
              </a:rPr>
              <a:t>86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54275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闭包的构造方法之</a:t>
            </a:r>
            <a:r>
              <a:rPr lang="zh-CN" altLang="en-US">
                <a:solidFill>
                  <a:srgbClr val="FF0000"/>
                </a:solidFill>
              </a:rPr>
              <a:t>集合表示</a:t>
            </a:r>
          </a:p>
        </p:txBody>
      </p:sp>
      <p:sp>
        <p:nvSpPr>
          <p:cNvPr id="54276" name="Rectangle 11"/>
          <p:cNvSpPr>
            <a:spLocks noChangeArrowheads="1"/>
          </p:cNvSpPr>
          <p:nvPr/>
        </p:nvSpPr>
        <p:spPr bwMode="auto">
          <a:xfrm>
            <a:off x="477838" y="1341438"/>
            <a:ext cx="8208962" cy="2303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7.10</a:t>
            </a:r>
            <a:r>
              <a:rPr lang="en-US" altLang="zh-CN" dirty="0"/>
              <a:t>  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为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  <a:r>
              <a:rPr lang="zh-CN" altLang="en-US" dirty="0"/>
              <a:t>则有</a:t>
            </a:r>
          </a:p>
          <a:p>
            <a:pPr eaLnBrk="1" hangingPunct="1"/>
            <a:r>
              <a:rPr lang="en-US" altLang="zh-CN" dirty="0"/>
              <a:t>(1) 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)=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0</a:t>
            </a:r>
          </a:p>
          <a:p>
            <a:pPr eaLnBrk="1" hangingPunct="1"/>
            <a:r>
              <a:rPr lang="en-US" altLang="zh-CN" dirty="0"/>
              <a:t>(2)  </a:t>
            </a:r>
            <a:r>
              <a:rPr lang="en-US" altLang="zh-CN" i="1" dirty="0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)=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</a:p>
          <a:p>
            <a:pPr eaLnBrk="1" hangingPunct="1"/>
            <a:r>
              <a:rPr lang="en-US" altLang="zh-CN" dirty="0"/>
              <a:t>(3) 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)=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3</a:t>
            </a:r>
            <a:r>
              <a:rPr lang="en-US" altLang="zh-CN" dirty="0"/>
              <a:t>∪…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</a:rPr>
              <a:t>说明：对有穷集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dirty="0">
                <a:solidFill>
                  <a:srgbClr val="0066FF"/>
                </a:solidFill>
              </a:rPr>
              <a:t>(|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dirty="0">
                <a:solidFill>
                  <a:srgbClr val="0066FF"/>
                </a:solidFill>
              </a:rPr>
              <a:t>|=</a:t>
            </a:r>
            <a:r>
              <a:rPr lang="en-US" altLang="zh-CN" i="1" dirty="0">
                <a:solidFill>
                  <a:srgbClr val="0066FF"/>
                </a:solidFill>
              </a:rPr>
              <a:t>n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zh-CN" altLang="en-US" dirty="0">
                <a:solidFill>
                  <a:srgbClr val="0066FF"/>
                </a:solidFill>
              </a:rPr>
              <a:t>上的关系</a:t>
            </a:r>
            <a:r>
              <a:rPr lang="en-US" altLang="zh-CN" dirty="0">
                <a:solidFill>
                  <a:srgbClr val="0066FF"/>
                </a:solidFill>
              </a:rPr>
              <a:t>, (3)</a:t>
            </a:r>
            <a:r>
              <a:rPr lang="zh-CN" altLang="en-US" dirty="0">
                <a:solidFill>
                  <a:srgbClr val="0066FF"/>
                </a:solidFill>
              </a:rPr>
              <a:t>中的并最多不超过</a:t>
            </a:r>
            <a:r>
              <a:rPr lang="en-US" altLang="zh-CN" i="1" dirty="0">
                <a:solidFill>
                  <a:srgbClr val="FF0000"/>
                </a:solidFill>
              </a:rPr>
              <a:t>R</a:t>
            </a:r>
            <a:r>
              <a:rPr lang="en-US" altLang="zh-CN" i="1" baseline="30000" dirty="0">
                <a:solidFill>
                  <a:srgbClr val="FF0000"/>
                </a:solidFill>
              </a:rPr>
              <a:t>n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BC5984C-CF60-49E8-98D7-54E8F3DBD3D2}" type="slidenum">
              <a:rPr lang="en-US" altLang="zh-CN" sz="1400" b="0" smtClean="0">
                <a:latin typeface="Arial" panose="020B0604020202020204" pitchFamily="34" charset="0"/>
              </a:rPr>
              <a:t>87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5632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563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4752975"/>
          </a:xfrm>
        </p:spPr>
        <p:txBody>
          <a:bodyPr/>
          <a:lstStyle/>
          <a:p>
            <a:pPr eaLnBrk="1" hangingPunct="1"/>
            <a:r>
              <a:rPr lang="zh-CN" altLang="en-US" dirty="0"/>
              <a:t>证  只证</a:t>
            </a:r>
            <a:r>
              <a:rPr lang="en-US" altLang="zh-CN" dirty="0"/>
              <a:t>(1)</a:t>
            </a:r>
            <a:r>
              <a:rPr lang="zh-CN" altLang="en-US" dirty="0"/>
              <a:t>和</a:t>
            </a:r>
            <a:r>
              <a:rPr lang="en-US" altLang="zh-CN" dirty="0"/>
              <a:t>(3). </a:t>
            </a:r>
          </a:p>
          <a:p>
            <a:pPr eaLnBrk="1" hangingPunct="1"/>
            <a:r>
              <a:rPr lang="en-US" altLang="zh-CN" dirty="0"/>
              <a:t> (1)</a:t>
            </a:r>
            <a:r>
              <a:rPr lang="en-US" altLang="zh-CN" i="1" dirty="0"/>
              <a:t> 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)=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0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 证明：（利用闭包的定义）</a:t>
            </a:r>
            <a:endParaRPr lang="en-US" altLang="zh-CN" dirty="0">
              <a:solidFill>
                <a:srgbClr val="C00000"/>
              </a:solidFill>
            </a:endParaRPr>
          </a:p>
          <a:p>
            <a:pPr eaLnBrk="1" hangingPunct="1"/>
            <a:r>
              <a:rPr lang="en-US" altLang="zh-CN" dirty="0"/>
              <a:t> 1) </a:t>
            </a:r>
            <a:r>
              <a:rPr lang="zh-CN" altLang="en-US" dirty="0"/>
              <a:t>由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en-US" altLang="zh-CN" dirty="0"/>
              <a:t>=</a:t>
            </a:r>
            <a:r>
              <a:rPr lang="en-US" altLang="zh-CN" i="1" dirty="0"/>
              <a:t>R</a:t>
            </a:r>
            <a:r>
              <a:rPr lang="en-US" altLang="zh-CN" baseline="30000" dirty="0"/>
              <a:t>0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0 </a:t>
            </a:r>
            <a:r>
              <a:rPr lang="en-US" altLang="zh-CN" dirty="0"/>
              <a:t>,</a:t>
            </a:r>
            <a:r>
              <a:rPr lang="zh-CN" altLang="en-US" dirty="0"/>
              <a:t>知 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0</a:t>
            </a:r>
            <a:r>
              <a:rPr lang="zh-CN" altLang="en-US" dirty="0"/>
              <a:t>是自反的</a:t>
            </a:r>
            <a:r>
              <a:rPr lang="en-US" altLang="zh-CN" dirty="0"/>
              <a:t>, </a:t>
            </a:r>
          </a:p>
          <a:p>
            <a:pPr eaLnBrk="1" hangingPunct="1"/>
            <a:r>
              <a:rPr lang="en-US" altLang="zh-CN" dirty="0"/>
              <a:t> 2) </a:t>
            </a:r>
            <a:r>
              <a:rPr lang="zh-CN" altLang="en-US" dirty="0"/>
              <a:t>且满足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0</a:t>
            </a:r>
          </a:p>
          <a:p>
            <a:pPr eaLnBrk="1" hangingPunct="1"/>
            <a:r>
              <a:rPr lang="zh-CN" altLang="en-US" dirty="0"/>
              <a:t> </a:t>
            </a:r>
            <a:r>
              <a:rPr lang="en-US" altLang="zh-CN" dirty="0"/>
              <a:t>3) </a:t>
            </a:r>
            <a:r>
              <a:rPr lang="zh-CN" altLang="en-US" dirty="0">
                <a:solidFill>
                  <a:srgbClr val="0066FF"/>
                </a:solidFill>
              </a:rPr>
              <a:t>设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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zh-CN" altLang="en-US" dirty="0">
                <a:solidFill>
                  <a:srgbClr val="0066FF"/>
                </a:solidFill>
              </a:rPr>
              <a:t>是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zh-CN" altLang="en-US" dirty="0">
                <a:solidFill>
                  <a:srgbClr val="0066FF"/>
                </a:solidFill>
              </a:rPr>
              <a:t>上包含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zh-CN" altLang="en-US" dirty="0">
                <a:solidFill>
                  <a:srgbClr val="0066FF"/>
                </a:solidFill>
              </a:rPr>
              <a:t>的自反关系</a:t>
            </a:r>
            <a:r>
              <a:rPr lang="en-US" altLang="zh-CN" dirty="0">
                <a:solidFill>
                  <a:srgbClr val="0066FF"/>
                </a:solidFill>
              </a:rPr>
              <a:t>, </a:t>
            </a:r>
            <a:r>
              <a:rPr lang="zh-CN" altLang="en-US" dirty="0">
                <a:solidFill>
                  <a:srgbClr val="0066FF"/>
                </a:solidFill>
              </a:rPr>
              <a:t>则有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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</a:t>
            </a:r>
            <a:r>
              <a:rPr lang="en-US" altLang="zh-CN" i="1" dirty="0">
                <a:solidFill>
                  <a:srgbClr val="0066FF"/>
                </a:solidFill>
              </a:rPr>
              <a:t> </a:t>
            </a:r>
            <a:r>
              <a:rPr lang="zh-CN" altLang="en-US" dirty="0">
                <a:solidFill>
                  <a:srgbClr val="0066FF"/>
                </a:solidFill>
              </a:rPr>
              <a:t>和</a:t>
            </a:r>
            <a:r>
              <a:rPr lang="en-US" altLang="zh-CN" i="1" dirty="0">
                <a:solidFill>
                  <a:srgbClr val="0066FF"/>
                </a:solidFill>
              </a:rPr>
              <a:t>I</a:t>
            </a:r>
            <a:r>
              <a:rPr lang="en-US" altLang="zh-CN" i="1" baseline="-25000" dirty="0">
                <a:solidFill>
                  <a:srgbClr val="0066FF"/>
                </a:solidFill>
              </a:rPr>
              <a:t>A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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</a:t>
            </a:r>
            <a:r>
              <a:rPr lang="en-US" altLang="zh-CN" i="1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</a:rPr>
              <a:t>. </a:t>
            </a:r>
          </a:p>
          <a:p>
            <a:pPr eaLnBrk="1" hangingPunct="1"/>
            <a:r>
              <a:rPr lang="en-US" altLang="zh-CN" dirty="0"/>
              <a:t>      </a:t>
            </a:r>
            <a:r>
              <a:rPr lang="zh-CN" altLang="en-US" dirty="0"/>
              <a:t>从而有</a:t>
            </a:r>
            <a:r>
              <a:rPr lang="en-US" altLang="zh-CN" dirty="0"/>
              <a:t>R∪R</a:t>
            </a:r>
            <a:r>
              <a:rPr lang="en-US" altLang="zh-CN" baseline="30000" dirty="0"/>
              <a:t>0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R</a:t>
            </a:r>
            <a:r>
              <a:rPr lang="en-US" altLang="zh-CN" i="1" dirty="0">
                <a:sym typeface="Symbol" panose="05050102010706020507" pitchFamily="18" charset="2"/>
              </a:rPr>
              <a:t>.  </a:t>
            </a:r>
          </a:p>
          <a:p>
            <a:pPr eaLnBrk="1" hangingPunct="1"/>
            <a:r>
              <a:rPr lang="en-US" altLang="zh-CN" i="1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故，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0</a:t>
            </a:r>
            <a:r>
              <a:rPr lang="zh-CN" altLang="en-US" dirty="0"/>
              <a:t>满足闭包定义</a:t>
            </a:r>
            <a:r>
              <a:rPr lang="en-US" altLang="zh-CN" dirty="0"/>
              <a:t>, </a:t>
            </a:r>
            <a:r>
              <a:rPr lang="zh-CN" altLang="en-US" dirty="0"/>
              <a:t>所以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)=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0</a:t>
            </a:r>
            <a:r>
              <a:rPr lang="en-US" altLang="zh-CN" dirty="0"/>
              <a:t>.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716" y="104589"/>
            <a:ext cx="5733276" cy="1812243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CBB8041-73D3-4BB5-A91B-C3E296D9D25B}" type="slidenum">
              <a:rPr lang="en-US" altLang="zh-CN" sz="1400" b="0" smtClean="0">
                <a:latin typeface="Arial" panose="020B0604020202020204" pitchFamily="34" charset="0"/>
              </a:rPr>
              <a:t>88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5837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936625"/>
          </a:xfrm>
        </p:spPr>
        <p:txBody>
          <a:bodyPr/>
          <a:lstStyle/>
          <a:p>
            <a:pPr eaLnBrk="1" hangingPunct="1"/>
            <a:r>
              <a:rPr lang="en-US" altLang="zh-CN"/>
              <a:t>(3)  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)=</a:t>
            </a:r>
            <a:r>
              <a:rPr lang="en-US" altLang="zh-CN" i="1"/>
              <a:t>R</a:t>
            </a:r>
            <a:r>
              <a:rPr lang="en-US" altLang="zh-CN"/>
              <a:t>∪</a:t>
            </a:r>
            <a:r>
              <a:rPr lang="en-US" altLang="zh-CN" i="1"/>
              <a:t>R</a:t>
            </a:r>
            <a:r>
              <a:rPr lang="en-US" altLang="zh-CN" baseline="30000"/>
              <a:t>2</a:t>
            </a:r>
            <a:r>
              <a:rPr lang="en-US" altLang="zh-CN"/>
              <a:t>∪</a:t>
            </a:r>
            <a:r>
              <a:rPr lang="en-US" altLang="zh-CN" i="1"/>
              <a:t>R</a:t>
            </a:r>
            <a:r>
              <a:rPr lang="en-US" altLang="zh-CN" baseline="30000"/>
              <a:t>3</a:t>
            </a:r>
            <a:r>
              <a:rPr lang="en-US" altLang="zh-CN"/>
              <a:t>∪…</a:t>
            </a:r>
          </a:p>
          <a:p>
            <a:pPr eaLnBrk="1" hangingPunct="1"/>
            <a:endParaRPr lang="en-US" altLang="zh-CN"/>
          </a:p>
        </p:txBody>
      </p:sp>
      <p:sp>
        <p:nvSpPr>
          <p:cNvPr id="58373" name="Rectangle 9"/>
          <p:cNvSpPr>
            <a:spLocks noChangeArrowheads="1"/>
          </p:cNvSpPr>
          <p:nvPr/>
        </p:nvSpPr>
        <p:spPr bwMode="auto">
          <a:xfrm>
            <a:off x="488950" y="1890713"/>
            <a:ext cx="8208963" cy="4491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证明：</a:t>
            </a:r>
            <a:endParaRPr lang="en-US" altLang="zh-CN" dirty="0">
              <a:solidFill>
                <a:srgbClr val="C00000"/>
              </a:solidFill>
            </a:endParaRPr>
          </a:p>
          <a:p>
            <a:pPr eaLnBrk="1" hangingPunct="1"/>
            <a:r>
              <a:rPr lang="en-US" altLang="zh-CN" dirty="0"/>
              <a:t>1) </a:t>
            </a:r>
            <a:r>
              <a:rPr lang="zh-CN" altLang="en-US" dirty="0"/>
              <a:t>先证 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∪…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</a:t>
            </a:r>
            <a:r>
              <a:rPr lang="zh-CN" altLang="en-US" dirty="0"/>
              <a:t>成立</a:t>
            </a:r>
            <a:r>
              <a:rPr lang="en-US" altLang="zh-CN" dirty="0"/>
              <a:t>.  </a:t>
            </a:r>
          </a:p>
          <a:p>
            <a:pPr eaLnBrk="1" hangingPunct="1"/>
            <a:r>
              <a:rPr lang="zh-CN" altLang="en-US" dirty="0"/>
              <a:t>为此，只需证明对任意正整数</a:t>
            </a:r>
            <a:r>
              <a:rPr lang="en-US" altLang="zh-CN" i="1" dirty="0"/>
              <a:t>n </a:t>
            </a:r>
            <a:r>
              <a:rPr lang="zh-CN" altLang="en-US" dirty="0"/>
              <a:t>有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R). </a:t>
            </a:r>
            <a:r>
              <a:rPr lang="zh-CN" altLang="en-US" dirty="0"/>
              <a:t>用归纳法：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</a:t>
            </a:r>
            <a:r>
              <a:rPr lang="zh-CN" altLang="en-US" dirty="0"/>
              <a:t>当</a:t>
            </a:r>
            <a:r>
              <a:rPr lang="en-US" altLang="zh-CN" i="1" dirty="0"/>
              <a:t>n</a:t>
            </a:r>
            <a:r>
              <a:rPr lang="en-US" altLang="zh-CN" dirty="0"/>
              <a:t>=1</a:t>
            </a:r>
            <a:r>
              <a:rPr lang="zh-CN" altLang="en-US" dirty="0"/>
              <a:t>时，有</a:t>
            </a:r>
            <a:r>
              <a:rPr lang="en-US" altLang="zh-CN" i="1" dirty="0"/>
              <a:t>R</a:t>
            </a:r>
            <a:r>
              <a:rPr lang="en-US" altLang="zh-CN" baseline="30000" dirty="0"/>
              <a:t>1</a:t>
            </a:r>
            <a:r>
              <a:rPr lang="en-US" altLang="zh-CN" dirty="0"/>
              <a:t>=</a:t>
            </a:r>
            <a:r>
              <a:rPr lang="en-US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).  </a:t>
            </a:r>
          </a:p>
          <a:p>
            <a:pPr eaLnBrk="1" hangingPunct="1"/>
            <a:r>
              <a:rPr lang="zh-CN" altLang="en-US" dirty="0"/>
              <a:t>假设</a:t>
            </a:r>
            <a:r>
              <a:rPr lang="en-US" altLang="zh-CN" i="1" dirty="0" err="1"/>
              <a:t>R</a:t>
            </a:r>
            <a:r>
              <a:rPr lang="en-US" altLang="zh-CN" i="1" baseline="30000" dirty="0" err="1"/>
              <a:t>n</a:t>
            </a:r>
            <a:r>
              <a:rPr lang="en-US" altLang="zh-CN" dirty="0" err="1">
                <a:sym typeface="Symbol" panose="05050102010706020507" pitchFamily="18" charset="2"/>
              </a:rPr>
              <a:t></a:t>
            </a:r>
            <a:r>
              <a:rPr lang="en-US" altLang="zh-CN" i="1" dirty="0" err="1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</a:t>
            </a:r>
            <a:r>
              <a:rPr lang="zh-CN" altLang="en-US" dirty="0"/>
              <a:t>成立</a:t>
            </a:r>
            <a:r>
              <a:rPr lang="en-US" altLang="zh-CN" dirty="0"/>
              <a:t>, </a:t>
            </a:r>
            <a:r>
              <a:rPr lang="zh-CN" altLang="en-US" dirty="0"/>
              <a:t>那么对任意的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br>
              <a:rPr lang="en-US" altLang="zh-CN" dirty="0"/>
            </a:br>
            <a:r>
              <a:rPr lang="en-US" altLang="zh-CN" dirty="0"/>
              <a:t>     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i="1" baseline="30000" dirty="0">
                <a:solidFill>
                  <a:srgbClr val="0066FF"/>
                </a:solidFill>
              </a:rPr>
              <a:t>n</a:t>
            </a:r>
            <a:r>
              <a:rPr lang="en-US" altLang="zh-CN" baseline="30000" dirty="0">
                <a:solidFill>
                  <a:srgbClr val="0066FF"/>
                </a:solidFill>
              </a:rPr>
              <a:t>+1</a:t>
            </a:r>
            <a:r>
              <a:rPr lang="en-US" altLang="zh-CN" dirty="0"/>
              <a:t>=</a:t>
            </a:r>
            <a:r>
              <a:rPr lang="en-US" altLang="zh-CN" i="1" dirty="0" err="1"/>
              <a:t>R</a:t>
            </a:r>
            <a:r>
              <a:rPr lang="en-US" altLang="zh-CN" i="1" baseline="30000" dirty="0" err="1"/>
              <a:t>n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/>
              <a:t>R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t </a:t>
            </a:r>
            <a:r>
              <a:rPr lang="en-US" altLang="zh-CN" dirty="0"/>
              <a:t>(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t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dirty="0"/>
              <a:t>∧&lt;</a:t>
            </a:r>
            <a:r>
              <a:rPr lang="en-US" altLang="zh-CN" i="1" dirty="0" err="1"/>
              <a:t>t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     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t </a:t>
            </a:r>
            <a:r>
              <a:rPr lang="en-US" altLang="zh-CN" dirty="0"/>
              <a:t>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t</a:t>
            </a:r>
            <a:r>
              <a:rPr lang="en-US" altLang="zh-CN" dirty="0"/>
              <a:t>&gt;∈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)∧&lt;</a:t>
            </a:r>
            <a:r>
              <a:rPr lang="en-US" altLang="zh-CN" i="1" dirty="0" err="1"/>
              <a:t>t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))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</a:rPr>
              <a:t>t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) </a:t>
            </a:r>
          </a:p>
          <a:p>
            <a:pPr eaLnBrk="1" hangingPunct="1"/>
            <a:r>
              <a:rPr lang="zh-CN" altLang="en-US" dirty="0"/>
              <a:t>这就证明了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baseline="30000" dirty="0"/>
              <a:t>+1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). </a:t>
            </a:r>
          </a:p>
          <a:p>
            <a:pPr eaLnBrk="1" hangingPunct="1"/>
            <a:r>
              <a:rPr lang="zh-CN" altLang="en-US" dirty="0"/>
              <a:t>由归纳法命题得证</a:t>
            </a:r>
            <a:r>
              <a:rPr lang="en-US" altLang="zh-CN" dirty="0"/>
              <a:t>. </a:t>
            </a:r>
            <a:br>
              <a:rPr lang="en-US" altLang="zh-CN" dirty="0"/>
            </a:br>
            <a:r>
              <a:rPr lang="en-US" altLang="zh-CN" dirty="0"/>
              <a:t>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032C41-49CD-4B55-8C22-B393077CB939}" type="slidenum">
              <a:rPr lang="en-US" altLang="zh-CN" sz="1400" b="0" smtClean="0">
                <a:latin typeface="Arial" panose="020B0604020202020204" pitchFamily="34" charset="0"/>
              </a:rPr>
              <a:t>89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6041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6042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dirty="0"/>
              <a:t>2) </a:t>
            </a:r>
            <a:r>
              <a:rPr lang="zh-CN" altLang="en-US" dirty="0"/>
              <a:t>再证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∪…</a:t>
            </a:r>
            <a:r>
              <a:rPr lang="zh-CN" altLang="en-US" dirty="0"/>
              <a:t>成立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由于</a:t>
            </a:r>
            <a:r>
              <a:rPr lang="zh-CN" altLang="en-US" dirty="0">
                <a:solidFill>
                  <a:srgbClr val="0066FF"/>
                </a:solidFill>
              </a:rPr>
              <a:t>包含</a:t>
            </a:r>
            <a:r>
              <a:rPr lang="en-US" altLang="zh-CN" dirty="0">
                <a:solidFill>
                  <a:srgbClr val="0066FF"/>
                </a:solidFill>
              </a:rPr>
              <a:t>R</a:t>
            </a:r>
            <a:r>
              <a:rPr lang="zh-CN" altLang="en-US" dirty="0">
                <a:solidFill>
                  <a:srgbClr val="0066FF"/>
                </a:solidFill>
              </a:rPr>
              <a:t>的传递关系</a:t>
            </a:r>
            <a:r>
              <a:rPr lang="zh-CN" altLang="en-US" dirty="0">
                <a:solidFill>
                  <a:srgbClr val="FF0000"/>
                </a:solidFill>
              </a:rPr>
              <a:t>都包含</a:t>
            </a:r>
            <a:r>
              <a:rPr lang="en-US" altLang="zh-CN" i="1" dirty="0">
                <a:solidFill>
                  <a:srgbClr val="FF0000"/>
                </a:solidFill>
              </a:rPr>
              <a:t>t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i="1" dirty="0">
                <a:solidFill>
                  <a:srgbClr val="FF0000"/>
                </a:solidFill>
              </a:rPr>
              <a:t>R</a:t>
            </a:r>
            <a:r>
              <a:rPr lang="en-US" altLang="zh-CN" dirty="0">
                <a:solidFill>
                  <a:srgbClr val="FF0000"/>
                </a:solidFill>
              </a:rPr>
              <a:t>) 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为此只须证明</a:t>
            </a:r>
            <a:r>
              <a:rPr lang="en-US" altLang="zh-CN" i="1" dirty="0">
                <a:solidFill>
                  <a:srgbClr val="FF0000"/>
                </a:solidFill>
              </a:rPr>
              <a:t>R</a:t>
            </a:r>
            <a:r>
              <a:rPr lang="en-US" altLang="zh-CN" dirty="0">
                <a:solidFill>
                  <a:srgbClr val="FF0000"/>
                </a:solidFill>
              </a:rPr>
              <a:t>∪</a:t>
            </a:r>
            <a:r>
              <a:rPr lang="en-US" altLang="zh-CN" i="1" dirty="0">
                <a:solidFill>
                  <a:srgbClr val="FF0000"/>
                </a:solidFill>
              </a:rPr>
              <a:t>R</a:t>
            </a:r>
            <a:r>
              <a:rPr lang="en-US" altLang="zh-CN" baseline="30000" dirty="0">
                <a:solidFill>
                  <a:srgbClr val="FF0000"/>
                </a:solidFill>
              </a:rPr>
              <a:t>2</a:t>
            </a:r>
            <a:r>
              <a:rPr lang="en-US" altLang="zh-CN" dirty="0">
                <a:solidFill>
                  <a:srgbClr val="FF0000"/>
                </a:solidFill>
              </a:rPr>
              <a:t>∪…</a:t>
            </a:r>
            <a:r>
              <a:rPr lang="zh-CN" altLang="en-US" dirty="0">
                <a:solidFill>
                  <a:srgbClr val="FF0000"/>
                </a:solidFill>
              </a:rPr>
              <a:t>传递</a:t>
            </a:r>
            <a:r>
              <a:rPr lang="en-US" altLang="zh-CN" dirty="0">
                <a:solidFill>
                  <a:srgbClr val="FF0000"/>
                </a:solidFill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&gt;, </a:t>
            </a:r>
            <a:r>
              <a:rPr lang="zh-CN" altLang="en-US" dirty="0"/>
              <a:t>则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    </a:t>
            </a:r>
            <a:r>
              <a:rPr lang="en-US" altLang="zh-CN" dirty="0">
                <a:solidFill>
                  <a:srgbClr val="FF00FF"/>
                </a:solidFill>
              </a:rPr>
              <a:t>&lt;</a:t>
            </a:r>
            <a:r>
              <a:rPr lang="en-US" altLang="zh-CN" i="1" dirty="0" err="1">
                <a:solidFill>
                  <a:srgbClr val="FF00FF"/>
                </a:solidFill>
              </a:rPr>
              <a:t>x</a:t>
            </a:r>
            <a:r>
              <a:rPr lang="en-US" altLang="zh-CN" dirty="0" err="1">
                <a:solidFill>
                  <a:srgbClr val="FF00FF"/>
                </a:solidFill>
              </a:rPr>
              <a:t>,</a:t>
            </a:r>
            <a:r>
              <a:rPr lang="en-US" altLang="zh-CN" i="1" dirty="0" err="1">
                <a:solidFill>
                  <a:srgbClr val="FF00FF"/>
                </a:solidFill>
              </a:rPr>
              <a:t>y</a:t>
            </a:r>
            <a:r>
              <a:rPr lang="en-US" altLang="zh-CN" dirty="0">
                <a:solidFill>
                  <a:srgbClr val="FF00FF"/>
                </a:solidFill>
              </a:rPr>
              <a:t>&gt;∈</a:t>
            </a:r>
            <a:r>
              <a:rPr lang="en-US" altLang="zh-CN" i="1" dirty="0">
                <a:solidFill>
                  <a:srgbClr val="FF00FF"/>
                </a:solidFill>
              </a:rPr>
              <a:t>R</a:t>
            </a:r>
            <a:r>
              <a:rPr lang="en-US" altLang="zh-CN" dirty="0">
                <a:solidFill>
                  <a:srgbClr val="FF00FF"/>
                </a:solidFill>
              </a:rPr>
              <a:t>∪</a:t>
            </a:r>
            <a:r>
              <a:rPr lang="en-US" altLang="zh-CN" i="1" dirty="0">
                <a:solidFill>
                  <a:srgbClr val="FF00FF"/>
                </a:solidFill>
              </a:rPr>
              <a:t>R</a:t>
            </a:r>
            <a:r>
              <a:rPr lang="en-US" altLang="zh-CN" baseline="30000" dirty="0">
                <a:solidFill>
                  <a:srgbClr val="FF00FF"/>
                </a:solidFill>
              </a:rPr>
              <a:t>2</a:t>
            </a:r>
            <a:r>
              <a:rPr lang="en-US" altLang="zh-CN" dirty="0">
                <a:solidFill>
                  <a:srgbClr val="FF00FF"/>
                </a:solidFill>
              </a:rPr>
              <a:t>∪…</a:t>
            </a:r>
            <a:r>
              <a:rPr lang="en-US" altLang="zh-CN" dirty="0"/>
              <a:t>∧</a:t>
            </a:r>
            <a:r>
              <a:rPr lang="en-US" altLang="zh-CN" dirty="0">
                <a:solidFill>
                  <a:srgbClr val="00B050"/>
                </a:solidFill>
              </a:rPr>
              <a:t>&lt;</a:t>
            </a:r>
            <a:r>
              <a:rPr lang="en-US" altLang="zh-CN" i="1" dirty="0" err="1">
                <a:solidFill>
                  <a:srgbClr val="00B050"/>
                </a:solidFill>
              </a:rPr>
              <a:t>y</a:t>
            </a:r>
            <a:r>
              <a:rPr lang="en-US" altLang="zh-CN" dirty="0" err="1">
                <a:solidFill>
                  <a:srgbClr val="00B050"/>
                </a:solidFill>
              </a:rPr>
              <a:t>,</a:t>
            </a:r>
            <a:r>
              <a:rPr lang="en-US" altLang="zh-CN" i="1" dirty="0" err="1">
                <a:solidFill>
                  <a:srgbClr val="00B050"/>
                </a:solidFill>
              </a:rPr>
              <a:t>z</a:t>
            </a:r>
            <a:r>
              <a:rPr lang="en-US" altLang="zh-CN" dirty="0">
                <a:solidFill>
                  <a:srgbClr val="00B050"/>
                </a:solidFill>
              </a:rPr>
              <a:t>&gt;∈</a:t>
            </a:r>
            <a:r>
              <a:rPr lang="en-US" altLang="zh-CN" i="1" dirty="0">
                <a:solidFill>
                  <a:srgbClr val="00B050"/>
                </a:solidFill>
              </a:rPr>
              <a:t>R</a:t>
            </a:r>
            <a:r>
              <a:rPr lang="en-US" altLang="zh-CN" dirty="0">
                <a:solidFill>
                  <a:srgbClr val="00B050"/>
                </a:solidFill>
              </a:rPr>
              <a:t>∪</a:t>
            </a:r>
            <a:r>
              <a:rPr lang="en-US" altLang="zh-CN" i="1" dirty="0">
                <a:solidFill>
                  <a:srgbClr val="00B050"/>
                </a:solidFill>
              </a:rPr>
              <a:t>R</a:t>
            </a:r>
            <a:r>
              <a:rPr lang="en-US" altLang="zh-CN" baseline="30000" dirty="0">
                <a:solidFill>
                  <a:srgbClr val="00B050"/>
                </a:solidFill>
              </a:rPr>
              <a:t>2</a:t>
            </a:r>
            <a:r>
              <a:rPr lang="en-US" altLang="zh-CN" dirty="0">
                <a:solidFill>
                  <a:srgbClr val="00B050"/>
                </a:solidFill>
              </a:rPr>
              <a:t>∪…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   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FF00FF"/>
                </a:solidFill>
              </a:rPr>
              <a:t>t </a:t>
            </a:r>
            <a:r>
              <a:rPr lang="en-US" altLang="zh-CN" dirty="0">
                <a:solidFill>
                  <a:srgbClr val="FF00FF"/>
                </a:solidFill>
              </a:rPr>
              <a:t>(&lt;</a:t>
            </a:r>
            <a:r>
              <a:rPr lang="en-US" altLang="zh-CN" i="1" dirty="0">
                <a:solidFill>
                  <a:srgbClr val="FF00FF"/>
                </a:solidFill>
              </a:rPr>
              <a:t>x</a:t>
            </a:r>
            <a:r>
              <a:rPr lang="en-US" altLang="zh-CN" dirty="0">
                <a:solidFill>
                  <a:srgbClr val="FF00FF"/>
                </a:solidFill>
              </a:rPr>
              <a:t>,</a:t>
            </a:r>
            <a:r>
              <a:rPr lang="en-US" altLang="zh-CN" i="1" dirty="0">
                <a:solidFill>
                  <a:srgbClr val="FF00FF"/>
                </a:solidFill>
              </a:rPr>
              <a:t>y</a:t>
            </a:r>
            <a:r>
              <a:rPr lang="en-US" altLang="zh-CN" dirty="0">
                <a:solidFill>
                  <a:srgbClr val="FF00FF"/>
                </a:solidFill>
              </a:rPr>
              <a:t>&gt;∈</a:t>
            </a:r>
            <a:r>
              <a:rPr lang="en-US" altLang="zh-CN" i="1" dirty="0">
                <a:solidFill>
                  <a:srgbClr val="FF00FF"/>
                </a:solidFill>
              </a:rPr>
              <a:t>R</a:t>
            </a:r>
            <a:r>
              <a:rPr lang="en-US" altLang="zh-CN" i="1" baseline="30000" dirty="0">
                <a:solidFill>
                  <a:srgbClr val="FF00FF"/>
                </a:solidFill>
              </a:rPr>
              <a:t>t</a:t>
            </a:r>
            <a:r>
              <a:rPr lang="en-US" altLang="zh-CN" dirty="0">
                <a:solidFill>
                  <a:srgbClr val="FF00FF"/>
                </a:solidFill>
              </a:rPr>
              <a:t>)</a:t>
            </a:r>
            <a:r>
              <a:rPr lang="en-US" altLang="zh-CN" dirty="0"/>
              <a:t>∧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B050"/>
                </a:solidFill>
              </a:rPr>
              <a:t>s</a:t>
            </a:r>
            <a:r>
              <a:rPr lang="en-US" altLang="zh-CN" dirty="0">
                <a:solidFill>
                  <a:srgbClr val="00B050"/>
                </a:solidFill>
              </a:rPr>
              <a:t>(&lt;</a:t>
            </a:r>
            <a:r>
              <a:rPr lang="en-US" altLang="zh-CN" i="1" dirty="0">
                <a:solidFill>
                  <a:srgbClr val="00B050"/>
                </a:solidFill>
              </a:rPr>
              <a:t>y</a:t>
            </a:r>
            <a:r>
              <a:rPr lang="en-US" altLang="zh-CN" dirty="0">
                <a:solidFill>
                  <a:srgbClr val="00B050"/>
                </a:solidFill>
              </a:rPr>
              <a:t>,</a:t>
            </a:r>
            <a:r>
              <a:rPr lang="en-US" altLang="zh-CN" i="1" dirty="0">
                <a:solidFill>
                  <a:srgbClr val="00B050"/>
                </a:solidFill>
              </a:rPr>
              <a:t>z</a:t>
            </a:r>
            <a:r>
              <a:rPr lang="en-US" altLang="zh-CN" dirty="0">
                <a:solidFill>
                  <a:srgbClr val="00B050"/>
                </a:solidFill>
              </a:rPr>
              <a:t>&gt;∈</a:t>
            </a:r>
            <a:r>
              <a:rPr lang="en-US" altLang="zh-CN" i="1" dirty="0">
                <a:solidFill>
                  <a:srgbClr val="00B050"/>
                </a:solidFill>
              </a:rPr>
              <a:t>R</a:t>
            </a:r>
            <a:r>
              <a:rPr lang="en-US" altLang="zh-CN" i="1" baseline="30000" dirty="0">
                <a:solidFill>
                  <a:srgbClr val="00B050"/>
                </a:solidFill>
              </a:rPr>
              <a:t>s</a:t>
            </a:r>
            <a:r>
              <a:rPr lang="en-US" altLang="zh-CN" dirty="0">
                <a:solidFill>
                  <a:srgbClr val="00B050"/>
                </a:solidFill>
              </a:rPr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   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s </a:t>
            </a:r>
            <a:r>
              <a:rPr lang="en-US" altLang="zh-CN" dirty="0"/>
              <a:t>(&lt;</a:t>
            </a:r>
            <a:r>
              <a:rPr lang="en-US" altLang="zh-CN" i="1" dirty="0"/>
              <a:t>x</a:t>
            </a:r>
            <a:r>
              <a:rPr lang="en-US" altLang="zh-CN" dirty="0"/>
              <a:t>,</a:t>
            </a:r>
            <a:r>
              <a:rPr lang="en-US" altLang="zh-CN" i="1" dirty="0"/>
              <a:t>z</a:t>
            </a:r>
            <a:r>
              <a:rPr lang="en-US" altLang="zh-CN" dirty="0"/>
              <a:t>&gt;∈</a:t>
            </a:r>
            <a:r>
              <a:rPr lang="en-US" altLang="zh-CN" i="1" dirty="0" err="1"/>
              <a:t>R</a:t>
            </a:r>
            <a:r>
              <a:rPr lang="en-US" altLang="zh-CN" i="1" baseline="30000" dirty="0" err="1"/>
              <a:t>t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/>
              <a:t>R</a:t>
            </a:r>
            <a:r>
              <a:rPr lang="en-US" altLang="zh-CN" i="1" baseline="30000" dirty="0" err="1"/>
              <a:t>s</a:t>
            </a:r>
            <a:r>
              <a:rPr lang="en-US" altLang="zh-CN" i="1" baseline="30000" dirty="0"/>
              <a:t> 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   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s </a:t>
            </a:r>
            <a:r>
              <a:rPr lang="en-US" altLang="zh-CN" dirty="0"/>
              <a:t>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 err="1"/>
              <a:t>R</a:t>
            </a:r>
            <a:r>
              <a:rPr lang="en-US" altLang="zh-CN" i="1" baseline="30000" dirty="0" err="1"/>
              <a:t>t</a:t>
            </a:r>
            <a:r>
              <a:rPr lang="en-US" altLang="zh-CN" baseline="30000" dirty="0" err="1"/>
              <a:t>+</a:t>
            </a:r>
            <a:r>
              <a:rPr lang="en-US" altLang="zh-CN" i="1" baseline="30000" dirty="0" err="1"/>
              <a:t>s</a:t>
            </a:r>
            <a:r>
              <a:rPr lang="en-US" altLang="zh-CN" i="1" baseline="30000" dirty="0"/>
              <a:t> 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   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∪…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dirty="0"/>
              <a:t>从而证明了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∪…</a:t>
            </a:r>
            <a:r>
              <a:rPr lang="zh-CN" altLang="en-US" dirty="0"/>
              <a:t>是传递的</a:t>
            </a:r>
            <a:r>
              <a:rPr lang="en-US" altLang="zh-CN" dirty="0"/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 uiExpand="1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A9D8565-19C1-4CEA-ACA6-B176D110D16B}" type="slidenum">
              <a:rPr lang="en-US" altLang="zh-CN" sz="1400" b="0" smtClean="0">
                <a:latin typeface="Arial" panose="020B0604020202020204" pitchFamily="34" charset="0"/>
              </a:rPr>
              <a:t>90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6451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闭包的构造方法之</a:t>
            </a:r>
            <a:r>
              <a:rPr lang="zh-CN" altLang="en-US">
                <a:solidFill>
                  <a:srgbClr val="FF0000"/>
                </a:solidFill>
              </a:rPr>
              <a:t>矩阵表示</a:t>
            </a:r>
          </a:p>
        </p:txBody>
      </p:sp>
      <p:sp>
        <p:nvSpPr>
          <p:cNvPr id="6451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80400" cy="453707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/>
              <a:t>设关系</a:t>
            </a:r>
            <a:r>
              <a:rPr lang="en-US" altLang="zh-CN" i="1"/>
              <a:t>R</a:t>
            </a:r>
            <a:r>
              <a:rPr lang="en-US" altLang="zh-CN"/>
              <a:t>, </a:t>
            </a:r>
            <a:r>
              <a:rPr lang="en-US" altLang="zh-CN" i="1"/>
              <a:t>r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), </a:t>
            </a:r>
            <a:r>
              <a:rPr lang="en-US" altLang="zh-CN" i="1"/>
              <a:t>s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), 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</a:t>
            </a:r>
            <a:r>
              <a:rPr lang="zh-CN" altLang="en-US"/>
              <a:t>的关系矩阵分别为</a:t>
            </a:r>
            <a:r>
              <a:rPr lang="en-US" altLang="zh-CN" i="1"/>
              <a:t>M</a:t>
            </a:r>
            <a:r>
              <a:rPr lang="en-US" altLang="zh-CN"/>
              <a:t>, </a:t>
            </a:r>
            <a:r>
              <a:rPr lang="en-US" altLang="zh-CN" i="1"/>
              <a:t>M</a:t>
            </a:r>
            <a:r>
              <a:rPr lang="en-US" altLang="zh-CN" i="1" baseline="-25000"/>
              <a:t>r </a:t>
            </a:r>
            <a:r>
              <a:rPr lang="en-US" altLang="zh-CN"/>
              <a:t>, </a:t>
            </a:r>
            <a:r>
              <a:rPr lang="en-US" altLang="zh-CN" i="1"/>
              <a:t>M</a:t>
            </a:r>
            <a:r>
              <a:rPr lang="en-US" altLang="zh-CN" i="1" baseline="-25000"/>
              <a:t>s </a:t>
            </a:r>
            <a:r>
              <a:rPr lang="zh-CN" altLang="en-US"/>
              <a:t>和 </a:t>
            </a:r>
            <a:r>
              <a:rPr lang="en-US" altLang="zh-CN" i="1"/>
              <a:t>M</a:t>
            </a:r>
            <a:r>
              <a:rPr lang="en-US" altLang="zh-CN" i="1" baseline="-25000"/>
              <a:t>t </a:t>
            </a:r>
            <a:r>
              <a:rPr lang="en-US" altLang="zh-CN"/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/>
              <a:t>则        </a:t>
            </a:r>
            <a:endParaRPr lang="en-US" altLang="zh-CN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/>
              <a:t>      </a:t>
            </a:r>
            <a:r>
              <a:rPr lang="en-US" altLang="zh-CN" i="1"/>
              <a:t>M</a:t>
            </a:r>
            <a:r>
              <a:rPr lang="en-US" altLang="zh-CN" i="1" baseline="-25000"/>
              <a:t>r</a:t>
            </a:r>
            <a:r>
              <a:rPr lang="en-US" altLang="zh-CN"/>
              <a:t>=</a:t>
            </a:r>
            <a:r>
              <a:rPr lang="en-US" altLang="zh-CN" i="1"/>
              <a:t>M</a:t>
            </a:r>
            <a:r>
              <a:rPr lang="en-US" altLang="zh-CN"/>
              <a:t>+</a:t>
            </a:r>
            <a:r>
              <a:rPr lang="en-US" altLang="zh-CN" i="1"/>
              <a:t>E  </a:t>
            </a:r>
            <a:r>
              <a:rPr lang="en-US" altLang="zh-CN"/>
              <a:t>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i="1"/>
              <a:t>      M</a:t>
            </a:r>
            <a:r>
              <a:rPr lang="en-US" altLang="zh-CN" i="1" baseline="-25000"/>
              <a:t>s</a:t>
            </a:r>
            <a:r>
              <a:rPr lang="en-US" altLang="zh-CN"/>
              <a:t>=</a:t>
            </a:r>
            <a:r>
              <a:rPr lang="en-US" altLang="zh-CN" i="1"/>
              <a:t>M</a:t>
            </a:r>
            <a:r>
              <a:rPr lang="en-US" altLang="zh-CN"/>
              <a:t>+</a:t>
            </a:r>
            <a:r>
              <a:rPr lang="en-US" altLang="zh-CN" i="1"/>
              <a:t>M </a:t>
            </a:r>
            <a:r>
              <a:rPr lang="en-US" altLang="zh-CN"/>
              <a:t>'      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i="1"/>
              <a:t>      M</a:t>
            </a:r>
            <a:r>
              <a:rPr lang="en-US" altLang="zh-CN" i="1" baseline="-25000"/>
              <a:t>t</a:t>
            </a:r>
            <a:r>
              <a:rPr lang="en-US" altLang="zh-CN"/>
              <a:t>=</a:t>
            </a:r>
            <a:r>
              <a:rPr lang="en-US" altLang="zh-CN" i="1"/>
              <a:t>M</a:t>
            </a:r>
            <a:r>
              <a:rPr lang="en-US" altLang="zh-CN"/>
              <a:t>+</a:t>
            </a:r>
            <a:r>
              <a:rPr lang="en-US" altLang="zh-CN" i="1"/>
              <a:t>M</a:t>
            </a:r>
            <a:r>
              <a:rPr lang="en-US" altLang="zh-CN" baseline="30000"/>
              <a:t>2</a:t>
            </a:r>
            <a:r>
              <a:rPr lang="en-US" altLang="zh-CN"/>
              <a:t>+</a:t>
            </a:r>
            <a:r>
              <a:rPr lang="en-US" altLang="zh-CN" i="1"/>
              <a:t>M</a:t>
            </a:r>
            <a:r>
              <a:rPr lang="en-US" altLang="zh-CN" baseline="30000"/>
              <a:t>3</a:t>
            </a:r>
            <a:r>
              <a:rPr lang="en-US" altLang="zh-CN"/>
              <a:t>+…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/>
              <a:t>其中，</a:t>
            </a:r>
            <a:r>
              <a:rPr lang="en-US" altLang="zh-CN" i="1"/>
              <a:t>E </a:t>
            </a:r>
            <a:r>
              <a:rPr lang="zh-CN" altLang="en-US"/>
              <a:t>是单位矩阵</a:t>
            </a:r>
            <a:r>
              <a:rPr lang="en-US" altLang="zh-CN"/>
              <a:t>, </a:t>
            </a:r>
            <a:r>
              <a:rPr lang="en-US" altLang="zh-CN" i="1"/>
              <a:t>M </a:t>
            </a:r>
            <a:r>
              <a:rPr lang="en-US" altLang="zh-CN"/>
              <a:t>'</a:t>
            </a:r>
            <a:r>
              <a:rPr lang="zh-CN" altLang="en-US"/>
              <a:t>是 转置矩阵，相加时使用</a:t>
            </a:r>
            <a:r>
              <a:rPr lang="zh-CN" altLang="en-US">
                <a:solidFill>
                  <a:srgbClr val="A50021"/>
                </a:solidFill>
              </a:rPr>
              <a:t>逻辑加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F7E3391-EB85-4D58-8C66-688C7847FAFA}" type="slidenum">
              <a:rPr lang="en-US" altLang="zh-CN" sz="1400" b="0" smtClean="0">
                <a:latin typeface="Arial" panose="020B0604020202020204" pitchFamily="34" charset="0"/>
              </a:rPr>
              <a:t>91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6758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闭包的构造方法之</a:t>
            </a:r>
            <a:r>
              <a:rPr lang="zh-CN" altLang="en-US">
                <a:solidFill>
                  <a:srgbClr val="FF0000"/>
                </a:solidFill>
              </a:rPr>
              <a:t>图表示</a:t>
            </a:r>
          </a:p>
        </p:txBody>
      </p:sp>
      <p:sp>
        <p:nvSpPr>
          <p:cNvPr id="61445" name="Rectangle 9"/>
          <p:cNvSpPr>
            <a:spLocks noChangeArrowheads="1"/>
          </p:cNvSpPr>
          <p:nvPr/>
        </p:nvSpPr>
        <p:spPr bwMode="auto">
          <a:xfrm>
            <a:off x="468313" y="1268413"/>
            <a:ext cx="8207375" cy="338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/>
              <a:t>设关系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en-US" altLang="zh-CN" dirty="0"/>
              <a:t>, </a:t>
            </a:r>
            <a:r>
              <a:rPr lang="en-US" altLang="zh-CN" i="1" dirty="0">
                <a:solidFill>
                  <a:srgbClr val="FF00FF"/>
                </a:solidFill>
              </a:rPr>
              <a:t>s</a:t>
            </a:r>
            <a:r>
              <a:rPr lang="en-US" altLang="zh-CN" dirty="0">
                <a:solidFill>
                  <a:srgbClr val="FF00FF"/>
                </a:solidFill>
              </a:rPr>
              <a:t>(</a:t>
            </a:r>
            <a:r>
              <a:rPr lang="en-US" altLang="zh-CN" i="1" dirty="0">
                <a:solidFill>
                  <a:srgbClr val="FF00FF"/>
                </a:solidFill>
              </a:rPr>
              <a:t>R</a:t>
            </a:r>
            <a:r>
              <a:rPr lang="en-US" altLang="zh-CN" dirty="0">
                <a:solidFill>
                  <a:srgbClr val="FF00FF"/>
                </a:solidFill>
              </a:rPr>
              <a:t>)</a:t>
            </a:r>
            <a:r>
              <a:rPr lang="en-US" altLang="zh-CN" dirty="0"/>
              <a:t>, </a:t>
            </a:r>
            <a:r>
              <a:rPr lang="en-US" altLang="zh-CN" i="1" dirty="0">
                <a:solidFill>
                  <a:srgbClr val="FF0000"/>
                </a:solidFill>
              </a:rPr>
              <a:t>t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i="1" dirty="0">
                <a:solidFill>
                  <a:srgbClr val="FF0000"/>
                </a:solidFill>
              </a:rPr>
              <a:t>R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dirty="0"/>
              <a:t>的关系图分别记为</a:t>
            </a:r>
            <a:r>
              <a:rPr lang="en-US" altLang="zh-CN" i="1" dirty="0"/>
              <a:t>G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i="1" baseline="-25000" dirty="0"/>
              <a:t>r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i="1" baseline="-25000" dirty="0"/>
              <a:t>s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i="1" baseline="-25000" dirty="0"/>
              <a:t>t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  <a:r>
              <a:rPr lang="en-US" altLang="zh-CN" i="1" dirty="0"/>
              <a:t>G</a:t>
            </a:r>
            <a:r>
              <a:rPr lang="en-US" altLang="zh-CN" i="1" baseline="-25000" dirty="0"/>
              <a:t>r </a:t>
            </a:r>
            <a:r>
              <a:rPr lang="en-US" altLang="zh-CN" dirty="0"/>
              <a:t>,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i="1" dirty="0"/>
              <a:t>G</a:t>
            </a:r>
            <a:r>
              <a:rPr lang="en-US" altLang="zh-CN" i="1" baseline="-25000" dirty="0"/>
              <a:t>s 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i="1" baseline="-25000" dirty="0"/>
              <a:t>t </a:t>
            </a:r>
            <a:r>
              <a:rPr lang="zh-CN" altLang="en-US" dirty="0"/>
              <a:t>的顶点集与</a:t>
            </a:r>
            <a:r>
              <a:rPr lang="en-US" altLang="zh-CN" i="1" dirty="0"/>
              <a:t>G </a:t>
            </a:r>
            <a:r>
              <a:rPr lang="zh-CN" altLang="en-US" dirty="0"/>
              <a:t>的顶点集相等</a:t>
            </a:r>
            <a:r>
              <a:rPr lang="en-US" altLang="zh-CN" dirty="0"/>
              <a:t>. </a:t>
            </a:r>
            <a:r>
              <a:rPr lang="zh-CN" altLang="en-US" dirty="0"/>
              <a:t>除了</a:t>
            </a:r>
            <a:r>
              <a:rPr lang="en-US" altLang="zh-CN" i="1" dirty="0"/>
              <a:t>G </a:t>
            </a:r>
            <a:r>
              <a:rPr lang="zh-CN" altLang="en-US" dirty="0"/>
              <a:t>的边以外</a:t>
            </a:r>
            <a:r>
              <a:rPr lang="en-US" altLang="zh-CN" dirty="0"/>
              <a:t>, </a:t>
            </a:r>
            <a:r>
              <a:rPr lang="zh-CN" altLang="en-US" dirty="0"/>
              <a:t>以下述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/>
              <a:t>方法添加新的边：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dirty="0"/>
              <a:t>(1) </a:t>
            </a:r>
            <a:r>
              <a:rPr lang="zh-CN" altLang="en-US" dirty="0">
                <a:solidFill>
                  <a:srgbClr val="0066FF"/>
                </a:solidFill>
              </a:rPr>
              <a:t>考察</a:t>
            </a:r>
            <a:r>
              <a:rPr lang="en-US" altLang="zh-CN" i="1" dirty="0">
                <a:solidFill>
                  <a:srgbClr val="0066FF"/>
                </a:solidFill>
              </a:rPr>
              <a:t>G </a:t>
            </a:r>
            <a:r>
              <a:rPr lang="zh-CN" altLang="en-US" dirty="0">
                <a:solidFill>
                  <a:srgbClr val="0066FF"/>
                </a:solidFill>
              </a:rPr>
              <a:t>的每个顶点</a:t>
            </a:r>
            <a:r>
              <a:rPr lang="en-US" altLang="zh-CN" dirty="0">
                <a:solidFill>
                  <a:srgbClr val="0066FF"/>
                </a:solidFill>
              </a:rPr>
              <a:t>, </a:t>
            </a:r>
            <a:r>
              <a:rPr lang="zh-CN" altLang="en-US" dirty="0">
                <a:solidFill>
                  <a:srgbClr val="0066FF"/>
                </a:solidFill>
              </a:rPr>
              <a:t>若没环就加一个环，得到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en-US" altLang="zh-CN" i="1" baseline="-25000" dirty="0">
                <a:solidFill>
                  <a:srgbClr val="0066FF"/>
                </a:solidFill>
              </a:rPr>
              <a:t>r 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dirty="0"/>
              <a:t>(2) </a:t>
            </a:r>
            <a:r>
              <a:rPr lang="zh-CN" altLang="en-US" dirty="0">
                <a:solidFill>
                  <a:srgbClr val="FF00FF"/>
                </a:solidFill>
              </a:rPr>
              <a:t>考察</a:t>
            </a:r>
            <a:r>
              <a:rPr lang="en-US" altLang="zh-CN" i="1" dirty="0">
                <a:solidFill>
                  <a:srgbClr val="FF00FF"/>
                </a:solidFill>
              </a:rPr>
              <a:t>G </a:t>
            </a:r>
            <a:r>
              <a:rPr lang="zh-CN" altLang="en-US" dirty="0">
                <a:solidFill>
                  <a:srgbClr val="FF00FF"/>
                </a:solidFill>
              </a:rPr>
              <a:t>的每条边</a:t>
            </a:r>
            <a:r>
              <a:rPr lang="en-US" altLang="zh-CN" dirty="0">
                <a:solidFill>
                  <a:srgbClr val="FF00FF"/>
                </a:solidFill>
              </a:rPr>
              <a:t>, </a:t>
            </a:r>
            <a:r>
              <a:rPr lang="zh-CN" altLang="en-US" dirty="0">
                <a:solidFill>
                  <a:srgbClr val="FF00FF"/>
                </a:solidFill>
              </a:rPr>
              <a:t>若有一条 </a:t>
            </a:r>
            <a:r>
              <a:rPr lang="en-US" altLang="zh-CN" i="1" dirty="0">
                <a:solidFill>
                  <a:srgbClr val="FF00FF"/>
                </a:solidFill>
              </a:rPr>
              <a:t>x</a:t>
            </a:r>
            <a:r>
              <a:rPr lang="en-US" altLang="zh-CN" i="1" baseline="-25000" dirty="0">
                <a:solidFill>
                  <a:srgbClr val="FF00FF"/>
                </a:solidFill>
              </a:rPr>
              <a:t>i </a:t>
            </a:r>
            <a:r>
              <a:rPr lang="zh-CN" altLang="en-US" dirty="0">
                <a:solidFill>
                  <a:srgbClr val="FF00FF"/>
                </a:solidFill>
              </a:rPr>
              <a:t>到 </a:t>
            </a:r>
            <a:r>
              <a:rPr lang="en-US" altLang="zh-CN" i="1" dirty="0" err="1">
                <a:solidFill>
                  <a:srgbClr val="FF00FF"/>
                </a:solidFill>
              </a:rPr>
              <a:t>x</a:t>
            </a:r>
            <a:r>
              <a:rPr lang="en-US" altLang="zh-CN" i="1" baseline="-25000" dirty="0" err="1">
                <a:solidFill>
                  <a:srgbClr val="FF00FF"/>
                </a:solidFill>
              </a:rPr>
              <a:t>j</a:t>
            </a:r>
            <a:r>
              <a:rPr lang="en-US" altLang="zh-CN" i="1" baseline="-25000" dirty="0">
                <a:solidFill>
                  <a:srgbClr val="FF00FF"/>
                </a:solidFill>
              </a:rPr>
              <a:t> </a:t>
            </a:r>
            <a:r>
              <a:rPr lang="zh-CN" altLang="en-US" dirty="0">
                <a:solidFill>
                  <a:srgbClr val="FF00FF"/>
                </a:solidFill>
              </a:rPr>
              <a:t>的单向边</a:t>
            </a:r>
            <a:r>
              <a:rPr lang="en-US" altLang="zh-CN" dirty="0">
                <a:solidFill>
                  <a:srgbClr val="FF00FF"/>
                </a:solidFill>
              </a:rPr>
              <a:t>, </a:t>
            </a:r>
            <a:r>
              <a:rPr lang="en-US" altLang="zh-CN" i="1" dirty="0" err="1">
                <a:solidFill>
                  <a:srgbClr val="FF00FF"/>
                </a:solidFill>
              </a:rPr>
              <a:t>i</a:t>
            </a:r>
            <a:r>
              <a:rPr lang="en-US" altLang="zh-CN" dirty="0" err="1">
                <a:solidFill>
                  <a:srgbClr val="FF00FF"/>
                </a:solidFill>
              </a:rPr>
              <a:t>≠</a:t>
            </a:r>
            <a:r>
              <a:rPr lang="en-US" altLang="zh-CN" i="1" dirty="0" err="1">
                <a:solidFill>
                  <a:srgbClr val="FF00FF"/>
                </a:solidFill>
              </a:rPr>
              <a:t>j</a:t>
            </a:r>
            <a:r>
              <a:rPr lang="en-US" altLang="zh-CN" dirty="0">
                <a:solidFill>
                  <a:srgbClr val="FF00FF"/>
                </a:solidFill>
              </a:rPr>
              <a:t>, </a:t>
            </a:r>
            <a:r>
              <a:rPr lang="zh-CN" altLang="en-US" dirty="0">
                <a:solidFill>
                  <a:srgbClr val="FF00FF"/>
                </a:solidFill>
              </a:rPr>
              <a:t>则在</a:t>
            </a:r>
            <a:r>
              <a:rPr lang="en-US" altLang="zh-CN" i="1" dirty="0">
                <a:solidFill>
                  <a:srgbClr val="FF00FF"/>
                </a:solidFill>
              </a:rPr>
              <a:t>G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dirty="0">
                <a:solidFill>
                  <a:srgbClr val="FF00FF"/>
                </a:solidFill>
              </a:rPr>
              <a:t>      </a:t>
            </a:r>
            <a:r>
              <a:rPr lang="zh-CN" altLang="en-US" dirty="0">
                <a:solidFill>
                  <a:srgbClr val="FF00FF"/>
                </a:solidFill>
              </a:rPr>
              <a:t>中加一条 </a:t>
            </a:r>
            <a:r>
              <a:rPr lang="en-US" altLang="zh-CN" i="1" dirty="0" err="1">
                <a:solidFill>
                  <a:srgbClr val="FF00FF"/>
                </a:solidFill>
              </a:rPr>
              <a:t>x</a:t>
            </a:r>
            <a:r>
              <a:rPr lang="en-US" altLang="zh-CN" i="1" baseline="-25000" dirty="0" err="1">
                <a:solidFill>
                  <a:srgbClr val="FF00FF"/>
                </a:solidFill>
              </a:rPr>
              <a:t>j</a:t>
            </a:r>
            <a:r>
              <a:rPr lang="en-US" altLang="zh-CN" i="1" baseline="-25000" dirty="0">
                <a:solidFill>
                  <a:srgbClr val="FF00FF"/>
                </a:solidFill>
              </a:rPr>
              <a:t> </a:t>
            </a:r>
            <a:r>
              <a:rPr lang="zh-CN" altLang="en-US" dirty="0">
                <a:solidFill>
                  <a:srgbClr val="FF00FF"/>
                </a:solidFill>
              </a:rPr>
              <a:t>到 </a:t>
            </a:r>
            <a:r>
              <a:rPr lang="en-US" altLang="zh-CN" i="1" dirty="0">
                <a:solidFill>
                  <a:srgbClr val="FF00FF"/>
                </a:solidFill>
              </a:rPr>
              <a:t>x</a:t>
            </a:r>
            <a:r>
              <a:rPr lang="en-US" altLang="zh-CN" i="1" baseline="-25000" dirty="0">
                <a:solidFill>
                  <a:srgbClr val="FF00FF"/>
                </a:solidFill>
              </a:rPr>
              <a:t>i </a:t>
            </a:r>
            <a:r>
              <a:rPr lang="zh-CN" altLang="en-US" dirty="0">
                <a:solidFill>
                  <a:srgbClr val="FF00FF"/>
                </a:solidFill>
              </a:rPr>
              <a:t>的反向边</a:t>
            </a:r>
            <a:r>
              <a:rPr lang="en-US" altLang="zh-CN" dirty="0">
                <a:solidFill>
                  <a:srgbClr val="FF00FF"/>
                </a:solidFill>
              </a:rPr>
              <a:t>,  </a:t>
            </a:r>
            <a:r>
              <a:rPr lang="zh-CN" altLang="en-US" dirty="0">
                <a:solidFill>
                  <a:srgbClr val="FF00FF"/>
                </a:solidFill>
              </a:rPr>
              <a:t>得到</a:t>
            </a:r>
            <a:r>
              <a:rPr lang="en-US" altLang="zh-CN" i="1" dirty="0">
                <a:solidFill>
                  <a:srgbClr val="FF00FF"/>
                </a:solidFill>
              </a:rPr>
              <a:t>G</a:t>
            </a:r>
            <a:r>
              <a:rPr lang="en-US" altLang="zh-CN" i="1" baseline="-25000" dirty="0">
                <a:solidFill>
                  <a:srgbClr val="FF00FF"/>
                </a:solidFill>
              </a:rPr>
              <a:t>s</a:t>
            </a:r>
            <a:endParaRPr lang="en-US" altLang="zh-CN" dirty="0">
              <a:solidFill>
                <a:srgbClr val="FF00FF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dirty="0"/>
              <a:t>(3) </a:t>
            </a:r>
            <a:r>
              <a:rPr lang="zh-CN" altLang="en-US" dirty="0">
                <a:solidFill>
                  <a:srgbClr val="FF0000"/>
                </a:solidFill>
              </a:rPr>
              <a:t>考察</a:t>
            </a:r>
            <a:r>
              <a:rPr lang="en-US" altLang="zh-CN" i="1" dirty="0">
                <a:solidFill>
                  <a:srgbClr val="FF0000"/>
                </a:solidFill>
              </a:rPr>
              <a:t>G </a:t>
            </a:r>
            <a:r>
              <a:rPr lang="zh-CN" altLang="en-US" dirty="0">
                <a:solidFill>
                  <a:srgbClr val="FF0000"/>
                </a:solidFill>
              </a:rPr>
              <a:t>的每个顶点 </a:t>
            </a:r>
            <a:r>
              <a:rPr lang="en-US" altLang="zh-CN" i="1" dirty="0">
                <a:solidFill>
                  <a:srgbClr val="FF0000"/>
                </a:solidFill>
              </a:rPr>
              <a:t>x</a:t>
            </a:r>
            <a:r>
              <a:rPr lang="en-US" altLang="zh-CN" i="1" baseline="-25000" dirty="0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zh-CN" altLang="en-US" dirty="0">
                <a:solidFill>
                  <a:srgbClr val="FF0000"/>
                </a:solidFill>
              </a:rPr>
              <a:t>找 </a:t>
            </a:r>
            <a:r>
              <a:rPr lang="en-US" altLang="zh-CN" i="1" dirty="0">
                <a:solidFill>
                  <a:srgbClr val="FF0000"/>
                </a:solidFill>
              </a:rPr>
              <a:t>x</a:t>
            </a:r>
            <a:r>
              <a:rPr lang="en-US" altLang="zh-CN" i="1" baseline="-25000" dirty="0">
                <a:solidFill>
                  <a:srgbClr val="FF0000"/>
                </a:solidFill>
              </a:rPr>
              <a:t>i </a:t>
            </a:r>
            <a:r>
              <a:rPr lang="zh-CN" altLang="en-US" dirty="0">
                <a:solidFill>
                  <a:srgbClr val="FF0000"/>
                </a:solidFill>
              </a:rPr>
              <a:t>可达的所有顶点 </a:t>
            </a:r>
            <a:r>
              <a:rPr lang="en-US" altLang="zh-CN" i="1" dirty="0" err="1">
                <a:solidFill>
                  <a:srgbClr val="FF0000"/>
                </a:solidFill>
              </a:rPr>
              <a:t>x</a:t>
            </a:r>
            <a:r>
              <a:rPr lang="en-US" altLang="zh-CN" i="1" baseline="-25000" dirty="0" err="1">
                <a:solidFill>
                  <a:srgbClr val="FF0000"/>
                </a:solidFill>
              </a:rPr>
              <a:t>j</a:t>
            </a:r>
            <a:r>
              <a:rPr lang="en-US" altLang="zh-CN" i="1" baseline="-25000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允许</a:t>
            </a:r>
            <a:r>
              <a:rPr lang="en-US" altLang="zh-CN" i="1" dirty="0" err="1">
                <a:solidFill>
                  <a:srgbClr val="FF0000"/>
                </a:solidFill>
              </a:rPr>
              <a:t>i</a:t>
            </a:r>
            <a:r>
              <a:rPr lang="en-US" altLang="zh-CN" i="1" dirty="0">
                <a:solidFill>
                  <a:srgbClr val="FF0000"/>
                </a:solidFill>
              </a:rPr>
              <a:t>=j 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i="1" dirty="0">
                <a:solidFill>
                  <a:srgbClr val="FF0000"/>
                </a:solidFill>
              </a:rPr>
              <a:t>，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i="1" dirty="0">
                <a:solidFill>
                  <a:srgbClr val="FF0000"/>
                </a:solidFill>
              </a:rPr>
              <a:t>      </a:t>
            </a:r>
            <a:r>
              <a:rPr lang="zh-CN" altLang="en-US" dirty="0">
                <a:solidFill>
                  <a:srgbClr val="FF0000"/>
                </a:solidFill>
              </a:rPr>
              <a:t>如果没有从 </a:t>
            </a:r>
            <a:r>
              <a:rPr lang="en-US" altLang="zh-CN" i="1" dirty="0">
                <a:solidFill>
                  <a:srgbClr val="FF0000"/>
                </a:solidFill>
              </a:rPr>
              <a:t>x</a:t>
            </a:r>
            <a:r>
              <a:rPr lang="en-US" altLang="zh-CN" i="1" baseline="-25000" dirty="0">
                <a:solidFill>
                  <a:srgbClr val="FF0000"/>
                </a:solidFill>
              </a:rPr>
              <a:t>i  </a:t>
            </a:r>
            <a:r>
              <a:rPr lang="zh-CN" altLang="en-US" dirty="0">
                <a:solidFill>
                  <a:srgbClr val="FF0000"/>
                </a:solidFill>
              </a:rPr>
              <a:t>到 </a:t>
            </a:r>
            <a:r>
              <a:rPr lang="en-US" altLang="zh-CN" i="1" dirty="0" err="1">
                <a:solidFill>
                  <a:srgbClr val="FF0000"/>
                </a:solidFill>
              </a:rPr>
              <a:t>x</a:t>
            </a:r>
            <a:r>
              <a:rPr lang="en-US" altLang="zh-CN" i="1" baseline="-25000" dirty="0" err="1">
                <a:solidFill>
                  <a:srgbClr val="FF0000"/>
                </a:solidFill>
              </a:rPr>
              <a:t>j</a:t>
            </a:r>
            <a:r>
              <a:rPr lang="en-US" altLang="zh-CN" baseline="-25000" dirty="0">
                <a:solidFill>
                  <a:srgbClr val="FF0000"/>
                </a:solidFill>
              </a:rPr>
              <a:t>  </a:t>
            </a:r>
            <a:r>
              <a:rPr lang="zh-CN" altLang="en-US" dirty="0">
                <a:solidFill>
                  <a:srgbClr val="FF0000"/>
                </a:solidFill>
              </a:rPr>
              <a:t>的边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zh-CN" altLang="en-US" dirty="0">
                <a:solidFill>
                  <a:srgbClr val="FF0000"/>
                </a:solidFill>
              </a:rPr>
              <a:t>就加上这条边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zh-CN" altLang="en-US" dirty="0">
                <a:solidFill>
                  <a:srgbClr val="FF0000"/>
                </a:solidFill>
              </a:rPr>
              <a:t>得到图</a:t>
            </a:r>
            <a:r>
              <a:rPr lang="en-US" altLang="zh-CN" i="1" dirty="0">
                <a:solidFill>
                  <a:srgbClr val="FF0000"/>
                </a:solidFill>
              </a:rPr>
              <a:t>G</a:t>
            </a:r>
            <a:r>
              <a:rPr lang="en-US" altLang="zh-CN" i="1" baseline="-25000" dirty="0">
                <a:solidFill>
                  <a:srgbClr val="FF0000"/>
                </a:solidFill>
              </a:rPr>
              <a:t>t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67FCF683-31B7-44E9-805C-49C85F8B882D}" type="slidenum">
              <a:rPr lang="zh-CN" altLang="en-US" sz="1400" b="0" smtClean="0"/>
              <a:t>92</a:t>
            </a:fld>
            <a:endParaRPr lang="en-US" altLang="zh-CN" sz="1400" b="0"/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 例</a:t>
            </a:r>
            <a:r>
              <a:rPr lang="en-US" altLang="zh-CN"/>
              <a:t> </a:t>
            </a:r>
            <a:r>
              <a:rPr lang="zh-CN" altLang="en-US"/>
              <a:t>已知集合 </a:t>
            </a:r>
            <a:r>
              <a:rPr lang="en-US" altLang="zh-CN"/>
              <a:t>X </a:t>
            </a:r>
            <a:r>
              <a:rPr lang="zh-CN" altLang="en-US"/>
              <a:t>与关系 </a:t>
            </a:r>
            <a:r>
              <a:rPr lang="en-US" altLang="zh-CN"/>
              <a:t>R,</a:t>
            </a:r>
            <a:r>
              <a:rPr lang="zh-CN" altLang="en-US"/>
              <a:t>试求 </a:t>
            </a:r>
            <a:r>
              <a:rPr lang="en-US" altLang="zh-CN"/>
              <a:t>r(R) s(R)  t(R)</a:t>
            </a:r>
          </a:p>
        </p:txBody>
      </p:sp>
      <p:sp>
        <p:nvSpPr>
          <p:cNvPr id="709673" name="Text Box 41"/>
          <p:cNvSpPr txBox="1">
            <a:spLocks noChangeArrowheads="1"/>
          </p:cNvSpPr>
          <p:nvPr/>
        </p:nvSpPr>
        <p:spPr bwMode="auto">
          <a:xfrm>
            <a:off x="511175" y="2819400"/>
            <a:ext cx="990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4400" b="0" dirty="0">
                <a:ea typeface="隶书" panose="02010509060101010101" pitchFamily="49" charset="-122"/>
              </a:rPr>
              <a:t>解：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74" y="1196752"/>
            <a:ext cx="6984139" cy="14401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59" y="3616001"/>
            <a:ext cx="3598258" cy="234562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6841" y="3429000"/>
            <a:ext cx="3772722" cy="276429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9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9673" grpId="0" autoUpdateAnimBg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307C411E-AD43-4F7D-BC49-7F9DC8F539A6}" type="slidenum">
              <a:rPr lang="zh-CN" altLang="en-US" sz="1400" b="0" smtClean="0"/>
              <a:t>93</a:t>
            </a:fld>
            <a:endParaRPr lang="en-US" altLang="zh-CN" sz="1400" b="0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例（续）</a:t>
            </a:r>
            <a:r>
              <a:rPr lang="en-US" altLang="zh-CN" dirty="0"/>
              <a:t>s(R)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340768"/>
            <a:ext cx="7535168" cy="15841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3045644"/>
            <a:ext cx="3583803" cy="247158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552" y="2939217"/>
            <a:ext cx="3826144" cy="270013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2E3C568C-4762-49FE-812C-655A65F4686C}" type="slidenum">
              <a:rPr lang="zh-CN" altLang="en-US" sz="1400" b="0" smtClean="0"/>
              <a:t>94</a:t>
            </a:fld>
            <a:endParaRPr lang="en-US" altLang="zh-CN" sz="1400" b="0"/>
          </a:p>
        </p:txBody>
      </p:sp>
      <p:sp>
        <p:nvSpPr>
          <p:cNvPr id="71687" name="Rectangle 15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  例（续）</a:t>
            </a:r>
            <a:r>
              <a:rPr lang="en-US" altLang="zh-CN" dirty="0"/>
              <a:t> t(R)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27" y="1139434"/>
            <a:ext cx="2409825" cy="15716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4"/>
          <a:srcRect b="20880"/>
          <a:stretch>
            <a:fillRect/>
          </a:stretch>
        </p:blipFill>
        <p:spPr>
          <a:xfrm>
            <a:off x="655251" y="3383706"/>
            <a:ext cx="2314575" cy="134143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1164" y="3502769"/>
            <a:ext cx="2019300" cy="14573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6"/>
          <a:srcRect b="3878"/>
          <a:stretch>
            <a:fillRect/>
          </a:stretch>
        </p:blipFill>
        <p:spPr>
          <a:xfrm>
            <a:off x="3263310" y="1245321"/>
            <a:ext cx="2253263" cy="137635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0152" y="4509685"/>
            <a:ext cx="2981325" cy="2228850"/>
          </a:xfrm>
          <a:prstGeom prst="rect">
            <a:avLst/>
          </a:prstGeom>
        </p:spPr>
      </p:pic>
      <p:sp>
        <p:nvSpPr>
          <p:cNvPr id="15" name="任意多边形: 形状 14"/>
          <p:cNvSpPr/>
          <p:nvPr/>
        </p:nvSpPr>
        <p:spPr>
          <a:xfrm>
            <a:off x="2619091" y="1139435"/>
            <a:ext cx="6302385" cy="5739038"/>
          </a:xfrm>
          <a:custGeom>
            <a:avLst/>
            <a:gdLst>
              <a:gd name="connsiteX0" fmla="*/ 5856168 w 5856168"/>
              <a:gd name="connsiteY0" fmla="*/ 0 h 5322627"/>
              <a:gd name="connsiteX1" fmla="*/ 5787929 w 5856168"/>
              <a:gd name="connsiteY1" fmla="*/ 13648 h 5322627"/>
              <a:gd name="connsiteX2" fmla="*/ 5746986 w 5856168"/>
              <a:gd name="connsiteY2" fmla="*/ 54591 h 5322627"/>
              <a:gd name="connsiteX3" fmla="*/ 5583212 w 5856168"/>
              <a:gd name="connsiteY3" fmla="*/ 177421 h 5322627"/>
              <a:gd name="connsiteX4" fmla="*/ 5433087 w 5856168"/>
              <a:gd name="connsiteY4" fmla="*/ 300251 h 5322627"/>
              <a:gd name="connsiteX5" fmla="*/ 5392144 w 5856168"/>
              <a:gd name="connsiteY5" fmla="*/ 382137 h 5322627"/>
              <a:gd name="connsiteX6" fmla="*/ 5242018 w 5856168"/>
              <a:gd name="connsiteY6" fmla="*/ 491319 h 5322627"/>
              <a:gd name="connsiteX7" fmla="*/ 5187427 w 5856168"/>
              <a:gd name="connsiteY7" fmla="*/ 559558 h 5322627"/>
              <a:gd name="connsiteX8" fmla="*/ 5119189 w 5856168"/>
              <a:gd name="connsiteY8" fmla="*/ 586854 h 5322627"/>
              <a:gd name="connsiteX9" fmla="*/ 5023654 w 5856168"/>
              <a:gd name="connsiteY9" fmla="*/ 668740 h 5322627"/>
              <a:gd name="connsiteX10" fmla="*/ 4928120 w 5856168"/>
              <a:gd name="connsiteY10" fmla="*/ 750627 h 5322627"/>
              <a:gd name="connsiteX11" fmla="*/ 4764347 w 5856168"/>
              <a:gd name="connsiteY11" fmla="*/ 832513 h 5322627"/>
              <a:gd name="connsiteX12" fmla="*/ 4696108 w 5856168"/>
              <a:gd name="connsiteY12" fmla="*/ 873456 h 5322627"/>
              <a:gd name="connsiteX13" fmla="*/ 4586926 w 5856168"/>
              <a:gd name="connsiteY13" fmla="*/ 955343 h 5322627"/>
              <a:gd name="connsiteX14" fmla="*/ 4505039 w 5856168"/>
              <a:gd name="connsiteY14" fmla="*/ 1037230 h 5322627"/>
              <a:gd name="connsiteX15" fmla="*/ 4450448 w 5856168"/>
              <a:gd name="connsiteY15" fmla="*/ 1173707 h 5322627"/>
              <a:gd name="connsiteX16" fmla="*/ 4409505 w 5856168"/>
              <a:gd name="connsiteY16" fmla="*/ 1201003 h 5322627"/>
              <a:gd name="connsiteX17" fmla="*/ 4354914 w 5856168"/>
              <a:gd name="connsiteY17" fmla="*/ 1296537 h 5322627"/>
              <a:gd name="connsiteX18" fmla="*/ 4300323 w 5856168"/>
              <a:gd name="connsiteY18" fmla="*/ 1310185 h 5322627"/>
              <a:gd name="connsiteX19" fmla="*/ 4218436 w 5856168"/>
              <a:gd name="connsiteY19" fmla="*/ 1419367 h 5322627"/>
              <a:gd name="connsiteX20" fmla="*/ 4191141 w 5856168"/>
              <a:gd name="connsiteY20" fmla="*/ 1460310 h 5322627"/>
              <a:gd name="connsiteX21" fmla="*/ 4136550 w 5856168"/>
              <a:gd name="connsiteY21" fmla="*/ 1487606 h 5322627"/>
              <a:gd name="connsiteX22" fmla="*/ 4095607 w 5856168"/>
              <a:gd name="connsiteY22" fmla="*/ 1528549 h 5322627"/>
              <a:gd name="connsiteX23" fmla="*/ 4068311 w 5856168"/>
              <a:gd name="connsiteY23" fmla="*/ 1596788 h 5322627"/>
              <a:gd name="connsiteX24" fmla="*/ 4013720 w 5856168"/>
              <a:gd name="connsiteY24" fmla="*/ 1624083 h 5322627"/>
              <a:gd name="connsiteX25" fmla="*/ 3904538 w 5856168"/>
              <a:gd name="connsiteY25" fmla="*/ 1665027 h 5322627"/>
              <a:gd name="connsiteX26" fmla="*/ 3809004 w 5856168"/>
              <a:gd name="connsiteY26" fmla="*/ 1774209 h 5322627"/>
              <a:gd name="connsiteX27" fmla="*/ 3740765 w 5856168"/>
              <a:gd name="connsiteY27" fmla="*/ 1856095 h 5322627"/>
              <a:gd name="connsiteX28" fmla="*/ 3713469 w 5856168"/>
              <a:gd name="connsiteY28" fmla="*/ 1992573 h 5322627"/>
              <a:gd name="connsiteX29" fmla="*/ 3699821 w 5856168"/>
              <a:gd name="connsiteY29" fmla="*/ 2060812 h 5322627"/>
              <a:gd name="connsiteX30" fmla="*/ 3658878 w 5856168"/>
              <a:gd name="connsiteY30" fmla="*/ 2074459 h 5322627"/>
              <a:gd name="connsiteX31" fmla="*/ 3617935 w 5856168"/>
              <a:gd name="connsiteY31" fmla="*/ 2224585 h 5322627"/>
              <a:gd name="connsiteX32" fmla="*/ 3604287 w 5856168"/>
              <a:gd name="connsiteY32" fmla="*/ 2279176 h 5322627"/>
              <a:gd name="connsiteX33" fmla="*/ 3508753 w 5856168"/>
              <a:gd name="connsiteY33" fmla="*/ 2388358 h 5322627"/>
              <a:gd name="connsiteX34" fmla="*/ 3426866 w 5856168"/>
              <a:gd name="connsiteY34" fmla="*/ 2497540 h 5322627"/>
              <a:gd name="connsiteX35" fmla="*/ 3399571 w 5856168"/>
              <a:gd name="connsiteY35" fmla="*/ 2552131 h 5322627"/>
              <a:gd name="connsiteX36" fmla="*/ 3385923 w 5856168"/>
              <a:gd name="connsiteY36" fmla="*/ 2593074 h 5322627"/>
              <a:gd name="connsiteX37" fmla="*/ 3344980 w 5856168"/>
              <a:gd name="connsiteY37" fmla="*/ 2620370 h 5322627"/>
              <a:gd name="connsiteX38" fmla="*/ 3304036 w 5856168"/>
              <a:gd name="connsiteY38" fmla="*/ 2661313 h 5322627"/>
              <a:gd name="connsiteX39" fmla="*/ 3235798 w 5856168"/>
              <a:gd name="connsiteY39" fmla="*/ 2743200 h 5322627"/>
              <a:gd name="connsiteX40" fmla="*/ 3208502 w 5856168"/>
              <a:gd name="connsiteY40" fmla="*/ 2797791 h 5322627"/>
              <a:gd name="connsiteX41" fmla="*/ 3181207 w 5856168"/>
              <a:gd name="connsiteY41" fmla="*/ 2838734 h 5322627"/>
              <a:gd name="connsiteX42" fmla="*/ 3153911 w 5856168"/>
              <a:gd name="connsiteY42" fmla="*/ 2920621 h 5322627"/>
              <a:gd name="connsiteX43" fmla="*/ 3140263 w 5856168"/>
              <a:gd name="connsiteY43" fmla="*/ 2975212 h 5322627"/>
              <a:gd name="connsiteX44" fmla="*/ 3072024 w 5856168"/>
              <a:gd name="connsiteY44" fmla="*/ 3057098 h 5322627"/>
              <a:gd name="connsiteX45" fmla="*/ 3003786 w 5856168"/>
              <a:gd name="connsiteY45" fmla="*/ 3152633 h 5322627"/>
              <a:gd name="connsiteX46" fmla="*/ 2990138 w 5856168"/>
              <a:gd name="connsiteY46" fmla="*/ 3207224 h 5322627"/>
              <a:gd name="connsiteX47" fmla="*/ 2976490 w 5856168"/>
              <a:gd name="connsiteY47" fmla="*/ 3248167 h 5322627"/>
              <a:gd name="connsiteX48" fmla="*/ 2949195 w 5856168"/>
              <a:gd name="connsiteY48" fmla="*/ 3439236 h 5322627"/>
              <a:gd name="connsiteX49" fmla="*/ 2867308 w 5856168"/>
              <a:gd name="connsiteY49" fmla="*/ 3534770 h 5322627"/>
              <a:gd name="connsiteX50" fmla="*/ 2840012 w 5856168"/>
              <a:gd name="connsiteY50" fmla="*/ 3575713 h 5322627"/>
              <a:gd name="connsiteX51" fmla="*/ 2799069 w 5856168"/>
              <a:gd name="connsiteY51" fmla="*/ 3603009 h 5322627"/>
              <a:gd name="connsiteX52" fmla="*/ 2703535 w 5856168"/>
              <a:gd name="connsiteY52" fmla="*/ 3698543 h 5322627"/>
              <a:gd name="connsiteX53" fmla="*/ 2676239 w 5856168"/>
              <a:gd name="connsiteY53" fmla="*/ 3753134 h 5322627"/>
              <a:gd name="connsiteX54" fmla="*/ 2608001 w 5856168"/>
              <a:gd name="connsiteY54" fmla="*/ 3780430 h 5322627"/>
              <a:gd name="connsiteX55" fmla="*/ 2567057 w 5856168"/>
              <a:gd name="connsiteY55" fmla="*/ 3807725 h 5322627"/>
              <a:gd name="connsiteX56" fmla="*/ 2471523 w 5856168"/>
              <a:gd name="connsiteY56" fmla="*/ 3862316 h 5322627"/>
              <a:gd name="connsiteX57" fmla="*/ 2403284 w 5856168"/>
              <a:gd name="connsiteY57" fmla="*/ 3944203 h 5322627"/>
              <a:gd name="connsiteX58" fmla="*/ 2362341 w 5856168"/>
              <a:gd name="connsiteY58" fmla="*/ 3957851 h 5322627"/>
              <a:gd name="connsiteX59" fmla="*/ 2321398 w 5856168"/>
              <a:gd name="connsiteY59" fmla="*/ 4012442 h 5322627"/>
              <a:gd name="connsiteX60" fmla="*/ 2198568 w 5856168"/>
              <a:gd name="connsiteY60" fmla="*/ 4067033 h 5322627"/>
              <a:gd name="connsiteX61" fmla="*/ 2157624 w 5856168"/>
              <a:gd name="connsiteY61" fmla="*/ 4094328 h 5322627"/>
              <a:gd name="connsiteX62" fmla="*/ 2116681 w 5856168"/>
              <a:gd name="connsiteY62" fmla="*/ 4148919 h 5322627"/>
              <a:gd name="connsiteX63" fmla="*/ 2034795 w 5856168"/>
              <a:gd name="connsiteY63" fmla="*/ 4203510 h 5322627"/>
              <a:gd name="connsiteX64" fmla="*/ 1980204 w 5856168"/>
              <a:gd name="connsiteY64" fmla="*/ 4299045 h 5322627"/>
              <a:gd name="connsiteX65" fmla="*/ 1925612 w 5856168"/>
              <a:gd name="connsiteY65" fmla="*/ 4312692 h 5322627"/>
              <a:gd name="connsiteX66" fmla="*/ 1816430 w 5856168"/>
              <a:gd name="connsiteY66" fmla="*/ 4367283 h 5322627"/>
              <a:gd name="connsiteX67" fmla="*/ 1720896 w 5856168"/>
              <a:gd name="connsiteY67" fmla="*/ 4421874 h 5322627"/>
              <a:gd name="connsiteX68" fmla="*/ 1611714 w 5856168"/>
              <a:gd name="connsiteY68" fmla="*/ 4490113 h 5322627"/>
              <a:gd name="connsiteX69" fmla="*/ 1557123 w 5856168"/>
              <a:gd name="connsiteY69" fmla="*/ 4531056 h 5322627"/>
              <a:gd name="connsiteX70" fmla="*/ 1475236 w 5856168"/>
              <a:gd name="connsiteY70" fmla="*/ 4544704 h 5322627"/>
              <a:gd name="connsiteX71" fmla="*/ 1434293 w 5856168"/>
              <a:gd name="connsiteY71" fmla="*/ 4585648 h 5322627"/>
              <a:gd name="connsiteX72" fmla="*/ 1352407 w 5856168"/>
              <a:gd name="connsiteY72" fmla="*/ 4626591 h 5322627"/>
              <a:gd name="connsiteX73" fmla="*/ 1243224 w 5856168"/>
              <a:gd name="connsiteY73" fmla="*/ 4667534 h 5322627"/>
              <a:gd name="connsiteX74" fmla="*/ 1174986 w 5856168"/>
              <a:gd name="connsiteY74" fmla="*/ 4749421 h 5322627"/>
              <a:gd name="connsiteX75" fmla="*/ 1134042 w 5856168"/>
              <a:gd name="connsiteY75" fmla="*/ 4763068 h 5322627"/>
              <a:gd name="connsiteX76" fmla="*/ 1024860 w 5856168"/>
              <a:gd name="connsiteY76" fmla="*/ 4804012 h 5322627"/>
              <a:gd name="connsiteX77" fmla="*/ 929326 w 5856168"/>
              <a:gd name="connsiteY77" fmla="*/ 4831307 h 5322627"/>
              <a:gd name="connsiteX78" fmla="*/ 670018 w 5856168"/>
              <a:gd name="connsiteY78" fmla="*/ 4844955 h 5322627"/>
              <a:gd name="connsiteX79" fmla="*/ 615427 w 5856168"/>
              <a:gd name="connsiteY79" fmla="*/ 4858603 h 5322627"/>
              <a:gd name="connsiteX80" fmla="*/ 451654 w 5856168"/>
              <a:gd name="connsiteY80" fmla="*/ 4872251 h 5322627"/>
              <a:gd name="connsiteX81" fmla="*/ 369768 w 5856168"/>
              <a:gd name="connsiteY81" fmla="*/ 4899546 h 5322627"/>
              <a:gd name="connsiteX82" fmla="*/ 342472 w 5856168"/>
              <a:gd name="connsiteY82" fmla="*/ 4954137 h 5322627"/>
              <a:gd name="connsiteX83" fmla="*/ 233290 w 5856168"/>
              <a:gd name="connsiteY83" fmla="*/ 4981433 h 5322627"/>
              <a:gd name="connsiteX84" fmla="*/ 192347 w 5856168"/>
              <a:gd name="connsiteY84" fmla="*/ 4995080 h 5322627"/>
              <a:gd name="connsiteX85" fmla="*/ 137756 w 5856168"/>
              <a:gd name="connsiteY85" fmla="*/ 5090615 h 5322627"/>
              <a:gd name="connsiteX86" fmla="*/ 124108 w 5856168"/>
              <a:gd name="connsiteY86" fmla="*/ 5131558 h 5322627"/>
              <a:gd name="connsiteX87" fmla="*/ 83165 w 5856168"/>
              <a:gd name="connsiteY87" fmla="*/ 5158854 h 5322627"/>
              <a:gd name="connsiteX88" fmla="*/ 1278 w 5856168"/>
              <a:gd name="connsiteY88" fmla="*/ 5295331 h 5322627"/>
              <a:gd name="connsiteX89" fmla="*/ 1278 w 5856168"/>
              <a:gd name="connsiteY89" fmla="*/ 5322627 h 5322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5856168" h="5322627">
                <a:moveTo>
                  <a:pt x="5856168" y="0"/>
                </a:moveTo>
                <a:cubicBezTo>
                  <a:pt x="5833422" y="4549"/>
                  <a:pt x="5808677" y="3274"/>
                  <a:pt x="5787929" y="13648"/>
                </a:cubicBezTo>
                <a:cubicBezTo>
                  <a:pt x="5770666" y="22280"/>
                  <a:pt x="5762057" y="42534"/>
                  <a:pt x="5746986" y="54591"/>
                </a:cubicBezTo>
                <a:cubicBezTo>
                  <a:pt x="5709377" y="84678"/>
                  <a:pt x="5621249" y="139384"/>
                  <a:pt x="5583212" y="177421"/>
                </a:cubicBezTo>
                <a:cubicBezTo>
                  <a:pt x="5458207" y="302426"/>
                  <a:pt x="5556142" y="251028"/>
                  <a:pt x="5433087" y="300251"/>
                </a:cubicBezTo>
                <a:cubicBezTo>
                  <a:pt x="5419439" y="327546"/>
                  <a:pt x="5411469" y="358518"/>
                  <a:pt x="5392144" y="382137"/>
                </a:cubicBezTo>
                <a:cubicBezTo>
                  <a:pt x="5353794" y="429009"/>
                  <a:pt x="5293007" y="460726"/>
                  <a:pt x="5242018" y="491319"/>
                </a:cubicBezTo>
                <a:cubicBezTo>
                  <a:pt x="5223821" y="514065"/>
                  <a:pt x="5210420" y="541674"/>
                  <a:pt x="5187427" y="559558"/>
                </a:cubicBezTo>
                <a:cubicBezTo>
                  <a:pt x="5168089" y="574599"/>
                  <a:pt x="5137789" y="570911"/>
                  <a:pt x="5119189" y="586854"/>
                </a:cubicBezTo>
                <a:cubicBezTo>
                  <a:pt x="4985313" y="701606"/>
                  <a:pt x="5225928" y="587832"/>
                  <a:pt x="5023654" y="668740"/>
                </a:cubicBezTo>
                <a:cubicBezTo>
                  <a:pt x="4991809" y="696036"/>
                  <a:pt x="4961674" y="725462"/>
                  <a:pt x="4928120" y="750627"/>
                </a:cubicBezTo>
                <a:cubicBezTo>
                  <a:pt x="4862712" y="799683"/>
                  <a:pt x="4841764" y="793805"/>
                  <a:pt x="4764347" y="832513"/>
                </a:cubicBezTo>
                <a:cubicBezTo>
                  <a:pt x="4740621" y="844376"/>
                  <a:pt x="4718854" y="859808"/>
                  <a:pt x="4696108" y="873456"/>
                </a:cubicBezTo>
                <a:cubicBezTo>
                  <a:pt x="4595665" y="1007383"/>
                  <a:pt x="4724536" y="855263"/>
                  <a:pt x="4586926" y="955343"/>
                </a:cubicBezTo>
                <a:cubicBezTo>
                  <a:pt x="4555707" y="978047"/>
                  <a:pt x="4505039" y="1037230"/>
                  <a:pt x="4505039" y="1037230"/>
                </a:cubicBezTo>
                <a:cubicBezTo>
                  <a:pt x="4496553" y="1062689"/>
                  <a:pt x="4472762" y="1146930"/>
                  <a:pt x="4450448" y="1173707"/>
                </a:cubicBezTo>
                <a:cubicBezTo>
                  <a:pt x="4439947" y="1186308"/>
                  <a:pt x="4423153" y="1191904"/>
                  <a:pt x="4409505" y="1201003"/>
                </a:cubicBezTo>
                <a:cubicBezTo>
                  <a:pt x="4404783" y="1210446"/>
                  <a:pt x="4369380" y="1286893"/>
                  <a:pt x="4354914" y="1296537"/>
                </a:cubicBezTo>
                <a:cubicBezTo>
                  <a:pt x="4339307" y="1306942"/>
                  <a:pt x="4318520" y="1305636"/>
                  <a:pt x="4300323" y="1310185"/>
                </a:cubicBezTo>
                <a:cubicBezTo>
                  <a:pt x="4273027" y="1346579"/>
                  <a:pt x="4243671" y="1381515"/>
                  <a:pt x="4218436" y="1419367"/>
                </a:cubicBezTo>
                <a:cubicBezTo>
                  <a:pt x="4209338" y="1433015"/>
                  <a:pt x="4203742" y="1449809"/>
                  <a:pt x="4191141" y="1460310"/>
                </a:cubicBezTo>
                <a:cubicBezTo>
                  <a:pt x="4175512" y="1473335"/>
                  <a:pt x="4153105" y="1475781"/>
                  <a:pt x="4136550" y="1487606"/>
                </a:cubicBezTo>
                <a:cubicBezTo>
                  <a:pt x="4120844" y="1498824"/>
                  <a:pt x="4109255" y="1514901"/>
                  <a:pt x="4095607" y="1528549"/>
                </a:cubicBezTo>
                <a:cubicBezTo>
                  <a:pt x="4086508" y="1551295"/>
                  <a:pt x="4084255" y="1578187"/>
                  <a:pt x="4068311" y="1596788"/>
                </a:cubicBezTo>
                <a:cubicBezTo>
                  <a:pt x="4055071" y="1612235"/>
                  <a:pt x="4032769" y="1616940"/>
                  <a:pt x="4013720" y="1624083"/>
                </a:cubicBezTo>
                <a:cubicBezTo>
                  <a:pt x="3958481" y="1644798"/>
                  <a:pt x="3955201" y="1627030"/>
                  <a:pt x="3904538" y="1665027"/>
                </a:cubicBezTo>
                <a:cubicBezTo>
                  <a:pt x="3850749" y="1705369"/>
                  <a:pt x="3850463" y="1725841"/>
                  <a:pt x="3809004" y="1774209"/>
                </a:cubicBezTo>
                <a:cubicBezTo>
                  <a:pt x="3730190" y="1866157"/>
                  <a:pt x="3801092" y="1765603"/>
                  <a:pt x="3740765" y="1856095"/>
                </a:cubicBezTo>
                <a:cubicBezTo>
                  <a:pt x="3707327" y="2090156"/>
                  <a:pt x="3745230" y="1865531"/>
                  <a:pt x="3713469" y="1992573"/>
                </a:cubicBezTo>
                <a:cubicBezTo>
                  <a:pt x="3707843" y="2015077"/>
                  <a:pt x="3712688" y="2041511"/>
                  <a:pt x="3699821" y="2060812"/>
                </a:cubicBezTo>
                <a:cubicBezTo>
                  <a:pt x="3691841" y="2072782"/>
                  <a:pt x="3672526" y="2069910"/>
                  <a:pt x="3658878" y="2074459"/>
                </a:cubicBezTo>
                <a:cubicBezTo>
                  <a:pt x="3632214" y="2261106"/>
                  <a:pt x="3666028" y="2096335"/>
                  <a:pt x="3617935" y="2224585"/>
                </a:cubicBezTo>
                <a:cubicBezTo>
                  <a:pt x="3611349" y="2242148"/>
                  <a:pt x="3612675" y="2262399"/>
                  <a:pt x="3604287" y="2279176"/>
                </a:cubicBezTo>
                <a:cubicBezTo>
                  <a:pt x="3579272" y="2329206"/>
                  <a:pt x="3543938" y="2346136"/>
                  <a:pt x="3508753" y="2388358"/>
                </a:cubicBezTo>
                <a:cubicBezTo>
                  <a:pt x="3479629" y="2423306"/>
                  <a:pt x="3447211" y="2456850"/>
                  <a:pt x="3426866" y="2497540"/>
                </a:cubicBezTo>
                <a:cubicBezTo>
                  <a:pt x="3417768" y="2515737"/>
                  <a:pt x="3407585" y="2533431"/>
                  <a:pt x="3399571" y="2552131"/>
                </a:cubicBezTo>
                <a:cubicBezTo>
                  <a:pt x="3393904" y="2565354"/>
                  <a:pt x="3394910" y="2581840"/>
                  <a:pt x="3385923" y="2593074"/>
                </a:cubicBezTo>
                <a:cubicBezTo>
                  <a:pt x="3375676" y="2605882"/>
                  <a:pt x="3357581" y="2609869"/>
                  <a:pt x="3344980" y="2620370"/>
                </a:cubicBezTo>
                <a:cubicBezTo>
                  <a:pt x="3330153" y="2632726"/>
                  <a:pt x="3317684" y="2647665"/>
                  <a:pt x="3304036" y="2661313"/>
                </a:cubicBezTo>
                <a:cubicBezTo>
                  <a:pt x="3273696" y="2752337"/>
                  <a:pt x="3316919" y="2648559"/>
                  <a:pt x="3235798" y="2743200"/>
                </a:cubicBezTo>
                <a:cubicBezTo>
                  <a:pt x="3222558" y="2758647"/>
                  <a:pt x="3218596" y="2780127"/>
                  <a:pt x="3208502" y="2797791"/>
                </a:cubicBezTo>
                <a:cubicBezTo>
                  <a:pt x="3200364" y="2812032"/>
                  <a:pt x="3187869" y="2823745"/>
                  <a:pt x="3181207" y="2838734"/>
                </a:cubicBezTo>
                <a:cubicBezTo>
                  <a:pt x="3169522" y="2865026"/>
                  <a:pt x="3160889" y="2892708"/>
                  <a:pt x="3153911" y="2920621"/>
                </a:cubicBezTo>
                <a:cubicBezTo>
                  <a:pt x="3149362" y="2938818"/>
                  <a:pt x="3147652" y="2957972"/>
                  <a:pt x="3140263" y="2975212"/>
                </a:cubicBezTo>
                <a:cubicBezTo>
                  <a:pt x="3126012" y="3008465"/>
                  <a:pt x="3096620" y="3032503"/>
                  <a:pt x="3072024" y="3057098"/>
                </a:cubicBezTo>
                <a:cubicBezTo>
                  <a:pt x="3040180" y="3152633"/>
                  <a:pt x="3072025" y="3129886"/>
                  <a:pt x="3003786" y="3152633"/>
                </a:cubicBezTo>
                <a:cubicBezTo>
                  <a:pt x="2999237" y="3170830"/>
                  <a:pt x="2995291" y="3189189"/>
                  <a:pt x="2990138" y="3207224"/>
                </a:cubicBezTo>
                <a:cubicBezTo>
                  <a:pt x="2986186" y="3221056"/>
                  <a:pt x="2978855" y="3233977"/>
                  <a:pt x="2976490" y="3248167"/>
                </a:cubicBezTo>
                <a:cubicBezTo>
                  <a:pt x="2975610" y="3253446"/>
                  <a:pt x="2962289" y="3409776"/>
                  <a:pt x="2949195" y="3439236"/>
                </a:cubicBezTo>
                <a:cubicBezTo>
                  <a:pt x="2929725" y="3483043"/>
                  <a:pt x="2896287" y="3499995"/>
                  <a:pt x="2867308" y="3534770"/>
                </a:cubicBezTo>
                <a:cubicBezTo>
                  <a:pt x="2856807" y="3547371"/>
                  <a:pt x="2851610" y="3564115"/>
                  <a:pt x="2840012" y="3575713"/>
                </a:cubicBezTo>
                <a:cubicBezTo>
                  <a:pt x="2828414" y="3587311"/>
                  <a:pt x="2810667" y="3591411"/>
                  <a:pt x="2799069" y="3603009"/>
                </a:cubicBezTo>
                <a:cubicBezTo>
                  <a:pt x="2671697" y="3730383"/>
                  <a:pt x="2849105" y="3589366"/>
                  <a:pt x="2703535" y="3698543"/>
                </a:cubicBezTo>
                <a:cubicBezTo>
                  <a:pt x="2694436" y="3716740"/>
                  <a:pt x="2691686" y="3739894"/>
                  <a:pt x="2676239" y="3753134"/>
                </a:cubicBezTo>
                <a:cubicBezTo>
                  <a:pt x="2657639" y="3769077"/>
                  <a:pt x="2629913" y="3769474"/>
                  <a:pt x="2608001" y="3780430"/>
                </a:cubicBezTo>
                <a:cubicBezTo>
                  <a:pt x="2593330" y="3787765"/>
                  <a:pt x="2581299" y="3799587"/>
                  <a:pt x="2567057" y="3807725"/>
                </a:cubicBezTo>
                <a:cubicBezTo>
                  <a:pt x="2445857" y="3876982"/>
                  <a:pt x="2571268" y="3795820"/>
                  <a:pt x="2471523" y="3862316"/>
                </a:cubicBezTo>
                <a:cubicBezTo>
                  <a:pt x="2451383" y="3892526"/>
                  <a:pt x="2434807" y="3923187"/>
                  <a:pt x="2403284" y="3944203"/>
                </a:cubicBezTo>
                <a:cubicBezTo>
                  <a:pt x="2391314" y="3952183"/>
                  <a:pt x="2375989" y="3953302"/>
                  <a:pt x="2362341" y="3957851"/>
                </a:cubicBezTo>
                <a:cubicBezTo>
                  <a:pt x="2348693" y="3976048"/>
                  <a:pt x="2337482" y="3996358"/>
                  <a:pt x="2321398" y="4012442"/>
                </a:cubicBezTo>
                <a:cubicBezTo>
                  <a:pt x="2265852" y="4067988"/>
                  <a:pt x="2279636" y="4012990"/>
                  <a:pt x="2198568" y="4067033"/>
                </a:cubicBezTo>
                <a:lnTo>
                  <a:pt x="2157624" y="4094328"/>
                </a:lnTo>
                <a:cubicBezTo>
                  <a:pt x="2143976" y="4112525"/>
                  <a:pt x="2133682" y="4133807"/>
                  <a:pt x="2116681" y="4148919"/>
                </a:cubicBezTo>
                <a:cubicBezTo>
                  <a:pt x="2092162" y="4170714"/>
                  <a:pt x="2034795" y="4203510"/>
                  <a:pt x="2034795" y="4203510"/>
                </a:cubicBezTo>
                <a:cubicBezTo>
                  <a:pt x="2022446" y="4240557"/>
                  <a:pt x="2016352" y="4273226"/>
                  <a:pt x="1980204" y="4299045"/>
                </a:cubicBezTo>
                <a:cubicBezTo>
                  <a:pt x="1964940" y="4309947"/>
                  <a:pt x="1943809" y="4308143"/>
                  <a:pt x="1925612" y="4312692"/>
                </a:cubicBezTo>
                <a:cubicBezTo>
                  <a:pt x="1889218" y="4330889"/>
                  <a:pt x="1845202" y="4338511"/>
                  <a:pt x="1816430" y="4367283"/>
                </a:cubicBezTo>
                <a:cubicBezTo>
                  <a:pt x="1762224" y="4421490"/>
                  <a:pt x="1794212" y="4403546"/>
                  <a:pt x="1720896" y="4421874"/>
                </a:cubicBezTo>
                <a:cubicBezTo>
                  <a:pt x="1681062" y="4445775"/>
                  <a:pt x="1648468" y="4463860"/>
                  <a:pt x="1611714" y="4490113"/>
                </a:cubicBezTo>
                <a:cubicBezTo>
                  <a:pt x="1593205" y="4503334"/>
                  <a:pt x="1578242" y="4522608"/>
                  <a:pt x="1557123" y="4531056"/>
                </a:cubicBezTo>
                <a:cubicBezTo>
                  <a:pt x="1531430" y="4541333"/>
                  <a:pt x="1502532" y="4540155"/>
                  <a:pt x="1475236" y="4544704"/>
                </a:cubicBezTo>
                <a:cubicBezTo>
                  <a:pt x="1461588" y="4558352"/>
                  <a:pt x="1449120" y="4573292"/>
                  <a:pt x="1434293" y="4585648"/>
                </a:cubicBezTo>
                <a:cubicBezTo>
                  <a:pt x="1388013" y="4624215"/>
                  <a:pt x="1403093" y="4604869"/>
                  <a:pt x="1352407" y="4626591"/>
                </a:cubicBezTo>
                <a:cubicBezTo>
                  <a:pt x="1252494" y="4669410"/>
                  <a:pt x="1343869" y="4642372"/>
                  <a:pt x="1243224" y="4667534"/>
                </a:cubicBezTo>
                <a:cubicBezTo>
                  <a:pt x="1223084" y="4697744"/>
                  <a:pt x="1206509" y="4728406"/>
                  <a:pt x="1174986" y="4749421"/>
                </a:cubicBezTo>
                <a:cubicBezTo>
                  <a:pt x="1163016" y="4757401"/>
                  <a:pt x="1147265" y="4757401"/>
                  <a:pt x="1134042" y="4763068"/>
                </a:cubicBezTo>
                <a:cubicBezTo>
                  <a:pt x="1006832" y="4817586"/>
                  <a:pt x="1150672" y="4768066"/>
                  <a:pt x="1024860" y="4804012"/>
                </a:cubicBezTo>
                <a:cubicBezTo>
                  <a:pt x="995181" y="4812492"/>
                  <a:pt x="959985" y="4828641"/>
                  <a:pt x="929326" y="4831307"/>
                </a:cubicBezTo>
                <a:cubicBezTo>
                  <a:pt x="843096" y="4838805"/>
                  <a:pt x="756454" y="4840406"/>
                  <a:pt x="670018" y="4844955"/>
                </a:cubicBezTo>
                <a:cubicBezTo>
                  <a:pt x="651821" y="4849504"/>
                  <a:pt x="634039" y="4856276"/>
                  <a:pt x="615427" y="4858603"/>
                </a:cubicBezTo>
                <a:cubicBezTo>
                  <a:pt x="561070" y="4865398"/>
                  <a:pt x="505689" y="4863245"/>
                  <a:pt x="451654" y="4872251"/>
                </a:cubicBezTo>
                <a:cubicBezTo>
                  <a:pt x="423274" y="4876981"/>
                  <a:pt x="369768" y="4899546"/>
                  <a:pt x="369768" y="4899546"/>
                </a:cubicBezTo>
                <a:cubicBezTo>
                  <a:pt x="360669" y="4917743"/>
                  <a:pt x="359918" y="4943670"/>
                  <a:pt x="342472" y="4954137"/>
                </a:cubicBezTo>
                <a:cubicBezTo>
                  <a:pt x="310304" y="4973438"/>
                  <a:pt x="268879" y="4969571"/>
                  <a:pt x="233290" y="4981433"/>
                </a:cubicBezTo>
                <a:lnTo>
                  <a:pt x="192347" y="4995080"/>
                </a:lnTo>
                <a:cubicBezTo>
                  <a:pt x="164933" y="5036201"/>
                  <a:pt x="158536" y="5042129"/>
                  <a:pt x="137756" y="5090615"/>
                </a:cubicBezTo>
                <a:cubicBezTo>
                  <a:pt x="132089" y="5103838"/>
                  <a:pt x="133095" y="5120324"/>
                  <a:pt x="124108" y="5131558"/>
                </a:cubicBezTo>
                <a:cubicBezTo>
                  <a:pt x="113861" y="5144366"/>
                  <a:pt x="96813" y="5149755"/>
                  <a:pt x="83165" y="5158854"/>
                </a:cubicBezTo>
                <a:cubicBezTo>
                  <a:pt x="62402" y="5189998"/>
                  <a:pt x="15267" y="5253366"/>
                  <a:pt x="1278" y="5295331"/>
                </a:cubicBezTo>
                <a:cubicBezTo>
                  <a:pt x="-1599" y="5303963"/>
                  <a:pt x="1278" y="5313528"/>
                  <a:pt x="1278" y="5322627"/>
                </a:cubicBezTo>
              </a:path>
            </a:pathLst>
          </a:cu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7416F567-755D-4348-8DDA-13C07AA96047}" type="slidenum">
              <a:rPr lang="zh-CN" altLang="en-US" sz="1400" b="0" smtClean="0"/>
              <a:t>95</a:t>
            </a:fld>
            <a:endParaRPr lang="en-US" altLang="zh-CN" sz="1400" b="0"/>
          </a:p>
        </p:txBody>
      </p:sp>
      <p:sp>
        <p:nvSpPr>
          <p:cNvPr id="707586" name="Rectangle 2"/>
          <p:cNvSpPr>
            <a:spLocks noChangeArrowheads="1"/>
          </p:cNvSpPr>
          <p:nvPr/>
        </p:nvSpPr>
        <p:spPr bwMode="auto">
          <a:xfrm>
            <a:off x="76200" y="2514600"/>
            <a:ext cx="8991600" cy="4152900"/>
          </a:xfrm>
          <a:prstGeom prst="rect">
            <a:avLst/>
          </a:prstGeom>
          <a:solidFill>
            <a:schemeClr val="bg1"/>
          </a:solidFill>
          <a:ln w="38100">
            <a:pattFill prst="ltDnDiag">
              <a:fgClr>
                <a:srgbClr val="003399"/>
              </a:fgClr>
              <a:bgClr>
                <a:srgbClr val="FFFFFF"/>
              </a:bgClr>
            </a:patt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3000" b="0">
              <a:latin typeface="Arial Narrow" panose="020B0606020202030204" pitchFamily="34" charset="0"/>
            </a:endParaRPr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title"/>
          </p:nvPr>
        </p:nvSpPr>
        <p:spPr>
          <a:xfrm>
            <a:off x="1979613" y="260350"/>
            <a:ext cx="6337300" cy="447675"/>
          </a:xfrm>
          <a:noFill/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 </a:t>
            </a:r>
            <a:r>
              <a:rPr lang="zh-CN" altLang="en-US"/>
              <a:t>已知集合 </a:t>
            </a:r>
            <a:r>
              <a:rPr lang="en-US" altLang="zh-CN"/>
              <a:t>X </a:t>
            </a:r>
            <a:r>
              <a:rPr lang="zh-CN" altLang="en-US"/>
              <a:t>和关系 </a:t>
            </a:r>
            <a:r>
              <a:rPr lang="en-US" altLang="zh-CN"/>
              <a:t>R, </a:t>
            </a:r>
            <a:r>
              <a:rPr lang="zh-CN" altLang="en-US"/>
              <a:t>试求 </a:t>
            </a:r>
            <a:r>
              <a:rPr lang="en-US" altLang="zh-CN"/>
              <a:t>t(R)</a:t>
            </a:r>
          </a:p>
        </p:txBody>
      </p:sp>
      <p:sp>
        <p:nvSpPr>
          <p:cNvPr id="707691" name="Text Box 107"/>
          <p:cNvSpPr txBox="1">
            <a:spLocks noChangeArrowheads="1"/>
          </p:cNvSpPr>
          <p:nvPr/>
        </p:nvSpPr>
        <p:spPr bwMode="auto">
          <a:xfrm>
            <a:off x="76200" y="2438400"/>
            <a:ext cx="36242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600" b="0" dirty="0">
                <a:ea typeface="隶书" panose="02010509060101010101" pitchFamily="49" charset="-122"/>
              </a:rPr>
              <a:t>解：用关系图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42" y="1133484"/>
            <a:ext cx="6320167" cy="117228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72" y="3290227"/>
            <a:ext cx="3000375" cy="6572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324" y="3081259"/>
            <a:ext cx="3076575" cy="8286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872" y="4353388"/>
            <a:ext cx="3076575" cy="7429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691" y="4239088"/>
            <a:ext cx="2981325" cy="9715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4186" y="5471248"/>
            <a:ext cx="4543425" cy="9334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07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586" grpId="0" animBg="1"/>
      <p:bldP spid="707691" grpId="0" autoUpdateAnimBg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48E558-A38A-403D-A100-5E00AD3DD116}" type="slidenum">
              <a:rPr lang="en-US" altLang="zh-CN" sz="1400" b="0" smtClean="0">
                <a:latin typeface="Arial" panose="020B0604020202020204" pitchFamily="34" charset="0"/>
              </a:rPr>
              <a:t>96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73731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73732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10080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9</a:t>
            </a:r>
            <a:r>
              <a:rPr lang="en-US" altLang="zh-CN" dirty="0"/>
              <a:t>    </a:t>
            </a:r>
            <a:r>
              <a:rPr lang="zh-CN" altLang="en-US" dirty="0"/>
              <a:t>设</a:t>
            </a:r>
            <a:r>
              <a:rPr lang="en-US" altLang="zh-CN" i="1" dirty="0"/>
              <a:t>A</a:t>
            </a:r>
            <a:r>
              <a:rPr lang="en-US" altLang="zh-CN" dirty="0"/>
              <a:t>={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 err="1"/>
              <a:t>,</a:t>
            </a:r>
            <a:r>
              <a:rPr lang="en-US" altLang="zh-CN" i="1" dirty="0" err="1"/>
              <a:t>d</a:t>
            </a:r>
            <a:r>
              <a:rPr lang="en-US" altLang="zh-CN" dirty="0"/>
              <a:t>}, </a:t>
            </a:r>
            <a:r>
              <a:rPr lang="en-US" altLang="zh-CN" i="1" dirty="0"/>
              <a:t>R</a:t>
            </a:r>
            <a:r>
              <a:rPr lang="en-US" altLang="zh-CN" dirty="0"/>
              <a:t>={&lt;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&gt;,&lt;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/>
              <a:t>&gt;,&lt;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&gt;,&lt;</a:t>
            </a:r>
            <a:r>
              <a:rPr lang="en-US" altLang="zh-CN" i="1" dirty="0" err="1"/>
              <a:t>c</a:t>
            </a:r>
            <a:r>
              <a:rPr lang="en-US" altLang="zh-CN" dirty="0" err="1"/>
              <a:t>,</a:t>
            </a:r>
            <a:r>
              <a:rPr lang="en-US" altLang="zh-CN" i="1" dirty="0" err="1"/>
              <a:t>d</a:t>
            </a:r>
            <a:r>
              <a:rPr lang="en-US" altLang="zh-CN" dirty="0"/>
              <a:t>&gt;,&lt;</a:t>
            </a:r>
            <a:r>
              <a:rPr lang="en-US" altLang="zh-CN" i="1" dirty="0" err="1"/>
              <a:t>d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&gt;}, </a:t>
            </a:r>
            <a:endParaRPr lang="en-US" altLang="zh-CN" i="1" dirty="0"/>
          </a:p>
          <a:p>
            <a:pPr eaLnBrk="1" hangingPunct="1">
              <a:lnSpc>
                <a:spcPct val="90000"/>
              </a:lnSpc>
            </a:pPr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), </a:t>
            </a:r>
            <a:r>
              <a:rPr lang="en-US" altLang="zh-CN" i="1" dirty="0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),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</a:t>
            </a:r>
            <a:r>
              <a:rPr lang="zh-CN" altLang="en-US" dirty="0"/>
              <a:t>的关系图如下图所示：</a:t>
            </a:r>
            <a:endParaRPr lang="en-US" altLang="zh-CN" sz="1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9" y="3810396"/>
            <a:ext cx="7568179" cy="19228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26" y="2312562"/>
            <a:ext cx="7368747" cy="127345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4D44843-2C40-4B40-B2AD-8D70C36A8BB9}"/>
              </a:ext>
            </a:extLst>
          </p:cNvPr>
          <p:cNvSpPr/>
          <p:nvPr/>
        </p:nvSpPr>
        <p:spPr>
          <a:xfrm>
            <a:off x="5846763" y="0"/>
            <a:ext cx="3297237" cy="2408238"/>
          </a:xfrm>
          <a:prstGeom prst="rect">
            <a:avLst/>
          </a:prstGeom>
          <a:solidFill>
            <a:srgbClr val="F2F27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5779" name="灯片编号占位符 3">
            <a:extLst>
              <a:ext uri="{FF2B5EF4-FFF2-40B4-BE49-F238E27FC236}">
                <a16:creationId xmlns:a16="http://schemas.microsoft.com/office/drawing/2014/main" id="{5A23ECAD-F837-4E06-BF5A-B6E43DD17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8A5233D7-A478-43A6-99B1-75FCA97656AB}" type="slidenum">
              <a:rPr lang="zh-CN" altLang="en-US" sz="1400" b="0" smtClean="0"/>
              <a:pPr algn="l">
                <a:spcBef>
                  <a:spcPct val="0"/>
                </a:spcBef>
                <a:buClrTx/>
                <a:buFontTx/>
                <a:buNone/>
              </a:pPr>
              <a:t>97</a:t>
            </a:fld>
            <a:endParaRPr lang="en-US" altLang="zh-CN" sz="1400" b="0"/>
          </a:p>
        </p:txBody>
      </p:sp>
      <p:sp>
        <p:nvSpPr>
          <p:cNvPr id="75780" name="Rectangle 2">
            <a:extLst>
              <a:ext uri="{FF2B5EF4-FFF2-40B4-BE49-F238E27FC236}">
                <a16:creationId xmlns:a16="http://schemas.microsoft.com/office/drawing/2014/main" id="{42245C63-F1C1-4D0D-867B-1C24536CE7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zh-CN"/>
              <a:t>Warshall</a:t>
            </a:r>
            <a:r>
              <a:rPr lang="zh-CN" altLang="en-US"/>
              <a:t>算法</a:t>
            </a:r>
          </a:p>
        </p:txBody>
      </p:sp>
      <p:graphicFrame>
        <p:nvGraphicFramePr>
          <p:cNvPr id="712707" name="Object 3">
            <a:extLst>
              <a:ext uri="{FF2B5EF4-FFF2-40B4-BE49-F238E27FC236}">
                <a16:creationId xmlns:a16="http://schemas.microsoft.com/office/drawing/2014/main" id="{93E167E5-E4C7-4FB1-B683-3CFD0ED4A5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3505200"/>
          <a:ext cx="63039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4197" imgH="126912" progId="Equation.3">
                  <p:embed/>
                </p:oleObj>
              </mc:Choice>
              <mc:Fallback>
                <p:oleObj name="Equation" r:id="rId3" imgW="1524197" imgH="126912" progId="Equation.3">
                  <p:embed/>
                  <p:pic>
                    <p:nvPicPr>
                      <p:cNvPr id="712707" name="Object 3">
                        <a:extLst>
                          <a:ext uri="{FF2B5EF4-FFF2-40B4-BE49-F238E27FC236}">
                            <a16:creationId xmlns:a16="http://schemas.microsoft.com/office/drawing/2014/main" id="{93E167E5-E4C7-4FB1-B683-3CFD0ED4A5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505200"/>
                        <a:ext cx="630396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2708" name="Object 4">
            <a:extLst>
              <a:ext uri="{FF2B5EF4-FFF2-40B4-BE49-F238E27FC236}">
                <a16:creationId xmlns:a16="http://schemas.microsoft.com/office/drawing/2014/main" id="{FCAEAC3A-E812-4DE5-A1C5-8D74CAC928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1738" y="4114800"/>
          <a:ext cx="46450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30423" imgH="139525" progId="Equation.3">
                  <p:embed/>
                </p:oleObj>
              </mc:Choice>
              <mc:Fallback>
                <p:oleObj name="Equation" r:id="rId5" imgW="1130423" imgH="139525" progId="Equation.3">
                  <p:embed/>
                  <p:pic>
                    <p:nvPicPr>
                      <p:cNvPr id="712708" name="Object 4">
                        <a:extLst>
                          <a:ext uri="{FF2B5EF4-FFF2-40B4-BE49-F238E27FC236}">
                            <a16:creationId xmlns:a16="http://schemas.microsoft.com/office/drawing/2014/main" id="{FCAEAC3A-E812-4DE5-A1C5-8D74CAC928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738" y="4114800"/>
                        <a:ext cx="46450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2710" name="Text Box 6">
            <a:extLst>
              <a:ext uri="{FF2B5EF4-FFF2-40B4-BE49-F238E27FC236}">
                <a16:creationId xmlns:a16="http://schemas.microsoft.com/office/drawing/2014/main" id="{C5C37F5F-E88B-42CD-BFB1-F6C54E057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286000"/>
            <a:ext cx="8001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4400" b="0">
                <a:ea typeface="隶书" panose="02010509060101010101" pitchFamily="49" charset="-122"/>
              </a:rPr>
              <a:t>3) </a:t>
            </a:r>
            <a:r>
              <a:rPr kumimoji="1" lang="zh-CN" altLang="en-US" sz="4400" b="0">
                <a:ea typeface="隶书" panose="02010509060101010101" pitchFamily="49" charset="-122"/>
              </a:rPr>
              <a:t>对所有 </a:t>
            </a:r>
            <a:r>
              <a:rPr kumimoji="1" lang="en-US" altLang="zh-CN" sz="4400" b="0" i="1">
                <a:ea typeface="隶书" panose="02010509060101010101" pitchFamily="49" charset="-122"/>
              </a:rPr>
              <a:t>j</a:t>
            </a:r>
            <a:r>
              <a:rPr kumimoji="1" lang="en-US" altLang="zh-CN" sz="4400" b="0">
                <a:ea typeface="隶书" panose="02010509060101010101" pitchFamily="49" charset="-122"/>
              </a:rPr>
              <a:t> ,</a:t>
            </a:r>
            <a:r>
              <a:rPr kumimoji="1" lang="zh-CN" altLang="en-US" sz="4400" b="0">
                <a:ea typeface="隶书" panose="02010509060101010101" pitchFamily="49" charset="-122"/>
              </a:rPr>
              <a:t>若 </a:t>
            </a:r>
            <a:r>
              <a:rPr kumimoji="1" lang="en-US" altLang="zh-CN" sz="4400" b="0" i="1">
                <a:ea typeface="隶书" panose="02010509060101010101" pitchFamily="49" charset="-122"/>
              </a:rPr>
              <a:t>A</a:t>
            </a:r>
            <a:r>
              <a:rPr kumimoji="1" lang="en-US" altLang="zh-CN" sz="4400" b="0">
                <a:ea typeface="隶书" panose="02010509060101010101" pitchFamily="49" charset="-122"/>
              </a:rPr>
              <a:t>[</a:t>
            </a:r>
            <a:r>
              <a:rPr kumimoji="1" lang="en-US" altLang="zh-CN" sz="4400" b="0" i="1">
                <a:ea typeface="隶书" panose="02010509060101010101" pitchFamily="49" charset="-122"/>
              </a:rPr>
              <a:t>j,i</a:t>
            </a:r>
            <a:r>
              <a:rPr kumimoji="1" lang="en-US" altLang="zh-CN" sz="4400" b="0">
                <a:ea typeface="隶书" panose="02010509060101010101" pitchFamily="49" charset="-122"/>
              </a:rPr>
              <a:t>] = 1</a:t>
            </a:r>
            <a:r>
              <a:rPr kumimoji="1" lang="zh-CN" altLang="en-US" sz="4400" b="0">
                <a:ea typeface="隶书" panose="02010509060101010101" pitchFamily="49" charset="-122"/>
              </a:rPr>
              <a:t>，则对</a:t>
            </a:r>
          </a:p>
        </p:txBody>
      </p:sp>
      <p:sp>
        <p:nvSpPr>
          <p:cNvPr id="712711" name="Text Box 7">
            <a:extLst>
              <a:ext uri="{FF2B5EF4-FFF2-40B4-BE49-F238E27FC236}">
                <a16:creationId xmlns:a16="http://schemas.microsoft.com/office/drawing/2014/main" id="{3D5F14C2-D2AD-4C9E-865F-7B5663D46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5562600"/>
            <a:ext cx="81153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400" b="0">
                <a:ea typeface="隶书" panose="02010509060101010101" pitchFamily="49" charset="-122"/>
              </a:rPr>
              <a:t>5)</a:t>
            </a:r>
            <a:r>
              <a:rPr kumimoji="1" lang="zh-CN" altLang="en-US" sz="4400" b="0">
                <a:ea typeface="隶书" panose="02010509060101010101" pitchFamily="49" charset="-122"/>
              </a:rPr>
              <a:t>若 </a:t>
            </a:r>
            <a:r>
              <a:rPr kumimoji="1" lang="en-US" altLang="zh-CN" sz="4400" b="0" i="1">
                <a:ea typeface="隶书" panose="02010509060101010101" pitchFamily="49" charset="-122"/>
              </a:rPr>
              <a:t>i </a:t>
            </a:r>
            <a:r>
              <a:rPr kumimoji="1" lang="en-US" altLang="zh-CN" sz="4400" b="0">
                <a:ea typeface="隶书" panose="02010509060101010101" pitchFamily="49" charset="-122"/>
              </a:rPr>
              <a:t>≤ </a:t>
            </a:r>
            <a:r>
              <a:rPr kumimoji="1" lang="en-US" altLang="zh-CN" sz="4400" b="0" i="1">
                <a:ea typeface="隶书" panose="02010509060101010101" pitchFamily="49" charset="-122"/>
              </a:rPr>
              <a:t>n</a:t>
            </a:r>
            <a:r>
              <a:rPr kumimoji="1" lang="zh-CN" altLang="en-US" sz="4400" b="0">
                <a:ea typeface="隶书" panose="02010509060101010101" pitchFamily="49" charset="-122"/>
              </a:rPr>
              <a:t>，则转</a:t>
            </a:r>
            <a:r>
              <a:rPr kumimoji="1" lang="en-US" altLang="zh-CN" sz="4400" b="0">
                <a:ea typeface="隶书" panose="02010509060101010101" pitchFamily="49" charset="-122"/>
              </a:rPr>
              <a:t>3)</a:t>
            </a:r>
            <a:r>
              <a:rPr kumimoji="1" lang="zh-CN" altLang="en-US" sz="4400" b="0">
                <a:ea typeface="隶书" panose="02010509060101010101" pitchFamily="49" charset="-122"/>
              </a:rPr>
              <a:t>，否则停止。</a:t>
            </a:r>
          </a:p>
        </p:txBody>
      </p:sp>
      <p:sp>
        <p:nvSpPr>
          <p:cNvPr id="712712" name="Text Box 8">
            <a:extLst>
              <a:ext uri="{FF2B5EF4-FFF2-40B4-BE49-F238E27FC236}">
                <a16:creationId xmlns:a16="http://schemas.microsoft.com/office/drawing/2014/main" id="{885A790A-B50F-417E-B190-FBC070E0B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990600"/>
            <a:ext cx="55514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4400" b="0">
                <a:ea typeface="隶书" panose="02010509060101010101" pitchFamily="49" charset="-122"/>
              </a:rPr>
              <a:t>1) </a:t>
            </a:r>
            <a:r>
              <a:rPr kumimoji="1" lang="zh-CN" altLang="en-US" sz="4400" b="0">
                <a:ea typeface="隶书" panose="02010509060101010101" pitchFamily="49" charset="-122"/>
              </a:rPr>
              <a:t>置新矩阵 </a:t>
            </a:r>
            <a:r>
              <a:rPr kumimoji="1" lang="en-US" altLang="zh-CN" sz="4400" b="0" i="1">
                <a:ea typeface="隶书" panose="02010509060101010101" pitchFamily="49" charset="-122"/>
              </a:rPr>
              <a:t>A </a:t>
            </a:r>
            <a:r>
              <a:rPr kumimoji="1" lang="en-US" altLang="zh-CN" sz="4400" b="0">
                <a:ea typeface="隶书" panose="02010509060101010101" pitchFamily="49" charset="-122"/>
              </a:rPr>
              <a:t>:= </a:t>
            </a:r>
            <a:r>
              <a:rPr kumimoji="1" lang="en-US" altLang="zh-CN" sz="4400" b="0" i="1">
                <a:ea typeface="隶书" panose="02010509060101010101" pitchFamily="49" charset="-122"/>
              </a:rPr>
              <a:t>M</a:t>
            </a:r>
            <a:r>
              <a:rPr kumimoji="1" lang="zh-CN" altLang="en-US" sz="4400" b="0">
                <a:ea typeface="隶书" panose="02010509060101010101" pitchFamily="49" charset="-122"/>
              </a:rPr>
              <a:t>；</a:t>
            </a:r>
          </a:p>
        </p:txBody>
      </p:sp>
      <p:sp>
        <p:nvSpPr>
          <p:cNvPr id="712713" name="Text Box 9">
            <a:extLst>
              <a:ext uri="{FF2B5EF4-FFF2-40B4-BE49-F238E27FC236}">
                <a16:creationId xmlns:a16="http://schemas.microsoft.com/office/drawing/2014/main" id="{2F0F955F-3B29-42C7-A00A-ADA79DEBD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76400"/>
            <a:ext cx="25336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400" b="0">
                <a:ea typeface="隶书" panose="02010509060101010101" pitchFamily="49" charset="-122"/>
              </a:rPr>
              <a:t>2) </a:t>
            </a:r>
            <a:r>
              <a:rPr kumimoji="1" lang="en-US" altLang="zh-CN" sz="4400" b="0" i="1">
                <a:ea typeface="隶书" panose="02010509060101010101" pitchFamily="49" charset="-122"/>
              </a:rPr>
              <a:t>i </a:t>
            </a:r>
            <a:r>
              <a:rPr kumimoji="1" lang="en-US" altLang="zh-CN" sz="4400" b="0">
                <a:ea typeface="隶书" panose="02010509060101010101" pitchFamily="49" charset="-122"/>
              </a:rPr>
              <a:t>:= 1</a:t>
            </a:r>
            <a:r>
              <a:rPr kumimoji="1" lang="zh-CN" altLang="en-US" sz="4400" b="0">
                <a:ea typeface="隶书" panose="02010509060101010101" pitchFamily="49" charset="-122"/>
              </a:rPr>
              <a:t>；</a:t>
            </a:r>
          </a:p>
        </p:txBody>
      </p:sp>
      <p:sp>
        <p:nvSpPr>
          <p:cNvPr id="712714" name="Text Box 10">
            <a:extLst>
              <a:ext uri="{FF2B5EF4-FFF2-40B4-BE49-F238E27FC236}">
                <a16:creationId xmlns:a16="http://schemas.microsoft.com/office/drawing/2014/main" id="{7F4F5D77-24A0-4267-A57D-B48081D1C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824413"/>
            <a:ext cx="246221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400" b="0">
                <a:ea typeface="隶书" panose="02010509060101010101" pitchFamily="49" charset="-122"/>
              </a:rPr>
              <a:t>4) </a:t>
            </a:r>
            <a:r>
              <a:rPr kumimoji="1" lang="en-US" altLang="zh-CN" sz="4400" b="0" i="1">
                <a:ea typeface="隶书" panose="02010509060101010101" pitchFamily="49" charset="-122"/>
              </a:rPr>
              <a:t>i</a:t>
            </a:r>
            <a:r>
              <a:rPr kumimoji="1" lang="en-US" altLang="zh-CN" sz="4400" b="0">
                <a:ea typeface="隶书" panose="02010509060101010101" pitchFamily="49" charset="-122"/>
              </a:rPr>
              <a:t>:= </a:t>
            </a:r>
            <a:r>
              <a:rPr kumimoji="1" lang="en-US" altLang="zh-CN" sz="4400" b="0" i="1">
                <a:ea typeface="隶书" panose="02010509060101010101" pitchFamily="49" charset="-122"/>
              </a:rPr>
              <a:t>i</a:t>
            </a:r>
            <a:r>
              <a:rPr kumimoji="1" lang="en-US" altLang="zh-CN" sz="4400" b="0">
                <a:ea typeface="隶书" panose="02010509060101010101" pitchFamily="49" charset="-122"/>
              </a:rPr>
              <a:t>+1;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B6656C14-70B5-496A-B0EB-8FEB2377E3B6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304800"/>
            <a:ext cx="457200" cy="579438"/>
            <a:chOff x="4032" y="192"/>
            <a:chExt cx="288" cy="365"/>
          </a:xfrm>
        </p:grpSpPr>
        <p:sp>
          <p:nvSpPr>
            <p:cNvPr id="75803" name="Oval 12">
              <a:extLst>
                <a:ext uri="{FF2B5EF4-FFF2-40B4-BE49-F238E27FC236}">
                  <a16:creationId xmlns:a16="http://schemas.microsoft.com/office/drawing/2014/main" id="{A83A6785-87BD-4635-BC12-29EA95A8A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75804" name="Text Box 13">
              <a:extLst>
                <a:ext uri="{FF2B5EF4-FFF2-40B4-BE49-F238E27FC236}">
                  <a16:creationId xmlns:a16="http://schemas.microsoft.com/office/drawing/2014/main" id="{80D1AEAA-3405-4B46-8FD7-501D3BFF4A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92"/>
              <a:ext cx="2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3200" b="0" i="1"/>
                <a:t>i</a:t>
              </a:r>
            </a:p>
          </p:txBody>
        </p:sp>
      </p:grpSp>
      <p:grpSp>
        <p:nvGrpSpPr>
          <p:cNvPr id="3" name="Group 14">
            <a:extLst>
              <a:ext uri="{FF2B5EF4-FFF2-40B4-BE49-F238E27FC236}">
                <a16:creationId xmlns:a16="http://schemas.microsoft.com/office/drawing/2014/main" id="{DDD78EF2-6A01-462B-9C74-CF23F75BBB4E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533400"/>
            <a:ext cx="1981200" cy="579438"/>
            <a:chOff x="4320" y="336"/>
            <a:chExt cx="1248" cy="365"/>
          </a:xfrm>
        </p:grpSpPr>
        <p:sp>
          <p:nvSpPr>
            <p:cNvPr id="75799" name="Line 15">
              <a:extLst>
                <a:ext uri="{FF2B5EF4-FFF2-40B4-BE49-F238E27FC236}">
                  <a16:creationId xmlns:a16="http://schemas.microsoft.com/office/drawing/2014/main" id="{82503C57-3062-45B2-8607-B25CAAA4D2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0" y="384"/>
              <a:ext cx="912" cy="1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75800" name="Group 16">
              <a:extLst>
                <a:ext uri="{FF2B5EF4-FFF2-40B4-BE49-F238E27FC236}">
                  <a16:creationId xmlns:a16="http://schemas.microsoft.com/office/drawing/2014/main" id="{7ABD5EB0-CF0A-4F54-8DFD-3D0A31CA34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2" y="336"/>
              <a:ext cx="336" cy="365"/>
              <a:chOff x="5232" y="336"/>
              <a:chExt cx="336" cy="365"/>
            </a:xfrm>
          </p:grpSpPr>
          <p:sp>
            <p:nvSpPr>
              <p:cNvPr id="75801" name="Oval 17">
                <a:extLst>
                  <a:ext uri="{FF2B5EF4-FFF2-40B4-BE49-F238E27FC236}">
                    <a16:creationId xmlns:a16="http://schemas.microsoft.com/office/drawing/2014/main" id="{7EB3C824-3A5A-4A81-A753-671CD5640B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2" y="48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69B3F1"/>
                  </a:buClr>
                  <a:buFont typeface="Wingdings" panose="05000000000000000000" pitchFamily="2" charset="2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30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75802" name="Text Box 18">
                <a:extLst>
                  <a:ext uri="{FF2B5EF4-FFF2-40B4-BE49-F238E27FC236}">
                    <a16:creationId xmlns:a16="http://schemas.microsoft.com/office/drawing/2014/main" id="{923228FA-B3B5-42C5-967F-90B96818F1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8" y="336"/>
                <a:ext cx="240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9B3F1"/>
                  </a:buClr>
                  <a:buFont typeface="Wingdings" panose="05000000000000000000" pitchFamily="2" charset="2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3200" b="0" i="1"/>
                  <a:t>j</a:t>
                </a:r>
              </a:p>
            </p:txBody>
          </p:sp>
        </p:grp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115473E2-CBF5-45F6-9EC4-A7C0A08D594A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609600"/>
            <a:ext cx="914400" cy="1798638"/>
            <a:chOff x="4320" y="384"/>
            <a:chExt cx="576" cy="1133"/>
          </a:xfrm>
        </p:grpSpPr>
        <p:grpSp>
          <p:nvGrpSpPr>
            <p:cNvPr id="75795" name="Group 20">
              <a:extLst>
                <a:ext uri="{FF2B5EF4-FFF2-40B4-BE49-F238E27FC236}">
                  <a16:creationId xmlns:a16="http://schemas.microsoft.com/office/drawing/2014/main" id="{B5F67F7D-6B16-4345-9715-548BCA5C87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1152"/>
              <a:ext cx="336" cy="365"/>
              <a:chOff x="4560" y="1152"/>
              <a:chExt cx="336" cy="365"/>
            </a:xfrm>
          </p:grpSpPr>
          <p:sp>
            <p:nvSpPr>
              <p:cNvPr id="75797" name="Oval 21">
                <a:extLst>
                  <a:ext uri="{FF2B5EF4-FFF2-40B4-BE49-F238E27FC236}">
                    <a16:creationId xmlns:a16="http://schemas.microsoft.com/office/drawing/2014/main" id="{2F3CD188-3FD2-4E5E-9825-ABFC0A5EC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124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69B3F1"/>
                  </a:buClr>
                  <a:buFont typeface="Wingdings" panose="05000000000000000000" pitchFamily="2" charset="2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30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75798" name="Text Box 22">
                <a:extLst>
                  <a:ext uri="{FF2B5EF4-FFF2-40B4-BE49-F238E27FC236}">
                    <a16:creationId xmlns:a16="http://schemas.microsoft.com/office/drawing/2014/main" id="{299D4453-9B47-40C1-B1A4-D4E4639B51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1152"/>
                <a:ext cx="240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9B3F1"/>
                  </a:buClr>
                  <a:buFont typeface="Wingdings" panose="05000000000000000000" pitchFamily="2" charset="2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1" lang="en-US" altLang="zh-CN" sz="3200" b="0" i="1"/>
                  <a:t>k</a:t>
                </a:r>
              </a:p>
            </p:txBody>
          </p:sp>
        </p:grpSp>
        <p:sp>
          <p:nvSpPr>
            <p:cNvPr id="75796" name="Line 23">
              <a:extLst>
                <a:ext uri="{FF2B5EF4-FFF2-40B4-BE49-F238E27FC236}">
                  <a16:creationId xmlns:a16="http://schemas.microsoft.com/office/drawing/2014/main" id="{1FB5D704-2624-4F22-8299-C6065DB537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384"/>
              <a:ext cx="288" cy="86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12728" name="Line 24">
            <a:extLst>
              <a:ext uri="{FF2B5EF4-FFF2-40B4-BE49-F238E27FC236}">
                <a16:creationId xmlns:a16="http://schemas.microsoft.com/office/drawing/2014/main" id="{DF57F2C3-BD37-4DCE-A12F-B47159FCE4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91400" y="914400"/>
            <a:ext cx="990600" cy="1066800"/>
          </a:xfrm>
          <a:prstGeom prst="line">
            <a:avLst/>
          </a:prstGeom>
          <a:ln w="28575">
            <a:solidFill>
              <a:srgbClr val="FF0000"/>
            </a:solidFill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none"/>
          <a:lstStyle/>
          <a:p>
            <a:endParaRPr lang="zh-CN" altLang="en-US">
              <a:ln w="3810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4EF2B99-C70E-4184-9E5E-D93C03D2E547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906713"/>
            <a:ext cx="3032125" cy="674687"/>
            <a:chOff x="1219200" y="2907283"/>
            <a:chExt cx="3032125" cy="674117"/>
          </a:xfrm>
        </p:grpSpPr>
        <p:graphicFrame>
          <p:nvGraphicFramePr>
            <p:cNvPr id="75793" name="Object 5">
              <a:extLst>
                <a:ext uri="{FF2B5EF4-FFF2-40B4-BE49-F238E27FC236}">
                  <a16:creationId xmlns:a16="http://schemas.microsoft.com/office/drawing/2014/main" id="{541F0F5E-D4D4-4A47-819F-8C43E1CAF8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19200" y="2916238"/>
            <a:ext cx="3032125" cy="665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711397" imgH="126912" progId="Equation.3">
                    <p:embed/>
                  </p:oleObj>
                </mc:Choice>
                <mc:Fallback>
                  <p:oleObj name="Equation" r:id="rId7" imgW="711397" imgH="126912" progId="Equation.3">
                    <p:embed/>
                    <p:pic>
                      <p:nvPicPr>
                        <p:cNvPr id="75793" name="Object 5">
                          <a:extLst>
                            <a:ext uri="{FF2B5EF4-FFF2-40B4-BE49-F238E27FC236}">
                              <a16:creationId xmlns:a16="http://schemas.microsoft.com/office/drawing/2014/main" id="{541F0F5E-D4D4-4A47-819F-8C43E1CAF83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200" y="2916238"/>
                          <a:ext cx="3032125" cy="665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794" name="Rectangle 13">
              <a:extLst>
                <a:ext uri="{FF2B5EF4-FFF2-40B4-BE49-F238E27FC236}">
                  <a16:creationId xmlns:a16="http://schemas.microsoft.com/office/drawing/2014/main" id="{5772BD2B-A0EB-45D8-ACC2-67C94D1CE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4513" y="2907283"/>
              <a:ext cx="479375" cy="6001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3900">
                  <a:solidFill>
                    <a:srgbClr val="000000"/>
                  </a:solidFill>
                  <a:latin typeface="Symbol" panose="05050102010706020507" pitchFamily="18" charset="2"/>
                  <a:ea typeface="楷体_GB2312" pitchFamily="49" charset="-122"/>
                </a:rPr>
                <a:t>...</a:t>
              </a:r>
              <a:endParaRPr kumimoji="1" lang="en-US" altLang="zh-CN" sz="4000">
                <a:solidFill>
                  <a:srgbClr val="080808"/>
                </a:solidFill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1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1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1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1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1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12710" grpId="0" autoUpdateAnimBg="0"/>
      <p:bldP spid="712711" grpId="0" autoUpdateAnimBg="0"/>
      <p:bldP spid="712712" grpId="0" autoUpdateAnimBg="0"/>
      <p:bldP spid="712713" grpId="0" autoUpdateAnimBg="0"/>
      <p:bldP spid="712714" grpId="0" autoUpdateAnimBg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3">
            <a:extLst>
              <a:ext uri="{FF2B5EF4-FFF2-40B4-BE49-F238E27FC236}">
                <a16:creationId xmlns:a16="http://schemas.microsoft.com/office/drawing/2014/main" id="{38C2CD55-CED9-4EE3-B42C-66F4D5F9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9D4235C3-2334-430E-8DC9-FB599C1E23A5}" type="slidenum">
              <a:rPr lang="zh-CN" altLang="en-US" sz="1400" b="0" smtClean="0"/>
              <a:pPr algn="l">
                <a:spcBef>
                  <a:spcPct val="0"/>
                </a:spcBef>
                <a:buClrTx/>
                <a:buFontTx/>
                <a:buNone/>
              </a:pPr>
              <a:t>98</a:t>
            </a:fld>
            <a:endParaRPr lang="en-US" altLang="zh-CN" sz="1400" b="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4EFBEE6A-79F8-4E3C-8966-2A343A496F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 </a:t>
            </a:r>
            <a:r>
              <a:rPr lang="zh-CN" altLang="en-US"/>
              <a:t>用</a:t>
            </a:r>
            <a:r>
              <a:rPr lang="en-US" altLang="zh-CN"/>
              <a:t>Warshall</a:t>
            </a:r>
            <a:r>
              <a:rPr lang="zh-CN" altLang="en-US"/>
              <a:t>算法求传递闭包</a:t>
            </a:r>
          </a:p>
        </p:txBody>
      </p:sp>
      <p:graphicFrame>
        <p:nvGraphicFramePr>
          <p:cNvPr id="713732" name="Object 4">
            <a:extLst>
              <a:ext uri="{FF2B5EF4-FFF2-40B4-BE49-F238E27FC236}">
                <a16:creationId xmlns:a16="http://schemas.microsoft.com/office/drawing/2014/main" id="{AAB3B8D6-9863-468E-A4AD-D0573626E8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275" y="2562225"/>
          <a:ext cx="4198938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60673" imgH="838331" progId="Equation.DSMT4">
                  <p:embed/>
                </p:oleObj>
              </mc:Choice>
              <mc:Fallback>
                <p:oleObj name="Equation" r:id="rId3" imgW="1460673" imgH="838331" progId="Equation.DSMT4">
                  <p:embed/>
                  <p:pic>
                    <p:nvPicPr>
                      <p:cNvPr id="713732" name="Object 4">
                        <a:extLst>
                          <a:ext uri="{FF2B5EF4-FFF2-40B4-BE49-F238E27FC236}">
                            <a16:creationId xmlns:a16="http://schemas.microsoft.com/office/drawing/2014/main" id="{AAB3B8D6-9863-468E-A4AD-D0573626E8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" y="2562225"/>
                        <a:ext cx="4198938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3733" name="Text Box 5">
            <a:extLst>
              <a:ext uri="{FF2B5EF4-FFF2-40B4-BE49-F238E27FC236}">
                <a16:creationId xmlns:a16="http://schemas.microsoft.com/office/drawing/2014/main" id="{39A108D3-793E-4737-A74C-8DE7DCFEE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6350" y="2790825"/>
            <a:ext cx="281622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i=1</a:t>
            </a:r>
            <a:r>
              <a:rPr kumimoji="1" lang="zh-CN" altLang="en-US" sz="4000" b="0">
                <a:ea typeface="黑体" panose="02010609060101010101" pitchFamily="49" charset="-122"/>
              </a:rPr>
              <a:t>时，</a:t>
            </a:r>
            <a:r>
              <a:rPr kumimoji="1" lang="en-US" altLang="zh-CN" sz="4000" b="0">
                <a:ea typeface="黑体" panose="02010609060101010101" pitchFamily="49" charset="-122"/>
              </a:rPr>
              <a:t>j=4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41</a:t>
            </a:r>
            <a:r>
              <a:rPr kumimoji="1" lang="en-US" altLang="zh-CN" sz="4000" b="0">
                <a:ea typeface="黑体" panose="02010609060101010101" pitchFamily="49" charset="-122"/>
              </a:rPr>
              <a:t>=1</a:t>
            </a:r>
          </a:p>
        </p:txBody>
      </p:sp>
      <p:sp>
        <p:nvSpPr>
          <p:cNvPr id="713734" name="Oval 6">
            <a:extLst>
              <a:ext uri="{FF2B5EF4-FFF2-40B4-BE49-F238E27FC236}">
                <a16:creationId xmlns:a16="http://schemas.microsoft.com/office/drawing/2014/main" id="{2305F92B-427D-425D-BC54-EDC7D2EFF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3313" y="2457450"/>
            <a:ext cx="533400" cy="2667000"/>
          </a:xfrm>
          <a:prstGeom prst="ellipse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3000" b="0">
              <a:latin typeface="Arial Narrow" panose="020B0606020202030204" pitchFamily="34" charset="0"/>
            </a:endParaRPr>
          </a:p>
        </p:txBody>
      </p:sp>
      <p:grpSp>
        <p:nvGrpSpPr>
          <p:cNvPr id="2" name="Group 25">
            <a:extLst>
              <a:ext uri="{FF2B5EF4-FFF2-40B4-BE49-F238E27FC236}">
                <a16:creationId xmlns:a16="http://schemas.microsoft.com/office/drawing/2014/main" id="{C0E360C5-3835-406C-982C-0735FE4F64D5}"/>
              </a:ext>
            </a:extLst>
          </p:cNvPr>
          <p:cNvGrpSpPr>
            <a:grpSpLocks/>
          </p:cNvGrpSpPr>
          <p:nvPr/>
        </p:nvGrpSpPr>
        <p:grpSpPr bwMode="auto">
          <a:xfrm>
            <a:off x="5119688" y="4095750"/>
            <a:ext cx="3384550" cy="2317750"/>
            <a:chOff x="3225" y="2580"/>
            <a:chExt cx="2132" cy="1460"/>
          </a:xfrm>
        </p:grpSpPr>
        <p:sp>
          <p:nvSpPr>
            <p:cNvPr id="76811" name="Oval 9">
              <a:extLst>
                <a:ext uri="{FF2B5EF4-FFF2-40B4-BE49-F238E27FC236}">
                  <a16:creationId xmlns:a16="http://schemas.microsoft.com/office/drawing/2014/main" id="{CE77AF6C-74E2-4B48-876E-1E4F6891B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854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76812" name="Oval 10">
              <a:extLst>
                <a:ext uri="{FF2B5EF4-FFF2-40B4-BE49-F238E27FC236}">
                  <a16:creationId xmlns:a16="http://schemas.microsoft.com/office/drawing/2014/main" id="{9FF60230-9BA1-44C3-A206-3DF849606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3858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76813" name="Oval 11">
              <a:extLst>
                <a:ext uri="{FF2B5EF4-FFF2-40B4-BE49-F238E27FC236}">
                  <a16:creationId xmlns:a16="http://schemas.microsoft.com/office/drawing/2014/main" id="{478D21A0-7255-439C-97B9-0FE953294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2696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76814" name="Oval 12">
              <a:extLst>
                <a:ext uri="{FF2B5EF4-FFF2-40B4-BE49-F238E27FC236}">
                  <a16:creationId xmlns:a16="http://schemas.microsoft.com/office/drawing/2014/main" id="{203AD71B-EA28-4113-97BC-9858D5740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2696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76815" name="Line 13">
              <a:extLst>
                <a:ext uri="{FF2B5EF4-FFF2-40B4-BE49-F238E27FC236}">
                  <a16:creationId xmlns:a16="http://schemas.microsoft.com/office/drawing/2014/main" id="{F8E006C5-B795-4354-BA96-BA47227C1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9" y="2741"/>
              <a:ext cx="139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6" name="Line 14">
              <a:extLst>
                <a:ext uri="{FF2B5EF4-FFF2-40B4-BE49-F238E27FC236}">
                  <a16:creationId xmlns:a16="http://schemas.microsoft.com/office/drawing/2014/main" id="{CD7B4F4B-BFBC-4542-9664-F91352D088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9" y="2741"/>
              <a:ext cx="0" cy="111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7" name="Line 15">
              <a:extLst>
                <a:ext uri="{FF2B5EF4-FFF2-40B4-BE49-F238E27FC236}">
                  <a16:creationId xmlns:a16="http://schemas.microsoft.com/office/drawing/2014/main" id="{B93ECAE3-42D7-49B5-9BED-DE53FFB3C5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3899"/>
              <a:ext cx="140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8" name="Line 16">
              <a:extLst>
                <a:ext uri="{FF2B5EF4-FFF2-40B4-BE49-F238E27FC236}">
                  <a16:creationId xmlns:a16="http://schemas.microsoft.com/office/drawing/2014/main" id="{4AC64FBF-5D70-434A-8533-9A24F9AE8D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9" y="2791"/>
              <a:ext cx="0" cy="110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6819" name="Object 17">
              <a:extLst>
                <a:ext uri="{FF2B5EF4-FFF2-40B4-BE49-F238E27FC236}">
                  <a16:creationId xmlns:a16="http://schemas.microsoft.com/office/drawing/2014/main" id="{124D3FB3-1F19-484D-B812-87BA8B8F28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25" y="2635"/>
            <a:ext cx="25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0899" imgH="63456" progId="Equation.3">
                    <p:embed/>
                  </p:oleObj>
                </mc:Choice>
                <mc:Fallback>
                  <p:oleObj name="Equation" r:id="rId5" imgW="50899" imgH="63456" progId="Equation.3">
                    <p:embed/>
                    <p:pic>
                      <p:nvPicPr>
                        <p:cNvPr id="76819" name="Object 17">
                          <a:extLst>
                            <a:ext uri="{FF2B5EF4-FFF2-40B4-BE49-F238E27FC236}">
                              <a16:creationId xmlns:a16="http://schemas.microsoft.com/office/drawing/2014/main" id="{124D3FB3-1F19-484D-B812-87BA8B8F28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5" y="2635"/>
                          <a:ext cx="25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20" name="Object 18">
              <a:extLst>
                <a:ext uri="{FF2B5EF4-FFF2-40B4-BE49-F238E27FC236}">
                  <a16:creationId xmlns:a16="http://schemas.microsoft.com/office/drawing/2014/main" id="{227DD3A6-340E-4ADD-8A98-B68420B875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17" y="3769"/>
            <a:ext cx="23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8273" imgH="63456" progId="Equation.3">
                    <p:embed/>
                  </p:oleObj>
                </mc:Choice>
                <mc:Fallback>
                  <p:oleObj name="Equation" r:id="rId7" imgW="38273" imgH="63456" progId="Equation.3">
                    <p:embed/>
                    <p:pic>
                      <p:nvPicPr>
                        <p:cNvPr id="76820" name="Object 18">
                          <a:extLst>
                            <a:ext uri="{FF2B5EF4-FFF2-40B4-BE49-F238E27FC236}">
                              <a16:creationId xmlns:a16="http://schemas.microsoft.com/office/drawing/2014/main" id="{227DD3A6-340E-4ADD-8A98-B68420B875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7" y="3769"/>
                          <a:ext cx="232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21" name="Object 19">
              <a:extLst>
                <a:ext uri="{FF2B5EF4-FFF2-40B4-BE49-F238E27FC236}">
                  <a16:creationId xmlns:a16="http://schemas.microsoft.com/office/drawing/2014/main" id="{60695373-17BB-466E-A7CE-D8FA692DE7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37" y="3704"/>
            <a:ext cx="28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63525" imgH="101688" progId="Equation.3">
                    <p:embed/>
                  </p:oleObj>
                </mc:Choice>
                <mc:Fallback>
                  <p:oleObj name="Equation" r:id="rId9" imgW="63525" imgH="101688" progId="Equation.3">
                    <p:embed/>
                    <p:pic>
                      <p:nvPicPr>
                        <p:cNvPr id="76821" name="Object 19">
                          <a:extLst>
                            <a:ext uri="{FF2B5EF4-FFF2-40B4-BE49-F238E27FC236}">
                              <a16:creationId xmlns:a16="http://schemas.microsoft.com/office/drawing/2014/main" id="{60695373-17BB-466E-A7CE-D8FA692DE7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7" y="3704"/>
                          <a:ext cx="28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22" name="Object 20">
              <a:extLst>
                <a:ext uri="{FF2B5EF4-FFF2-40B4-BE49-F238E27FC236}">
                  <a16:creationId xmlns:a16="http://schemas.microsoft.com/office/drawing/2014/main" id="{A2ECAB1F-55E2-4F3D-9FF1-E284CD1E8F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99" y="2580"/>
            <a:ext cx="258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50899" imgH="101688" progId="Equation.3">
                    <p:embed/>
                  </p:oleObj>
                </mc:Choice>
                <mc:Fallback>
                  <p:oleObj name="Equation" r:id="rId11" imgW="50899" imgH="101688" progId="Equation.3">
                    <p:embed/>
                    <p:pic>
                      <p:nvPicPr>
                        <p:cNvPr id="76822" name="Object 20">
                          <a:extLst>
                            <a:ext uri="{FF2B5EF4-FFF2-40B4-BE49-F238E27FC236}">
                              <a16:creationId xmlns:a16="http://schemas.microsoft.com/office/drawing/2014/main" id="{A2ECAB1F-55E2-4F3D-9FF1-E284CD1E8F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9" y="2580"/>
                          <a:ext cx="258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3750" name="Line 22">
            <a:extLst>
              <a:ext uri="{FF2B5EF4-FFF2-40B4-BE49-F238E27FC236}">
                <a16:creationId xmlns:a16="http://schemas.microsoft.com/office/drawing/2014/main" id="{26D3F1D4-1473-45A6-92B6-AE260B3198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62613" y="4419600"/>
            <a:ext cx="0" cy="17811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018A73-04AF-46DB-A00B-5EC60A1251F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1272382"/>
            <a:ext cx="5734050" cy="8763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3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3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3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3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37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37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3733" grpId="0" autoUpdateAnimBg="0"/>
      <p:bldP spid="713734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3">
            <a:extLst>
              <a:ext uri="{FF2B5EF4-FFF2-40B4-BE49-F238E27FC236}">
                <a16:creationId xmlns:a16="http://schemas.microsoft.com/office/drawing/2014/main" id="{E74F5249-0EA6-4E3F-9F14-A6682D69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5DB74BAD-5EB6-48D5-BAA3-DD37C376187C}" type="slidenum">
              <a:rPr lang="zh-CN" altLang="en-US" sz="1400" b="0" smtClean="0"/>
              <a:pPr algn="l">
                <a:spcBef>
                  <a:spcPct val="0"/>
                </a:spcBef>
                <a:buClrTx/>
                <a:buFontTx/>
                <a:buNone/>
              </a:pPr>
              <a:t>99</a:t>
            </a:fld>
            <a:endParaRPr lang="en-US" altLang="zh-CN" sz="1400" b="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0E21D9CB-C8DA-45E8-88CC-F0DB2E1439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 </a:t>
            </a:r>
            <a:r>
              <a:rPr lang="zh-CN" altLang="en-US"/>
              <a:t>用</a:t>
            </a:r>
            <a:r>
              <a:rPr lang="en-US" altLang="zh-CN"/>
              <a:t>Warshall</a:t>
            </a:r>
            <a:r>
              <a:rPr lang="zh-CN" altLang="en-US"/>
              <a:t>算法求传递闭包</a:t>
            </a:r>
          </a:p>
        </p:txBody>
      </p:sp>
      <p:graphicFrame>
        <p:nvGraphicFramePr>
          <p:cNvPr id="714755" name="Object 3">
            <a:extLst>
              <a:ext uri="{FF2B5EF4-FFF2-40B4-BE49-F238E27FC236}">
                <a16:creationId xmlns:a16="http://schemas.microsoft.com/office/drawing/2014/main" id="{356344E1-83D5-48A8-98EB-77D2532BAE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4500" y="3800475"/>
          <a:ext cx="3192463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2151" imgH="838331" progId="Equation.DSMT4">
                  <p:embed/>
                </p:oleObj>
              </mc:Choice>
              <mc:Fallback>
                <p:oleObj name="Equation" r:id="rId2" imgW="1092151" imgH="838331" progId="Equation.DSMT4">
                  <p:embed/>
                  <p:pic>
                    <p:nvPicPr>
                      <p:cNvPr id="714755" name="Object 3">
                        <a:extLst>
                          <a:ext uri="{FF2B5EF4-FFF2-40B4-BE49-F238E27FC236}">
                            <a16:creationId xmlns:a16="http://schemas.microsoft.com/office/drawing/2014/main" id="{356344E1-83D5-48A8-98EB-77D2532BAE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0" y="3800475"/>
                        <a:ext cx="3192463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DEB9E40C-A589-456B-9CFA-9D0A53DFE0EC}"/>
              </a:ext>
            </a:extLst>
          </p:cNvPr>
          <p:cNvGrpSpPr>
            <a:grpSpLocks/>
          </p:cNvGrpSpPr>
          <p:nvPr/>
        </p:nvGrpSpPr>
        <p:grpSpPr bwMode="auto">
          <a:xfrm>
            <a:off x="2476500" y="2489200"/>
            <a:ext cx="2362200" cy="1828800"/>
            <a:chOff x="1440" y="1296"/>
            <a:chExt cx="1488" cy="1152"/>
          </a:xfrm>
        </p:grpSpPr>
        <p:sp>
          <p:nvSpPr>
            <p:cNvPr id="77851" name="Line 5">
              <a:extLst>
                <a:ext uri="{FF2B5EF4-FFF2-40B4-BE49-F238E27FC236}">
                  <a16:creationId xmlns:a16="http://schemas.microsoft.com/office/drawing/2014/main" id="{6DEC72EF-6E9D-4E29-B565-97542E78DA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440"/>
              <a:ext cx="1152" cy="0"/>
            </a:xfrm>
            <a:prstGeom prst="line">
              <a:avLst/>
            </a:prstGeom>
            <a:noFill/>
            <a:ln w="28575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2" name="Line 6">
              <a:extLst>
                <a:ext uri="{FF2B5EF4-FFF2-40B4-BE49-F238E27FC236}">
                  <a16:creationId xmlns:a16="http://schemas.microsoft.com/office/drawing/2014/main" id="{673700DE-CBFA-4207-9CED-BC11FDF6F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296"/>
              <a:ext cx="192" cy="0"/>
            </a:xfrm>
            <a:prstGeom prst="line">
              <a:avLst/>
            </a:prstGeom>
            <a:noFill/>
            <a:ln w="28575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3" name="Line 7">
              <a:extLst>
                <a:ext uri="{FF2B5EF4-FFF2-40B4-BE49-F238E27FC236}">
                  <a16:creationId xmlns:a16="http://schemas.microsoft.com/office/drawing/2014/main" id="{1A43317E-6F78-4095-B5D0-5B00B380B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296"/>
              <a:ext cx="0" cy="1152"/>
            </a:xfrm>
            <a:prstGeom prst="line">
              <a:avLst/>
            </a:prstGeom>
            <a:noFill/>
            <a:ln w="28575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4" name="Line 8">
              <a:extLst>
                <a:ext uri="{FF2B5EF4-FFF2-40B4-BE49-F238E27FC236}">
                  <a16:creationId xmlns:a16="http://schemas.microsoft.com/office/drawing/2014/main" id="{D2C57D9A-BAE5-4CF6-96CB-2E6A781288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" y="2448"/>
              <a:ext cx="192" cy="0"/>
            </a:xfrm>
            <a:prstGeom prst="line">
              <a:avLst/>
            </a:prstGeom>
            <a:noFill/>
            <a:ln w="28575">
              <a:solidFill>
                <a:srgbClr val="FF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4761" name="Line 9">
            <a:extLst>
              <a:ext uri="{FF2B5EF4-FFF2-40B4-BE49-F238E27FC236}">
                <a16:creationId xmlns:a16="http://schemas.microsoft.com/office/drawing/2014/main" id="{F7A8D0DA-8910-4DCB-9922-E2A1105573AF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5257800" y="3762375"/>
            <a:ext cx="304800" cy="990600"/>
          </a:xfrm>
          <a:prstGeom prst="line">
            <a:avLst/>
          </a:prstGeom>
          <a:noFill/>
          <a:ln w="76200">
            <a:solidFill>
              <a:srgbClr val="FF33CC"/>
            </a:solidFill>
            <a:round/>
            <a:headEnd/>
            <a:tailEnd type="triangle" w="med" len="med"/>
          </a:ln>
          <a:scene3d>
            <a:camera prst="legacyObliqueTopRight"/>
            <a:lightRig rig="legacyFlat3" dir="b"/>
          </a:scene3d>
          <a:sp3d extrusionH="36500" prstMaterial="legacyMatte">
            <a:bevelT w="13500" h="13500" prst="angle"/>
            <a:bevelB w="13500" h="13500" prst="angle"/>
            <a:extrusionClr>
              <a:srgbClr val="FF33CC"/>
            </a:extrusionClr>
            <a:contourClr>
              <a:srgbClr val="FF33CC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graphicFrame>
        <p:nvGraphicFramePr>
          <p:cNvPr id="77831" name="Object 10">
            <a:extLst>
              <a:ext uri="{FF2B5EF4-FFF2-40B4-BE49-F238E27FC236}">
                <a16:creationId xmlns:a16="http://schemas.microsoft.com/office/drawing/2014/main" id="{DAE01553-C085-4BCF-99BA-9A1B7537AE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4025" y="2260600"/>
          <a:ext cx="4198938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0673" imgH="838331" progId="Equation.DSMT4">
                  <p:embed/>
                </p:oleObj>
              </mc:Choice>
              <mc:Fallback>
                <p:oleObj name="Equation" r:id="rId4" imgW="1460673" imgH="838331" progId="Equation.DSMT4">
                  <p:embed/>
                  <p:pic>
                    <p:nvPicPr>
                      <p:cNvPr id="77831" name="Object 10">
                        <a:extLst>
                          <a:ext uri="{FF2B5EF4-FFF2-40B4-BE49-F238E27FC236}">
                            <a16:creationId xmlns:a16="http://schemas.microsoft.com/office/drawing/2014/main" id="{DAE01553-C085-4BCF-99BA-9A1B7537AE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025" y="2260600"/>
                        <a:ext cx="4198938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2" name="Text Box 11">
            <a:extLst>
              <a:ext uri="{FF2B5EF4-FFF2-40B4-BE49-F238E27FC236}">
                <a16:creationId xmlns:a16="http://schemas.microsoft.com/office/drawing/2014/main" id="{784BB307-9B2F-4FB5-969A-D313B9EAC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2900" y="2335213"/>
            <a:ext cx="268922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i=1</a:t>
            </a:r>
            <a:r>
              <a:rPr kumimoji="1" lang="zh-CN" altLang="en-US" sz="4000" b="0">
                <a:ea typeface="黑体" panose="02010609060101010101" pitchFamily="49" charset="-122"/>
              </a:rPr>
              <a:t>时，</a:t>
            </a:r>
            <a:r>
              <a:rPr kumimoji="1" lang="en-US" altLang="zh-CN" sz="4000" b="0">
                <a:ea typeface="黑体" panose="02010609060101010101" pitchFamily="49" charset="-122"/>
              </a:rPr>
              <a:t>j=4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41</a:t>
            </a:r>
            <a:r>
              <a:rPr kumimoji="1" lang="en-US" altLang="zh-CN" sz="4000" b="0">
                <a:ea typeface="黑体" panose="02010609060101010101" pitchFamily="49" charset="-122"/>
              </a:rPr>
              <a:t>=1</a:t>
            </a:r>
          </a:p>
        </p:txBody>
      </p:sp>
      <p:sp>
        <p:nvSpPr>
          <p:cNvPr id="714764" name="Oval 12">
            <a:extLst>
              <a:ext uri="{FF2B5EF4-FFF2-40B4-BE49-F238E27FC236}">
                <a16:creationId xmlns:a16="http://schemas.microsoft.com/office/drawing/2014/main" id="{3F12950F-6B99-4F56-AAFA-2F3933343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5553075"/>
            <a:ext cx="2819400" cy="533400"/>
          </a:xfrm>
          <a:prstGeom prst="ellipse">
            <a:avLst/>
          </a:prstGeom>
          <a:noFill/>
          <a:ln w="28575">
            <a:solidFill>
              <a:srgbClr val="0000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3000" b="0">
              <a:latin typeface="Arial Narrow" panose="020B0606020202030204" pitchFamily="34" charset="0"/>
            </a:endParaRPr>
          </a:p>
        </p:txBody>
      </p:sp>
      <p:grpSp>
        <p:nvGrpSpPr>
          <p:cNvPr id="3" name="Group 45">
            <a:extLst>
              <a:ext uri="{FF2B5EF4-FFF2-40B4-BE49-F238E27FC236}">
                <a16:creationId xmlns:a16="http://schemas.microsoft.com/office/drawing/2014/main" id="{4F6AAABD-5F2E-4A0F-8FEA-23F0AC5CF073}"/>
              </a:ext>
            </a:extLst>
          </p:cNvPr>
          <p:cNvGrpSpPr>
            <a:grpSpLocks/>
          </p:cNvGrpSpPr>
          <p:nvPr/>
        </p:nvGrpSpPr>
        <p:grpSpPr bwMode="auto">
          <a:xfrm>
            <a:off x="931863" y="4460875"/>
            <a:ext cx="3384550" cy="2317750"/>
            <a:chOff x="3225" y="2580"/>
            <a:chExt cx="2132" cy="1460"/>
          </a:xfrm>
        </p:grpSpPr>
        <p:sp>
          <p:nvSpPr>
            <p:cNvPr id="77839" name="Oval 46">
              <a:extLst>
                <a:ext uri="{FF2B5EF4-FFF2-40B4-BE49-F238E27FC236}">
                  <a16:creationId xmlns:a16="http://schemas.microsoft.com/office/drawing/2014/main" id="{EDBFD8DC-F79C-4EEB-AE91-42632C193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854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77840" name="Oval 47">
              <a:extLst>
                <a:ext uri="{FF2B5EF4-FFF2-40B4-BE49-F238E27FC236}">
                  <a16:creationId xmlns:a16="http://schemas.microsoft.com/office/drawing/2014/main" id="{0C51EF22-A329-4058-84E8-E9C664D0C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3858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77841" name="Oval 48">
              <a:extLst>
                <a:ext uri="{FF2B5EF4-FFF2-40B4-BE49-F238E27FC236}">
                  <a16:creationId xmlns:a16="http://schemas.microsoft.com/office/drawing/2014/main" id="{354856AC-CB11-41A7-A63A-F8354B163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2696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77842" name="Oval 49">
              <a:extLst>
                <a:ext uri="{FF2B5EF4-FFF2-40B4-BE49-F238E27FC236}">
                  <a16:creationId xmlns:a16="http://schemas.microsoft.com/office/drawing/2014/main" id="{E38D06D4-F847-4101-872E-343A99BE4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2696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77843" name="Line 50">
              <a:extLst>
                <a:ext uri="{FF2B5EF4-FFF2-40B4-BE49-F238E27FC236}">
                  <a16:creationId xmlns:a16="http://schemas.microsoft.com/office/drawing/2014/main" id="{A614AD1B-E4E8-4065-9AD9-C96975E46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9" y="2741"/>
              <a:ext cx="139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4" name="Line 51">
              <a:extLst>
                <a:ext uri="{FF2B5EF4-FFF2-40B4-BE49-F238E27FC236}">
                  <a16:creationId xmlns:a16="http://schemas.microsoft.com/office/drawing/2014/main" id="{AF5FF070-75E3-42F3-BBF1-245D549DA6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9" y="2741"/>
              <a:ext cx="0" cy="111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5" name="Line 52">
              <a:extLst>
                <a:ext uri="{FF2B5EF4-FFF2-40B4-BE49-F238E27FC236}">
                  <a16:creationId xmlns:a16="http://schemas.microsoft.com/office/drawing/2014/main" id="{1EFFDA42-B291-49B5-8179-A38B947CFD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3899"/>
              <a:ext cx="140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6" name="Line 53">
              <a:extLst>
                <a:ext uri="{FF2B5EF4-FFF2-40B4-BE49-F238E27FC236}">
                  <a16:creationId xmlns:a16="http://schemas.microsoft.com/office/drawing/2014/main" id="{87C206DC-83C7-47A5-B30E-93E536FA38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9" y="2791"/>
              <a:ext cx="0" cy="110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7847" name="Object 54">
              <a:extLst>
                <a:ext uri="{FF2B5EF4-FFF2-40B4-BE49-F238E27FC236}">
                  <a16:creationId xmlns:a16="http://schemas.microsoft.com/office/drawing/2014/main" id="{6F00837B-AE29-44A7-83C4-C3C88B7303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25" y="2635"/>
            <a:ext cx="25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0899" imgH="63456" progId="Equation.3">
                    <p:embed/>
                  </p:oleObj>
                </mc:Choice>
                <mc:Fallback>
                  <p:oleObj name="Equation" r:id="rId6" imgW="50899" imgH="63456" progId="Equation.3">
                    <p:embed/>
                    <p:pic>
                      <p:nvPicPr>
                        <p:cNvPr id="77847" name="Object 54">
                          <a:extLst>
                            <a:ext uri="{FF2B5EF4-FFF2-40B4-BE49-F238E27FC236}">
                              <a16:creationId xmlns:a16="http://schemas.microsoft.com/office/drawing/2014/main" id="{6F00837B-AE29-44A7-83C4-C3C88B7303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5" y="2635"/>
                          <a:ext cx="25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48" name="Object 55">
              <a:extLst>
                <a:ext uri="{FF2B5EF4-FFF2-40B4-BE49-F238E27FC236}">
                  <a16:creationId xmlns:a16="http://schemas.microsoft.com/office/drawing/2014/main" id="{AD76DEAA-007C-4E07-81AE-214A857813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17" y="3769"/>
            <a:ext cx="23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8273" imgH="63456" progId="Equation.3">
                    <p:embed/>
                  </p:oleObj>
                </mc:Choice>
                <mc:Fallback>
                  <p:oleObj name="Equation" r:id="rId8" imgW="38273" imgH="63456" progId="Equation.3">
                    <p:embed/>
                    <p:pic>
                      <p:nvPicPr>
                        <p:cNvPr id="77848" name="Object 55">
                          <a:extLst>
                            <a:ext uri="{FF2B5EF4-FFF2-40B4-BE49-F238E27FC236}">
                              <a16:creationId xmlns:a16="http://schemas.microsoft.com/office/drawing/2014/main" id="{AD76DEAA-007C-4E07-81AE-214A857813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7" y="3769"/>
                          <a:ext cx="232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49" name="Object 56">
              <a:extLst>
                <a:ext uri="{FF2B5EF4-FFF2-40B4-BE49-F238E27FC236}">
                  <a16:creationId xmlns:a16="http://schemas.microsoft.com/office/drawing/2014/main" id="{44767D94-3537-4315-9A89-488B2BB30B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37" y="3704"/>
            <a:ext cx="28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3525" imgH="101688" progId="Equation.3">
                    <p:embed/>
                  </p:oleObj>
                </mc:Choice>
                <mc:Fallback>
                  <p:oleObj name="Equation" r:id="rId10" imgW="63525" imgH="101688" progId="Equation.3">
                    <p:embed/>
                    <p:pic>
                      <p:nvPicPr>
                        <p:cNvPr id="77849" name="Object 56">
                          <a:extLst>
                            <a:ext uri="{FF2B5EF4-FFF2-40B4-BE49-F238E27FC236}">
                              <a16:creationId xmlns:a16="http://schemas.microsoft.com/office/drawing/2014/main" id="{44767D94-3537-4315-9A89-488B2BB30B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7" y="3704"/>
                          <a:ext cx="28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50" name="Object 57">
              <a:extLst>
                <a:ext uri="{FF2B5EF4-FFF2-40B4-BE49-F238E27FC236}">
                  <a16:creationId xmlns:a16="http://schemas.microsoft.com/office/drawing/2014/main" id="{142EB537-FD0F-4367-8FEF-880F122270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99" y="2580"/>
            <a:ext cx="258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50899" imgH="101688" progId="Equation.3">
                    <p:embed/>
                  </p:oleObj>
                </mc:Choice>
                <mc:Fallback>
                  <p:oleObj name="Equation" r:id="rId12" imgW="50899" imgH="101688" progId="Equation.3">
                    <p:embed/>
                    <p:pic>
                      <p:nvPicPr>
                        <p:cNvPr id="77850" name="Object 57">
                          <a:extLst>
                            <a:ext uri="{FF2B5EF4-FFF2-40B4-BE49-F238E27FC236}">
                              <a16:creationId xmlns:a16="http://schemas.microsoft.com/office/drawing/2014/main" id="{142EB537-FD0F-4367-8FEF-880F122270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9" y="2580"/>
                          <a:ext cx="258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4794" name="Line 42">
            <a:extLst>
              <a:ext uri="{FF2B5EF4-FFF2-40B4-BE49-F238E27FC236}">
                <a16:creationId xmlns:a16="http://schemas.microsoft.com/office/drawing/2014/main" id="{DBEE0753-4CBF-4580-A289-489FEBFA4C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77963" y="4765675"/>
            <a:ext cx="0" cy="17811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4796" name="Line 44">
            <a:extLst>
              <a:ext uri="{FF2B5EF4-FFF2-40B4-BE49-F238E27FC236}">
                <a16:creationId xmlns:a16="http://schemas.microsoft.com/office/drawing/2014/main" id="{B644FF76-ED99-4890-97D2-DE21305FD8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90663" y="4765675"/>
            <a:ext cx="2212975" cy="174783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144DB2-0DB4-4343-9361-D097A718283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4025" y="1271164"/>
            <a:ext cx="5734050" cy="8763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71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14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14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4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4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76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3">
            <a:extLst>
              <a:ext uri="{FF2B5EF4-FFF2-40B4-BE49-F238E27FC236}">
                <a16:creationId xmlns:a16="http://schemas.microsoft.com/office/drawing/2014/main" id="{B30845D3-31FF-4C10-B965-5F904528C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B70EE7B9-B663-4D59-B180-FDD54945BA8A}" type="slidenum">
              <a:rPr lang="zh-CN" altLang="en-US" sz="1400" b="0" smtClean="0"/>
              <a:pPr algn="l">
                <a:spcBef>
                  <a:spcPct val="0"/>
                </a:spcBef>
                <a:buClrTx/>
                <a:buFontTx/>
                <a:buNone/>
              </a:pPr>
              <a:t>100</a:t>
            </a:fld>
            <a:endParaRPr lang="en-US" altLang="zh-CN" sz="1400" b="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4D183C0F-9DC9-4A53-A511-BC07EE799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</a:t>
            </a:r>
            <a:r>
              <a:rPr lang="zh-CN" altLang="en-US"/>
              <a:t>（续）</a:t>
            </a:r>
          </a:p>
        </p:txBody>
      </p:sp>
      <p:graphicFrame>
        <p:nvGraphicFramePr>
          <p:cNvPr id="715779" name="Object 3">
            <a:extLst>
              <a:ext uri="{FF2B5EF4-FFF2-40B4-BE49-F238E27FC236}">
                <a16:creationId xmlns:a16="http://schemas.microsoft.com/office/drawing/2014/main" id="{D62EC365-1238-444D-87F9-98CA2A4A7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275" y="1257300"/>
          <a:ext cx="3192463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2151" imgH="838331" progId="Equation.DSMT4">
                  <p:embed/>
                </p:oleObj>
              </mc:Choice>
              <mc:Fallback>
                <p:oleObj name="Equation" r:id="rId2" imgW="1092151" imgH="838331" progId="Equation.DSMT4">
                  <p:embed/>
                  <p:pic>
                    <p:nvPicPr>
                      <p:cNvPr id="715779" name="Object 3">
                        <a:extLst>
                          <a:ext uri="{FF2B5EF4-FFF2-40B4-BE49-F238E27FC236}">
                            <a16:creationId xmlns:a16="http://schemas.microsoft.com/office/drawing/2014/main" id="{D62EC365-1238-444D-87F9-98CA2A4A7C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" y="1257300"/>
                        <a:ext cx="3192463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5780" name="Text Box 4">
            <a:extLst>
              <a:ext uri="{FF2B5EF4-FFF2-40B4-BE49-F238E27FC236}">
                <a16:creationId xmlns:a16="http://schemas.microsoft.com/office/drawing/2014/main" id="{DEF170C1-BA9C-435B-BA1B-4DA2E88F6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375" y="2168525"/>
            <a:ext cx="294322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i=2</a:t>
            </a:r>
            <a:r>
              <a:rPr kumimoji="1" lang="zh-CN" altLang="en-US" sz="4000" b="0">
                <a:ea typeface="黑体" panose="02010609060101010101" pitchFamily="49" charset="-122"/>
              </a:rPr>
              <a:t>时，</a:t>
            </a:r>
            <a:r>
              <a:rPr kumimoji="1" lang="en-US" altLang="zh-CN" sz="4000" b="0">
                <a:ea typeface="黑体" panose="02010609060101010101" pitchFamily="49" charset="-122"/>
              </a:rPr>
              <a:t>j=1,4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12 </a:t>
            </a:r>
            <a:r>
              <a:rPr kumimoji="1" lang="en-US" altLang="zh-CN" sz="4000" b="0">
                <a:ea typeface="黑体" panose="02010609060101010101" pitchFamily="49" charset="-122"/>
              </a:rPr>
              <a:t>, 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42</a:t>
            </a:r>
            <a:r>
              <a:rPr kumimoji="1" lang="en-US" altLang="zh-CN" sz="4000" b="0">
                <a:ea typeface="黑体" panose="02010609060101010101" pitchFamily="49" charset="-122"/>
              </a:rPr>
              <a:t>=1</a:t>
            </a:r>
          </a:p>
        </p:txBody>
      </p:sp>
      <p:sp>
        <p:nvSpPr>
          <p:cNvPr id="715781" name="Oval 5">
            <a:extLst>
              <a:ext uri="{FF2B5EF4-FFF2-40B4-BE49-F238E27FC236}">
                <a16:creationId xmlns:a16="http://schemas.microsoft.com/office/drawing/2014/main" id="{751E1837-F499-4E15-B363-099BFDC16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177925"/>
            <a:ext cx="533400" cy="2667000"/>
          </a:xfrm>
          <a:prstGeom prst="ellipse">
            <a:avLst/>
          </a:prstGeom>
          <a:noFill/>
          <a:ln w="28575">
            <a:solidFill>
              <a:srgbClr val="0000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3000" b="0">
              <a:latin typeface="Arial Narrow" panose="020B0606020202030204" pitchFamily="34" charset="0"/>
            </a:endParaRP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3117AD2D-D18E-4D51-9C20-BC1E9DAD046E}"/>
              </a:ext>
            </a:extLst>
          </p:cNvPr>
          <p:cNvGrpSpPr>
            <a:grpSpLocks/>
          </p:cNvGrpSpPr>
          <p:nvPr/>
        </p:nvGrpSpPr>
        <p:grpSpPr bwMode="auto">
          <a:xfrm>
            <a:off x="750888" y="4025900"/>
            <a:ext cx="3384550" cy="2317750"/>
            <a:chOff x="3225" y="2580"/>
            <a:chExt cx="2132" cy="1460"/>
          </a:xfrm>
        </p:grpSpPr>
        <p:sp>
          <p:nvSpPr>
            <p:cNvPr id="78859" name="Oval 7">
              <a:extLst>
                <a:ext uri="{FF2B5EF4-FFF2-40B4-BE49-F238E27FC236}">
                  <a16:creationId xmlns:a16="http://schemas.microsoft.com/office/drawing/2014/main" id="{4FB399B7-0CCC-49DF-8118-1F082BDD4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854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78860" name="Oval 8">
              <a:extLst>
                <a:ext uri="{FF2B5EF4-FFF2-40B4-BE49-F238E27FC236}">
                  <a16:creationId xmlns:a16="http://schemas.microsoft.com/office/drawing/2014/main" id="{6EE5F1FC-968B-452A-B03E-D732AB38B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3858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78861" name="Oval 9">
              <a:extLst>
                <a:ext uri="{FF2B5EF4-FFF2-40B4-BE49-F238E27FC236}">
                  <a16:creationId xmlns:a16="http://schemas.microsoft.com/office/drawing/2014/main" id="{FC454A9A-6FDE-4B62-8C39-87D52B927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2696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78862" name="Oval 10">
              <a:extLst>
                <a:ext uri="{FF2B5EF4-FFF2-40B4-BE49-F238E27FC236}">
                  <a16:creationId xmlns:a16="http://schemas.microsoft.com/office/drawing/2014/main" id="{DD71123F-723F-4F15-810F-E1C213281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2696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78863" name="Line 11">
              <a:extLst>
                <a:ext uri="{FF2B5EF4-FFF2-40B4-BE49-F238E27FC236}">
                  <a16:creationId xmlns:a16="http://schemas.microsoft.com/office/drawing/2014/main" id="{F29AA2C6-F750-455F-A097-CD51E61D2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9" y="2741"/>
              <a:ext cx="139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4" name="Line 12">
              <a:extLst>
                <a:ext uri="{FF2B5EF4-FFF2-40B4-BE49-F238E27FC236}">
                  <a16:creationId xmlns:a16="http://schemas.microsoft.com/office/drawing/2014/main" id="{8B695C84-CBEB-4EF7-A8A0-7BC09F9374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9" y="2741"/>
              <a:ext cx="0" cy="111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5" name="Line 13">
              <a:extLst>
                <a:ext uri="{FF2B5EF4-FFF2-40B4-BE49-F238E27FC236}">
                  <a16:creationId xmlns:a16="http://schemas.microsoft.com/office/drawing/2014/main" id="{A59D3254-D60E-49ED-B076-84629AA655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3899"/>
              <a:ext cx="140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66" name="Line 14">
              <a:extLst>
                <a:ext uri="{FF2B5EF4-FFF2-40B4-BE49-F238E27FC236}">
                  <a16:creationId xmlns:a16="http://schemas.microsoft.com/office/drawing/2014/main" id="{63D5B1F2-25C6-42DF-BBE3-8E717F44F8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9" y="2791"/>
              <a:ext cx="0" cy="110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8867" name="Object 15">
              <a:extLst>
                <a:ext uri="{FF2B5EF4-FFF2-40B4-BE49-F238E27FC236}">
                  <a16:creationId xmlns:a16="http://schemas.microsoft.com/office/drawing/2014/main" id="{CCC53774-C827-4DCF-A203-52C8BBFDF1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25" y="2635"/>
            <a:ext cx="25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0899" imgH="63456" progId="Equation.3">
                    <p:embed/>
                  </p:oleObj>
                </mc:Choice>
                <mc:Fallback>
                  <p:oleObj name="Equation" r:id="rId4" imgW="50899" imgH="63456" progId="Equation.3">
                    <p:embed/>
                    <p:pic>
                      <p:nvPicPr>
                        <p:cNvPr id="78867" name="Object 15">
                          <a:extLst>
                            <a:ext uri="{FF2B5EF4-FFF2-40B4-BE49-F238E27FC236}">
                              <a16:creationId xmlns:a16="http://schemas.microsoft.com/office/drawing/2014/main" id="{CCC53774-C827-4DCF-A203-52C8BBFDF1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5" y="2635"/>
                          <a:ext cx="25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868" name="Object 16">
              <a:extLst>
                <a:ext uri="{FF2B5EF4-FFF2-40B4-BE49-F238E27FC236}">
                  <a16:creationId xmlns:a16="http://schemas.microsoft.com/office/drawing/2014/main" id="{22CCE3D2-45DB-4CA5-A2F6-BFE12452F6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17" y="3769"/>
            <a:ext cx="23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8273" imgH="63456" progId="Equation.3">
                    <p:embed/>
                  </p:oleObj>
                </mc:Choice>
                <mc:Fallback>
                  <p:oleObj name="Equation" r:id="rId6" imgW="38273" imgH="63456" progId="Equation.3">
                    <p:embed/>
                    <p:pic>
                      <p:nvPicPr>
                        <p:cNvPr id="78868" name="Object 16">
                          <a:extLst>
                            <a:ext uri="{FF2B5EF4-FFF2-40B4-BE49-F238E27FC236}">
                              <a16:creationId xmlns:a16="http://schemas.microsoft.com/office/drawing/2014/main" id="{22CCE3D2-45DB-4CA5-A2F6-BFE12452F6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7" y="3769"/>
                          <a:ext cx="232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869" name="Object 17">
              <a:extLst>
                <a:ext uri="{FF2B5EF4-FFF2-40B4-BE49-F238E27FC236}">
                  <a16:creationId xmlns:a16="http://schemas.microsoft.com/office/drawing/2014/main" id="{974AA648-6E0A-4BE2-9A77-051868AD7C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37" y="3704"/>
            <a:ext cx="28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3525" imgH="101688" progId="Equation.3">
                    <p:embed/>
                  </p:oleObj>
                </mc:Choice>
                <mc:Fallback>
                  <p:oleObj name="Equation" r:id="rId8" imgW="63525" imgH="101688" progId="Equation.3">
                    <p:embed/>
                    <p:pic>
                      <p:nvPicPr>
                        <p:cNvPr id="78869" name="Object 17">
                          <a:extLst>
                            <a:ext uri="{FF2B5EF4-FFF2-40B4-BE49-F238E27FC236}">
                              <a16:creationId xmlns:a16="http://schemas.microsoft.com/office/drawing/2014/main" id="{974AA648-6E0A-4BE2-9A77-051868AD7C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7" y="3704"/>
                          <a:ext cx="28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870" name="Object 18">
              <a:extLst>
                <a:ext uri="{FF2B5EF4-FFF2-40B4-BE49-F238E27FC236}">
                  <a16:creationId xmlns:a16="http://schemas.microsoft.com/office/drawing/2014/main" id="{155D095A-19DF-43D5-9B17-112311FBB2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99" y="2580"/>
            <a:ext cx="258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0899" imgH="101688" progId="Equation.3">
                    <p:embed/>
                  </p:oleObj>
                </mc:Choice>
                <mc:Fallback>
                  <p:oleObj name="Equation" r:id="rId10" imgW="50899" imgH="101688" progId="Equation.3">
                    <p:embed/>
                    <p:pic>
                      <p:nvPicPr>
                        <p:cNvPr id="78870" name="Object 18">
                          <a:extLst>
                            <a:ext uri="{FF2B5EF4-FFF2-40B4-BE49-F238E27FC236}">
                              <a16:creationId xmlns:a16="http://schemas.microsoft.com/office/drawing/2014/main" id="{155D095A-19DF-43D5-9B17-112311FBB2B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9" y="2580"/>
                          <a:ext cx="258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5796" name="Line 20">
            <a:extLst>
              <a:ext uri="{FF2B5EF4-FFF2-40B4-BE49-F238E27FC236}">
                <a16:creationId xmlns:a16="http://schemas.microsoft.com/office/drawing/2014/main" id="{57FBE0CA-5BC9-41C4-A312-B920E0C598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9688" y="4330700"/>
            <a:ext cx="2212975" cy="17478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5797" name="Line 21">
            <a:extLst>
              <a:ext uri="{FF2B5EF4-FFF2-40B4-BE49-F238E27FC236}">
                <a16:creationId xmlns:a16="http://schemas.microsoft.com/office/drawing/2014/main" id="{F81710FB-786F-4C46-8051-CEFDC039D4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3663" y="4283075"/>
            <a:ext cx="214947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5798" name="Line 22">
            <a:extLst>
              <a:ext uri="{FF2B5EF4-FFF2-40B4-BE49-F238E27FC236}">
                <a16:creationId xmlns:a16="http://schemas.microsoft.com/office/drawing/2014/main" id="{056266CE-7510-4E21-8390-A977DE083F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3813" y="4344988"/>
            <a:ext cx="2212975" cy="1747837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5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5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5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5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5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5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780" grpId="0" autoUpdateAnimBg="0"/>
      <p:bldP spid="715781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3">
            <a:extLst>
              <a:ext uri="{FF2B5EF4-FFF2-40B4-BE49-F238E27FC236}">
                <a16:creationId xmlns:a16="http://schemas.microsoft.com/office/drawing/2014/main" id="{1816F447-BBC6-40D5-846A-E6566EE2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827F7BF9-80DD-4695-81B9-B97B8EF12295}" type="slidenum">
              <a:rPr lang="zh-CN" altLang="en-US" sz="1400" b="0" smtClean="0"/>
              <a:pPr algn="l">
                <a:spcBef>
                  <a:spcPct val="0"/>
                </a:spcBef>
                <a:buClrTx/>
                <a:buFontTx/>
                <a:buNone/>
              </a:pPr>
              <a:t>101</a:t>
            </a:fld>
            <a:endParaRPr lang="en-US" altLang="zh-CN" sz="1400" b="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953778C5-9CD6-425A-8DA2-D5F945A37F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</a:t>
            </a:r>
            <a:r>
              <a:rPr lang="zh-CN" altLang="en-US"/>
              <a:t>（续）</a:t>
            </a:r>
          </a:p>
        </p:txBody>
      </p:sp>
      <p:graphicFrame>
        <p:nvGraphicFramePr>
          <p:cNvPr id="79876" name="Object 3">
            <a:extLst>
              <a:ext uri="{FF2B5EF4-FFF2-40B4-BE49-F238E27FC236}">
                <a16:creationId xmlns:a16="http://schemas.microsoft.com/office/drawing/2014/main" id="{D08580CE-A7A0-4BE2-8B02-B5FA70208A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275" y="1146175"/>
          <a:ext cx="3192463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2151" imgH="838331" progId="Equation.DSMT4">
                  <p:embed/>
                </p:oleObj>
              </mc:Choice>
              <mc:Fallback>
                <p:oleObj name="Equation" r:id="rId2" imgW="1092151" imgH="838331" progId="Equation.DSMT4">
                  <p:embed/>
                  <p:pic>
                    <p:nvPicPr>
                      <p:cNvPr id="79876" name="Object 3">
                        <a:extLst>
                          <a:ext uri="{FF2B5EF4-FFF2-40B4-BE49-F238E27FC236}">
                            <a16:creationId xmlns:a16="http://schemas.microsoft.com/office/drawing/2014/main" id="{D08580CE-A7A0-4BE2-8B02-B5FA70208A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" y="1146175"/>
                        <a:ext cx="3192463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7" name="Text Box 4">
            <a:extLst>
              <a:ext uri="{FF2B5EF4-FFF2-40B4-BE49-F238E27FC236}">
                <a16:creationId xmlns:a16="http://schemas.microsoft.com/office/drawing/2014/main" id="{53F822C6-A0FA-47C8-A156-66A77CBD5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375" y="2057400"/>
            <a:ext cx="294322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i=2</a:t>
            </a:r>
            <a:r>
              <a:rPr kumimoji="1" lang="zh-CN" altLang="en-US" sz="4000" b="0">
                <a:ea typeface="黑体" panose="02010609060101010101" pitchFamily="49" charset="-122"/>
              </a:rPr>
              <a:t>时，</a:t>
            </a:r>
            <a:r>
              <a:rPr kumimoji="1" lang="en-US" altLang="zh-CN" sz="4000" b="0">
                <a:ea typeface="黑体" panose="02010609060101010101" pitchFamily="49" charset="-122"/>
              </a:rPr>
              <a:t>j=1,4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12 </a:t>
            </a:r>
            <a:r>
              <a:rPr kumimoji="1" lang="en-US" altLang="zh-CN" sz="4000" b="0">
                <a:ea typeface="黑体" panose="02010609060101010101" pitchFamily="49" charset="-122"/>
              </a:rPr>
              <a:t>, 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42</a:t>
            </a:r>
            <a:r>
              <a:rPr kumimoji="1" lang="en-US" altLang="zh-CN" sz="4000" b="0">
                <a:ea typeface="黑体" panose="02010609060101010101" pitchFamily="49" charset="-122"/>
              </a:rPr>
              <a:t>=1</a:t>
            </a:r>
          </a:p>
        </p:txBody>
      </p:sp>
      <p:graphicFrame>
        <p:nvGraphicFramePr>
          <p:cNvPr id="716805" name="Object 5">
            <a:extLst>
              <a:ext uri="{FF2B5EF4-FFF2-40B4-BE49-F238E27FC236}">
                <a16:creationId xmlns:a16="http://schemas.microsoft.com/office/drawing/2014/main" id="{94558E86-9FD6-44C3-AFEE-DC19913F90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4038600"/>
          <a:ext cx="3192463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2151" imgH="838331" progId="Equation.DSMT4">
                  <p:embed/>
                </p:oleObj>
              </mc:Choice>
              <mc:Fallback>
                <p:oleObj name="Equation" r:id="rId4" imgW="1092151" imgH="838331" progId="Equation.DSMT4">
                  <p:embed/>
                  <p:pic>
                    <p:nvPicPr>
                      <p:cNvPr id="716805" name="Object 5">
                        <a:extLst>
                          <a:ext uri="{FF2B5EF4-FFF2-40B4-BE49-F238E27FC236}">
                            <a16:creationId xmlns:a16="http://schemas.microsoft.com/office/drawing/2014/main" id="{94558E86-9FD6-44C3-AFEE-DC19913F90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038600"/>
                        <a:ext cx="3192463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>
            <a:extLst>
              <a:ext uri="{FF2B5EF4-FFF2-40B4-BE49-F238E27FC236}">
                <a16:creationId xmlns:a16="http://schemas.microsoft.com/office/drawing/2014/main" id="{FCF22F87-D1A0-4D9A-9B5A-2A103EE88717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371600"/>
            <a:ext cx="2667000" cy="2514600"/>
            <a:chOff x="1008" y="864"/>
            <a:chExt cx="1680" cy="1584"/>
          </a:xfrm>
        </p:grpSpPr>
        <p:sp>
          <p:nvSpPr>
            <p:cNvPr id="79904" name="Line 7">
              <a:extLst>
                <a:ext uri="{FF2B5EF4-FFF2-40B4-BE49-F238E27FC236}">
                  <a16:creationId xmlns:a16="http://schemas.microsoft.com/office/drawing/2014/main" id="{AC712ECA-38E5-49D8-8CC3-48B7C47CF1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440"/>
              <a:ext cx="1152" cy="0"/>
            </a:xfrm>
            <a:prstGeom prst="line">
              <a:avLst/>
            </a:prstGeom>
            <a:noFill/>
            <a:ln w="28575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5" name="Line 8">
              <a:extLst>
                <a:ext uri="{FF2B5EF4-FFF2-40B4-BE49-F238E27FC236}">
                  <a16:creationId xmlns:a16="http://schemas.microsoft.com/office/drawing/2014/main" id="{A5C9C89A-1F44-426D-B0BA-ACA33AF0D5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440"/>
              <a:ext cx="0" cy="1008"/>
            </a:xfrm>
            <a:prstGeom prst="line">
              <a:avLst/>
            </a:prstGeom>
            <a:noFill/>
            <a:ln w="28575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6" name="Line 9">
              <a:extLst>
                <a:ext uri="{FF2B5EF4-FFF2-40B4-BE49-F238E27FC236}">
                  <a16:creationId xmlns:a16="http://schemas.microsoft.com/office/drawing/2014/main" id="{2F53ADA5-43DA-46F9-B690-B70B27C0D3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448"/>
              <a:ext cx="1152" cy="0"/>
            </a:xfrm>
            <a:prstGeom prst="line">
              <a:avLst/>
            </a:prstGeom>
            <a:noFill/>
            <a:ln w="28575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7" name="Line 10">
              <a:extLst>
                <a:ext uri="{FF2B5EF4-FFF2-40B4-BE49-F238E27FC236}">
                  <a16:creationId xmlns:a16="http://schemas.microsoft.com/office/drawing/2014/main" id="{4ED7742F-4250-400A-8ECD-D84EB982E5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864"/>
              <a:ext cx="0" cy="1584"/>
            </a:xfrm>
            <a:prstGeom prst="line">
              <a:avLst/>
            </a:prstGeom>
            <a:noFill/>
            <a:ln w="28575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8" name="Line 11">
              <a:extLst>
                <a:ext uri="{FF2B5EF4-FFF2-40B4-BE49-F238E27FC236}">
                  <a16:creationId xmlns:a16="http://schemas.microsoft.com/office/drawing/2014/main" id="{DCCD8A3E-1905-4021-9EB3-8C12BDB0DA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864"/>
              <a:ext cx="288" cy="0"/>
            </a:xfrm>
            <a:prstGeom prst="line">
              <a:avLst/>
            </a:prstGeom>
            <a:noFill/>
            <a:ln w="28575">
              <a:solidFill>
                <a:srgbClr val="FF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9" name="Line 12">
              <a:extLst>
                <a:ext uri="{FF2B5EF4-FFF2-40B4-BE49-F238E27FC236}">
                  <a16:creationId xmlns:a16="http://schemas.microsoft.com/office/drawing/2014/main" id="{848E7911-C779-48B1-AEFF-85E141A123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2016"/>
              <a:ext cx="288" cy="0"/>
            </a:xfrm>
            <a:prstGeom prst="line">
              <a:avLst/>
            </a:prstGeom>
            <a:noFill/>
            <a:ln w="28575">
              <a:solidFill>
                <a:srgbClr val="FF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6813" name="Line 13">
            <a:extLst>
              <a:ext uri="{FF2B5EF4-FFF2-40B4-BE49-F238E27FC236}">
                <a16:creationId xmlns:a16="http://schemas.microsoft.com/office/drawing/2014/main" id="{F22F3BFF-AF8A-4844-B968-9361648EEFCD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4229100" y="3467100"/>
            <a:ext cx="685800" cy="1981200"/>
          </a:xfrm>
          <a:prstGeom prst="line">
            <a:avLst/>
          </a:prstGeom>
          <a:noFill/>
          <a:ln w="76200">
            <a:solidFill>
              <a:srgbClr val="FF33CC"/>
            </a:solidFill>
            <a:round/>
            <a:headEnd/>
            <a:tailEnd type="triangle" w="med" len="med"/>
          </a:ln>
          <a:scene3d>
            <a:camera prst="legacyObliqueTopRight"/>
            <a:lightRig rig="legacyFlat3" dir="b"/>
          </a:scene3d>
          <a:sp3d extrusionH="36500" prstMaterial="legacyMatte">
            <a:bevelT w="13500" h="13500" prst="angle"/>
            <a:bevelB w="13500" h="13500" prst="angle"/>
            <a:extrusionClr>
              <a:srgbClr val="FF33CC"/>
            </a:extrusionClr>
            <a:contourClr>
              <a:srgbClr val="FF33CC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grpSp>
        <p:nvGrpSpPr>
          <p:cNvPr id="3" name="Group 14">
            <a:extLst>
              <a:ext uri="{FF2B5EF4-FFF2-40B4-BE49-F238E27FC236}">
                <a16:creationId xmlns:a16="http://schemas.microsoft.com/office/drawing/2014/main" id="{6E31BAC5-6996-42C9-AB64-C44EF4A93E6E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4038600"/>
            <a:ext cx="2819400" cy="2286000"/>
            <a:chOff x="3648" y="2544"/>
            <a:chExt cx="1776" cy="1440"/>
          </a:xfrm>
        </p:grpSpPr>
        <p:sp>
          <p:nvSpPr>
            <p:cNvPr id="79902" name="Oval 15">
              <a:extLst>
                <a:ext uri="{FF2B5EF4-FFF2-40B4-BE49-F238E27FC236}">
                  <a16:creationId xmlns:a16="http://schemas.microsoft.com/office/drawing/2014/main" id="{6208B0D6-2288-4C9C-B457-2F9B71256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648"/>
              <a:ext cx="1776" cy="336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79903" name="Oval 16">
              <a:extLst>
                <a:ext uri="{FF2B5EF4-FFF2-40B4-BE49-F238E27FC236}">
                  <a16:creationId xmlns:a16="http://schemas.microsoft.com/office/drawing/2014/main" id="{0BA70AE1-ABDB-4F52-8FE4-0E0D4FD58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544"/>
              <a:ext cx="1776" cy="336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4" name="Group 17">
            <a:extLst>
              <a:ext uri="{FF2B5EF4-FFF2-40B4-BE49-F238E27FC236}">
                <a16:creationId xmlns:a16="http://schemas.microsoft.com/office/drawing/2014/main" id="{F8CB5599-DA3E-4E78-A8AC-ECAB05983CF7}"/>
              </a:ext>
            </a:extLst>
          </p:cNvPr>
          <p:cNvGrpSpPr>
            <a:grpSpLocks/>
          </p:cNvGrpSpPr>
          <p:nvPr/>
        </p:nvGrpSpPr>
        <p:grpSpPr bwMode="auto">
          <a:xfrm>
            <a:off x="903288" y="4178300"/>
            <a:ext cx="3384550" cy="2317750"/>
            <a:chOff x="3225" y="2580"/>
            <a:chExt cx="2132" cy="1460"/>
          </a:xfrm>
        </p:grpSpPr>
        <p:sp>
          <p:nvSpPr>
            <p:cNvPr id="79890" name="Oval 18">
              <a:extLst>
                <a:ext uri="{FF2B5EF4-FFF2-40B4-BE49-F238E27FC236}">
                  <a16:creationId xmlns:a16="http://schemas.microsoft.com/office/drawing/2014/main" id="{F02BAAF3-6838-4F1A-99AE-EDD647374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854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79891" name="Oval 19">
              <a:extLst>
                <a:ext uri="{FF2B5EF4-FFF2-40B4-BE49-F238E27FC236}">
                  <a16:creationId xmlns:a16="http://schemas.microsoft.com/office/drawing/2014/main" id="{595CAE47-8BE5-47C0-9C7B-1DD6242E0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3858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79892" name="Oval 20">
              <a:extLst>
                <a:ext uri="{FF2B5EF4-FFF2-40B4-BE49-F238E27FC236}">
                  <a16:creationId xmlns:a16="http://schemas.microsoft.com/office/drawing/2014/main" id="{592B6C69-1D00-48AA-8A7B-1BEFBA28C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2696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79893" name="Oval 21">
              <a:extLst>
                <a:ext uri="{FF2B5EF4-FFF2-40B4-BE49-F238E27FC236}">
                  <a16:creationId xmlns:a16="http://schemas.microsoft.com/office/drawing/2014/main" id="{3B9F7216-02C9-4E99-876F-2DFF51901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2696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79894" name="Line 22">
              <a:extLst>
                <a:ext uri="{FF2B5EF4-FFF2-40B4-BE49-F238E27FC236}">
                  <a16:creationId xmlns:a16="http://schemas.microsoft.com/office/drawing/2014/main" id="{36047BAD-B330-4F07-B913-2DEB5AF5A0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9" y="2741"/>
              <a:ext cx="139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5" name="Line 23">
              <a:extLst>
                <a:ext uri="{FF2B5EF4-FFF2-40B4-BE49-F238E27FC236}">
                  <a16:creationId xmlns:a16="http://schemas.microsoft.com/office/drawing/2014/main" id="{0B15B04B-AD9E-4E53-90FA-1DA4F3DDE9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9" y="2741"/>
              <a:ext cx="0" cy="111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6" name="Line 24">
              <a:extLst>
                <a:ext uri="{FF2B5EF4-FFF2-40B4-BE49-F238E27FC236}">
                  <a16:creationId xmlns:a16="http://schemas.microsoft.com/office/drawing/2014/main" id="{7C69D446-D7BF-4461-9C66-956D3F0D20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3899"/>
              <a:ext cx="140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7" name="Line 25">
              <a:extLst>
                <a:ext uri="{FF2B5EF4-FFF2-40B4-BE49-F238E27FC236}">
                  <a16:creationId xmlns:a16="http://schemas.microsoft.com/office/drawing/2014/main" id="{CA4082B4-0199-46C3-BEED-F9F5D2473E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9" y="2791"/>
              <a:ext cx="0" cy="110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9898" name="Object 26">
              <a:extLst>
                <a:ext uri="{FF2B5EF4-FFF2-40B4-BE49-F238E27FC236}">
                  <a16:creationId xmlns:a16="http://schemas.microsoft.com/office/drawing/2014/main" id="{06D0C934-2765-4FE6-A2C5-AC78C5BE3D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25" y="2635"/>
            <a:ext cx="25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0899" imgH="63456" progId="Equation.3">
                    <p:embed/>
                  </p:oleObj>
                </mc:Choice>
                <mc:Fallback>
                  <p:oleObj name="Equation" r:id="rId6" imgW="50899" imgH="63456" progId="Equation.3">
                    <p:embed/>
                    <p:pic>
                      <p:nvPicPr>
                        <p:cNvPr id="79898" name="Object 26">
                          <a:extLst>
                            <a:ext uri="{FF2B5EF4-FFF2-40B4-BE49-F238E27FC236}">
                              <a16:creationId xmlns:a16="http://schemas.microsoft.com/office/drawing/2014/main" id="{06D0C934-2765-4FE6-A2C5-AC78C5BE3D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5" y="2635"/>
                          <a:ext cx="25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899" name="Object 27">
              <a:extLst>
                <a:ext uri="{FF2B5EF4-FFF2-40B4-BE49-F238E27FC236}">
                  <a16:creationId xmlns:a16="http://schemas.microsoft.com/office/drawing/2014/main" id="{D6A7B5A9-7E8E-48A8-832E-D05F1FFA99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17" y="3769"/>
            <a:ext cx="23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8273" imgH="63456" progId="Equation.3">
                    <p:embed/>
                  </p:oleObj>
                </mc:Choice>
                <mc:Fallback>
                  <p:oleObj name="Equation" r:id="rId8" imgW="38273" imgH="63456" progId="Equation.3">
                    <p:embed/>
                    <p:pic>
                      <p:nvPicPr>
                        <p:cNvPr id="79899" name="Object 27">
                          <a:extLst>
                            <a:ext uri="{FF2B5EF4-FFF2-40B4-BE49-F238E27FC236}">
                              <a16:creationId xmlns:a16="http://schemas.microsoft.com/office/drawing/2014/main" id="{D6A7B5A9-7E8E-48A8-832E-D05F1FFA99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7" y="3769"/>
                          <a:ext cx="232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900" name="Object 28">
              <a:extLst>
                <a:ext uri="{FF2B5EF4-FFF2-40B4-BE49-F238E27FC236}">
                  <a16:creationId xmlns:a16="http://schemas.microsoft.com/office/drawing/2014/main" id="{502D5824-35F2-415B-88A0-B123D3D1EB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37" y="3704"/>
            <a:ext cx="28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3525" imgH="101688" progId="Equation.3">
                    <p:embed/>
                  </p:oleObj>
                </mc:Choice>
                <mc:Fallback>
                  <p:oleObj name="Equation" r:id="rId10" imgW="63525" imgH="101688" progId="Equation.3">
                    <p:embed/>
                    <p:pic>
                      <p:nvPicPr>
                        <p:cNvPr id="79900" name="Object 28">
                          <a:extLst>
                            <a:ext uri="{FF2B5EF4-FFF2-40B4-BE49-F238E27FC236}">
                              <a16:creationId xmlns:a16="http://schemas.microsoft.com/office/drawing/2014/main" id="{502D5824-35F2-415B-88A0-B123D3D1EB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7" y="3704"/>
                          <a:ext cx="28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901" name="Object 29">
              <a:extLst>
                <a:ext uri="{FF2B5EF4-FFF2-40B4-BE49-F238E27FC236}">
                  <a16:creationId xmlns:a16="http://schemas.microsoft.com/office/drawing/2014/main" id="{C42D616B-3547-4AF4-AEE7-349DF03333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99" y="2580"/>
            <a:ext cx="258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50899" imgH="101688" progId="Equation.3">
                    <p:embed/>
                  </p:oleObj>
                </mc:Choice>
                <mc:Fallback>
                  <p:oleObj name="Equation" r:id="rId12" imgW="50899" imgH="101688" progId="Equation.3">
                    <p:embed/>
                    <p:pic>
                      <p:nvPicPr>
                        <p:cNvPr id="79901" name="Object 29">
                          <a:extLst>
                            <a:ext uri="{FF2B5EF4-FFF2-40B4-BE49-F238E27FC236}">
                              <a16:creationId xmlns:a16="http://schemas.microsoft.com/office/drawing/2014/main" id="{C42D616B-3547-4AF4-AEE7-349DF03333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9" y="2580"/>
                          <a:ext cx="258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6830" name="Line 30">
            <a:extLst>
              <a:ext uri="{FF2B5EF4-FFF2-40B4-BE49-F238E27FC236}">
                <a16:creationId xmlns:a16="http://schemas.microsoft.com/office/drawing/2014/main" id="{6E80F206-F711-49B8-BB95-16DE34CAB7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62088" y="4483100"/>
            <a:ext cx="2212975" cy="17478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31" name="Line 31">
            <a:extLst>
              <a:ext uri="{FF2B5EF4-FFF2-40B4-BE49-F238E27FC236}">
                <a16:creationId xmlns:a16="http://schemas.microsoft.com/office/drawing/2014/main" id="{D16CD69E-9979-4E90-9296-8190A51D1D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6063" y="4435475"/>
            <a:ext cx="214947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32" name="Line 32">
            <a:extLst>
              <a:ext uri="{FF2B5EF4-FFF2-40B4-BE49-F238E27FC236}">
                <a16:creationId xmlns:a16="http://schemas.microsoft.com/office/drawing/2014/main" id="{C3776D15-6A0E-4710-AF81-F43C400BCE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46213" y="4497388"/>
            <a:ext cx="2212975" cy="1747837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33" name="Line 33">
            <a:extLst>
              <a:ext uri="{FF2B5EF4-FFF2-40B4-BE49-F238E27FC236}">
                <a16:creationId xmlns:a16="http://schemas.microsoft.com/office/drawing/2014/main" id="{C914D06A-D7C9-4A8D-B7F5-F37EEB0EEF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2250" y="4475163"/>
            <a:ext cx="2149475" cy="17018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35">
            <a:extLst>
              <a:ext uri="{FF2B5EF4-FFF2-40B4-BE49-F238E27FC236}">
                <a16:creationId xmlns:a16="http://schemas.microsoft.com/office/drawing/2014/main" id="{D88242BF-E488-4B66-B768-00C839ADBCB0}"/>
              </a:ext>
            </a:extLst>
          </p:cNvPr>
          <p:cNvGrpSpPr>
            <a:grpSpLocks/>
          </p:cNvGrpSpPr>
          <p:nvPr/>
        </p:nvGrpSpPr>
        <p:grpSpPr bwMode="auto">
          <a:xfrm>
            <a:off x="1455738" y="6334125"/>
            <a:ext cx="2286000" cy="141288"/>
            <a:chOff x="786" y="3566"/>
            <a:chExt cx="1440" cy="89"/>
          </a:xfrm>
        </p:grpSpPr>
        <p:sp>
          <p:nvSpPr>
            <p:cNvPr id="79888" name="Freeform 36">
              <a:extLst>
                <a:ext uri="{FF2B5EF4-FFF2-40B4-BE49-F238E27FC236}">
                  <a16:creationId xmlns:a16="http://schemas.microsoft.com/office/drawing/2014/main" id="{748712BA-E55E-4CDA-9E68-FF3A7D1EA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" y="3566"/>
              <a:ext cx="1440" cy="89"/>
            </a:xfrm>
            <a:custGeom>
              <a:avLst/>
              <a:gdLst>
                <a:gd name="T0" fmla="*/ 0 w 1440"/>
                <a:gd name="T1" fmla="*/ 0 h 96"/>
                <a:gd name="T2" fmla="*/ 624 w 1440"/>
                <a:gd name="T3" fmla="*/ 19 h 96"/>
                <a:gd name="T4" fmla="*/ 1440 w 1440"/>
                <a:gd name="T5" fmla="*/ 0 h 96"/>
                <a:gd name="T6" fmla="*/ 0 60000 65536"/>
                <a:gd name="T7" fmla="*/ 0 60000 65536"/>
                <a:gd name="T8" fmla="*/ 0 60000 65536"/>
                <a:gd name="T9" fmla="*/ 0 w 1440"/>
                <a:gd name="T10" fmla="*/ 0 h 96"/>
                <a:gd name="T11" fmla="*/ 1440 w 1440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96">
                  <a:moveTo>
                    <a:pt x="0" y="0"/>
                  </a:moveTo>
                  <a:cubicBezTo>
                    <a:pt x="192" y="48"/>
                    <a:pt x="384" y="96"/>
                    <a:pt x="624" y="96"/>
                  </a:cubicBezTo>
                  <a:cubicBezTo>
                    <a:pt x="864" y="96"/>
                    <a:pt x="1304" y="16"/>
                    <a:pt x="1440" y="0"/>
                  </a:cubicBezTo>
                </a:path>
              </a:pathLst>
            </a:custGeom>
            <a:noFill/>
            <a:ln w="57150" cmpd="sng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9" name="Line 37">
              <a:extLst>
                <a:ext uri="{FF2B5EF4-FFF2-40B4-BE49-F238E27FC236}">
                  <a16:creationId xmlns:a16="http://schemas.microsoft.com/office/drawing/2014/main" id="{D6CDE31C-38B0-4606-AA9B-8E1965466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4" y="3655"/>
              <a:ext cx="240" cy="0"/>
            </a:xfrm>
            <a:prstGeom prst="line">
              <a:avLst/>
            </a:prstGeom>
            <a:noFill/>
            <a:ln w="57150">
              <a:solidFill>
                <a:srgbClr val="00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71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168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168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3">
            <a:extLst>
              <a:ext uri="{FF2B5EF4-FFF2-40B4-BE49-F238E27FC236}">
                <a16:creationId xmlns:a16="http://schemas.microsoft.com/office/drawing/2014/main" id="{1A9F0A75-6E6B-48B9-80E5-214735317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031A4600-3408-476B-B289-14256FB2CB44}" type="slidenum">
              <a:rPr lang="zh-CN" altLang="en-US" sz="1400" b="0" smtClean="0"/>
              <a:pPr algn="l">
                <a:spcBef>
                  <a:spcPct val="0"/>
                </a:spcBef>
                <a:buClrTx/>
                <a:buFontTx/>
                <a:buNone/>
              </a:pPr>
              <a:t>102</a:t>
            </a:fld>
            <a:endParaRPr lang="en-US" altLang="zh-CN" sz="1400" b="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7B25D8A9-605A-47D2-81FF-F51A8A78A8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</a:t>
            </a:r>
            <a:r>
              <a:rPr lang="zh-CN" altLang="en-US"/>
              <a:t>（续）</a:t>
            </a:r>
          </a:p>
        </p:txBody>
      </p:sp>
      <p:graphicFrame>
        <p:nvGraphicFramePr>
          <p:cNvPr id="717827" name="Object 3">
            <a:extLst>
              <a:ext uri="{FF2B5EF4-FFF2-40B4-BE49-F238E27FC236}">
                <a16:creationId xmlns:a16="http://schemas.microsoft.com/office/drawing/2014/main" id="{2D54403C-861B-4345-8E2E-AA903A72BC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875" y="1146175"/>
          <a:ext cx="3192463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2151" imgH="838331" progId="Equation.DSMT4">
                  <p:embed/>
                </p:oleObj>
              </mc:Choice>
              <mc:Fallback>
                <p:oleObj name="Equation" r:id="rId2" imgW="1092151" imgH="838331" progId="Equation.DSMT4">
                  <p:embed/>
                  <p:pic>
                    <p:nvPicPr>
                      <p:cNvPr id="717827" name="Object 3">
                        <a:extLst>
                          <a:ext uri="{FF2B5EF4-FFF2-40B4-BE49-F238E27FC236}">
                            <a16:creationId xmlns:a16="http://schemas.microsoft.com/office/drawing/2014/main" id="{2D54403C-861B-4345-8E2E-AA903A72BC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75" y="1146175"/>
                        <a:ext cx="3192463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28" name="Text Box 4">
            <a:extLst>
              <a:ext uri="{FF2B5EF4-FFF2-40B4-BE49-F238E27FC236}">
                <a16:creationId xmlns:a16="http://schemas.microsoft.com/office/drawing/2014/main" id="{D3264456-B543-4067-9B9F-620D9D271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905000"/>
            <a:ext cx="3617913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i=3</a:t>
            </a:r>
            <a:r>
              <a:rPr kumimoji="1" lang="zh-CN" altLang="en-US" sz="4000" b="0">
                <a:ea typeface="黑体" panose="02010609060101010101" pitchFamily="49" charset="-122"/>
              </a:rPr>
              <a:t>时，</a:t>
            </a:r>
            <a:r>
              <a:rPr kumimoji="1" lang="en-US" altLang="zh-CN" sz="4000" b="0">
                <a:ea typeface="黑体" panose="02010609060101010101" pitchFamily="49" charset="-122"/>
              </a:rPr>
              <a:t>j=1,2,4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13 </a:t>
            </a:r>
            <a:r>
              <a:rPr kumimoji="1" lang="en-US" altLang="zh-CN" sz="4000" b="0">
                <a:ea typeface="黑体" panose="02010609060101010101" pitchFamily="49" charset="-122"/>
              </a:rPr>
              <a:t>, 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23 </a:t>
            </a:r>
            <a:r>
              <a:rPr kumimoji="1" lang="en-US" altLang="zh-CN" sz="4000" b="0">
                <a:ea typeface="黑体" panose="02010609060101010101" pitchFamily="49" charset="-122"/>
              </a:rPr>
              <a:t>, 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43 </a:t>
            </a:r>
            <a:r>
              <a:rPr kumimoji="1" lang="en-US" altLang="zh-CN" sz="4000" b="0">
                <a:ea typeface="黑体" panose="02010609060101010101" pitchFamily="49" charset="-122"/>
              </a:rPr>
              <a:t>=1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CN" sz="4000" b="0">
              <a:ea typeface="黑体" panose="02010609060101010101" pitchFamily="49" charset="-122"/>
            </a:endParaRPr>
          </a:p>
        </p:txBody>
      </p:sp>
      <p:sp>
        <p:nvSpPr>
          <p:cNvPr id="717829" name="Oval 5">
            <a:extLst>
              <a:ext uri="{FF2B5EF4-FFF2-40B4-BE49-F238E27FC236}">
                <a16:creationId xmlns:a16="http://schemas.microsoft.com/office/drawing/2014/main" id="{D51045E6-5415-4205-8003-6436BFFCC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066800"/>
            <a:ext cx="533400" cy="2667000"/>
          </a:xfrm>
          <a:prstGeom prst="ellipse">
            <a:avLst/>
          </a:prstGeom>
          <a:noFill/>
          <a:ln w="28575">
            <a:solidFill>
              <a:srgbClr val="0000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b="0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5C98625E-AA69-4DB6-A177-691089E21156}"/>
              </a:ext>
            </a:extLst>
          </p:cNvPr>
          <p:cNvGrpSpPr>
            <a:grpSpLocks/>
          </p:cNvGrpSpPr>
          <p:nvPr/>
        </p:nvGrpSpPr>
        <p:grpSpPr bwMode="auto">
          <a:xfrm>
            <a:off x="903288" y="4178300"/>
            <a:ext cx="3384550" cy="2317750"/>
            <a:chOff x="3225" y="2580"/>
            <a:chExt cx="2132" cy="1460"/>
          </a:xfrm>
        </p:grpSpPr>
        <p:sp>
          <p:nvSpPr>
            <p:cNvPr id="80915" name="Oval 7">
              <a:extLst>
                <a:ext uri="{FF2B5EF4-FFF2-40B4-BE49-F238E27FC236}">
                  <a16:creationId xmlns:a16="http://schemas.microsoft.com/office/drawing/2014/main" id="{7A84C6A8-CCF1-4C90-A51A-A2950E9F3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854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0916" name="Oval 8">
              <a:extLst>
                <a:ext uri="{FF2B5EF4-FFF2-40B4-BE49-F238E27FC236}">
                  <a16:creationId xmlns:a16="http://schemas.microsoft.com/office/drawing/2014/main" id="{F1237AEB-B214-4B63-A460-6077E43CA1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3858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0917" name="Oval 9">
              <a:extLst>
                <a:ext uri="{FF2B5EF4-FFF2-40B4-BE49-F238E27FC236}">
                  <a16:creationId xmlns:a16="http://schemas.microsoft.com/office/drawing/2014/main" id="{82C1E8C2-1453-4074-AEA6-5B64E769A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2696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0918" name="Oval 10">
              <a:extLst>
                <a:ext uri="{FF2B5EF4-FFF2-40B4-BE49-F238E27FC236}">
                  <a16:creationId xmlns:a16="http://schemas.microsoft.com/office/drawing/2014/main" id="{60A78340-2D83-4950-82F9-AC005C2EF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2696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0919" name="Line 11">
              <a:extLst>
                <a:ext uri="{FF2B5EF4-FFF2-40B4-BE49-F238E27FC236}">
                  <a16:creationId xmlns:a16="http://schemas.microsoft.com/office/drawing/2014/main" id="{DBF260AA-0DFF-46C2-84BC-FEDBCFF250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9" y="2741"/>
              <a:ext cx="139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0" name="Line 12">
              <a:extLst>
                <a:ext uri="{FF2B5EF4-FFF2-40B4-BE49-F238E27FC236}">
                  <a16:creationId xmlns:a16="http://schemas.microsoft.com/office/drawing/2014/main" id="{59994C2A-0A97-40A0-B937-A5E6A57712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9" y="2741"/>
              <a:ext cx="0" cy="111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1" name="Line 13">
              <a:extLst>
                <a:ext uri="{FF2B5EF4-FFF2-40B4-BE49-F238E27FC236}">
                  <a16:creationId xmlns:a16="http://schemas.microsoft.com/office/drawing/2014/main" id="{4335AD3C-F046-4A98-B3ED-3090B3DD22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3899"/>
              <a:ext cx="140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2" name="Line 14">
              <a:extLst>
                <a:ext uri="{FF2B5EF4-FFF2-40B4-BE49-F238E27FC236}">
                  <a16:creationId xmlns:a16="http://schemas.microsoft.com/office/drawing/2014/main" id="{6FDE0310-440E-42CA-B392-D592AAFB1D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9" y="2791"/>
              <a:ext cx="0" cy="110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0923" name="Object 15">
              <a:extLst>
                <a:ext uri="{FF2B5EF4-FFF2-40B4-BE49-F238E27FC236}">
                  <a16:creationId xmlns:a16="http://schemas.microsoft.com/office/drawing/2014/main" id="{01FDCE66-B9B9-46DB-9F6B-062AC364D9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25" y="2635"/>
            <a:ext cx="25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0899" imgH="63456" progId="Equation.3">
                    <p:embed/>
                  </p:oleObj>
                </mc:Choice>
                <mc:Fallback>
                  <p:oleObj name="Equation" r:id="rId4" imgW="50899" imgH="63456" progId="Equation.3">
                    <p:embed/>
                    <p:pic>
                      <p:nvPicPr>
                        <p:cNvPr id="80923" name="Object 15">
                          <a:extLst>
                            <a:ext uri="{FF2B5EF4-FFF2-40B4-BE49-F238E27FC236}">
                              <a16:creationId xmlns:a16="http://schemas.microsoft.com/office/drawing/2014/main" id="{01FDCE66-B9B9-46DB-9F6B-062AC364D9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5" y="2635"/>
                          <a:ext cx="25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24" name="Object 16">
              <a:extLst>
                <a:ext uri="{FF2B5EF4-FFF2-40B4-BE49-F238E27FC236}">
                  <a16:creationId xmlns:a16="http://schemas.microsoft.com/office/drawing/2014/main" id="{6943B942-D162-466F-B85E-9B34823C1E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17" y="3769"/>
            <a:ext cx="23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8273" imgH="63456" progId="Equation.3">
                    <p:embed/>
                  </p:oleObj>
                </mc:Choice>
                <mc:Fallback>
                  <p:oleObj name="Equation" r:id="rId6" imgW="38273" imgH="63456" progId="Equation.3">
                    <p:embed/>
                    <p:pic>
                      <p:nvPicPr>
                        <p:cNvPr id="80924" name="Object 16">
                          <a:extLst>
                            <a:ext uri="{FF2B5EF4-FFF2-40B4-BE49-F238E27FC236}">
                              <a16:creationId xmlns:a16="http://schemas.microsoft.com/office/drawing/2014/main" id="{6943B942-D162-466F-B85E-9B34823C1E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7" y="3769"/>
                          <a:ext cx="232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25" name="Object 17">
              <a:extLst>
                <a:ext uri="{FF2B5EF4-FFF2-40B4-BE49-F238E27FC236}">
                  <a16:creationId xmlns:a16="http://schemas.microsoft.com/office/drawing/2014/main" id="{B6DE4A9E-2C63-4672-8655-068958BB83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37" y="3704"/>
            <a:ext cx="28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3525" imgH="101688" progId="Equation.3">
                    <p:embed/>
                  </p:oleObj>
                </mc:Choice>
                <mc:Fallback>
                  <p:oleObj name="Equation" r:id="rId8" imgW="63525" imgH="101688" progId="Equation.3">
                    <p:embed/>
                    <p:pic>
                      <p:nvPicPr>
                        <p:cNvPr id="80925" name="Object 17">
                          <a:extLst>
                            <a:ext uri="{FF2B5EF4-FFF2-40B4-BE49-F238E27FC236}">
                              <a16:creationId xmlns:a16="http://schemas.microsoft.com/office/drawing/2014/main" id="{B6DE4A9E-2C63-4672-8655-068958BB83A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7" y="3704"/>
                          <a:ext cx="28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26" name="Object 18">
              <a:extLst>
                <a:ext uri="{FF2B5EF4-FFF2-40B4-BE49-F238E27FC236}">
                  <a16:creationId xmlns:a16="http://schemas.microsoft.com/office/drawing/2014/main" id="{7E4A474A-D839-4E1A-9DE5-FDE9B13A25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99" y="2580"/>
            <a:ext cx="258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0899" imgH="101688" progId="Equation.3">
                    <p:embed/>
                  </p:oleObj>
                </mc:Choice>
                <mc:Fallback>
                  <p:oleObj name="Equation" r:id="rId10" imgW="50899" imgH="101688" progId="Equation.3">
                    <p:embed/>
                    <p:pic>
                      <p:nvPicPr>
                        <p:cNvPr id="80926" name="Object 18">
                          <a:extLst>
                            <a:ext uri="{FF2B5EF4-FFF2-40B4-BE49-F238E27FC236}">
                              <a16:creationId xmlns:a16="http://schemas.microsoft.com/office/drawing/2014/main" id="{7E4A474A-D839-4E1A-9DE5-FDE9B13A25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9" y="2580"/>
                          <a:ext cx="258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843" name="Line 19">
            <a:extLst>
              <a:ext uri="{FF2B5EF4-FFF2-40B4-BE49-F238E27FC236}">
                <a16:creationId xmlns:a16="http://schemas.microsoft.com/office/drawing/2014/main" id="{95885790-03AD-4758-9D1A-903BDCA9E8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62088" y="4483100"/>
            <a:ext cx="2212975" cy="17478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845" name="Line 21">
            <a:extLst>
              <a:ext uri="{FF2B5EF4-FFF2-40B4-BE49-F238E27FC236}">
                <a16:creationId xmlns:a16="http://schemas.microsoft.com/office/drawing/2014/main" id="{27BC6C6F-359B-440E-A32A-A4CC345496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46213" y="4497388"/>
            <a:ext cx="2212975" cy="17478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846" name="Line 22">
            <a:extLst>
              <a:ext uri="{FF2B5EF4-FFF2-40B4-BE49-F238E27FC236}">
                <a16:creationId xmlns:a16="http://schemas.microsoft.com/office/drawing/2014/main" id="{94EB9982-49A5-4CF3-B12D-2F79EFBE9A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2250" y="4475163"/>
            <a:ext cx="2149475" cy="1701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4AB7F84F-B8DF-4A62-9481-A55908B496FE}"/>
              </a:ext>
            </a:extLst>
          </p:cNvPr>
          <p:cNvGrpSpPr>
            <a:grpSpLocks/>
          </p:cNvGrpSpPr>
          <p:nvPr/>
        </p:nvGrpSpPr>
        <p:grpSpPr bwMode="auto">
          <a:xfrm>
            <a:off x="1455738" y="6334125"/>
            <a:ext cx="2286000" cy="141288"/>
            <a:chOff x="786" y="3566"/>
            <a:chExt cx="1440" cy="89"/>
          </a:xfrm>
        </p:grpSpPr>
        <p:sp>
          <p:nvSpPr>
            <p:cNvPr id="80913" name="Freeform 24">
              <a:extLst>
                <a:ext uri="{FF2B5EF4-FFF2-40B4-BE49-F238E27FC236}">
                  <a16:creationId xmlns:a16="http://schemas.microsoft.com/office/drawing/2014/main" id="{0BE10C87-4ACE-414B-A77D-64F0FE3AF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" y="3566"/>
              <a:ext cx="1440" cy="89"/>
            </a:xfrm>
            <a:custGeom>
              <a:avLst/>
              <a:gdLst>
                <a:gd name="T0" fmla="*/ 0 w 1440"/>
                <a:gd name="T1" fmla="*/ 0 h 96"/>
                <a:gd name="T2" fmla="*/ 624 w 1440"/>
                <a:gd name="T3" fmla="*/ 19 h 96"/>
                <a:gd name="T4" fmla="*/ 1440 w 1440"/>
                <a:gd name="T5" fmla="*/ 0 h 96"/>
                <a:gd name="T6" fmla="*/ 0 60000 65536"/>
                <a:gd name="T7" fmla="*/ 0 60000 65536"/>
                <a:gd name="T8" fmla="*/ 0 60000 65536"/>
                <a:gd name="T9" fmla="*/ 0 w 1440"/>
                <a:gd name="T10" fmla="*/ 0 h 96"/>
                <a:gd name="T11" fmla="*/ 1440 w 1440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96">
                  <a:moveTo>
                    <a:pt x="0" y="0"/>
                  </a:moveTo>
                  <a:cubicBezTo>
                    <a:pt x="192" y="48"/>
                    <a:pt x="384" y="96"/>
                    <a:pt x="624" y="96"/>
                  </a:cubicBezTo>
                  <a:cubicBezTo>
                    <a:pt x="864" y="96"/>
                    <a:pt x="1304" y="16"/>
                    <a:pt x="1440" y="0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4" name="Line 25">
              <a:extLst>
                <a:ext uri="{FF2B5EF4-FFF2-40B4-BE49-F238E27FC236}">
                  <a16:creationId xmlns:a16="http://schemas.microsoft.com/office/drawing/2014/main" id="{917C63A0-165B-4191-8346-641A81D0DB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4" y="3655"/>
              <a:ext cx="24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6">
            <a:extLst>
              <a:ext uri="{FF2B5EF4-FFF2-40B4-BE49-F238E27FC236}">
                <a16:creationId xmlns:a16="http://schemas.microsoft.com/office/drawing/2014/main" id="{22914BF3-A72E-4B40-8429-3204F17F6823}"/>
              </a:ext>
            </a:extLst>
          </p:cNvPr>
          <p:cNvGrpSpPr>
            <a:grpSpLocks/>
          </p:cNvGrpSpPr>
          <p:nvPr/>
        </p:nvGrpSpPr>
        <p:grpSpPr bwMode="auto">
          <a:xfrm>
            <a:off x="1455738" y="6335713"/>
            <a:ext cx="2286000" cy="141287"/>
            <a:chOff x="786" y="3566"/>
            <a:chExt cx="1440" cy="89"/>
          </a:xfrm>
        </p:grpSpPr>
        <p:sp>
          <p:nvSpPr>
            <p:cNvPr id="80911" name="Freeform 27">
              <a:extLst>
                <a:ext uri="{FF2B5EF4-FFF2-40B4-BE49-F238E27FC236}">
                  <a16:creationId xmlns:a16="http://schemas.microsoft.com/office/drawing/2014/main" id="{BE5CC545-25D4-42DE-9DD7-8485356DA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" y="3566"/>
              <a:ext cx="1440" cy="89"/>
            </a:xfrm>
            <a:custGeom>
              <a:avLst/>
              <a:gdLst>
                <a:gd name="T0" fmla="*/ 0 w 1440"/>
                <a:gd name="T1" fmla="*/ 0 h 96"/>
                <a:gd name="T2" fmla="*/ 624 w 1440"/>
                <a:gd name="T3" fmla="*/ 19 h 96"/>
                <a:gd name="T4" fmla="*/ 1440 w 1440"/>
                <a:gd name="T5" fmla="*/ 0 h 96"/>
                <a:gd name="T6" fmla="*/ 0 60000 65536"/>
                <a:gd name="T7" fmla="*/ 0 60000 65536"/>
                <a:gd name="T8" fmla="*/ 0 60000 65536"/>
                <a:gd name="T9" fmla="*/ 0 w 1440"/>
                <a:gd name="T10" fmla="*/ 0 h 96"/>
                <a:gd name="T11" fmla="*/ 1440 w 1440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96">
                  <a:moveTo>
                    <a:pt x="0" y="0"/>
                  </a:moveTo>
                  <a:cubicBezTo>
                    <a:pt x="192" y="48"/>
                    <a:pt x="384" y="96"/>
                    <a:pt x="624" y="96"/>
                  </a:cubicBezTo>
                  <a:cubicBezTo>
                    <a:pt x="864" y="96"/>
                    <a:pt x="1304" y="16"/>
                    <a:pt x="1440" y="0"/>
                  </a:cubicBezTo>
                </a:path>
              </a:pathLst>
            </a:custGeom>
            <a:noFill/>
            <a:ln w="57150" cmpd="sng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2" name="Line 28">
              <a:extLst>
                <a:ext uri="{FF2B5EF4-FFF2-40B4-BE49-F238E27FC236}">
                  <a16:creationId xmlns:a16="http://schemas.microsoft.com/office/drawing/2014/main" id="{C57B08F5-1367-4CF1-AAA9-945758004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4" y="3655"/>
              <a:ext cx="240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7857" name="Line 33">
            <a:extLst>
              <a:ext uri="{FF2B5EF4-FFF2-40B4-BE49-F238E27FC236}">
                <a16:creationId xmlns:a16="http://schemas.microsoft.com/office/drawing/2014/main" id="{20376F76-2762-472A-AA1E-E939CFAD678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4788" y="4456113"/>
            <a:ext cx="2149475" cy="17018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858" name="Line 34">
            <a:extLst>
              <a:ext uri="{FF2B5EF4-FFF2-40B4-BE49-F238E27FC236}">
                <a16:creationId xmlns:a16="http://schemas.microsoft.com/office/drawing/2014/main" id="{8A9CB089-F632-4F96-ADC0-DD56185675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8563" y="4524375"/>
            <a:ext cx="0" cy="1571625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7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7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78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78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28" grpId="0" autoUpdateAnimBg="0"/>
      <p:bldP spid="717829" grpId="0" animBg="1" autoUpdateAnimBg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3">
            <a:extLst>
              <a:ext uri="{FF2B5EF4-FFF2-40B4-BE49-F238E27FC236}">
                <a16:creationId xmlns:a16="http://schemas.microsoft.com/office/drawing/2014/main" id="{565A8F43-67E1-4FF2-BE38-86AC9100F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6C8006B3-4D0C-4C15-8F0D-CED0A387357C}" type="slidenum">
              <a:rPr lang="zh-CN" altLang="en-US" sz="1400" b="0" smtClean="0"/>
              <a:pPr algn="l">
                <a:spcBef>
                  <a:spcPct val="0"/>
                </a:spcBef>
                <a:buClrTx/>
                <a:buFontTx/>
                <a:buNone/>
              </a:pPr>
              <a:t>103</a:t>
            </a:fld>
            <a:endParaRPr lang="en-US" altLang="zh-CN" sz="1400" b="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EC76378E-0362-4517-A9B0-E527394C6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</a:t>
            </a:r>
            <a:r>
              <a:rPr lang="zh-CN" altLang="en-US"/>
              <a:t>（续）</a:t>
            </a:r>
          </a:p>
        </p:txBody>
      </p:sp>
      <p:graphicFrame>
        <p:nvGraphicFramePr>
          <p:cNvPr id="81924" name="Object 3">
            <a:extLst>
              <a:ext uri="{FF2B5EF4-FFF2-40B4-BE49-F238E27FC236}">
                <a16:creationId xmlns:a16="http://schemas.microsoft.com/office/drawing/2014/main" id="{415AFAA0-7182-4619-86B4-E415C28CE8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875" y="1146175"/>
          <a:ext cx="3192463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2151" imgH="838331" progId="Equation.DSMT4">
                  <p:embed/>
                </p:oleObj>
              </mc:Choice>
              <mc:Fallback>
                <p:oleObj name="Equation" r:id="rId2" imgW="1092151" imgH="838331" progId="Equation.DSMT4">
                  <p:embed/>
                  <p:pic>
                    <p:nvPicPr>
                      <p:cNvPr id="81924" name="Object 3">
                        <a:extLst>
                          <a:ext uri="{FF2B5EF4-FFF2-40B4-BE49-F238E27FC236}">
                            <a16:creationId xmlns:a16="http://schemas.microsoft.com/office/drawing/2014/main" id="{415AFAA0-7182-4619-86B4-E415C28CE8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75" y="1146175"/>
                        <a:ext cx="3192463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5" name="Text Box 4">
            <a:extLst>
              <a:ext uri="{FF2B5EF4-FFF2-40B4-BE49-F238E27FC236}">
                <a16:creationId xmlns:a16="http://schemas.microsoft.com/office/drawing/2014/main" id="{08F89FFA-F282-48B7-8AE6-6ED8ECC17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2025" y="1871663"/>
            <a:ext cx="3617913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i=3</a:t>
            </a:r>
            <a:r>
              <a:rPr kumimoji="1" lang="zh-CN" altLang="en-US" sz="4000" b="0">
                <a:ea typeface="黑体" panose="02010609060101010101" pitchFamily="49" charset="-122"/>
              </a:rPr>
              <a:t>时，</a:t>
            </a:r>
            <a:r>
              <a:rPr kumimoji="1" lang="en-US" altLang="zh-CN" sz="4000" b="0">
                <a:ea typeface="黑体" panose="02010609060101010101" pitchFamily="49" charset="-122"/>
              </a:rPr>
              <a:t>j=1,2,4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13 </a:t>
            </a:r>
            <a:r>
              <a:rPr kumimoji="1" lang="en-US" altLang="zh-CN" sz="4000" b="0">
                <a:ea typeface="黑体" panose="02010609060101010101" pitchFamily="49" charset="-122"/>
              </a:rPr>
              <a:t>, 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23 </a:t>
            </a:r>
            <a:r>
              <a:rPr kumimoji="1" lang="en-US" altLang="zh-CN" sz="4000" b="0">
                <a:ea typeface="黑体" panose="02010609060101010101" pitchFamily="49" charset="-122"/>
              </a:rPr>
              <a:t>, 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43 </a:t>
            </a:r>
            <a:r>
              <a:rPr kumimoji="1" lang="en-US" altLang="zh-CN" sz="4000" b="0">
                <a:ea typeface="黑体" panose="02010609060101010101" pitchFamily="49" charset="-122"/>
              </a:rPr>
              <a:t>=1</a:t>
            </a:r>
          </a:p>
        </p:txBody>
      </p:sp>
      <p:graphicFrame>
        <p:nvGraphicFramePr>
          <p:cNvPr id="718853" name="Object 5">
            <a:extLst>
              <a:ext uri="{FF2B5EF4-FFF2-40B4-BE49-F238E27FC236}">
                <a16:creationId xmlns:a16="http://schemas.microsoft.com/office/drawing/2014/main" id="{22B6D630-98F6-4EDF-87F6-2132A0B920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0" y="3810000"/>
          <a:ext cx="3122613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899" imgH="838331" progId="Equation.DSMT4">
                  <p:embed/>
                </p:oleObj>
              </mc:Choice>
              <mc:Fallback>
                <p:oleObj name="Equation" r:id="rId4" imgW="1066899" imgH="838331" progId="Equation.DSMT4">
                  <p:embed/>
                  <p:pic>
                    <p:nvPicPr>
                      <p:cNvPr id="718853" name="Object 5">
                        <a:extLst>
                          <a:ext uri="{FF2B5EF4-FFF2-40B4-BE49-F238E27FC236}">
                            <a16:creationId xmlns:a16="http://schemas.microsoft.com/office/drawing/2014/main" id="{22B6D630-98F6-4EDF-87F6-2132A0B920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810000"/>
                        <a:ext cx="3122613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>
            <a:extLst>
              <a:ext uri="{FF2B5EF4-FFF2-40B4-BE49-F238E27FC236}">
                <a16:creationId xmlns:a16="http://schemas.microsoft.com/office/drawing/2014/main" id="{13DFE3D7-42B6-4624-8290-6E115AE113BC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295400"/>
            <a:ext cx="2590800" cy="2438400"/>
            <a:chOff x="1200" y="816"/>
            <a:chExt cx="1632" cy="1536"/>
          </a:xfrm>
        </p:grpSpPr>
        <p:sp>
          <p:nvSpPr>
            <p:cNvPr id="81966" name="Line 7">
              <a:extLst>
                <a:ext uri="{FF2B5EF4-FFF2-40B4-BE49-F238E27FC236}">
                  <a16:creationId xmlns:a16="http://schemas.microsoft.com/office/drawing/2014/main" id="{DEC3E27D-F390-41DD-8E90-1E4B5053D2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824"/>
              <a:ext cx="1104" cy="0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7" name="Line 8">
              <a:extLst>
                <a:ext uri="{FF2B5EF4-FFF2-40B4-BE49-F238E27FC236}">
                  <a16:creationId xmlns:a16="http://schemas.microsoft.com/office/drawing/2014/main" id="{A042852C-91F9-4860-B6CC-CE3833B43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824"/>
              <a:ext cx="0" cy="528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8" name="Line 9">
              <a:extLst>
                <a:ext uri="{FF2B5EF4-FFF2-40B4-BE49-F238E27FC236}">
                  <a16:creationId xmlns:a16="http://schemas.microsoft.com/office/drawing/2014/main" id="{3C265C52-1B9F-4D41-B2AC-BD73445FD1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352"/>
              <a:ext cx="1152" cy="0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9" name="Line 10">
              <a:extLst>
                <a:ext uri="{FF2B5EF4-FFF2-40B4-BE49-F238E27FC236}">
                  <a16:creationId xmlns:a16="http://schemas.microsoft.com/office/drawing/2014/main" id="{F8973EEA-8AF1-4240-995E-A6245C64BE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16" y="816"/>
              <a:ext cx="0" cy="1536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0" name="Line 11">
              <a:extLst>
                <a:ext uri="{FF2B5EF4-FFF2-40B4-BE49-F238E27FC236}">
                  <a16:creationId xmlns:a16="http://schemas.microsoft.com/office/drawing/2014/main" id="{3913F0C5-1E3A-40DD-B0E9-4980B8F1D1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20" y="816"/>
              <a:ext cx="288" cy="0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1" name="Line 12">
              <a:extLst>
                <a:ext uri="{FF2B5EF4-FFF2-40B4-BE49-F238E27FC236}">
                  <a16:creationId xmlns:a16="http://schemas.microsoft.com/office/drawing/2014/main" id="{29E88A88-1908-4791-AD0D-DB33E94191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28" y="1248"/>
              <a:ext cx="288" cy="0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72" name="Line 13">
              <a:extLst>
                <a:ext uri="{FF2B5EF4-FFF2-40B4-BE49-F238E27FC236}">
                  <a16:creationId xmlns:a16="http://schemas.microsoft.com/office/drawing/2014/main" id="{D6AB6BAA-7545-4ED5-9299-344BDD05B8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12" y="2016"/>
              <a:ext cx="288" cy="0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8862" name="Line 14">
            <a:extLst>
              <a:ext uri="{FF2B5EF4-FFF2-40B4-BE49-F238E27FC236}">
                <a16:creationId xmlns:a16="http://schemas.microsoft.com/office/drawing/2014/main" id="{11EA3D67-B680-4C62-B3DF-E46FCE3E8CB8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4229100" y="3467100"/>
            <a:ext cx="685800" cy="1981200"/>
          </a:xfrm>
          <a:prstGeom prst="line">
            <a:avLst/>
          </a:prstGeom>
          <a:noFill/>
          <a:ln w="76200">
            <a:solidFill>
              <a:srgbClr val="FF33CC"/>
            </a:solidFill>
            <a:round/>
            <a:headEnd/>
            <a:tailEnd type="triangle" w="med" len="med"/>
          </a:ln>
          <a:scene3d>
            <a:camera prst="legacyObliqueTopRight"/>
            <a:lightRig rig="legacyFlat3" dir="b"/>
          </a:scene3d>
          <a:sp3d extrusionH="36500" prstMaterial="legacyMatte">
            <a:bevelT w="13500" h="13500" prst="angle"/>
            <a:bevelB w="13500" h="13500" prst="angle"/>
            <a:extrusionClr>
              <a:srgbClr val="FF33CC"/>
            </a:extrusionClr>
            <a:contourClr>
              <a:srgbClr val="FF33CC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E6D2E4ED-1377-4D9F-9EDD-BAEEE14A225F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3733800"/>
            <a:ext cx="2819400" cy="2376488"/>
            <a:chOff x="3696" y="2352"/>
            <a:chExt cx="1776" cy="1497"/>
          </a:xfrm>
        </p:grpSpPr>
        <p:sp>
          <p:nvSpPr>
            <p:cNvPr id="81963" name="Oval 16">
              <a:extLst>
                <a:ext uri="{FF2B5EF4-FFF2-40B4-BE49-F238E27FC236}">
                  <a16:creationId xmlns:a16="http://schemas.microsoft.com/office/drawing/2014/main" id="{05FC2092-8B26-461F-ACB8-3635B0124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513"/>
              <a:ext cx="1776" cy="336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1964" name="Oval 17">
              <a:extLst>
                <a:ext uri="{FF2B5EF4-FFF2-40B4-BE49-F238E27FC236}">
                  <a16:creationId xmlns:a16="http://schemas.microsoft.com/office/drawing/2014/main" id="{F8767D54-F753-44FA-8C32-34553A4FE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784"/>
              <a:ext cx="1776" cy="336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1965" name="Oval 18">
              <a:extLst>
                <a:ext uri="{FF2B5EF4-FFF2-40B4-BE49-F238E27FC236}">
                  <a16:creationId xmlns:a16="http://schemas.microsoft.com/office/drawing/2014/main" id="{482A7333-A77A-4119-9B42-94091C6B9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352"/>
              <a:ext cx="1776" cy="336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4" name="Group 19">
            <a:extLst>
              <a:ext uri="{FF2B5EF4-FFF2-40B4-BE49-F238E27FC236}">
                <a16:creationId xmlns:a16="http://schemas.microsoft.com/office/drawing/2014/main" id="{F5CECD36-AA29-4DED-8ABD-443B1BB8C88C}"/>
              </a:ext>
            </a:extLst>
          </p:cNvPr>
          <p:cNvGrpSpPr>
            <a:grpSpLocks/>
          </p:cNvGrpSpPr>
          <p:nvPr/>
        </p:nvGrpSpPr>
        <p:grpSpPr bwMode="auto">
          <a:xfrm>
            <a:off x="1055688" y="4251325"/>
            <a:ext cx="3384550" cy="2317750"/>
            <a:chOff x="3225" y="2580"/>
            <a:chExt cx="2132" cy="1460"/>
          </a:xfrm>
        </p:grpSpPr>
        <p:sp>
          <p:nvSpPr>
            <p:cNvPr id="81951" name="Oval 20">
              <a:extLst>
                <a:ext uri="{FF2B5EF4-FFF2-40B4-BE49-F238E27FC236}">
                  <a16:creationId xmlns:a16="http://schemas.microsoft.com/office/drawing/2014/main" id="{1BC3C68B-99D4-48FD-B1DA-7AB95CCF8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854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1952" name="Oval 21">
              <a:extLst>
                <a:ext uri="{FF2B5EF4-FFF2-40B4-BE49-F238E27FC236}">
                  <a16:creationId xmlns:a16="http://schemas.microsoft.com/office/drawing/2014/main" id="{23729647-51AC-4CC9-92EF-34C7545B6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3858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1953" name="Oval 22">
              <a:extLst>
                <a:ext uri="{FF2B5EF4-FFF2-40B4-BE49-F238E27FC236}">
                  <a16:creationId xmlns:a16="http://schemas.microsoft.com/office/drawing/2014/main" id="{14385E0B-368F-4C87-9A7F-7338C0E4A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2696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1954" name="Oval 23">
              <a:extLst>
                <a:ext uri="{FF2B5EF4-FFF2-40B4-BE49-F238E27FC236}">
                  <a16:creationId xmlns:a16="http://schemas.microsoft.com/office/drawing/2014/main" id="{7EBE79E9-0BE5-43DA-9A42-852D303D9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2696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1955" name="Line 24">
              <a:extLst>
                <a:ext uri="{FF2B5EF4-FFF2-40B4-BE49-F238E27FC236}">
                  <a16:creationId xmlns:a16="http://schemas.microsoft.com/office/drawing/2014/main" id="{A4DDDE08-C8ED-4B96-988F-64EE167522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9" y="2741"/>
              <a:ext cx="139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6" name="Line 25">
              <a:extLst>
                <a:ext uri="{FF2B5EF4-FFF2-40B4-BE49-F238E27FC236}">
                  <a16:creationId xmlns:a16="http://schemas.microsoft.com/office/drawing/2014/main" id="{2CFA6B3C-D12A-4B15-8C26-6859A517C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9" y="2741"/>
              <a:ext cx="0" cy="111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7" name="Line 26">
              <a:extLst>
                <a:ext uri="{FF2B5EF4-FFF2-40B4-BE49-F238E27FC236}">
                  <a16:creationId xmlns:a16="http://schemas.microsoft.com/office/drawing/2014/main" id="{537A0104-C552-47A4-B5B4-1DEE425549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3899"/>
              <a:ext cx="140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8" name="Line 27">
              <a:extLst>
                <a:ext uri="{FF2B5EF4-FFF2-40B4-BE49-F238E27FC236}">
                  <a16:creationId xmlns:a16="http://schemas.microsoft.com/office/drawing/2014/main" id="{E052ABCE-DF39-48AD-9C37-D091AC0ECE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9" y="2791"/>
              <a:ext cx="0" cy="110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1959" name="Object 28">
              <a:extLst>
                <a:ext uri="{FF2B5EF4-FFF2-40B4-BE49-F238E27FC236}">
                  <a16:creationId xmlns:a16="http://schemas.microsoft.com/office/drawing/2014/main" id="{CF1843AA-7C97-41F6-B791-7CA9F41143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25" y="2635"/>
            <a:ext cx="25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0899" imgH="63456" progId="Equation.3">
                    <p:embed/>
                  </p:oleObj>
                </mc:Choice>
                <mc:Fallback>
                  <p:oleObj name="Equation" r:id="rId6" imgW="50899" imgH="63456" progId="Equation.3">
                    <p:embed/>
                    <p:pic>
                      <p:nvPicPr>
                        <p:cNvPr id="81959" name="Object 28">
                          <a:extLst>
                            <a:ext uri="{FF2B5EF4-FFF2-40B4-BE49-F238E27FC236}">
                              <a16:creationId xmlns:a16="http://schemas.microsoft.com/office/drawing/2014/main" id="{CF1843AA-7C97-41F6-B791-7CA9F41143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5" y="2635"/>
                          <a:ext cx="25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60" name="Object 29">
              <a:extLst>
                <a:ext uri="{FF2B5EF4-FFF2-40B4-BE49-F238E27FC236}">
                  <a16:creationId xmlns:a16="http://schemas.microsoft.com/office/drawing/2014/main" id="{7E4C916F-981A-48AC-A4E5-60C9AA7E10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17" y="3769"/>
            <a:ext cx="23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8273" imgH="63456" progId="Equation.3">
                    <p:embed/>
                  </p:oleObj>
                </mc:Choice>
                <mc:Fallback>
                  <p:oleObj name="Equation" r:id="rId8" imgW="38273" imgH="63456" progId="Equation.3">
                    <p:embed/>
                    <p:pic>
                      <p:nvPicPr>
                        <p:cNvPr id="81960" name="Object 29">
                          <a:extLst>
                            <a:ext uri="{FF2B5EF4-FFF2-40B4-BE49-F238E27FC236}">
                              <a16:creationId xmlns:a16="http://schemas.microsoft.com/office/drawing/2014/main" id="{7E4C916F-981A-48AC-A4E5-60C9AA7E10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7" y="3769"/>
                          <a:ext cx="232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61" name="Object 30">
              <a:extLst>
                <a:ext uri="{FF2B5EF4-FFF2-40B4-BE49-F238E27FC236}">
                  <a16:creationId xmlns:a16="http://schemas.microsoft.com/office/drawing/2014/main" id="{2DB4EF2F-6F7B-45CE-9533-004F3B9143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37" y="3704"/>
            <a:ext cx="28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3525" imgH="101688" progId="Equation.3">
                    <p:embed/>
                  </p:oleObj>
                </mc:Choice>
                <mc:Fallback>
                  <p:oleObj name="Equation" r:id="rId10" imgW="63525" imgH="101688" progId="Equation.3">
                    <p:embed/>
                    <p:pic>
                      <p:nvPicPr>
                        <p:cNvPr id="81961" name="Object 30">
                          <a:extLst>
                            <a:ext uri="{FF2B5EF4-FFF2-40B4-BE49-F238E27FC236}">
                              <a16:creationId xmlns:a16="http://schemas.microsoft.com/office/drawing/2014/main" id="{2DB4EF2F-6F7B-45CE-9533-004F3B9143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7" y="3704"/>
                          <a:ext cx="28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62" name="Object 31">
              <a:extLst>
                <a:ext uri="{FF2B5EF4-FFF2-40B4-BE49-F238E27FC236}">
                  <a16:creationId xmlns:a16="http://schemas.microsoft.com/office/drawing/2014/main" id="{49367A08-3471-4376-8033-3538637C9F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99" y="2580"/>
            <a:ext cx="258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50899" imgH="101688" progId="Equation.3">
                    <p:embed/>
                  </p:oleObj>
                </mc:Choice>
                <mc:Fallback>
                  <p:oleObj name="Equation" r:id="rId12" imgW="50899" imgH="101688" progId="Equation.3">
                    <p:embed/>
                    <p:pic>
                      <p:nvPicPr>
                        <p:cNvPr id="81962" name="Object 31">
                          <a:extLst>
                            <a:ext uri="{FF2B5EF4-FFF2-40B4-BE49-F238E27FC236}">
                              <a16:creationId xmlns:a16="http://schemas.microsoft.com/office/drawing/2014/main" id="{49367A08-3471-4376-8033-3538637C9F0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9" y="2580"/>
                          <a:ext cx="258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8880" name="Line 32">
            <a:extLst>
              <a:ext uri="{FF2B5EF4-FFF2-40B4-BE49-F238E27FC236}">
                <a16:creationId xmlns:a16="http://schemas.microsoft.com/office/drawing/2014/main" id="{E2AA025E-1D58-496D-B578-43C8578E29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14488" y="4556125"/>
            <a:ext cx="2212975" cy="17478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881" name="Line 33">
            <a:extLst>
              <a:ext uri="{FF2B5EF4-FFF2-40B4-BE49-F238E27FC236}">
                <a16:creationId xmlns:a16="http://schemas.microsoft.com/office/drawing/2014/main" id="{F19A2D87-37B7-464F-942E-2E9E845A97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98613" y="4570413"/>
            <a:ext cx="2212975" cy="17478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882" name="Line 34">
            <a:extLst>
              <a:ext uri="{FF2B5EF4-FFF2-40B4-BE49-F238E27FC236}">
                <a16:creationId xmlns:a16="http://schemas.microsoft.com/office/drawing/2014/main" id="{2E18E7E6-7B28-44B7-B96B-70F9E55E7C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4650" y="4548188"/>
            <a:ext cx="2149475" cy="1701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35">
            <a:extLst>
              <a:ext uri="{FF2B5EF4-FFF2-40B4-BE49-F238E27FC236}">
                <a16:creationId xmlns:a16="http://schemas.microsoft.com/office/drawing/2014/main" id="{066B383A-31CA-4F7D-816D-09D25FA37AC4}"/>
              </a:ext>
            </a:extLst>
          </p:cNvPr>
          <p:cNvGrpSpPr>
            <a:grpSpLocks/>
          </p:cNvGrpSpPr>
          <p:nvPr/>
        </p:nvGrpSpPr>
        <p:grpSpPr bwMode="auto">
          <a:xfrm>
            <a:off x="1608138" y="6407150"/>
            <a:ext cx="2286000" cy="141288"/>
            <a:chOff x="786" y="3566"/>
            <a:chExt cx="1440" cy="89"/>
          </a:xfrm>
        </p:grpSpPr>
        <p:sp>
          <p:nvSpPr>
            <p:cNvPr id="81949" name="Freeform 36">
              <a:extLst>
                <a:ext uri="{FF2B5EF4-FFF2-40B4-BE49-F238E27FC236}">
                  <a16:creationId xmlns:a16="http://schemas.microsoft.com/office/drawing/2014/main" id="{4B92DFA9-5AF1-4F59-8A32-9FCCE0BF7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" y="3566"/>
              <a:ext cx="1440" cy="89"/>
            </a:xfrm>
            <a:custGeom>
              <a:avLst/>
              <a:gdLst>
                <a:gd name="T0" fmla="*/ 0 w 1440"/>
                <a:gd name="T1" fmla="*/ 0 h 96"/>
                <a:gd name="T2" fmla="*/ 624 w 1440"/>
                <a:gd name="T3" fmla="*/ 19 h 96"/>
                <a:gd name="T4" fmla="*/ 1440 w 1440"/>
                <a:gd name="T5" fmla="*/ 0 h 96"/>
                <a:gd name="T6" fmla="*/ 0 60000 65536"/>
                <a:gd name="T7" fmla="*/ 0 60000 65536"/>
                <a:gd name="T8" fmla="*/ 0 60000 65536"/>
                <a:gd name="T9" fmla="*/ 0 w 1440"/>
                <a:gd name="T10" fmla="*/ 0 h 96"/>
                <a:gd name="T11" fmla="*/ 1440 w 1440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96">
                  <a:moveTo>
                    <a:pt x="0" y="0"/>
                  </a:moveTo>
                  <a:cubicBezTo>
                    <a:pt x="192" y="48"/>
                    <a:pt x="384" y="96"/>
                    <a:pt x="624" y="96"/>
                  </a:cubicBezTo>
                  <a:cubicBezTo>
                    <a:pt x="864" y="96"/>
                    <a:pt x="1304" y="16"/>
                    <a:pt x="1440" y="0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0" name="Line 37">
              <a:extLst>
                <a:ext uri="{FF2B5EF4-FFF2-40B4-BE49-F238E27FC236}">
                  <a16:creationId xmlns:a16="http://schemas.microsoft.com/office/drawing/2014/main" id="{A923CAF0-CCA2-4FF2-ABA0-FBAE6DE13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4" y="3655"/>
              <a:ext cx="24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38">
            <a:extLst>
              <a:ext uri="{FF2B5EF4-FFF2-40B4-BE49-F238E27FC236}">
                <a16:creationId xmlns:a16="http://schemas.microsoft.com/office/drawing/2014/main" id="{81A9E58A-FCE7-4D75-BA48-2772E0AE05D5}"/>
              </a:ext>
            </a:extLst>
          </p:cNvPr>
          <p:cNvGrpSpPr>
            <a:grpSpLocks/>
          </p:cNvGrpSpPr>
          <p:nvPr/>
        </p:nvGrpSpPr>
        <p:grpSpPr bwMode="auto">
          <a:xfrm>
            <a:off x="1608138" y="6408738"/>
            <a:ext cx="2286000" cy="141287"/>
            <a:chOff x="786" y="3566"/>
            <a:chExt cx="1440" cy="89"/>
          </a:xfrm>
        </p:grpSpPr>
        <p:sp>
          <p:nvSpPr>
            <p:cNvPr id="81947" name="Freeform 39">
              <a:extLst>
                <a:ext uri="{FF2B5EF4-FFF2-40B4-BE49-F238E27FC236}">
                  <a16:creationId xmlns:a16="http://schemas.microsoft.com/office/drawing/2014/main" id="{365445A5-786E-46F7-8647-556589194D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" y="3566"/>
              <a:ext cx="1440" cy="89"/>
            </a:xfrm>
            <a:custGeom>
              <a:avLst/>
              <a:gdLst>
                <a:gd name="T0" fmla="*/ 0 w 1440"/>
                <a:gd name="T1" fmla="*/ 0 h 96"/>
                <a:gd name="T2" fmla="*/ 624 w 1440"/>
                <a:gd name="T3" fmla="*/ 19 h 96"/>
                <a:gd name="T4" fmla="*/ 1440 w 1440"/>
                <a:gd name="T5" fmla="*/ 0 h 96"/>
                <a:gd name="T6" fmla="*/ 0 60000 65536"/>
                <a:gd name="T7" fmla="*/ 0 60000 65536"/>
                <a:gd name="T8" fmla="*/ 0 60000 65536"/>
                <a:gd name="T9" fmla="*/ 0 w 1440"/>
                <a:gd name="T10" fmla="*/ 0 h 96"/>
                <a:gd name="T11" fmla="*/ 1440 w 1440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96">
                  <a:moveTo>
                    <a:pt x="0" y="0"/>
                  </a:moveTo>
                  <a:cubicBezTo>
                    <a:pt x="192" y="48"/>
                    <a:pt x="384" y="96"/>
                    <a:pt x="624" y="96"/>
                  </a:cubicBezTo>
                  <a:cubicBezTo>
                    <a:pt x="864" y="96"/>
                    <a:pt x="1304" y="16"/>
                    <a:pt x="1440" y="0"/>
                  </a:cubicBezTo>
                </a:path>
              </a:pathLst>
            </a:custGeom>
            <a:noFill/>
            <a:ln w="57150" cmpd="sng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8" name="Line 40">
              <a:extLst>
                <a:ext uri="{FF2B5EF4-FFF2-40B4-BE49-F238E27FC236}">
                  <a16:creationId xmlns:a16="http://schemas.microsoft.com/office/drawing/2014/main" id="{70FE501C-912A-4062-9160-713EB2F5F3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4" y="3655"/>
              <a:ext cx="240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8889" name="Line 41">
            <a:extLst>
              <a:ext uri="{FF2B5EF4-FFF2-40B4-BE49-F238E27FC236}">
                <a16:creationId xmlns:a16="http://schemas.microsoft.com/office/drawing/2014/main" id="{A5238B06-5847-481F-9C5A-D819D089EF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7188" y="4529138"/>
            <a:ext cx="2149475" cy="17018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890" name="Line 42">
            <a:extLst>
              <a:ext uri="{FF2B5EF4-FFF2-40B4-BE49-F238E27FC236}">
                <a16:creationId xmlns:a16="http://schemas.microsoft.com/office/drawing/2014/main" id="{82A3978F-E59E-4FF1-9C28-E7494167B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0963" y="4597400"/>
            <a:ext cx="0" cy="1684338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46">
            <a:extLst>
              <a:ext uri="{FF2B5EF4-FFF2-40B4-BE49-F238E27FC236}">
                <a16:creationId xmlns:a16="http://schemas.microsoft.com/office/drawing/2014/main" id="{EE244ADF-2CC8-4F5D-BE5A-32380EF6093F}"/>
              </a:ext>
            </a:extLst>
          </p:cNvPr>
          <p:cNvGrpSpPr>
            <a:grpSpLocks/>
          </p:cNvGrpSpPr>
          <p:nvPr/>
        </p:nvGrpSpPr>
        <p:grpSpPr bwMode="auto">
          <a:xfrm>
            <a:off x="1200150" y="4465638"/>
            <a:ext cx="304800" cy="1901825"/>
            <a:chOff x="756" y="2813"/>
            <a:chExt cx="192" cy="1198"/>
          </a:xfrm>
        </p:grpSpPr>
        <p:sp>
          <p:nvSpPr>
            <p:cNvPr id="81945" name="Freeform 43">
              <a:extLst>
                <a:ext uri="{FF2B5EF4-FFF2-40B4-BE49-F238E27FC236}">
                  <a16:creationId xmlns:a16="http://schemas.microsoft.com/office/drawing/2014/main" id="{CC52406E-8D9B-4A4E-BDC7-A5ADA61CC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" y="2813"/>
              <a:ext cx="192" cy="1198"/>
            </a:xfrm>
            <a:custGeom>
              <a:avLst/>
              <a:gdLst>
                <a:gd name="T0" fmla="*/ 192 w 192"/>
                <a:gd name="T1" fmla="*/ 0 h 1296"/>
                <a:gd name="T2" fmla="*/ 0 w 192"/>
                <a:gd name="T3" fmla="*/ 101 h 1296"/>
                <a:gd name="T4" fmla="*/ 192 w 192"/>
                <a:gd name="T5" fmla="*/ 249 h 1296"/>
                <a:gd name="T6" fmla="*/ 0 60000 65536"/>
                <a:gd name="T7" fmla="*/ 0 60000 65536"/>
                <a:gd name="T8" fmla="*/ 0 60000 65536"/>
                <a:gd name="T9" fmla="*/ 0 w 192"/>
                <a:gd name="T10" fmla="*/ 0 h 1296"/>
                <a:gd name="T11" fmla="*/ 192 w 192"/>
                <a:gd name="T12" fmla="*/ 1296 h 1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1296">
                  <a:moveTo>
                    <a:pt x="192" y="0"/>
                  </a:moveTo>
                  <a:cubicBezTo>
                    <a:pt x="96" y="156"/>
                    <a:pt x="0" y="312"/>
                    <a:pt x="0" y="528"/>
                  </a:cubicBezTo>
                  <a:cubicBezTo>
                    <a:pt x="0" y="744"/>
                    <a:pt x="96" y="1020"/>
                    <a:pt x="192" y="1296"/>
                  </a:cubicBezTo>
                </a:path>
              </a:pathLst>
            </a:custGeom>
            <a:noFill/>
            <a:ln w="571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6" name="Line 44">
              <a:extLst>
                <a:ext uri="{FF2B5EF4-FFF2-40B4-BE49-F238E27FC236}">
                  <a16:creationId xmlns:a16="http://schemas.microsoft.com/office/drawing/2014/main" id="{72FA4C2A-CC06-449A-8A71-943E0B852E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6" y="3212"/>
              <a:ext cx="0" cy="133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52">
            <a:extLst>
              <a:ext uri="{FF2B5EF4-FFF2-40B4-BE49-F238E27FC236}">
                <a16:creationId xmlns:a16="http://schemas.microsoft.com/office/drawing/2014/main" id="{F1313BB4-252F-4DD4-8743-94CA2995C260}"/>
              </a:ext>
            </a:extLst>
          </p:cNvPr>
          <p:cNvGrpSpPr>
            <a:grpSpLocks/>
          </p:cNvGrpSpPr>
          <p:nvPr/>
        </p:nvGrpSpPr>
        <p:grpSpPr bwMode="auto">
          <a:xfrm>
            <a:off x="1603375" y="4491038"/>
            <a:ext cx="2286000" cy="1838325"/>
            <a:chOff x="1010" y="2829"/>
            <a:chExt cx="1440" cy="1158"/>
          </a:xfrm>
        </p:grpSpPr>
        <p:sp>
          <p:nvSpPr>
            <p:cNvPr id="81943" name="Freeform 50">
              <a:extLst>
                <a:ext uri="{FF2B5EF4-FFF2-40B4-BE49-F238E27FC236}">
                  <a16:creationId xmlns:a16="http://schemas.microsoft.com/office/drawing/2014/main" id="{AB23CCE7-381E-4F10-AE36-55E9BCB03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2829"/>
              <a:ext cx="1440" cy="1158"/>
            </a:xfrm>
            <a:custGeom>
              <a:avLst/>
              <a:gdLst>
                <a:gd name="T0" fmla="*/ 1440 w 1440"/>
                <a:gd name="T1" fmla="*/ 0 h 1248"/>
                <a:gd name="T2" fmla="*/ 960 w 1440"/>
                <a:gd name="T3" fmla="*/ 161 h 1248"/>
                <a:gd name="T4" fmla="*/ 0 w 1440"/>
                <a:gd name="T5" fmla="*/ 259 h 1248"/>
                <a:gd name="T6" fmla="*/ 0 60000 65536"/>
                <a:gd name="T7" fmla="*/ 0 60000 65536"/>
                <a:gd name="T8" fmla="*/ 0 60000 65536"/>
                <a:gd name="T9" fmla="*/ 0 w 1440"/>
                <a:gd name="T10" fmla="*/ 0 h 1248"/>
                <a:gd name="T11" fmla="*/ 1440 w 1440"/>
                <a:gd name="T12" fmla="*/ 1248 h 1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1248">
                  <a:moveTo>
                    <a:pt x="1440" y="0"/>
                  </a:moveTo>
                  <a:cubicBezTo>
                    <a:pt x="1320" y="280"/>
                    <a:pt x="1200" y="560"/>
                    <a:pt x="960" y="768"/>
                  </a:cubicBezTo>
                  <a:cubicBezTo>
                    <a:pt x="720" y="976"/>
                    <a:pt x="360" y="1112"/>
                    <a:pt x="0" y="1248"/>
                  </a:cubicBezTo>
                </a:path>
              </a:pathLst>
            </a:custGeom>
            <a:noFill/>
            <a:ln w="76200" cmpd="sng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4" name="Line 51">
              <a:extLst>
                <a:ext uri="{FF2B5EF4-FFF2-40B4-BE49-F238E27FC236}">
                  <a16:creationId xmlns:a16="http://schemas.microsoft.com/office/drawing/2014/main" id="{BEC09B71-2815-411F-A2AE-365731DC35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8" y="3499"/>
              <a:ext cx="96" cy="89"/>
            </a:xfrm>
            <a:prstGeom prst="line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55">
            <a:extLst>
              <a:ext uri="{FF2B5EF4-FFF2-40B4-BE49-F238E27FC236}">
                <a16:creationId xmlns:a16="http://schemas.microsoft.com/office/drawing/2014/main" id="{B44E7C74-AB10-4B15-A30C-A56D97E72F34}"/>
              </a:ext>
            </a:extLst>
          </p:cNvPr>
          <p:cNvGrpSpPr>
            <a:grpSpLocks/>
          </p:cNvGrpSpPr>
          <p:nvPr/>
        </p:nvGrpSpPr>
        <p:grpSpPr bwMode="auto">
          <a:xfrm>
            <a:off x="1011238" y="6143625"/>
            <a:ext cx="609600" cy="609600"/>
            <a:chOff x="637" y="3870"/>
            <a:chExt cx="384" cy="384"/>
          </a:xfrm>
        </p:grpSpPr>
        <p:sp>
          <p:nvSpPr>
            <p:cNvPr id="81941" name="Oval 53">
              <a:extLst>
                <a:ext uri="{FF2B5EF4-FFF2-40B4-BE49-F238E27FC236}">
                  <a16:creationId xmlns:a16="http://schemas.microsoft.com/office/drawing/2014/main" id="{B03FE242-9FA9-428B-90C4-948079289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" y="3870"/>
              <a:ext cx="384" cy="384"/>
            </a:xfrm>
            <a:prstGeom prst="ellips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1942" name="Line 54">
              <a:extLst>
                <a:ext uri="{FF2B5EF4-FFF2-40B4-BE49-F238E27FC236}">
                  <a16:creationId xmlns:a16="http://schemas.microsoft.com/office/drawing/2014/main" id="{A3978D0F-E5F0-420B-9B5B-61C03562A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" y="4042"/>
              <a:ext cx="19" cy="121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71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188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188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灯片编号占位符 3">
            <a:extLst>
              <a:ext uri="{FF2B5EF4-FFF2-40B4-BE49-F238E27FC236}">
                <a16:creationId xmlns:a16="http://schemas.microsoft.com/office/drawing/2014/main" id="{8114A1A7-2CBE-425B-90BA-FEAB90331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69D13BC6-71E0-42B6-B6F8-13739CFDBFB3}" type="slidenum">
              <a:rPr lang="zh-CN" altLang="en-US" sz="1400" b="0" smtClean="0"/>
              <a:pPr algn="l">
                <a:spcBef>
                  <a:spcPct val="0"/>
                </a:spcBef>
                <a:buClrTx/>
                <a:buFontTx/>
                <a:buNone/>
              </a:pPr>
              <a:t>104</a:t>
            </a:fld>
            <a:endParaRPr lang="en-US" altLang="zh-CN" sz="1400" b="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BB202EA0-165C-413F-B474-4DDEECDD86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</a:t>
            </a:r>
            <a:r>
              <a:rPr lang="zh-CN" altLang="en-US"/>
              <a:t>（续）</a:t>
            </a:r>
          </a:p>
        </p:txBody>
      </p:sp>
      <p:graphicFrame>
        <p:nvGraphicFramePr>
          <p:cNvPr id="719875" name="Object 3">
            <a:extLst>
              <a:ext uri="{FF2B5EF4-FFF2-40B4-BE49-F238E27FC236}">
                <a16:creationId xmlns:a16="http://schemas.microsoft.com/office/drawing/2014/main" id="{5B1D02F0-C95E-48D8-8A40-F9FD394A83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475" y="1222375"/>
          <a:ext cx="3122613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899" imgH="838331" progId="Equation.DSMT4">
                  <p:embed/>
                </p:oleObj>
              </mc:Choice>
              <mc:Fallback>
                <p:oleObj name="Equation" r:id="rId2" imgW="1066899" imgH="838331" progId="Equation.DSMT4">
                  <p:embed/>
                  <p:pic>
                    <p:nvPicPr>
                      <p:cNvPr id="719875" name="Object 3">
                        <a:extLst>
                          <a:ext uri="{FF2B5EF4-FFF2-40B4-BE49-F238E27FC236}">
                            <a16:creationId xmlns:a16="http://schemas.microsoft.com/office/drawing/2014/main" id="{5B1D02F0-C95E-48D8-8A40-F9FD394A83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75" y="1222375"/>
                        <a:ext cx="3122613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876" name="Text Box 4">
            <a:extLst>
              <a:ext uri="{FF2B5EF4-FFF2-40B4-BE49-F238E27FC236}">
                <a16:creationId xmlns:a16="http://schemas.microsoft.com/office/drawing/2014/main" id="{F015D475-5909-4BCA-ACBC-9218609EB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0188" y="1728788"/>
            <a:ext cx="45402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i=4</a:t>
            </a:r>
            <a:r>
              <a:rPr kumimoji="1" lang="zh-CN" altLang="en-US" sz="4000" b="0">
                <a:ea typeface="黑体" panose="02010609060101010101" pitchFamily="49" charset="-122"/>
              </a:rPr>
              <a:t>时，</a:t>
            </a:r>
            <a:r>
              <a:rPr kumimoji="1" lang="en-US" altLang="zh-CN" sz="4000" b="0">
                <a:ea typeface="黑体" panose="02010609060101010101" pitchFamily="49" charset="-122"/>
              </a:rPr>
              <a:t>j=1,2,3,4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14 </a:t>
            </a:r>
            <a:r>
              <a:rPr kumimoji="1" lang="en-US" altLang="zh-CN" sz="4000" b="0">
                <a:ea typeface="黑体" panose="02010609060101010101" pitchFamily="49" charset="-122"/>
              </a:rPr>
              <a:t>, 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24 </a:t>
            </a:r>
            <a:r>
              <a:rPr kumimoji="1" lang="en-US" altLang="zh-CN" sz="4000" b="0">
                <a:ea typeface="黑体" panose="02010609060101010101" pitchFamily="49" charset="-122"/>
              </a:rPr>
              <a:t>, 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34 </a:t>
            </a:r>
            <a:r>
              <a:rPr kumimoji="1" lang="en-US" altLang="zh-CN" sz="4000" b="0">
                <a:ea typeface="黑体" panose="02010609060101010101" pitchFamily="49" charset="-122"/>
              </a:rPr>
              <a:t>,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 </a:t>
            </a:r>
            <a:r>
              <a:rPr kumimoji="1" lang="en-US" altLang="zh-CN" sz="4000" b="0">
                <a:ea typeface="黑体" panose="02010609060101010101" pitchFamily="49" charset="-122"/>
              </a:rPr>
              <a:t>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44</a:t>
            </a:r>
            <a:r>
              <a:rPr kumimoji="1" lang="en-US" altLang="zh-CN" sz="4000" b="0">
                <a:ea typeface="黑体" panose="02010609060101010101" pitchFamily="49" charset="-122"/>
              </a:rPr>
              <a:t>=1</a:t>
            </a:r>
          </a:p>
        </p:txBody>
      </p:sp>
      <p:sp>
        <p:nvSpPr>
          <p:cNvPr id="719877" name="Oval 5">
            <a:extLst>
              <a:ext uri="{FF2B5EF4-FFF2-40B4-BE49-F238E27FC236}">
                <a16:creationId xmlns:a16="http://schemas.microsoft.com/office/drawing/2014/main" id="{71A09DD2-B5B0-4779-8687-C6916FDEB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066800"/>
            <a:ext cx="533400" cy="2667000"/>
          </a:xfrm>
          <a:prstGeom prst="ellipse">
            <a:avLst/>
          </a:prstGeom>
          <a:noFill/>
          <a:ln w="28575">
            <a:solidFill>
              <a:srgbClr val="0000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3000" b="0">
              <a:latin typeface="Arial Narrow" panose="020B0606020202030204" pitchFamily="34" charset="0"/>
            </a:endParaRP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576C7D6D-5092-4AD8-9435-A73D1A709EC6}"/>
              </a:ext>
            </a:extLst>
          </p:cNvPr>
          <p:cNvGrpSpPr>
            <a:grpSpLocks/>
          </p:cNvGrpSpPr>
          <p:nvPr/>
        </p:nvGrpSpPr>
        <p:grpSpPr bwMode="auto">
          <a:xfrm>
            <a:off x="1055688" y="4251325"/>
            <a:ext cx="3384550" cy="2317750"/>
            <a:chOff x="3225" y="2580"/>
            <a:chExt cx="2132" cy="1460"/>
          </a:xfrm>
        </p:grpSpPr>
        <p:sp>
          <p:nvSpPr>
            <p:cNvPr id="82977" name="Oval 7">
              <a:extLst>
                <a:ext uri="{FF2B5EF4-FFF2-40B4-BE49-F238E27FC236}">
                  <a16:creationId xmlns:a16="http://schemas.microsoft.com/office/drawing/2014/main" id="{6F0EC4FE-CBA9-4059-958E-D85DFDBF1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854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2978" name="Oval 8">
              <a:extLst>
                <a:ext uri="{FF2B5EF4-FFF2-40B4-BE49-F238E27FC236}">
                  <a16:creationId xmlns:a16="http://schemas.microsoft.com/office/drawing/2014/main" id="{64CB33CE-4027-4A26-85D3-E8BA6A64F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3858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2979" name="Oval 9">
              <a:extLst>
                <a:ext uri="{FF2B5EF4-FFF2-40B4-BE49-F238E27FC236}">
                  <a16:creationId xmlns:a16="http://schemas.microsoft.com/office/drawing/2014/main" id="{0D07ED8C-7ED6-420C-8D5C-D96149222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2696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2980" name="Oval 10">
              <a:extLst>
                <a:ext uri="{FF2B5EF4-FFF2-40B4-BE49-F238E27FC236}">
                  <a16:creationId xmlns:a16="http://schemas.microsoft.com/office/drawing/2014/main" id="{5323DB6D-05F3-4D2F-9271-0BA491CCB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2696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2981" name="Line 11">
              <a:extLst>
                <a:ext uri="{FF2B5EF4-FFF2-40B4-BE49-F238E27FC236}">
                  <a16:creationId xmlns:a16="http://schemas.microsoft.com/office/drawing/2014/main" id="{7902CAF0-E7F2-48C2-99CF-958931DDA5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9" y="2741"/>
              <a:ext cx="139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2" name="Line 12">
              <a:extLst>
                <a:ext uri="{FF2B5EF4-FFF2-40B4-BE49-F238E27FC236}">
                  <a16:creationId xmlns:a16="http://schemas.microsoft.com/office/drawing/2014/main" id="{DBAE2165-BF80-4F00-A1DE-E1B4ECA68B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9" y="2741"/>
              <a:ext cx="0" cy="111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3" name="Line 13">
              <a:extLst>
                <a:ext uri="{FF2B5EF4-FFF2-40B4-BE49-F238E27FC236}">
                  <a16:creationId xmlns:a16="http://schemas.microsoft.com/office/drawing/2014/main" id="{7E6E9FD1-82BC-4024-BA45-CEFBAFA0C3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3899"/>
              <a:ext cx="140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4" name="Line 14">
              <a:extLst>
                <a:ext uri="{FF2B5EF4-FFF2-40B4-BE49-F238E27FC236}">
                  <a16:creationId xmlns:a16="http://schemas.microsoft.com/office/drawing/2014/main" id="{F269186E-12D1-46D6-AB88-50AFEB9837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9" y="2791"/>
              <a:ext cx="0" cy="110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2985" name="Object 15">
              <a:extLst>
                <a:ext uri="{FF2B5EF4-FFF2-40B4-BE49-F238E27FC236}">
                  <a16:creationId xmlns:a16="http://schemas.microsoft.com/office/drawing/2014/main" id="{2F64F0CE-C38A-43F6-A10F-976909A84B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25" y="2635"/>
            <a:ext cx="25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0899" imgH="63456" progId="Equation.3">
                    <p:embed/>
                  </p:oleObj>
                </mc:Choice>
                <mc:Fallback>
                  <p:oleObj name="Equation" r:id="rId4" imgW="50899" imgH="63456" progId="Equation.3">
                    <p:embed/>
                    <p:pic>
                      <p:nvPicPr>
                        <p:cNvPr id="82985" name="Object 15">
                          <a:extLst>
                            <a:ext uri="{FF2B5EF4-FFF2-40B4-BE49-F238E27FC236}">
                              <a16:creationId xmlns:a16="http://schemas.microsoft.com/office/drawing/2014/main" id="{2F64F0CE-C38A-43F6-A10F-976909A84B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5" y="2635"/>
                          <a:ext cx="25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986" name="Object 16">
              <a:extLst>
                <a:ext uri="{FF2B5EF4-FFF2-40B4-BE49-F238E27FC236}">
                  <a16:creationId xmlns:a16="http://schemas.microsoft.com/office/drawing/2014/main" id="{619721C1-54C6-420B-861A-4BBF1E4BC3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17" y="3769"/>
            <a:ext cx="23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8273" imgH="63456" progId="Equation.3">
                    <p:embed/>
                  </p:oleObj>
                </mc:Choice>
                <mc:Fallback>
                  <p:oleObj name="Equation" r:id="rId6" imgW="38273" imgH="63456" progId="Equation.3">
                    <p:embed/>
                    <p:pic>
                      <p:nvPicPr>
                        <p:cNvPr id="82986" name="Object 16">
                          <a:extLst>
                            <a:ext uri="{FF2B5EF4-FFF2-40B4-BE49-F238E27FC236}">
                              <a16:creationId xmlns:a16="http://schemas.microsoft.com/office/drawing/2014/main" id="{619721C1-54C6-420B-861A-4BBF1E4BC3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7" y="3769"/>
                          <a:ext cx="232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987" name="Object 17">
              <a:extLst>
                <a:ext uri="{FF2B5EF4-FFF2-40B4-BE49-F238E27FC236}">
                  <a16:creationId xmlns:a16="http://schemas.microsoft.com/office/drawing/2014/main" id="{7886FE59-18A9-4EE4-8B91-1A0D93E415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37" y="3704"/>
            <a:ext cx="28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3525" imgH="101688" progId="Equation.3">
                    <p:embed/>
                  </p:oleObj>
                </mc:Choice>
                <mc:Fallback>
                  <p:oleObj name="Equation" r:id="rId8" imgW="63525" imgH="101688" progId="Equation.3">
                    <p:embed/>
                    <p:pic>
                      <p:nvPicPr>
                        <p:cNvPr id="82987" name="Object 17">
                          <a:extLst>
                            <a:ext uri="{FF2B5EF4-FFF2-40B4-BE49-F238E27FC236}">
                              <a16:creationId xmlns:a16="http://schemas.microsoft.com/office/drawing/2014/main" id="{7886FE59-18A9-4EE4-8B91-1A0D93E4155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7" y="3704"/>
                          <a:ext cx="28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988" name="Object 18">
              <a:extLst>
                <a:ext uri="{FF2B5EF4-FFF2-40B4-BE49-F238E27FC236}">
                  <a16:creationId xmlns:a16="http://schemas.microsoft.com/office/drawing/2014/main" id="{624082AB-6DDB-4861-8289-B804D94D6F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99" y="2580"/>
            <a:ext cx="258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0899" imgH="101688" progId="Equation.3">
                    <p:embed/>
                  </p:oleObj>
                </mc:Choice>
                <mc:Fallback>
                  <p:oleObj name="Equation" r:id="rId10" imgW="50899" imgH="101688" progId="Equation.3">
                    <p:embed/>
                    <p:pic>
                      <p:nvPicPr>
                        <p:cNvPr id="82988" name="Object 18">
                          <a:extLst>
                            <a:ext uri="{FF2B5EF4-FFF2-40B4-BE49-F238E27FC236}">
                              <a16:creationId xmlns:a16="http://schemas.microsoft.com/office/drawing/2014/main" id="{624082AB-6DDB-4861-8289-B804D94D6F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9" y="2580"/>
                          <a:ext cx="258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9891" name="Line 19">
            <a:extLst>
              <a:ext uri="{FF2B5EF4-FFF2-40B4-BE49-F238E27FC236}">
                <a16:creationId xmlns:a16="http://schemas.microsoft.com/office/drawing/2014/main" id="{62D76654-F9EC-47E1-BA1A-9788B4A91C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14488" y="4556125"/>
            <a:ext cx="2212975" cy="17478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9892" name="Line 20">
            <a:extLst>
              <a:ext uri="{FF2B5EF4-FFF2-40B4-BE49-F238E27FC236}">
                <a16:creationId xmlns:a16="http://schemas.microsoft.com/office/drawing/2014/main" id="{A3452920-932E-4EBF-AA8F-8C580547AD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98613" y="4570413"/>
            <a:ext cx="2212975" cy="17478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9893" name="Line 21">
            <a:extLst>
              <a:ext uri="{FF2B5EF4-FFF2-40B4-BE49-F238E27FC236}">
                <a16:creationId xmlns:a16="http://schemas.microsoft.com/office/drawing/2014/main" id="{0E835622-10A0-4391-8CBE-1E066F3F71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4650" y="4548188"/>
            <a:ext cx="2149475" cy="1701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22">
            <a:extLst>
              <a:ext uri="{FF2B5EF4-FFF2-40B4-BE49-F238E27FC236}">
                <a16:creationId xmlns:a16="http://schemas.microsoft.com/office/drawing/2014/main" id="{C1CA11E9-2CC3-4765-B821-A5B11416A1C4}"/>
              </a:ext>
            </a:extLst>
          </p:cNvPr>
          <p:cNvGrpSpPr>
            <a:grpSpLocks/>
          </p:cNvGrpSpPr>
          <p:nvPr/>
        </p:nvGrpSpPr>
        <p:grpSpPr bwMode="auto">
          <a:xfrm>
            <a:off x="1608138" y="6407150"/>
            <a:ext cx="2286000" cy="141288"/>
            <a:chOff x="786" y="3566"/>
            <a:chExt cx="1440" cy="89"/>
          </a:xfrm>
        </p:grpSpPr>
        <p:sp>
          <p:nvSpPr>
            <p:cNvPr id="82975" name="Freeform 23">
              <a:extLst>
                <a:ext uri="{FF2B5EF4-FFF2-40B4-BE49-F238E27FC236}">
                  <a16:creationId xmlns:a16="http://schemas.microsoft.com/office/drawing/2014/main" id="{5E539E97-229B-4170-9842-887C064CA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" y="3566"/>
              <a:ext cx="1440" cy="89"/>
            </a:xfrm>
            <a:custGeom>
              <a:avLst/>
              <a:gdLst>
                <a:gd name="T0" fmla="*/ 0 w 1440"/>
                <a:gd name="T1" fmla="*/ 0 h 96"/>
                <a:gd name="T2" fmla="*/ 624 w 1440"/>
                <a:gd name="T3" fmla="*/ 19 h 96"/>
                <a:gd name="T4" fmla="*/ 1440 w 1440"/>
                <a:gd name="T5" fmla="*/ 0 h 96"/>
                <a:gd name="T6" fmla="*/ 0 60000 65536"/>
                <a:gd name="T7" fmla="*/ 0 60000 65536"/>
                <a:gd name="T8" fmla="*/ 0 60000 65536"/>
                <a:gd name="T9" fmla="*/ 0 w 1440"/>
                <a:gd name="T10" fmla="*/ 0 h 96"/>
                <a:gd name="T11" fmla="*/ 1440 w 1440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96">
                  <a:moveTo>
                    <a:pt x="0" y="0"/>
                  </a:moveTo>
                  <a:cubicBezTo>
                    <a:pt x="192" y="48"/>
                    <a:pt x="384" y="96"/>
                    <a:pt x="624" y="96"/>
                  </a:cubicBezTo>
                  <a:cubicBezTo>
                    <a:pt x="864" y="96"/>
                    <a:pt x="1304" y="16"/>
                    <a:pt x="1440" y="0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6" name="Line 24">
              <a:extLst>
                <a:ext uri="{FF2B5EF4-FFF2-40B4-BE49-F238E27FC236}">
                  <a16:creationId xmlns:a16="http://schemas.microsoft.com/office/drawing/2014/main" id="{718B4539-7C16-4069-9AC0-E5252DE085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4" y="3655"/>
              <a:ext cx="24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30">
            <a:extLst>
              <a:ext uri="{FF2B5EF4-FFF2-40B4-BE49-F238E27FC236}">
                <a16:creationId xmlns:a16="http://schemas.microsoft.com/office/drawing/2014/main" id="{67EB2E00-6674-422E-A406-E19958E60324}"/>
              </a:ext>
            </a:extLst>
          </p:cNvPr>
          <p:cNvGrpSpPr>
            <a:grpSpLocks/>
          </p:cNvGrpSpPr>
          <p:nvPr/>
        </p:nvGrpSpPr>
        <p:grpSpPr bwMode="auto">
          <a:xfrm>
            <a:off x="1200150" y="4465638"/>
            <a:ext cx="304800" cy="1901825"/>
            <a:chOff x="756" y="2813"/>
            <a:chExt cx="192" cy="1198"/>
          </a:xfrm>
        </p:grpSpPr>
        <p:sp>
          <p:nvSpPr>
            <p:cNvPr id="82973" name="Freeform 31">
              <a:extLst>
                <a:ext uri="{FF2B5EF4-FFF2-40B4-BE49-F238E27FC236}">
                  <a16:creationId xmlns:a16="http://schemas.microsoft.com/office/drawing/2014/main" id="{F6D74117-F67B-4417-BD59-7F797A37F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" y="2813"/>
              <a:ext cx="192" cy="1198"/>
            </a:xfrm>
            <a:custGeom>
              <a:avLst/>
              <a:gdLst>
                <a:gd name="T0" fmla="*/ 192 w 192"/>
                <a:gd name="T1" fmla="*/ 0 h 1296"/>
                <a:gd name="T2" fmla="*/ 0 w 192"/>
                <a:gd name="T3" fmla="*/ 101 h 1296"/>
                <a:gd name="T4" fmla="*/ 192 w 192"/>
                <a:gd name="T5" fmla="*/ 249 h 1296"/>
                <a:gd name="T6" fmla="*/ 0 60000 65536"/>
                <a:gd name="T7" fmla="*/ 0 60000 65536"/>
                <a:gd name="T8" fmla="*/ 0 60000 65536"/>
                <a:gd name="T9" fmla="*/ 0 w 192"/>
                <a:gd name="T10" fmla="*/ 0 h 1296"/>
                <a:gd name="T11" fmla="*/ 192 w 192"/>
                <a:gd name="T12" fmla="*/ 1296 h 1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1296">
                  <a:moveTo>
                    <a:pt x="192" y="0"/>
                  </a:moveTo>
                  <a:cubicBezTo>
                    <a:pt x="96" y="156"/>
                    <a:pt x="0" y="312"/>
                    <a:pt x="0" y="528"/>
                  </a:cubicBezTo>
                  <a:cubicBezTo>
                    <a:pt x="0" y="744"/>
                    <a:pt x="96" y="1020"/>
                    <a:pt x="192" y="1296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4" name="Line 32">
              <a:extLst>
                <a:ext uri="{FF2B5EF4-FFF2-40B4-BE49-F238E27FC236}">
                  <a16:creationId xmlns:a16="http://schemas.microsoft.com/office/drawing/2014/main" id="{7DDBC151-F2E0-4DAF-B21A-736AA79F58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6" y="3212"/>
              <a:ext cx="0" cy="13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39">
            <a:extLst>
              <a:ext uri="{FF2B5EF4-FFF2-40B4-BE49-F238E27FC236}">
                <a16:creationId xmlns:a16="http://schemas.microsoft.com/office/drawing/2014/main" id="{99F7F1E0-ADED-4C3B-A3E7-38167302D600}"/>
              </a:ext>
            </a:extLst>
          </p:cNvPr>
          <p:cNvGrpSpPr>
            <a:grpSpLocks/>
          </p:cNvGrpSpPr>
          <p:nvPr/>
        </p:nvGrpSpPr>
        <p:grpSpPr bwMode="auto">
          <a:xfrm>
            <a:off x="1603375" y="4491038"/>
            <a:ext cx="2286000" cy="1838325"/>
            <a:chOff x="1010" y="2829"/>
            <a:chExt cx="1440" cy="1158"/>
          </a:xfrm>
        </p:grpSpPr>
        <p:sp>
          <p:nvSpPr>
            <p:cNvPr id="82971" name="Freeform 34">
              <a:extLst>
                <a:ext uri="{FF2B5EF4-FFF2-40B4-BE49-F238E27FC236}">
                  <a16:creationId xmlns:a16="http://schemas.microsoft.com/office/drawing/2014/main" id="{2600AD4A-1760-4CF8-928E-D4855E1D2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2829"/>
              <a:ext cx="1440" cy="1158"/>
            </a:xfrm>
            <a:custGeom>
              <a:avLst/>
              <a:gdLst>
                <a:gd name="T0" fmla="*/ 1440 w 1440"/>
                <a:gd name="T1" fmla="*/ 0 h 1248"/>
                <a:gd name="T2" fmla="*/ 960 w 1440"/>
                <a:gd name="T3" fmla="*/ 161 h 1248"/>
                <a:gd name="T4" fmla="*/ 0 w 1440"/>
                <a:gd name="T5" fmla="*/ 259 h 1248"/>
                <a:gd name="T6" fmla="*/ 0 60000 65536"/>
                <a:gd name="T7" fmla="*/ 0 60000 65536"/>
                <a:gd name="T8" fmla="*/ 0 60000 65536"/>
                <a:gd name="T9" fmla="*/ 0 w 1440"/>
                <a:gd name="T10" fmla="*/ 0 h 1248"/>
                <a:gd name="T11" fmla="*/ 1440 w 1440"/>
                <a:gd name="T12" fmla="*/ 1248 h 1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1248">
                  <a:moveTo>
                    <a:pt x="1440" y="0"/>
                  </a:moveTo>
                  <a:cubicBezTo>
                    <a:pt x="1320" y="280"/>
                    <a:pt x="1200" y="560"/>
                    <a:pt x="960" y="768"/>
                  </a:cubicBezTo>
                  <a:cubicBezTo>
                    <a:pt x="720" y="976"/>
                    <a:pt x="360" y="1112"/>
                    <a:pt x="0" y="1248"/>
                  </a:cubicBezTo>
                </a:path>
              </a:pathLst>
            </a:custGeom>
            <a:noFill/>
            <a:ln w="762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2" name="Line 35">
              <a:extLst>
                <a:ext uri="{FF2B5EF4-FFF2-40B4-BE49-F238E27FC236}">
                  <a16:creationId xmlns:a16="http://schemas.microsoft.com/office/drawing/2014/main" id="{077AB843-9570-4E99-9239-F28599EB31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8" y="3499"/>
              <a:ext cx="96" cy="89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36">
            <a:extLst>
              <a:ext uri="{FF2B5EF4-FFF2-40B4-BE49-F238E27FC236}">
                <a16:creationId xmlns:a16="http://schemas.microsoft.com/office/drawing/2014/main" id="{88351BD6-357A-4CC9-A9AD-03C63234806B}"/>
              </a:ext>
            </a:extLst>
          </p:cNvPr>
          <p:cNvGrpSpPr>
            <a:grpSpLocks/>
          </p:cNvGrpSpPr>
          <p:nvPr/>
        </p:nvGrpSpPr>
        <p:grpSpPr bwMode="auto">
          <a:xfrm>
            <a:off x="1011238" y="6143625"/>
            <a:ext cx="609600" cy="609600"/>
            <a:chOff x="637" y="3870"/>
            <a:chExt cx="384" cy="384"/>
          </a:xfrm>
        </p:grpSpPr>
        <p:sp>
          <p:nvSpPr>
            <p:cNvPr id="82969" name="Oval 37">
              <a:extLst>
                <a:ext uri="{FF2B5EF4-FFF2-40B4-BE49-F238E27FC236}">
                  <a16:creationId xmlns:a16="http://schemas.microsoft.com/office/drawing/2014/main" id="{8207B1EF-6B10-4C77-AD02-27168287F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" y="3870"/>
              <a:ext cx="384" cy="384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2970" name="Line 38">
              <a:extLst>
                <a:ext uri="{FF2B5EF4-FFF2-40B4-BE49-F238E27FC236}">
                  <a16:creationId xmlns:a16="http://schemas.microsoft.com/office/drawing/2014/main" id="{63E2D59A-2F75-4DCA-95FB-84A679D2D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" y="4042"/>
              <a:ext cx="19" cy="121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62">
            <a:extLst>
              <a:ext uri="{FF2B5EF4-FFF2-40B4-BE49-F238E27FC236}">
                <a16:creationId xmlns:a16="http://schemas.microsoft.com/office/drawing/2014/main" id="{2C8E6BCD-19EB-48AB-90AF-1CE2D0CCED02}"/>
              </a:ext>
            </a:extLst>
          </p:cNvPr>
          <p:cNvGrpSpPr>
            <a:grpSpLocks/>
          </p:cNvGrpSpPr>
          <p:nvPr/>
        </p:nvGrpSpPr>
        <p:grpSpPr bwMode="auto">
          <a:xfrm>
            <a:off x="1198563" y="4473575"/>
            <a:ext cx="304800" cy="1901825"/>
            <a:chOff x="756" y="2813"/>
            <a:chExt cx="192" cy="1198"/>
          </a:xfrm>
        </p:grpSpPr>
        <p:sp>
          <p:nvSpPr>
            <p:cNvPr id="82967" name="Freeform 63">
              <a:extLst>
                <a:ext uri="{FF2B5EF4-FFF2-40B4-BE49-F238E27FC236}">
                  <a16:creationId xmlns:a16="http://schemas.microsoft.com/office/drawing/2014/main" id="{8CF6354E-25A7-484C-ABB5-A246BA872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" y="2813"/>
              <a:ext cx="192" cy="1198"/>
            </a:xfrm>
            <a:custGeom>
              <a:avLst/>
              <a:gdLst>
                <a:gd name="T0" fmla="*/ 192 w 192"/>
                <a:gd name="T1" fmla="*/ 0 h 1296"/>
                <a:gd name="T2" fmla="*/ 0 w 192"/>
                <a:gd name="T3" fmla="*/ 101 h 1296"/>
                <a:gd name="T4" fmla="*/ 192 w 192"/>
                <a:gd name="T5" fmla="*/ 249 h 1296"/>
                <a:gd name="T6" fmla="*/ 0 60000 65536"/>
                <a:gd name="T7" fmla="*/ 0 60000 65536"/>
                <a:gd name="T8" fmla="*/ 0 60000 65536"/>
                <a:gd name="T9" fmla="*/ 0 w 192"/>
                <a:gd name="T10" fmla="*/ 0 h 1296"/>
                <a:gd name="T11" fmla="*/ 192 w 192"/>
                <a:gd name="T12" fmla="*/ 1296 h 1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1296">
                  <a:moveTo>
                    <a:pt x="192" y="0"/>
                  </a:moveTo>
                  <a:cubicBezTo>
                    <a:pt x="96" y="156"/>
                    <a:pt x="0" y="312"/>
                    <a:pt x="0" y="528"/>
                  </a:cubicBezTo>
                  <a:cubicBezTo>
                    <a:pt x="0" y="744"/>
                    <a:pt x="96" y="1020"/>
                    <a:pt x="192" y="1296"/>
                  </a:cubicBezTo>
                </a:path>
              </a:pathLst>
            </a:custGeom>
            <a:noFill/>
            <a:ln w="571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8" name="Line 64">
              <a:extLst>
                <a:ext uri="{FF2B5EF4-FFF2-40B4-BE49-F238E27FC236}">
                  <a16:creationId xmlns:a16="http://schemas.microsoft.com/office/drawing/2014/main" id="{76E068BE-9FD2-406F-8FF1-F2BAA041D0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6" y="3212"/>
              <a:ext cx="0" cy="133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65">
            <a:extLst>
              <a:ext uri="{FF2B5EF4-FFF2-40B4-BE49-F238E27FC236}">
                <a16:creationId xmlns:a16="http://schemas.microsoft.com/office/drawing/2014/main" id="{16F32931-B482-413F-8E8B-057D4B697EDB}"/>
              </a:ext>
            </a:extLst>
          </p:cNvPr>
          <p:cNvGrpSpPr>
            <a:grpSpLocks/>
          </p:cNvGrpSpPr>
          <p:nvPr/>
        </p:nvGrpSpPr>
        <p:grpSpPr bwMode="auto">
          <a:xfrm>
            <a:off x="1601788" y="4473575"/>
            <a:ext cx="2286000" cy="1838325"/>
            <a:chOff x="1010" y="2829"/>
            <a:chExt cx="1440" cy="1158"/>
          </a:xfrm>
        </p:grpSpPr>
        <p:sp>
          <p:nvSpPr>
            <p:cNvPr id="82965" name="Freeform 66">
              <a:extLst>
                <a:ext uri="{FF2B5EF4-FFF2-40B4-BE49-F238E27FC236}">
                  <a16:creationId xmlns:a16="http://schemas.microsoft.com/office/drawing/2014/main" id="{A26FCCE6-724D-45AF-86A8-7D55D1625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2829"/>
              <a:ext cx="1440" cy="1158"/>
            </a:xfrm>
            <a:custGeom>
              <a:avLst/>
              <a:gdLst>
                <a:gd name="T0" fmla="*/ 1440 w 1440"/>
                <a:gd name="T1" fmla="*/ 0 h 1248"/>
                <a:gd name="T2" fmla="*/ 960 w 1440"/>
                <a:gd name="T3" fmla="*/ 161 h 1248"/>
                <a:gd name="T4" fmla="*/ 0 w 1440"/>
                <a:gd name="T5" fmla="*/ 259 h 1248"/>
                <a:gd name="T6" fmla="*/ 0 60000 65536"/>
                <a:gd name="T7" fmla="*/ 0 60000 65536"/>
                <a:gd name="T8" fmla="*/ 0 60000 65536"/>
                <a:gd name="T9" fmla="*/ 0 w 1440"/>
                <a:gd name="T10" fmla="*/ 0 h 1248"/>
                <a:gd name="T11" fmla="*/ 1440 w 1440"/>
                <a:gd name="T12" fmla="*/ 1248 h 1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1248">
                  <a:moveTo>
                    <a:pt x="1440" y="0"/>
                  </a:moveTo>
                  <a:cubicBezTo>
                    <a:pt x="1320" y="280"/>
                    <a:pt x="1200" y="560"/>
                    <a:pt x="960" y="768"/>
                  </a:cubicBezTo>
                  <a:cubicBezTo>
                    <a:pt x="720" y="976"/>
                    <a:pt x="360" y="1112"/>
                    <a:pt x="0" y="1248"/>
                  </a:cubicBezTo>
                </a:path>
              </a:pathLst>
            </a:custGeom>
            <a:noFill/>
            <a:ln w="76200" cmpd="sng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6" name="Line 67">
              <a:extLst>
                <a:ext uri="{FF2B5EF4-FFF2-40B4-BE49-F238E27FC236}">
                  <a16:creationId xmlns:a16="http://schemas.microsoft.com/office/drawing/2014/main" id="{17371491-49C9-4035-9FB2-3404A93730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8" y="3499"/>
              <a:ext cx="96" cy="89"/>
            </a:xfrm>
            <a:prstGeom prst="line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68">
            <a:extLst>
              <a:ext uri="{FF2B5EF4-FFF2-40B4-BE49-F238E27FC236}">
                <a16:creationId xmlns:a16="http://schemas.microsoft.com/office/drawing/2014/main" id="{FE5AF492-C20C-42DE-B2D8-4C53FFDA0004}"/>
              </a:ext>
            </a:extLst>
          </p:cNvPr>
          <p:cNvGrpSpPr>
            <a:grpSpLocks/>
          </p:cNvGrpSpPr>
          <p:nvPr/>
        </p:nvGrpSpPr>
        <p:grpSpPr bwMode="auto">
          <a:xfrm>
            <a:off x="1009650" y="6151563"/>
            <a:ext cx="609600" cy="609600"/>
            <a:chOff x="637" y="3870"/>
            <a:chExt cx="384" cy="384"/>
          </a:xfrm>
        </p:grpSpPr>
        <p:sp>
          <p:nvSpPr>
            <p:cNvPr id="82963" name="Oval 69">
              <a:extLst>
                <a:ext uri="{FF2B5EF4-FFF2-40B4-BE49-F238E27FC236}">
                  <a16:creationId xmlns:a16="http://schemas.microsoft.com/office/drawing/2014/main" id="{3B01CE3E-A31A-4DE6-8C7D-A0CA3CFD5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" y="3870"/>
              <a:ext cx="384" cy="384"/>
            </a:xfrm>
            <a:prstGeom prst="ellips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2964" name="Line 70">
              <a:extLst>
                <a:ext uri="{FF2B5EF4-FFF2-40B4-BE49-F238E27FC236}">
                  <a16:creationId xmlns:a16="http://schemas.microsoft.com/office/drawing/2014/main" id="{8E13F28F-2A3B-4E02-9CEC-A3C6EC0AF6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" y="4042"/>
              <a:ext cx="19" cy="121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9943" name="Line 71">
            <a:extLst>
              <a:ext uri="{FF2B5EF4-FFF2-40B4-BE49-F238E27FC236}">
                <a16:creationId xmlns:a16="http://schemas.microsoft.com/office/drawing/2014/main" id="{4ACB3D2E-8A04-4830-96B6-8621635DD4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7838" y="6319838"/>
            <a:ext cx="2101850" cy="17462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9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9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9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9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9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9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876" grpId="0" autoUpdateAnimBg="0"/>
      <p:bldP spid="719877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3">
            <a:extLst>
              <a:ext uri="{FF2B5EF4-FFF2-40B4-BE49-F238E27FC236}">
                <a16:creationId xmlns:a16="http://schemas.microsoft.com/office/drawing/2014/main" id="{084B37AC-34E1-42F7-9D4E-224B1E3AC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86C715C4-56AC-40EB-B479-55858CDC0075}" type="slidenum">
              <a:rPr lang="zh-CN" altLang="en-US" sz="1400" b="0" smtClean="0"/>
              <a:pPr algn="l">
                <a:spcBef>
                  <a:spcPct val="0"/>
                </a:spcBef>
                <a:buClrTx/>
                <a:buFontTx/>
                <a:buNone/>
              </a:pPr>
              <a:t>105</a:t>
            </a:fld>
            <a:endParaRPr lang="en-US" altLang="zh-CN" sz="1400" b="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69C1178A-802F-4157-9ADC-301DFE64A7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</a:t>
            </a:r>
            <a:r>
              <a:rPr lang="zh-CN" altLang="en-US"/>
              <a:t>（续）</a:t>
            </a:r>
          </a:p>
        </p:txBody>
      </p:sp>
      <p:graphicFrame>
        <p:nvGraphicFramePr>
          <p:cNvPr id="83972" name="Object 3">
            <a:extLst>
              <a:ext uri="{FF2B5EF4-FFF2-40B4-BE49-F238E27FC236}">
                <a16:creationId xmlns:a16="http://schemas.microsoft.com/office/drawing/2014/main" id="{58422E18-6B9E-4EDB-A05F-13F52C51D4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475" y="1222375"/>
          <a:ext cx="3122613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899" imgH="838331" progId="Equation.DSMT4">
                  <p:embed/>
                </p:oleObj>
              </mc:Choice>
              <mc:Fallback>
                <p:oleObj name="Equation" r:id="rId2" imgW="1066899" imgH="838331" progId="Equation.DSMT4">
                  <p:embed/>
                  <p:pic>
                    <p:nvPicPr>
                      <p:cNvPr id="83972" name="Object 3">
                        <a:extLst>
                          <a:ext uri="{FF2B5EF4-FFF2-40B4-BE49-F238E27FC236}">
                            <a16:creationId xmlns:a16="http://schemas.microsoft.com/office/drawing/2014/main" id="{58422E18-6B9E-4EDB-A05F-13F52C51D4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75" y="1222375"/>
                        <a:ext cx="3122613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3" name="Text Box 4">
            <a:extLst>
              <a:ext uri="{FF2B5EF4-FFF2-40B4-BE49-F238E27FC236}">
                <a16:creationId xmlns:a16="http://schemas.microsoft.com/office/drawing/2014/main" id="{B9F465D4-C5C0-45EA-8E67-76FBAF654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750" y="1762125"/>
            <a:ext cx="45402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i=4</a:t>
            </a:r>
            <a:r>
              <a:rPr kumimoji="1" lang="zh-CN" altLang="en-US" sz="4000" b="0">
                <a:ea typeface="黑体" panose="02010609060101010101" pitchFamily="49" charset="-122"/>
              </a:rPr>
              <a:t>时，</a:t>
            </a:r>
            <a:r>
              <a:rPr kumimoji="1" lang="en-US" altLang="zh-CN" sz="4000" b="0">
                <a:ea typeface="黑体" panose="02010609060101010101" pitchFamily="49" charset="-122"/>
              </a:rPr>
              <a:t>j=1,2,3,4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4000" b="0">
                <a:ea typeface="黑体" panose="02010609060101010101" pitchFamily="49" charset="-122"/>
              </a:rPr>
              <a:t>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14 </a:t>
            </a:r>
            <a:r>
              <a:rPr kumimoji="1" lang="en-US" altLang="zh-CN" sz="4000" b="0">
                <a:ea typeface="黑体" panose="02010609060101010101" pitchFamily="49" charset="-122"/>
              </a:rPr>
              <a:t>, 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24 </a:t>
            </a:r>
            <a:r>
              <a:rPr kumimoji="1" lang="en-US" altLang="zh-CN" sz="4000" b="0">
                <a:ea typeface="黑体" panose="02010609060101010101" pitchFamily="49" charset="-122"/>
              </a:rPr>
              <a:t>, 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34 </a:t>
            </a:r>
            <a:r>
              <a:rPr kumimoji="1" lang="en-US" altLang="zh-CN" sz="4000" b="0">
                <a:ea typeface="黑体" panose="02010609060101010101" pitchFamily="49" charset="-122"/>
              </a:rPr>
              <a:t>,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 </a:t>
            </a:r>
            <a:r>
              <a:rPr kumimoji="1" lang="en-US" altLang="zh-CN" sz="4000" b="0">
                <a:ea typeface="黑体" panose="02010609060101010101" pitchFamily="49" charset="-122"/>
              </a:rPr>
              <a:t>A</a:t>
            </a:r>
            <a:r>
              <a:rPr kumimoji="1" lang="en-US" altLang="zh-CN" sz="4000" b="0" baseline="-25000">
                <a:ea typeface="黑体" panose="02010609060101010101" pitchFamily="49" charset="-122"/>
              </a:rPr>
              <a:t>44</a:t>
            </a:r>
            <a:r>
              <a:rPr kumimoji="1" lang="en-US" altLang="zh-CN" sz="4000" b="0">
                <a:ea typeface="黑体" panose="02010609060101010101" pitchFamily="49" charset="-122"/>
              </a:rPr>
              <a:t>=1</a:t>
            </a:r>
          </a:p>
        </p:txBody>
      </p:sp>
      <p:graphicFrame>
        <p:nvGraphicFramePr>
          <p:cNvPr id="720901" name="Object 5">
            <a:extLst>
              <a:ext uri="{FF2B5EF4-FFF2-40B4-BE49-F238E27FC236}">
                <a16:creationId xmlns:a16="http://schemas.microsoft.com/office/drawing/2014/main" id="{E59A676C-7DEA-45D8-BF7C-71A3127710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0" y="4038600"/>
          <a:ext cx="287972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727" imgH="838331" progId="Equation.DSMT4">
                  <p:embed/>
                </p:oleObj>
              </mc:Choice>
              <mc:Fallback>
                <p:oleObj name="Equation" r:id="rId4" imgW="977727" imgH="838331" progId="Equation.DSMT4">
                  <p:embed/>
                  <p:pic>
                    <p:nvPicPr>
                      <p:cNvPr id="720901" name="Object 5">
                        <a:extLst>
                          <a:ext uri="{FF2B5EF4-FFF2-40B4-BE49-F238E27FC236}">
                            <a16:creationId xmlns:a16="http://schemas.microsoft.com/office/drawing/2014/main" id="{E59A676C-7DEA-45D8-BF7C-71A3127710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038600"/>
                        <a:ext cx="2879725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>
            <a:extLst>
              <a:ext uri="{FF2B5EF4-FFF2-40B4-BE49-F238E27FC236}">
                <a16:creationId xmlns:a16="http://schemas.microsoft.com/office/drawing/2014/main" id="{9E6DC3F3-9659-4C4D-AB73-D06105DCC30F}"/>
              </a:ext>
            </a:extLst>
          </p:cNvPr>
          <p:cNvGrpSpPr>
            <a:grpSpLocks/>
          </p:cNvGrpSpPr>
          <p:nvPr/>
        </p:nvGrpSpPr>
        <p:grpSpPr bwMode="auto">
          <a:xfrm>
            <a:off x="1616075" y="1450975"/>
            <a:ext cx="2743200" cy="2590800"/>
            <a:chOff x="1018" y="914"/>
            <a:chExt cx="1728" cy="1632"/>
          </a:xfrm>
        </p:grpSpPr>
        <p:sp>
          <p:nvSpPr>
            <p:cNvPr id="84036" name="Line 7">
              <a:extLst>
                <a:ext uri="{FF2B5EF4-FFF2-40B4-BE49-F238E27FC236}">
                  <a16:creationId xmlns:a16="http://schemas.microsoft.com/office/drawing/2014/main" id="{EFC48E4A-7F32-4BBE-AF09-84FB9FD8B0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8" y="2210"/>
              <a:ext cx="1104" cy="0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7" name="Line 8">
              <a:extLst>
                <a:ext uri="{FF2B5EF4-FFF2-40B4-BE49-F238E27FC236}">
                  <a16:creationId xmlns:a16="http://schemas.microsoft.com/office/drawing/2014/main" id="{547818A7-633F-466C-9EC7-79F41B887B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8" y="2210"/>
              <a:ext cx="0" cy="336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8" name="Line 9">
              <a:extLst>
                <a:ext uri="{FF2B5EF4-FFF2-40B4-BE49-F238E27FC236}">
                  <a16:creationId xmlns:a16="http://schemas.microsoft.com/office/drawing/2014/main" id="{66107301-2D5E-46F8-A100-168B06D2D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8" y="2546"/>
              <a:ext cx="1008" cy="0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9" name="Line 10">
              <a:extLst>
                <a:ext uri="{FF2B5EF4-FFF2-40B4-BE49-F238E27FC236}">
                  <a16:creationId xmlns:a16="http://schemas.microsoft.com/office/drawing/2014/main" id="{F6BCA08B-233C-441D-B0FE-638A5EC63F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6" y="914"/>
              <a:ext cx="0" cy="1632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0" name="Line 11">
              <a:extLst>
                <a:ext uri="{FF2B5EF4-FFF2-40B4-BE49-F238E27FC236}">
                  <a16:creationId xmlns:a16="http://schemas.microsoft.com/office/drawing/2014/main" id="{7E6B767D-E46B-4B41-9B83-24A6D11F70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2" y="914"/>
              <a:ext cx="384" cy="0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1" name="Line 12">
              <a:extLst>
                <a:ext uri="{FF2B5EF4-FFF2-40B4-BE49-F238E27FC236}">
                  <a16:creationId xmlns:a16="http://schemas.microsoft.com/office/drawing/2014/main" id="{E7521C01-B695-416B-B27A-8B77890519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2" y="1346"/>
              <a:ext cx="384" cy="0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2" name="Line 13">
              <a:extLst>
                <a:ext uri="{FF2B5EF4-FFF2-40B4-BE49-F238E27FC236}">
                  <a16:creationId xmlns:a16="http://schemas.microsoft.com/office/drawing/2014/main" id="{D74934AE-89B7-4245-B10C-2C2D41F87E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2" y="1682"/>
              <a:ext cx="384" cy="0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3" name="Line 14">
              <a:extLst>
                <a:ext uri="{FF2B5EF4-FFF2-40B4-BE49-F238E27FC236}">
                  <a16:creationId xmlns:a16="http://schemas.microsoft.com/office/drawing/2014/main" id="{0CBC4C85-E552-4287-834B-15395C609A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2" y="2066"/>
              <a:ext cx="384" cy="0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0911" name="Line 15">
            <a:extLst>
              <a:ext uri="{FF2B5EF4-FFF2-40B4-BE49-F238E27FC236}">
                <a16:creationId xmlns:a16="http://schemas.microsoft.com/office/drawing/2014/main" id="{5D17B033-E406-41B0-AB5A-C161EC85AFC2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4229100" y="3467100"/>
            <a:ext cx="685800" cy="1981200"/>
          </a:xfrm>
          <a:prstGeom prst="line">
            <a:avLst/>
          </a:prstGeom>
          <a:noFill/>
          <a:ln w="76200">
            <a:solidFill>
              <a:srgbClr val="FF33CC"/>
            </a:solidFill>
            <a:round/>
            <a:headEnd/>
            <a:tailEnd type="triangle" w="med" len="med"/>
          </a:ln>
          <a:scene3d>
            <a:camera prst="legacyObliqueTopRight"/>
            <a:lightRig rig="legacyFlat3" dir="b"/>
          </a:scene3d>
          <a:sp3d extrusionH="36500" prstMaterial="legacyMatte">
            <a:bevelT w="13500" h="13500" prst="angle"/>
            <a:bevelB w="13500" h="13500" prst="angle"/>
            <a:extrusionClr>
              <a:srgbClr val="FF33CC"/>
            </a:extrusionClr>
            <a:contourClr>
              <a:srgbClr val="FF33CC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grpSp>
        <p:nvGrpSpPr>
          <p:cNvPr id="3" name="Group 16">
            <a:extLst>
              <a:ext uri="{FF2B5EF4-FFF2-40B4-BE49-F238E27FC236}">
                <a16:creationId xmlns:a16="http://schemas.microsoft.com/office/drawing/2014/main" id="{C61A2E9C-BECC-4AF3-8165-753C21286C65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4038600"/>
            <a:ext cx="2895600" cy="2286000"/>
            <a:chOff x="3600" y="2544"/>
            <a:chExt cx="1824" cy="1440"/>
          </a:xfrm>
        </p:grpSpPr>
        <p:sp>
          <p:nvSpPr>
            <p:cNvPr id="84032" name="Oval 17">
              <a:extLst>
                <a:ext uri="{FF2B5EF4-FFF2-40B4-BE49-F238E27FC236}">
                  <a16:creationId xmlns:a16="http://schemas.microsoft.com/office/drawing/2014/main" id="{B8F61429-BC72-4740-97F9-B87374194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648"/>
              <a:ext cx="1776" cy="336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4033" name="Oval 18">
              <a:extLst>
                <a:ext uri="{FF2B5EF4-FFF2-40B4-BE49-F238E27FC236}">
                  <a16:creationId xmlns:a16="http://schemas.microsoft.com/office/drawing/2014/main" id="{033D4273-8D0F-42C6-855F-DB969A056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312"/>
              <a:ext cx="1776" cy="336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4034" name="Oval 19">
              <a:extLst>
                <a:ext uri="{FF2B5EF4-FFF2-40B4-BE49-F238E27FC236}">
                  <a16:creationId xmlns:a16="http://schemas.microsoft.com/office/drawing/2014/main" id="{11C0FC42-A6FC-4BC5-8BE8-12F070B87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928"/>
              <a:ext cx="1776" cy="336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4035" name="Oval 20">
              <a:extLst>
                <a:ext uri="{FF2B5EF4-FFF2-40B4-BE49-F238E27FC236}">
                  <a16:creationId xmlns:a16="http://schemas.microsoft.com/office/drawing/2014/main" id="{B8C6A2FA-284D-4F53-B93A-078EA8A6A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544"/>
              <a:ext cx="1776" cy="336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4" name="Group 21">
            <a:extLst>
              <a:ext uri="{FF2B5EF4-FFF2-40B4-BE49-F238E27FC236}">
                <a16:creationId xmlns:a16="http://schemas.microsoft.com/office/drawing/2014/main" id="{6FD192BF-55A5-47C4-853D-342119EE4651}"/>
              </a:ext>
            </a:extLst>
          </p:cNvPr>
          <p:cNvGrpSpPr>
            <a:grpSpLocks/>
          </p:cNvGrpSpPr>
          <p:nvPr/>
        </p:nvGrpSpPr>
        <p:grpSpPr bwMode="auto">
          <a:xfrm>
            <a:off x="255588" y="4324350"/>
            <a:ext cx="3384550" cy="2317750"/>
            <a:chOff x="3225" y="2580"/>
            <a:chExt cx="2132" cy="1460"/>
          </a:xfrm>
        </p:grpSpPr>
        <p:sp>
          <p:nvSpPr>
            <p:cNvPr id="84020" name="Oval 22">
              <a:extLst>
                <a:ext uri="{FF2B5EF4-FFF2-40B4-BE49-F238E27FC236}">
                  <a16:creationId xmlns:a16="http://schemas.microsoft.com/office/drawing/2014/main" id="{347D84F2-7071-40E2-A0E0-4DE43A88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3854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4021" name="Oval 23">
              <a:extLst>
                <a:ext uri="{FF2B5EF4-FFF2-40B4-BE49-F238E27FC236}">
                  <a16:creationId xmlns:a16="http://schemas.microsoft.com/office/drawing/2014/main" id="{18A451D4-1F88-4042-9F8C-D3F33DF15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3858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4022" name="Oval 24">
              <a:extLst>
                <a:ext uri="{FF2B5EF4-FFF2-40B4-BE49-F238E27FC236}">
                  <a16:creationId xmlns:a16="http://schemas.microsoft.com/office/drawing/2014/main" id="{D8C1C477-3E8C-4747-B60F-C25C05BE6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1" y="2696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4023" name="Oval 25">
              <a:extLst>
                <a:ext uri="{FF2B5EF4-FFF2-40B4-BE49-F238E27FC236}">
                  <a16:creationId xmlns:a16="http://schemas.microsoft.com/office/drawing/2014/main" id="{38EC2D20-1C7A-48C7-8599-E28B25EE8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2696"/>
              <a:ext cx="96" cy="8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4024" name="Line 26">
              <a:extLst>
                <a:ext uri="{FF2B5EF4-FFF2-40B4-BE49-F238E27FC236}">
                  <a16:creationId xmlns:a16="http://schemas.microsoft.com/office/drawing/2014/main" id="{56ECA224-7EA2-4B19-876F-DC3D65650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9" y="2741"/>
              <a:ext cx="139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5" name="Line 27">
              <a:extLst>
                <a:ext uri="{FF2B5EF4-FFF2-40B4-BE49-F238E27FC236}">
                  <a16:creationId xmlns:a16="http://schemas.microsoft.com/office/drawing/2014/main" id="{2D121AD6-F0DD-4E2C-A4F7-F4D4A73BC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9" y="2741"/>
              <a:ext cx="0" cy="111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6" name="Line 28">
              <a:extLst>
                <a:ext uri="{FF2B5EF4-FFF2-40B4-BE49-F238E27FC236}">
                  <a16:creationId xmlns:a16="http://schemas.microsoft.com/office/drawing/2014/main" id="{63231B51-82BC-45D0-B6FB-AD233EA41C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3899"/>
              <a:ext cx="140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7" name="Line 29">
              <a:extLst>
                <a:ext uri="{FF2B5EF4-FFF2-40B4-BE49-F238E27FC236}">
                  <a16:creationId xmlns:a16="http://schemas.microsoft.com/office/drawing/2014/main" id="{67D1937D-CD42-4F4D-AAE6-A08EB69362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9" y="2791"/>
              <a:ext cx="0" cy="110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4028" name="Object 30">
              <a:extLst>
                <a:ext uri="{FF2B5EF4-FFF2-40B4-BE49-F238E27FC236}">
                  <a16:creationId xmlns:a16="http://schemas.microsoft.com/office/drawing/2014/main" id="{2E215FA3-5F1A-4DC6-8C3F-9904261182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25" y="2635"/>
            <a:ext cx="25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0899" imgH="63456" progId="Equation.3">
                    <p:embed/>
                  </p:oleObj>
                </mc:Choice>
                <mc:Fallback>
                  <p:oleObj name="Equation" r:id="rId6" imgW="50899" imgH="63456" progId="Equation.3">
                    <p:embed/>
                    <p:pic>
                      <p:nvPicPr>
                        <p:cNvPr id="84028" name="Object 30">
                          <a:extLst>
                            <a:ext uri="{FF2B5EF4-FFF2-40B4-BE49-F238E27FC236}">
                              <a16:creationId xmlns:a16="http://schemas.microsoft.com/office/drawing/2014/main" id="{2E215FA3-5F1A-4DC6-8C3F-99042611825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5" y="2635"/>
                          <a:ext cx="25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4029" name="Object 31">
              <a:extLst>
                <a:ext uri="{FF2B5EF4-FFF2-40B4-BE49-F238E27FC236}">
                  <a16:creationId xmlns:a16="http://schemas.microsoft.com/office/drawing/2014/main" id="{60418DE3-A157-48AD-B6C0-0192666891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17" y="3769"/>
            <a:ext cx="23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8273" imgH="63456" progId="Equation.3">
                    <p:embed/>
                  </p:oleObj>
                </mc:Choice>
                <mc:Fallback>
                  <p:oleObj name="Equation" r:id="rId8" imgW="38273" imgH="63456" progId="Equation.3">
                    <p:embed/>
                    <p:pic>
                      <p:nvPicPr>
                        <p:cNvPr id="84029" name="Object 31">
                          <a:extLst>
                            <a:ext uri="{FF2B5EF4-FFF2-40B4-BE49-F238E27FC236}">
                              <a16:creationId xmlns:a16="http://schemas.microsoft.com/office/drawing/2014/main" id="{60418DE3-A157-48AD-B6C0-0192666891B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7" y="3769"/>
                          <a:ext cx="232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4030" name="Object 32">
              <a:extLst>
                <a:ext uri="{FF2B5EF4-FFF2-40B4-BE49-F238E27FC236}">
                  <a16:creationId xmlns:a16="http://schemas.microsoft.com/office/drawing/2014/main" id="{DB2DC8C6-6BB2-4003-81E4-4E2A9DB1FD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37" y="3704"/>
            <a:ext cx="28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3525" imgH="101688" progId="Equation.3">
                    <p:embed/>
                  </p:oleObj>
                </mc:Choice>
                <mc:Fallback>
                  <p:oleObj name="Equation" r:id="rId10" imgW="63525" imgH="101688" progId="Equation.3">
                    <p:embed/>
                    <p:pic>
                      <p:nvPicPr>
                        <p:cNvPr id="84030" name="Object 32">
                          <a:extLst>
                            <a:ext uri="{FF2B5EF4-FFF2-40B4-BE49-F238E27FC236}">
                              <a16:creationId xmlns:a16="http://schemas.microsoft.com/office/drawing/2014/main" id="{DB2DC8C6-6BB2-4003-81E4-4E2A9DB1FD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7" y="3704"/>
                          <a:ext cx="28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4031" name="Object 33">
              <a:extLst>
                <a:ext uri="{FF2B5EF4-FFF2-40B4-BE49-F238E27FC236}">
                  <a16:creationId xmlns:a16="http://schemas.microsoft.com/office/drawing/2014/main" id="{E7C6C1A6-C46D-4302-826F-00DA7EB6A1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99" y="2580"/>
            <a:ext cx="258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50899" imgH="101688" progId="Equation.3">
                    <p:embed/>
                  </p:oleObj>
                </mc:Choice>
                <mc:Fallback>
                  <p:oleObj name="Equation" r:id="rId12" imgW="50899" imgH="101688" progId="Equation.3">
                    <p:embed/>
                    <p:pic>
                      <p:nvPicPr>
                        <p:cNvPr id="84031" name="Object 33">
                          <a:extLst>
                            <a:ext uri="{FF2B5EF4-FFF2-40B4-BE49-F238E27FC236}">
                              <a16:creationId xmlns:a16="http://schemas.microsoft.com/office/drawing/2014/main" id="{E7C6C1A6-C46D-4302-826F-00DA7EB6A1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9" y="2580"/>
                          <a:ext cx="258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0930" name="Line 34">
            <a:extLst>
              <a:ext uri="{FF2B5EF4-FFF2-40B4-BE49-F238E27FC236}">
                <a16:creationId xmlns:a16="http://schemas.microsoft.com/office/drawing/2014/main" id="{D28E469C-51AA-49BA-8162-17377AE28F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4388" y="4629150"/>
            <a:ext cx="2212975" cy="17478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0931" name="Line 35">
            <a:extLst>
              <a:ext uri="{FF2B5EF4-FFF2-40B4-BE49-F238E27FC236}">
                <a16:creationId xmlns:a16="http://schemas.microsoft.com/office/drawing/2014/main" id="{F6D7F54E-475E-4DEB-B94A-DBB1115594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8513" y="4643438"/>
            <a:ext cx="2212975" cy="17478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0932" name="Line 36">
            <a:extLst>
              <a:ext uri="{FF2B5EF4-FFF2-40B4-BE49-F238E27FC236}">
                <a16:creationId xmlns:a16="http://schemas.microsoft.com/office/drawing/2014/main" id="{1B582017-F4DC-423D-AF71-A54F8AA881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550" y="4621213"/>
            <a:ext cx="2149475" cy="1701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37">
            <a:extLst>
              <a:ext uri="{FF2B5EF4-FFF2-40B4-BE49-F238E27FC236}">
                <a16:creationId xmlns:a16="http://schemas.microsoft.com/office/drawing/2014/main" id="{5ECBF4A2-863B-4083-92EE-128B939B89FF}"/>
              </a:ext>
            </a:extLst>
          </p:cNvPr>
          <p:cNvGrpSpPr>
            <a:grpSpLocks/>
          </p:cNvGrpSpPr>
          <p:nvPr/>
        </p:nvGrpSpPr>
        <p:grpSpPr bwMode="auto">
          <a:xfrm>
            <a:off x="808038" y="6480175"/>
            <a:ext cx="2286000" cy="141288"/>
            <a:chOff x="786" y="3566"/>
            <a:chExt cx="1440" cy="89"/>
          </a:xfrm>
        </p:grpSpPr>
        <p:sp>
          <p:nvSpPr>
            <p:cNvPr id="84018" name="Freeform 38">
              <a:extLst>
                <a:ext uri="{FF2B5EF4-FFF2-40B4-BE49-F238E27FC236}">
                  <a16:creationId xmlns:a16="http://schemas.microsoft.com/office/drawing/2014/main" id="{1E5A2983-10E3-4225-BDDD-578F459B8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" y="3566"/>
              <a:ext cx="1440" cy="89"/>
            </a:xfrm>
            <a:custGeom>
              <a:avLst/>
              <a:gdLst>
                <a:gd name="T0" fmla="*/ 0 w 1440"/>
                <a:gd name="T1" fmla="*/ 0 h 96"/>
                <a:gd name="T2" fmla="*/ 624 w 1440"/>
                <a:gd name="T3" fmla="*/ 19 h 96"/>
                <a:gd name="T4" fmla="*/ 1440 w 1440"/>
                <a:gd name="T5" fmla="*/ 0 h 96"/>
                <a:gd name="T6" fmla="*/ 0 60000 65536"/>
                <a:gd name="T7" fmla="*/ 0 60000 65536"/>
                <a:gd name="T8" fmla="*/ 0 60000 65536"/>
                <a:gd name="T9" fmla="*/ 0 w 1440"/>
                <a:gd name="T10" fmla="*/ 0 h 96"/>
                <a:gd name="T11" fmla="*/ 1440 w 1440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96">
                  <a:moveTo>
                    <a:pt x="0" y="0"/>
                  </a:moveTo>
                  <a:cubicBezTo>
                    <a:pt x="192" y="48"/>
                    <a:pt x="384" y="96"/>
                    <a:pt x="624" y="96"/>
                  </a:cubicBezTo>
                  <a:cubicBezTo>
                    <a:pt x="864" y="96"/>
                    <a:pt x="1304" y="16"/>
                    <a:pt x="1440" y="0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9" name="Line 39">
              <a:extLst>
                <a:ext uri="{FF2B5EF4-FFF2-40B4-BE49-F238E27FC236}">
                  <a16:creationId xmlns:a16="http://schemas.microsoft.com/office/drawing/2014/main" id="{D1AC7A1E-5DCC-4E93-896F-5D1505654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4" y="3655"/>
              <a:ext cx="24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40">
            <a:extLst>
              <a:ext uri="{FF2B5EF4-FFF2-40B4-BE49-F238E27FC236}">
                <a16:creationId xmlns:a16="http://schemas.microsoft.com/office/drawing/2014/main" id="{34DD7EFB-675D-4457-B2C1-383E8CA4E8B4}"/>
              </a:ext>
            </a:extLst>
          </p:cNvPr>
          <p:cNvGrpSpPr>
            <a:grpSpLocks/>
          </p:cNvGrpSpPr>
          <p:nvPr/>
        </p:nvGrpSpPr>
        <p:grpSpPr bwMode="auto">
          <a:xfrm>
            <a:off x="400050" y="4538663"/>
            <a:ext cx="304800" cy="1901825"/>
            <a:chOff x="756" y="2813"/>
            <a:chExt cx="192" cy="1198"/>
          </a:xfrm>
        </p:grpSpPr>
        <p:sp>
          <p:nvSpPr>
            <p:cNvPr id="84016" name="Freeform 41">
              <a:extLst>
                <a:ext uri="{FF2B5EF4-FFF2-40B4-BE49-F238E27FC236}">
                  <a16:creationId xmlns:a16="http://schemas.microsoft.com/office/drawing/2014/main" id="{05B50D42-B677-417B-A1A1-02397D812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" y="2813"/>
              <a:ext cx="192" cy="1198"/>
            </a:xfrm>
            <a:custGeom>
              <a:avLst/>
              <a:gdLst>
                <a:gd name="T0" fmla="*/ 192 w 192"/>
                <a:gd name="T1" fmla="*/ 0 h 1296"/>
                <a:gd name="T2" fmla="*/ 0 w 192"/>
                <a:gd name="T3" fmla="*/ 101 h 1296"/>
                <a:gd name="T4" fmla="*/ 192 w 192"/>
                <a:gd name="T5" fmla="*/ 249 h 1296"/>
                <a:gd name="T6" fmla="*/ 0 60000 65536"/>
                <a:gd name="T7" fmla="*/ 0 60000 65536"/>
                <a:gd name="T8" fmla="*/ 0 60000 65536"/>
                <a:gd name="T9" fmla="*/ 0 w 192"/>
                <a:gd name="T10" fmla="*/ 0 h 1296"/>
                <a:gd name="T11" fmla="*/ 192 w 192"/>
                <a:gd name="T12" fmla="*/ 1296 h 1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1296">
                  <a:moveTo>
                    <a:pt x="192" y="0"/>
                  </a:moveTo>
                  <a:cubicBezTo>
                    <a:pt x="96" y="156"/>
                    <a:pt x="0" y="312"/>
                    <a:pt x="0" y="528"/>
                  </a:cubicBezTo>
                  <a:cubicBezTo>
                    <a:pt x="0" y="744"/>
                    <a:pt x="96" y="1020"/>
                    <a:pt x="192" y="1296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7" name="Line 42">
              <a:extLst>
                <a:ext uri="{FF2B5EF4-FFF2-40B4-BE49-F238E27FC236}">
                  <a16:creationId xmlns:a16="http://schemas.microsoft.com/office/drawing/2014/main" id="{1B8D3737-5505-40AB-BB8D-50223484B5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6" y="3212"/>
              <a:ext cx="0" cy="13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43">
            <a:extLst>
              <a:ext uri="{FF2B5EF4-FFF2-40B4-BE49-F238E27FC236}">
                <a16:creationId xmlns:a16="http://schemas.microsoft.com/office/drawing/2014/main" id="{EB55015E-6863-4697-9A53-E949BD01A77E}"/>
              </a:ext>
            </a:extLst>
          </p:cNvPr>
          <p:cNvGrpSpPr>
            <a:grpSpLocks/>
          </p:cNvGrpSpPr>
          <p:nvPr/>
        </p:nvGrpSpPr>
        <p:grpSpPr bwMode="auto">
          <a:xfrm>
            <a:off x="803275" y="4564063"/>
            <a:ext cx="2286000" cy="1838325"/>
            <a:chOff x="1010" y="2829"/>
            <a:chExt cx="1440" cy="1158"/>
          </a:xfrm>
        </p:grpSpPr>
        <p:sp>
          <p:nvSpPr>
            <p:cNvPr id="84014" name="Freeform 44">
              <a:extLst>
                <a:ext uri="{FF2B5EF4-FFF2-40B4-BE49-F238E27FC236}">
                  <a16:creationId xmlns:a16="http://schemas.microsoft.com/office/drawing/2014/main" id="{5F20800E-2C35-44E1-887F-6C4FC1690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2829"/>
              <a:ext cx="1440" cy="1158"/>
            </a:xfrm>
            <a:custGeom>
              <a:avLst/>
              <a:gdLst>
                <a:gd name="T0" fmla="*/ 1440 w 1440"/>
                <a:gd name="T1" fmla="*/ 0 h 1248"/>
                <a:gd name="T2" fmla="*/ 960 w 1440"/>
                <a:gd name="T3" fmla="*/ 161 h 1248"/>
                <a:gd name="T4" fmla="*/ 0 w 1440"/>
                <a:gd name="T5" fmla="*/ 259 h 1248"/>
                <a:gd name="T6" fmla="*/ 0 60000 65536"/>
                <a:gd name="T7" fmla="*/ 0 60000 65536"/>
                <a:gd name="T8" fmla="*/ 0 60000 65536"/>
                <a:gd name="T9" fmla="*/ 0 w 1440"/>
                <a:gd name="T10" fmla="*/ 0 h 1248"/>
                <a:gd name="T11" fmla="*/ 1440 w 1440"/>
                <a:gd name="T12" fmla="*/ 1248 h 1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1248">
                  <a:moveTo>
                    <a:pt x="1440" y="0"/>
                  </a:moveTo>
                  <a:cubicBezTo>
                    <a:pt x="1320" y="280"/>
                    <a:pt x="1200" y="560"/>
                    <a:pt x="960" y="768"/>
                  </a:cubicBezTo>
                  <a:cubicBezTo>
                    <a:pt x="720" y="976"/>
                    <a:pt x="360" y="1112"/>
                    <a:pt x="0" y="1248"/>
                  </a:cubicBezTo>
                </a:path>
              </a:pathLst>
            </a:custGeom>
            <a:noFill/>
            <a:ln w="762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5" name="Line 45">
              <a:extLst>
                <a:ext uri="{FF2B5EF4-FFF2-40B4-BE49-F238E27FC236}">
                  <a16:creationId xmlns:a16="http://schemas.microsoft.com/office/drawing/2014/main" id="{EDE27BE4-0FF5-4375-B5B2-6FBDCDA659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8" y="3499"/>
              <a:ext cx="96" cy="89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46">
            <a:extLst>
              <a:ext uri="{FF2B5EF4-FFF2-40B4-BE49-F238E27FC236}">
                <a16:creationId xmlns:a16="http://schemas.microsoft.com/office/drawing/2014/main" id="{56C55275-4D9B-46AA-8A30-79C886D43C30}"/>
              </a:ext>
            </a:extLst>
          </p:cNvPr>
          <p:cNvGrpSpPr>
            <a:grpSpLocks/>
          </p:cNvGrpSpPr>
          <p:nvPr/>
        </p:nvGrpSpPr>
        <p:grpSpPr bwMode="auto">
          <a:xfrm>
            <a:off x="211138" y="6216650"/>
            <a:ext cx="609600" cy="609600"/>
            <a:chOff x="637" y="3870"/>
            <a:chExt cx="384" cy="384"/>
          </a:xfrm>
        </p:grpSpPr>
        <p:sp>
          <p:nvSpPr>
            <p:cNvPr id="84012" name="Oval 47">
              <a:extLst>
                <a:ext uri="{FF2B5EF4-FFF2-40B4-BE49-F238E27FC236}">
                  <a16:creationId xmlns:a16="http://schemas.microsoft.com/office/drawing/2014/main" id="{B60110B8-01E1-44FD-9D49-432228269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" y="3870"/>
              <a:ext cx="384" cy="384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4013" name="Line 48">
              <a:extLst>
                <a:ext uri="{FF2B5EF4-FFF2-40B4-BE49-F238E27FC236}">
                  <a16:creationId xmlns:a16="http://schemas.microsoft.com/office/drawing/2014/main" id="{21EB629D-98EB-4A68-87AB-FE9E2282A5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" y="4042"/>
              <a:ext cx="19" cy="121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49">
            <a:extLst>
              <a:ext uri="{FF2B5EF4-FFF2-40B4-BE49-F238E27FC236}">
                <a16:creationId xmlns:a16="http://schemas.microsoft.com/office/drawing/2014/main" id="{FCAC760B-F956-44AD-A88C-36E569A5AAE0}"/>
              </a:ext>
            </a:extLst>
          </p:cNvPr>
          <p:cNvGrpSpPr>
            <a:grpSpLocks/>
          </p:cNvGrpSpPr>
          <p:nvPr/>
        </p:nvGrpSpPr>
        <p:grpSpPr bwMode="auto">
          <a:xfrm>
            <a:off x="398463" y="4546600"/>
            <a:ext cx="304800" cy="1901825"/>
            <a:chOff x="756" y="2813"/>
            <a:chExt cx="192" cy="1198"/>
          </a:xfrm>
        </p:grpSpPr>
        <p:sp>
          <p:nvSpPr>
            <p:cNvPr id="84010" name="Freeform 50">
              <a:extLst>
                <a:ext uri="{FF2B5EF4-FFF2-40B4-BE49-F238E27FC236}">
                  <a16:creationId xmlns:a16="http://schemas.microsoft.com/office/drawing/2014/main" id="{692C3D19-2B68-467D-BE52-776AF41DA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" y="2813"/>
              <a:ext cx="192" cy="1198"/>
            </a:xfrm>
            <a:custGeom>
              <a:avLst/>
              <a:gdLst>
                <a:gd name="T0" fmla="*/ 192 w 192"/>
                <a:gd name="T1" fmla="*/ 0 h 1296"/>
                <a:gd name="T2" fmla="*/ 0 w 192"/>
                <a:gd name="T3" fmla="*/ 101 h 1296"/>
                <a:gd name="T4" fmla="*/ 192 w 192"/>
                <a:gd name="T5" fmla="*/ 249 h 1296"/>
                <a:gd name="T6" fmla="*/ 0 60000 65536"/>
                <a:gd name="T7" fmla="*/ 0 60000 65536"/>
                <a:gd name="T8" fmla="*/ 0 60000 65536"/>
                <a:gd name="T9" fmla="*/ 0 w 192"/>
                <a:gd name="T10" fmla="*/ 0 h 1296"/>
                <a:gd name="T11" fmla="*/ 192 w 192"/>
                <a:gd name="T12" fmla="*/ 1296 h 1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1296">
                  <a:moveTo>
                    <a:pt x="192" y="0"/>
                  </a:moveTo>
                  <a:cubicBezTo>
                    <a:pt x="96" y="156"/>
                    <a:pt x="0" y="312"/>
                    <a:pt x="0" y="528"/>
                  </a:cubicBezTo>
                  <a:cubicBezTo>
                    <a:pt x="0" y="744"/>
                    <a:pt x="96" y="1020"/>
                    <a:pt x="192" y="1296"/>
                  </a:cubicBezTo>
                </a:path>
              </a:pathLst>
            </a:custGeom>
            <a:noFill/>
            <a:ln w="571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1" name="Line 51">
              <a:extLst>
                <a:ext uri="{FF2B5EF4-FFF2-40B4-BE49-F238E27FC236}">
                  <a16:creationId xmlns:a16="http://schemas.microsoft.com/office/drawing/2014/main" id="{8A39B6E5-B5AB-487B-AE2D-FA64FEF184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6" y="3212"/>
              <a:ext cx="0" cy="133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52">
            <a:extLst>
              <a:ext uri="{FF2B5EF4-FFF2-40B4-BE49-F238E27FC236}">
                <a16:creationId xmlns:a16="http://schemas.microsoft.com/office/drawing/2014/main" id="{3FF35332-16CC-45EA-9F3F-40785BBD6307}"/>
              </a:ext>
            </a:extLst>
          </p:cNvPr>
          <p:cNvGrpSpPr>
            <a:grpSpLocks/>
          </p:cNvGrpSpPr>
          <p:nvPr/>
        </p:nvGrpSpPr>
        <p:grpSpPr bwMode="auto">
          <a:xfrm>
            <a:off x="801688" y="4546600"/>
            <a:ext cx="2286000" cy="1838325"/>
            <a:chOff x="1010" y="2829"/>
            <a:chExt cx="1440" cy="1158"/>
          </a:xfrm>
        </p:grpSpPr>
        <p:sp>
          <p:nvSpPr>
            <p:cNvPr id="84008" name="Freeform 53">
              <a:extLst>
                <a:ext uri="{FF2B5EF4-FFF2-40B4-BE49-F238E27FC236}">
                  <a16:creationId xmlns:a16="http://schemas.microsoft.com/office/drawing/2014/main" id="{3BBE0CAF-C123-4AB9-9EB7-B1D77723B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2829"/>
              <a:ext cx="1440" cy="1158"/>
            </a:xfrm>
            <a:custGeom>
              <a:avLst/>
              <a:gdLst>
                <a:gd name="T0" fmla="*/ 1440 w 1440"/>
                <a:gd name="T1" fmla="*/ 0 h 1248"/>
                <a:gd name="T2" fmla="*/ 960 w 1440"/>
                <a:gd name="T3" fmla="*/ 161 h 1248"/>
                <a:gd name="T4" fmla="*/ 0 w 1440"/>
                <a:gd name="T5" fmla="*/ 259 h 1248"/>
                <a:gd name="T6" fmla="*/ 0 60000 65536"/>
                <a:gd name="T7" fmla="*/ 0 60000 65536"/>
                <a:gd name="T8" fmla="*/ 0 60000 65536"/>
                <a:gd name="T9" fmla="*/ 0 w 1440"/>
                <a:gd name="T10" fmla="*/ 0 h 1248"/>
                <a:gd name="T11" fmla="*/ 1440 w 1440"/>
                <a:gd name="T12" fmla="*/ 1248 h 1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1248">
                  <a:moveTo>
                    <a:pt x="1440" y="0"/>
                  </a:moveTo>
                  <a:cubicBezTo>
                    <a:pt x="1320" y="280"/>
                    <a:pt x="1200" y="560"/>
                    <a:pt x="960" y="768"/>
                  </a:cubicBezTo>
                  <a:cubicBezTo>
                    <a:pt x="720" y="976"/>
                    <a:pt x="360" y="1112"/>
                    <a:pt x="0" y="1248"/>
                  </a:cubicBezTo>
                </a:path>
              </a:pathLst>
            </a:custGeom>
            <a:noFill/>
            <a:ln w="76200" cmpd="sng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9" name="Line 54">
              <a:extLst>
                <a:ext uri="{FF2B5EF4-FFF2-40B4-BE49-F238E27FC236}">
                  <a16:creationId xmlns:a16="http://schemas.microsoft.com/office/drawing/2014/main" id="{53BDEA5D-17FA-4F0B-8391-468DC60883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8" y="3499"/>
              <a:ext cx="96" cy="89"/>
            </a:xfrm>
            <a:prstGeom prst="line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55">
            <a:extLst>
              <a:ext uri="{FF2B5EF4-FFF2-40B4-BE49-F238E27FC236}">
                <a16:creationId xmlns:a16="http://schemas.microsoft.com/office/drawing/2014/main" id="{33D2D9EF-E945-4642-81A8-CC4B953BEED9}"/>
              </a:ext>
            </a:extLst>
          </p:cNvPr>
          <p:cNvGrpSpPr>
            <a:grpSpLocks/>
          </p:cNvGrpSpPr>
          <p:nvPr/>
        </p:nvGrpSpPr>
        <p:grpSpPr bwMode="auto">
          <a:xfrm>
            <a:off x="209550" y="6224588"/>
            <a:ext cx="609600" cy="609600"/>
            <a:chOff x="637" y="3870"/>
            <a:chExt cx="384" cy="384"/>
          </a:xfrm>
        </p:grpSpPr>
        <p:sp>
          <p:nvSpPr>
            <p:cNvPr id="84006" name="Oval 56">
              <a:extLst>
                <a:ext uri="{FF2B5EF4-FFF2-40B4-BE49-F238E27FC236}">
                  <a16:creationId xmlns:a16="http://schemas.microsoft.com/office/drawing/2014/main" id="{D7E9565D-FCC4-4480-8F33-9E6053327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" y="3870"/>
              <a:ext cx="384" cy="384"/>
            </a:xfrm>
            <a:prstGeom prst="ellips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4007" name="Line 57">
              <a:extLst>
                <a:ext uri="{FF2B5EF4-FFF2-40B4-BE49-F238E27FC236}">
                  <a16:creationId xmlns:a16="http://schemas.microsoft.com/office/drawing/2014/main" id="{197D6B52-3D2D-4373-801F-4FA62A3002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" y="4042"/>
              <a:ext cx="19" cy="121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0954" name="Line 58">
            <a:extLst>
              <a:ext uri="{FF2B5EF4-FFF2-40B4-BE49-F238E27FC236}">
                <a16:creationId xmlns:a16="http://schemas.microsoft.com/office/drawing/2014/main" id="{7BA2D61A-B9A3-4A9C-B278-333F67251F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7738" y="6392863"/>
            <a:ext cx="2101850" cy="17462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" name="Group 59">
            <a:extLst>
              <a:ext uri="{FF2B5EF4-FFF2-40B4-BE49-F238E27FC236}">
                <a16:creationId xmlns:a16="http://schemas.microsoft.com/office/drawing/2014/main" id="{F6EDA437-A99F-43ED-81D7-97EA75C3D6B9}"/>
              </a:ext>
            </a:extLst>
          </p:cNvPr>
          <p:cNvGrpSpPr>
            <a:grpSpLocks/>
          </p:cNvGrpSpPr>
          <p:nvPr/>
        </p:nvGrpSpPr>
        <p:grpSpPr bwMode="auto">
          <a:xfrm>
            <a:off x="227013" y="4106863"/>
            <a:ext cx="609600" cy="609600"/>
            <a:chOff x="637" y="3870"/>
            <a:chExt cx="384" cy="384"/>
          </a:xfrm>
        </p:grpSpPr>
        <p:sp>
          <p:nvSpPr>
            <p:cNvPr id="84004" name="Oval 60">
              <a:extLst>
                <a:ext uri="{FF2B5EF4-FFF2-40B4-BE49-F238E27FC236}">
                  <a16:creationId xmlns:a16="http://schemas.microsoft.com/office/drawing/2014/main" id="{D1520B7B-4C81-4BFF-83E8-7323BB9A6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" y="3870"/>
              <a:ext cx="384" cy="384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4005" name="Line 61">
              <a:extLst>
                <a:ext uri="{FF2B5EF4-FFF2-40B4-BE49-F238E27FC236}">
                  <a16:creationId xmlns:a16="http://schemas.microsoft.com/office/drawing/2014/main" id="{E0D76872-70AB-486B-89A4-C869F050CE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" y="4042"/>
              <a:ext cx="19" cy="121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62">
            <a:extLst>
              <a:ext uri="{FF2B5EF4-FFF2-40B4-BE49-F238E27FC236}">
                <a16:creationId xmlns:a16="http://schemas.microsoft.com/office/drawing/2014/main" id="{CCF1CEB2-E370-4541-B0B9-64BBDA859822}"/>
              </a:ext>
            </a:extLst>
          </p:cNvPr>
          <p:cNvGrpSpPr>
            <a:grpSpLocks/>
          </p:cNvGrpSpPr>
          <p:nvPr/>
        </p:nvGrpSpPr>
        <p:grpSpPr bwMode="auto">
          <a:xfrm rot="-10326680">
            <a:off x="3033713" y="4057650"/>
            <a:ext cx="609600" cy="609600"/>
            <a:chOff x="637" y="3870"/>
            <a:chExt cx="384" cy="384"/>
          </a:xfrm>
        </p:grpSpPr>
        <p:sp>
          <p:nvSpPr>
            <p:cNvPr id="84002" name="Oval 63">
              <a:extLst>
                <a:ext uri="{FF2B5EF4-FFF2-40B4-BE49-F238E27FC236}">
                  <a16:creationId xmlns:a16="http://schemas.microsoft.com/office/drawing/2014/main" id="{0E92EFB8-0657-4F1E-B2D1-7E8F72B90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" y="3870"/>
              <a:ext cx="384" cy="384"/>
            </a:xfrm>
            <a:prstGeom prst="ellipse">
              <a:avLst/>
            </a:prstGeom>
            <a:noFill/>
            <a:ln w="5715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4003" name="Line 64">
              <a:extLst>
                <a:ext uri="{FF2B5EF4-FFF2-40B4-BE49-F238E27FC236}">
                  <a16:creationId xmlns:a16="http://schemas.microsoft.com/office/drawing/2014/main" id="{81C5B070-BA1F-4D6D-BB72-778E6524AC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" y="4042"/>
              <a:ext cx="19" cy="121"/>
            </a:xfrm>
            <a:prstGeom prst="line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65">
            <a:extLst>
              <a:ext uri="{FF2B5EF4-FFF2-40B4-BE49-F238E27FC236}">
                <a16:creationId xmlns:a16="http://schemas.microsoft.com/office/drawing/2014/main" id="{1C83B9B0-BFA6-4703-ABB7-D4F0A006D48D}"/>
              </a:ext>
            </a:extLst>
          </p:cNvPr>
          <p:cNvGrpSpPr>
            <a:grpSpLocks/>
          </p:cNvGrpSpPr>
          <p:nvPr/>
        </p:nvGrpSpPr>
        <p:grpSpPr bwMode="auto">
          <a:xfrm rot="-10326680">
            <a:off x="3097213" y="6248400"/>
            <a:ext cx="609600" cy="609600"/>
            <a:chOff x="637" y="3870"/>
            <a:chExt cx="384" cy="384"/>
          </a:xfrm>
        </p:grpSpPr>
        <p:sp>
          <p:nvSpPr>
            <p:cNvPr id="84000" name="Oval 66">
              <a:extLst>
                <a:ext uri="{FF2B5EF4-FFF2-40B4-BE49-F238E27FC236}">
                  <a16:creationId xmlns:a16="http://schemas.microsoft.com/office/drawing/2014/main" id="{70289472-FBC3-4377-A4F9-B3A73C690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" y="3870"/>
              <a:ext cx="384" cy="384"/>
            </a:xfrm>
            <a:prstGeom prst="ellips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3000" b="0">
                <a:latin typeface="Arial Narrow" panose="020B0606020202030204" pitchFamily="34" charset="0"/>
              </a:endParaRPr>
            </a:p>
          </p:txBody>
        </p:sp>
        <p:sp>
          <p:nvSpPr>
            <p:cNvPr id="84001" name="Line 67">
              <a:extLst>
                <a:ext uri="{FF2B5EF4-FFF2-40B4-BE49-F238E27FC236}">
                  <a16:creationId xmlns:a16="http://schemas.microsoft.com/office/drawing/2014/main" id="{62AF6474-C0C9-4DBE-B703-B31ED91D6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" y="4042"/>
              <a:ext cx="19" cy="121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70">
            <a:extLst>
              <a:ext uri="{FF2B5EF4-FFF2-40B4-BE49-F238E27FC236}">
                <a16:creationId xmlns:a16="http://schemas.microsoft.com/office/drawing/2014/main" id="{3E04E3A7-44C9-43F7-8658-F850E0205DD9}"/>
              </a:ext>
            </a:extLst>
          </p:cNvPr>
          <p:cNvGrpSpPr>
            <a:grpSpLocks/>
          </p:cNvGrpSpPr>
          <p:nvPr/>
        </p:nvGrpSpPr>
        <p:grpSpPr bwMode="auto">
          <a:xfrm>
            <a:off x="766763" y="4371975"/>
            <a:ext cx="2286000" cy="141288"/>
            <a:chOff x="483" y="2754"/>
            <a:chExt cx="1440" cy="89"/>
          </a:xfrm>
        </p:grpSpPr>
        <p:sp>
          <p:nvSpPr>
            <p:cNvPr id="83998" name="Freeform 68">
              <a:extLst>
                <a:ext uri="{FF2B5EF4-FFF2-40B4-BE49-F238E27FC236}">
                  <a16:creationId xmlns:a16="http://schemas.microsoft.com/office/drawing/2014/main" id="{9B43D56B-A2C3-4353-B8CF-A46235DA8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" y="2754"/>
              <a:ext cx="1440" cy="89"/>
            </a:xfrm>
            <a:custGeom>
              <a:avLst/>
              <a:gdLst>
                <a:gd name="T0" fmla="*/ 1440 w 1440"/>
                <a:gd name="T1" fmla="*/ 19 h 96"/>
                <a:gd name="T2" fmla="*/ 672 w 1440"/>
                <a:gd name="T3" fmla="*/ 0 h 96"/>
                <a:gd name="T4" fmla="*/ 0 w 1440"/>
                <a:gd name="T5" fmla="*/ 19 h 96"/>
                <a:gd name="T6" fmla="*/ 0 60000 65536"/>
                <a:gd name="T7" fmla="*/ 0 60000 65536"/>
                <a:gd name="T8" fmla="*/ 0 60000 65536"/>
                <a:gd name="T9" fmla="*/ 0 w 1440"/>
                <a:gd name="T10" fmla="*/ 0 h 96"/>
                <a:gd name="T11" fmla="*/ 1440 w 1440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96">
                  <a:moveTo>
                    <a:pt x="1440" y="96"/>
                  </a:moveTo>
                  <a:cubicBezTo>
                    <a:pt x="1176" y="48"/>
                    <a:pt x="912" y="0"/>
                    <a:pt x="672" y="0"/>
                  </a:cubicBezTo>
                  <a:cubicBezTo>
                    <a:pt x="432" y="0"/>
                    <a:pt x="216" y="48"/>
                    <a:pt x="0" y="96"/>
                  </a:cubicBezTo>
                </a:path>
              </a:pathLst>
            </a:custGeom>
            <a:noFill/>
            <a:ln w="57150" cmpd="sng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9" name="Line 69">
              <a:extLst>
                <a:ext uri="{FF2B5EF4-FFF2-40B4-BE49-F238E27FC236}">
                  <a16:creationId xmlns:a16="http://schemas.microsoft.com/office/drawing/2014/main" id="{4D788370-6528-4BCB-9A4C-A66AED840F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9" y="2754"/>
              <a:ext cx="192" cy="0"/>
            </a:xfrm>
            <a:prstGeom prst="line">
              <a:avLst/>
            </a:prstGeom>
            <a:noFill/>
            <a:ln w="57150">
              <a:solidFill>
                <a:srgbClr val="00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0967" name="Freeform 71">
            <a:extLst>
              <a:ext uri="{FF2B5EF4-FFF2-40B4-BE49-F238E27FC236}">
                <a16:creationId xmlns:a16="http://schemas.microsoft.com/office/drawing/2014/main" id="{B2F76FC4-746A-4029-B0B2-0D4BD8A724DE}"/>
              </a:ext>
            </a:extLst>
          </p:cNvPr>
          <p:cNvSpPr>
            <a:spLocks/>
          </p:cNvSpPr>
          <p:nvPr/>
        </p:nvSpPr>
        <p:spPr bwMode="auto">
          <a:xfrm>
            <a:off x="849313" y="4586288"/>
            <a:ext cx="2286000" cy="1838325"/>
          </a:xfrm>
          <a:custGeom>
            <a:avLst/>
            <a:gdLst>
              <a:gd name="T0" fmla="*/ 2147483646 w 1440"/>
              <a:gd name="T1" fmla="*/ 2147483646 h 1248"/>
              <a:gd name="T2" fmla="*/ 2147483646 w 1440"/>
              <a:gd name="T3" fmla="*/ 2147483646 h 1248"/>
              <a:gd name="T4" fmla="*/ 0 w 1440"/>
              <a:gd name="T5" fmla="*/ 0 h 1248"/>
              <a:gd name="T6" fmla="*/ 0 60000 65536"/>
              <a:gd name="T7" fmla="*/ 0 60000 65536"/>
              <a:gd name="T8" fmla="*/ 0 60000 65536"/>
              <a:gd name="T9" fmla="*/ 0 w 1440"/>
              <a:gd name="T10" fmla="*/ 0 h 1248"/>
              <a:gd name="T11" fmla="*/ 1440 w 1440"/>
              <a:gd name="T12" fmla="*/ 1248 h 1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248">
                <a:moveTo>
                  <a:pt x="1440" y="1248"/>
                </a:moveTo>
                <a:cubicBezTo>
                  <a:pt x="1248" y="968"/>
                  <a:pt x="1056" y="688"/>
                  <a:pt x="816" y="480"/>
                </a:cubicBezTo>
                <a:cubicBezTo>
                  <a:pt x="576" y="272"/>
                  <a:pt x="136" y="80"/>
                  <a:pt x="0" y="0"/>
                </a:cubicBezTo>
              </a:path>
            </a:pathLst>
          </a:custGeom>
          <a:noFill/>
          <a:ln w="57150" cmpd="sng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0968" name="Line 72">
            <a:extLst>
              <a:ext uri="{FF2B5EF4-FFF2-40B4-BE49-F238E27FC236}">
                <a16:creationId xmlns:a16="http://schemas.microsoft.com/office/drawing/2014/main" id="{2604739B-62E9-454A-AB1E-82DB53D21B1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14563" y="5367338"/>
            <a:ext cx="152400" cy="141287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0969" name="Freeform 73">
            <a:extLst>
              <a:ext uri="{FF2B5EF4-FFF2-40B4-BE49-F238E27FC236}">
                <a16:creationId xmlns:a16="http://schemas.microsoft.com/office/drawing/2014/main" id="{66A09DFE-0873-4B36-89FD-20E5C3FE220E}"/>
              </a:ext>
            </a:extLst>
          </p:cNvPr>
          <p:cNvSpPr>
            <a:spLocks/>
          </p:cNvSpPr>
          <p:nvPr/>
        </p:nvSpPr>
        <p:spPr bwMode="auto">
          <a:xfrm>
            <a:off x="3116263" y="4560888"/>
            <a:ext cx="355600" cy="1831975"/>
          </a:xfrm>
          <a:custGeom>
            <a:avLst/>
            <a:gdLst>
              <a:gd name="T0" fmla="*/ 0 w 224"/>
              <a:gd name="T1" fmla="*/ 0 h 1248"/>
              <a:gd name="T2" fmla="*/ 2147483646 w 224"/>
              <a:gd name="T3" fmla="*/ 2147483646 h 1248"/>
              <a:gd name="T4" fmla="*/ 2147483646 w 224"/>
              <a:gd name="T5" fmla="*/ 2147483646 h 1248"/>
              <a:gd name="T6" fmla="*/ 0 w 224"/>
              <a:gd name="T7" fmla="*/ 2147483646 h 1248"/>
              <a:gd name="T8" fmla="*/ 0 60000 65536"/>
              <a:gd name="T9" fmla="*/ 0 60000 65536"/>
              <a:gd name="T10" fmla="*/ 0 60000 65536"/>
              <a:gd name="T11" fmla="*/ 0 60000 65536"/>
              <a:gd name="T12" fmla="*/ 0 w 224"/>
              <a:gd name="T13" fmla="*/ 0 h 1248"/>
              <a:gd name="T14" fmla="*/ 224 w 224"/>
              <a:gd name="T15" fmla="*/ 1248 h 12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4" h="1248">
                <a:moveTo>
                  <a:pt x="0" y="0"/>
                </a:moveTo>
                <a:cubicBezTo>
                  <a:pt x="80" y="160"/>
                  <a:pt x="160" y="320"/>
                  <a:pt x="192" y="432"/>
                </a:cubicBezTo>
                <a:cubicBezTo>
                  <a:pt x="224" y="544"/>
                  <a:pt x="224" y="536"/>
                  <a:pt x="192" y="672"/>
                </a:cubicBezTo>
                <a:cubicBezTo>
                  <a:pt x="160" y="808"/>
                  <a:pt x="80" y="1028"/>
                  <a:pt x="0" y="1248"/>
                </a:cubicBezTo>
              </a:path>
            </a:pathLst>
          </a:custGeom>
          <a:noFill/>
          <a:ln w="57150" cmpd="sng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0970" name="Line 74">
            <a:extLst>
              <a:ext uri="{FF2B5EF4-FFF2-40B4-BE49-F238E27FC236}">
                <a16:creationId xmlns:a16="http://schemas.microsoft.com/office/drawing/2014/main" id="{AF4A3972-BE87-4586-8BAC-C8E4112543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1063" y="5335588"/>
            <a:ext cx="0" cy="141287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72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20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20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E818DF7-F966-48BC-854F-EC4F8DEF3227}" type="slidenum">
              <a:rPr lang="en-US" altLang="zh-CN" sz="1400" b="0" smtClean="0">
                <a:latin typeface="Arial" panose="020B0604020202020204" pitchFamily="34" charset="0"/>
              </a:rPr>
              <a:t>106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8499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闭包的性质</a:t>
            </a:r>
          </a:p>
        </p:txBody>
      </p:sp>
      <p:sp>
        <p:nvSpPr>
          <p:cNvPr id="8499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08962" cy="187166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7.11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是非空集合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</a:p>
          <a:p>
            <a:pPr eaLnBrk="1" hangingPunct="1"/>
            <a:r>
              <a:rPr lang="en-US" altLang="zh-CN" dirty="0"/>
              <a:t>(1) </a:t>
            </a:r>
            <a:r>
              <a:rPr lang="en-US" altLang="zh-CN" i="1" dirty="0"/>
              <a:t>R</a:t>
            </a:r>
            <a:r>
              <a:rPr lang="zh-CN" altLang="en-US" dirty="0"/>
              <a:t>是自反的当且仅当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)=</a:t>
            </a:r>
            <a:r>
              <a:rPr lang="en-US" altLang="zh-CN" i="1" dirty="0"/>
              <a:t>R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en-US" altLang="zh-CN" dirty="0"/>
              <a:t>(2) </a:t>
            </a:r>
            <a:r>
              <a:rPr lang="en-US" altLang="zh-CN" i="1" dirty="0"/>
              <a:t>R</a:t>
            </a:r>
            <a:r>
              <a:rPr lang="zh-CN" altLang="en-US" dirty="0"/>
              <a:t>是对称的当且仅当 </a:t>
            </a:r>
            <a:r>
              <a:rPr lang="en-US" altLang="zh-CN" i="1" dirty="0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)=</a:t>
            </a:r>
            <a:r>
              <a:rPr lang="en-US" altLang="zh-CN" i="1" dirty="0"/>
              <a:t>R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en-US" altLang="zh-CN" dirty="0"/>
              <a:t>(3) </a:t>
            </a:r>
            <a:r>
              <a:rPr lang="en-US" altLang="zh-CN" i="1" dirty="0"/>
              <a:t>R</a:t>
            </a:r>
            <a:r>
              <a:rPr lang="zh-CN" altLang="en-US" dirty="0"/>
              <a:t>是传递的当且仅当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)=</a:t>
            </a:r>
            <a:r>
              <a:rPr lang="en-US" altLang="zh-CN" i="1" dirty="0"/>
              <a:t>R</a:t>
            </a:r>
            <a:r>
              <a:rPr lang="en-US" altLang="zh-CN" dirty="0"/>
              <a:t>.</a:t>
            </a:r>
          </a:p>
        </p:txBody>
      </p:sp>
      <p:sp>
        <p:nvSpPr>
          <p:cNvPr id="84997" name="Rectangle 9"/>
          <p:cNvSpPr>
            <a:spLocks noChangeArrowheads="1"/>
          </p:cNvSpPr>
          <p:nvPr/>
        </p:nvSpPr>
        <p:spPr bwMode="auto">
          <a:xfrm>
            <a:off x="395288" y="3213100"/>
            <a:ext cx="8280400" cy="187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60000"/>
              </a:spcBef>
            </a:pPr>
            <a:r>
              <a:rPr lang="zh-CN" altLang="en-US">
                <a:solidFill>
                  <a:srgbClr val="A50021"/>
                </a:solidFill>
              </a:rPr>
              <a:t>定理</a:t>
            </a:r>
            <a:r>
              <a:rPr lang="en-US" altLang="zh-CN">
                <a:solidFill>
                  <a:srgbClr val="A50021"/>
                </a:solidFill>
              </a:rPr>
              <a:t>7.12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 i="1"/>
              <a:t>R</a:t>
            </a:r>
            <a:r>
              <a:rPr lang="en-US" altLang="zh-CN" baseline="-25000"/>
              <a:t>1</a:t>
            </a:r>
            <a:r>
              <a:rPr lang="zh-CN" altLang="en-US"/>
              <a:t>和</a:t>
            </a:r>
            <a:r>
              <a:rPr lang="en-US" altLang="zh-CN" i="1"/>
              <a:t>R</a:t>
            </a:r>
            <a:r>
              <a:rPr lang="en-US" altLang="zh-CN" baseline="-25000"/>
              <a:t>2</a:t>
            </a:r>
            <a:r>
              <a:rPr lang="zh-CN" altLang="en-US"/>
              <a:t>是非空集合</a:t>
            </a:r>
            <a:r>
              <a:rPr lang="en-US" altLang="zh-CN" i="1"/>
              <a:t>A</a:t>
            </a:r>
            <a:r>
              <a:rPr lang="zh-CN" altLang="en-US"/>
              <a:t>上的关系</a:t>
            </a:r>
            <a:r>
              <a:rPr lang="en-US" altLang="zh-CN"/>
              <a:t>, </a:t>
            </a:r>
            <a:r>
              <a:rPr lang="zh-CN" altLang="en-US"/>
              <a:t>且 </a:t>
            </a:r>
            <a:r>
              <a:rPr lang="en-US" altLang="zh-CN" i="1"/>
              <a:t>R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</a:t>
            </a:r>
            <a:r>
              <a:rPr lang="en-US" altLang="zh-CN" i="1"/>
              <a:t>R</a:t>
            </a:r>
            <a:r>
              <a:rPr lang="en-US" altLang="zh-CN" baseline="-25000"/>
              <a:t>2</a:t>
            </a:r>
            <a:r>
              <a:rPr lang="en-US" altLang="zh-CN"/>
              <a:t>, </a:t>
            </a:r>
            <a:r>
              <a:rPr lang="zh-CN" altLang="en-US"/>
              <a:t>则</a:t>
            </a:r>
          </a:p>
          <a:p>
            <a:pPr eaLnBrk="1" hangingPunct="1"/>
            <a:r>
              <a:rPr lang="en-US" altLang="zh-CN"/>
              <a:t>(1) </a:t>
            </a:r>
            <a:r>
              <a:rPr lang="en-US" altLang="zh-CN" i="1"/>
              <a:t>r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 baseline="-25000"/>
              <a:t>1</a:t>
            </a:r>
            <a:r>
              <a:rPr lang="en-US" altLang="zh-CN"/>
              <a:t>) </a:t>
            </a:r>
            <a:r>
              <a:rPr lang="en-US" altLang="zh-CN">
                <a:sym typeface="Symbol" panose="05050102010706020507" pitchFamily="18" charset="2"/>
              </a:rPr>
              <a:t> </a:t>
            </a:r>
            <a:r>
              <a:rPr lang="en-US" altLang="zh-CN" i="1"/>
              <a:t>r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 baseline="-25000"/>
              <a:t>2</a:t>
            </a:r>
            <a:r>
              <a:rPr lang="en-US" altLang="zh-CN"/>
              <a:t>)  </a:t>
            </a:r>
          </a:p>
          <a:p>
            <a:pPr eaLnBrk="1" hangingPunct="1"/>
            <a:r>
              <a:rPr lang="en-US" altLang="zh-CN"/>
              <a:t>(2) </a:t>
            </a:r>
            <a:r>
              <a:rPr lang="en-US" altLang="zh-CN" i="1"/>
              <a:t>s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 baseline="-25000"/>
              <a:t>1</a:t>
            </a:r>
            <a:r>
              <a:rPr lang="en-US" altLang="zh-CN"/>
              <a:t>) </a:t>
            </a:r>
            <a:r>
              <a:rPr lang="en-US" altLang="zh-CN">
                <a:sym typeface="Symbol" panose="05050102010706020507" pitchFamily="18" charset="2"/>
              </a:rPr>
              <a:t> </a:t>
            </a:r>
            <a:r>
              <a:rPr lang="en-US" altLang="zh-CN" i="1"/>
              <a:t>s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 baseline="-25000"/>
              <a:t>2</a:t>
            </a:r>
            <a:r>
              <a:rPr lang="en-US" altLang="zh-CN"/>
              <a:t>) </a:t>
            </a:r>
          </a:p>
          <a:p>
            <a:pPr eaLnBrk="1" hangingPunct="1"/>
            <a:r>
              <a:rPr lang="en-US" altLang="zh-CN"/>
              <a:t>(3) 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 baseline="-25000"/>
              <a:t>1</a:t>
            </a:r>
            <a:r>
              <a:rPr lang="en-US" altLang="zh-CN"/>
              <a:t>) </a:t>
            </a:r>
            <a:r>
              <a:rPr lang="en-US" altLang="zh-CN">
                <a:sym typeface="Symbol" panose="05050102010706020507" pitchFamily="18" charset="2"/>
              </a:rPr>
              <a:t> 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 baseline="-25000"/>
              <a:t>2</a:t>
            </a:r>
            <a:r>
              <a:rPr lang="en-US" altLang="zh-CN"/>
              <a:t>)</a:t>
            </a:r>
          </a:p>
        </p:txBody>
      </p:sp>
    </p:spTree>
  </p:cSld>
  <p:clrMapOvr>
    <a:masterClrMapping/>
  </p:clrMapOvr>
  <p:transition spd="slow">
    <p:fade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18D934-2717-4E12-9313-02600D0D681D}" type="slidenum">
              <a:rPr lang="en-US" altLang="zh-CN" smtClean="0"/>
              <a:t>107</a:t>
            </a:fld>
            <a:endParaRPr lang="en-US" altLang="zh-CN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62100" y="260648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证 若 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zh-CN" altLang="en-US" dirty="0"/>
              <a:t>则 </a:t>
            </a:r>
            <a:r>
              <a:rPr lang="en-US" altLang="zh-CN" dirty="0"/>
              <a:t>s(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s(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) 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84200" y="1412776"/>
            <a:ext cx="7975600" cy="3754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+mn-lt"/>
                <a:ea typeface="+mn-ea"/>
              </a:rPr>
              <a:t>证明：</a:t>
            </a:r>
            <a:endParaRPr lang="en-US" altLang="zh-CN" sz="2800" b="1" dirty="0">
              <a:latin typeface="+mn-lt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+mn-lt"/>
                <a:ea typeface="+mn-ea"/>
              </a:rPr>
              <a:t>因为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s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R</a:t>
            </a:r>
            <a:r>
              <a:rPr kumimoji="1" lang="en-US" altLang="zh-CN" sz="2800" b="1" i="1" baseline="-25000" dirty="0"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) </a:t>
            </a:r>
            <a:r>
              <a:rPr lang="zh-CN" altLang="en-US" sz="2800" b="1" dirty="0">
                <a:latin typeface="+mn-lt"/>
                <a:ea typeface="+mn-ea"/>
                <a:sym typeface="Symbol" panose="05050102010706020507" pitchFamily="18" charset="2"/>
              </a:rPr>
              <a:t>对称且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R</a:t>
            </a:r>
            <a:r>
              <a:rPr kumimoji="1" lang="en-US" altLang="zh-CN" sz="2800" b="1" i="1" baseline="-25000" dirty="0"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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s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R</a:t>
            </a:r>
            <a:r>
              <a:rPr kumimoji="1" lang="en-US" altLang="zh-CN" sz="2800" b="1" i="1" baseline="-25000" dirty="0"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),            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+mn-lt"/>
                <a:ea typeface="+mn-ea"/>
              </a:rPr>
              <a:t>又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R</a:t>
            </a:r>
            <a:r>
              <a:rPr kumimoji="1" lang="en-US" altLang="zh-CN" sz="2800" b="1" i="1" baseline="-25000" dirty="0"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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R</a:t>
            </a:r>
            <a:r>
              <a:rPr kumimoji="1" lang="en-US" altLang="zh-CN" sz="2800" b="1" i="1" baseline="-25000" dirty="0"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r>
              <a:rPr kumimoji="1" lang="zh-CN" altLang="en-US" sz="2800" b="1" i="1" baseline="-25000" dirty="0">
                <a:latin typeface="Times New Roman" panose="02020603050405020304" pitchFamily="18" charset="0"/>
                <a:ea typeface="隶书" panose="02010509060101010101" pitchFamily="49" charset="-122"/>
              </a:rPr>
              <a:t>，</a:t>
            </a:r>
            <a:endParaRPr kumimoji="1" lang="en-US" altLang="zh-CN" sz="2800" b="1" i="1" baseline="-25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+mn-lt"/>
                <a:ea typeface="+mn-ea"/>
              </a:rPr>
              <a:t>所以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R</a:t>
            </a:r>
            <a:r>
              <a:rPr kumimoji="1" lang="en-US" altLang="zh-CN" sz="2800" b="1" i="1" baseline="-25000" dirty="0"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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s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R</a:t>
            </a:r>
            <a:r>
              <a:rPr kumimoji="1" lang="en-US" altLang="zh-CN" sz="2800" b="1" i="1" baseline="-25000" dirty="0"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+mn-lt"/>
                <a:ea typeface="+mn-ea"/>
              </a:rPr>
              <a:t>由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s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R</a:t>
            </a:r>
            <a:r>
              <a:rPr kumimoji="1" lang="en-US" altLang="zh-CN" sz="2800" b="1" i="1" baseline="-25000" dirty="0"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r>
              <a:rPr lang="zh-CN" altLang="en-US" sz="2800" b="1" dirty="0">
                <a:latin typeface="+mn-lt"/>
                <a:ea typeface="+mn-ea"/>
              </a:rPr>
              <a:t>的定义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，</a:t>
            </a:r>
            <a:r>
              <a:rPr kumimoji="1" lang="en-US" altLang="zh-CN" sz="2800" b="1" i="1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</a:t>
            </a:r>
            <a:r>
              <a:rPr kumimoji="1" lang="en-US" altLang="zh-CN" sz="2800" b="1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kumimoji="1" lang="en-US" altLang="zh-CN" sz="2800" b="1" i="1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</a:t>
            </a:r>
            <a:r>
              <a:rPr kumimoji="1" lang="en-US" altLang="zh-CN" sz="2800" b="1" i="1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kumimoji="1" lang="en-US" altLang="zh-CN" sz="2800" b="1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r>
              <a:rPr lang="zh-CN" altLang="en-US" sz="2800" b="1" dirty="0">
                <a:solidFill>
                  <a:srgbClr val="0066FF"/>
                </a:solidFill>
                <a:latin typeface="+mn-lt"/>
                <a:ea typeface="+mn-ea"/>
              </a:rPr>
              <a:t>是包含</a:t>
            </a:r>
            <a:r>
              <a:rPr kumimoji="1" lang="en-US" altLang="zh-CN" sz="2800" b="1" i="1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</a:t>
            </a:r>
            <a:r>
              <a:rPr kumimoji="1" lang="en-US" altLang="zh-CN" sz="2800" b="1" i="1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lang="zh-CN" altLang="en-US" sz="2800" b="1" dirty="0">
                <a:solidFill>
                  <a:srgbClr val="0066FF"/>
                </a:solidFill>
                <a:latin typeface="+mn-lt"/>
                <a:ea typeface="+mn-ea"/>
              </a:rPr>
              <a:t>的最小的对称关系</a:t>
            </a:r>
            <a:r>
              <a:rPr lang="zh-CN" altLang="en-US" sz="2800" b="1" dirty="0">
                <a:latin typeface="+mn-lt"/>
                <a:ea typeface="+mn-ea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+mn-lt"/>
                <a:ea typeface="+mn-ea"/>
              </a:rPr>
              <a:t>所以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s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R</a:t>
            </a:r>
            <a:r>
              <a:rPr kumimoji="1" lang="en-US" altLang="zh-CN" sz="2800" b="1" i="1" baseline="-25000" dirty="0"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)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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s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R</a:t>
            </a:r>
            <a:r>
              <a:rPr kumimoji="1" lang="en-US" altLang="zh-CN" sz="2800" b="1" i="1" baseline="-25000" dirty="0"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。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FE0C4B5-980F-4EBA-9331-5ED16947CB04}" type="slidenum">
              <a:rPr lang="en-US" altLang="zh-CN" sz="1400" b="0" smtClean="0">
                <a:latin typeface="Arial" panose="020B0604020202020204" pitchFamily="34" charset="0"/>
              </a:rPr>
              <a:t>108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67587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17287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rgbClr val="A50021"/>
                </a:solidFill>
              </a:rPr>
              <a:t>定理</a:t>
            </a:r>
            <a:r>
              <a:rPr lang="en-US" altLang="zh-CN">
                <a:solidFill>
                  <a:srgbClr val="A50021"/>
                </a:solidFill>
              </a:rPr>
              <a:t>7.13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 i="1"/>
              <a:t>R</a:t>
            </a:r>
            <a:r>
              <a:rPr lang="zh-CN" altLang="en-US"/>
              <a:t>是非空集合</a:t>
            </a:r>
            <a:r>
              <a:rPr lang="en-US" altLang="zh-CN" i="1"/>
              <a:t>A</a:t>
            </a:r>
            <a:r>
              <a:rPr lang="zh-CN" altLang="en-US"/>
              <a:t>上的关系</a:t>
            </a:r>
            <a:r>
              <a:rPr lang="en-US" altLang="zh-CN"/>
              <a:t>,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(1) </a:t>
            </a:r>
            <a:r>
              <a:rPr lang="zh-CN" altLang="en-US"/>
              <a:t>若</a:t>
            </a:r>
            <a:r>
              <a:rPr lang="en-US" altLang="zh-CN" i="1"/>
              <a:t>R</a:t>
            </a:r>
            <a:r>
              <a:rPr lang="zh-CN" altLang="en-US"/>
              <a:t>是自反的</a:t>
            </a:r>
            <a:r>
              <a:rPr lang="en-US" altLang="zh-CN"/>
              <a:t>, </a:t>
            </a:r>
            <a:r>
              <a:rPr lang="zh-CN" altLang="en-US"/>
              <a:t>则 </a:t>
            </a:r>
            <a:r>
              <a:rPr lang="en-US" altLang="zh-CN" i="1"/>
              <a:t>s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 </a:t>
            </a:r>
            <a:r>
              <a:rPr lang="zh-CN" altLang="en-US"/>
              <a:t>与 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 </a:t>
            </a:r>
            <a:r>
              <a:rPr lang="zh-CN" altLang="en-US"/>
              <a:t>也是自反的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(2) </a:t>
            </a:r>
            <a:r>
              <a:rPr lang="zh-CN" altLang="en-US"/>
              <a:t>若</a:t>
            </a:r>
            <a:r>
              <a:rPr lang="en-US" altLang="zh-CN" i="1"/>
              <a:t>R</a:t>
            </a:r>
            <a:r>
              <a:rPr lang="zh-CN" altLang="en-US"/>
              <a:t>是对称的</a:t>
            </a:r>
            <a:r>
              <a:rPr lang="en-US" altLang="zh-CN"/>
              <a:t>, </a:t>
            </a:r>
            <a:r>
              <a:rPr lang="zh-CN" altLang="en-US"/>
              <a:t>则 </a:t>
            </a:r>
            <a:r>
              <a:rPr lang="en-US" altLang="zh-CN" i="1"/>
              <a:t>r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 </a:t>
            </a:r>
            <a:r>
              <a:rPr lang="zh-CN" altLang="en-US"/>
              <a:t>与 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 </a:t>
            </a:r>
            <a:r>
              <a:rPr lang="zh-CN" altLang="en-US"/>
              <a:t>也是对称的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(3) </a:t>
            </a:r>
            <a:r>
              <a:rPr lang="zh-CN" altLang="en-US"/>
              <a:t>若</a:t>
            </a:r>
            <a:r>
              <a:rPr lang="en-US" altLang="zh-CN" i="1"/>
              <a:t>R</a:t>
            </a:r>
            <a:r>
              <a:rPr lang="zh-CN" altLang="en-US"/>
              <a:t>是传递的</a:t>
            </a:r>
            <a:r>
              <a:rPr lang="en-US" altLang="zh-CN"/>
              <a:t>, </a:t>
            </a:r>
            <a:r>
              <a:rPr lang="zh-CN" altLang="en-US"/>
              <a:t>则 </a:t>
            </a:r>
            <a:r>
              <a:rPr lang="en-US" altLang="zh-CN" i="1"/>
              <a:t>r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 </a:t>
            </a:r>
            <a:r>
              <a:rPr lang="zh-CN" altLang="en-US"/>
              <a:t>是传递的</a:t>
            </a:r>
            <a:r>
              <a:rPr lang="en-US" altLang="zh-CN"/>
              <a:t>. </a:t>
            </a:r>
          </a:p>
          <a:p>
            <a:pPr eaLnBrk="1" hangingPunct="1">
              <a:lnSpc>
                <a:spcPct val="90000"/>
              </a:lnSpc>
              <a:spcBef>
                <a:spcPct val="65000"/>
              </a:spcBef>
            </a:pPr>
            <a:endParaRPr lang="en-US" altLang="zh-CN"/>
          </a:p>
          <a:p>
            <a:pPr eaLnBrk="1" hangingPunct="1">
              <a:lnSpc>
                <a:spcPct val="90000"/>
              </a:lnSpc>
              <a:spcBef>
                <a:spcPct val="65000"/>
              </a:spcBef>
            </a:pPr>
            <a:endParaRPr lang="en-US" altLang="zh-CN"/>
          </a:p>
          <a:p>
            <a:pPr eaLnBrk="1" hangingPunct="1">
              <a:lnSpc>
                <a:spcPct val="90000"/>
              </a:lnSpc>
              <a:spcBef>
                <a:spcPct val="65000"/>
              </a:spcBef>
            </a:pPr>
            <a:endParaRPr lang="en-US" altLang="zh-CN"/>
          </a:p>
          <a:p>
            <a:pPr eaLnBrk="1" hangingPunct="1">
              <a:lnSpc>
                <a:spcPct val="90000"/>
              </a:lnSpc>
              <a:spcBef>
                <a:spcPct val="65000"/>
              </a:spcBef>
            </a:pPr>
            <a:endParaRPr lang="en-US" altLang="zh-CN"/>
          </a:p>
          <a:p>
            <a:pPr eaLnBrk="1" hangingPunct="1">
              <a:lnSpc>
                <a:spcPct val="90000"/>
              </a:lnSpc>
              <a:spcBef>
                <a:spcPct val="65000"/>
              </a:spcBef>
            </a:pPr>
            <a:r>
              <a:rPr lang="zh-CN" altLang="en-US"/>
              <a:t>    </a:t>
            </a:r>
            <a:endParaRPr lang="en-US" altLang="zh-CN">
              <a:solidFill>
                <a:srgbClr val="0066FF"/>
              </a:solidFill>
            </a:endParaRPr>
          </a:p>
        </p:txBody>
      </p:sp>
      <p:sp>
        <p:nvSpPr>
          <p:cNvPr id="87044" name="Rectangle 9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闭包的性质</a:t>
            </a:r>
          </a:p>
        </p:txBody>
      </p:sp>
      <p:sp>
        <p:nvSpPr>
          <p:cNvPr id="6" name="Text Box 5" descr="新闻纸"/>
          <p:cNvSpPr txBox="1">
            <a:spLocks noChangeArrowheads="1"/>
          </p:cNvSpPr>
          <p:nvPr/>
        </p:nvSpPr>
        <p:spPr bwMode="auto">
          <a:xfrm>
            <a:off x="5867400" y="3308350"/>
            <a:ext cx="2938463" cy="1384995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76200">
            <a:pattFill prst="dkDnDiag">
              <a:fgClr>
                <a:srgbClr val="DFBB05"/>
              </a:fgClr>
              <a:bgClr>
                <a:schemeClr val="tx2"/>
              </a:bgClr>
            </a:patt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800" dirty="0">
                <a:solidFill>
                  <a:schemeClr val="hlink"/>
                </a:solidFill>
              </a:rPr>
              <a:t>注意：若</a:t>
            </a:r>
            <a:r>
              <a:rPr kumimoji="1" lang="en-US" altLang="zh-CN" sz="2800" i="1" dirty="0">
                <a:solidFill>
                  <a:schemeClr val="hlink"/>
                </a:solidFill>
              </a:rPr>
              <a:t>R</a:t>
            </a:r>
            <a:r>
              <a:rPr kumimoji="1" lang="zh-CN" altLang="en-US" sz="2800" dirty="0">
                <a:solidFill>
                  <a:schemeClr val="hlink"/>
                </a:solidFill>
              </a:rPr>
              <a:t>是传递的，则</a:t>
            </a:r>
            <a:r>
              <a:rPr kumimoji="1" lang="en-US" altLang="zh-CN" sz="2800" dirty="0">
                <a:solidFill>
                  <a:schemeClr val="hlink"/>
                </a:solidFill>
              </a:rPr>
              <a:t>s(</a:t>
            </a:r>
            <a:r>
              <a:rPr kumimoji="1" lang="en-US" altLang="zh-CN" sz="2800" i="1" dirty="0">
                <a:solidFill>
                  <a:schemeClr val="hlink"/>
                </a:solidFill>
              </a:rPr>
              <a:t>R</a:t>
            </a:r>
            <a:r>
              <a:rPr kumimoji="1" lang="en-US" altLang="zh-CN" sz="2800" dirty="0">
                <a:solidFill>
                  <a:schemeClr val="hlink"/>
                </a:solidFill>
              </a:rPr>
              <a:t>)</a:t>
            </a:r>
            <a:r>
              <a:rPr kumimoji="1" lang="zh-CN" altLang="en-US" sz="2800" dirty="0">
                <a:solidFill>
                  <a:schemeClr val="hlink"/>
                </a:solidFill>
              </a:rPr>
              <a:t>不一定是传递的。</a:t>
            </a:r>
          </a:p>
        </p:txBody>
      </p:sp>
      <p:graphicFrame>
        <p:nvGraphicFramePr>
          <p:cNvPr id="7" name="Group 35"/>
          <p:cNvGraphicFramePr>
            <a:graphicFrameLocks noGrp="1"/>
          </p:cNvGraphicFramePr>
          <p:nvPr/>
        </p:nvGraphicFramePr>
        <p:xfrm>
          <a:off x="611188" y="3068638"/>
          <a:ext cx="5040312" cy="1928811"/>
        </p:xfrm>
        <a:graphic>
          <a:graphicData uri="http://schemas.openxmlformats.org/drawingml/2006/table">
            <a:tbl>
              <a:tblPr/>
              <a:tblGrid>
                <a:gridCol w="1260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6946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R</a:t>
                      </a:r>
                    </a:p>
                  </a:txBody>
                  <a:tcPr marL="91436" marR="91436"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r(R)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s(R)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t(R)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9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自反的</a:t>
                      </a:r>
                    </a:p>
                  </a:txBody>
                  <a:tcPr marL="91436" marR="91436"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35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对称的</a:t>
                      </a:r>
                    </a:p>
                  </a:txBody>
                  <a:tcPr marL="91436" marR="91436"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416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传递的</a:t>
                      </a:r>
                    </a:p>
                  </a:txBody>
                  <a:tcPr marL="91436" marR="91436"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95288" y="5245100"/>
            <a:ext cx="8229600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66FF"/>
                </a:solidFill>
              </a:rPr>
              <a:t>   如：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dirty="0">
                <a:solidFill>
                  <a:srgbClr val="0066FF"/>
                </a:solidFill>
              </a:rPr>
              <a:t>={1,2,3}   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={&lt;1,2&gt;}</a:t>
            </a: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</a:rPr>
              <a:t>   s(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)=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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-1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=</a:t>
            </a:r>
            <a:r>
              <a:rPr lang="en-US" altLang="zh-CN" dirty="0">
                <a:solidFill>
                  <a:srgbClr val="0066FF"/>
                </a:solidFill>
              </a:rPr>
              <a:t>{&lt;1,2&gt;, &lt;2,1&gt;}</a:t>
            </a: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</a:rPr>
              <a:t>   s(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zh-CN" altLang="en-US" dirty="0">
                <a:solidFill>
                  <a:srgbClr val="0066FF"/>
                </a:solidFill>
              </a:rPr>
              <a:t>不是传递的。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8" grpId="0" build="p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C96191E-BEAB-4033-93A7-F81F9D81E902}" type="slidenum">
              <a:rPr lang="en-US" altLang="zh-CN" sz="1400" b="0" smtClean="0">
                <a:latin typeface="Arial" panose="020B0604020202020204" pitchFamily="34" charset="0"/>
              </a:rPr>
              <a:t>109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67587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39608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kumimoji="1" lang="en-US" altLang="zh-CN" dirty="0">
                <a:ea typeface="楷体_GB2312" pitchFamily="49" charset="-122"/>
              </a:rPr>
              <a:t>    rs(R) = sr(R)</a:t>
            </a:r>
            <a:endParaRPr kumimoji="1" lang="zh-CN" altLang="en-US" dirty="0"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kumimoji="1" lang="en-US" altLang="zh-CN" dirty="0">
                <a:ea typeface="楷体_GB2312" pitchFamily="49" charset="-122"/>
              </a:rPr>
              <a:t>    rt(R) = tr(R)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kumimoji="1" lang="en-US" altLang="zh-CN" dirty="0">
                <a:ea typeface="楷体_GB2312" pitchFamily="49" charset="-122"/>
              </a:rPr>
              <a:t>    st(R)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kumimoji="1" lang="en-US" altLang="zh-CN" dirty="0">
                <a:ea typeface="楷体_GB2312" pitchFamily="49" charset="-122"/>
              </a:rPr>
              <a:t>ts(R)</a:t>
            </a:r>
            <a:endParaRPr lang="en-US" altLang="zh-CN" dirty="0">
              <a:solidFill>
                <a:srgbClr val="0066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65000"/>
              </a:spcBef>
            </a:pPr>
            <a:r>
              <a:rPr lang="zh-CN" altLang="en-US" dirty="0">
                <a:solidFill>
                  <a:srgbClr val="0066FF"/>
                </a:solidFill>
              </a:rPr>
              <a:t>    如果需要进行多个闭包运算，比如求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zh-CN" altLang="en-US" dirty="0">
                <a:solidFill>
                  <a:srgbClr val="0066FF"/>
                </a:solidFill>
              </a:rPr>
              <a:t>的自反、对称、传递的闭包 </a:t>
            </a:r>
            <a:r>
              <a:rPr lang="en-US" altLang="zh-CN" i="1" dirty="0" err="1">
                <a:solidFill>
                  <a:srgbClr val="0066FF"/>
                </a:solidFill>
              </a:rPr>
              <a:t>tsr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zh-CN" altLang="en-US" dirty="0">
                <a:solidFill>
                  <a:srgbClr val="0066FF"/>
                </a:solidFill>
              </a:rPr>
              <a:t>，运算顺序如下：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i="1" dirty="0">
                <a:solidFill>
                  <a:srgbClr val="0066FF"/>
                </a:solidFill>
              </a:rPr>
              <a:t>                         </a:t>
            </a:r>
            <a:r>
              <a:rPr lang="en-US" altLang="zh-CN" i="1" dirty="0" err="1">
                <a:solidFill>
                  <a:srgbClr val="0066FF"/>
                </a:solidFill>
              </a:rPr>
              <a:t>tsr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) = </a:t>
            </a:r>
            <a:r>
              <a:rPr lang="en-US" altLang="zh-CN" i="1" dirty="0" err="1">
                <a:solidFill>
                  <a:srgbClr val="0066FF"/>
                </a:solidFill>
              </a:rPr>
              <a:t>rts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) = </a:t>
            </a:r>
            <a:r>
              <a:rPr lang="en-US" altLang="zh-CN" i="1" dirty="0" err="1">
                <a:solidFill>
                  <a:srgbClr val="0066FF"/>
                </a:solidFill>
              </a:rPr>
              <a:t>trs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</a:p>
        </p:txBody>
      </p:sp>
      <p:sp>
        <p:nvSpPr>
          <p:cNvPr id="89092" name="Rectangle 9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闭包的性质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5157192"/>
            <a:ext cx="4195664" cy="1772816"/>
          </a:xfrm>
          <a:prstGeom prst="rect">
            <a:avLst/>
          </a:prstGeom>
        </p:spPr>
      </p:pic>
      <p:sp>
        <p:nvSpPr>
          <p:cNvPr id="134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试证性质：</a:t>
            </a:r>
            <a:r>
              <a:rPr lang="en-US" altLang="zh-CN" dirty="0">
                <a:solidFill>
                  <a:schemeClr val="tx1"/>
                </a:solidFill>
              </a:rPr>
              <a:t>st(R)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 </a:t>
            </a:r>
            <a:r>
              <a:rPr lang="en-US" altLang="zh-CN" dirty="0">
                <a:solidFill>
                  <a:schemeClr val="tx1"/>
                </a:solidFill>
              </a:rPr>
              <a:t>ts(R) </a:t>
            </a:r>
          </a:p>
        </p:txBody>
      </p:sp>
      <p:sp>
        <p:nvSpPr>
          <p:cNvPr id="726019" name="Text Box 3"/>
          <p:cNvSpPr txBox="1">
            <a:spLocks noChangeArrowheads="1"/>
          </p:cNvSpPr>
          <p:nvPr/>
        </p:nvSpPr>
        <p:spPr bwMode="auto">
          <a:xfrm>
            <a:off x="860425" y="2114550"/>
            <a:ext cx="8283575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根据闭包的定义，可得 </a:t>
            </a:r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R </a:t>
            </a:r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s(R)</a:t>
            </a:r>
          </a:p>
          <a:p>
            <a:pPr eaLnBrk="1" hangingPunct="1"/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   </a:t>
            </a:r>
            <a:r>
              <a:rPr kumimoji="1"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所以 </a:t>
            </a:r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t(</a:t>
            </a:r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R) </a:t>
            </a:r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ts(R)  , st(</a:t>
            </a:r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R) </a:t>
            </a:r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</a:t>
            </a:r>
            <a:r>
              <a:rPr kumimoji="1" lang="en-US" altLang="zh-CN" sz="3200" dirty="0" err="1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sts</a:t>
            </a:r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(R)</a:t>
            </a:r>
          </a:p>
          <a:p>
            <a:pPr eaLnBrk="1" hangingPunct="1"/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   </a:t>
            </a:r>
            <a:r>
              <a:rPr kumimoji="1" lang="zh-CN" altLang="en-US" sz="3200" dirty="0">
                <a:solidFill>
                  <a:srgbClr val="00B05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因为对称关系的传递闭包是对称的</a:t>
            </a:r>
            <a:r>
              <a:rPr kumimoji="1"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，</a:t>
            </a:r>
            <a:endParaRPr kumimoji="1" lang="en-US" altLang="zh-CN" sz="32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/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       </a:t>
            </a:r>
            <a:r>
              <a:rPr kumimoji="1"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所以</a:t>
            </a:r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ts(R)</a:t>
            </a:r>
            <a:r>
              <a:rPr kumimoji="1"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是对称的，</a:t>
            </a:r>
          </a:p>
          <a:p>
            <a:pPr eaLnBrk="1" hangingPunct="1"/>
            <a:r>
              <a:rPr kumimoji="1"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kumimoji="1" lang="zh-CN" altLang="en-US" sz="3200" dirty="0">
                <a:solidFill>
                  <a:srgbClr val="00B05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而一个关系</a:t>
            </a:r>
            <a:r>
              <a:rPr kumimoji="1" lang="en-US" altLang="zh-CN" sz="3200" dirty="0">
                <a:solidFill>
                  <a:srgbClr val="00B05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</a:t>
            </a:r>
            <a:r>
              <a:rPr kumimoji="1" lang="zh-CN" altLang="en-US" sz="3200" dirty="0">
                <a:solidFill>
                  <a:srgbClr val="00B05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是对称的充要条件是</a:t>
            </a:r>
            <a:r>
              <a:rPr kumimoji="1" lang="en-US" altLang="zh-CN" sz="3200" dirty="0">
                <a:solidFill>
                  <a:srgbClr val="00B05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R=s(R),</a:t>
            </a:r>
          </a:p>
          <a:p>
            <a:pPr eaLnBrk="1" hangingPunct="1"/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       </a:t>
            </a:r>
            <a:r>
              <a:rPr kumimoji="1"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所以 </a:t>
            </a:r>
            <a:endParaRPr kumimoji="1" lang="en-US" altLang="zh-CN" sz="32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/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           </a:t>
            </a:r>
            <a:r>
              <a:rPr kumimoji="1" lang="en-US" altLang="zh-CN" sz="3200" dirty="0" err="1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sts</a:t>
            </a:r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(R)= ts(R)</a:t>
            </a:r>
            <a:r>
              <a:rPr kumimoji="1"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，</a:t>
            </a:r>
          </a:p>
          <a:p>
            <a:pPr eaLnBrk="1" hangingPunct="1"/>
            <a:r>
              <a:rPr kumimoji="1"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  从而</a:t>
            </a:r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s</a:t>
            </a:r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t(R) </a:t>
            </a:r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 </a:t>
            </a:r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ts(R)</a:t>
            </a:r>
            <a:r>
              <a:rPr kumimoji="1" lang="en-US" altLang="zh-CN" sz="32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.</a:t>
            </a:r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   </a:t>
            </a:r>
          </a:p>
          <a:p>
            <a:pPr eaLnBrk="1" hangingPunct="1"/>
            <a:r>
              <a:rPr kumimoji="1"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得证</a:t>
            </a:r>
            <a:r>
              <a:rPr kumimoji="1"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.</a:t>
            </a:r>
          </a:p>
        </p:txBody>
      </p:sp>
      <p:sp>
        <p:nvSpPr>
          <p:cNvPr id="726020" name="Text Box 4"/>
          <p:cNvSpPr txBox="1">
            <a:spLocks noChangeArrowheads="1"/>
          </p:cNvSpPr>
          <p:nvPr/>
        </p:nvSpPr>
        <p:spPr bwMode="auto">
          <a:xfrm>
            <a:off x="76200" y="898525"/>
            <a:ext cx="19748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4000">
                <a:latin typeface="Times New Roman" panose="02020603050405020304" pitchFamily="18" charset="0"/>
                <a:ea typeface="隶书" panose="02010509060101010101" pitchFamily="49" charset="-122"/>
              </a:rPr>
              <a:t>证明：</a:t>
            </a:r>
          </a:p>
        </p:txBody>
      </p:sp>
      <p:sp>
        <p:nvSpPr>
          <p:cNvPr id="726021" name="Rectangle 5"/>
          <p:cNvSpPr>
            <a:spLocks noChangeArrowheads="1"/>
          </p:cNvSpPr>
          <p:nvPr/>
        </p:nvSpPr>
        <p:spPr bwMode="auto">
          <a:xfrm>
            <a:off x="546100" y="987425"/>
            <a:ext cx="791433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</a:t>
            </a:r>
            <a:endParaRPr kumimoji="1" lang="en-US" altLang="zh-CN" sz="3200" dirty="0">
              <a:solidFill>
                <a:srgbClr val="0066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/>
            <a:r>
              <a:rPr kumimoji="1" lang="zh-CN" altLang="en-US" sz="32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若</a:t>
            </a:r>
            <a:r>
              <a:rPr kumimoji="1"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R</a:t>
            </a:r>
            <a:r>
              <a:rPr kumimoji="1" lang="en-US" altLang="zh-CN" sz="3200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kumimoji="1"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</a:t>
            </a:r>
            <a:r>
              <a:rPr kumimoji="1"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R</a:t>
            </a:r>
            <a:r>
              <a:rPr kumimoji="1" lang="en-US" altLang="zh-CN" sz="3200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r>
              <a:rPr kumimoji="1"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, </a:t>
            </a:r>
            <a:r>
              <a:rPr kumimoji="1" lang="zh-CN" altLang="en-US" sz="32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则 </a:t>
            </a:r>
            <a:r>
              <a:rPr kumimoji="1"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s(R</a:t>
            </a:r>
            <a:r>
              <a:rPr kumimoji="1" lang="en-US" altLang="zh-CN" sz="3200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kumimoji="1"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 </a:t>
            </a:r>
            <a:r>
              <a:rPr kumimoji="1"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</a:t>
            </a:r>
            <a:r>
              <a:rPr kumimoji="1"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s(R</a:t>
            </a:r>
            <a:r>
              <a:rPr kumimoji="1" lang="en-US" altLang="zh-CN" sz="3200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r>
              <a:rPr kumimoji="1"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), t(R</a:t>
            </a:r>
            <a:r>
              <a:rPr kumimoji="1" lang="en-US" altLang="zh-CN" sz="3200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kumimoji="1"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 </a:t>
            </a:r>
            <a:r>
              <a:rPr kumimoji="1"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</a:t>
            </a:r>
            <a:r>
              <a:rPr kumimoji="1"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t(R</a:t>
            </a:r>
            <a:r>
              <a:rPr kumimoji="1" lang="en-US" altLang="zh-CN" sz="3200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r>
              <a:rPr kumimoji="1"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2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2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2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019" grpId="0" uiExpand="1" build="p" autoUpdateAnimBg="0"/>
      <p:bldP spid="726020" grpId="0" autoUpdateAnimBg="0"/>
      <p:bldP spid="726021" grpId="0" autoUpdateAnimBg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2D3615-4B5C-48A5-84FC-673FC5D7591E}" type="slidenum">
              <a:rPr lang="en-US" altLang="zh-CN" sz="1400" b="0" smtClean="0">
                <a:latin typeface="Arial" panose="020B0604020202020204" pitchFamily="34" charset="0"/>
              </a:rPr>
              <a:t>111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3809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dirty="0"/>
              <a:t>7.5 </a:t>
            </a:r>
            <a:r>
              <a:rPr lang="zh-CN" altLang="en-US" dirty="0">
                <a:latin typeface="华文中宋" panose="02010600040101010101" pitchFamily="2" charset="-122"/>
              </a:rPr>
              <a:t>关系的闭包（回顾）</a:t>
            </a:r>
            <a:r>
              <a:rPr lang="zh-CN" altLang="en-US" dirty="0"/>
              <a:t> </a:t>
            </a:r>
          </a:p>
        </p:txBody>
      </p:sp>
      <p:sp>
        <p:nvSpPr>
          <p:cNvPr id="91140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闭包定义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闭包的构造方法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/>
              <a:t>     集合表示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/>
              <a:t>     矩阵表示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/>
              <a:t>     图表示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闭包的性质 </a:t>
            </a:r>
          </a:p>
        </p:txBody>
      </p:sp>
    </p:spTree>
  </p:cSld>
  <p:clrMapOvr>
    <a:masterClrMapping/>
  </p:clrMapOvr>
  <p:transition spd="slow">
    <p:fade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7842E0B-7CF1-467C-AD7B-14EECAC19845}" type="slidenum">
              <a:rPr lang="en-US" altLang="zh-CN" sz="1400" b="0" smtClean="0">
                <a:latin typeface="Arial" panose="020B0604020202020204" pitchFamily="34" charset="0"/>
              </a:rPr>
              <a:t>112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4924425"/>
          </a:xfrm>
        </p:spPr>
        <p:txBody>
          <a:bodyPr/>
          <a:lstStyle/>
          <a:p>
            <a:pPr marL="361950" indent="-361950" eaLnBrk="1" hangingPunct="1">
              <a:buClr>
                <a:srgbClr val="FF9900"/>
              </a:buClr>
            </a:pPr>
            <a:r>
              <a:rPr lang="zh-CN" altLang="en-US"/>
              <a:t>主要内容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7.1</a:t>
            </a:r>
            <a:r>
              <a:rPr lang="zh-CN" altLang="en-US"/>
              <a:t>有序对与笛卡儿积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7.2</a:t>
            </a:r>
            <a:r>
              <a:rPr lang="zh-CN" altLang="en-US"/>
              <a:t>二元关系的定义与表示法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7.3</a:t>
            </a:r>
            <a:r>
              <a:rPr lang="zh-CN" altLang="en-US"/>
              <a:t>关系的运算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7.4</a:t>
            </a:r>
            <a:r>
              <a:rPr lang="zh-CN" altLang="en-US"/>
              <a:t>关系的性质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7.5</a:t>
            </a:r>
            <a:r>
              <a:rPr lang="zh-CN" altLang="en-US"/>
              <a:t>关系的闭包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FF0000"/>
                </a:solidFill>
              </a:rPr>
              <a:t>7.6</a:t>
            </a:r>
            <a:r>
              <a:rPr lang="zh-CN" altLang="en-US">
                <a:solidFill>
                  <a:srgbClr val="FF0000"/>
                </a:solidFill>
              </a:rPr>
              <a:t>等价关系与划分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7.7</a:t>
            </a:r>
            <a:r>
              <a:rPr lang="zh-CN" altLang="en-US"/>
              <a:t>偏序关系</a:t>
            </a:r>
          </a:p>
          <a:p>
            <a:pPr marL="361950" indent="-361950" eaLnBrk="1" hangingPunct="1"/>
            <a:endParaRPr lang="en-US" altLang="zh-CN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latin typeface="华文中宋" panose="02010600040101010101" pitchFamily="2" charset="-122"/>
              </a:rPr>
              <a:t>第七章 二元关系</a:t>
            </a:r>
          </a:p>
        </p:txBody>
      </p:sp>
    </p:spTree>
  </p:cSld>
  <p:clrMapOvr>
    <a:masterClrMapping/>
  </p:clrMapOvr>
  <p:transition spd="slow">
    <p:fade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308C5C0-F7E3-4583-AB8D-2B42700A02C8}" type="slidenum">
              <a:rPr lang="en-US" altLang="zh-CN" sz="1400" b="0" smtClean="0">
                <a:latin typeface="Arial" panose="020B0604020202020204" pitchFamily="34" charset="0"/>
              </a:rPr>
              <a:t>113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7.6</a:t>
            </a:r>
            <a:r>
              <a:rPr lang="en-US" altLang="zh-CN">
                <a:latin typeface="华文中宋" panose="02010600040101010101" pitchFamily="2" charset="-122"/>
              </a:rPr>
              <a:t> </a:t>
            </a:r>
            <a:r>
              <a:rPr lang="zh-CN" altLang="en-US">
                <a:latin typeface="华文中宋" panose="02010600040101010101" pitchFamily="2" charset="-122"/>
              </a:rPr>
              <a:t>等价关系与划分</a:t>
            </a:r>
            <a:r>
              <a:rPr lang="zh-CN" altLang="en-US"/>
              <a:t> </a:t>
            </a:r>
          </a:p>
        </p:txBody>
      </p:sp>
      <p:sp>
        <p:nvSpPr>
          <p:cNvPr id="6148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等价关系的定义与实例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等价类及其性质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商集与集合的划分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等价关系与划分的一一对应 </a:t>
            </a:r>
          </a:p>
        </p:txBody>
      </p:sp>
    </p:spTree>
  </p:cSld>
  <p:clrMapOvr>
    <a:masterClrMapping/>
  </p:clrMapOvr>
  <p:transition spd="slow">
    <p:fade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6BADCB1-B4E1-4890-B56B-DEFD6F8C8F88}" type="slidenum">
              <a:rPr lang="en-US" altLang="zh-CN" sz="1400" b="0" smtClean="0">
                <a:latin typeface="Arial" panose="020B0604020202020204" pitchFamily="34" charset="0"/>
              </a:rPr>
              <a:t>114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等价关系的定义与实例</a:t>
            </a:r>
          </a:p>
        </p:txBody>
      </p:sp>
      <p:sp>
        <p:nvSpPr>
          <p:cNvPr id="819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820150" cy="1439863"/>
          </a:xfrm>
        </p:spPr>
        <p:txBody>
          <a:bodyPr/>
          <a:lstStyle/>
          <a:p>
            <a:pPr marL="609600" indent="-609600"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7.15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为非空集合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. </a:t>
            </a:r>
          </a:p>
          <a:p>
            <a:pPr marL="609600" indent="-609600" eaLnBrk="1" hangingPunct="1"/>
            <a:r>
              <a:rPr lang="zh-CN" altLang="en-US" dirty="0"/>
              <a:t>     如果</a:t>
            </a:r>
            <a:r>
              <a:rPr lang="en-US" altLang="zh-CN" i="1" dirty="0"/>
              <a:t>R</a:t>
            </a:r>
            <a:r>
              <a:rPr lang="zh-CN" altLang="en-US" dirty="0"/>
              <a:t>是自反的、对称的和传递的</a:t>
            </a:r>
            <a:r>
              <a:rPr lang="en-US" altLang="zh-CN" dirty="0"/>
              <a:t>, </a:t>
            </a:r>
            <a:r>
              <a:rPr lang="zh-CN" altLang="en-US" dirty="0"/>
              <a:t>则称</a:t>
            </a:r>
            <a:r>
              <a:rPr lang="en-US" altLang="zh-CN" i="1" dirty="0"/>
              <a:t>R</a:t>
            </a:r>
            <a:r>
              <a:rPr lang="zh-CN" altLang="en-US" dirty="0"/>
              <a:t>为</a:t>
            </a:r>
            <a:r>
              <a:rPr lang="en-US" altLang="zh-CN" i="1" dirty="0"/>
              <a:t>A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A50021"/>
                </a:solidFill>
              </a:rPr>
              <a:t>等价关系</a:t>
            </a:r>
            <a:r>
              <a:rPr lang="en-US" altLang="zh-CN" dirty="0"/>
              <a:t>.  </a:t>
            </a:r>
          </a:p>
          <a:p>
            <a:pPr marL="609600" indent="-609600" eaLnBrk="1" hangingPunct="1"/>
            <a:r>
              <a:rPr lang="zh-CN" altLang="en-US" dirty="0"/>
              <a:t>     设 </a:t>
            </a:r>
            <a:r>
              <a:rPr lang="en-US" altLang="zh-CN" i="1" dirty="0"/>
              <a:t>R </a:t>
            </a:r>
            <a:r>
              <a:rPr lang="zh-CN" altLang="en-US" dirty="0"/>
              <a:t>是一个等价关系</a:t>
            </a:r>
            <a:r>
              <a:rPr lang="en-US" altLang="zh-CN" dirty="0"/>
              <a:t>, </a:t>
            </a:r>
            <a:r>
              <a:rPr lang="zh-CN" altLang="en-US" dirty="0"/>
              <a:t>若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zh-CN" altLang="en-US" dirty="0"/>
              <a:t>称 </a:t>
            </a:r>
            <a:r>
              <a:rPr lang="en-US" altLang="zh-CN" i="1" dirty="0">
                <a:solidFill>
                  <a:srgbClr val="A50021"/>
                </a:solidFill>
              </a:rPr>
              <a:t>x</a:t>
            </a:r>
            <a:r>
              <a:rPr lang="zh-CN" altLang="en-US" dirty="0">
                <a:solidFill>
                  <a:srgbClr val="A50021"/>
                </a:solidFill>
              </a:rPr>
              <a:t>等价于</a:t>
            </a:r>
            <a:r>
              <a:rPr lang="en-US" altLang="zh-CN" i="1" dirty="0">
                <a:solidFill>
                  <a:srgbClr val="A50021"/>
                </a:solidFill>
              </a:rPr>
              <a:t>y</a:t>
            </a:r>
            <a:r>
              <a:rPr lang="en-US" altLang="zh-CN" dirty="0"/>
              <a:t>, </a:t>
            </a:r>
            <a:r>
              <a:rPr lang="zh-CN" altLang="en-US" dirty="0"/>
              <a:t>记做 </a:t>
            </a:r>
            <a:r>
              <a:rPr lang="en-US" altLang="zh-CN" i="1" dirty="0"/>
              <a:t>x</a:t>
            </a:r>
            <a:r>
              <a:rPr lang="zh-CN" altLang="en-US" dirty="0"/>
              <a:t>～</a:t>
            </a:r>
            <a:r>
              <a:rPr lang="en-US" altLang="zh-CN" i="1" dirty="0"/>
              <a:t>y </a:t>
            </a:r>
            <a:r>
              <a:rPr lang="en-US" altLang="zh-CN" dirty="0"/>
              <a:t>. </a:t>
            </a:r>
          </a:p>
        </p:txBody>
      </p:sp>
      <p:sp>
        <p:nvSpPr>
          <p:cNvPr id="8197" name="Rectangle 9"/>
          <p:cNvSpPr>
            <a:spLocks noChangeArrowheads="1"/>
          </p:cNvSpPr>
          <p:nvPr/>
        </p:nvSpPr>
        <p:spPr bwMode="auto">
          <a:xfrm>
            <a:off x="395288" y="3371850"/>
            <a:ext cx="8497887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16000" indent="-5588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473200" indent="-5588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930400" indent="-5588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387600" indent="-5588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844800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302000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759200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216400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/>
              <a:t>在学生的集合中，属于同一个班级的关系；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endParaRPr lang="zh-CN" altLang="en-US" sz="800"/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/>
              <a:t>三角形中的相似关系；</a:t>
            </a:r>
            <a:endParaRPr lang="zh-CN" altLang="en-US" sz="800"/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endParaRPr lang="zh-CN" altLang="en-US" sz="800"/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/>
              <a:t>在扑克牌中同花色的关系、同点数的关系等。</a:t>
            </a:r>
            <a:br>
              <a:rPr lang="en-US" altLang="zh-CN"/>
            </a:br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DB42A25-5A3E-4581-BD81-6A87531280EE}" type="slidenum">
              <a:rPr lang="en-US" altLang="zh-CN" sz="1400" b="0" smtClean="0">
                <a:latin typeface="Arial" panose="020B0604020202020204" pitchFamily="34" charset="0"/>
              </a:rPr>
              <a:t>115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024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等价关系的定义与实例</a:t>
            </a:r>
          </a:p>
        </p:txBody>
      </p:sp>
      <p:sp>
        <p:nvSpPr>
          <p:cNvPr id="10244" name="Rectangle 9"/>
          <p:cNvSpPr>
            <a:spLocks noChangeArrowheads="1"/>
          </p:cNvSpPr>
          <p:nvPr/>
        </p:nvSpPr>
        <p:spPr bwMode="auto">
          <a:xfrm>
            <a:off x="395288" y="1484313"/>
            <a:ext cx="8497887" cy="331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16000" indent="-5588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473200" indent="-5588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930400" indent="-5588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387600" indent="-5588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844800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302000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759200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216400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实例   设 </a:t>
            </a:r>
            <a:r>
              <a:rPr lang="en-US" altLang="zh-CN" i="1" dirty="0"/>
              <a:t>A</a:t>
            </a:r>
            <a:r>
              <a:rPr lang="en-US" altLang="zh-CN" dirty="0"/>
              <a:t>={1,2,…,8}, </a:t>
            </a:r>
            <a:r>
              <a:rPr lang="zh-CN" altLang="en-US" dirty="0"/>
              <a:t>如下定义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i="1" dirty="0"/>
              <a:t>R</a:t>
            </a:r>
            <a:r>
              <a:rPr lang="zh-CN" altLang="en-US" dirty="0"/>
              <a:t>：</a:t>
            </a:r>
            <a:endParaRPr lang="zh-CN" altLang="fr-FR" dirty="0"/>
          </a:p>
          <a:p>
            <a:pPr eaLnBrk="1" hangingPunct="1"/>
            <a:r>
              <a:rPr lang="zh-CN" altLang="fr-FR" dirty="0"/>
              <a:t>                      </a:t>
            </a:r>
            <a:r>
              <a:rPr lang="fr-FR" altLang="zh-CN" i="1" dirty="0"/>
              <a:t>R</a:t>
            </a:r>
            <a:r>
              <a:rPr lang="fr-FR" altLang="zh-CN" dirty="0"/>
              <a:t>={&lt;</a:t>
            </a:r>
            <a:r>
              <a:rPr lang="fr-FR" altLang="zh-CN" i="1" dirty="0"/>
              <a:t>x</a:t>
            </a:r>
            <a:r>
              <a:rPr lang="fr-FR" altLang="zh-CN" dirty="0"/>
              <a:t>,</a:t>
            </a:r>
            <a:r>
              <a:rPr lang="fr-FR" altLang="zh-CN" i="1" dirty="0"/>
              <a:t>y</a:t>
            </a:r>
            <a:r>
              <a:rPr lang="fr-FR" altLang="zh-CN" dirty="0"/>
              <a:t>&gt;| </a:t>
            </a:r>
            <a:r>
              <a:rPr lang="fr-FR" altLang="zh-CN" i="1" dirty="0"/>
              <a:t>x</a:t>
            </a:r>
            <a:r>
              <a:rPr lang="fr-FR" altLang="zh-CN" dirty="0"/>
              <a:t>,</a:t>
            </a:r>
            <a:r>
              <a:rPr lang="fr-FR" altLang="zh-CN" i="1" dirty="0"/>
              <a:t>y</a:t>
            </a:r>
            <a:r>
              <a:rPr lang="fr-FR" altLang="zh-CN" dirty="0"/>
              <a:t>∈</a:t>
            </a:r>
            <a:r>
              <a:rPr lang="fr-FR" altLang="zh-CN" i="1" dirty="0"/>
              <a:t>A</a:t>
            </a:r>
            <a:r>
              <a:rPr lang="fr-FR" altLang="zh-CN" dirty="0"/>
              <a:t>∧</a:t>
            </a:r>
            <a:r>
              <a:rPr lang="fr-FR" altLang="zh-CN" i="1" dirty="0"/>
              <a:t>x </a:t>
            </a:r>
            <a:r>
              <a:rPr lang="fr-FR" altLang="zh-CN" dirty="0"/>
              <a:t>≡ </a:t>
            </a:r>
            <a:r>
              <a:rPr lang="fr-FR" altLang="zh-CN" i="1" dirty="0"/>
              <a:t>y</a:t>
            </a:r>
            <a:r>
              <a:rPr lang="fr-FR" altLang="zh-CN" dirty="0"/>
              <a:t>(mod 3)}</a:t>
            </a:r>
          </a:p>
          <a:p>
            <a:pPr eaLnBrk="1" hangingPunct="1"/>
            <a:r>
              <a:rPr lang="zh-CN" altLang="fr-FR" dirty="0"/>
              <a:t>其中</a:t>
            </a:r>
            <a:r>
              <a:rPr lang="en-US" altLang="zh-CN" i="1" dirty="0"/>
              <a:t>x </a:t>
            </a:r>
            <a:r>
              <a:rPr lang="en-US" altLang="zh-CN" dirty="0"/>
              <a:t>≡ </a:t>
            </a:r>
            <a:r>
              <a:rPr lang="en-US" altLang="zh-CN" i="1" dirty="0"/>
              <a:t>y</a:t>
            </a:r>
            <a:r>
              <a:rPr lang="en-US" altLang="zh-CN" dirty="0"/>
              <a:t>(mod 3)</a:t>
            </a:r>
            <a:r>
              <a:rPr lang="zh-CN" altLang="en-US" dirty="0"/>
              <a:t>叫做 </a:t>
            </a:r>
            <a:r>
              <a:rPr lang="en-US" altLang="zh-CN" i="1" dirty="0">
                <a:solidFill>
                  <a:srgbClr val="A50021"/>
                </a:solidFill>
              </a:rPr>
              <a:t>x</a:t>
            </a:r>
            <a:r>
              <a:rPr lang="zh-CN" altLang="en-US" dirty="0">
                <a:solidFill>
                  <a:srgbClr val="A50021"/>
                </a:solidFill>
              </a:rPr>
              <a:t>与 </a:t>
            </a:r>
            <a:r>
              <a:rPr lang="en-US" altLang="zh-CN" i="1" dirty="0">
                <a:solidFill>
                  <a:srgbClr val="A50021"/>
                </a:solidFill>
              </a:rPr>
              <a:t>y </a:t>
            </a:r>
            <a:r>
              <a:rPr lang="zh-CN" altLang="en-US" dirty="0">
                <a:solidFill>
                  <a:srgbClr val="A50021"/>
                </a:solidFill>
              </a:rPr>
              <a:t>模</a:t>
            </a:r>
            <a:r>
              <a:rPr lang="en-US" altLang="zh-CN" dirty="0">
                <a:solidFill>
                  <a:srgbClr val="A50021"/>
                </a:solidFill>
              </a:rPr>
              <a:t>3</a:t>
            </a:r>
            <a:r>
              <a:rPr lang="zh-CN" altLang="en-US" dirty="0">
                <a:solidFill>
                  <a:srgbClr val="A50021"/>
                </a:solidFill>
              </a:rPr>
              <a:t>相等</a:t>
            </a:r>
            <a:r>
              <a:rPr lang="en-US" altLang="zh-CN" dirty="0"/>
              <a:t>, </a:t>
            </a:r>
            <a:r>
              <a:rPr lang="zh-CN" altLang="en-US" dirty="0"/>
              <a:t>即</a:t>
            </a:r>
            <a:r>
              <a:rPr lang="en-US" altLang="zh-CN" i="1" dirty="0"/>
              <a:t>x</a:t>
            </a:r>
            <a:r>
              <a:rPr lang="zh-CN" altLang="en-US" dirty="0"/>
              <a:t>除以</a:t>
            </a:r>
            <a:r>
              <a:rPr lang="en-US" altLang="zh-CN" dirty="0"/>
              <a:t>3</a:t>
            </a:r>
            <a:r>
              <a:rPr lang="zh-CN" altLang="en-US" dirty="0"/>
              <a:t>的余数与</a:t>
            </a:r>
            <a:r>
              <a:rPr lang="en-US" altLang="zh-CN" i="1" dirty="0"/>
              <a:t>y</a:t>
            </a:r>
            <a:r>
              <a:rPr lang="zh-CN" altLang="en-US" dirty="0"/>
              <a:t>除以</a:t>
            </a:r>
          </a:p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的余数相等</a:t>
            </a:r>
            <a:r>
              <a:rPr lang="en-US" altLang="zh-CN" dirty="0"/>
              <a:t>. 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不难验证 </a:t>
            </a:r>
            <a:r>
              <a:rPr lang="en-US" altLang="zh-CN" i="1" dirty="0"/>
              <a:t>R </a:t>
            </a:r>
            <a:r>
              <a:rPr lang="zh-CN" altLang="en-US" dirty="0"/>
              <a:t>为</a:t>
            </a:r>
            <a:r>
              <a:rPr lang="en-US" altLang="zh-CN" i="1" dirty="0"/>
              <a:t>A</a:t>
            </a:r>
            <a:r>
              <a:rPr lang="zh-CN" altLang="en-US" dirty="0"/>
              <a:t>上的等价关系</a:t>
            </a:r>
            <a:r>
              <a:rPr lang="en-US" altLang="zh-CN" dirty="0"/>
              <a:t>, </a:t>
            </a:r>
            <a:r>
              <a:rPr lang="zh-CN" altLang="en-US" dirty="0"/>
              <a:t>因为</a:t>
            </a: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(1) 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,  </a:t>
            </a:r>
            <a:r>
              <a:rPr lang="zh-CN" altLang="en-US" dirty="0"/>
              <a:t>有</a:t>
            </a:r>
            <a:r>
              <a:rPr lang="zh-CN" altLang="en-US" i="1" dirty="0"/>
              <a:t> </a:t>
            </a:r>
            <a:r>
              <a:rPr lang="en-US" altLang="zh-CN" i="1" dirty="0"/>
              <a:t>x </a:t>
            </a:r>
            <a:r>
              <a:rPr lang="en-US" altLang="zh-CN" dirty="0"/>
              <a:t>≡ </a:t>
            </a:r>
            <a:r>
              <a:rPr lang="en-US" altLang="zh-CN" i="1" dirty="0"/>
              <a:t>x </a:t>
            </a:r>
            <a:r>
              <a:rPr lang="en-US" altLang="zh-CN" dirty="0"/>
              <a:t>(mod 3)</a:t>
            </a: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(2) 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, </a:t>
            </a:r>
            <a:r>
              <a:rPr lang="zh-CN" altLang="en-US" dirty="0"/>
              <a:t>若</a:t>
            </a:r>
            <a:r>
              <a:rPr lang="en-US" altLang="zh-CN" i="1" dirty="0"/>
              <a:t>x </a:t>
            </a:r>
            <a:r>
              <a:rPr lang="en-US" altLang="zh-CN" dirty="0"/>
              <a:t>≡ </a:t>
            </a:r>
            <a:r>
              <a:rPr lang="en-US" altLang="zh-CN" i="1" dirty="0"/>
              <a:t>y</a:t>
            </a:r>
            <a:r>
              <a:rPr lang="en-US" altLang="zh-CN" dirty="0"/>
              <a:t>(mod 3), </a:t>
            </a:r>
            <a:r>
              <a:rPr lang="zh-CN" altLang="en-US" dirty="0"/>
              <a:t>则有</a:t>
            </a:r>
            <a:r>
              <a:rPr lang="en-US" altLang="zh-CN" i="1" dirty="0"/>
              <a:t>y </a:t>
            </a:r>
            <a:r>
              <a:rPr lang="en-US" altLang="zh-CN" dirty="0"/>
              <a:t>≡ </a:t>
            </a:r>
            <a:r>
              <a:rPr lang="en-US" altLang="zh-CN" i="1" dirty="0"/>
              <a:t>x</a:t>
            </a:r>
            <a:r>
              <a:rPr lang="en-US" altLang="zh-CN" dirty="0"/>
              <a:t>(mod 3) </a:t>
            </a:r>
          </a:p>
          <a:p>
            <a:pPr eaLnBrk="1" hangingPunct="1"/>
            <a:r>
              <a:rPr lang="en-US" altLang="zh-CN" dirty="0"/>
              <a:t>(3)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, </a:t>
            </a:r>
            <a:r>
              <a:rPr lang="zh-CN" altLang="en-US" dirty="0"/>
              <a:t>若</a:t>
            </a:r>
            <a:r>
              <a:rPr lang="en-US" altLang="zh-CN" i="1" dirty="0"/>
              <a:t>x </a:t>
            </a:r>
            <a:r>
              <a:rPr lang="en-US" altLang="zh-CN" dirty="0"/>
              <a:t>≡ </a:t>
            </a:r>
            <a:r>
              <a:rPr lang="en-US" altLang="zh-CN" i="1" dirty="0"/>
              <a:t>y</a:t>
            </a:r>
            <a:r>
              <a:rPr lang="en-US" altLang="zh-CN" dirty="0"/>
              <a:t>(mod 3), </a:t>
            </a:r>
            <a:r>
              <a:rPr lang="en-US" altLang="zh-CN" i="1" dirty="0"/>
              <a:t>y </a:t>
            </a:r>
            <a:r>
              <a:rPr lang="en-US" altLang="zh-CN" dirty="0"/>
              <a:t>≡ </a:t>
            </a:r>
            <a:r>
              <a:rPr lang="en-US" altLang="zh-CN" i="1" dirty="0"/>
              <a:t>z</a:t>
            </a:r>
            <a:r>
              <a:rPr lang="en-US" altLang="zh-CN" dirty="0"/>
              <a:t>(mod 3), </a:t>
            </a:r>
            <a:r>
              <a:rPr lang="zh-CN" altLang="en-US" dirty="0"/>
              <a:t>则有</a:t>
            </a:r>
            <a:r>
              <a:rPr lang="en-US" altLang="zh-CN" i="1" dirty="0"/>
              <a:t>x </a:t>
            </a:r>
            <a:r>
              <a:rPr lang="en-US" altLang="zh-CN" dirty="0"/>
              <a:t>≡ </a:t>
            </a:r>
            <a:r>
              <a:rPr lang="en-US" altLang="zh-CN" i="1" dirty="0"/>
              <a:t>z</a:t>
            </a:r>
            <a:r>
              <a:rPr lang="en-US" altLang="zh-CN" dirty="0"/>
              <a:t>(mod 3)</a:t>
            </a:r>
            <a:br>
              <a:rPr lang="en-US" altLang="zh-CN" dirty="0"/>
            </a:br>
            <a:endParaRPr lang="en-US" altLang="zh-CN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06221B2-F18E-4B77-8AE5-B9E21780898D}" type="slidenum">
              <a:rPr lang="en-US" altLang="zh-CN" sz="1400" b="0" smtClean="0">
                <a:latin typeface="Arial" panose="020B0604020202020204" pitchFamily="34" charset="0"/>
              </a:rPr>
              <a:t>116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2291" name="Rectangle 9"/>
          <p:cNvSpPr>
            <a:spLocks noChangeArrowheads="1"/>
          </p:cNvSpPr>
          <p:nvPr/>
        </p:nvSpPr>
        <p:spPr bwMode="auto">
          <a:xfrm>
            <a:off x="1403350" y="4005263"/>
            <a:ext cx="6192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模 </a:t>
            </a:r>
            <a:r>
              <a:rPr lang="en-US" altLang="zh-CN"/>
              <a:t>3 </a:t>
            </a:r>
            <a:r>
              <a:rPr lang="zh-CN" altLang="en-US">
                <a:latin typeface="Arial" panose="020B0604020202020204" pitchFamily="34" charset="0"/>
              </a:rPr>
              <a:t>等价关系的关系图</a:t>
            </a:r>
          </a:p>
        </p:txBody>
      </p:sp>
      <p:pic>
        <p:nvPicPr>
          <p:cNvPr id="12292" name="Picture 10" descr="7-5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484313"/>
            <a:ext cx="8064500" cy="210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Rectangle 11"/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tx2"/>
                </a:solidFill>
              </a:rPr>
              <a:t>等价关系的实例</a:t>
            </a:r>
          </a:p>
        </p:txBody>
      </p:sp>
    </p:spTree>
  </p:cSld>
  <p:clrMapOvr>
    <a:masterClrMapping/>
  </p:clrMapOvr>
  <p:transition spd="slow">
    <p:fade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F9821C3-31FF-4F30-9893-8BAC9B3154C7}" type="slidenum">
              <a:rPr lang="en-US" altLang="zh-CN" sz="1400" b="0" smtClean="0">
                <a:latin typeface="Arial" panose="020B0604020202020204" pitchFamily="34" charset="0"/>
              </a:rPr>
              <a:t>117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433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等价类定义 </a:t>
            </a:r>
            <a:endParaRPr lang="zh-CN" altLang="en-US" b="0"/>
          </a:p>
        </p:txBody>
      </p:sp>
      <p:sp>
        <p:nvSpPr>
          <p:cNvPr id="14340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12875"/>
            <a:ext cx="8075613" cy="4525963"/>
          </a:xfrm>
        </p:spPr>
        <p:txBody>
          <a:bodyPr/>
          <a:lstStyle/>
          <a:p>
            <a:pPr marL="457200" indent="-457200"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7.16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为非空集合</a:t>
            </a:r>
            <a:r>
              <a:rPr lang="en-US" altLang="zh-CN" i="1" dirty="0"/>
              <a:t>A</a:t>
            </a:r>
            <a:r>
              <a:rPr lang="zh-CN" altLang="en-US" dirty="0"/>
              <a:t>上的等价关系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zh-CN" altLang="en-US" dirty="0"/>
              <a:t>，令</a:t>
            </a:r>
          </a:p>
          <a:p>
            <a:pPr marL="457200" indent="-457200" eaLnBrk="1" hangingPunct="1"/>
            <a:r>
              <a:rPr lang="zh-CN" altLang="en-US" dirty="0"/>
              <a:t>                       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</a:t>
            </a:r>
            <a:r>
              <a:rPr lang="en-US" altLang="zh-CN" i="1" baseline="-25000" dirty="0"/>
              <a:t>R</a:t>
            </a:r>
            <a:r>
              <a:rPr lang="en-US" altLang="zh-CN" i="1" dirty="0"/>
              <a:t> </a:t>
            </a:r>
            <a:r>
              <a:rPr lang="en-US" altLang="zh-CN" dirty="0"/>
              <a:t>= {</a:t>
            </a:r>
            <a:r>
              <a:rPr lang="en-US" altLang="zh-CN" i="1" dirty="0"/>
              <a:t>y </a:t>
            </a:r>
            <a:r>
              <a:rPr lang="en-US" altLang="zh-CN" dirty="0"/>
              <a:t>| 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xRy</a:t>
            </a:r>
            <a:r>
              <a:rPr lang="en-US" altLang="zh-CN" dirty="0"/>
              <a:t>}</a:t>
            </a:r>
          </a:p>
          <a:p>
            <a:pPr marL="457200" indent="-457200" eaLnBrk="1" hangingPunct="1"/>
            <a:r>
              <a:rPr lang="zh-CN" altLang="en-US" dirty="0"/>
              <a:t>称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</a:t>
            </a:r>
            <a:r>
              <a:rPr lang="en-US" altLang="zh-CN" i="1" baseline="-25000" dirty="0"/>
              <a:t>R </a:t>
            </a:r>
            <a:r>
              <a:rPr lang="zh-CN" altLang="en-US" dirty="0"/>
              <a:t>为</a:t>
            </a:r>
            <a:r>
              <a:rPr lang="en-US" altLang="zh-CN" i="1" dirty="0"/>
              <a:t>x</a:t>
            </a:r>
            <a:r>
              <a:rPr lang="zh-CN" altLang="en-US" dirty="0"/>
              <a:t>关于</a:t>
            </a:r>
            <a:r>
              <a:rPr lang="en-US" altLang="zh-CN" i="1" dirty="0"/>
              <a:t>R</a:t>
            </a:r>
            <a:r>
              <a:rPr lang="zh-CN" altLang="en-US" dirty="0"/>
              <a:t>的等价类</a:t>
            </a:r>
            <a:r>
              <a:rPr lang="en-US" altLang="zh-CN" dirty="0"/>
              <a:t>, </a:t>
            </a:r>
            <a:r>
              <a:rPr lang="zh-CN" altLang="en-US" dirty="0"/>
              <a:t>简称为</a:t>
            </a:r>
            <a:r>
              <a:rPr lang="en-US" altLang="zh-CN" i="1" dirty="0"/>
              <a:t>x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等价类</a:t>
            </a:r>
            <a:r>
              <a:rPr lang="en-US" altLang="zh-CN" dirty="0"/>
              <a:t>, </a:t>
            </a:r>
            <a:r>
              <a:rPr lang="zh-CN" altLang="en-US" dirty="0"/>
              <a:t>简记为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</a:t>
            </a:r>
            <a:r>
              <a:rPr lang="zh-CN" altLang="en-US" dirty="0"/>
              <a:t>或    </a:t>
            </a:r>
          </a:p>
          <a:p>
            <a:pPr marL="457200" indent="-457200" eaLnBrk="1" hangingPunct="1"/>
            <a:endParaRPr lang="zh-CN" altLang="en-US" dirty="0"/>
          </a:p>
          <a:p>
            <a:pPr marL="457200" indent="-457200" eaLnBrk="1" hangingPunct="1"/>
            <a:r>
              <a:rPr lang="zh-CN" altLang="en-US" dirty="0"/>
              <a:t>实例   </a:t>
            </a:r>
            <a:r>
              <a:rPr lang="en-US" altLang="zh-CN" i="1" dirty="0"/>
              <a:t>A</a:t>
            </a:r>
            <a:r>
              <a:rPr lang="en-US" altLang="zh-CN" dirty="0"/>
              <a:t>={1, 2, … , 8}</a:t>
            </a:r>
            <a:r>
              <a:rPr lang="zh-CN" altLang="en-US" dirty="0"/>
              <a:t>上模</a:t>
            </a:r>
            <a:r>
              <a:rPr lang="en-US" altLang="zh-CN" dirty="0"/>
              <a:t>3</a:t>
            </a:r>
            <a:r>
              <a:rPr lang="zh-CN" altLang="en-US" dirty="0"/>
              <a:t>等价关系的等价类：</a:t>
            </a:r>
          </a:p>
          <a:p>
            <a:pPr marL="457200" indent="-457200" eaLnBrk="1" hangingPunct="1"/>
            <a:r>
              <a:rPr lang="zh-CN" altLang="en-US" dirty="0"/>
              <a:t>            </a:t>
            </a:r>
            <a:r>
              <a:rPr lang="en-US" altLang="zh-CN" dirty="0"/>
              <a:t>[1] = [4] = [7] = {1, 4, 7}</a:t>
            </a:r>
          </a:p>
          <a:p>
            <a:pPr marL="457200" indent="-457200" eaLnBrk="1" hangingPunct="1"/>
            <a:r>
              <a:rPr lang="en-US" altLang="zh-CN" dirty="0"/>
              <a:t>            [2] = [5] = [8] = {2, 5, 8}</a:t>
            </a:r>
          </a:p>
          <a:p>
            <a:pPr marL="457200" indent="-457200" eaLnBrk="1" hangingPunct="1"/>
            <a:r>
              <a:rPr lang="en-US" altLang="zh-CN" dirty="0"/>
              <a:t>            [3] = [6] = {3, 6}</a:t>
            </a:r>
          </a:p>
        </p:txBody>
      </p:sp>
      <p:graphicFrame>
        <p:nvGraphicFramePr>
          <p:cNvPr id="14341" name="Object 9"/>
          <p:cNvGraphicFramePr>
            <a:graphicFrameLocks noGrp="1" noChangeAspect="1"/>
          </p:cNvGraphicFramePr>
          <p:nvPr>
            <p:ph sz="half" idx="2"/>
          </p:nvPr>
        </p:nvGraphicFramePr>
        <p:xfrm>
          <a:off x="8131175" y="2311400"/>
          <a:ext cx="4032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9700" imgH="165100" progId="Equation.3">
                  <p:embed/>
                </p:oleObj>
              </mc:Choice>
              <mc:Fallback>
                <p:oleObj name="公式" r:id="rId3" imgW="139700" imgH="165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1175" y="2311400"/>
                        <a:ext cx="4032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B3E4D69-05D1-4222-81F5-037C711D4CC0}" type="slidenum">
              <a:rPr lang="en-US" altLang="zh-CN" sz="1400" b="0" smtClean="0">
                <a:latin typeface="Arial" panose="020B0604020202020204" pitchFamily="34" charset="0"/>
              </a:rPr>
              <a:t>118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pic>
        <p:nvPicPr>
          <p:cNvPr id="16387" name="Picture 3" descr="特殊符号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2636838"/>
            <a:ext cx="2746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等价类的性质</a:t>
            </a:r>
          </a:p>
        </p:txBody>
      </p:sp>
      <p:sp>
        <p:nvSpPr>
          <p:cNvPr id="16389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80400" cy="2736081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A50021"/>
                </a:solidFill>
              </a:rPr>
              <a:t>定理</a:t>
            </a:r>
            <a:r>
              <a:rPr lang="en-US" altLang="zh-CN" sz="2800" dirty="0">
                <a:solidFill>
                  <a:srgbClr val="A50021"/>
                </a:solidFill>
              </a:rPr>
              <a:t>7.14</a:t>
            </a:r>
            <a:r>
              <a:rPr lang="en-US" altLang="zh-CN" sz="2800" dirty="0"/>
              <a:t> </a:t>
            </a:r>
            <a:r>
              <a:rPr lang="zh-CN" altLang="en-US" sz="2800" dirty="0"/>
              <a:t>设</a:t>
            </a:r>
            <a:r>
              <a:rPr lang="en-US" altLang="zh-CN" sz="2800" i="1" dirty="0"/>
              <a:t>R</a:t>
            </a:r>
            <a:r>
              <a:rPr lang="zh-CN" altLang="en-US" sz="2800" dirty="0"/>
              <a:t>是非空集合</a:t>
            </a:r>
            <a:r>
              <a:rPr lang="en-US" altLang="zh-CN" sz="2800" i="1" dirty="0"/>
              <a:t>A</a:t>
            </a:r>
            <a:r>
              <a:rPr lang="zh-CN" altLang="en-US" sz="2800" dirty="0"/>
              <a:t>上的等价关系</a:t>
            </a:r>
            <a:r>
              <a:rPr lang="en-US" altLang="zh-CN" sz="2800" dirty="0"/>
              <a:t>, </a:t>
            </a:r>
            <a:r>
              <a:rPr lang="zh-CN" altLang="en-US" sz="2800" dirty="0"/>
              <a:t>则</a:t>
            </a:r>
          </a:p>
          <a:p>
            <a:pPr eaLnBrk="1" hangingPunct="1"/>
            <a:r>
              <a:rPr lang="en-US" altLang="zh-CN" sz="2800" dirty="0"/>
              <a:t>(1) 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x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i="1" dirty="0" err="1"/>
              <a:t>A</a:t>
            </a:r>
            <a:r>
              <a:rPr lang="en-US" altLang="zh-CN" sz="2800" dirty="0"/>
              <a:t>, [</a:t>
            </a:r>
            <a:r>
              <a:rPr lang="en-US" altLang="zh-CN" sz="2800" i="1" dirty="0"/>
              <a:t>x</a:t>
            </a:r>
            <a:r>
              <a:rPr lang="en-US" altLang="zh-CN" sz="2800" dirty="0"/>
              <a:t>]</a:t>
            </a:r>
            <a:r>
              <a:rPr lang="zh-CN" altLang="en-US" sz="2800" dirty="0"/>
              <a:t>是</a:t>
            </a:r>
            <a:r>
              <a:rPr lang="en-US" altLang="zh-CN" sz="2800" i="1" dirty="0"/>
              <a:t>A</a:t>
            </a:r>
            <a:r>
              <a:rPr lang="zh-CN" altLang="en-US" sz="2800" dirty="0"/>
              <a:t>的非空子集</a:t>
            </a:r>
          </a:p>
          <a:p>
            <a:pPr eaLnBrk="1" hangingPunct="1"/>
            <a:r>
              <a:rPr lang="en-US" altLang="zh-CN" sz="2800" dirty="0"/>
              <a:t>(2) 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x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y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i="1" dirty="0" err="1"/>
              <a:t>A</a:t>
            </a:r>
            <a:r>
              <a:rPr lang="en-US" altLang="zh-CN" sz="2800" dirty="0"/>
              <a:t>, </a:t>
            </a:r>
            <a:r>
              <a:rPr lang="zh-CN" altLang="en-US" sz="2800" dirty="0"/>
              <a:t>如果 </a:t>
            </a:r>
            <a:r>
              <a:rPr lang="en-US" altLang="zh-CN" sz="2800" i="1" dirty="0" err="1"/>
              <a:t>xRy</a:t>
            </a:r>
            <a:r>
              <a:rPr lang="en-US" altLang="zh-CN" sz="2800" i="1" dirty="0"/>
              <a:t> </a:t>
            </a:r>
            <a:r>
              <a:rPr lang="en-US" altLang="zh-CN" sz="2800" dirty="0"/>
              <a:t>, </a:t>
            </a:r>
            <a:r>
              <a:rPr lang="zh-CN" altLang="en-US" sz="2800" dirty="0"/>
              <a:t>则 </a:t>
            </a:r>
            <a:r>
              <a:rPr lang="en-US" altLang="zh-CN" sz="2800" dirty="0"/>
              <a:t>[</a:t>
            </a:r>
            <a:r>
              <a:rPr lang="en-US" altLang="zh-CN" sz="2800" i="1" dirty="0"/>
              <a:t>x</a:t>
            </a:r>
            <a:r>
              <a:rPr lang="en-US" altLang="zh-CN" sz="2800" dirty="0"/>
              <a:t>] = [</a:t>
            </a:r>
            <a:r>
              <a:rPr lang="en-US" altLang="zh-CN" sz="2800" i="1" dirty="0"/>
              <a:t>y</a:t>
            </a:r>
            <a:r>
              <a:rPr lang="en-US" altLang="zh-CN" sz="2800" dirty="0"/>
              <a:t>]</a:t>
            </a:r>
          </a:p>
          <a:p>
            <a:pPr eaLnBrk="1" hangingPunct="1"/>
            <a:r>
              <a:rPr lang="en-US" altLang="zh-CN" sz="2800" dirty="0"/>
              <a:t>(3) 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x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y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i="1" dirty="0" err="1"/>
              <a:t>A</a:t>
            </a:r>
            <a:r>
              <a:rPr lang="en-US" altLang="zh-CN" sz="2800" dirty="0"/>
              <a:t>, </a:t>
            </a:r>
            <a:r>
              <a:rPr lang="zh-CN" altLang="en-US" sz="2800" dirty="0"/>
              <a:t>如果    </a:t>
            </a:r>
            <a:r>
              <a:rPr lang="en-US" altLang="zh-CN" sz="2800" i="1" dirty="0"/>
              <a:t>  </a:t>
            </a:r>
            <a:r>
              <a:rPr lang="en-US" altLang="zh-CN" sz="2800" dirty="0"/>
              <a:t>    , </a:t>
            </a:r>
            <a:r>
              <a:rPr lang="zh-CN" altLang="en-US" sz="2800" dirty="0"/>
              <a:t>则 </a:t>
            </a:r>
            <a:r>
              <a:rPr lang="en-US" altLang="zh-CN" sz="2800" dirty="0"/>
              <a:t>[</a:t>
            </a:r>
            <a:r>
              <a:rPr lang="en-US" altLang="zh-CN" sz="2800" i="1" dirty="0"/>
              <a:t>x</a:t>
            </a:r>
            <a:r>
              <a:rPr lang="en-US" altLang="zh-CN" sz="2800" dirty="0"/>
              <a:t>]</a:t>
            </a:r>
            <a:r>
              <a:rPr lang="zh-CN" altLang="en-US" sz="2800" dirty="0"/>
              <a:t>与</a:t>
            </a:r>
            <a:r>
              <a:rPr lang="en-US" altLang="zh-CN" sz="2800" dirty="0"/>
              <a:t>[</a:t>
            </a:r>
            <a:r>
              <a:rPr lang="en-US" altLang="zh-CN" sz="2800" i="1" dirty="0"/>
              <a:t>y</a:t>
            </a:r>
            <a:r>
              <a:rPr lang="en-US" altLang="zh-CN" sz="2800" dirty="0"/>
              <a:t>]</a:t>
            </a:r>
            <a:r>
              <a:rPr lang="zh-CN" altLang="en-US" sz="2800" dirty="0"/>
              <a:t>不交</a:t>
            </a:r>
          </a:p>
          <a:p>
            <a:pPr eaLnBrk="1" hangingPunct="1"/>
            <a:r>
              <a:rPr lang="en-US" altLang="zh-CN" sz="2800" dirty="0"/>
              <a:t>(4) ∪{[</a:t>
            </a:r>
            <a:r>
              <a:rPr lang="en-US" altLang="zh-CN" sz="2800" i="1" dirty="0"/>
              <a:t>x</a:t>
            </a:r>
            <a:r>
              <a:rPr lang="en-US" altLang="zh-CN" sz="2800" dirty="0"/>
              <a:t>] | </a:t>
            </a:r>
            <a:r>
              <a:rPr lang="en-US" altLang="zh-CN" sz="2800" i="1" dirty="0" err="1"/>
              <a:t>x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i="1" dirty="0" err="1"/>
              <a:t>A</a:t>
            </a:r>
            <a:r>
              <a:rPr lang="en-US" altLang="zh-CN" sz="2800" dirty="0"/>
              <a:t>}=</a:t>
            </a:r>
            <a:r>
              <a:rPr lang="en-US" altLang="zh-CN" sz="2800" i="1" dirty="0"/>
              <a:t>A</a:t>
            </a:r>
            <a:endParaRPr lang="en-US" altLang="zh-CN" sz="2800" dirty="0"/>
          </a:p>
        </p:txBody>
      </p:sp>
      <p:grpSp>
        <p:nvGrpSpPr>
          <p:cNvPr id="7" name="Group 14"/>
          <p:cNvGrpSpPr/>
          <p:nvPr/>
        </p:nvGrpSpPr>
        <p:grpSpPr bwMode="auto">
          <a:xfrm>
            <a:off x="3177233" y="2708920"/>
            <a:ext cx="674687" cy="430213"/>
            <a:chOff x="2410" y="2251"/>
            <a:chExt cx="425" cy="271"/>
          </a:xfrm>
        </p:grpSpPr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2736" y="2251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i="1" dirty="0">
                  <a:solidFill>
                    <a:srgbClr val="000000"/>
                  </a:solidFill>
                  <a:ea typeface="楷体_GB2312" pitchFamily="49" charset="-122"/>
                </a:rPr>
                <a:t>y</a:t>
              </a:r>
              <a:endParaRPr kumimoji="1" lang="en-US" altLang="zh-CN" sz="2800" dirty="0">
                <a:solidFill>
                  <a:srgbClr val="080808"/>
                </a:solidFill>
                <a:ea typeface="楷体_GB2312" pitchFamily="49" charset="-122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2552" y="2251"/>
              <a:ext cx="13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b="0" i="1">
                  <a:solidFill>
                    <a:srgbClr val="000000"/>
                  </a:solidFill>
                  <a:ea typeface="楷体_GB2312" pitchFamily="49" charset="-122"/>
                </a:rPr>
                <a:t>R</a:t>
              </a:r>
              <a:endParaRPr kumimoji="1" lang="en-US" altLang="zh-CN" sz="2800">
                <a:solidFill>
                  <a:srgbClr val="080808"/>
                </a:solidFill>
                <a:ea typeface="楷体_GB2312" pitchFamily="49" charset="-122"/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410" y="2251"/>
              <a:ext cx="11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ea typeface="楷体_GB2312" pitchFamily="49" charset="-122"/>
                </a:rPr>
                <a:t>x</a:t>
              </a:r>
              <a:endParaRPr kumimoji="1" lang="en-US" altLang="zh-CN" sz="2800">
                <a:solidFill>
                  <a:srgbClr val="080808"/>
                </a:solidFill>
                <a:ea typeface="楷体_GB2312" pitchFamily="49" charset="-122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rot="-705629">
              <a:off x="2558" y="2323"/>
              <a:ext cx="148" cy="1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fade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1EF023-CDE6-426A-9A02-25447F8462FB}" type="slidenum">
              <a:rPr lang="en-US" altLang="zh-CN" sz="1400" b="0" smtClean="0">
                <a:latin typeface="Arial" panose="020B0604020202020204" pitchFamily="34" charset="0"/>
              </a:rPr>
              <a:t>119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843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等价类的性质</a:t>
            </a:r>
          </a:p>
        </p:txBody>
      </p:sp>
      <p:sp>
        <p:nvSpPr>
          <p:cNvPr id="99335" name="Rectangle 11"/>
          <p:cNvSpPr>
            <a:spLocks noChangeArrowheads="1"/>
          </p:cNvSpPr>
          <p:nvPr/>
        </p:nvSpPr>
        <p:spPr bwMode="auto">
          <a:xfrm>
            <a:off x="323528" y="4114266"/>
            <a:ext cx="8280400" cy="2035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 </a:t>
            </a:r>
            <a:r>
              <a:rPr lang="en-US" altLang="zh-CN" dirty="0"/>
              <a:t>(1) </a:t>
            </a:r>
            <a:r>
              <a:rPr lang="zh-CN" altLang="en-US" dirty="0">
                <a:solidFill>
                  <a:srgbClr val="C00000"/>
                </a:solidFill>
              </a:rPr>
              <a:t>证明：</a:t>
            </a:r>
            <a:endParaRPr lang="en-US" altLang="zh-CN" dirty="0">
              <a:solidFill>
                <a:srgbClr val="C00000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C00000"/>
                </a:solidFill>
              </a:rPr>
              <a:t>                  </a:t>
            </a:r>
            <a:r>
              <a:rPr lang="zh-CN" altLang="en-US" dirty="0">
                <a:solidFill>
                  <a:srgbClr val="0066FF"/>
                </a:solidFill>
              </a:rPr>
              <a:t>由等价类的定义</a:t>
            </a:r>
            <a:r>
              <a:rPr lang="en-US" altLang="zh-CN" dirty="0">
                <a:solidFill>
                  <a:srgbClr val="0066FF"/>
                </a:solidFill>
              </a:rPr>
              <a:t>,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zh-CN" altLang="en-US" dirty="0">
                <a:solidFill>
                  <a:srgbClr val="0066FF"/>
                </a:solidFill>
              </a:rPr>
              <a:t>有</a:t>
            </a:r>
            <a:r>
              <a:rPr lang="en-US" altLang="zh-CN" dirty="0">
                <a:solidFill>
                  <a:srgbClr val="0066FF"/>
                </a:solidFill>
              </a:rPr>
              <a:t>[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]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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dirty="0">
                <a:solidFill>
                  <a:srgbClr val="0066FF"/>
                </a:solidFill>
              </a:rPr>
              <a:t>. </a:t>
            </a: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</a:rPr>
              <a:t>                         </a:t>
            </a:r>
            <a:r>
              <a:rPr lang="zh-CN" altLang="en-US" dirty="0">
                <a:solidFill>
                  <a:srgbClr val="0066FF"/>
                </a:solidFill>
              </a:rPr>
              <a:t>又：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rgbClr val="0066FF"/>
                </a:solidFill>
              </a:rPr>
              <a:t>[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], </a:t>
            </a:r>
            <a:r>
              <a:rPr lang="zh-CN" altLang="en-US" dirty="0">
                <a:solidFill>
                  <a:srgbClr val="0066FF"/>
                </a:solidFill>
              </a:rPr>
              <a:t>即</a:t>
            </a:r>
            <a:r>
              <a:rPr lang="en-US" altLang="zh-CN" dirty="0">
                <a:solidFill>
                  <a:srgbClr val="0066FF"/>
                </a:solidFill>
              </a:rPr>
              <a:t>[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]</a:t>
            </a:r>
            <a:r>
              <a:rPr lang="zh-CN" altLang="en-US" dirty="0">
                <a:solidFill>
                  <a:srgbClr val="0066FF"/>
                </a:solidFill>
              </a:rPr>
              <a:t>非空</a:t>
            </a:r>
            <a:r>
              <a:rPr lang="en-US" altLang="zh-CN" dirty="0">
                <a:solidFill>
                  <a:srgbClr val="0066FF"/>
                </a:solidFill>
              </a:rPr>
              <a:t>. 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-12700" y="3840981"/>
            <a:ext cx="9144000" cy="3175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9"/>
          <p:cNvSpPr txBox="1">
            <a:spLocks noChangeArrowheads="1"/>
          </p:cNvSpPr>
          <p:nvPr/>
        </p:nvSpPr>
        <p:spPr bwMode="auto">
          <a:xfrm>
            <a:off x="403602" y="1120775"/>
            <a:ext cx="8280400" cy="2736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A50021"/>
                </a:solidFill>
              </a:rPr>
              <a:t>定理</a:t>
            </a:r>
            <a:r>
              <a:rPr lang="en-US" altLang="zh-CN" sz="2800" dirty="0">
                <a:solidFill>
                  <a:srgbClr val="A50021"/>
                </a:solidFill>
              </a:rPr>
              <a:t>7.14</a:t>
            </a:r>
            <a:r>
              <a:rPr lang="en-US" altLang="zh-CN" sz="2800" dirty="0"/>
              <a:t> </a:t>
            </a:r>
            <a:r>
              <a:rPr lang="zh-CN" altLang="en-US" sz="2800" dirty="0"/>
              <a:t>设</a:t>
            </a:r>
            <a:r>
              <a:rPr lang="en-US" altLang="zh-CN" sz="2800" i="1" dirty="0"/>
              <a:t>R</a:t>
            </a:r>
            <a:r>
              <a:rPr lang="zh-CN" altLang="en-US" sz="2800" dirty="0"/>
              <a:t>是非空集合</a:t>
            </a:r>
            <a:r>
              <a:rPr lang="en-US" altLang="zh-CN" sz="2800" i="1" dirty="0"/>
              <a:t>A</a:t>
            </a:r>
            <a:r>
              <a:rPr lang="zh-CN" altLang="en-US" sz="2800" dirty="0"/>
              <a:t>上的等价关系</a:t>
            </a:r>
            <a:r>
              <a:rPr lang="en-US" altLang="zh-CN" sz="2800" dirty="0"/>
              <a:t>, </a:t>
            </a:r>
            <a:r>
              <a:rPr lang="zh-CN" altLang="en-US" sz="2800" dirty="0"/>
              <a:t>则</a:t>
            </a:r>
          </a:p>
          <a:p>
            <a:pPr eaLnBrk="1" hangingPunct="1"/>
            <a:r>
              <a:rPr lang="en-US" altLang="zh-CN" sz="2800" dirty="0">
                <a:solidFill>
                  <a:srgbClr val="0066FF"/>
                </a:solidFill>
              </a:rPr>
              <a:t>(1) </a:t>
            </a:r>
            <a:r>
              <a:rPr lang="en-US" altLang="zh-CN" sz="2800" dirty="0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800" i="1" dirty="0" err="1">
                <a:solidFill>
                  <a:srgbClr val="0066FF"/>
                </a:solidFill>
              </a:rPr>
              <a:t>x</a:t>
            </a:r>
            <a:r>
              <a:rPr lang="en-US" altLang="zh-CN" sz="2800" dirty="0" err="1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i="1" dirty="0" err="1">
                <a:solidFill>
                  <a:srgbClr val="0066FF"/>
                </a:solidFill>
              </a:rPr>
              <a:t>A</a:t>
            </a:r>
            <a:r>
              <a:rPr lang="en-US" altLang="zh-CN" sz="2800" dirty="0">
                <a:solidFill>
                  <a:srgbClr val="0066FF"/>
                </a:solidFill>
              </a:rPr>
              <a:t>, [</a:t>
            </a:r>
            <a:r>
              <a:rPr lang="en-US" altLang="zh-CN" sz="2800" i="1" dirty="0">
                <a:solidFill>
                  <a:srgbClr val="0066FF"/>
                </a:solidFill>
              </a:rPr>
              <a:t>x</a:t>
            </a:r>
            <a:r>
              <a:rPr lang="en-US" altLang="zh-CN" sz="2800" dirty="0">
                <a:solidFill>
                  <a:srgbClr val="0066FF"/>
                </a:solidFill>
              </a:rPr>
              <a:t>]</a:t>
            </a:r>
            <a:r>
              <a:rPr lang="zh-CN" altLang="en-US" sz="2800" dirty="0">
                <a:solidFill>
                  <a:srgbClr val="0066FF"/>
                </a:solidFill>
              </a:rPr>
              <a:t>是</a:t>
            </a:r>
            <a:r>
              <a:rPr lang="en-US" altLang="zh-CN" sz="2800" i="1" dirty="0">
                <a:solidFill>
                  <a:srgbClr val="0066FF"/>
                </a:solidFill>
              </a:rPr>
              <a:t>A</a:t>
            </a:r>
            <a:r>
              <a:rPr lang="zh-CN" altLang="en-US" sz="2800" dirty="0">
                <a:solidFill>
                  <a:srgbClr val="0066FF"/>
                </a:solidFill>
              </a:rPr>
              <a:t>的非空子集</a:t>
            </a:r>
          </a:p>
          <a:p>
            <a:pPr eaLnBrk="1" hangingPunct="1"/>
            <a:r>
              <a:rPr lang="en-US" altLang="zh-CN" sz="2800" dirty="0"/>
              <a:t>(2) 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x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y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i="1" dirty="0" err="1"/>
              <a:t>A</a:t>
            </a:r>
            <a:r>
              <a:rPr lang="en-US" altLang="zh-CN" sz="2800" dirty="0"/>
              <a:t>, </a:t>
            </a:r>
            <a:r>
              <a:rPr lang="zh-CN" altLang="en-US" sz="2800" dirty="0"/>
              <a:t>如果 </a:t>
            </a:r>
            <a:r>
              <a:rPr lang="en-US" altLang="zh-CN" sz="2800" i="1" dirty="0" err="1"/>
              <a:t>xRy</a:t>
            </a:r>
            <a:r>
              <a:rPr lang="en-US" altLang="zh-CN" sz="2800" i="1" dirty="0"/>
              <a:t> </a:t>
            </a:r>
            <a:r>
              <a:rPr lang="en-US" altLang="zh-CN" sz="2800" dirty="0"/>
              <a:t>, </a:t>
            </a:r>
            <a:r>
              <a:rPr lang="zh-CN" altLang="en-US" sz="2800" dirty="0"/>
              <a:t>则 </a:t>
            </a:r>
            <a:r>
              <a:rPr lang="en-US" altLang="zh-CN" sz="2800" dirty="0"/>
              <a:t>[</a:t>
            </a:r>
            <a:r>
              <a:rPr lang="en-US" altLang="zh-CN" sz="2800" i="1" dirty="0"/>
              <a:t>x</a:t>
            </a:r>
            <a:r>
              <a:rPr lang="en-US" altLang="zh-CN" sz="2800" dirty="0"/>
              <a:t>] = [</a:t>
            </a:r>
            <a:r>
              <a:rPr lang="en-US" altLang="zh-CN" sz="2800" i="1" dirty="0"/>
              <a:t>y</a:t>
            </a:r>
            <a:r>
              <a:rPr lang="en-US" altLang="zh-CN" sz="2800" dirty="0"/>
              <a:t>]</a:t>
            </a:r>
          </a:p>
          <a:p>
            <a:pPr eaLnBrk="1" hangingPunct="1"/>
            <a:r>
              <a:rPr lang="en-US" altLang="zh-CN" sz="2800" dirty="0"/>
              <a:t>(3) 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x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y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i="1" dirty="0" err="1"/>
              <a:t>A</a:t>
            </a:r>
            <a:r>
              <a:rPr lang="en-US" altLang="zh-CN" sz="2800" dirty="0"/>
              <a:t>, </a:t>
            </a:r>
            <a:r>
              <a:rPr lang="zh-CN" altLang="en-US" sz="2800" dirty="0"/>
              <a:t>如果    </a:t>
            </a:r>
            <a:r>
              <a:rPr lang="en-US" altLang="zh-CN" sz="2800" i="1" dirty="0"/>
              <a:t>  </a:t>
            </a:r>
            <a:r>
              <a:rPr lang="en-US" altLang="zh-CN" sz="2800" dirty="0"/>
              <a:t>    , </a:t>
            </a:r>
            <a:r>
              <a:rPr lang="zh-CN" altLang="en-US" sz="2800" dirty="0"/>
              <a:t>则 </a:t>
            </a:r>
            <a:r>
              <a:rPr lang="en-US" altLang="zh-CN" sz="2800" dirty="0"/>
              <a:t>[</a:t>
            </a:r>
            <a:r>
              <a:rPr lang="en-US" altLang="zh-CN" sz="2800" i="1" dirty="0"/>
              <a:t>x</a:t>
            </a:r>
            <a:r>
              <a:rPr lang="en-US" altLang="zh-CN" sz="2800" dirty="0"/>
              <a:t>]</a:t>
            </a:r>
            <a:r>
              <a:rPr lang="zh-CN" altLang="en-US" sz="2800" dirty="0"/>
              <a:t>与</a:t>
            </a:r>
            <a:r>
              <a:rPr lang="en-US" altLang="zh-CN" sz="2800" dirty="0"/>
              <a:t>[</a:t>
            </a:r>
            <a:r>
              <a:rPr lang="en-US" altLang="zh-CN" sz="2800" i="1" dirty="0"/>
              <a:t>y</a:t>
            </a:r>
            <a:r>
              <a:rPr lang="en-US" altLang="zh-CN" sz="2800" dirty="0"/>
              <a:t>]</a:t>
            </a:r>
            <a:r>
              <a:rPr lang="zh-CN" altLang="en-US" sz="2800" dirty="0"/>
              <a:t>不交</a:t>
            </a:r>
          </a:p>
          <a:p>
            <a:pPr eaLnBrk="1" hangingPunct="1"/>
            <a:r>
              <a:rPr lang="en-US" altLang="zh-CN" sz="2800" dirty="0"/>
              <a:t>(4) ∪{[</a:t>
            </a:r>
            <a:r>
              <a:rPr lang="en-US" altLang="zh-CN" sz="2800" i="1" dirty="0"/>
              <a:t>x</a:t>
            </a:r>
            <a:r>
              <a:rPr lang="en-US" altLang="zh-CN" sz="2800" dirty="0"/>
              <a:t>] | </a:t>
            </a:r>
            <a:r>
              <a:rPr lang="en-US" altLang="zh-CN" sz="2800" i="1" dirty="0" err="1"/>
              <a:t>x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i="1" dirty="0" err="1"/>
              <a:t>A</a:t>
            </a:r>
            <a:r>
              <a:rPr lang="en-US" altLang="zh-CN" sz="2800" dirty="0"/>
              <a:t>}=</a:t>
            </a:r>
            <a:r>
              <a:rPr lang="en-US" altLang="zh-CN" sz="2800" i="1" dirty="0"/>
              <a:t>A</a:t>
            </a:r>
            <a:endParaRPr lang="en-US" altLang="zh-CN" sz="2800" dirty="0"/>
          </a:p>
        </p:txBody>
      </p:sp>
      <p:grpSp>
        <p:nvGrpSpPr>
          <p:cNvPr id="4" name="Group 14"/>
          <p:cNvGrpSpPr/>
          <p:nvPr/>
        </p:nvGrpSpPr>
        <p:grpSpPr bwMode="auto">
          <a:xfrm>
            <a:off x="3177233" y="2708920"/>
            <a:ext cx="674687" cy="430213"/>
            <a:chOff x="2410" y="2251"/>
            <a:chExt cx="425" cy="271"/>
          </a:xfrm>
        </p:grpSpPr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2736" y="2251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i="1" dirty="0">
                  <a:solidFill>
                    <a:srgbClr val="000000"/>
                  </a:solidFill>
                  <a:ea typeface="楷体_GB2312" pitchFamily="49" charset="-122"/>
                </a:rPr>
                <a:t>y</a:t>
              </a:r>
              <a:endParaRPr kumimoji="1" lang="en-US" altLang="zh-CN" sz="2800" dirty="0">
                <a:solidFill>
                  <a:srgbClr val="080808"/>
                </a:solidFill>
                <a:ea typeface="楷体_GB2312" pitchFamily="49" charset="-122"/>
              </a:endParaRP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2552" y="2251"/>
              <a:ext cx="13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b="0" i="1">
                  <a:solidFill>
                    <a:srgbClr val="000000"/>
                  </a:solidFill>
                  <a:ea typeface="楷体_GB2312" pitchFamily="49" charset="-122"/>
                </a:rPr>
                <a:t>R</a:t>
              </a:r>
              <a:endParaRPr kumimoji="1" lang="en-US" altLang="zh-CN" sz="2800">
                <a:solidFill>
                  <a:srgbClr val="080808"/>
                </a:solidFill>
                <a:ea typeface="楷体_GB2312" pitchFamily="49" charset="-122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2410" y="2251"/>
              <a:ext cx="11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ea typeface="楷体_GB2312" pitchFamily="49" charset="-122"/>
                </a:rPr>
                <a:t>x</a:t>
              </a:r>
              <a:endParaRPr kumimoji="1" lang="en-US" altLang="zh-CN" sz="2800">
                <a:solidFill>
                  <a:srgbClr val="080808"/>
                </a:solidFill>
                <a:ea typeface="楷体_GB2312" pitchFamily="49" charset="-122"/>
              </a:endParaRPr>
            </a:p>
          </p:txBody>
        </p:sp>
        <p:sp>
          <p:nvSpPr>
            <p:cNvPr id="8" name="Line 10"/>
            <p:cNvSpPr>
              <a:spLocks noChangeShapeType="1"/>
            </p:cNvSpPr>
            <p:nvPr/>
          </p:nvSpPr>
          <p:spPr bwMode="auto">
            <a:xfrm rot="-705629">
              <a:off x="2558" y="2323"/>
              <a:ext cx="148" cy="1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4BFF341-F7F7-4E2E-BFD5-253423C4B71F}" type="slidenum">
              <a:rPr lang="en-US" altLang="zh-CN" sz="1400" b="0" smtClean="0">
                <a:latin typeface="Arial" panose="020B0604020202020204" pitchFamily="34" charset="0"/>
              </a:rPr>
              <a:t>120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048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等价类的性质</a:t>
            </a:r>
          </a:p>
        </p:txBody>
      </p:sp>
      <p:sp>
        <p:nvSpPr>
          <p:cNvPr id="99335" name="Rectangle 11"/>
          <p:cNvSpPr>
            <a:spLocks noChangeArrowheads="1"/>
          </p:cNvSpPr>
          <p:nvPr/>
        </p:nvSpPr>
        <p:spPr bwMode="auto">
          <a:xfrm>
            <a:off x="395288" y="4027383"/>
            <a:ext cx="4319587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(2)</a:t>
            </a:r>
            <a:r>
              <a:rPr lang="zh-CN" altLang="en-US" dirty="0">
                <a:solidFill>
                  <a:srgbClr val="C00000"/>
                </a:solidFill>
              </a:rPr>
              <a:t>证明：</a:t>
            </a:r>
            <a:r>
              <a:rPr lang="zh-CN" altLang="en-US" dirty="0">
                <a:solidFill>
                  <a:srgbClr val="0066FF"/>
                </a:solidFill>
              </a:rPr>
              <a:t>任取 </a:t>
            </a:r>
            <a:r>
              <a:rPr lang="en-US" altLang="zh-CN" i="1" dirty="0">
                <a:solidFill>
                  <a:srgbClr val="0066FF"/>
                </a:solidFill>
              </a:rPr>
              <a:t>z</a:t>
            </a:r>
            <a:r>
              <a:rPr lang="fr-FR" altLang="zh-CN" dirty="0">
                <a:solidFill>
                  <a:srgbClr val="0066FF"/>
                </a:solidFill>
              </a:rPr>
              <a:t>∈[</a:t>
            </a:r>
            <a:r>
              <a:rPr lang="fr-FR" altLang="zh-CN" i="1" dirty="0">
                <a:solidFill>
                  <a:srgbClr val="0066FF"/>
                </a:solidFill>
              </a:rPr>
              <a:t>x</a:t>
            </a:r>
            <a:r>
              <a:rPr lang="fr-FR" altLang="zh-CN" dirty="0">
                <a:solidFill>
                  <a:srgbClr val="0066FF"/>
                </a:solidFill>
              </a:rPr>
              <a:t>]</a:t>
            </a:r>
            <a:r>
              <a:rPr lang="en-US" altLang="zh-CN" dirty="0">
                <a:solidFill>
                  <a:srgbClr val="0066FF"/>
                </a:solidFill>
              </a:rPr>
              <a:t>, </a:t>
            </a:r>
            <a:r>
              <a:rPr lang="zh-CN" altLang="en-US" dirty="0">
                <a:solidFill>
                  <a:srgbClr val="0066FF"/>
                </a:solidFill>
              </a:rPr>
              <a:t>则有  </a:t>
            </a: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</a:rPr>
              <a:t></a:t>
            </a:r>
            <a:r>
              <a:rPr lang="zh-CN" altLang="fr-FR" dirty="0">
                <a:solidFill>
                  <a:srgbClr val="0066FF"/>
                </a:solidFill>
              </a:rPr>
              <a:t>        </a:t>
            </a:r>
            <a:r>
              <a:rPr lang="fr-FR" altLang="zh-CN" i="1" dirty="0">
                <a:solidFill>
                  <a:srgbClr val="0066FF"/>
                </a:solidFill>
              </a:rPr>
              <a:t>z</a:t>
            </a:r>
            <a:r>
              <a:rPr lang="fr-FR" altLang="zh-CN" dirty="0">
                <a:solidFill>
                  <a:srgbClr val="0066FF"/>
                </a:solidFill>
              </a:rPr>
              <a:t>∈[</a:t>
            </a:r>
            <a:r>
              <a:rPr lang="fr-FR" altLang="zh-CN" i="1" dirty="0">
                <a:solidFill>
                  <a:srgbClr val="0066FF"/>
                </a:solidFill>
              </a:rPr>
              <a:t>x</a:t>
            </a:r>
            <a:r>
              <a:rPr lang="fr-FR" altLang="zh-CN" dirty="0">
                <a:solidFill>
                  <a:srgbClr val="0066FF"/>
                </a:solidFill>
              </a:rPr>
              <a:t>]</a:t>
            </a:r>
          </a:p>
          <a:p>
            <a:pPr eaLnBrk="1" hangingPunct="1"/>
            <a:r>
              <a:rPr lang="fr-FR" altLang="zh-CN" dirty="0">
                <a:solidFill>
                  <a:srgbClr val="0066FF"/>
                </a:solidFill>
              </a:rPr>
              <a:t>             </a:t>
            </a:r>
            <a:r>
              <a:rPr lang="fr-FR" altLang="zh-CN" dirty="0"/>
              <a:t> </a:t>
            </a:r>
            <a:r>
              <a:rPr lang="en-US" altLang="zh-CN" dirty="0">
                <a:solidFill>
                  <a:srgbClr val="7030A0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7030A0"/>
                </a:solidFill>
              </a:rPr>
              <a:t> </a:t>
            </a:r>
            <a:r>
              <a:rPr lang="fr-FR" altLang="zh-CN" dirty="0">
                <a:solidFill>
                  <a:srgbClr val="7030A0"/>
                </a:solidFill>
              </a:rPr>
              <a:t>&lt;</a:t>
            </a:r>
            <a:r>
              <a:rPr lang="fr-FR" altLang="zh-CN" i="1" dirty="0">
                <a:solidFill>
                  <a:srgbClr val="7030A0"/>
                </a:solidFill>
              </a:rPr>
              <a:t>x</a:t>
            </a:r>
            <a:r>
              <a:rPr lang="fr-FR" altLang="zh-CN" dirty="0">
                <a:solidFill>
                  <a:srgbClr val="7030A0"/>
                </a:solidFill>
              </a:rPr>
              <a:t>,</a:t>
            </a:r>
            <a:r>
              <a:rPr lang="fr-FR" altLang="zh-CN" i="1" dirty="0">
                <a:solidFill>
                  <a:srgbClr val="7030A0"/>
                </a:solidFill>
              </a:rPr>
              <a:t>z</a:t>
            </a:r>
            <a:r>
              <a:rPr lang="fr-FR" altLang="zh-CN" dirty="0">
                <a:solidFill>
                  <a:srgbClr val="7030A0"/>
                </a:solidFill>
              </a:rPr>
              <a:t>&gt;∈</a:t>
            </a:r>
            <a:r>
              <a:rPr lang="fr-FR" altLang="zh-CN" i="1" dirty="0">
                <a:solidFill>
                  <a:srgbClr val="7030A0"/>
                </a:solidFill>
              </a:rPr>
              <a:t>R </a:t>
            </a:r>
          </a:p>
          <a:p>
            <a:pPr eaLnBrk="1" hangingPunct="1"/>
            <a:endParaRPr lang="fr-FR" altLang="zh-CN" i="1" dirty="0">
              <a:solidFill>
                <a:srgbClr val="7030A0"/>
              </a:solidFill>
            </a:endParaRPr>
          </a:p>
          <a:p>
            <a:pPr eaLnBrk="1" hangingPunct="1"/>
            <a:r>
              <a:rPr lang="fr-FR" altLang="zh-CN" i="1" dirty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r>
              <a:rPr lang="fr-FR" altLang="zh-CN" i="1" dirty="0"/>
              <a:t>&lt;x,y&gt;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fr-FR" altLang="zh-CN" i="1" dirty="0"/>
              <a:t>R</a:t>
            </a:r>
            <a:r>
              <a:rPr lang="fr-FR" altLang="zh-CN" i="1" dirty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fr-FR" altLang="zh-CN" i="1" dirty="0"/>
              <a:t>&lt;y,x&gt;</a:t>
            </a:r>
            <a:r>
              <a:rPr lang="fr-FR" altLang="zh-CN" dirty="0"/>
              <a:t>∈</a:t>
            </a:r>
            <a:r>
              <a:rPr lang="fr-FR" altLang="zh-CN" i="1" dirty="0"/>
              <a:t>R</a:t>
            </a:r>
            <a:r>
              <a:rPr lang="en-US" altLang="zh-CN" i="1" dirty="0">
                <a:solidFill>
                  <a:srgbClr val="7030A0"/>
                </a:solidFill>
              </a:rPr>
              <a:t></a:t>
            </a:r>
            <a:endParaRPr lang="fr-FR" altLang="zh-CN" i="1" dirty="0">
              <a:solidFill>
                <a:srgbClr val="7030A0"/>
              </a:solidFill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4572000" y="4121150"/>
            <a:ext cx="4319588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fr-FR" altLang="zh-CN" i="1" dirty="0"/>
              <a:t>      &lt;y,x&gt;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fr-FR" altLang="zh-CN" i="1" dirty="0"/>
              <a:t>R</a:t>
            </a:r>
            <a:r>
              <a:rPr lang="fr-FR" altLang="zh-CN" dirty="0">
                <a:solidFill>
                  <a:srgbClr val="7030A0"/>
                </a:solidFill>
              </a:rPr>
              <a:t>∧&lt;</a:t>
            </a:r>
            <a:r>
              <a:rPr lang="fr-FR" altLang="zh-CN" i="1" dirty="0">
                <a:solidFill>
                  <a:srgbClr val="7030A0"/>
                </a:solidFill>
              </a:rPr>
              <a:t>x</a:t>
            </a:r>
            <a:r>
              <a:rPr lang="fr-FR" altLang="zh-CN" dirty="0">
                <a:solidFill>
                  <a:srgbClr val="7030A0"/>
                </a:solidFill>
              </a:rPr>
              <a:t>,</a:t>
            </a:r>
            <a:r>
              <a:rPr lang="fr-FR" altLang="zh-CN" i="1" dirty="0">
                <a:solidFill>
                  <a:srgbClr val="7030A0"/>
                </a:solidFill>
              </a:rPr>
              <a:t>z</a:t>
            </a:r>
            <a:r>
              <a:rPr lang="fr-FR" altLang="zh-CN" dirty="0">
                <a:solidFill>
                  <a:srgbClr val="7030A0"/>
                </a:solidFill>
              </a:rPr>
              <a:t>&gt;</a:t>
            </a:r>
            <a:r>
              <a:rPr lang="en-US" altLang="zh-CN" dirty="0">
                <a:solidFill>
                  <a:srgbClr val="7030A0"/>
                </a:solidFill>
                <a:sym typeface="Symbol" panose="05050102010706020507" pitchFamily="18" charset="2"/>
              </a:rPr>
              <a:t></a:t>
            </a:r>
            <a:r>
              <a:rPr lang="fr-FR" altLang="zh-CN" i="1" dirty="0">
                <a:solidFill>
                  <a:srgbClr val="7030A0"/>
                </a:solidFill>
              </a:rPr>
              <a:t>R</a:t>
            </a:r>
          </a:p>
          <a:p>
            <a:pPr eaLnBrk="1" hangingPunct="1"/>
            <a:r>
              <a:rPr lang="fr-FR" altLang="zh-CN" i="1" dirty="0">
                <a:solidFill>
                  <a:srgbClr val="7030A0"/>
                </a:solidFill>
              </a:rPr>
              <a:t>     </a:t>
            </a:r>
            <a:r>
              <a:rPr lang="en-US" altLang="zh-CN" dirty="0">
                <a:solidFill>
                  <a:srgbClr val="7030A0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7030A0"/>
                </a:solidFill>
              </a:rPr>
              <a:t> </a:t>
            </a:r>
            <a:r>
              <a:rPr lang="fr-FR" altLang="zh-CN" i="1" dirty="0">
                <a:solidFill>
                  <a:srgbClr val="7030A0"/>
                </a:solidFill>
              </a:rPr>
              <a:t>&lt;y,z&gt;</a:t>
            </a:r>
            <a:r>
              <a:rPr lang="en-US" altLang="zh-CN" dirty="0">
                <a:solidFill>
                  <a:srgbClr val="7030A0"/>
                </a:solidFill>
                <a:sym typeface="Symbol" panose="05050102010706020507" pitchFamily="18" charset="2"/>
              </a:rPr>
              <a:t></a:t>
            </a:r>
            <a:r>
              <a:rPr lang="fr-FR" altLang="zh-CN" i="1" dirty="0">
                <a:solidFill>
                  <a:srgbClr val="7030A0"/>
                </a:solidFill>
              </a:rPr>
              <a:t>R</a:t>
            </a:r>
            <a:endParaRPr lang="fr-FR" altLang="zh-CN" dirty="0">
              <a:solidFill>
                <a:srgbClr val="7030A0"/>
              </a:solidFill>
            </a:endParaRPr>
          </a:p>
          <a:p>
            <a:pPr eaLnBrk="1" hangingPunct="1"/>
            <a:r>
              <a:rPr lang="zh-CN" altLang="fr-FR" dirty="0">
                <a:solidFill>
                  <a:srgbClr val="0066FF"/>
                </a:solidFill>
              </a:rPr>
              <a:t>     从而</a:t>
            </a:r>
            <a:r>
              <a:rPr lang="en-US" altLang="zh-CN" i="1" dirty="0">
                <a:solidFill>
                  <a:srgbClr val="0066FF"/>
                </a:solidFill>
              </a:rPr>
              <a:t>z</a:t>
            </a:r>
            <a:r>
              <a:rPr lang="en-US" altLang="zh-CN" dirty="0">
                <a:solidFill>
                  <a:srgbClr val="0066FF"/>
                </a:solidFill>
              </a:rPr>
              <a:t>∈[</a:t>
            </a:r>
            <a:r>
              <a:rPr lang="en-US" altLang="zh-CN" i="1" dirty="0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].</a:t>
            </a:r>
            <a:r>
              <a:rPr lang="en-US" altLang="zh-CN" dirty="0"/>
              <a:t> </a:t>
            </a:r>
          </a:p>
          <a:p>
            <a:pPr eaLnBrk="1" hangingPunct="1"/>
            <a:r>
              <a:rPr lang="zh-CN" altLang="en-US" dirty="0"/>
              <a:t>     </a:t>
            </a:r>
            <a:r>
              <a:rPr lang="zh-CN" altLang="en-US" dirty="0">
                <a:solidFill>
                  <a:srgbClr val="0066FF"/>
                </a:solidFill>
              </a:rPr>
              <a:t>综上所述必有 </a:t>
            </a:r>
            <a:r>
              <a:rPr lang="en-US" altLang="zh-CN" dirty="0">
                <a:solidFill>
                  <a:srgbClr val="0066FF"/>
                </a:solidFill>
              </a:rPr>
              <a:t>[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]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rgbClr val="0066FF"/>
                </a:solidFill>
              </a:rPr>
              <a:t>[</a:t>
            </a:r>
            <a:r>
              <a:rPr lang="en-US" altLang="zh-CN" i="1" dirty="0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]. </a:t>
            </a: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</a:rPr>
              <a:t>     同理可证 </a:t>
            </a:r>
            <a:r>
              <a:rPr lang="en-US" altLang="zh-CN" dirty="0">
                <a:solidFill>
                  <a:srgbClr val="0066FF"/>
                </a:solidFill>
              </a:rPr>
              <a:t>[</a:t>
            </a:r>
            <a:r>
              <a:rPr lang="en-US" altLang="zh-CN" i="1" dirty="0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]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rgbClr val="0066FF"/>
                </a:solidFill>
              </a:rPr>
              <a:t>[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]. </a:t>
            </a: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</a:rPr>
              <a:t>     </a:t>
            </a:r>
            <a:r>
              <a:rPr lang="zh-CN" altLang="en-US" dirty="0">
                <a:solidFill>
                  <a:srgbClr val="0066FF"/>
                </a:solidFill>
              </a:rPr>
              <a:t>这就得到了</a:t>
            </a:r>
            <a:r>
              <a:rPr lang="en-US" altLang="zh-CN" dirty="0">
                <a:solidFill>
                  <a:srgbClr val="0066FF"/>
                </a:solidFill>
              </a:rPr>
              <a:t>[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] = [</a:t>
            </a:r>
            <a:r>
              <a:rPr lang="en-US" altLang="zh-CN" i="1" dirty="0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].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356100" y="4121150"/>
            <a:ext cx="0" cy="2600325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0" y="3947900"/>
            <a:ext cx="9144000" cy="3175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9"/>
          <p:cNvSpPr txBox="1">
            <a:spLocks noChangeArrowheads="1"/>
          </p:cNvSpPr>
          <p:nvPr/>
        </p:nvSpPr>
        <p:spPr bwMode="auto">
          <a:xfrm>
            <a:off x="395288" y="1128117"/>
            <a:ext cx="8280400" cy="2736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A50021"/>
                </a:solidFill>
              </a:rPr>
              <a:t>定理</a:t>
            </a:r>
            <a:r>
              <a:rPr lang="en-US" altLang="zh-CN" sz="2800" dirty="0">
                <a:solidFill>
                  <a:srgbClr val="A50021"/>
                </a:solidFill>
              </a:rPr>
              <a:t>7.14</a:t>
            </a:r>
            <a:r>
              <a:rPr lang="en-US" altLang="zh-CN" sz="2800" dirty="0"/>
              <a:t> </a:t>
            </a:r>
            <a:r>
              <a:rPr lang="zh-CN" altLang="en-US" sz="2800" dirty="0"/>
              <a:t>设</a:t>
            </a:r>
            <a:r>
              <a:rPr lang="en-US" altLang="zh-CN" sz="2800" i="1" dirty="0"/>
              <a:t>R</a:t>
            </a:r>
            <a:r>
              <a:rPr lang="zh-CN" altLang="en-US" sz="2800" dirty="0"/>
              <a:t>是非空集合</a:t>
            </a:r>
            <a:r>
              <a:rPr lang="en-US" altLang="zh-CN" sz="2800" i="1" dirty="0"/>
              <a:t>A</a:t>
            </a:r>
            <a:r>
              <a:rPr lang="zh-CN" altLang="en-US" sz="2800" dirty="0"/>
              <a:t>上的等价关系</a:t>
            </a:r>
            <a:r>
              <a:rPr lang="en-US" altLang="zh-CN" sz="2800" dirty="0"/>
              <a:t>, </a:t>
            </a:r>
            <a:r>
              <a:rPr lang="zh-CN" altLang="en-US" sz="2800" dirty="0"/>
              <a:t>则</a:t>
            </a:r>
          </a:p>
          <a:p>
            <a:pPr eaLnBrk="1" hangingPunct="1"/>
            <a:r>
              <a:rPr lang="en-US" altLang="zh-CN" sz="2800" dirty="0"/>
              <a:t>(1) 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x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i="1" dirty="0" err="1"/>
              <a:t>A</a:t>
            </a:r>
            <a:r>
              <a:rPr lang="en-US" altLang="zh-CN" sz="2800" dirty="0"/>
              <a:t>, [</a:t>
            </a:r>
            <a:r>
              <a:rPr lang="en-US" altLang="zh-CN" sz="2800" i="1" dirty="0"/>
              <a:t>x</a:t>
            </a:r>
            <a:r>
              <a:rPr lang="en-US" altLang="zh-CN" sz="2800" dirty="0"/>
              <a:t>]</a:t>
            </a:r>
            <a:r>
              <a:rPr lang="zh-CN" altLang="en-US" sz="2800" dirty="0"/>
              <a:t>是</a:t>
            </a:r>
            <a:r>
              <a:rPr lang="en-US" altLang="zh-CN" sz="2800" i="1" dirty="0"/>
              <a:t>A</a:t>
            </a:r>
            <a:r>
              <a:rPr lang="zh-CN" altLang="en-US" sz="2800" dirty="0"/>
              <a:t>的非空子集</a:t>
            </a:r>
          </a:p>
          <a:p>
            <a:pPr eaLnBrk="1" hangingPunct="1"/>
            <a:r>
              <a:rPr lang="en-US" altLang="zh-CN" sz="2800" dirty="0">
                <a:solidFill>
                  <a:srgbClr val="0066FF"/>
                </a:solidFill>
              </a:rPr>
              <a:t>(2) </a:t>
            </a:r>
            <a:r>
              <a:rPr lang="en-US" altLang="zh-CN" sz="2800" dirty="0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800" i="1" dirty="0" err="1">
                <a:solidFill>
                  <a:srgbClr val="0066FF"/>
                </a:solidFill>
              </a:rPr>
              <a:t>x</a:t>
            </a:r>
            <a:r>
              <a:rPr lang="en-US" altLang="zh-CN" sz="2800" dirty="0" err="1">
                <a:solidFill>
                  <a:srgbClr val="0066FF"/>
                </a:solidFill>
              </a:rPr>
              <a:t>,</a:t>
            </a:r>
            <a:r>
              <a:rPr lang="en-US" altLang="zh-CN" sz="2800" i="1" dirty="0" err="1">
                <a:solidFill>
                  <a:srgbClr val="0066FF"/>
                </a:solidFill>
              </a:rPr>
              <a:t>y</a:t>
            </a:r>
            <a:r>
              <a:rPr lang="en-US" altLang="zh-CN" sz="2800" dirty="0" err="1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i="1" dirty="0" err="1">
                <a:solidFill>
                  <a:srgbClr val="0066FF"/>
                </a:solidFill>
              </a:rPr>
              <a:t>A</a:t>
            </a:r>
            <a:r>
              <a:rPr lang="en-US" altLang="zh-CN" sz="2800" dirty="0">
                <a:solidFill>
                  <a:srgbClr val="0066FF"/>
                </a:solidFill>
              </a:rPr>
              <a:t>, </a:t>
            </a:r>
            <a:r>
              <a:rPr lang="zh-CN" altLang="en-US" sz="2800" dirty="0">
                <a:solidFill>
                  <a:srgbClr val="0066FF"/>
                </a:solidFill>
              </a:rPr>
              <a:t>如果 </a:t>
            </a:r>
            <a:r>
              <a:rPr lang="en-US" altLang="zh-CN" sz="2800" i="1" dirty="0" err="1">
                <a:solidFill>
                  <a:srgbClr val="0066FF"/>
                </a:solidFill>
              </a:rPr>
              <a:t>xRy</a:t>
            </a:r>
            <a:r>
              <a:rPr lang="en-US" altLang="zh-CN" sz="2800" i="1" dirty="0">
                <a:solidFill>
                  <a:srgbClr val="0066FF"/>
                </a:solidFill>
              </a:rPr>
              <a:t> </a:t>
            </a:r>
            <a:r>
              <a:rPr lang="en-US" altLang="zh-CN" sz="2800" dirty="0">
                <a:solidFill>
                  <a:srgbClr val="0066FF"/>
                </a:solidFill>
              </a:rPr>
              <a:t>, </a:t>
            </a:r>
            <a:r>
              <a:rPr lang="zh-CN" altLang="en-US" sz="2800" dirty="0">
                <a:solidFill>
                  <a:srgbClr val="0066FF"/>
                </a:solidFill>
              </a:rPr>
              <a:t>则 </a:t>
            </a:r>
            <a:r>
              <a:rPr lang="en-US" altLang="zh-CN" sz="2800" dirty="0">
                <a:solidFill>
                  <a:srgbClr val="0066FF"/>
                </a:solidFill>
              </a:rPr>
              <a:t>[</a:t>
            </a:r>
            <a:r>
              <a:rPr lang="en-US" altLang="zh-CN" sz="2800" i="1" dirty="0">
                <a:solidFill>
                  <a:srgbClr val="0066FF"/>
                </a:solidFill>
              </a:rPr>
              <a:t>x</a:t>
            </a:r>
            <a:r>
              <a:rPr lang="en-US" altLang="zh-CN" sz="2800" dirty="0">
                <a:solidFill>
                  <a:srgbClr val="0066FF"/>
                </a:solidFill>
              </a:rPr>
              <a:t>] = [</a:t>
            </a:r>
            <a:r>
              <a:rPr lang="en-US" altLang="zh-CN" sz="2800" i="1" dirty="0">
                <a:solidFill>
                  <a:srgbClr val="0066FF"/>
                </a:solidFill>
              </a:rPr>
              <a:t>y</a:t>
            </a:r>
            <a:r>
              <a:rPr lang="en-US" altLang="zh-CN" sz="2800" dirty="0">
                <a:solidFill>
                  <a:srgbClr val="0066FF"/>
                </a:solidFill>
              </a:rPr>
              <a:t>]</a:t>
            </a:r>
          </a:p>
          <a:p>
            <a:pPr eaLnBrk="1" hangingPunct="1"/>
            <a:r>
              <a:rPr lang="en-US" altLang="zh-CN" sz="2800" dirty="0"/>
              <a:t>(3) 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x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y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i="1" dirty="0" err="1"/>
              <a:t>A</a:t>
            </a:r>
            <a:r>
              <a:rPr lang="en-US" altLang="zh-CN" sz="2800" dirty="0"/>
              <a:t>, </a:t>
            </a:r>
            <a:r>
              <a:rPr lang="zh-CN" altLang="en-US" sz="2800" dirty="0"/>
              <a:t>如果    </a:t>
            </a:r>
            <a:r>
              <a:rPr lang="en-US" altLang="zh-CN" sz="2800" i="1" dirty="0"/>
              <a:t>  </a:t>
            </a:r>
            <a:r>
              <a:rPr lang="en-US" altLang="zh-CN" sz="2800" dirty="0"/>
              <a:t>    , </a:t>
            </a:r>
            <a:r>
              <a:rPr lang="zh-CN" altLang="en-US" sz="2800" dirty="0"/>
              <a:t>则 </a:t>
            </a:r>
            <a:r>
              <a:rPr lang="en-US" altLang="zh-CN" sz="2800" dirty="0"/>
              <a:t>[</a:t>
            </a:r>
            <a:r>
              <a:rPr lang="en-US" altLang="zh-CN" sz="2800" i="1" dirty="0"/>
              <a:t>x</a:t>
            </a:r>
            <a:r>
              <a:rPr lang="en-US" altLang="zh-CN" sz="2800" dirty="0"/>
              <a:t>]</a:t>
            </a:r>
            <a:r>
              <a:rPr lang="zh-CN" altLang="en-US" sz="2800" dirty="0"/>
              <a:t>与</a:t>
            </a:r>
            <a:r>
              <a:rPr lang="en-US" altLang="zh-CN" sz="2800" dirty="0"/>
              <a:t>[</a:t>
            </a:r>
            <a:r>
              <a:rPr lang="en-US" altLang="zh-CN" sz="2800" i="1" dirty="0"/>
              <a:t>y</a:t>
            </a:r>
            <a:r>
              <a:rPr lang="en-US" altLang="zh-CN" sz="2800" dirty="0"/>
              <a:t>]</a:t>
            </a:r>
            <a:r>
              <a:rPr lang="zh-CN" altLang="en-US" sz="2800" dirty="0"/>
              <a:t>不交</a:t>
            </a:r>
          </a:p>
          <a:p>
            <a:pPr eaLnBrk="1" hangingPunct="1"/>
            <a:r>
              <a:rPr lang="en-US" altLang="zh-CN" sz="2800" dirty="0"/>
              <a:t>(4) ∪{[</a:t>
            </a:r>
            <a:r>
              <a:rPr lang="en-US" altLang="zh-CN" sz="2800" i="1" dirty="0"/>
              <a:t>x</a:t>
            </a:r>
            <a:r>
              <a:rPr lang="en-US" altLang="zh-CN" sz="2800" dirty="0"/>
              <a:t>] | </a:t>
            </a:r>
            <a:r>
              <a:rPr lang="en-US" altLang="zh-CN" sz="2800" i="1" dirty="0" err="1"/>
              <a:t>x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i="1" dirty="0" err="1"/>
              <a:t>A</a:t>
            </a:r>
            <a:r>
              <a:rPr lang="en-US" altLang="zh-CN" sz="2800" dirty="0"/>
              <a:t>}=</a:t>
            </a:r>
            <a:r>
              <a:rPr lang="en-US" altLang="zh-CN" sz="2800" i="1" dirty="0"/>
              <a:t>A</a:t>
            </a:r>
            <a:endParaRPr lang="en-US" altLang="zh-CN" sz="2800" dirty="0"/>
          </a:p>
        </p:txBody>
      </p:sp>
      <p:grpSp>
        <p:nvGrpSpPr>
          <p:cNvPr id="6" name="Group 14"/>
          <p:cNvGrpSpPr/>
          <p:nvPr/>
        </p:nvGrpSpPr>
        <p:grpSpPr bwMode="auto">
          <a:xfrm>
            <a:off x="3177233" y="2708920"/>
            <a:ext cx="674687" cy="430213"/>
            <a:chOff x="2410" y="2251"/>
            <a:chExt cx="425" cy="271"/>
          </a:xfrm>
        </p:grpSpPr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2736" y="2251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i="1" dirty="0">
                  <a:solidFill>
                    <a:srgbClr val="000000"/>
                  </a:solidFill>
                  <a:ea typeface="楷体_GB2312" pitchFamily="49" charset="-122"/>
                </a:rPr>
                <a:t>y</a:t>
              </a:r>
              <a:endParaRPr kumimoji="1" lang="en-US" altLang="zh-CN" sz="2800" dirty="0">
                <a:solidFill>
                  <a:srgbClr val="080808"/>
                </a:solidFill>
                <a:ea typeface="楷体_GB2312" pitchFamily="49" charset="-122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2552" y="2251"/>
              <a:ext cx="13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b="0" i="1">
                  <a:solidFill>
                    <a:srgbClr val="000000"/>
                  </a:solidFill>
                  <a:ea typeface="楷体_GB2312" pitchFamily="49" charset="-122"/>
                </a:rPr>
                <a:t>R</a:t>
              </a:r>
              <a:endParaRPr kumimoji="1" lang="en-US" altLang="zh-CN" sz="2800">
                <a:solidFill>
                  <a:srgbClr val="080808"/>
                </a:solidFill>
                <a:ea typeface="楷体_GB2312" pitchFamily="49" charset="-122"/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410" y="2251"/>
              <a:ext cx="11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ea typeface="楷体_GB2312" pitchFamily="49" charset="-122"/>
                </a:rPr>
                <a:t>x</a:t>
              </a:r>
              <a:endParaRPr kumimoji="1" lang="en-US" altLang="zh-CN" sz="2800">
                <a:solidFill>
                  <a:srgbClr val="080808"/>
                </a:solidFill>
                <a:ea typeface="楷体_GB2312" pitchFamily="49" charset="-122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rot="-705629">
              <a:off x="2558" y="2323"/>
              <a:ext cx="148" cy="1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3B06BC-D559-48A0-A98D-C52854C06E54}" type="slidenum">
              <a:rPr lang="en-US" altLang="zh-CN" sz="1400" b="0" smtClean="0">
                <a:latin typeface="Arial" panose="020B0604020202020204" pitchFamily="34" charset="0"/>
              </a:rPr>
              <a:t>121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2533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1843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95536" y="4050598"/>
            <a:ext cx="8280400" cy="26090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/>
              <a:t>(3)</a:t>
            </a:r>
            <a:r>
              <a:rPr lang="zh-CN" altLang="en-US" dirty="0">
                <a:solidFill>
                  <a:srgbClr val="C00000"/>
                </a:solidFill>
              </a:rPr>
              <a:t>证明：</a:t>
            </a:r>
            <a:endParaRPr lang="en-US" altLang="zh-CN" dirty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    </a:t>
            </a:r>
            <a:r>
              <a:rPr lang="zh-CN" altLang="en-US" dirty="0">
                <a:solidFill>
                  <a:srgbClr val="0066FF"/>
                </a:solidFill>
              </a:rPr>
              <a:t>假设 </a:t>
            </a:r>
            <a:r>
              <a:rPr lang="en-US" altLang="zh-CN" dirty="0">
                <a:solidFill>
                  <a:srgbClr val="0066FF"/>
                </a:solidFill>
              </a:rPr>
              <a:t>[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]∩[</a:t>
            </a:r>
            <a:r>
              <a:rPr lang="en-US" altLang="zh-CN" i="1" dirty="0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]≠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</a:t>
            </a:r>
            <a:r>
              <a:rPr lang="en-US" altLang="zh-CN" dirty="0">
                <a:solidFill>
                  <a:srgbClr val="0066FF"/>
                </a:solidFill>
              </a:rPr>
              <a:t>,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66FF"/>
                </a:solidFill>
              </a:rPr>
              <a:t>    则存在 </a:t>
            </a:r>
            <a:r>
              <a:rPr lang="en-US" altLang="zh-CN" i="1" dirty="0">
                <a:solidFill>
                  <a:srgbClr val="0066FF"/>
                </a:solidFill>
              </a:rPr>
              <a:t>z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rgbClr val="0066FF"/>
                </a:solidFill>
              </a:rPr>
              <a:t>[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]∩[</a:t>
            </a:r>
            <a:r>
              <a:rPr lang="en-US" altLang="zh-CN" i="1" dirty="0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], </a:t>
            </a:r>
            <a:r>
              <a:rPr lang="zh-CN" altLang="en-US" dirty="0">
                <a:solidFill>
                  <a:srgbClr val="0066FF"/>
                </a:solidFill>
              </a:rPr>
              <a:t>从而有</a:t>
            </a:r>
            <a:r>
              <a:rPr lang="en-US" altLang="zh-CN" i="1" dirty="0">
                <a:solidFill>
                  <a:srgbClr val="0066FF"/>
                </a:solidFill>
              </a:rPr>
              <a:t>z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rgbClr val="0066FF"/>
                </a:solidFill>
              </a:rPr>
              <a:t>[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]∧</a:t>
            </a:r>
            <a:r>
              <a:rPr lang="en-US" altLang="zh-CN" i="1" dirty="0">
                <a:solidFill>
                  <a:srgbClr val="0066FF"/>
                </a:solidFill>
              </a:rPr>
              <a:t>z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rgbClr val="0066FF"/>
                </a:solidFill>
              </a:rPr>
              <a:t>[</a:t>
            </a:r>
            <a:r>
              <a:rPr lang="en-US" altLang="zh-CN" i="1" dirty="0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],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66FF"/>
                </a:solidFill>
              </a:rPr>
              <a:t>    即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z</a:t>
            </a:r>
            <a:r>
              <a:rPr lang="en-US" altLang="zh-CN" dirty="0">
                <a:solidFill>
                  <a:srgbClr val="0066FF"/>
                </a:solidFill>
              </a:rPr>
              <a:t>&gt;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∧&lt;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z</a:t>
            </a:r>
            <a:r>
              <a:rPr lang="en-US" altLang="zh-CN" dirty="0">
                <a:solidFill>
                  <a:srgbClr val="0066FF"/>
                </a:solidFill>
              </a:rPr>
              <a:t>&gt;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zh-CN" altLang="en-US" dirty="0">
                <a:solidFill>
                  <a:srgbClr val="0066FF"/>
                </a:solidFill>
              </a:rPr>
              <a:t>成立</a:t>
            </a:r>
            <a:r>
              <a:rPr lang="en-US" altLang="zh-CN" dirty="0">
                <a:solidFill>
                  <a:srgbClr val="0066FF"/>
                </a:solidFill>
              </a:rPr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66FF"/>
                </a:solidFill>
              </a:rPr>
              <a:t>    根据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zh-CN" altLang="en-US" dirty="0">
                <a:solidFill>
                  <a:srgbClr val="0066FF"/>
                </a:solidFill>
              </a:rPr>
              <a:t>的对称性和传递性，必有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&gt;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</a:rPr>
              <a:t>,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66FF"/>
                </a:solidFill>
              </a:rPr>
              <a:t>    与 </a:t>
            </a:r>
            <a:r>
              <a:rPr lang="en-US" altLang="zh-CN" i="1" dirty="0">
                <a:solidFill>
                  <a:srgbClr val="0066FF"/>
                </a:solidFill>
              </a:rPr>
              <a:t>           </a:t>
            </a:r>
            <a:r>
              <a:rPr lang="zh-CN" altLang="en-US" dirty="0">
                <a:solidFill>
                  <a:srgbClr val="0066FF"/>
                </a:solidFill>
              </a:rPr>
              <a:t>矛盾</a:t>
            </a:r>
            <a:endParaRPr lang="en-US" altLang="zh-CN" dirty="0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0" y="3829298"/>
            <a:ext cx="9144000" cy="3175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9"/>
          <p:cNvSpPr txBox="1">
            <a:spLocks noChangeArrowheads="1"/>
          </p:cNvSpPr>
          <p:nvPr/>
        </p:nvSpPr>
        <p:spPr bwMode="auto">
          <a:xfrm>
            <a:off x="395288" y="1196975"/>
            <a:ext cx="8065144" cy="2736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A50021"/>
                </a:solidFill>
              </a:rPr>
              <a:t>定理</a:t>
            </a:r>
            <a:r>
              <a:rPr lang="en-US" altLang="zh-CN" sz="2800" dirty="0">
                <a:solidFill>
                  <a:srgbClr val="A50021"/>
                </a:solidFill>
              </a:rPr>
              <a:t>7.14</a:t>
            </a:r>
            <a:r>
              <a:rPr lang="en-US" altLang="zh-CN" sz="2800" dirty="0"/>
              <a:t> </a:t>
            </a:r>
            <a:r>
              <a:rPr lang="zh-CN" altLang="en-US" sz="2800" dirty="0"/>
              <a:t>设</a:t>
            </a:r>
            <a:r>
              <a:rPr lang="en-US" altLang="zh-CN" sz="2800" i="1" dirty="0"/>
              <a:t>R</a:t>
            </a:r>
            <a:r>
              <a:rPr lang="zh-CN" altLang="en-US" sz="2800" dirty="0"/>
              <a:t>是非空集合</a:t>
            </a:r>
            <a:r>
              <a:rPr lang="en-US" altLang="zh-CN" sz="2800" i="1" dirty="0"/>
              <a:t>A</a:t>
            </a:r>
            <a:r>
              <a:rPr lang="zh-CN" altLang="en-US" sz="2800" dirty="0"/>
              <a:t>上的等价关系</a:t>
            </a:r>
            <a:r>
              <a:rPr lang="en-US" altLang="zh-CN" sz="2800" dirty="0"/>
              <a:t>, </a:t>
            </a:r>
            <a:r>
              <a:rPr lang="zh-CN" altLang="en-US" sz="2800" dirty="0"/>
              <a:t>则</a:t>
            </a:r>
          </a:p>
          <a:p>
            <a:pPr eaLnBrk="1" hangingPunct="1"/>
            <a:r>
              <a:rPr lang="en-US" altLang="zh-CN" sz="2800" dirty="0"/>
              <a:t>(1) 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x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i="1" dirty="0" err="1"/>
              <a:t>A</a:t>
            </a:r>
            <a:r>
              <a:rPr lang="en-US" altLang="zh-CN" sz="2800" dirty="0"/>
              <a:t>, [</a:t>
            </a:r>
            <a:r>
              <a:rPr lang="en-US" altLang="zh-CN" sz="2800" i="1" dirty="0"/>
              <a:t>x</a:t>
            </a:r>
            <a:r>
              <a:rPr lang="en-US" altLang="zh-CN" sz="2800" dirty="0"/>
              <a:t>]</a:t>
            </a:r>
            <a:r>
              <a:rPr lang="zh-CN" altLang="en-US" sz="2800" dirty="0"/>
              <a:t>是</a:t>
            </a:r>
            <a:r>
              <a:rPr lang="en-US" altLang="zh-CN" sz="2800" i="1" dirty="0"/>
              <a:t>A</a:t>
            </a:r>
            <a:r>
              <a:rPr lang="zh-CN" altLang="en-US" sz="2800" dirty="0"/>
              <a:t>的非空子集</a:t>
            </a:r>
          </a:p>
          <a:p>
            <a:pPr eaLnBrk="1" hangingPunct="1"/>
            <a:r>
              <a:rPr lang="en-US" altLang="zh-CN" sz="2800" dirty="0"/>
              <a:t>(2) 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x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y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i="1" dirty="0" err="1"/>
              <a:t>A</a:t>
            </a:r>
            <a:r>
              <a:rPr lang="en-US" altLang="zh-CN" sz="2800" dirty="0"/>
              <a:t>, </a:t>
            </a:r>
            <a:r>
              <a:rPr lang="zh-CN" altLang="en-US" sz="2800" dirty="0"/>
              <a:t>如果 </a:t>
            </a:r>
            <a:r>
              <a:rPr lang="en-US" altLang="zh-CN" sz="2800" i="1" dirty="0" err="1"/>
              <a:t>xRy</a:t>
            </a:r>
            <a:r>
              <a:rPr lang="en-US" altLang="zh-CN" sz="2800" i="1" dirty="0"/>
              <a:t> </a:t>
            </a:r>
            <a:r>
              <a:rPr lang="en-US" altLang="zh-CN" sz="2800" dirty="0"/>
              <a:t>, </a:t>
            </a:r>
            <a:r>
              <a:rPr lang="zh-CN" altLang="en-US" sz="2800" dirty="0"/>
              <a:t>则 </a:t>
            </a:r>
            <a:r>
              <a:rPr lang="en-US" altLang="zh-CN" sz="2800" dirty="0"/>
              <a:t>[</a:t>
            </a:r>
            <a:r>
              <a:rPr lang="en-US" altLang="zh-CN" sz="2800" i="1" dirty="0"/>
              <a:t>x</a:t>
            </a:r>
            <a:r>
              <a:rPr lang="en-US" altLang="zh-CN" sz="2800" dirty="0"/>
              <a:t>] = [</a:t>
            </a:r>
            <a:r>
              <a:rPr lang="en-US" altLang="zh-CN" sz="2800" i="1" dirty="0"/>
              <a:t>y</a:t>
            </a:r>
            <a:r>
              <a:rPr lang="en-US" altLang="zh-CN" sz="2800" dirty="0"/>
              <a:t>]</a:t>
            </a:r>
          </a:p>
          <a:p>
            <a:pPr eaLnBrk="1" hangingPunct="1"/>
            <a:r>
              <a:rPr lang="en-US" altLang="zh-CN" sz="2800" dirty="0">
                <a:solidFill>
                  <a:srgbClr val="0066FF"/>
                </a:solidFill>
              </a:rPr>
              <a:t>(3) </a:t>
            </a:r>
            <a:r>
              <a:rPr lang="en-US" altLang="zh-CN" sz="2800" dirty="0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800" i="1" dirty="0" err="1">
                <a:solidFill>
                  <a:srgbClr val="0066FF"/>
                </a:solidFill>
              </a:rPr>
              <a:t>x</a:t>
            </a:r>
            <a:r>
              <a:rPr lang="en-US" altLang="zh-CN" sz="2800" dirty="0" err="1">
                <a:solidFill>
                  <a:srgbClr val="0066FF"/>
                </a:solidFill>
              </a:rPr>
              <a:t>,</a:t>
            </a:r>
            <a:r>
              <a:rPr lang="en-US" altLang="zh-CN" sz="2800" i="1" dirty="0" err="1">
                <a:solidFill>
                  <a:srgbClr val="0066FF"/>
                </a:solidFill>
              </a:rPr>
              <a:t>y</a:t>
            </a:r>
            <a:r>
              <a:rPr lang="en-US" altLang="zh-CN" sz="2800" dirty="0" err="1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i="1" dirty="0" err="1">
                <a:solidFill>
                  <a:srgbClr val="0066FF"/>
                </a:solidFill>
              </a:rPr>
              <a:t>A</a:t>
            </a:r>
            <a:r>
              <a:rPr lang="en-US" altLang="zh-CN" sz="2800" dirty="0">
                <a:solidFill>
                  <a:srgbClr val="0066FF"/>
                </a:solidFill>
              </a:rPr>
              <a:t>, </a:t>
            </a:r>
            <a:r>
              <a:rPr lang="zh-CN" altLang="en-US" sz="2800" dirty="0">
                <a:solidFill>
                  <a:srgbClr val="0066FF"/>
                </a:solidFill>
              </a:rPr>
              <a:t>如果    </a:t>
            </a:r>
            <a:r>
              <a:rPr lang="en-US" altLang="zh-CN" sz="2800" i="1" dirty="0">
                <a:solidFill>
                  <a:srgbClr val="0066FF"/>
                </a:solidFill>
              </a:rPr>
              <a:t>  </a:t>
            </a:r>
            <a:r>
              <a:rPr lang="en-US" altLang="zh-CN" sz="2800" dirty="0">
                <a:solidFill>
                  <a:srgbClr val="0066FF"/>
                </a:solidFill>
              </a:rPr>
              <a:t>    , </a:t>
            </a:r>
            <a:r>
              <a:rPr lang="zh-CN" altLang="en-US" sz="2800" dirty="0">
                <a:solidFill>
                  <a:srgbClr val="0066FF"/>
                </a:solidFill>
              </a:rPr>
              <a:t>则 </a:t>
            </a:r>
            <a:r>
              <a:rPr lang="en-US" altLang="zh-CN" sz="2800" dirty="0">
                <a:solidFill>
                  <a:srgbClr val="0066FF"/>
                </a:solidFill>
              </a:rPr>
              <a:t>[</a:t>
            </a:r>
            <a:r>
              <a:rPr lang="en-US" altLang="zh-CN" sz="2800" i="1" dirty="0">
                <a:solidFill>
                  <a:srgbClr val="0066FF"/>
                </a:solidFill>
              </a:rPr>
              <a:t>x</a:t>
            </a:r>
            <a:r>
              <a:rPr lang="en-US" altLang="zh-CN" sz="2800" dirty="0">
                <a:solidFill>
                  <a:srgbClr val="0066FF"/>
                </a:solidFill>
              </a:rPr>
              <a:t>]</a:t>
            </a:r>
            <a:r>
              <a:rPr lang="zh-CN" altLang="en-US" sz="2800" dirty="0">
                <a:solidFill>
                  <a:srgbClr val="0066FF"/>
                </a:solidFill>
              </a:rPr>
              <a:t>与</a:t>
            </a:r>
            <a:r>
              <a:rPr lang="en-US" altLang="zh-CN" sz="2800" dirty="0">
                <a:solidFill>
                  <a:srgbClr val="0066FF"/>
                </a:solidFill>
              </a:rPr>
              <a:t>[</a:t>
            </a:r>
            <a:r>
              <a:rPr lang="en-US" altLang="zh-CN" sz="2800" i="1" dirty="0">
                <a:solidFill>
                  <a:srgbClr val="0066FF"/>
                </a:solidFill>
              </a:rPr>
              <a:t>y</a:t>
            </a:r>
            <a:r>
              <a:rPr lang="en-US" altLang="zh-CN" sz="2800" dirty="0">
                <a:solidFill>
                  <a:srgbClr val="0066FF"/>
                </a:solidFill>
              </a:rPr>
              <a:t>]</a:t>
            </a:r>
            <a:r>
              <a:rPr lang="zh-CN" altLang="en-US" sz="2800" dirty="0">
                <a:solidFill>
                  <a:srgbClr val="0066FF"/>
                </a:solidFill>
              </a:rPr>
              <a:t>不交</a:t>
            </a:r>
          </a:p>
          <a:p>
            <a:pPr eaLnBrk="1" hangingPunct="1"/>
            <a:r>
              <a:rPr lang="en-US" altLang="zh-CN" sz="2800" dirty="0"/>
              <a:t>(4) ∪{[</a:t>
            </a:r>
            <a:r>
              <a:rPr lang="en-US" altLang="zh-CN" sz="2800" i="1" dirty="0"/>
              <a:t>x</a:t>
            </a:r>
            <a:r>
              <a:rPr lang="en-US" altLang="zh-CN" sz="2800" dirty="0"/>
              <a:t>] | </a:t>
            </a:r>
            <a:r>
              <a:rPr lang="en-US" altLang="zh-CN" sz="2800" i="1" dirty="0" err="1"/>
              <a:t>x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i="1" dirty="0" err="1"/>
              <a:t>A</a:t>
            </a:r>
            <a:r>
              <a:rPr lang="en-US" altLang="zh-CN" sz="2800" dirty="0"/>
              <a:t>}=</a:t>
            </a:r>
            <a:r>
              <a:rPr lang="en-US" altLang="zh-CN" sz="2800" i="1" dirty="0"/>
              <a:t>A</a:t>
            </a:r>
            <a:endParaRPr lang="en-US" altLang="zh-CN" sz="2800" dirty="0"/>
          </a:p>
        </p:txBody>
      </p:sp>
      <p:grpSp>
        <p:nvGrpSpPr>
          <p:cNvPr id="3" name="Group 14"/>
          <p:cNvGrpSpPr/>
          <p:nvPr/>
        </p:nvGrpSpPr>
        <p:grpSpPr bwMode="auto">
          <a:xfrm>
            <a:off x="3177230" y="2708920"/>
            <a:ext cx="676274" cy="430213"/>
            <a:chOff x="2410" y="2251"/>
            <a:chExt cx="426" cy="271"/>
          </a:xfrm>
        </p:grpSpPr>
        <p:sp>
          <p:nvSpPr>
            <p:cNvPr id="4" name="Rectangle 7"/>
            <p:cNvSpPr>
              <a:spLocks noChangeArrowheads="1"/>
            </p:cNvSpPr>
            <p:nvPr/>
          </p:nvSpPr>
          <p:spPr bwMode="auto">
            <a:xfrm>
              <a:off x="2736" y="2251"/>
              <a:ext cx="10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i="1" dirty="0">
                  <a:solidFill>
                    <a:srgbClr val="0066FF"/>
                  </a:solidFill>
                  <a:ea typeface="楷体_GB2312" pitchFamily="49" charset="-122"/>
                </a:rPr>
                <a:t>y</a:t>
              </a:r>
              <a:endParaRPr kumimoji="1" lang="en-US" altLang="zh-CN" sz="2800" dirty="0">
                <a:solidFill>
                  <a:srgbClr val="0066FF"/>
                </a:solidFill>
                <a:ea typeface="楷体_GB2312" pitchFamily="49" charset="-122"/>
              </a:endParaRPr>
            </a:p>
          </p:txBody>
        </p:sp>
        <p:sp>
          <p:nvSpPr>
            <p:cNvPr id="5" name="Rectangle 8"/>
            <p:cNvSpPr>
              <a:spLocks noChangeArrowheads="1"/>
            </p:cNvSpPr>
            <p:nvPr/>
          </p:nvSpPr>
          <p:spPr bwMode="auto">
            <a:xfrm>
              <a:off x="2552" y="2251"/>
              <a:ext cx="13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b="0" i="1">
                  <a:solidFill>
                    <a:srgbClr val="0066FF"/>
                  </a:solidFill>
                  <a:ea typeface="楷体_GB2312" pitchFamily="49" charset="-122"/>
                </a:rPr>
                <a:t>R</a:t>
              </a:r>
              <a:endParaRPr kumimoji="1" lang="en-US" altLang="zh-CN" sz="2800">
                <a:solidFill>
                  <a:srgbClr val="0066FF"/>
                </a:solidFill>
                <a:ea typeface="楷体_GB2312" pitchFamily="49" charset="-122"/>
              </a:endParaRPr>
            </a:p>
          </p:txBody>
        </p:sp>
        <p:sp>
          <p:nvSpPr>
            <p:cNvPr id="6" name="Rectangle 9"/>
            <p:cNvSpPr>
              <a:spLocks noChangeArrowheads="1"/>
            </p:cNvSpPr>
            <p:nvPr/>
          </p:nvSpPr>
          <p:spPr bwMode="auto">
            <a:xfrm>
              <a:off x="2410" y="2251"/>
              <a:ext cx="11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i="1">
                  <a:solidFill>
                    <a:srgbClr val="0066FF"/>
                  </a:solidFill>
                  <a:ea typeface="楷体_GB2312" pitchFamily="49" charset="-122"/>
                </a:rPr>
                <a:t>x</a:t>
              </a:r>
              <a:endParaRPr kumimoji="1" lang="en-US" altLang="zh-CN" sz="2800">
                <a:solidFill>
                  <a:srgbClr val="0066FF"/>
                </a:solidFill>
                <a:ea typeface="楷体_GB2312" pitchFamily="49" charset="-122"/>
              </a:endParaRPr>
            </a:p>
          </p:txBody>
        </p:sp>
        <p:sp>
          <p:nvSpPr>
            <p:cNvPr id="7" name="Line 10"/>
            <p:cNvSpPr>
              <a:spLocks noChangeShapeType="1"/>
            </p:cNvSpPr>
            <p:nvPr/>
          </p:nvSpPr>
          <p:spPr bwMode="auto">
            <a:xfrm rot="-705629">
              <a:off x="2558" y="2323"/>
              <a:ext cx="148" cy="1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66FF"/>
                </a:solidFill>
              </a:endParaRPr>
            </a:p>
          </p:txBody>
        </p:sp>
      </p:grpSp>
      <p:grpSp>
        <p:nvGrpSpPr>
          <p:cNvPr id="8" name="Group 14"/>
          <p:cNvGrpSpPr/>
          <p:nvPr/>
        </p:nvGrpSpPr>
        <p:grpSpPr bwMode="auto">
          <a:xfrm>
            <a:off x="1231430" y="6030118"/>
            <a:ext cx="676274" cy="430213"/>
            <a:chOff x="2410" y="2251"/>
            <a:chExt cx="426" cy="271"/>
          </a:xfrm>
        </p:grpSpPr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2736" y="2251"/>
              <a:ext cx="10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i="1" dirty="0">
                  <a:solidFill>
                    <a:srgbClr val="0066FF"/>
                  </a:solidFill>
                  <a:ea typeface="楷体_GB2312" pitchFamily="49" charset="-122"/>
                </a:rPr>
                <a:t>y</a:t>
              </a:r>
              <a:endParaRPr kumimoji="1" lang="en-US" altLang="zh-CN" sz="2800" dirty="0">
                <a:solidFill>
                  <a:srgbClr val="0066FF"/>
                </a:solidFill>
                <a:ea typeface="楷体_GB2312" pitchFamily="49" charset="-122"/>
              </a:endParaRP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2552" y="2251"/>
              <a:ext cx="13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b="0" i="1">
                  <a:solidFill>
                    <a:srgbClr val="0066FF"/>
                  </a:solidFill>
                  <a:ea typeface="楷体_GB2312" pitchFamily="49" charset="-122"/>
                </a:rPr>
                <a:t>R</a:t>
              </a:r>
              <a:endParaRPr kumimoji="1" lang="en-US" altLang="zh-CN" sz="2800">
                <a:solidFill>
                  <a:srgbClr val="0066FF"/>
                </a:solidFill>
                <a:ea typeface="楷体_GB2312" pitchFamily="49" charset="-122"/>
              </a:endParaRP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2410" y="2251"/>
              <a:ext cx="11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i="1">
                  <a:solidFill>
                    <a:srgbClr val="0066FF"/>
                  </a:solidFill>
                  <a:ea typeface="楷体_GB2312" pitchFamily="49" charset="-122"/>
                </a:rPr>
                <a:t>x</a:t>
              </a:r>
              <a:endParaRPr kumimoji="1" lang="en-US" altLang="zh-CN" sz="2800">
                <a:solidFill>
                  <a:srgbClr val="0066FF"/>
                </a:solidFill>
                <a:ea typeface="楷体_GB2312" pitchFamily="49" charset="-122"/>
              </a:endParaRP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rot="-705629">
              <a:off x="2558" y="2323"/>
              <a:ext cx="148" cy="1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66FF"/>
                </a:solidFill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20485" name="Rectangle 11"/>
          <p:cNvSpPr>
            <a:spLocks noChangeArrowheads="1"/>
          </p:cNvSpPr>
          <p:nvPr/>
        </p:nvSpPr>
        <p:spPr bwMode="auto">
          <a:xfrm>
            <a:off x="439331" y="3861048"/>
            <a:ext cx="3816350" cy="338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5000"/>
              </a:spcBef>
            </a:pPr>
            <a:r>
              <a:rPr lang="en-US" altLang="zh-CN" dirty="0"/>
              <a:t>(4)</a:t>
            </a:r>
            <a:r>
              <a:rPr lang="zh-CN" altLang="en-US" dirty="0">
                <a:solidFill>
                  <a:srgbClr val="C00000"/>
                </a:solidFill>
              </a:rPr>
              <a:t>证明：</a:t>
            </a:r>
            <a:endParaRPr lang="en-US" altLang="zh-CN" dirty="0">
              <a:solidFill>
                <a:srgbClr val="C00000"/>
              </a:solidFill>
            </a:endParaRPr>
          </a:p>
          <a:p>
            <a:pPr eaLnBrk="1" hangingPunct="1">
              <a:lnSpc>
                <a:spcPts val="1400"/>
              </a:lnSpc>
              <a:spcBef>
                <a:spcPct val="55000"/>
              </a:spcBef>
            </a:pPr>
            <a:r>
              <a:rPr lang="zh-CN" altLang="en-US" dirty="0">
                <a:solidFill>
                  <a:srgbClr val="7030A0"/>
                </a:solidFill>
              </a:rPr>
              <a:t>先证∪</a:t>
            </a:r>
            <a:r>
              <a:rPr lang="en-US" altLang="zh-CN" dirty="0">
                <a:solidFill>
                  <a:srgbClr val="7030A0"/>
                </a:solidFill>
              </a:rPr>
              <a:t>{[</a:t>
            </a:r>
            <a:r>
              <a:rPr lang="en-US" altLang="zh-CN" i="1" dirty="0">
                <a:solidFill>
                  <a:srgbClr val="7030A0"/>
                </a:solidFill>
              </a:rPr>
              <a:t>x</a:t>
            </a:r>
            <a:r>
              <a:rPr lang="en-US" altLang="zh-CN" dirty="0">
                <a:solidFill>
                  <a:srgbClr val="7030A0"/>
                </a:solidFill>
              </a:rPr>
              <a:t>] | </a:t>
            </a:r>
            <a:r>
              <a:rPr lang="en-US" altLang="zh-CN" i="1" dirty="0" err="1">
                <a:solidFill>
                  <a:srgbClr val="7030A0"/>
                </a:solidFill>
              </a:rPr>
              <a:t>x</a:t>
            </a:r>
            <a:r>
              <a:rPr lang="en-US" altLang="zh-CN" dirty="0" err="1">
                <a:solidFill>
                  <a:srgbClr val="7030A0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rgbClr val="7030A0"/>
                </a:solidFill>
              </a:rPr>
              <a:t>A</a:t>
            </a:r>
            <a:r>
              <a:rPr lang="en-US" altLang="zh-CN" dirty="0">
                <a:solidFill>
                  <a:srgbClr val="7030A0"/>
                </a:solidFill>
              </a:rPr>
              <a:t>} </a:t>
            </a:r>
            <a:r>
              <a:rPr lang="en-US" altLang="zh-CN" dirty="0">
                <a:solidFill>
                  <a:srgbClr val="7030A0"/>
                </a:solidFill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rgbClr val="7030A0"/>
                </a:solidFill>
              </a:rPr>
              <a:t> </a:t>
            </a:r>
            <a:r>
              <a:rPr lang="en-US" altLang="zh-CN" i="1" dirty="0">
                <a:solidFill>
                  <a:srgbClr val="7030A0"/>
                </a:solidFill>
              </a:rPr>
              <a:t>A.  </a:t>
            </a:r>
          </a:p>
          <a:p>
            <a:pPr eaLnBrk="1" hangingPunct="1">
              <a:lnSpc>
                <a:spcPts val="1400"/>
              </a:lnSpc>
              <a:spcBef>
                <a:spcPct val="55000"/>
              </a:spcBef>
            </a:pPr>
            <a:r>
              <a:rPr lang="zh-CN" altLang="en-US" dirty="0">
                <a:solidFill>
                  <a:srgbClr val="0066FF"/>
                </a:solidFill>
              </a:rPr>
              <a:t>任取</a:t>
            </a:r>
            <a:r>
              <a:rPr lang="en-US" altLang="zh-CN" i="1" dirty="0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</a:rPr>
              <a:t>,  </a:t>
            </a:r>
            <a:r>
              <a:rPr lang="en-US" altLang="zh-CN" i="1" dirty="0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rgbClr val="0066FF"/>
                </a:solidFill>
              </a:rPr>
              <a:t>∪{[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] | 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>
                <a:solidFill>
                  <a:srgbClr val="0066FF"/>
                </a:solidFill>
              </a:rPr>
              <a:t>}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       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 err="1">
                <a:solidFill>
                  <a:srgbClr val="0066FF"/>
                </a:solidFill>
              </a:rPr>
              <a:t>∧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rgbClr val="0066FF"/>
                </a:solidFill>
              </a:rPr>
              <a:t>[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]) </a:t>
            </a:r>
            <a:endParaRPr lang="en-US" altLang="zh-CN" dirty="0">
              <a:solidFill>
                <a:srgbClr val="0066FF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       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rgbClr val="0066FF"/>
                </a:solidFill>
              </a:rPr>
              <a:t>[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]∧[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]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i="1" dirty="0">
                <a:solidFill>
                  <a:srgbClr val="0066FF"/>
                </a:solidFill>
              </a:rPr>
              <a:t>       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 err="1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i="1" dirty="0">
                <a:solidFill>
                  <a:srgbClr val="0066FF"/>
                </a:solidFill>
              </a:rPr>
              <a:t> </a:t>
            </a:r>
            <a:endParaRPr lang="en-US" altLang="zh-CN" dirty="0">
              <a:solidFill>
                <a:srgbClr val="0066FF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66FF"/>
                </a:solidFill>
              </a:rPr>
              <a:t>从而有∪</a:t>
            </a:r>
            <a:r>
              <a:rPr lang="en-US" altLang="zh-CN" dirty="0">
                <a:solidFill>
                  <a:srgbClr val="0066FF"/>
                </a:solidFill>
              </a:rPr>
              <a:t>{[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] | 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>
                <a:solidFill>
                  <a:srgbClr val="0066FF"/>
                </a:solidFill>
              </a:rPr>
              <a:t>}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</a:pPr>
            <a:br>
              <a:rPr lang="en-US" altLang="zh-CN" dirty="0">
                <a:solidFill>
                  <a:srgbClr val="0066FF"/>
                </a:solidFill>
              </a:rPr>
            </a:br>
            <a:br>
              <a:rPr lang="en-US" altLang="zh-CN" dirty="0"/>
            </a:br>
            <a:endParaRPr lang="en-US" altLang="zh-CN" dirty="0"/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4778375" y="3454400"/>
            <a:ext cx="4321175" cy="338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5000"/>
              </a:spcBef>
            </a:pPr>
            <a:endParaRPr lang="en-US" altLang="zh-CN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rgbClr val="7030A0"/>
                </a:solidFill>
              </a:rPr>
              <a:t>再证</a:t>
            </a:r>
            <a:r>
              <a:rPr lang="en-US" altLang="zh-CN" i="1">
                <a:solidFill>
                  <a:srgbClr val="7030A0"/>
                </a:solidFill>
              </a:rPr>
              <a:t>A </a:t>
            </a:r>
            <a:r>
              <a:rPr lang="en-US" altLang="zh-CN">
                <a:solidFill>
                  <a:srgbClr val="7030A0"/>
                </a:solidFill>
                <a:sym typeface="Symbol" panose="05050102010706020507" pitchFamily="18" charset="2"/>
              </a:rPr>
              <a:t></a:t>
            </a:r>
            <a:r>
              <a:rPr lang="en-US" altLang="zh-CN">
                <a:solidFill>
                  <a:srgbClr val="7030A0"/>
                </a:solidFill>
              </a:rPr>
              <a:t> ∪{[</a:t>
            </a:r>
            <a:r>
              <a:rPr lang="en-US" altLang="zh-CN" i="1">
                <a:solidFill>
                  <a:srgbClr val="7030A0"/>
                </a:solidFill>
              </a:rPr>
              <a:t>x</a:t>
            </a:r>
            <a:r>
              <a:rPr lang="en-US" altLang="zh-CN">
                <a:solidFill>
                  <a:srgbClr val="7030A0"/>
                </a:solidFill>
              </a:rPr>
              <a:t>] | </a:t>
            </a:r>
            <a:r>
              <a:rPr lang="en-US" altLang="zh-CN" i="1">
                <a:solidFill>
                  <a:srgbClr val="7030A0"/>
                </a:solidFill>
              </a:rPr>
              <a:t>x</a:t>
            </a:r>
            <a:r>
              <a:rPr lang="en-US" altLang="zh-CN">
                <a:solidFill>
                  <a:srgbClr val="7030A0"/>
                </a:solidFill>
              </a:rPr>
              <a:t>∈</a:t>
            </a:r>
            <a:r>
              <a:rPr lang="en-US" altLang="zh-CN" i="1">
                <a:solidFill>
                  <a:srgbClr val="7030A0"/>
                </a:solidFill>
              </a:rPr>
              <a:t>A</a:t>
            </a:r>
            <a:r>
              <a:rPr lang="en-US" altLang="zh-CN">
                <a:solidFill>
                  <a:srgbClr val="7030A0"/>
                </a:solidFill>
              </a:rPr>
              <a:t>}. 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rgbClr val="0066FF"/>
                </a:solidFill>
              </a:rPr>
              <a:t>任取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,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solidFill>
                  <a:srgbClr val="0066FF"/>
                </a:solidFill>
              </a:rPr>
              <a:t>        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>
                <a:solidFill>
                  <a:srgbClr val="0066FF"/>
                </a:solidFill>
              </a:rPr>
              <a:t>A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        </a:t>
            </a:r>
            <a:r>
              <a:rPr lang="en-US" altLang="zh-CN">
                <a:solidFill>
                  <a:srgbClr val="0066FF"/>
                </a:solidFill>
              </a:rPr>
              <a:t> 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>
                <a:solidFill>
                  <a:srgbClr val="0066FF"/>
                </a:solidFill>
              </a:rPr>
              <a:t>[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]∧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>
                <a:solidFill>
                  <a:srgbClr val="0066FF"/>
                </a:solidFill>
              </a:rPr>
              <a:t>A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i="1">
                <a:solidFill>
                  <a:srgbClr val="0066FF"/>
                </a:solidFill>
                <a:sym typeface="Symbol" panose="05050102010706020507" pitchFamily="18" charset="2"/>
              </a:rPr>
              <a:t>        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>
                <a:solidFill>
                  <a:srgbClr val="0066FF"/>
                </a:solidFill>
              </a:rPr>
              <a:t> 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∈∪{[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] | 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}  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rgbClr val="0066FF"/>
                </a:solidFill>
              </a:rPr>
              <a:t>从而有∪</a:t>
            </a:r>
            <a:r>
              <a:rPr lang="en-US" altLang="zh-CN">
                <a:solidFill>
                  <a:srgbClr val="0066FF"/>
                </a:solidFill>
              </a:rPr>
              <a:t>{[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] | 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} 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</a:t>
            </a:r>
            <a:r>
              <a:rPr lang="en-US" altLang="zh-CN">
                <a:solidFill>
                  <a:srgbClr val="0066FF"/>
                </a:solidFill>
              </a:rPr>
              <a:t> 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zh-CN" altLang="en-US">
                <a:solidFill>
                  <a:srgbClr val="0066FF"/>
                </a:solidFill>
              </a:rPr>
              <a:t>成立</a:t>
            </a:r>
            <a:r>
              <a:rPr lang="en-US" altLang="zh-CN">
                <a:solidFill>
                  <a:srgbClr val="0066FF"/>
                </a:solidFill>
              </a:rPr>
              <a:t>.</a:t>
            </a:r>
            <a:endParaRPr lang="en-US" altLang="zh-CN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综上所述得∪</a:t>
            </a:r>
            <a:r>
              <a:rPr lang="en-US" altLang="zh-CN"/>
              <a:t>{[</a:t>
            </a:r>
            <a:r>
              <a:rPr lang="en-US" altLang="zh-CN" i="1"/>
              <a:t>x</a:t>
            </a:r>
            <a:r>
              <a:rPr lang="en-US" altLang="zh-CN"/>
              <a:t>] |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A</a:t>
            </a:r>
            <a:r>
              <a:rPr lang="en-US" altLang="zh-CN"/>
              <a:t>} = </a:t>
            </a:r>
            <a:r>
              <a:rPr lang="en-US" altLang="zh-CN" i="1"/>
              <a:t>A</a:t>
            </a:r>
            <a:r>
              <a:rPr lang="en-US" altLang="zh-CN"/>
              <a:t>. </a:t>
            </a:r>
            <a:br>
              <a:rPr lang="en-US" altLang="zh-CN"/>
            </a:br>
            <a:br>
              <a:rPr lang="en-US" altLang="zh-CN"/>
            </a:br>
            <a:endParaRPr lang="en-US" altLang="zh-CN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0" y="3757290"/>
            <a:ext cx="9144000" cy="3175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356100" y="3881388"/>
            <a:ext cx="0" cy="3148012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9"/>
          <p:cNvSpPr txBox="1">
            <a:spLocks noChangeArrowheads="1"/>
          </p:cNvSpPr>
          <p:nvPr/>
        </p:nvSpPr>
        <p:spPr bwMode="auto">
          <a:xfrm>
            <a:off x="395288" y="1196975"/>
            <a:ext cx="8137150" cy="2736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A50021"/>
                </a:solidFill>
              </a:rPr>
              <a:t>定理</a:t>
            </a:r>
            <a:r>
              <a:rPr lang="en-US" altLang="zh-CN" sz="2800" dirty="0">
                <a:solidFill>
                  <a:srgbClr val="A50021"/>
                </a:solidFill>
              </a:rPr>
              <a:t>7.14</a:t>
            </a:r>
            <a:r>
              <a:rPr lang="en-US" altLang="zh-CN" sz="2800" dirty="0"/>
              <a:t> </a:t>
            </a:r>
            <a:r>
              <a:rPr lang="zh-CN" altLang="en-US" sz="2800" dirty="0"/>
              <a:t>设</a:t>
            </a:r>
            <a:r>
              <a:rPr lang="en-US" altLang="zh-CN" sz="2800" i="1" dirty="0"/>
              <a:t>R</a:t>
            </a:r>
            <a:r>
              <a:rPr lang="zh-CN" altLang="en-US" sz="2800" dirty="0"/>
              <a:t>是非空集合</a:t>
            </a:r>
            <a:r>
              <a:rPr lang="en-US" altLang="zh-CN" sz="2800" i="1" dirty="0"/>
              <a:t>A</a:t>
            </a:r>
            <a:r>
              <a:rPr lang="zh-CN" altLang="en-US" sz="2800" dirty="0"/>
              <a:t>上的等价关系</a:t>
            </a:r>
            <a:r>
              <a:rPr lang="en-US" altLang="zh-CN" sz="2800" dirty="0"/>
              <a:t>, </a:t>
            </a:r>
            <a:r>
              <a:rPr lang="zh-CN" altLang="en-US" sz="2800" dirty="0"/>
              <a:t>则</a:t>
            </a:r>
          </a:p>
          <a:p>
            <a:pPr eaLnBrk="1" hangingPunct="1"/>
            <a:r>
              <a:rPr lang="en-US" altLang="zh-CN" sz="2800" dirty="0"/>
              <a:t>(1) 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x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i="1" dirty="0" err="1"/>
              <a:t>A</a:t>
            </a:r>
            <a:r>
              <a:rPr lang="en-US" altLang="zh-CN" sz="2800" dirty="0"/>
              <a:t>, [</a:t>
            </a:r>
            <a:r>
              <a:rPr lang="en-US" altLang="zh-CN" sz="2800" i="1" dirty="0"/>
              <a:t>x</a:t>
            </a:r>
            <a:r>
              <a:rPr lang="en-US" altLang="zh-CN" sz="2800" dirty="0"/>
              <a:t>]</a:t>
            </a:r>
            <a:r>
              <a:rPr lang="zh-CN" altLang="en-US" sz="2800" dirty="0"/>
              <a:t>是</a:t>
            </a:r>
            <a:r>
              <a:rPr lang="en-US" altLang="zh-CN" sz="2800" i="1" dirty="0"/>
              <a:t>A</a:t>
            </a:r>
            <a:r>
              <a:rPr lang="zh-CN" altLang="en-US" sz="2800" dirty="0"/>
              <a:t>的非空子集</a:t>
            </a:r>
          </a:p>
          <a:p>
            <a:pPr eaLnBrk="1" hangingPunct="1"/>
            <a:r>
              <a:rPr lang="en-US" altLang="zh-CN" sz="2800" dirty="0"/>
              <a:t>(2) 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x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y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i="1" dirty="0" err="1"/>
              <a:t>A</a:t>
            </a:r>
            <a:r>
              <a:rPr lang="en-US" altLang="zh-CN" sz="2800" dirty="0"/>
              <a:t>, </a:t>
            </a:r>
            <a:r>
              <a:rPr lang="zh-CN" altLang="en-US" sz="2800" dirty="0"/>
              <a:t>如果 </a:t>
            </a:r>
            <a:r>
              <a:rPr lang="en-US" altLang="zh-CN" sz="2800" i="1" dirty="0" err="1"/>
              <a:t>xRy</a:t>
            </a:r>
            <a:r>
              <a:rPr lang="en-US" altLang="zh-CN" sz="2800" i="1" dirty="0"/>
              <a:t> </a:t>
            </a:r>
            <a:r>
              <a:rPr lang="en-US" altLang="zh-CN" sz="2800" dirty="0"/>
              <a:t>, </a:t>
            </a:r>
            <a:r>
              <a:rPr lang="zh-CN" altLang="en-US" sz="2800" dirty="0"/>
              <a:t>则 </a:t>
            </a:r>
            <a:r>
              <a:rPr lang="en-US" altLang="zh-CN" sz="2800" dirty="0"/>
              <a:t>[</a:t>
            </a:r>
            <a:r>
              <a:rPr lang="en-US" altLang="zh-CN" sz="2800" i="1" dirty="0"/>
              <a:t>x</a:t>
            </a:r>
            <a:r>
              <a:rPr lang="en-US" altLang="zh-CN" sz="2800" dirty="0"/>
              <a:t>] = [</a:t>
            </a:r>
            <a:r>
              <a:rPr lang="en-US" altLang="zh-CN" sz="2800" i="1" dirty="0"/>
              <a:t>y</a:t>
            </a:r>
            <a:r>
              <a:rPr lang="en-US" altLang="zh-CN" sz="2800" dirty="0"/>
              <a:t>]</a:t>
            </a:r>
          </a:p>
          <a:p>
            <a:pPr eaLnBrk="1" hangingPunct="1"/>
            <a:r>
              <a:rPr lang="en-US" altLang="zh-CN" sz="2800" dirty="0"/>
              <a:t>(3) 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x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y</a:t>
            </a:r>
            <a:r>
              <a:rPr lang="en-US" altLang="zh-CN" sz="2800" dirty="0" err="1">
                <a:sym typeface="Symbol" panose="05050102010706020507" pitchFamily="18" charset="2"/>
              </a:rPr>
              <a:t></a:t>
            </a:r>
            <a:r>
              <a:rPr lang="en-US" altLang="zh-CN" sz="2800" i="1" dirty="0" err="1"/>
              <a:t>A</a:t>
            </a:r>
            <a:r>
              <a:rPr lang="en-US" altLang="zh-CN" sz="2800" dirty="0"/>
              <a:t>, </a:t>
            </a:r>
            <a:r>
              <a:rPr lang="zh-CN" altLang="en-US" sz="2800" dirty="0"/>
              <a:t>如果    </a:t>
            </a:r>
            <a:r>
              <a:rPr lang="en-US" altLang="zh-CN" sz="2800" i="1" dirty="0"/>
              <a:t>  </a:t>
            </a:r>
            <a:r>
              <a:rPr lang="en-US" altLang="zh-CN" sz="2800" dirty="0"/>
              <a:t>    , </a:t>
            </a:r>
            <a:r>
              <a:rPr lang="zh-CN" altLang="en-US" sz="2800" dirty="0"/>
              <a:t>则 </a:t>
            </a:r>
            <a:r>
              <a:rPr lang="en-US" altLang="zh-CN" sz="2800" dirty="0"/>
              <a:t>[</a:t>
            </a:r>
            <a:r>
              <a:rPr lang="en-US" altLang="zh-CN" sz="2800" i="1" dirty="0"/>
              <a:t>x</a:t>
            </a:r>
            <a:r>
              <a:rPr lang="en-US" altLang="zh-CN" sz="2800" dirty="0"/>
              <a:t>]</a:t>
            </a:r>
            <a:r>
              <a:rPr lang="zh-CN" altLang="en-US" sz="2800" dirty="0"/>
              <a:t>与</a:t>
            </a:r>
            <a:r>
              <a:rPr lang="en-US" altLang="zh-CN" sz="2800" dirty="0"/>
              <a:t>[</a:t>
            </a:r>
            <a:r>
              <a:rPr lang="en-US" altLang="zh-CN" sz="2800" i="1" dirty="0"/>
              <a:t>y</a:t>
            </a:r>
            <a:r>
              <a:rPr lang="en-US" altLang="zh-CN" sz="2800" dirty="0"/>
              <a:t>]</a:t>
            </a:r>
            <a:r>
              <a:rPr lang="zh-CN" altLang="en-US" sz="2800" dirty="0"/>
              <a:t>不交</a:t>
            </a:r>
          </a:p>
          <a:p>
            <a:pPr eaLnBrk="1" hangingPunct="1"/>
            <a:r>
              <a:rPr lang="en-US" altLang="zh-CN" sz="2800" dirty="0"/>
              <a:t>(4) </a:t>
            </a:r>
            <a:r>
              <a:rPr lang="en-US" altLang="zh-CN" sz="2800" dirty="0">
                <a:solidFill>
                  <a:srgbClr val="0066FF"/>
                </a:solidFill>
              </a:rPr>
              <a:t>∪{[</a:t>
            </a:r>
            <a:r>
              <a:rPr lang="en-US" altLang="zh-CN" sz="2800" i="1" dirty="0">
                <a:solidFill>
                  <a:srgbClr val="0066FF"/>
                </a:solidFill>
              </a:rPr>
              <a:t>x</a:t>
            </a:r>
            <a:r>
              <a:rPr lang="en-US" altLang="zh-CN" sz="2800" dirty="0">
                <a:solidFill>
                  <a:srgbClr val="0066FF"/>
                </a:solidFill>
              </a:rPr>
              <a:t>] | </a:t>
            </a:r>
            <a:r>
              <a:rPr lang="en-US" altLang="zh-CN" sz="2800" i="1" dirty="0" err="1">
                <a:solidFill>
                  <a:srgbClr val="0066FF"/>
                </a:solidFill>
              </a:rPr>
              <a:t>x</a:t>
            </a:r>
            <a:r>
              <a:rPr lang="en-US" altLang="zh-CN" sz="2800" dirty="0" err="1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i="1" dirty="0" err="1">
                <a:solidFill>
                  <a:srgbClr val="0066FF"/>
                </a:solidFill>
              </a:rPr>
              <a:t>A</a:t>
            </a:r>
            <a:r>
              <a:rPr lang="en-US" altLang="zh-CN" sz="2800" dirty="0">
                <a:solidFill>
                  <a:srgbClr val="0066FF"/>
                </a:solidFill>
              </a:rPr>
              <a:t>}=</a:t>
            </a:r>
            <a:r>
              <a:rPr lang="en-US" altLang="zh-CN" sz="2800" i="1" dirty="0">
                <a:solidFill>
                  <a:srgbClr val="0066FF"/>
                </a:solidFill>
              </a:rPr>
              <a:t>A</a:t>
            </a:r>
            <a:endParaRPr lang="en-US" altLang="zh-CN" sz="2800" dirty="0">
              <a:solidFill>
                <a:srgbClr val="0066FF"/>
              </a:solidFill>
            </a:endParaRPr>
          </a:p>
        </p:txBody>
      </p:sp>
      <p:grpSp>
        <p:nvGrpSpPr>
          <p:cNvPr id="11" name="Group 14"/>
          <p:cNvGrpSpPr/>
          <p:nvPr/>
        </p:nvGrpSpPr>
        <p:grpSpPr bwMode="auto">
          <a:xfrm>
            <a:off x="3177233" y="2708920"/>
            <a:ext cx="674687" cy="430213"/>
            <a:chOff x="2410" y="2251"/>
            <a:chExt cx="425" cy="271"/>
          </a:xfrm>
        </p:grpSpPr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2736" y="2251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i="1" dirty="0">
                  <a:solidFill>
                    <a:srgbClr val="000000"/>
                  </a:solidFill>
                  <a:ea typeface="楷体_GB2312" pitchFamily="49" charset="-122"/>
                </a:rPr>
                <a:t>y</a:t>
              </a:r>
              <a:endParaRPr kumimoji="1" lang="en-US" altLang="zh-CN" sz="2800" dirty="0">
                <a:solidFill>
                  <a:srgbClr val="080808"/>
                </a:solidFill>
                <a:ea typeface="楷体_GB2312" pitchFamily="49" charset="-122"/>
              </a:endParaRPr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2552" y="2251"/>
              <a:ext cx="13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b="0" i="1">
                  <a:solidFill>
                    <a:srgbClr val="000000"/>
                  </a:solidFill>
                  <a:ea typeface="楷体_GB2312" pitchFamily="49" charset="-122"/>
                </a:rPr>
                <a:t>R</a:t>
              </a:r>
              <a:endParaRPr kumimoji="1" lang="en-US" altLang="zh-CN" sz="2800">
                <a:solidFill>
                  <a:srgbClr val="080808"/>
                </a:solidFill>
                <a:ea typeface="楷体_GB2312" pitchFamily="49" charset="-122"/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2410" y="2251"/>
              <a:ext cx="11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accent2"/>
                </a:buClr>
                <a:buFont typeface="Monotype Sorts"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ea typeface="楷体_GB2312" pitchFamily="49" charset="-122"/>
                </a:rPr>
                <a:t>x</a:t>
              </a:r>
              <a:endParaRPr kumimoji="1" lang="en-US" altLang="zh-CN" sz="2800">
                <a:solidFill>
                  <a:srgbClr val="080808"/>
                </a:solidFill>
                <a:ea typeface="楷体_GB2312" pitchFamily="49" charset="-122"/>
              </a:endParaRPr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 rot="-705629">
              <a:off x="2558" y="2323"/>
              <a:ext cx="148" cy="1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18D15FE-02D9-40EA-A496-B3A791563EC2}" type="slidenum">
              <a:rPr lang="en-US" altLang="zh-CN" sz="1400" b="0" smtClean="0">
                <a:latin typeface="Arial" panose="020B0604020202020204" pitchFamily="34" charset="0"/>
              </a:rPr>
              <a:t>123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662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商集与划分</a:t>
            </a:r>
          </a:p>
        </p:txBody>
      </p:sp>
      <p:sp>
        <p:nvSpPr>
          <p:cNvPr id="2253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353425" cy="4391025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7.17</a:t>
            </a:r>
            <a:r>
              <a:rPr lang="en-US" altLang="zh-CN" dirty="0"/>
              <a:t>  </a:t>
            </a:r>
            <a:r>
              <a:rPr lang="zh-CN" altLang="en-US" dirty="0"/>
              <a:t>设 </a:t>
            </a:r>
            <a:r>
              <a:rPr lang="en-US" altLang="zh-CN" i="1" dirty="0"/>
              <a:t>R </a:t>
            </a:r>
            <a:r>
              <a:rPr lang="zh-CN" altLang="en-US" dirty="0"/>
              <a:t>为非空集合</a:t>
            </a:r>
            <a:r>
              <a:rPr lang="en-US" altLang="zh-CN" i="1" dirty="0"/>
              <a:t>A</a:t>
            </a:r>
            <a:r>
              <a:rPr lang="zh-CN" altLang="en-US" dirty="0"/>
              <a:t>上的等价关系</a:t>
            </a:r>
            <a:r>
              <a:rPr lang="en-US" altLang="zh-CN" dirty="0"/>
              <a:t>, </a:t>
            </a:r>
            <a:r>
              <a:rPr lang="zh-CN" altLang="en-US" dirty="0"/>
              <a:t>以 </a:t>
            </a:r>
            <a:r>
              <a:rPr lang="en-US" altLang="zh-CN" i="1" dirty="0"/>
              <a:t>R </a:t>
            </a:r>
            <a:r>
              <a:rPr lang="zh-CN" altLang="en-US" dirty="0"/>
              <a:t>的所有等价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zh-CN" altLang="en-US" dirty="0"/>
              <a:t>类作为元素的集合称为</a:t>
            </a:r>
            <a:r>
              <a:rPr lang="en-US" altLang="zh-CN" i="1" dirty="0"/>
              <a:t>A</a:t>
            </a:r>
            <a:r>
              <a:rPr lang="zh-CN" altLang="en-US" dirty="0"/>
              <a:t>关于</a:t>
            </a:r>
            <a:r>
              <a:rPr lang="en-US" altLang="zh-CN" i="1" dirty="0"/>
              <a:t>R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商集</a:t>
            </a:r>
            <a:r>
              <a:rPr lang="en-US" altLang="zh-CN" dirty="0"/>
              <a:t>, </a:t>
            </a:r>
            <a:r>
              <a:rPr lang="zh-CN" altLang="en-US" dirty="0"/>
              <a:t>记做</a:t>
            </a:r>
            <a:r>
              <a:rPr lang="en-US" altLang="zh-CN" i="1" dirty="0"/>
              <a:t>A</a:t>
            </a:r>
            <a:r>
              <a:rPr lang="en-US" altLang="zh-CN" dirty="0"/>
              <a:t>/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br>
              <a:rPr lang="en-US" altLang="zh-CN" dirty="0"/>
            </a:br>
            <a:r>
              <a:rPr lang="en-US" altLang="zh-CN" dirty="0"/>
              <a:t>                    </a:t>
            </a:r>
            <a:r>
              <a:rPr lang="en-US" altLang="zh-CN" i="1" dirty="0"/>
              <a:t>A</a:t>
            </a:r>
            <a:r>
              <a:rPr lang="en-US" altLang="zh-CN" dirty="0"/>
              <a:t>/</a:t>
            </a:r>
            <a:r>
              <a:rPr lang="en-US" altLang="zh-CN" i="1" dirty="0"/>
              <a:t>R </a:t>
            </a:r>
            <a:r>
              <a:rPr lang="en-US" altLang="zh-CN" dirty="0"/>
              <a:t>= {[</a:t>
            </a:r>
            <a:r>
              <a:rPr lang="en-US" altLang="zh-CN" i="1" dirty="0"/>
              <a:t>x</a:t>
            </a:r>
            <a:r>
              <a:rPr lang="en-US" altLang="zh-CN" dirty="0"/>
              <a:t>]</a:t>
            </a:r>
            <a:r>
              <a:rPr lang="en-US" altLang="zh-CN" i="1" baseline="-25000" dirty="0"/>
              <a:t>R</a:t>
            </a:r>
            <a:r>
              <a:rPr lang="en-US" altLang="zh-CN" i="1" dirty="0"/>
              <a:t> </a:t>
            </a:r>
            <a:r>
              <a:rPr lang="en-US" altLang="zh-CN" dirty="0"/>
              <a:t>| 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}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55000"/>
              </a:spcBef>
            </a:pPr>
            <a:r>
              <a:rPr lang="zh-CN" altLang="en-US" dirty="0"/>
              <a:t>实例 设 </a:t>
            </a:r>
            <a:r>
              <a:rPr lang="en-US" altLang="zh-CN" i="1" dirty="0"/>
              <a:t>A</a:t>
            </a:r>
            <a:r>
              <a:rPr lang="en-US" altLang="zh-CN" dirty="0"/>
              <a:t>={1,2,…,8}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关于模</a:t>
            </a:r>
            <a:r>
              <a:rPr lang="en-US" altLang="zh-CN" dirty="0"/>
              <a:t>3</a:t>
            </a:r>
            <a:r>
              <a:rPr lang="zh-CN" altLang="en-US" dirty="0"/>
              <a:t>等价关系</a:t>
            </a:r>
            <a:r>
              <a:rPr lang="en-US" altLang="zh-CN" i="1" dirty="0"/>
              <a:t>R</a:t>
            </a:r>
            <a:r>
              <a:rPr lang="zh-CN" altLang="en-US" dirty="0"/>
              <a:t>的商集为</a:t>
            </a:r>
            <a:br>
              <a:rPr lang="zh-CN" altLang="en-US" dirty="0"/>
            </a:br>
            <a:r>
              <a:rPr lang="zh-CN" altLang="en-US" dirty="0"/>
              <a:t>               </a:t>
            </a:r>
            <a:r>
              <a:rPr lang="en-US" altLang="zh-CN" i="1" dirty="0"/>
              <a:t>A/R </a:t>
            </a:r>
            <a:r>
              <a:rPr lang="en-US" altLang="zh-CN" dirty="0"/>
              <a:t>= {{1,4,7}, {2,5,8}, {3,6}}</a:t>
            </a:r>
          </a:p>
          <a:p>
            <a:pPr marL="457200" indent="-457200" eaLnBrk="1" hangingPunct="1">
              <a:lnSpc>
                <a:spcPct val="90000"/>
              </a:lnSpc>
            </a:pPr>
            <a:endParaRPr lang="en-US" altLang="zh-CN" i="1" dirty="0"/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zh-CN" i="1" dirty="0"/>
              <a:t>A</a:t>
            </a:r>
            <a:r>
              <a:rPr lang="zh-CN" altLang="en-US" dirty="0"/>
              <a:t>关于恒等关系和全域关系的商集为：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zh-CN" altLang="en-US" dirty="0"/>
              <a:t>            </a:t>
            </a:r>
            <a:r>
              <a:rPr lang="zh-CN" altLang="en-US" i="1" dirty="0"/>
              <a:t> </a:t>
            </a:r>
            <a:r>
              <a:rPr lang="en-US" altLang="zh-CN" i="1" dirty="0"/>
              <a:t>A/I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 </a:t>
            </a:r>
            <a:r>
              <a:rPr lang="en-US" altLang="zh-CN" dirty="0"/>
              <a:t>= {{1}, {2}, …, {8}}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zh-CN" dirty="0"/>
              <a:t>           </a:t>
            </a:r>
            <a:r>
              <a:rPr lang="zh-CN" altLang="en-US" dirty="0"/>
              <a:t> </a:t>
            </a:r>
            <a:r>
              <a:rPr lang="en-US" altLang="zh-CN" i="1" dirty="0"/>
              <a:t>A/E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 </a:t>
            </a:r>
            <a:r>
              <a:rPr lang="en-US" altLang="zh-CN" dirty="0"/>
              <a:t>= {{1,2,…,8}}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7C37B5-E204-47A7-A992-62C139D853AB}" type="slidenum">
              <a:rPr lang="en-US" altLang="zh-CN" sz="1400" b="0" smtClean="0">
                <a:latin typeface="Arial" panose="020B0604020202020204" pitchFamily="34" charset="0"/>
              </a:rPr>
              <a:t>124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867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商集与划分</a:t>
            </a:r>
          </a:p>
        </p:txBody>
      </p:sp>
      <p:sp>
        <p:nvSpPr>
          <p:cNvPr id="103429" name="Rectangle 9"/>
          <p:cNvSpPr>
            <a:spLocks noChangeArrowheads="1"/>
          </p:cNvSpPr>
          <p:nvPr/>
        </p:nvSpPr>
        <p:spPr bwMode="auto">
          <a:xfrm>
            <a:off x="250825" y="1228725"/>
            <a:ext cx="8229600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7.18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 i="1"/>
              <a:t>A</a:t>
            </a:r>
            <a:r>
              <a:rPr lang="zh-CN" altLang="en-US"/>
              <a:t>为非空集合</a:t>
            </a:r>
            <a:r>
              <a:rPr lang="en-US" altLang="zh-CN"/>
              <a:t>, </a:t>
            </a:r>
            <a:r>
              <a:rPr lang="zh-CN" altLang="en-US"/>
              <a:t>若</a:t>
            </a:r>
            <a:r>
              <a:rPr lang="en-US" altLang="zh-CN" i="1"/>
              <a:t>A</a:t>
            </a:r>
            <a:r>
              <a:rPr lang="zh-CN" altLang="en-US"/>
              <a:t>的子集族</a:t>
            </a:r>
            <a:r>
              <a:rPr lang="en-US" altLang="zh-CN" i="1"/>
              <a:t>π</a:t>
            </a:r>
            <a:r>
              <a:rPr lang="en-US" altLang="zh-CN"/>
              <a:t>(</a:t>
            </a:r>
            <a:r>
              <a:rPr lang="en-US" altLang="zh-CN" i="1"/>
              <a:t>π </a:t>
            </a:r>
            <a:r>
              <a:rPr lang="en-US" altLang="zh-CN">
                <a:sym typeface="Symbol" panose="05050102010706020507" pitchFamily="18" charset="2"/>
              </a:rPr>
              <a:t></a:t>
            </a:r>
            <a:r>
              <a:rPr lang="en-US" altLang="zh-CN"/>
              <a:t> </a:t>
            </a:r>
            <a:r>
              <a:rPr lang="en-US" altLang="zh-CN" i="1"/>
              <a:t>P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/>
              <a:t>))</a:t>
            </a:r>
            <a:r>
              <a:rPr lang="zh-CN" altLang="en-US"/>
              <a:t>满足</a:t>
            </a:r>
            <a:r>
              <a:rPr lang="en-US" altLang="zh-CN"/>
              <a:t>:</a:t>
            </a:r>
          </a:p>
          <a:p>
            <a:pPr eaLnBrk="1" hangingPunct="1"/>
            <a:r>
              <a:rPr lang="en-US" altLang="zh-CN"/>
              <a:t>(1) 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</a:t>
            </a:r>
            <a:r>
              <a:rPr lang="en-US" altLang="zh-CN" i="1"/>
              <a:t>π </a:t>
            </a:r>
            <a:endParaRPr lang="en-US" altLang="zh-CN"/>
          </a:p>
          <a:p>
            <a:pPr eaLnBrk="1" hangingPunct="1"/>
            <a:r>
              <a:rPr lang="en-US" altLang="zh-CN"/>
              <a:t>(2) ∪</a:t>
            </a:r>
            <a:r>
              <a:rPr lang="en-US" altLang="zh-CN" i="1"/>
              <a:t>π </a:t>
            </a:r>
            <a:r>
              <a:rPr lang="en-US" altLang="zh-CN"/>
              <a:t>= </a:t>
            </a:r>
            <a:r>
              <a:rPr lang="en-US" altLang="zh-CN" i="1"/>
              <a:t>A</a:t>
            </a:r>
          </a:p>
          <a:p>
            <a:pPr eaLnBrk="1" hangingPunct="1"/>
            <a:r>
              <a:rPr lang="zh-CN" altLang="en-US"/>
              <a:t>则称</a:t>
            </a:r>
            <a:r>
              <a:rPr lang="en-US" altLang="zh-CN" i="1"/>
              <a:t>π</a:t>
            </a:r>
            <a:r>
              <a:rPr lang="zh-CN" altLang="en-US"/>
              <a:t>是</a:t>
            </a:r>
            <a:r>
              <a:rPr lang="en-US" altLang="zh-CN" i="1"/>
              <a:t>A</a:t>
            </a:r>
            <a:r>
              <a:rPr lang="zh-CN" altLang="en-US"/>
              <a:t>的一个</a:t>
            </a:r>
            <a:r>
              <a:rPr lang="zh-CN" altLang="en-US">
                <a:solidFill>
                  <a:srgbClr val="FF0000"/>
                </a:solidFill>
              </a:rPr>
              <a:t>覆盖</a:t>
            </a:r>
            <a:r>
              <a:rPr lang="zh-CN" altLang="en-US"/>
              <a:t>；</a:t>
            </a:r>
          </a:p>
          <a:p>
            <a:pPr eaLnBrk="1" hangingPunct="1"/>
            <a:endParaRPr lang="zh-CN" altLang="en-US" sz="900"/>
          </a:p>
          <a:p>
            <a:pPr eaLnBrk="1" hangingPunct="1"/>
            <a:r>
              <a:rPr lang="zh-CN" altLang="en-US"/>
              <a:t>若</a:t>
            </a:r>
            <a:r>
              <a:rPr lang="en-US" altLang="zh-CN" i="1"/>
              <a:t>π</a:t>
            </a:r>
            <a:r>
              <a:rPr lang="zh-CN" altLang="en-US"/>
              <a:t>还同时满足下面条件：</a:t>
            </a:r>
            <a:endParaRPr lang="en-US" altLang="zh-CN"/>
          </a:p>
          <a:p>
            <a:pPr eaLnBrk="1" hangingPunct="1"/>
            <a:r>
              <a:rPr lang="en-US" altLang="zh-CN"/>
              <a:t>(3) 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 i="1"/>
              <a:t>y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π</a:t>
            </a:r>
            <a:r>
              <a:rPr lang="en-US" altLang="zh-CN"/>
              <a:t>∧</a:t>
            </a:r>
            <a:r>
              <a:rPr lang="en-US" altLang="zh-CN" i="1"/>
              <a:t>x</a:t>
            </a:r>
            <a:r>
              <a:rPr lang="en-US" altLang="zh-CN"/>
              <a:t>≠</a:t>
            </a:r>
            <a:r>
              <a:rPr lang="en-US" altLang="zh-CN" i="1"/>
              <a:t>y</a:t>
            </a:r>
            <a:r>
              <a:rPr lang="en-US" altLang="zh-CN"/>
              <a:t>→</a:t>
            </a:r>
            <a:r>
              <a:rPr lang="en-US" altLang="zh-CN" i="1"/>
              <a:t>x</a:t>
            </a:r>
            <a:r>
              <a:rPr lang="en-US" altLang="zh-CN"/>
              <a:t>∩</a:t>
            </a:r>
            <a:r>
              <a:rPr lang="en-US" altLang="zh-CN" i="1"/>
              <a:t>y</a:t>
            </a:r>
            <a:r>
              <a:rPr lang="en-US" altLang="zh-CN"/>
              <a:t>=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)</a:t>
            </a:r>
          </a:p>
          <a:p>
            <a:pPr eaLnBrk="1" hangingPunct="1"/>
            <a:r>
              <a:rPr lang="zh-CN" altLang="en-US"/>
              <a:t>则称</a:t>
            </a:r>
            <a:r>
              <a:rPr lang="en-US" altLang="zh-CN" i="1"/>
              <a:t>π</a:t>
            </a:r>
            <a:r>
              <a:rPr lang="zh-CN" altLang="en-US"/>
              <a:t>是</a:t>
            </a:r>
            <a:r>
              <a:rPr lang="en-US" altLang="zh-CN" i="1"/>
              <a:t>A</a:t>
            </a:r>
            <a:r>
              <a:rPr lang="zh-CN" altLang="en-US"/>
              <a:t>的一个</a:t>
            </a:r>
            <a:r>
              <a:rPr lang="zh-CN" altLang="en-US">
                <a:solidFill>
                  <a:srgbClr val="A50021"/>
                </a:solidFill>
              </a:rPr>
              <a:t>划分</a:t>
            </a:r>
            <a:r>
              <a:rPr lang="en-US" altLang="zh-CN"/>
              <a:t>, </a:t>
            </a:r>
            <a:r>
              <a:rPr lang="zh-CN" altLang="en-US"/>
              <a:t>称</a:t>
            </a:r>
            <a:r>
              <a:rPr lang="en-US" altLang="zh-CN" i="1"/>
              <a:t>π</a:t>
            </a:r>
            <a:r>
              <a:rPr lang="zh-CN" altLang="en-US"/>
              <a:t>中的元素为</a:t>
            </a:r>
            <a:r>
              <a:rPr lang="en-US" altLang="zh-CN" i="1"/>
              <a:t>A</a:t>
            </a:r>
            <a:r>
              <a:rPr lang="zh-CN" altLang="en-US"/>
              <a:t>的</a:t>
            </a:r>
            <a:r>
              <a:rPr lang="zh-CN" altLang="en-US">
                <a:solidFill>
                  <a:srgbClr val="A50021"/>
                </a:solidFill>
              </a:rPr>
              <a:t>划分块</a:t>
            </a:r>
            <a:r>
              <a:rPr lang="en-US" altLang="zh-CN"/>
              <a:t>.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692275" y="5368925"/>
            <a:ext cx="655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solidFill>
                  <a:srgbClr val="0066FF"/>
                </a:solidFill>
              </a:rPr>
              <a:t>注意：划分是覆盖的特殊情形</a:t>
            </a:r>
            <a:endParaRPr lang="en-US" altLang="zh-CN" sz="2800">
              <a:solidFill>
                <a:srgbClr val="0066FF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794FC29-10C9-4459-90CB-F3FC92ADFA5E}" type="slidenum">
              <a:rPr lang="en-US" altLang="zh-CN" sz="1400" b="0" smtClean="0">
                <a:latin typeface="Arial" panose="020B0604020202020204" pitchFamily="34" charset="0"/>
              </a:rPr>
              <a:t>125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划分实例</a:t>
            </a:r>
          </a:p>
        </p:txBody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/>
              <a:t> </a:t>
            </a:r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10</a:t>
            </a:r>
            <a:r>
              <a:rPr lang="en-US" altLang="zh-CN"/>
              <a:t>  </a:t>
            </a:r>
            <a:r>
              <a:rPr lang="zh-CN" altLang="en-US"/>
              <a:t>设 </a:t>
            </a:r>
            <a:r>
              <a:rPr lang="en-US" altLang="zh-CN" i="1"/>
              <a:t>A</a:t>
            </a:r>
            <a:r>
              <a:rPr lang="zh-CN" altLang="en-US"/>
              <a:t>＝</a:t>
            </a:r>
            <a:r>
              <a:rPr lang="en-US" altLang="zh-CN"/>
              <a:t>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/>
              <a:t>, </a:t>
            </a:r>
            <a:r>
              <a:rPr lang="en-US" altLang="zh-CN" i="1"/>
              <a:t>d </a:t>
            </a:r>
            <a:r>
              <a:rPr lang="en-US" altLang="zh-CN"/>
              <a:t>}, </a:t>
            </a:r>
            <a:r>
              <a:rPr lang="zh-CN" altLang="en-US"/>
              <a:t>给定 </a:t>
            </a:r>
            <a:r>
              <a:rPr lang="zh-CN" altLang="en-US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2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3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4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5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6</a:t>
            </a:r>
            <a:r>
              <a:rPr lang="zh-CN" altLang="en-US"/>
              <a:t>如下：</a:t>
            </a:r>
            <a:br>
              <a:rPr lang="zh-CN" altLang="en-US"/>
            </a:br>
            <a:r>
              <a:rPr lang="zh-CN" altLang="en-US"/>
              <a:t>       </a:t>
            </a:r>
            <a:r>
              <a:rPr lang="zh-CN" altLang="en-US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1</a:t>
            </a:r>
            <a:r>
              <a:rPr lang="en-US" altLang="zh-CN"/>
              <a:t>={{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c </a:t>
            </a:r>
            <a:r>
              <a:rPr lang="en-US" altLang="zh-CN"/>
              <a:t>},{ </a:t>
            </a:r>
            <a:r>
              <a:rPr lang="en-US" altLang="zh-CN" i="1"/>
              <a:t>d </a:t>
            </a:r>
            <a:r>
              <a:rPr lang="en-US" altLang="zh-CN"/>
              <a:t>}}</a:t>
            </a:r>
            <a:br>
              <a:rPr lang="en-US" altLang="zh-CN"/>
            </a:br>
            <a:r>
              <a:rPr lang="en-US" altLang="zh-CN"/>
              <a:t>  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2</a:t>
            </a:r>
            <a:r>
              <a:rPr lang="en-US" altLang="zh-CN"/>
              <a:t>={{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}, { </a:t>
            </a:r>
            <a:r>
              <a:rPr lang="en-US" altLang="zh-CN" i="1"/>
              <a:t>c </a:t>
            </a:r>
            <a:r>
              <a:rPr lang="en-US" altLang="zh-CN"/>
              <a:t>}, { </a:t>
            </a:r>
            <a:r>
              <a:rPr lang="en-US" altLang="zh-CN" i="1"/>
              <a:t>d </a:t>
            </a:r>
            <a:r>
              <a:rPr lang="en-US" altLang="zh-CN"/>
              <a:t>}}</a:t>
            </a:r>
            <a:br>
              <a:rPr lang="en-US" altLang="zh-CN"/>
            </a:br>
            <a:r>
              <a:rPr lang="en-US" altLang="zh-CN"/>
              <a:t>  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3</a:t>
            </a:r>
            <a:r>
              <a:rPr lang="en-US" altLang="zh-CN"/>
              <a:t>={{ </a:t>
            </a:r>
            <a:r>
              <a:rPr lang="en-US" altLang="zh-CN" i="1"/>
              <a:t>a </a:t>
            </a:r>
            <a:r>
              <a:rPr lang="en-US" altLang="zh-CN"/>
              <a:t>}, 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/>
              <a:t>, </a:t>
            </a:r>
            <a:r>
              <a:rPr lang="en-US" altLang="zh-CN" i="1"/>
              <a:t>d </a:t>
            </a:r>
            <a:r>
              <a:rPr lang="en-US" altLang="zh-CN"/>
              <a:t>}}</a:t>
            </a:r>
            <a:br>
              <a:rPr lang="en-US" altLang="zh-CN"/>
            </a:br>
            <a:r>
              <a:rPr lang="en-US" altLang="zh-CN"/>
              <a:t>  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4</a:t>
            </a:r>
            <a:r>
              <a:rPr lang="en-US" altLang="zh-CN"/>
              <a:t>={{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}, { </a:t>
            </a:r>
            <a:r>
              <a:rPr lang="en-US" altLang="zh-CN" i="1"/>
              <a:t>c </a:t>
            </a:r>
            <a:r>
              <a:rPr lang="en-US" altLang="zh-CN"/>
              <a:t>}}</a:t>
            </a:r>
            <a:br>
              <a:rPr lang="en-US" altLang="zh-CN"/>
            </a:br>
            <a:r>
              <a:rPr lang="en-US" altLang="zh-CN"/>
              <a:t>  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5</a:t>
            </a:r>
            <a:r>
              <a:rPr lang="en-US" altLang="zh-CN"/>
              <a:t>={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,{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 </a:t>
            </a:r>
            <a:r>
              <a:rPr lang="en-US" altLang="zh-CN"/>
              <a:t>}, { </a:t>
            </a:r>
            <a:r>
              <a:rPr lang="en-US" altLang="zh-CN" i="1"/>
              <a:t>c</a:t>
            </a:r>
            <a:r>
              <a:rPr lang="en-US" altLang="zh-CN"/>
              <a:t>, </a:t>
            </a:r>
            <a:r>
              <a:rPr lang="en-US" altLang="zh-CN" i="1"/>
              <a:t>d </a:t>
            </a:r>
            <a:r>
              <a:rPr lang="en-US" altLang="zh-CN"/>
              <a:t>}}</a:t>
            </a:r>
            <a:br>
              <a:rPr lang="en-US" altLang="zh-CN"/>
            </a:br>
            <a:r>
              <a:rPr lang="en-US" altLang="zh-CN"/>
              <a:t>  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6</a:t>
            </a:r>
            <a:r>
              <a:rPr lang="en-US" altLang="zh-CN"/>
              <a:t>={{ </a:t>
            </a:r>
            <a:r>
              <a:rPr lang="en-US" altLang="zh-CN" i="1"/>
              <a:t>a</a:t>
            </a:r>
            <a:r>
              <a:rPr lang="en-US" altLang="zh-CN"/>
              <a:t>, { </a:t>
            </a:r>
            <a:r>
              <a:rPr lang="en-US" altLang="zh-CN" i="1"/>
              <a:t>a </a:t>
            </a:r>
            <a:r>
              <a:rPr lang="en-US" altLang="zh-CN"/>
              <a:t>}}, { 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/>
              <a:t>, </a:t>
            </a:r>
            <a:r>
              <a:rPr lang="en-US" altLang="zh-CN" i="1"/>
              <a:t>d </a:t>
            </a:r>
            <a:r>
              <a:rPr lang="en-US" altLang="zh-CN"/>
              <a:t>}}</a:t>
            </a:r>
            <a:br>
              <a:rPr lang="en-US" altLang="zh-CN"/>
            </a:br>
            <a:endParaRPr lang="en-US" altLang="zh-CN"/>
          </a:p>
          <a:p>
            <a:pPr eaLnBrk="1" hangingPunct="1"/>
            <a:r>
              <a:rPr lang="zh-CN" altLang="en-US"/>
              <a:t>则 </a:t>
            </a:r>
            <a:r>
              <a:rPr lang="zh-CN" altLang="en-US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1</a:t>
            </a:r>
            <a:r>
              <a:rPr lang="zh-CN" altLang="en-US"/>
              <a:t>和 </a:t>
            </a:r>
            <a:r>
              <a:rPr lang="zh-CN" altLang="en-US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2</a:t>
            </a:r>
            <a:r>
              <a:rPr lang="zh-CN" altLang="en-US"/>
              <a:t>是</a:t>
            </a:r>
            <a:r>
              <a:rPr lang="en-US" altLang="zh-CN" i="1"/>
              <a:t>A</a:t>
            </a:r>
            <a:r>
              <a:rPr lang="zh-CN" altLang="en-US"/>
              <a:t>的划分</a:t>
            </a:r>
            <a:r>
              <a:rPr lang="en-US" altLang="zh-CN"/>
              <a:t>, </a:t>
            </a:r>
            <a:r>
              <a:rPr lang="zh-CN" altLang="en-US"/>
              <a:t>其他都不是</a:t>
            </a:r>
            <a:r>
              <a:rPr lang="en-US" altLang="zh-CN" i="1"/>
              <a:t>A</a:t>
            </a:r>
            <a:r>
              <a:rPr lang="zh-CN" altLang="en-US"/>
              <a:t>的划分</a:t>
            </a:r>
            <a:r>
              <a:rPr lang="en-US" altLang="zh-CN"/>
              <a:t>. </a:t>
            </a:r>
          </a:p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2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3</a:t>
            </a:r>
            <a:r>
              <a:rPr lang="zh-CN" altLang="en-US"/>
              <a:t>是</a:t>
            </a:r>
            <a:r>
              <a:rPr lang="en-US" altLang="zh-CN" i="1"/>
              <a:t>A</a:t>
            </a:r>
            <a:r>
              <a:rPr lang="zh-CN" altLang="en-US"/>
              <a:t>的覆盖</a:t>
            </a:r>
            <a:r>
              <a:rPr lang="en-US" altLang="zh-CN"/>
              <a:t>.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3D14EAE-0FE6-4A3E-8C5E-A1794F380CE5}" type="slidenum">
              <a:rPr lang="en-US" altLang="zh-CN" sz="1400" b="0" smtClean="0">
                <a:latin typeface="Arial" panose="020B0604020202020204" pitchFamily="34" charset="0"/>
              </a:rPr>
              <a:t>126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603139" name="Text Box 3"/>
          <p:cNvSpPr txBox="1">
            <a:spLocks noChangeArrowheads="1"/>
          </p:cNvSpPr>
          <p:nvPr/>
        </p:nvSpPr>
        <p:spPr bwMode="auto">
          <a:xfrm>
            <a:off x="257175" y="1322388"/>
            <a:ext cx="873601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solidFill>
                  <a:srgbClr val="C00000"/>
                </a:solidFill>
                <a:latin typeface="宋体" panose="02010600030101010101" pitchFamily="2" charset="-122"/>
              </a:rPr>
              <a:t>定理</a:t>
            </a:r>
            <a:r>
              <a:rPr kumimoji="1" lang="en-US" altLang="zh-CN">
                <a:solidFill>
                  <a:srgbClr val="C00000"/>
                </a:solidFill>
                <a:latin typeface="宋体" panose="02010600030101010101" pitchFamily="2" charset="-122"/>
              </a:rPr>
              <a:t>7.15 </a:t>
            </a:r>
            <a:r>
              <a:rPr kumimoji="1" lang="zh-CN" altLang="en-US">
                <a:latin typeface="宋体" panose="02010600030101010101" pitchFamily="2" charset="-122"/>
              </a:rPr>
              <a:t>集合</a:t>
            </a:r>
            <a:r>
              <a:rPr kumimoji="1" lang="en-US" altLang="zh-CN" i="1"/>
              <a:t>A</a:t>
            </a:r>
            <a:r>
              <a:rPr kumimoji="1" lang="zh-CN" altLang="en-US">
                <a:latin typeface="宋体" panose="02010600030101010101" pitchFamily="2" charset="-122"/>
              </a:rPr>
              <a:t>上的一个等价关系</a:t>
            </a:r>
            <a:r>
              <a:rPr kumimoji="1" lang="en-US" altLang="zh-CN" i="1"/>
              <a:t>R</a:t>
            </a:r>
            <a:r>
              <a:rPr kumimoji="1" lang="en-US" altLang="zh-CN" i="1">
                <a:latin typeface="宋体" panose="02010600030101010101" pitchFamily="2" charset="-122"/>
              </a:rPr>
              <a:t>, </a:t>
            </a:r>
            <a:r>
              <a:rPr kumimoji="1" lang="zh-CN" altLang="en-US">
                <a:latin typeface="宋体" panose="02010600030101010101" pitchFamily="2" charset="-122"/>
              </a:rPr>
              <a:t>决定了</a:t>
            </a:r>
            <a:r>
              <a:rPr kumimoji="1" lang="en-US" altLang="zh-CN" i="1"/>
              <a:t>A</a:t>
            </a:r>
            <a:r>
              <a:rPr kumimoji="1" lang="zh-CN" altLang="en-US">
                <a:latin typeface="宋体" panose="02010600030101010101" pitchFamily="2" charset="-122"/>
              </a:rPr>
              <a:t>的一个划分</a:t>
            </a:r>
            <a:r>
              <a:rPr kumimoji="1" lang="zh-CN" altLang="en-US" i="1">
                <a:latin typeface="宋体" panose="02010600030101010101" pitchFamily="2" charset="-122"/>
              </a:rPr>
              <a:t>，</a:t>
            </a:r>
            <a:r>
              <a:rPr kumimoji="1" lang="zh-CN" altLang="en-US">
                <a:latin typeface="宋体" panose="02010600030101010101" pitchFamily="2" charset="-122"/>
              </a:rPr>
              <a:t>该划分就是商集 </a:t>
            </a:r>
            <a:r>
              <a:rPr kumimoji="1" lang="en-US" altLang="zh-CN" i="1"/>
              <a:t>A/R</a:t>
            </a:r>
            <a:r>
              <a:rPr kumimoji="1" lang="en-US" altLang="zh-CN" i="1">
                <a:latin typeface="宋体" panose="02010600030101010101" pitchFamily="2" charset="-122"/>
              </a:rPr>
              <a:t> </a:t>
            </a:r>
            <a:r>
              <a:rPr kumimoji="1" lang="en-US" altLang="zh-CN">
                <a:latin typeface="宋体" panose="02010600030101010101" pitchFamily="2" charset="-122"/>
              </a:rPr>
              <a:t>.</a:t>
            </a:r>
            <a:endParaRPr kumimoji="1" lang="zh-CN" altLang="en-US">
              <a:latin typeface="宋体" panose="02010600030101010101" pitchFamily="2" charset="-122"/>
            </a:endParaRPr>
          </a:p>
        </p:txBody>
      </p:sp>
      <p:sp>
        <p:nvSpPr>
          <p:cNvPr id="603140" name="Text Box 4"/>
          <p:cNvSpPr txBox="1">
            <a:spLocks noChangeArrowheads="1"/>
          </p:cNvSpPr>
          <p:nvPr/>
        </p:nvSpPr>
        <p:spPr bwMode="auto">
          <a:xfrm>
            <a:off x="228600" y="2420938"/>
            <a:ext cx="85344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08000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solidFill>
                  <a:srgbClr val="C00000"/>
                </a:solidFill>
                <a:latin typeface="宋体" panose="02010600030101010101" pitchFamily="2" charset="-122"/>
              </a:rPr>
              <a:t>定理</a:t>
            </a:r>
            <a:r>
              <a:rPr kumimoji="1" lang="en-US" altLang="zh-CN">
                <a:solidFill>
                  <a:srgbClr val="C00000"/>
                </a:solidFill>
                <a:latin typeface="宋体" panose="02010600030101010101" pitchFamily="2" charset="-122"/>
              </a:rPr>
              <a:t>7.16 </a:t>
            </a:r>
            <a:r>
              <a:rPr kumimoji="1" lang="zh-CN" altLang="en-US">
                <a:latin typeface="宋体" panose="02010600030101010101" pitchFamily="2" charset="-122"/>
              </a:rPr>
              <a:t>集合</a:t>
            </a:r>
            <a:r>
              <a:rPr kumimoji="1" lang="en-US" altLang="zh-CN" i="1"/>
              <a:t>A</a:t>
            </a:r>
            <a:r>
              <a:rPr kumimoji="1" lang="zh-CN" altLang="en-US">
                <a:latin typeface="宋体" panose="02010600030101010101" pitchFamily="2" charset="-122"/>
              </a:rPr>
              <a:t>的一个划分</a:t>
            </a:r>
            <a:r>
              <a:rPr kumimoji="1" lang="en-US" altLang="zh-CN">
                <a:latin typeface="宋体" panose="02010600030101010101" pitchFamily="2" charset="-122"/>
              </a:rPr>
              <a:t>,</a:t>
            </a:r>
            <a:r>
              <a:rPr kumimoji="1" lang="zh-CN" altLang="en-US">
                <a:latin typeface="宋体" panose="02010600030101010101" pitchFamily="2" charset="-122"/>
              </a:rPr>
              <a:t>确定</a:t>
            </a:r>
            <a:r>
              <a:rPr kumimoji="1" lang="en-US" altLang="zh-CN" i="1"/>
              <a:t>A</a:t>
            </a:r>
            <a:r>
              <a:rPr kumimoji="1" lang="zh-CN" altLang="en-US">
                <a:latin typeface="宋体" panose="02010600030101010101" pitchFamily="2" charset="-122"/>
              </a:rPr>
              <a:t>的元素间的一个等价关系</a:t>
            </a:r>
            <a:r>
              <a:rPr kumimoji="1" lang="en-US" altLang="zh-CN">
                <a:latin typeface="宋体" panose="02010600030101010101" pitchFamily="2" charset="-122"/>
              </a:rPr>
              <a:t>.</a:t>
            </a:r>
            <a:r>
              <a:rPr kumimoji="1" lang="en-US" altLang="zh-CN" b="0">
                <a:ea typeface="隶书" panose="02010509060101010101" pitchFamily="49" charset="-122"/>
              </a:rPr>
              <a:t>            </a:t>
            </a:r>
          </a:p>
        </p:txBody>
      </p:sp>
      <p:sp>
        <p:nvSpPr>
          <p:cNvPr id="603142" name="Rectangle 6"/>
          <p:cNvSpPr>
            <a:spLocks noChangeArrowheads="1"/>
          </p:cNvSpPr>
          <p:nvPr/>
        </p:nvSpPr>
        <p:spPr bwMode="auto">
          <a:xfrm>
            <a:off x="1511300" y="3292475"/>
            <a:ext cx="593725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>
                <a:latin typeface="宋体" panose="02010600030101010101" pitchFamily="2" charset="-122"/>
              </a:rPr>
              <a:t>(</a:t>
            </a:r>
            <a:r>
              <a:rPr kumimoji="1" lang="en-US" altLang="zh-CN" i="1"/>
              <a:t>aRb</a:t>
            </a:r>
            <a:r>
              <a:rPr kumimoji="1" lang="en-US" altLang="zh-CN">
                <a:latin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</a:rPr>
              <a:t>当且仅当 </a:t>
            </a:r>
            <a:r>
              <a:rPr kumimoji="1" lang="en-US" altLang="zh-CN" i="1"/>
              <a:t>a </a:t>
            </a:r>
            <a:r>
              <a:rPr kumimoji="1" lang="zh-CN" altLang="en-US">
                <a:latin typeface="宋体" panose="02010600030101010101" pitchFamily="2" charset="-122"/>
              </a:rPr>
              <a:t>和</a:t>
            </a:r>
            <a:r>
              <a:rPr kumimoji="1" lang="zh-CN" altLang="en-US" i="1"/>
              <a:t> </a:t>
            </a:r>
            <a:r>
              <a:rPr kumimoji="1" lang="en-US" altLang="zh-CN" i="1"/>
              <a:t>b</a:t>
            </a:r>
            <a:r>
              <a:rPr kumimoji="1" lang="en-US" altLang="zh-CN">
                <a:latin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</a:rPr>
              <a:t>在同一个分块中）</a:t>
            </a:r>
            <a:endParaRPr kumimoji="1" lang="en-US" altLang="zh-CN">
              <a:latin typeface="宋体" panose="02010600030101010101" pitchFamily="2" charset="-122"/>
            </a:endParaRPr>
          </a:p>
        </p:txBody>
      </p:sp>
      <p:sp>
        <p:nvSpPr>
          <p:cNvPr id="603146" name="Rectangle 10"/>
          <p:cNvSpPr>
            <a:spLocks noChangeArrowheads="1"/>
          </p:cNvSpPr>
          <p:nvPr/>
        </p:nvSpPr>
        <p:spPr bwMode="auto">
          <a:xfrm>
            <a:off x="1511300" y="4014788"/>
            <a:ext cx="6302375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800">
                <a:solidFill>
                  <a:srgbClr val="0066FF"/>
                </a:solidFill>
                <a:latin typeface="Arial" panose="020B0604020202020204" pitchFamily="34" charset="0"/>
              </a:rPr>
              <a:t>划分和等价关系在本质上是相同的</a:t>
            </a:r>
            <a:r>
              <a:rPr kumimoji="1" lang="en-US" altLang="zh-CN" sz="2800">
                <a:solidFill>
                  <a:srgbClr val="0066FF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27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等价关系与划分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3139" grpId="0"/>
      <p:bldP spid="603140" grpId="0"/>
      <p:bldP spid="603142" grpId="0"/>
      <p:bldP spid="603146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9628665-EFB2-4DAD-B32A-5FADD0BB9FE8}" type="slidenum">
              <a:rPr lang="en-US" altLang="zh-CN" sz="1400" b="0" smtClean="0">
                <a:latin typeface="Arial" panose="020B0604020202020204" pitchFamily="34" charset="0"/>
              </a:rPr>
              <a:t>127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graphicFrame>
        <p:nvGraphicFramePr>
          <p:cNvPr id="604163" name="Object 3"/>
          <p:cNvGraphicFramePr>
            <a:graphicFrameLocks noChangeAspect="1"/>
          </p:cNvGraphicFramePr>
          <p:nvPr/>
        </p:nvGraphicFramePr>
        <p:xfrm>
          <a:off x="1447800" y="4089400"/>
          <a:ext cx="7100888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99235" imgH="121285" progId="Equation.3">
                  <p:embed/>
                </p:oleObj>
              </mc:Choice>
              <mc:Fallback>
                <p:oleObj name="Equation" r:id="rId2" imgW="1499235" imgH="12128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089400"/>
                        <a:ext cx="7100888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164" name="Object 4"/>
          <p:cNvGraphicFramePr>
            <a:graphicFrameLocks noChangeAspect="1"/>
          </p:cNvGraphicFramePr>
          <p:nvPr/>
        </p:nvGraphicFramePr>
        <p:xfrm>
          <a:off x="2057400" y="4775200"/>
          <a:ext cx="64706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60170" imgH="121285" progId="Equation.3">
                  <p:embed/>
                </p:oleObj>
              </mc:Choice>
              <mc:Fallback>
                <p:oleObj name="Equation" r:id="rId4" imgW="1360170" imgH="1212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775200"/>
                        <a:ext cx="647065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165" name="Object 5"/>
          <p:cNvGraphicFramePr>
            <a:graphicFrameLocks noChangeAspect="1"/>
          </p:cNvGraphicFramePr>
          <p:nvPr/>
        </p:nvGraphicFramePr>
        <p:xfrm>
          <a:off x="2057400" y="5432425"/>
          <a:ext cx="64706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60170" imgH="121285" progId="Equation.3">
                  <p:embed/>
                </p:oleObj>
              </mc:Choice>
              <mc:Fallback>
                <p:oleObj name="Equation" r:id="rId6" imgW="1360170" imgH="12128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432425"/>
                        <a:ext cx="647065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166" name="Object 6"/>
          <p:cNvGraphicFramePr>
            <a:graphicFrameLocks noChangeAspect="1"/>
          </p:cNvGraphicFramePr>
          <p:nvPr/>
        </p:nvGraphicFramePr>
        <p:xfrm>
          <a:off x="2344738" y="3251200"/>
          <a:ext cx="451326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5975" imgH="121285" progId="Equation.3">
                  <p:embed/>
                </p:oleObj>
              </mc:Choice>
              <mc:Fallback>
                <p:oleObj name="Equation" r:id="rId8" imgW="815975" imgH="12128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738" y="3251200"/>
                        <a:ext cx="4513262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167" name="Object 7"/>
          <p:cNvGraphicFramePr>
            <a:graphicFrameLocks noChangeAspect="1"/>
          </p:cNvGraphicFramePr>
          <p:nvPr/>
        </p:nvGraphicFramePr>
        <p:xfrm>
          <a:off x="1143000" y="2536825"/>
          <a:ext cx="76200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16380" imgH="121285" progId="Equation.3">
                  <p:embed/>
                </p:oleObj>
              </mc:Choice>
              <mc:Fallback>
                <p:oleObj name="Equation" r:id="rId10" imgW="1516380" imgH="12128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536825"/>
                        <a:ext cx="76200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0" name="Text Box 8"/>
          <p:cNvSpPr txBox="1">
            <a:spLocks noChangeArrowheads="1"/>
          </p:cNvSpPr>
          <p:nvPr/>
        </p:nvSpPr>
        <p:spPr bwMode="auto">
          <a:xfrm>
            <a:off x="152400" y="2368550"/>
            <a:ext cx="1447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4000" b="0"/>
              <a:t>解：</a:t>
            </a:r>
          </a:p>
        </p:txBody>
      </p:sp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228600" y="1347788"/>
            <a:ext cx="86868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C00000"/>
                </a:solidFill>
                <a:latin typeface="Arial" panose="020B0604020202020204" pitchFamily="34" charset="0"/>
              </a:rPr>
              <a:t>例</a:t>
            </a:r>
            <a:r>
              <a:rPr lang="en-US" altLang="zh-CN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kumimoji="1" lang="zh-CN" altLang="en-US">
                <a:latin typeface="宋体" panose="02010600030101010101" pitchFamily="2" charset="-122"/>
              </a:rPr>
              <a:t>已知</a:t>
            </a:r>
            <a:r>
              <a:rPr kumimoji="1" lang="en-US" altLang="zh-CN" i="1"/>
              <a:t>X=</a:t>
            </a:r>
            <a:r>
              <a:rPr kumimoji="1" lang="en-US" altLang="zh-CN"/>
              <a:t>{</a:t>
            </a:r>
            <a:r>
              <a:rPr kumimoji="1" lang="en-US" altLang="zh-CN" i="1"/>
              <a:t>a,b,c,d,e</a:t>
            </a:r>
            <a:r>
              <a:rPr kumimoji="1" lang="en-US" altLang="zh-CN"/>
              <a:t>}, </a:t>
            </a:r>
            <a:r>
              <a:rPr kumimoji="1" lang="en-US" altLang="zh-CN" i="1"/>
              <a:t>C=</a:t>
            </a:r>
            <a:r>
              <a:rPr kumimoji="1" lang="en-US" altLang="zh-CN"/>
              <a:t>{{</a:t>
            </a:r>
            <a:r>
              <a:rPr kumimoji="1" lang="en-US" altLang="zh-CN" i="1"/>
              <a:t>a,b</a:t>
            </a:r>
            <a:r>
              <a:rPr kumimoji="1" lang="en-US" altLang="zh-CN"/>
              <a:t>},{</a:t>
            </a:r>
            <a:r>
              <a:rPr kumimoji="1" lang="en-US" altLang="zh-CN" i="1"/>
              <a:t>c</a:t>
            </a:r>
            <a:r>
              <a:rPr kumimoji="1" lang="en-US" altLang="zh-CN"/>
              <a:t>},{</a:t>
            </a:r>
            <a:r>
              <a:rPr kumimoji="1" lang="en-US" altLang="zh-CN" i="1"/>
              <a:t>d,e</a:t>
            </a:r>
            <a:r>
              <a:rPr kumimoji="1" lang="en-US" altLang="zh-CN"/>
              <a:t>}}  </a:t>
            </a:r>
            <a:r>
              <a:rPr kumimoji="1" lang="zh-CN" altLang="en-US">
                <a:latin typeface="宋体" panose="02010600030101010101" pitchFamily="2" charset="-122"/>
              </a:rPr>
              <a:t>试写出由</a:t>
            </a:r>
            <a:r>
              <a:rPr kumimoji="1" lang="zh-CN" altLang="en-US"/>
              <a:t> </a:t>
            </a:r>
            <a:r>
              <a:rPr kumimoji="1" lang="en-US" altLang="zh-CN" i="1"/>
              <a:t>C</a:t>
            </a:r>
            <a:r>
              <a:rPr kumimoji="1" lang="en-US" altLang="zh-CN"/>
              <a:t> </a:t>
            </a:r>
            <a:r>
              <a:rPr kumimoji="1" lang="zh-CN" altLang="en-US">
                <a:latin typeface="宋体" panose="02010600030101010101" pitchFamily="2" charset="-122"/>
              </a:rPr>
              <a:t>导出的 </a:t>
            </a:r>
            <a:r>
              <a:rPr kumimoji="1" lang="en-US" altLang="zh-CN" i="1"/>
              <a:t>X</a:t>
            </a:r>
            <a:r>
              <a:rPr kumimoji="1" lang="en-US" altLang="zh-CN"/>
              <a:t> </a:t>
            </a:r>
            <a:r>
              <a:rPr kumimoji="1" lang="zh-CN" altLang="en-US">
                <a:latin typeface="宋体" panose="02010600030101010101" pitchFamily="2" charset="-122"/>
              </a:rPr>
              <a:t>中的等价关系</a:t>
            </a:r>
            <a:r>
              <a:rPr kumimoji="1" lang="zh-CN" altLang="en-US"/>
              <a:t> </a:t>
            </a:r>
            <a:r>
              <a:rPr kumimoji="1" lang="en-US" altLang="zh-CN" i="1"/>
              <a:t>R</a:t>
            </a:r>
            <a:r>
              <a:rPr kumimoji="1" lang="en-US" altLang="zh-CN">
                <a:latin typeface="宋体" panose="02010600030101010101" pitchFamily="2" charset="-122"/>
              </a:rPr>
              <a:t> ,</a:t>
            </a:r>
            <a:r>
              <a:rPr kumimoji="1" lang="zh-CN" altLang="en-US">
                <a:latin typeface="宋体" panose="02010600030101010101" pitchFamily="2" charset="-122"/>
              </a:rPr>
              <a:t>并给出关系矩阵和关系图</a:t>
            </a:r>
            <a:r>
              <a:rPr kumimoji="1" lang="en-US" altLang="zh-CN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33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81C2011-64EF-4F1B-81BC-7FAC5679761F}" type="slidenum">
              <a:rPr lang="en-US" altLang="zh-CN" sz="1400" b="0" smtClean="0">
                <a:latin typeface="Arial" panose="020B0604020202020204" pitchFamily="34" charset="0"/>
              </a:rPr>
              <a:t>128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6740525" y="2120900"/>
            <a:ext cx="561975" cy="568325"/>
            <a:chOff x="2388" y="1536"/>
            <a:chExt cx="384" cy="432"/>
          </a:xfrm>
        </p:grpSpPr>
        <p:sp>
          <p:nvSpPr>
            <p:cNvPr id="34847" name="Oval 4"/>
            <p:cNvSpPr>
              <a:spLocks noChangeArrowheads="1"/>
            </p:cNvSpPr>
            <p:nvPr/>
          </p:nvSpPr>
          <p:spPr bwMode="auto">
            <a:xfrm>
              <a:off x="2532" y="18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34848" name="Oval 5"/>
            <p:cNvSpPr>
              <a:spLocks noChangeArrowheads="1"/>
            </p:cNvSpPr>
            <p:nvPr/>
          </p:nvSpPr>
          <p:spPr bwMode="auto">
            <a:xfrm>
              <a:off x="2388" y="1536"/>
              <a:ext cx="384" cy="38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Arial" panose="020B0604020202020204" pitchFamily="34" charset="0"/>
              </a:endParaRPr>
            </a:p>
          </p:txBody>
        </p:sp>
        <p:graphicFrame>
          <p:nvGraphicFramePr>
            <p:cNvPr id="34849" name="Object 6"/>
            <p:cNvGraphicFramePr>
              <a:graphicFrameLocks noChangeAspect="1"/>
            </p:cNvGraphicFramePr>
            <p:nvPr/>
          </p:nvGraphicFramePr>
          <p:xfrm>
            <a:off x="2448" y="1538"/>
            <a:ext cx="302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0640" imgH="63500" progId="Equation.3">
                    <p:embed/>
                  </p:oleObj>
                </mc:Choice>
                <mc:Fallback>
                  <p:oleObj name="Equation" r:id="rId2" imgW="40640" imgH="635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538"/>
                          <a:ext cx="302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50" name="Line 7"/>
            <p:cNvSpPr>
              <a:spLocks noChangeShapeType="1"/>
            </p:cNvSpPr>
            <p:nvPr/>
          </p:nvSpPr>
          <p:spPr bwMode="auto">
            <a:xfrm>
              <a:off x="2388" y="1670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8"/>
          <p:cNvGrpSpPr/>
          <p:nvPr/>
        </p:nvGrpSpPr>
        <p:grpSpPr bwMode="auto">
          <a:xfrm>
            <a:off x="7564438" y="2968625"/>
            <a:ext cx="588962" cy="3700463"/>
            <a:chOff x="3792" y="415"/>
            <a:chExt cx="401" cy="2813"/>
          </a:xfrm>
        </p:grpSpPr>
        <p:sp>
          <p:nvSpPr>
            <p:cNvPr id="34836" name="Oval 9"/>
            <p:cNvSpPr>
              <a:spLocks noChangeArrowheads="1"/>
            </p:cNvSpPr>
            <p:nvPr/>
          </p:nvSpPr>
          <p:spPr bwMode="auto">
            <a:xfrm rot="-5400000">
              <a:off x="3000" y="1752"/>
              <a:ext cx="1968" cy="19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34837" name="Oval 10"/>
            <p:cNvSpPr>
              <a:spLocks noChangeArrowheads="1"/>
            </p:cNvSpPr>
            <p:nvPr/>
          </p:nvSpPr>
          <p:spPr bwMode="auto">
            <a:xfrm>
              <a:off x="3936" y="27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34838" name="Oval 11"/>
            <p:cNvSpPr>
              <a:spLocks noChangeArrowheads="1"/>
            </p:cNvSpPr>
            <p:nvPr/>
          </p:nvSpPr>
          <p:spPr bwMode="auto">
            <a:xfrm>
              <a:off x="3936" y="8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34839" name="Oval 12"/>
            <p:cNvSpPr>
              <a:spLocks noChangeArrowheads="1"/>
            </p:cNvSpPr>
            <p:nvPr/>
          </p:nvSpPr>
          <p:spPr bwMode="auto">
            <a:xfrm>
              <a:off x="3792" y="2832"/>
              <a:ext cx="384" cy="38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34840" name="Oval 13"/>
            <p:cNvSpPr>
              <a:spLocks noChangeArrowheads="1"/>
            </p:cNvSpPr>
            <p:nvPr/>
          </p:nvSpPr>
          <p:spPr bwMode="auto">
            <a:xfrm>
              <a:off x="3792" y="480"/>
              <a:ext cx="384" cy="38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Arial" panose="020B0604020202020204" pitchFamily="34" charset="0"/>
              </a:endParaRPr>
            </a:p>
          </p:txBody>
        </p:sp>
        <p:graphicFrame>
          <p:nvGraphicFramePr>
            <p:cNvPr id="34841" name="Object 14"/>
            <p:cNvGraphicFramePr>
              <a:graphicFrameLocks noChangeAspect="1"/>
            </p:cNvGraphicFramePr>
            <p:nvPr/>
          </p:nvGraphicFramePr>
          <p:xfrm>
            <a:off x="3823" y="415"/>
            <a:ext cx="370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7785" imgH="92710" progId="Equation.3">
                    <p:embed/>
                  </p:oleObj>
                </mc:Choice>
                <mc:Fallback>
                  <p:oleObj name="Equation" r:id="rId4" imgW="57785" imgH="9271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3" y="415"/>
                          <a:ext cx="370" cy="4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42" name="Object 15"/>
            <p:cNvGraphicFramePr>
              <a:graphicFrameLocks noChangeAspect="1"/>
            </p:cNvGraphicFramePr>
            <p:nvPr/>
          </p:nvGraphicFramePr>
          <p:xfrm>
            <a:off x="3852" y="2858"/>
            <a:ext cx="302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0640" imgH="63500" progId="Equation.3">
                    <p:embed/>
                  </p:oleObj>
                </mc:Choice>
                <mc:Fallback>
                  <p:oleObj name="Equation" r:id="rId6" imgW="40640" imgH="635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2" y="2858"/>
                          <a:ext cx="302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3" name="Line 16"/>
            <p:cNvSpPr>
              <a:spLocks noChangeShapeType="1"/>
            </p:cNvSpPr>
            <p:nvPr/>
          </p:nvSpPr>
          <p:spPr bwMode="auto">
            <a:xfrm>
              <a:off x="3888" y="168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4" name="Line 17"/>
            <p:cNvSpPr>
              <a:spLocks noChangeShapeType="1"/>
            </p:cNvSpPr>
            <p:nvPr/>
          </p:nvSpPr>
          <p:spPr bwMode="auto">
            <a:xfrm flipV="1">
              <a:off x="4080" y="1680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5" name="Line 18"/>
            <p:cNvSpPr>
              <a:spLocks noChangeShapeType="1"/>
            </p:cNvSpPr>
            <p:nvPr/>
          </p:nvSpPr>
          <p:spPr bwMode="auto">
            <a:xfrm>
              <a:off x="3792" y="624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6" name="Line 19"/>
            <p:cNvSpPr>
              <a:spLocks noChangeShapeType="1"/>
            </p:cNvSpPr>
            <p:nvPr/>
          </p:nvSpPr>
          <p:spPr bwMode="auto">
            <a:xfrm>
              <a:off x="3792" y="3024"/>
              <a:ext cx="0" cy="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20"/>
          <p:cNvGrpSpPr/>
          <p:nvPr/>
        </p:nvGrpSpPr>
        <p:grpSpPr bwMode="auto">
          <a:xfrm>
            <a:off x="5659438" y="2892425"/>
            <a:ext cx="563562" cy="3648075"/>
            <a:chOff x="1152" y="490"/>
            <a:chExt cx="384" cy="2774"/>
          </a:xfrm>
        </p:grpSpPr>
        <p:sp>
          <p:nvSpPr>
            <p:cNvPr id="34825" name="Oval 21"/>
            <p:cNvSpPr>
              <a:spLocks noChangeArrowheads="1"/>
            </p:cNvSpPr>
            <p:nvPr/>
          </p:nvSpPr>
          <p:spPr bwMode="auto">
            <a:xfrm rot="-5400000">
              <a:off x="360" y="1762"/>
              <a:ext cx="1968" cy="19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34826" name="Oval 22"/>
            <p:cNvSpPr>
              <a:spLocks noChangeArrowheads="1"/>
            </p:cNvSpPr>
            <p:nvPr/>
          </p:nvSpPr>
          <p:spPr bwMode="auto">
            <a:xfrm>
              <a:off x="1296" y="279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34827" name="Oval 23"/>
            <p:cNvSpPr>
              <a:spLocks noChangeArrowheads="1"/>
            </p:cNvSpPr>
            <p:nvPr/>
          </p:nvSpPr>
          <p:spPr bwMode="auto">
            <a:xfrm>
              <a:off x="1152" y="2842"/>
              <a:ext cx="384" cy="38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Arial" panose="020B0604020202020204" pitchFamily="34" charset="0"/>
              </a:endParaRPr>
            </a:p>
          </p:txBody>
        </p:sp>
        <p:graphicFrame>
          <p:nvGraphicFramePr>
            <p:cNvPr id="34828" name="Object 24"/>
            <p:cNvGraphicFramePr>
              <a:graphicFrameLocks noChangeAspect="1"/>
            </p:cNvGraphicFramePr>
            <p:nvPr/>
          </p:nvGraphicFramePr>
          <p:xfrm>
            <a:off x="1200" y="2794"/>
            <a:ext cx="336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2070" imgH="92710" progId="Equation.3">
                    <p:embed/>
                  </p:oleObj>
                </mc:Choice>
                <mc:Fallback>
                  <p:oleObj name="Equation" r:id="rId8" imgW="52070" imgH="9271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2794"/>
                          <a:ext cx="336" cy="4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29" name="Line 25"/>
            <p:cNvSpPr>
              <a:spLocks noChangeShapeType="1"/>
            </p:cNvSpPr>
            <p:nvPr/>
          </p:nvSpPr>
          <p:spPr bwMode="auto">
            <a:xfrm>
              <a:off x="1248" y="1642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0" name="Line 26"/>
            <p:cNvSpPr>
              <a:spLocks noChangeShapeType="1"/>
            </p:cNvSpPr>
            <p:nvPr/>
          </p:nvSpPr>
          <p:spPr bwMode="auto">
            <a:xfrm flipV="1">
              <a:off x="1440" y="169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1" name="Line 27"/>
            <p:cNvSpPr>
              <a:spLocks noChangeShapeType="1"/>
            </p:cNvSpPr>
            <p:nvPr/>
          </p:nvSpPr>
          <p:spPr bwMode="auto">
            <a:xfrm>
              <a:off x="1152" y="297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2" name="Oval 28"/>
            <p:cNvSpPr>
              <a:spLocks noChangeArrowheads="1"/>
            </p:cNvSpPr>
            <p:nvPr/>
          </p:nvSpPr>
          <p:spPr bwMode="auto">
            <a:xfrm>
              <a:off x="1296" y="82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34833" name="Oval 29"/>
            <p:cNvSpPr>
              <a:spLocks noChangeArrowheads="1"/>
            </p:cNvSpPr>
            <p:nvPr/>
          </p:nvSpPr>
          <p:spPr bwMode="auto">
            <a:xfrm>
              <a:off x="1152" y="490"/>
              <a:ext cx="384" cy="38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>
                <a:latin typeface="Arial" panose="020B0604020202020204" pitchFamily="34" charset="0"/>
              </a:endParaRPr>
            </a:p>
          </p:txBody>
        </p:sp>
        <p:graphicFrame>
          <p:nvGraphicFramePr>
            <p:cNvPr id="34834" name="Object 30"/>
            <p:cNvGraphicFramePr>
              <a:graphicFrameLocks noChangeAspect="1"/>
            </p:cNvGraphicFramePr>
            <p:nvPr/>
          </p:nvGraphicFramePr>
          <p:xfrm>
            <a:off x="1196" y="492"/>
            <a:ext cx="335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2070" imgH="63500" progId="Equation.3">
                    <p:embed/>
                  </p:oleObj>
                </mc:Choice>
                <mc:Fallback>
                  <p:oleObj name="Equation" r:id="rId10" imgW="52070" imgH="6350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6" y="492"/>
                          <a:ext cx="335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35" name="Line 31"/>
            <p:cNvSpPr>
              <a:spLocks noChangeShapeType="1"/>
            </p:cNvSpPr>
            <p:nvPr/>
          </p:nvSpPr>
          <p:spPr bwMode="auto">
            <a:xfrm>
              <a:off x="1152" y="624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605216" name="Object 32"/>
          <p:cNvGraphicFramePr>
            <a:graphicFrameLocks noChangeAspect="1"/>
          </p:cNvGraphicFramePr>
          <p:nvPr/>
        </p:nvGraphicFramePr>
        <p:xfrm>
          <a:off x="381000" y="2349500"/>
          <a:ext cx="4800600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30960" imgH="977900" progId="Equation.3">
                  <p:embed/>
                </p:oleObj>
              </mc:Choice>
              <mc:Fallback>
                <p:oleObj name="Equation" r:id="rId12" imgW="1330960" imgH="9779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349500"/>
                        <a:ext cx="4800600" cy="373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3" name="Rectangle 9"/>
          <p:cNvSpPr>
            <a:spLocks noChangeArrowheads="1"/>
          </p:cNvSpPr>
          <p:nvPr/>
        </p:nvSpPr>
        <p:spPr bwMode="auto">
          <a:xfrm>
            <a:off x="228600" y="1347788"/>
            <a:ext cx="86868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C00000"/>
                </a:solidFill>
                <a:latin typeface="Arial" panose="020B0604020202020204" pitchFamily="34" charset="0"/>
              </a:rPr>
              <a:t>例</a:t>
            </a:r>
            <a:r>
              <a:rPr lang="en-US" altLang="zh-CN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kumimoji="1" lang="zh-CN" altLang="en-US">
                <a:latin typeface="宋体" panose="02010600030101010101" pitchFamily="2" charset="-122"/>
              </a:rPr>
              <a:t>已知</a:t>
            </a:r>
            <a:r>
              <a:rPr kumimoji="1" lang="en-US" altLang="zh-CN" i="1"/>
              <a:t>X=</a:t>
            </a:r>
            <a:r>
              <a:rPr kumimoji="1" lang="en-US" altLang="zh-CN"/>
              <a:t>{</a:t>
            </a:r>
            <a:r>
              <a:rPr kumimoji="1" lang="en-US" altLang="zh-CN" i="1"/>
              <a:t>a,b,c,d,e</a:t>
            </a:r>
            <a:r>
              <a:rPr kumimoji="1" lang="en-US" altLang="zh-CN"/>
              <a:t>}, </a:t>
            </a:r>
            <a:r>
              <a:rPr kumimoji="1" lang="en-US" altLang="zh-CN" i="1"/>
              <a:t>C=</a:t>
            </a:r>
            <a:r>
              <a:rPr kumimoji="1" lang="en-US" altLang="zh-CN"/>
              <a:t>{{</a:t>
            </a:r>
            <a:r>
              <a:rPr kumimoji="1" lang="en-US" altLang="zh-CN" i="1"/>
              <a:t>a,b</a:t>
            </a:r>
            <a:r>
              <a:rPr kumimoji="1" lang="en-US" altLang="zh-CN"/>
              <a:t>},{</a:t>
            </a:r>
            <a:r>
              <a:rPr kumimoji="1" lang="en-US" altLang="zh-CN" i="1"/>
              <a:t>c</a:t>
            </a:r>
            <a:r>
              <a:rPr kumimoji="1" lang="en-US" altLang="zh-CN"/>
              <a:t>},{</a:t>
            </a:r>
            <a:r>
              <a:rPr kumimoji="1" lang="en-US" altLang="zh-CN" i="1"/>
              <a:t>d,e</a:t>
            </a:r>
            <a:r>
              <a:rPr kumimoji="1" lang="en-US" altLang="zh-CN"/>
              <a:t>}}  </a:t>
            </a:r>
            <a:r>
              <a:rPr kumimoji="1" lang="zh-CN" altLang="en-US">
                <a:latin typeface="宋体" panose="02010600030101010101" pitchFamily="2" charset="-122"/>
              </a:rPr>
              <a:t>试写出由</a:t>
            </a:r>
            <a:r>
              <a:rPr kumimoji="1" lang="zh-CN" altLang="en-US"/>
              <a:t> </a:t>
            </a:r>
            <a:r>
              <a:rPr kumimoji="1" lang="en-US" altLang="zh-CN" i="1"/>
              <a:t>C</a:t>
            </a:r>
            <a:r>
              <a:rPr kumimoji="1" lang="en-US" altLang="zh-CN"/>
              <a:t> </a:t>
            </a:r>
            <a:r>
              <a:rPr kumimoji="1" lang="zh-CN" altLang="en-US">
                <a:latin typeface="宋体" panose="02010600030101010101" pitchFamily="2" charset="-122"/>
              </a:rPr>
              <a:t>导出的 </a:t>
            </a:r>
            <a:r>
              <a:rPr kumimoji="1" lang="en-US" altLang="zh-CN" i="1"/>
              <a:t>X</a:t>
            </a:r>
            <a:r>
              <a:rPr kumimoji="1" lang="en-US" altLang="zh-CN"/>
              <a:t> </a:t>
            </a:r>
            <a:r>
              <a:rPr kumimoji="1" lang="zh-CN" altLang="en-US">
                <a:latin typeface="宋体" panose="02010600030101010101" pitchFamily="2" charset="-122"/>
              </a:rPr>
              <a:t>中的等价关系</a:t>
            </a:r>
            <a:r>
              <a:rPr kumimoji="1" lang="zh-CN" altLang="en-US"/>
              <a:t> </a:t>
            </a:r>
            <a:r>
              <a:rPr kumimoji="1" lang="en-US" altLang="zh-CN" i="1"/>
              <a:t>R</a:t>
            </a:r>
            <a:r>
              <a:rPr kumimoji="1" lang="en-US" altLang="zh-CN">
                <a:latin typeface="宋体" panose="02010600030101010101" pitchFamily="2" charset="-122"/>
              </a:rPr>
              <a:t> ,</a:t>
            </a:r>
            <a:r>
              <a:rPr kumimoji="1" lang="zh-CN" altLang="en-US">
                <a:latin typeface="宋体" panose="02010600030101010101" pitchFamily="2" charset="-122"/>
              </a:rPr>
              <a:t>并给出关系矩阵和关系图</a:t>
            </a:r>
            <a:r>
              <a:rPr kumimoji="1" lang="en-US" altLang="zh-CN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348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实例（续）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AD10D6A-7177-4868-A4F4-1DDD7D0ECFA4}" type="slidenum">
              <a:rPr lang="en-US" altLang="zh-CN" sz="1400" b="0" smtClean="0">
                <a:latin typeface="Arial" panose="020B0604020202020204" pitchFamily="34" charset="0"/>
              </a:rPr>
              <a:t>129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35843" name="Rectangle 35"/>
          <p:cNvSpPr>
            <a:spLocks noChangeArrowheads="1"/>
          </p:cNvSpPr>
          <p:nvPr/>
        </p:nvSpPr>
        <p:spPr bwMode="auto">
          <a:xfrm>
            <a:off x="539750" y="1125538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11</a:t>
            </a:r>
            <a:r>
              <a:rPr lang="en-US" altLang="zh-CN"/>
              <a:t>   </a:t>
            </a:r>
            <a:r>
              <a:rPr lang="zh-CN" altLang="en-US"/>
              <a:t>给出 </a:t>
            </a:r>
            <a:r>
              <a:rPr lang="en-US" altLang="zh-CN" i="1"/>
              <a:t>A</a:t>
            </a:r>
            <a:r>
              <a:rPr lang="zh-CN" altLang="en-US"/>
              <a:t>＝</a:t>
            </a:r>
            <a:r>
              <a:rPr lang="en-US" altLang="zh-CN"/>
              <a:t>{1,2,3}</a:t>
            </a:r>
            <a:r>
              <a:rPr lang="zh-CN" altLang="en-US"/>
              <a:t>上所有的等价关系</a:t>
            </a:r>
          </a:p>
        </p:txBody>
      </p:sp>
      <p:sp>
        <p:nvSpPr>
          <p:cNvPr id="35844" name="Rectangle 36"/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tx2"/>
                </a:solidFill>
              </a:rPr>
              <a:t>实例</a:t>
            </a:r>
          </a:p>
        </p:txBody>
      </p:sp>
      <p:grpSp>
        <p:nvGrpSpPr>
          <p:cNvPr id="35845" name="Group 91"/>
          <p:cNvGrpSpPr/>
          <p:nvPr/>
        </p:nvGrpSpPr>
        <p:grpSpPr bwMode="auto">
          <a:xfrm>
            <a:off x="395288" y="2478088"/>
            <a:ext cx="8424862" cy="1887537"/>
            <a:chOff x="249" y="1561"/>
            <a:chExt cx="5307" cy="1189"/>
          </a:xfrm>
        </p:grpSpPr>
        <p:grpSp>
          <p:nvGrpSpPr>
            <p:cNvPr id="35848" name="Group 83"/>
            <p:cNvGrpSpPr/>
            <p:nvPr/>
          </p:nvGrpSpPr>
          <p:grpSpPr bwMode="auto">
            <a:xfrm>
              <a:off x="249" y="1561"/>
              <a:ext cx="907" cy="1189"/>
              <a:chOff x="521" y="1661"/>
              <a:chExt cx="907" cy="1189"/>
            </a:xfrm>
          </p:grpSpPr>
          <p:grpSp>
            <p:nvGrpSpPr>
              <p:cNvPr id="35887" name="Group 46"/>
              <p:cNvGrpSpPr/>
              <p:nvPr/>
            </p:nvGrpSpPr>
            <p:grpSpPr bwMode="auto">
              <a:xfrm>
                <a:off x="521" y="1661"/>
                <a:ext cx="907" cy="907"/>
                <a:chOff x="612" y="2296"/>
                <a:chExt cx="907" cy="907"/>
              </a:xfrm>
            </p:grpSpPr>
            <p:sp>
              <p:nvSpPr>
                <p:cNvPr id="35889" name="Oval 38"/>
                <p:cNvSpPr>
                  <a:spLocks noChangeArrowheads="1"/>
                </p:cNvSpPr>
                <p:nvPr/>
              </p:nvSpPr>
              <p:spPr bwMode="auto">
                <a:xfrm>
                  <a:off x="612" y="2296"/>
                  <a:ext cx="907" cy="907"/>
                </a:xfrm>
                <a:prstGeom prst="ellipse">
                  <a:avLst/>
                </a:prstGeom>
                <a:solidFill>
                  <a:srgbClr val="FFFF99"/>
                </a:solidFill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b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890" name="Oval 39"/>
                <p:cNvSpPr>
                  <a:spLocks noChangeArrowheads="1"/>
                </p:cNvSpPr>
                <p:nvPr/>
              </p:nvSpPr>
              <p:spPr bwMode="auto">
                <a:xfrm>
                  <a:off x="975" y="2432"/>
                  <a:ext cx="159" cy="159"/>
                </a:xfrm>
                <a:prstGeom prst="ellipse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Arial Unicode MS" panose="020B0604020202020204" pitchFamily="34" charset="-122"/>
                      <a:ea typeface="Arial Unicode MS" panose="020B0604020202020204" pitchFamily="34" charset="-122"/>
                      <a:cs typeface="Arial Unicode MS" panose="020B0604020202020204" pitchFamily="34" charset="-122"/>
                    </a:rPr>
                    <a:t>1</a:t>
                  </a:r>
                </a:p>
              </p:txBody>
            </p:sp>
            <p:sp>
              <p:nvSpPr>
                <p:cNvPr id="35891" name="Oval 44"/>
                <p:cNvSpPr>
                  <a:spLocks noChangeArrowheads="1"/>
                </p:cNvSpPr>
                <p:nvPr/>
              </p:nvSpPr>
              <p:spPr bwMode="auto">
                <a:xfrm>
                  <a:off x="793" y="2817"/>
                  <a:ext cx="159" cy="159"/>
                </a:xfrm>
                <a:prstGeom prst="ellipse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Arial" panose="020B0604020202020204" pitchFamily="34" charset="0"/>
                      <a:ea typeface="Arial Unicode MS" panose="020B0604020202020204" pitchFamily="34" charset="-122"/>
                      <a:cs typeface="Arial Unicode MS" panose="020B0604020202020204" pitchFamily="34" charset="-122"/>
                    </a:rPr>
                    <a:t>2</a:t>
                  </a:r>
                </a:p>
              </p:txBody>
            </p:sp>
            <p:sp>
              <p:nvSpPr>
                <p:cNvPr id="35892" name="Oval 45"/>
                <p:cNvSpPr>
                  <a:spLocks noChangeArrowheads="1"/>
                </p:cNvSpPr>
                <p:nvPr/>
              </p:nvSpPr>
              <p:spPr bwMode="auto">
                <a:xfrm>
                  <a:off x="1179" y="2817"/>
                  <a:ext cx="159" cy="159"/>
                </a:xfrm>
                <a:prstGeom prst="ellipse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69B3F1"/>
                    </a:buClr>
                    <a:buFont typeface="Wingdings" panose="05000000000000000000" pitchFamily="2" charset="2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中宋" panose="0201060004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Arial Unicode MS" panose="020B0604020202020204" pitchFamily="34" charset="-122"/>
                      <a:ea typeface="Arial Unicode MS" panose="020B0604020202020204" pitchFamily="34" charset="-122"/>
                      <a:cs typeface="Arial Unicode MS" panose="020B0604020202020204" pitchFamily="34" charset="-122"/>
                    </a:rPr>
                    <a:t>3</a:t>
                  </a:r>
                </a:p>
              </p:txBody>
            </p:sp>
          </p:grpSp>
          <p:sp>
            <p:nvSpPr>
              <p:cNvPr id="35888" name="Rectangle 78"/>
              <p:cNvSpPr>
                <a:spLocks noChangeArrowheads="1"/>
              </p:cNvSpPr>
              <p:nvPr/>
            </p:nvSpPr>
            <p:spPr bwMode="auto">
              <a:xfrm>
                <a:off x="881" y="2523"/>
                <a:ext cx="36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9B3F1"/>
                  </a:buClr>
                  <a:buFont typeface="Wingdings" panose="05000000000000000000" pitchFamily="2" charset="2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b="0">
                    <a:latin typeface="Arial" panose="020B0604020202020204" pitchFamily="34" charset="0"/>
                    <a:sym typeface="Symbol" panose="05050102010706020507" pitchFamily="18" charset="2"/>
                  </a:rPr>
                  <a:t></a:t>
                </a:r>
                <a:r>
                  <a:rPr lang="en-US" altLang="zh-CN" sz="2800" b="0" baseline="-25000">
                    <a:latin typeface="Arial" panose="020B0604020202020204" pitchFamily="34" charset="0"/>
                  </a:rPr>
                  <a:t>1</a:t>
                </a:r>
                <a:r>
                  <a:rPr lang="en-US" altLang="zh-CN" sz="2800" baseline="-25000">
                    <a:latin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</a:p>
            </p:txBody>
          </p:sp>
        </p:grpSp>
        <p:grpSp>
          <p:nvGrpSpPr>
            <p:cNvPr id="35849" name="Group 87"/>
            <p:cNvGrpSpPr/>
            <p:nvPr/>
          </p:nvGrpSpPr>
          <p:grpSpPr bwMode="auto">
            <a:xfrm>
              <a:off x="4649" y="1561"/>
              <a:ext cx="907" cy="1189"/>
              <a:chOff x="3152" y="2931"/>
              <a:chExt cx="907" cy="1189"/>
            </a:xfrm>
          </p:grpSpPr>
          <p:grpSp>
            <p:nvGrpSpPr>
              <p:cNvPr id="35877" name="Group 76"/>
              <p:cNvGrpSpPr/>
              <p:nvPr/>
            </p:nvGrpSpPr>
            <p:grpSpPr bwMode="auto">
              <a:xfrm>
                <a:off x="3152" y="2931"/>
                <a:ext cx="907" cy="907"/>
                <a:chOff x="3152" y="3022"/>
                <a:chExt cx="907" cy="907"/>
              </a:xfrm>
            </p:grpSpPr>
            <p:grpSp>
              <p:nvGrpSpPr>
                <p:cNvPr id="35879" name="Group 57"/>
                <p:cNvGrpSpPr/>
                <p:nvPr/>
              </p:nvGrpSpPr>
              <p:grpSpPr bwMode="auto">
                <a:xfrm>
                  <a:off x="3152" y="3022"/>
                  <a:ext cx="907" cy="907"/>
                  <a:chOff x="612" y="2296"/>
                  <a:chExt cx="907" cy="907"/>
                </a:xfrm>
              </p:grpSpPr>
              <p:sp>
                <p:nvSpPr>
                  <p:cNvPr id="35883" name="Oval 58"/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296"/>
                    <a:ext cx="907" cy="907"/>
                  </a:xfrm>
                  <a:prstGeom prst="ellipse">
                    <a:avLst/>
                  </a:prstGeom>
                  <a:solidFill>
                    <a:srgbClr val="FFFF99"/>
                  </a:solidFill>
                  <a:ln w="2857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884" name="Oval 59"/>
                  <p:cNvSpPr>
                    <a:spLocks noChangeArrowheads="1"/>
                  </p:cNvSpPr>
                  <p:nvPr/>
                </p:nvSpPr>
                <p:spPr bwMode="auto">
                  <a:xfrm>
                    <a:off x="975" y="2432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1</a:t>
                    </a:r>
                  </a:p>
                </p:txBody>
              </p:sp>
              <p:sp>
                <p:nvSpPr>
                  <p:cNvPr id="35885" name="Oval 60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Arial" panose="020B0604020202020204" pitchFamily="34" charset="0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2</a:t>
                    </a:r>
                  </a:p>
                </p:txBody>
              </p:sp>
              <p:sp>
                <p:nvSpPr>
                  <p:cNvPr id="35886" name="Oval 61"/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3</a:t>
                    </a:r>
                  </a:p>
                </p:txBody>
              </p:sp>
            </p:grpSp>
            <p:sp>
              <p:nvSpPr>
                <p:cNvPr id="35880" name="Line 70"/>
                <p:cNvSpPr>
                  <a:spLocks noChangeShapeType="1"/>
                </p:cNvSpPr>
                <p:nvPr/>
              </p:nvSpPr>
              <p:spPr bwMode="auto">
                <a:xfrm>
                  <a:off x="3243" y="3203"/>
                  <a:ext cx="363" cy="31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81" name="Line 71"/>
                <p:cNvSpPr>
                  <a:spLocks noChangeShapeType="1"/>
                </p:cNvSpPr>
                <p:nvPr/>
              </p:nvSpPr>
              <p:spPr bwMode="auto">
                <a:xfrm flipV="1">
                  <a:off x="3606" y="3294"/>
                  <a:ext cx="408" cy="22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82" name="Line 72"/>
                <p:cNvSpPr>
                  <a:spLocks noChangeShapeType="1"/>
                </p:cNvSpPr>
                <p:nvPr/>
              </p:nvSpPr>
              <p:spPr bwMode="auto">
                <a:xfrm>
                  <a:off x="3606" y="3521"/>
                  <a:ext cx="0" cy="40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5878" name="Rectangle 79"/>
              <p:cNvSpPr>
                <a:spLocks noChangeArrowheads="1"/>
              </p:cNvSpPr>
              <p:nvPr/>
            </p:nvSpPr>
            <p:spPr bwMode="auto">
              <a:xfrm>
                <a:off x="3509" y="3793"/>
                <a:ext cx="32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9B3F1"/>
                  </a:buClr>
                  <a:buFont typeface="Wingdings" panose="05000000000000000000" pitchFamily="2" charset="2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b="0">
                    <a:latin typeface="Arial" panose="020B0604020202020204" pitchFamily="34" charset="0"/>
                    <a:sym typeface="Symbol" panose="05050102010706020507" pitchFamily="18" charset="2"/>
                  </a:rPr>
                  <a:t></a:t>
                </a:r>
                <a:r>
                  <a:rPr lang="en-US" altLang="zh-CN" sz="2800" b="0" baseline="-25000">
                    <a:latin typeface="Arial" panose="020B0604020202020204" pitchFamily="34" charset="0"/>
                    <a:sym typeface="Symbol" panose="05050102010706020507" pitchFamily="18" charset="2"/>
                  </a:rPr>
                  <a:t>5</a:t>
                </a:r>
                <a:endParaRPr lang="en-US" altLang="zh-CN" sz="2800" b="0" baseline="-25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5850" name="Group 84"/>
            <p:cNvGrpSpPr/>
            <p:nvPr/>
          </p:nvGrpSpPr>
          <p:grpSpPr bwMode="auto">
            <a:xfrm>
              <a:off x="1338" y="1570"/>
              <a:ext cx="907" cy="1180"/>
              <a:chOff x="2154" y="1706"/>
              <a:chExt cx="907" cy="1180"/>
            </a:xfrm>
          </p:grpSpPr>
          <p:grpSp>
            <p:nvGrpSpPr>
              <p:cNvPr id="35869" name="Group 73"/>
              <p:cNvGrpSpPr/>
              <p:nvPr/>
            </p:nvGrpSpPr>
            <p:grpSpPr bwMode="auto">
              <a:xfrm>
                <a:off x="2154" y="1706"/>
                <a:ext cx="907" cy="907"/>
                <a:chOff x="2154" y="1797"/>
                <a:chExt cx="907" cy="907"/>
              </a:xfrm>
            </p:grpSpPr>
            <p:grpSp>
              <p:nvGrpSpPr>
                <p:cNvPr id="35871" name="Group 47"/>
                <p:cNvGrpSpPr/>
                <p:nvPr/>
              </p:nvGrpSpPr>
              <p:grpSpPr bwMode="auto">
                <a:xfrm>
                  <a:off x="2154" y="1797"/>
                  <a:ext cx="907" cy="907"/>
                  <a:chOff x="612" y="2296"/>
                  <a:chExt cx="907" cy="907"/>
                </a:xfrm>
              </p:grpSpPr>
              <p:sp>
                <p:nvSpPr>
                  <p:cNvPr id="35873" name="Oval 48"/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296"/>
                    <a:ext cx="907" cy="907"/>
                  </a:xfrm>
                  <a:prstGeom prst="ellipse">
                    <a:avLst/>
                  </a:prstGeom>
                  <a:solidFill>
                    <a:srgbClr val="FFFF99"/>
                  </a:solidFill>
                  <a:ln w="2857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874" name="Oval 49"/>
                  <p:cNvSpPr>
                    <a:spLocks noChangeArrowheads="1"/>
                  </p:cNvSpPr>
                  <p:nvPr/>
                </p:nvSpPr>
                <p:spPr bwMode="auto">
                  <a:xfrm>
                    <a:off x="975" y="2432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1</a:t>
                    </a:r>
                  </a:p>
                </p:txBody>
              </p:sp>
              <p:sp>
                <p:nvSpPr>
                  <p:cNvPr id="35875" name="Oval 50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Arial" panose="020B0604020202020204" pitchFamily="34" charset="0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2</a:t>
                    </a:r>
                  </a:p>
                </p:txBody>
              </p:sp>
              <p:sp>
                <p:nvSpPr>
                  <p:cNvPr id="35876" name="Oval 51"/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3</a:t>
                    </a:r>
                  </a:p>
                </p:txBody>
              </p:sp>
            </p:grpSp>
            <p:sp>
              <p:nvSpPr>
                <p:cNvPr id="35872" name="Line 67"/>
                <p:cNvSpPr>
                  <a:spLocks noChangeShapeType="1"/>
                </p:cNvSpPr>
                <p:nvPr/>
              </p:nvSpPr>
              <p:spPr bwMode="auto">
                <a:xfrm>
                  <a:off x="2154" y="2205"/>
                  <a:ext cx="90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5870" name="Rectangle 80"/>
              <p:cNvSpPr>
                <a:spLocks noChangeArrowheads="1"/>
              </p:cNvSpPr>
              <p:nvPr/>
            </p:nvSpPr>
            <p:spPr bwMode="auto">
              <a:xfrm>
                <a:off x="2511" y="2559"/>
                <a:ext cx="32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9B3F1"/>
                  </a:buClr>
                  <a:buFont typeface="Wingdings" panose="05000000000000000000" pitchFamily="2" charset="2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b="0">
                    <a:latin typeface="Arial" panose="020B0604020202020204" pitchFamily="34" charset="0"/>
                    <a:sym typeface="Symbol" panose="05050102010706020507" pitchFamily="18" charset="2"/>
                  </a:rPr>
                  <a:t></a:t>
                </a:r>
                <a:r>
                  <a:rPr lang="en-US" altLang="zh-CN" sz="2800" b="0" baseline="-25000">
                    <a:latin typeface="Arial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35851" name="Group 86"/>
            <p:cNvGrpSpPr/>
            <p:nvPr/>
          </p:nvGrpSpPr>
          <p:grpSpPr bwMode="auto">
            <a:xfrm>
              <a:off x="3560" y="1561"/>
              <a:ext cx="907" cy="1189"/>
              <a:chOff x="1383" y="2931"/>
              <a:chExt cx="907" cy="1189"/>
            </a:xfrm>
          </p:grpSpPr>
          <p:grpSp>
            <p:nvGrpSpPr>
              <p:cNvPr id="35861" name="Group 75"/>
              <p:cNvGrpSpPr/>
              <p:nvPr/>
            </p:nvGrpSpPr>
            <p:grpSpPr bwMode="auto">
              <a:xfrm>
                <a:off x="1383" y="2931"/>
                <a:ext cx="907" cy="907"/>
                <a:chOff x="1383" y="3022"/>
                <a:chExt cx="907" cy="907"/>
              </a:xfrm>
            </p:grpSpPr>
            <p:grpSp>
              <p:nvGrpSpPr>
                <p:cNvPr id="35863" name="Group 52"/>
                <p:cNvGrpSpPr/>
                <p:nvPr/>
              </p:nvGrpSpPr>
              <p:grpSpPr bwMode="auto">
                <a:xfrm>
                  <a:off x="1383" y="3022"/>
                  <a:ext cx="907" cy="907"/>
                  <a:chOff x="612" y="2296"/>
                  <a:chExt cx="907" cy="907"/>
                </a:xfrm>
              </p:grpSpPr>
              <p:sp>
                <p:nvSpPr>
                  <p:cNvPr id="35865" name="Oval 53"/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296"/>
                    <a:ext cx="907" cy="907"/>
                  </a:xfrm>
                  <a:prstGeom prst="ellipse">
                    <a:avLst/>
                  </a:prstGeom>
                  <a:solidFill>
                    <a:srgbClr val="FFFF99"/>
                  </a:solidFill>
                  <a:ln w="2857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866" name="Oval 54"/>
                  <p:cNvSpPr>
                    <a:spLocks noChangeArrowheads="1"/>
                  </p:cNvSpPr>
                  <p:nvPr/>
                </p:nvSpPr>
                <p:spPr bwMode="auto">
                  <a:xfrm>
                    <a:off x="975" y="2432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1</a:t>
                    </a:r>
                  </a:p>
                </p:txBody>
              </p:sp>
              <p:sp>
                <p:nvSpPr>
                  <p:cNvPr id="35867" name="Oval 55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Arial" panose="020B0604020202020204" pitchFamily="34" charset="0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2</a:t>
                    </a:r>
                  </a:p>
                </p:txBody>
              </p:sp>
              <p:sp>
                <p:nvSpPr>
                  <p:cNvPr id="35868" name="Oval 56"/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3</a:t>
                    </a:r>
                  </a:p>
                </p:txBody>
              </p:sp>
            </p:grpSp>
            <p:sp>
              <p:nvSpPr>
                <p:cNvPr id="35864" name="Line 69"/>
                <p:cNvSpPr>
                  <a:spLocks noChangeShapeType="1"/>
                </p:cNvSpPr>
                <p:nvPr/>
              </p:nvSpPr>
              <p:spPr bwMode="auto">
                <a:xfrm flipH="1">
                  <a:off x="1701" y="3113"/>
                  <a:ext cx="363" cy="77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5862" name="Rectangle 81"/>
              <p:cNvSpPr>
                <a:spLocks noChangeArrowheads="1"/>
              </p:cNvSpPr>
              <p:nvPr/>
            </p:nvSpPr>
            <p:spPr bwMode="auto">
              <a:xfrm>
                <a:off x="1746" y="3793"/>
                <a:ext cx="32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9B3F1"/>
                  </a:buClr>
                  <a:buFont typeface="Wingdings" panose="05000000000000000000" pitchFamily="2" charset="2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b="0">
                    <a:latin typeface="Arial" panose="020B0604020202020204" pitchFamily="34" charset="0"/>
                    <a:sym typeface="Symbol" panose="05050102010706020507" pitchFamily="18" charset="2"/>
                  </a:rPr>
                  <a:t></a:t>
                </a:r>
                <a:r>
                  <a:rPr lang="en-US" altLang="zh-CN" sz="2800" b="0" baseline="-25000">
                    <a:latin typeface="Arial" panose="020B0604020202020204" pitchFamily="34" charset="0"/>
                    <a:sym typeface="Symbol" panose="05050102010706020507" pitchFamily="18" charset="2"/>
                  </a:rPr>
                  <a:t>4</a:t>
                </a:r>
                <a:endParaRPr lang="en-US" altLang="zh-CN" sz="2800" b="0" baseline="-25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5852" name="Group 85"/>
            <p:cNvGrpSpPr/>
            <p:nvPr/>
          </p:nvGrpSpPr>
          <p:grpSpPr bwMode="auto">
            <a:xfrm>
              <a:off x="2426" y="1570"/>
              <a:ext cx="907" cy="1180"/>
              <a:chOff x="3923" y="1706"/>
              <a:chExt cx="907" cy="1180"/>
            </a:xfrm>
          </p:grpSpPr>
          <p:grpSp>
            <p:nvGrpSpPr>
              <p:cNvPr id="35853" name="Group 74"/>
              <p:cNvGrpSpPr/>
              <p:nvPr/>
            </p:nvGrpSpPr>
            <p:grpSpPr bwMode="auto">
              <a:xfrm>
                <a:off x="3923" y="1706"/>
                <a:ext cx="907" cy="907"/>
                <a:chOff x="3923" y="1752"/>
                <a:chExt cx="907" cy="907"/>
              </a:xfrm>
            </p:grpSpPr>
            <p:grpSp>
              <p:nvGrpSpPr>
                <p:cNvPr id="35855" name="Group 62"/>
                <p:cNvGrpSpPr/>
                <p:nvPr/>
              </p:nvGrpSpPr>
              <p:grpSpPr bwMode="auto">
                <a:xfrm>
                  <a:off x="3923" y="1752"/>
                  <a:ext cx="907" cy="907"/>
                  <a:chOff x="612" y="2296"/>
                  <a:chExt cx="907" cy="907"/>
                </a:xfrm>
              </p:grpSpPr>
              <p:sp>
                <p:nvSpPr>
                  <p:cNvPr id="35857" name="Oval 63"/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296"/>
                    <a:ext cx="907" cy="907"/>
                  </a:xfrm>
                  <a:prstGeom prst="ellipse">
                    <a:avLst/>
                  </a:prstGeom>
                  <a:solidFill>
                    <a:srgbClr val="FFFF99"/>
                  </a:solidFill>
                  <a:ln w="2857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858" name="Oval 64"/>
                  <p:cNvSpPr>
                    <a:spLocks noChangeArrowheads="1"/>
                  </p:cNvSpPr>
                  <p:nvPr/>
                </p:nvSpPr>
                <p:spPr bwMode="auto">
                  <a:xfrm>
                    <a:off x="975" y="2432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1</a:t>
                    </a:r>
                  </a:p>
                </p:txBody>
              </p:sp>
              <p:sp>
                <p:nvSpPr>
                  <p:cNvPr id="35859" name="Oval 65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Arial" panose="020B0604020202020204" pitchFamily="34" charset="0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2</a:t>
                    </a:r>
                  </a:p>
                </p:txBody>
              </p:sp>
              <p:sp>
                <p:nvSpPr>
                  <p:cNvPr id="35860" name="Oval 66"/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69B3F1"/>
                      </a:buClr>
                      <a:buFont typeface="Wingdings" panose="05000000000000000000" pitchFamily="2" charset="2"/>
                      <a:defRPr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3</a:t>
                    </a:r>
                  </a:p>
                </p:txBody>
              </p:sp>
            </p:grpSp>
            <p:sp>
              <p:nvSpPr>
                <p:cNvPr id="35856" name="Line 68"/>
                <p:cNvSpPr>
                  <a:spLocks noChangeShapeType="1"/>
                </p:cNvSpPr>
                <p:nvPr/>
              </p:nvSpPr>
              <p:spPr bwMode="auto">
                <a:xfrm>
                  <a:off x="4105" y="1888"/>
                  <a:ext cx="408" cy="72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5854" name="Rectangle 82"/>
              <p:cNvSpPr>
                <a:spLocks noChangeArrowheads="1"/>
              </p:cNvSpPr>
              <p:nvPr/>
            </p:nvSpPr>
            <p:spPr bwMode="auto">
              <a:xfrm>
                <a:off x="4286" y="2559"/>
                <a:ext cx="32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9B3F1"/>
                  </a:buClr>
                  <a:buFont typeface="Wingdings" panose="05000000000000000000" pitchFamily="2" charset="2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b="0">
                    <a:latin typeface="Arial" panose="020B0604020202020204" pitchFamily="34" charset="0"/>
                    <a:sym typeface="Symbol" panose="05050102010706020507" pitchFamily="18" charset="2"/>
                  </a:rPr>
                  <a:t></a:t>
                </a:r>
                <a:r>
                  <a:rPr lang="en-US" altLang="zh-CN" sz="2800" b="0" baseline="-25000">
                    <a:latin typeface="Arial" panose="020B0604020202020204" pitchFamily="34" charset="0"/>
                    <a:sym typeface="Symbol" panose="05050102010706020507" pitchFamily="18" charset="2"/>
                  </a:rPr>
                  <a:t>3</a:t>
                </a:r>
                <a:endParaRPr lang="en-US" altLang="zh-CN" sz="2800" b="0" baseline="-250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5846" name="Rectangle 89"/>
          <p:cNvSpPr>
            <a:spLocks noChangeArrowheads="1"/>
          </p:cNvSpPr>
          <p:nvPr/>
        </p:nvSpPr>
        <p:spPr bwMode="auto">
          <a:xfrm>
            <a:off x="684213" y="4437063"/>
            <a:ext cx="8099425" cy="176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0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1</a:t>
            </a:r>
            <a:r>
              <a:rPr lang="zh-CN" altLang="en-US"/>
              <a:t>对应 </a:t>
            </a:r>
            <a:r>
              <a:rPr lang="en-US" altLang="zh-CN" i="1"/>
              <a:t>E</a:t>
            </a:r>
            <a:r>
              <a:rPr lang="en-US" altLang="zh-CN" i="1" baseline="-25000"/>
              <a:t>A</a:t>
            </a:r>
            <a:r>
              <a:rPr lang="en-US" altLang="zh-CN"/>
              <a:t>, </a:t>
            </a:r>
            <a:r>
              <a:rPr lang="en-US" altLang="zh-CN" sz="2800" b="0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5 </a:t>
            </a:r>
            <a:r>
              <a:rPr lang="zh-CN" altLang="en-US"/>
              <a:t>对应 </a:t>
            </a:r>
            <a:r>
              <a:rPr lang="en-US" altLang="zh-CN" i="1"/>
              <a:t>I</a:t>
            </a:r>
            <a:r>
              <a:rPr lang="en-US" altLang="zh-CN" i="1" baseline="-25000"/>
              <a:t>A</a:t>
            </a:r>
            <a:r>
              <a:rPr lang="en-US" altLang="zh-CN"/>
              <a:t>,   </a:t>
            </a:r>
            <a:r>
              <a:rPr lang="en-US" altLang="zh-CN" sz="2800" b="0">
                <a:sym typeface="Symbol" panose="05050102010706020507" pitchFamily="18" charset="2"/>
              </a:rPr>
              <a:t>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/>
              <a:t>, </a:t>
            </a:r>
            <a:r>
              <a:rPr lang="en-US" altLang="zh-CN" sz="2800" b="0">
                <a:sym typeface="Symbol" panose="05050102010706020507" pitchFamily="18" charset="2"/>
              </a:rPr>
              <a:t></a:t>
            </a:r>
            <a:r>
              <a:rPr lang="en-US" altLang="zh-CN" baseline="-25000">
                <a:sym typeface="Symbol" panose="05050102010706020507" pitchFamily="18" charset="2"/>
              </a:rPr>
              <a:t>3 </a:t>
            </a:r>
            <a:r>
              <a:rPr lang="zh-CN" altLang="en-US"/>
              <a:t>和</a:t>
            </a:r>
            <a:r>
              <a:rPr lang="zh-CN" altLang="en-US" sz="2800"/>
              <a:t> </a:t>
            </a:r>
            <a:r>
              <a:rPr lang="zh-CN" altLang="en-US" sz="2800" b="0">
                <a:sym typeface="Symbol" panose="05050102010706020507" pitchFamily="18" charset="2"/>
              </a:rPr>
              <a:t></a:t>
            </a:r>
            <a:r>
              <a:rPr lang="en-US" altLang="zh-CN" baseline="-25000">
                <a:sym typeface="Symbol" panose="05050102010706020507" pitchFamily="18" charset="2"/>
              </a:rPr>
              <a:t>4</a:t>
            </a:r>
            <a:r>
              <a:rPr lang="zh-CN" altLang="en-US"/>
              <a:t>分别对应 </a:t>
            </a:r>
            <a:r>
              <a:rPr lang="en-US" altLang="zh-CN" i="1"/>
              <a:t>R</a:t>
            </a:r>
            <a:r>
              <a:rPr lang="en-US" altLang="zh-CN" baseline="-25000"/>
              <a:t>2</a:t>
            </a:r>
            <a:r>
              <a:rPr lang="en-US" altLang="zh-CN"/>
              <a:t>, </a:t>
            </a:r>
            <a:r>
              <a:rPr lang="en-US" altLang="zh-CN" i="1"/>
              <a:t>R</a:t>
            </a:r>
            <a:r>
              <a:rPr lang="en-US" altLang="zh-CN" baseline="-25000"/>
              <a:t>3</a:t>
            </a:r>
            <a:r>
              <a:rPr lang="zh-CN" altLang="en-US"/>
              <a:t>和 </a:t>
            </a:r>
            <a:r>
              <a:rPr lang="en-US" altLang="zh-CN" i="1"/>
              <a:t>R</a:t>
            </a:r>
            <a:r>
              <a:rPr lang="en-US" altLang="zh-CN" baseline="-25000"/>
              <a:t>4</a:t>
            </a:r>
            <a:r>
              <a:rPr lang="en-US" altLang="zh-CN"/>
              <a:t>. </a:t>
            </a:r>
            <a:endParaRPr lang="en-US" altLang="zh-CN" i="1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i="1"/>
              <a:t>               R</a:t>
            </a:r>
            <a:r>
              <a:rPr lang="en-US" altLang="zh-CN" baseline="-25000"/>
              <a:t>2</a:t>
            </a:r>
            <a:r>
              <a:rPr lang="en-US" altLang="zh-CN"/>
              <a:t>={&lt;2,3&gt;,&lt;3,2&gt;}∪</a:t>
            </a:r>
            <a:r>
              <a:rPr lang="en-US" altLang="zh-CN" i="1"/>
              <a:t>I</a:t>
            </a:r>
            <a:r>
              <a:rPr lang="en-US" altLang="zh-CN" i="1" baseline="-25000"/>
              <a:t>A</a:t>
            </a:r>
            <a:br>
              <a:rPr lang="en-US" altLang="zh-CN"/>
            </a:br>
            <a:r>
              <a:rPr lang="en-US" altLang="zh-CN"/>
              <a:t>               </a:t>
            </a:r>
            <a:r>
              <a:rPr lang="en-US" altLang="zh-CN" i="1"/>
              <a:t>R</a:t>
            </a:r>
            <a:r>
              <a:rPr lang="en-US" altLang="zh-CN" baseline="-25000"/>
              <a:t>3</a:t>
            </a:r>
            <a:r>
              <a:rPr lang="en-US" altLang="zh-CN"/>
              <a:t>={&lt;1,3&gt;,&lt;3,1&gt;}∪</a:t>
            </a:r>
            <a:r>
              <a:rPr lang="en-US" altLang="zh-CN" i="1"/>
              <a:t>I</a:t>
            </a:r>
            <a:r>
              <a:rPr lang="en-US" altLang="zh-CN" i="1" baseline="-25000"/>
              <a:t>A</a:t>
            </a:r>
            <a:br>
              <a:rPr lang="en-US" altLang="zh-CN"/>
            </a:br>
            <a:r>
              <a:rPr lang="en-US" altLang="zh-CN"/>
              <a:t>               </a:t>
            </a:r>
            <a:r>
              <a:rPr lang="en-US" altLang="zh-CN" i="1"/>
              <a:t>R</a:t>
            </a:r>
            <a:r>
              <a:rPr lang="en-US" altLang="zh-CN" baseline="-25000"/>
              <a:t>4</a:t>
            </a:r>
            <a:r>
              <a:rPr lang="en-US" altLang="zh-CN"/>
              <a:t>={&lt;1,2&gt;,&lt;2,1&gt;}∪</a:t>
            </a:r>
            <a:r>
              <a:rPr lang="en-US" altLang="zh-CN" i="1"/>
              <a:t>I</a:t>
            </a:r>
            <a:r>
              <a:rPr lang="en-US" altLang="zh-CN" i="1" baseline="-25000"/>
              <a:t>A</a:t>
            </a:r>
          </a:p>
        </p:txBody>
      </p:sp>
      <p:sp>
        <p:nvSpPr>
          <p:cNvPr id="35847" name="Rectangle 90"/>
          <p:cNvSpPr>
            <a:spLocks noChangeArrowheads="1"/>
          </p:cNvSpPr>
          <p:nvPr/>
        </p:nvSpPr>
        <p:spPr bwMode="auto">
          <a:xfrm>
            <a:off x="539750" y="1773238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/>
              <a:t>解   先做出</a:t>
            </a:r>
            <a:r>
              <a:rPr lang="en-US" altLang="zh-CN" i="1"/>
              <a:t>A</a:t>
            </a:r>
            <a:r>
              <a:rPr lang="zh-CN" altLang="en-US"/>
              <a:t>的划分</a:t>
            </a:r>
            <a:r>
              <a:rPr lang="en-US" altLang="zh-CN"/>
              <a:t>, </a:t>
            </a:r>
            <a:r>
              <a:rPr lang="zh-CN" altLang="en-US"/>
              <a:t>从左到右分别记作 </a:t>
            </a:r>
            <a:r>
              <a:rPr lang="zh-CN" altLang="en-US">
                <a:latin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>
                <a:latin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2</a:t>
            </a:r>
            <a:r>
              <a:rPr lang="en-US" altLang="zh-CN"/>
              <a:t>, </a:t>
            </a:r>
            <a:r>
              <a:rPr lang="en-US" altLang="zh-CN">
                <a:latin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3</a:t>
            </a:r>
            <a:r>
              <a:rPr lang="en-US" altLang="zh-CN"/>
              <a:t>, </a:t>
            </a:r>
            <a:r>
              <a:rPr lang="en-US" altLang="zh-CN">
                <a:latin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4</a:t>
            </a:r>
            <a:r>
              <a:rPr lang="en-US" altLang="zh-CN"/>
              <a:t>, </a:t>
            </a:r>
            <a:r>
              <a:rPr lang="en-US" altLang="zh-CN">
                <a:latin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5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6" grpId="0"/>
      <p:bldP spid="35847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ABD6C9-DE68-4A3D-9374-665FBA489F0F}" type="slidenum">
              <a:rPr lang="en-US" altLang="zh-CN" sz="1400" b="0" smtClean="0">
                <a:latin typeface="Arial" panose="020B0604020202020204" pitchFamily="34" charset="0"/>
              </a:rPr>
              <a:t>130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410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进阶例题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580112" y="44624"/>
            <a:ext cx="1135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  <a:sym typeface="Webdings" panose="05030102010509060703" pitchFamily="18" charset="2"/>
              </a:rPr>
              <a:t>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95536" y="1268760"/>
            <a:ext cx="8424936" cy="3900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en-US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例：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设</a:t>
            </a:r>
            <a:r>
              <a:rPr lang="fr-FR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是全集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的子集，给出各</a:t>
            </a:r>
            <a:r>
              <a:rPr lang="zh-CN" altLang="zh-CN" b="1" kern="100" dirty="0">
                <a:latin typeface="Times New Roman" panose="02020603050405020304" pitchFamily="18" charset="0"/>
                <a:cs typeface="宋体" panose="02010600030101010101" pitchFamily="2" charset="-122"/>
              </a:rPr>
              <a:t>命题</a:t>
            </a:r>
            <a:r>
              <a:rPr lang="en-US" altLang="zh-CN" b="1" kern="100" dirty="0">
                <a:latin typeface="Times New Roman" panose="02020603050405020304" pitchFamily="18" charset="0"/>
                <a:cs typeface="宋体" panose="02010600030101010101" pitchFamily="2" charset="-122"/>
              </a:rPr>
              <a:t>(</a:t>
            </a:r>
            <a:r>
              <a:rPr lang="zh-CN" altLang="zh-CN" b="1" kern="100" dirty="0">
                <a:latin typeface="Times New Roman" panose="02020603050405020304" pitchFamily="18" charset="0"/>
                <a:cs typeface="宋体" panose="02010600030101010101" pitchFamily="2" charset="-122"/>
              </a:rPr>
              <a:t>如下所示</a:t>
            </a:r>
            <a:r>
              <a:rPr lang="en-US" altLang="zh-CN" b="1" kern="100" dirty="0">
                <a:latin typeface="Times New Roman" panose="02020603050405020304" pitchFamily="18" charset="0"/>
                <a:cs typeface="宋体" panose="02010600030101010101" pitchFamily="2" charset="-122"/>
              </a:rPr>
              <a:t>)</a:t>
            </a:r>
            <a:r>
              <a:rPr lang="zh-CN" altLang="zh-CN" b="1" kern="100" dirty="0">
                <a:latin typeface="Times New Roman" panose="02020603050405020304" pitchFamily="18" charset="0"/>
                <a:cs typeface="宋体" panose="02010600030101010101" pitchFamily="2" charset="-122"/>
              </a:rPr>
              <a:t>及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由这些命题构成的集合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={</a:t>
            </a: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fr-FR" altLang="zh-CN" b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fr-FR" altLang="zh-CN" b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r-FR" altLang="zh-CN" b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altLang="zh-CN" b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altLang="zh-CN" b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altLang="zh-CN" b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fr-FR" altLang="zh-CN" b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fr-FR" altLang="zh-CN" b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fr-FR" altLang="zh-CN" b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zh-CN" altLang="zh-CN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50000"/>
              </a:lnSpc>
            </a:pP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kern="10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b="1" kern="100" dirty="0">
                <a:solidFill>
                  <a:srgbClr val="0066FF"/>
                </a:solidFill>
                <a:latin typeface="Times New Roman" panose="02020603050405020304" pitchFamily="18" charset="0"/>
                <a:cs typeface="宋体" panose="02010600030101010101" pitchFamily="2" charset="-122"/>
              </a:rPr>
              <a:t> 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;  </a:t>
            </a: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kern="100" dirty="0"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altLang="zh-CN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;  </a:t>
            </a: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fr-FR" altLang="zh-CN" b="1" kern="0" dirty="0">
                <a:effectLst/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⊆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;      </a:t>
            </a: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altLang="zh-CN" b="1" kern="0" dirty="0">
                <a:effectLst/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⊆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~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; </a:t>
            </a: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altLang="zh-CN" b="1" kern="0" dirty="0">
                <a:effectLst/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⊆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; </a:t>
            </a:r>
            <a:endParaRPr lang="zh-CN" altLang="zh-CN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50000"/>
              </a:lnSpc>
            </a:pP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altLang="zh-CN" b="1" kern="0" dirty="0">
                <a:effectLst/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⊆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Symbol" panose="05050102010706020507" pitchFamily="18" charset="2"/>
              </a:rPr>
              <a:t>~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;   </a:t>
            </a: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altLang="zh-CN" b="1" kern="0" dirty="0">
                <a:effectLst/>
                <a:latin typeface="inherit"/>
                <a:ea typeface="宋体" panose="02010600030101010101" pitchFamily="2" charset="-122"/>
                <a:cs typeface="宋体" panose="02010600030101010101" pitchFamily="2" charset="-122"/>
              </a:rPr>
              <a:t>∩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b="1" kern="10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;  </a:t>
            </a:r>
            <a:r>
              <a:rPr lang="zh-CN" altLang="zh-CN" b="1" kern="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宋体" panose="02010600030101010101" pitchFamily="2" charset="-122"/>
              </a:rPr>
              <a:t> </a:t>
            </a: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altLang="zh-CN" b="1" kern="0" dirty="0">
                <a:effectLst/>
                <a:latin typeface="inherit"/>
                <a:ea typeface="宋体" panose="02010600030101010101" pitchFamily="2" charset="-122"/>
                <a:cs typeface="宋体" panose="02010600030101010101" pitchFamily="2" charset="-122"/>
              </a:rPr>
              <a:t>∩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;  </a:t>
            </a: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fr-FR" altLang="zh-CN" b="1" kern="0" dirty="0">
                <a:effectLst/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⊆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Symbol" panose="05050102010706020507" pitchFamily="18" charset="2"/>
              </a:rPr>
              <a:t>~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; </a:t>
            </a:r>
            <a:r>
              <a:rPr lang="fr-FR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altLang="zh-CN" b="1" kern="0" dirty="0">
                <a:effectLst/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⊆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b="1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04800" algn="just">
              <a:lnSpc>
                <a:spcPct val="150000"/>
              </a:lnSpc>
            </a:pP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上定义等价关系</a:t>
            </a: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r-FR" altLang="zh-CN" b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zh-CN" altLang="zh-CN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fr-FR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xR</a:t>
            </a:r>
            <a:r>
              <a:rPr lang="fr-FR" altLang="zh-CN" b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fr-FR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fr-FR" altLang="zh-CN" b="1" kern="0" dirty="0">
                <a:effectLst/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⇔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fr-FR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lang="fr-FR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的充分必要条件</a:t>
            </a:r>
            <a:endParaRPr lang="zh-CN" altLang="zh-CN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求</a:t>
            </a:r>
            <a:r>
              <a:rPr lang="en-US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的商集</a:t>
            </a:r>
            <a:r>
              <a:rPr lang="en-US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1008112" y="550077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/>
              <a:t>= {{</a:t>
            </a:r>
            <a:r>
              <a:rPr lang="en-US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fr-FR" altLang="zh-CN" b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/>
              <a:t>},{</a:t>
            </a:r>
            <a:r>
              <a:rPr lang="en-US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fr-FR" altLang="zh-CN" b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r-FR" altLang="zh-CN" b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dirty="0"/>
              <a:t>},{</a:t>
            </a:r>
            <a:r>
              <a:rPr lang="en-US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altLang="zh-CN" b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fr-FR" altLang="zh-CN" b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dirty="0"/>
              <a:t>},{</a:t>
            </a:r>
            <a:r>
              <a:rPr lang="en-US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fr-FR" altLang="zh-CN" b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dirty="0"/>
              <a:t>}}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等价关系的证明方法及实例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084077"/>
            <a:ext cx="8229600" cy="476250"/>
          </a:xfrm>
        </p:spPr>
        <p:txBody>
          <a:bodyPr/>
          <a:lstStyle/>
          <a:p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是非空集合</a:t>
            </a:r>
            <a:r>
              <a:rPr lang="en-US" altLang="zh-CN" i="1" dirty="0"/>
              <a:t>A</a:t>
            </a:r>
            <a:r>
              <a:rPr lang="zh-CN" altLang="en-US" dirty="0"/>
              <a:t>上的二元关系，证明</a:t>
            </a:r>
            <a:r>
              <a:rPr lang="en-US" altLang="zh-CN" i="1" dirty="0"/>
              <a:t>R</a:t>
            </a:r>
            <a:r>
              <a:rPr lang="zh-CN" altLang="en-US" dirty="0"/>
              <a:t>是等价关系的方法：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18D934-2717-4E12-9313-02600D0D681D}" type="slidenum">
              <a:rPr lang="en-US" altLang="zh-CN" smtClean="0"/>
              <a:t>131</a:t>
            </a:fld>
            <a:endParaRPr lang="en-US" altLang="zh-CN" dirty="0"/>
          </a:p>
        </p:txBody>
      </p:sp>
      <p:sp>
        <p:nvSpPr>
          <p:cNvPr id="5" name="Rectangle 10"/>
          <p:cNvSpPr txBox="1">
            <a:spLocks noChangeArrowheads="1"/>
          </p:cNvSpPr>
          <p:nvPr/>
        </p:nvSpPr>
        <p:spPr bwMode="auto">
          <a:xfrm>
            <a:off x="323528" y="1603513"/>
            <a:ext cx="8229600" cy="2977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dirty="0"/>
              <a:t>1.  </a:t>
            </a:r>
            <a:r>
              <a:rPr lang="zh-CN" altLang="en-US" dirty="0"/>
              <a:t>证明</a:t>
            </a:r>
            <a:r>
              <a:rPr lang="en-US" altLang="zh-CN" i="1" dirty="0"/>
              <a:t>R</a:t>
            </a:r>
            <a:r>
              <a:rPr lang="zh-CN" altLang="en-US" dirty="0"/>
              <a:t>在</a:t>
            </a:r>
            <a:r>
              <a:rPr lang="en-US" altLang="zh-CN" i="1" dirty="0"/>
              <a:t>A</a:t>
            </a:r>
            <a:r>
              <a:rPr lang="zh-CN" altLang="en-US" dirty="0"/>
              <a:t>上自反</a:t>
            </a:r>
          </a:p>
          <a:p>
            <a:pPr eaLnBrk="1" hangingPunct="1"/>
            <a:r>
              <a:rPr lang="zh-CN" altLang="en-US" dirty="0"/>
              <a:t>     任取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    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/>
              <a:t> 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 ……………………..….……. 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endParaRPr lang="zh-CN" altLang="en-US" dirty="0"/>
          </a:p>
          <a:p>
            <a:pPr eaLnBrk="1" hangingPunct="1">
              <a:spcBef>
                <a:spcPct val="65000"/>
              </a:spcBef>
            </a:pPr>
            <a:r>
              <a:rPr lang="en-US" altLang="zh-CN" dirty="0"/>
              <a:t>2.  </a:t>
            </a:r>
            <a:r>
              <a:rPr lang="zh-CN" altLang="en-US" dirty="0"/>
              <a:t>证明</a:t>
            </a:r>
            <a:r>
              <a:rPr lang="en-US" altLang="zh-CN" i="1" dirty="0"/>
              <a:t>R</a:t>
            </a:r>
            <a:r>
              <a:rPr lang="zh-CN" altLang="en-US" dirty="0"/>
              <a:t>在</a:t>
            </a:r>
            <a:r>
              <a:rPr lang="en-US" altLang="zh-CN" i="1" dirty="0"/>
              <a:t>A</a:t>
            </a:r>
            <a:r>
              <a:rPr lang="zh-CN" altLang="en-US" dirty="0"/>
              <a:t>上对称</a:t>
            </a:r>
          </a:p>
          <a:p>
            <a:pPr eaLnBrk="1" hangingPunct="1"/>
            <a:r>
              <a:rPr lang="zh-CN" altLang="en-US" dirty="0"/>
              <a:t>     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r>
              <a:rPr lang="zh-CN" altLang="en-US" dirty="0"/>
              <a:t>，</a:t>
            </a:r>
          </a:p>
          <a:p>
            <a:pPr eaLnBrk="1" hangingPunct="1"/>
            <a:r>
              <a:rPr lang="zh-CN" altLang="en-US" dirty="0"/>
              <a:t>       </a:t>
            </a:r>
            <a:r>
              <a:rPr lang="fr-FR" altLang="zh-CN" dirty="0"/>
              <a:t>&lt;</a:t>
            </a:r>
            <a:r>
              <a:rPr lang="fr-FR" altLang="zh-CN" i="1" dirty="0"/>
              <a:t>x</a:t>
            </a:r>
            <a:r>
              <a:rPr lang="fr-FR" altLang="zh-CN" dirty="0"/>
              <a:t>,</a:t>
            </a:r>
            <a:r>
              <a:rPr lang="fr-FR" altLang="zh-CN" i="1" dirty="0"/>
              <a:t>y</a:t>
            </a:r>
            <a:r>
              <a:rPr lang="fr-FR" altLang="zh-CN" dirty="0"/>
              <a:t>&gt;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fr-FR" altLang="zh-CN" i="1" dirty="0"/>
              <a:t>R</a:t>
            </a:r>
            <a:r>
              <a:rPr lang="fr-FR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fr-FR" altLang="zh-CN" dirty="0"/>
              <a:t> ……………………………….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fr-FR" altLang="zh-CN" dirty="0"/>
              <a:t> &lt;</a:t>
            </a:r>
            <a:r>
              <a:rPr lang="fr-FR" altLang="zh-CN" i="1" dirty="0"/>
              <a:t>y</a:t>
            </a:r>
            <a:r>
              <a:rPr lang="fr-FR" altLang="zh-CN" dirty="0"/>
              <a:t>,</a:t>
            </a:r>
            <a:r>
              <a:rPr lang="fr-FR" altLang="zh-CN" i="1" dirty="0"/>
              <a:t>x</a:t>
            </a:r>
            <a:r>
              <a:rPr lang="fr-FR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fr-FR" altLang="zh-CN" i="1" dirty="0"/>
              <a:t>R</a:t>
            </a:r>
            <a:endParaRPr lang="fr-FR" altLang="zh-CN" dirty="0"/>
          </a:p>
          <a:p>
            <a:pPr eaLnBrk="1" hangingPunct="1"/>
            <a:r>
              <a:rPr lang="fr-FR" altLang="zh-CN" dirty="0"/>
              <a:t>           </a:t>
            </a:r>
            <a:endParaRPr lang="zh-CN" altLang="en-US" dirty="0"/>
          </a:p>
        </p:txBody>
      </p:sp>
      <p:sp>
        <p:nvSpPr>
          <p:cNvPr id="6" name="Rectangle 10"/>
          <p:cNvSpPr txBox="1">
            <a:spLocks noChangeArrowheads="1"/>
          </p:cNvSpPr>
          <p:nvPr/>
        </p:nvSpPr>
        <p:spPr bwMode="auto">
          <a:xfrm>
            <a:off x="323528" y="4553342"/>
            <a:ext cx="8229600" cy="135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65000"/>
              </a:spcBef>
            </a:pPr>
            <a:r>
              <a:rPr lang="en-US" altLang="zh-CN" dirty="0"/>
              <a:t>3.  </a:t>
            </a:r>
            <a:r>
              <a:rPr lang="zh-CN" altLang="en-US" dirty="0"/>
              <a:t>证明</a:t>
            </a:r>
            <a:r>
              <a:rPr lang="en-US" altLang="zh-CN" i="1" dirty="0"/>
              <a:t>R</a:t>
            </a:r>
            <a:r>
              <a:rPr lang="zh-CN" altLang="en-US" dirty="0"/>
              <a:t>在</a:t>
            </a:r>
            <a:r>
              <a:rPr lang="en-US" altLang="zh-CN" i="1" dirty="0"/>
              <a:t>A</a:t>
            </a:r>
            <a:r>
              <a:rPr lang="zh-CN" altLang="en-US" dirty="0"/>
              <a:t>上传递</a:t>
            </a:r>
          </a:p>
          <a:p>
            <a:pPr eaLnBrk="1" hangingPunct="1"/>
            <a:r>
              <a:rPr lang="zh-CN" altLang="en-US" dirty="0"/>
              <a:t>     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</a:t>
            </a:r>
            <a:r>
              <a:rPr lang="zh-CN" altLang="en-US" dirty="0"/>
              <a:t>，</a:t>
            </a:r>
            <a:endParaRPr lang="zh-CN" altLang="fr-FR" dirty="0"/>
          </a:p>
          <a:p>
            <a:pPr eaLnBrk="1" hangingPunct="1"/>
            <a:r>
              <a:rPr lang="fr-FR" altLang="zh-CN" dirty="0"/>
              <a:t>       &lt;</a:t>
            </a:r>
            <a:r>
              <a:rPr lang="fr-FR" altLang="zh-CN" i="1" dirty="0"/>
              <a:t>x</a:t>
            </a:r>
            <a:r>
              <a:rPr lang="fr-FR" altLang="zh-CN" dirty="0"/>
              <a:t>,</a:t>
            </a:r>
            <a:r>
              <a:rPr lang="fr-FR" altLang="zh-CN" i="1" dirty="0"/>
              <a:t>y</a:t>
            </a:r>
            <a:r>
              <a:rPr lang="fr-FR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fr-FR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fr-FR" altLang="zh-CN" dirty="0"/>
              <a:t>&lt;</a:t>
            </a:r>
            <a:r>
              <a:rPr lang="fr-FR" altLang="zh-CN" i="1" dirty="0"/>
              <a:t>y</a:t>
            </a:r>
            <a:r>
              <a:rPr lang="fr-FR" altLang="zh-CN" dirty="0"/>
              <a:t>,</a:t>
            </a:r>
            <a:r>
              <a:rPr lang="fr-FR" altLang="zh-CN" i="1" dirty="0"/>
              <a:t>z</a:t>
            </a:r>
            <a:r>
              <a:rPr lang="fr-FR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fr-FR" altLang="zh-CN" i="1" dirty="0"/>
              <a:t>R</a:t>
            </a:r>
            <a:r>
              <a:rPr lang="fr-FR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fr-FR" altLang="zh-CN" dirty="0"/>
              <a:t> ……………………..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</a:p>
          <a:p>
            <a:pPr eaLnBrk="1" hangingPunct="1"/>
            <a:r>
              <a:rPr lang="en-US" altLang="zh-CN" dirty="0"/>
              <a:t>                   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23528" y="602128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ym typeface="Symbol" panose="05050102010706020507" pitchFamily="18" charset="2"/>
              </a:rPr>
              <a:t>因此，</a:t>
            </a:r>
            <a:r>
              <a:rPr lang="zh-CN" altLang="en-US" b="1" i="1" dirty="0">
                <a:latin typeface="+mn-lt"/>
                <a:ea typeface="+mn-ea"/>
              </a:rPr>
              <a:t>R</a:t>
            </a:r>
            <a:r>
              <a:rPr lang="zh-CN" altLang="en-US" b="1" dirty="0"/>
              <a:t>是</a:t>
            </a:r>
            <a:r>
              <a:rPr lang="zh-CN" altLang="en-US" b="1" dirty="0">
                <a:sym typeface="Symbol" panose="05050102010706020507" pitchFamily="18" charset="2"/>
              </a:rPr>
              <a:t>等价关系</a:t>
            </a:r>
            <a:r>
              <a:rPr lang="en-US" altLang="zh-CN" b="1" dirty="0">
                <a:sym typeface="Symbol" panose="05050102010706020507" pitchFamily="18" charset="2"/>
              </a:rPr>
              <a:t>.</a:t>
            </a:r>
            <a:endParaRPr lang="zh-CN" altLang="en-US" b="1" dirty="0"/>
          </a:p>
        </p:txBody>
      </p:sp>
    </p:spTree>
  </p:cSld>
  <p:clrMapOvr>
    <a:masterClrMapping/>
  </p:clrMapOvr>
  <p:transition spd="slow">
    <p:fade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等价关系的证明方法及实例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18D934-2717-4E12-9313-02600D0D681D}" type="slidenum">
              <a:rPr lang="en-US" altLang="zh-CN" smtClean="0"/>
              <a:t>132</a:t>
            </a:fld>
            <a:endParaRPr lang="en-US" altLang="zh-CN" dirty="0"/>
          </a:p>
        </p:txBody>
      </p:sp>
      <p:sp>
        <p:nvSpPr>
          <p:cNvPr id="8" name="文本框 7"/>
          <p:cNvSpPr txBox="1"/>
          <p:nvPr/>
        </p:nvSpPr>
        <p:spPr>
          <a:xfrm>
            <a:off x="363807" y="993270"/>
            <a:ext cx="6480720" cy="113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例：</a:t>
            </a:r>
            <a:r>
              <a:rPr lang="zh-CN" altLang="en-US" b="1" dirty="0"/>
              <a:t>设</a:t>
            </a:r>
            <a:r>
              <a:rPr lang="zh-CN" altLang="en-US" b="1" i="1" dirty="0">
                <a:latin typeface="+mn-lt"/>
                <a:ea typeface="+mn-ea"/>
              </a:rPr>
              <a:t>R</a:t>
            </a:r>
            <a:r>
              <a:rPr lang="zh-CN" altLang="en-US" b="1" dirty="0"/>
              <a:t>为非空集合</a:t>
            </a:r>
            <a:r>
              <a:rPr lang="zh-CN" altLang="en-US" b="1" i="1" dirty="0">
                <a:latin typeface="+mn-lt"/>
                <a:ea typeface="+mn-ea"/>
              </a:rPr>
              <a:t>A</a:t>
            </a:r>
            <a:r>
              <a:rPr lang="zh-CN" altLang="en-US" b="1" dirty="0"/>
              <a:t>上的自反和传递的关系，    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       </a:t>
            </a:r>
            <a:r>
              <a:rPr lang="zh-CN" altLang="en-US" b="1" dirty="0"/>
              <a:t>证明：</a:t>
            </a:r>
            <a:r>
              <a:rPr lang="zh-CN" altLang="en-US" b="1" i="1" dirty="0">
                <a:latin typeface="+mn-lt"/>
                <a:ea typeface="+mn-ea"/>
              </a:rPr>
              <a:t>R</a:t>
            </a:r>
            <a:r>
              <a:rPr lang="zh-CN" altLang="en-US" b="1" dirty="0">
                <a:latin typeface="+mn-lt"/>
              </a:rPr>
              <a:t>∩</a:t>
            </a:r>
            <a:r>
              <a:rPr lang="zh-CN" altLang="en-US" b="1" i="1" dirty="0">
                <a:latin typeface="+mn-lt"/>
                <a:ea typeface="+mn-ea"/>
              </a:rPr>
              <a:t>R</a:t>
            </a:r>
            <a:r>
              <a:rPr lang="en-US" altLang="zh-CN" b="1" baseline="30000" dirty="0">
                <a:latin typeface="+mn-lt"/>
              </a:rPr>
              <a:t>-1</a:t>
            </a:r>
            <a:r>
              <a:rPr lang="zh-CN" altLang="en-US" b="1" dirty="0"/>
              <a:t>是</a:t>
            </a:r>
            <a:r>
              <a:rPr lang="zh-CN" altLang="en-US" b="1" i="1" dirty="0">
                <a:latin typeface="+mn-lt"/>
                <a:ea typeface="+mn-ea"/>
              </a:rPr>
              <a:t>A</a:t>
            </a:r>
            <a:r>
              <a:rPr lang="zh-CN" altLang="en-US" b="1" dirty="0"/>
              <a:t>上的等价关系</a:t>
            </a:r>
          </a:p>
        </p:txBody>
      </p:sp>
      <p:sp>
        <p:nvSpPr>
          <p:cNvPr id="10" name="Rectangle 10"/>
          <p:cNvSpPr txBox="1">
            <a:spLocks noChangeArrowheads="1"/>
          </p:cNvSpPr>
          <p:nvPr/>
        </p:nvSpPr>
        <p:spPr bwMode="auto">
          <a:xfrm>
            <a:off x="248494" y="2583036"/>
            <a:ext cx="8715994" cy="2568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/>
              <a:t>1.  </a:t>
            </a:r>
            <a:r>
              <a:rPr lang="zh-CN" altLang="en-US" dirty="0"/>
              <a:t>自反性   任取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66FF"/>
                </a:solidFill>
              </a:rPr>
              <a:t>                               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&gt;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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&gt;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&gt;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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</a:rPr>
              <a:t>&gt;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zh-CN" altLang="en-US" b="1" i="1" dirty="0">
                <a:solidFill>
                  <a:srgbClr val="0066FF"/>
                </a:solidFill>
                <a:latin typeface="+mn-lt"/>
                <a:ea typeface="+mn-ea"/>
              </a:rPr>
              <a:t>R</a:t>
            </a:r>
            <a:r>
              <a:rPr lang="en-US" altLang="zh-CN" b="1" baseline="30000" dirty="0">
                <a:solidFill>
                  <a:srgbClr val="0066FF"/>
                </a:solidFill>
                <a:latin typeface="+mn-lt"/>
              </a:rPr>
              <a:t>-1</a:t>
            </a:r>
            <a:endParaRPr lang="en-US" altLang="zh-CN" i="1" dirty="0">
              <a:solidFill>
                <a:srgbClr val="0066FF"/>
              </a:solidFill>
            </a:endParaRPr>
          </a:p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/>
              <a:t>                               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zh-CN" altLang="en-US" b="1" i="1" dirty="0">
                <a:latin typeface="+mn-lt"/>
                <a:ea typeface="+mn-ea"/>
              </a:rPr>
              <a:t>R</a:t>
            </a:r>
            <a:r>
              <a:rPr lang="zh-CN" altLang="en-US" b="1" dirty="0">
                <a:latin typeface="+mn-lt"/>
              </a:rPr>
              <a:t>∩</a:t>
            </a:r>
            <a:r>
              <a:rPr lang="zh-CN" altLang="en-US" b="1" i="1" dirty="0">
                <a:latin typeface="+mn-lt"/>
                <a:ea typeface="+mn-ea"/>
              </a:rPr>
              <a:t>R</a:t>
            </a:r>
            <a:r>
              <a:rPr lang="en-US" altLang="zh-CN" b="1" baseline="30000" dirty="0">
                <a:latin typeface="+mn-lt"/>
              </a:rPr>
              <a:t>-1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/>
              <a:t>2.  </a:t>
            </a:r>
            <a:r>
              <a:rPr lang="zh-CN" altLang="en-US" dirty="0"/>
              <a:t>对称性   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r>
              <a:rPr lang="zh-CN" altLang="en-US" dirty="0"/>
              <a:t>，</a:t>
            </a:r>
            <a:r>
              <a:rPr lang="fr-FR" altLang="zh-CN" dirty="0"/>
              <a:t>&lt;</a:t>
            </a:r>
            <a:r>
              <a:rPr lang="fr-FR" altLang="zh-CN" i="1" dirty="0"/>
              <a:t>x</a:t>
            </a:r>
            <a:r>
              <a:rPr lang="fr-FR" altLang="zh-CN" dirty="0"/>
              <a:t>,</a:t>
            </a:r>
            <a:r>
              <a:rPr lang="fr-FR" altLang="zh-CN" i="1" dirty="0"/>
              <a:t>y</a:t>
            </a:r>
            <a:r>
              <a:rPr lang="fr-FR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zh-CN" altLang="en-US" b="1" i="1" dirty="0">
                <a:latin typeface="+mn-lt"/>
                <a:ea typeface="+mn-ea"/>
              </a:rPr>
              <a:t>R</a:t>
            </a:r>
            <a:r>
              <a:rPr lang="zh-CN" altLang="en-US" b="1" dirty="0">
                <a:latin typeface="+mn-lt"/>
              </a:rPr>
              <a:t>∩</a:t>
            </a:r>
            <a:r>
              <a:rPr lang="zh-CN" altLang="en-US" b="1" i="1" dirty="0">
                <a:latin typeface="+mn-lt"/>
                <a:ea typeface="+mn-ea"/>
              </a:rPr>
              <a:t>R</a:t>
            </a:r>
            <a:r>
              <a:rPr lang="en-US" altLang="zh-CN" b="1" baseline="30000" dirty="0">
                <a:latin typeface="+mn-lt"/>
              </a:rPr>
              <a:t>-1</a:t>
            </a:r>
            <a:r>
              <a:rPr lang="fr-FR" altLang="zh-CN" dirty="0"/>
              <a:t> 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ym typeface="Symbol" panose="05050102010706020507" pitchFamily="18" charset="2"/>
              </a:rPr>
              <a:t>                                </a:t>
            </a:r>
            <a:r>
              <a:rPr lang="fr-FR" altLang="zh-CN" dirty="0">
                <a:solidFill>
                  <a:srgbClr val="0066FF"/>
                </a:solidFill>
              </a:rPr>
              <a:t>&lt;</a:t>
            </a:r>
            <a:r>
              <a:rPr lang="fr-FR" altLang="zh-CN" i="1" dirty="0">
                <a:solidFill>
                  <a:srgbClr val="0066FF"/>
                </a:solidFill>
              </a:rPr>
              <a:t>x</a:t>
            </a:r>
            <a:r>
              <a:rPr lang="fr-FR" altLang="zh-CN" dirty="0">
                <a:solidFill>
                  <a:srgbClr val="0066FF"/>
                </a:solidFill>
              </a:rPr>
              <a:t>,</a:t>
            </a:r>
            <a:r>
              <a:rPr lang="fr-FR" altLang="zh-CN" i="1" dirty="0">
                <a:solidFill>
                  <a:srgbClr val="0066FF"/>
                </a:solidFill>
              </a:rPr>
              <a:t>y</a:t>
            </a:r>
            <a:r>
              <a:rPr lang="fr-FR" altLang="zh-CN" dirty="0">
                <a:solidFill>
                  <a:srgbClr val="0066FF"/>
                </a:solidFill>
              </a:rPr>
              <a:t>&gt;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zh-CN" altLang="en-US" b="1" i="1" dirty="0">
                <a:solidFill>
                  <a:srgbClr val="0066FF"/>
                </a:solidFill>
                <a:latin typeface="+mn-lt"/>
                <a:ea typeface="+mn-ea"/>
              </a:rPr>
              <a:t>R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</a:t>
            </a:r>
            <a:r>
              <a:rPr lang="fr-FR" altLang="zh-CN" dirty="0">
                <a:solidFill>
                  <a:srgbClr val="0066FF"/>
                </a:solidFill>
              </a:rPr>
              <a:t>&lt;</a:t>
            </a:r>
            <a:r>
              <a:rPr lang="fr-FR" altLang="zh-CN" i="1" dirty="0">
                <a:solidFill>
                  <a:srgbClr val="0066FF"/>
                </a:solidFill>
              </a:rPr>
              <a:t>x</a:t>
            </a:r>
            <a:r>
              <a:rPr lang="fr-FR" altLang="zh-CN" dirty="0">
                <a:solidFill>
                  <a:srgbClr val="0066FF"/>
                </a:solidFill>
              </a:rPr>
              <a:t>,</a:t>
            </a:r>
            <a:r>
              <a:rPr lang="fr-FR" altLang="zh-CN" i="1" dirty="0">
                <a:solidFill>
                  <a:srgbClr val="0066FF"/>
                </a:solidFill>
              </a:rPr>
              <a:t>y</a:t>
            </a:r>
            <a:r>
              <a:rPr lang="fr-FR" altLang="zh-CN" dirty="0">
                <a:solidFill>
                  <a:srgbClr val="0066FF"/>
                </a:solidFill>
              </a:rPr>
              <a:t>&gt;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zh-CN" altLang="en-US" b="1" i="1" dirty="0">
                <a:solidFill>
                  <a:srgbClr val="0066FF"/>
                </a:solidFill>
                <a:latin typeface="+mn-lt"/>
                <a:ea typeface="+mn-ea"/>
              </a:rPr>
              <a:t>R</a:t>
            </a:r>
            <a:r>
              <a:rPr lang="en-US" altLang="zh-CN" b="1" baseline="30000" dirty="0">
                <a:solidFill>
                  <a:srgbClr val="0066FF"/>
                </a:solidFill>
                <a:latin typeface="+mn-lt"/>
              </a:rPr>
              <a:t>-1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fr-FR" altLang="zh-CN" dirty="0">
                <a:solidFill>
                  <a:srgbClr val="0066FF"/>
                </a:solidFill>
              </a:rPr>
              <a:t>&lt;</a:t>
            </a:r>
            <a:r>
              <a:rPr lang="fr-FR" altLang="zh-CN" i="1" dirty="0">
                <a:solidFill>
                  <a:srgbClr val="0066FF"/>
                </a:solidFill>
              </a:rPr>
              <a:t>y</a:t>
            </a:r>
            <a:r>
              <a:rPr lang="fr-FR" altLang="zh-CN" dirty="0">
                <a:solidFill>
                  <a:srgbClr val="0066FF"/>
                </a:solidFill>
              </a:rPr>
              <a:t>,</a:t>
            </a:r>
            <a:r>
              <a:rPr lang="fr-FR" altLang="zh-CN" i="1" dirty="0">
                <a:solidFill>
                  <a:srgbClr val="0066FF"/>
                </a:solidFill>
              </a:rPr>
              <a:t>x</a:t>
            </a:r>
            <a:r>
              <a:rPr lang="fr-FR" altLang="zh-CN" dirty="0">
                <a:solidFill>
                  <a:srgbClr val="0066FF"/>
                </a:solidFill>
              </a:rPr>
              <a:t>&gt;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zh-CN" altLang="en-US" i="1" dirty="0">
                <a:solidFill>
                  <a:srgbClr val="0066FF"/>
                </a:solidFill>
              </a:rPr>
              <a:t>R</a:t>
            </a:r>
            <a:r>
              <a:rPr lang="en-US" altLang="zh-CN" baseline="30000" dirty="0">
                <a:solidFill>
                  <a:srgbClr val="0066FF"/>
                </a:solidFill>
              </a:rPr>
              <a:t>-1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</a:t>
            </a:r>
            <a:r>
              <a:rPr lang="fr-FR" altLang="zh-CN" dirty="0">
                <a:solidFill>
                  <a:srgbClr val="0066FF"/>
                </a:solidFill>
              </a:rPr>
              <a:t>&lt;</a:t>
            </a:r>
            <a:r>
              <a:rPr lang="fr-FR" altLang="zh-CN" i="1" dirty="0">
                <a:solidFill>
                  <a:srgbClr val="0066FF"/>
                </a:solidFill>
              </a:rPr>
              <a:t>y</a:t>
            </a:r>
            <a:r>
              <a:rPr lang="fr-FR" altLang="zh-CN" dirty="0">
                <a:solidFill>
                  <a:srgbClr val="0066FF"/>
                </a:solidFill>
              </a:rPr>
              <a:t>,</a:t>
            </a:r>
            <a:r>
              <a:rPr lang="fr-FR" altLang="zh-CN" i="1" dirty="0">
                <a:solidFill>
                  <a:srgbClr val="0066FF"/>
                </a:solidFill>
              </a:rPr>
              <a:t>x</a:t>
            </a:r>
            <a:r>
              <a:rPr lang="fr-FR" altLang="zh-CN" dirty="0">
                <a:solidFill>
                  <a:srgbClr val="0066FF"/>
                </a:solidFill>
              </a:rPr>
              <a:t>&gt;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zh-CN" altLang="en-US" i="1" dirty="0">
                <a:solidFill>
                  <a:srgbClr val="0066FF"/>
                </a:solidFill>
              </a:rPr>
              <a:t>R</a:t>
            </a:r>
            <a:endParaRPr lang="fr-FR" altLang="zh-CN" dirty="0">
              <a:solidFill>
                <a:srgbClr val="0066FF"/>
              </a:solidFill>
            </a:endParaRPr>
          </a:p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ym typeface="Symbol" panose="05050102010706020507" pitchFamily="18" charset="2"/>
              </a:rPr>
              <a:t>                                </a:t>
            </a:r>
            <a:r>
              <a:rPr lang="fr-FR" altLang="zh-CN" dirty="0"/>
              <a:t> &lt;</a:t>
            </a:r>
            <a:r>
              <a:rPr lang="fr-FR" altLang="zh-CN" i="1" dirty="0"/>
              <a:t>y</a:t>
            </a:r>
            <a:r>
              <a:rPr lang="fr-FR" altLang="zh-CN" dirty="0"/>
              <a:t>,</a:t>
            </a:r>
            <a:r>
              <a:rPr lang="fr-FR" altLang="zh-CN" i="1" dirty="0"/>
              <a:t>x</a:t>
            </a:r>
            <a:r>
              <a:rPr lang="fr-FR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zh-CN" altLang="en-US" b="1" i="1" dirty="0">
                <a:latin typeface="+mn-lt"/>
                <a:ea typeface="+mn-ea"/>
              </a:rPr>
              <a:t>R</a:t>
            </a:r>
            <a:r>
              <a:rPr lang="zh-CN" altLang="en-US" b="1" dirty="0">
                <a:latin typeface="+mn-lt"/>
              </a:rPr>
              <a:t>∩</a:t>
            </a:r>
            <a:r>
              <a:rPr lang="zh-CN" altLang="en-US" b="1" i="1" dirty="0">
                <a:latin typeface="+mn-lt"/>
                <a:ea typeface="+mn-ea"/>
              </a:rPr>
              <a:t>R</a:t>
            </a:r>
            <a:r>
              <a:rPr lang="en-US" altLang="zh-CN" b="1" baseline="30000" dirty="0">
                <a:latin typeface="+mn-lt"/>
              </a:rPr>
              <a:t>-1</a:t>
            </a:r>
            <a:endParaRPr lang="fr-FR" altLang="zh-CN" dirty="0"/>
          </a:p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fr-FR" altLang="zh-CN" dirty="0"/>
              <a:t>           </a:t>
            </a:r>
            <a:endParaRPr lang="zh-CN" altLang="en-US" dirty="0"/>
          </a:p>
        </p:txBody>
      </p:sp>
      <p:sp>
        <p:nvSpPr>
          <p:cNvPr id="11" name="Rectangle 10"/>
          <p:cNvSpPr txBox="1">
            <a:spLocks noChangeArrowheads="1"/>
          </p:cNvSpPr>
          <p:nvPr/>
        </p:nvSpPr>
        <p:spPr bwMode="auto">
          <a:xfrm>
            <a:off x="233092" y="4660336"/>
            <a:ext cx="8731395" cy="2081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/>
              <a:t>3.  </a:t>
            </a:r>
            <a:r>
              <a:rPr lang="zh-CN" altLang="en-US" dirty="0"/>
              <a:t>传递性   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</a:t>
            </a:r>
            <a:r>
              <a:rPr lang="zh-CN" altLang="en-US" dirty="0"/>
              <a:t>，</a:t>
            </a:r>
            <a:r>
              <a:rPr lang="fr-FR" altLang="zh-CN" dirty="0"/>
              <a:t>&lt;</a:t>
            </a:r>
            <a:r>
              <a:rPr lang="fr-FR" altLang="zh-CN" i="1" dirty="0"/>
              <a:t>x</a:t>
            </a:r>
            <a:r>
              <a:rPr lang="fr-FR" altLang="zh-CN" dirty="0"/>
              <a:t>,</a:t>
            </a:r>
            <a:r>
              <a:rPr lang="fr-FR" altLang="zh-CN" i="1" dirty="0"/>
              <a:t>y</a:t>
            </a:r>
            <a:r>
              <a:rPr lang="fr-FR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zh-CN" altLang="en-US" b="1" i="1" dirty="0">
                <a:latin typeface="+mn-lt"/>
                <a:ea typeface="+mn-ea"/>
              </a:rPr>
              <a:t>R</a:t>
            </a:r>
            <a:r>
              <a:rPr lang="zh-CN" altLang="en-US" b="1" dirty="0">
                <a:latin typeface="+mn-lt"/>
              </a:rPr>
              <a:t>∩</a:t>
            </a:r>
            <a:r>
              <a:rPr lang="zh-CN" altLang="en-US" b="1" i="1" dirty="0">
                <a:latin typeface="+mn-lt"/>
                <a:ea typeface="+mn-ea"/>
              </a:rPr>
              <a:t>R</a:t>
            </a:r>
            <a:r>
              <a:rPr lang="en-US" altLang="zh-CN" b="1" baseline="30000" dirty="0">
                <a:latin typeface="+mn-lt"/>
              </a:rPr>
              <a:t>-1 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fr-FR" altLang="zh-CN" dirty="0"/>
              <a:t>&lt;</a:t>
            </a:r>
            <a:r>
              <a:rPr lang="fr-FR" altLang="zh-CN" i="1" dirty="0"/>
              <a:t>y</a:t>
            </a:r>
            <a:r>
              <a:rPr lang="fr-FR" altLang="zh-CN" dirty="0"/>
              <a:t>,</a:t>
            </a:r>
            <a:r>
              <a:rPr lang="fr-FR" altLang="zh-CN" i="1" dirty="0"/>
              <a:t>z</a:t>
            </a:r>
            <a:r>
              <a:rPr lang="fr-FR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zh-CN" altLang="en-US" b="1" i="1" dirty="0">
                <a:latin typeface="+mn-lt"/>
                <a:ea typeface="+mn-ea"/>
              </a:rPr>
              <a:t>R</a:t>
            </a:r>
            <a:r>
              <a:rPr lang="zh-CN" altLang="en-US" b="1" dirty="0">
                <a:latin typeface="+mn-lt"/>
              </a:rPr>
              <a:t>∩</a:t>
            </a:r>
            <a:r>
              <a:rPr lang="zh-CN" altLang="en-US" b="1" i="1" dirty="0">
                <a:latin typeface="+mn-lt"/>
                <a:ea typeface="+mn-ea"/>
              </a:rPr>
              <a:t>R</a:t>
            </a:r>
            <a:r>
              <a:rPr lang="en-US" altLang="zh-CN" b="1" baseline="30000" dirty="0">
                <a:latin typeface="+mn-lt"/>
              </a:rPr>
              <a:t>-1</a:t>
            </a:r>
            <a:r>
              <a:rPr lang="fr-FR" altLang="zh-CN" dirty="0"/>
              <a:t> 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ym typeface="Symbol" panose="05050102010706020507" pitchFamily="18" charset="2"/>
              </a:rPr>
              <a:t>                               </a:t>
            </a:r>
            <a:r>
              <a:rPr lang="fr-FR" altLang="zh-CN" dirty="0"/>
              <a:t> </a:t>
            </a:r>
            <a:r>
              <a:rPr lang="fr-FR" altLang="zh-CN" dirty="0">
                <a:solidFill>
                  <a:srgbClr val="0066FF"/>
                </a:solidFill>
              </a:rPr>
              <a:t>&lt;</a:t>
            </a:r>
            <a:r>
              <a:rPr lang="fr-FR" altLang="zh-CN" i="1" dirty="0">
                <a:solidFill>
                  <a:srgbClr val="0066FF"/>
                </a:solidFill>
              </a:rPr>
              <a:t>x</a:t>
            </a:r>
            <a:r>
              <a:rPr lang="fr-FR" altLang="zh-CN" dirty="0">
                <a:solidFill>
                  <a:srgbClr val="0066FF"/>
                </a:solidFill>
              </a:rPr>
              <a:t>,</a:t>
            </a:r>
            <a:r>
              <a:rPr lang="fr-FR" altLang="zh-CN" i="1" dirty="0">
                <a:solidFill>
                  <a:srgbClr val="0066FF"/>
                </a:solidFill>
              </a:rPr>
              <a:t>y</a:t>
            </a:r>
            <a:r>
              <a:rPr lang="fr-FR" altLang="zh-CN" dirty="0">
                <a:solidFill>
                  <a:srgbClr val="0066FF"/>
                </a:solidFill>
              </a:rPr>
              <a:t>&gt;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zh-CN" altLang="en-US" b="1" i="1" dirty="0">
                <a:solidFill>
                  <a:srgbClr val="0066FF"/>
                </a:solidFill>
                <a:latin typeface="+mn-lt"/>
                <a:ea typeface="+mn-ea"/>
              </a:rPr>
              <a:t>R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</a:t>
            </a:r>
            <a:r>
              <a:rPr lang="fr-FR" altLang="zh-CN" dirty="0">
                <a:solidFill>
                  <a:srgbClr val="7030A0"/>
                </a:solidFill>
              </a:rPr>
              <a:t>&lt;</a:t>
            </a:r>
            <a:r>
              <a:rPr lang="fr-FR" altLang="zh-CN" i="1" dirty="0">
                <a:solidFill>
                  <a:srgbClr val="7030A0"/>
                </a:solidFill>
              </a:rPr>
              <a:t>x</a:t>
            </a:r>
            <a:r>
              <a:rPr lang="fr-FR" altLang="zh-CN" dirty="0">
                <a:solidFill>
                  <a:srgbClr val="7030A0"/>
                </a:solidFill>
              </a:rPr>
              <a:t>,</a:t>
            </a:r>
            <a:r>
              <a:rPr lang="fr-FR" altLang="zh-CN" i="1" dirty="0">
                <a:solidFill>
                  <a:srgbClr val="7030A0"/>
                </a:solidFill>
              </a:rPr>
              <a:t>y</a:t>
            </a:r>
            <a:r>
              <a:rPr lang="fr-FR" altLang="zh-CN" dirty="0">
                <a:solidFill>
                  <a:srgbClr val="7030A0"/>
                </a:solidFill>
              </a:rPr>
              <a:t>&gt;</a:t>
            </a:r>
            <a:r>
              <a:rPr lang="en-US" altLang="zh-CN" dirty="0">
                <a:solidFill>
                  <a:srgbClr val="7030A0"/>
                </a:solidFill>
                <a:sym typeface="Symbol" panose="05050102010706020507" pitchFamily="18" charset="2"/>
              </a:rPr>
              <a:t></a:t>
            </a:r>
            <a:r>
              <a:rPr lang="zh-CN" altLang="en-US" b="1" i="1" dirty="0">
                <a:solidFill>
                  <a:srgbClr val="7030A0"/>
                </a:solidFill>
                <a:latin typeface="+mn-lt"/>
                <a:ea typeface="+mn-ea"/>
              </a:rPr>
              <a:t>R</a:t>
            </a:r>
            <a:r>
              <a:rPr lang="en-US" altLang="zh-CN" b="1" baseline="30000" dirty="0">
                <a:solidFill>
                  <a:srgbClr val="7030A0"/>
                </a:solidFill>
                <a:latin typeface="+mn-lt"/>
              </a:rPr>
              <a:t>-1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</a:t>
            </a:r>
            <a:r>
              <a:rPr lang="fr-FR" altLang="zh-CN" dirty="0">
                <a:solidFill>
                  <a:srgbClr val="0066FF"/>
                </a:solidFill>
              </a:rPr>
              <a:t>&lt;</a:t>
            </a:r>
            <a:r>
              <a:rPr lang="fr-FR" altLang="zh-CN" i="1" dirty="0">
                <a:solidFill>
                  <a:srgbClr val="0066FF"/>
                </a:solidFill>
              </a:rPr>
              <a:t>y</a:t>
            </a:r>
            <a:r>
              <a:rPr lang="fr-FR" altLang="zh-CN" dirty="0">
                <a:solidFill>
                  <a:srgbClr val="0066FF"/>
                </a:solidFill>
              </a:rPr>
              <a:t>,</a:t>
            </a:r>
            <a:r>
              <a:rPr lang="fr-FR" altLang="zh-CN" i="1" dirty="0">
                <a:solidFill>
                  <a:srgbClr val="0066FF"/>
                </a:solidFill>
              </a:rPr>
              <a:t>z</a:t>
            </a:r>
            <a:r>
              <a:rPr lang="fr-FR" altLang="zh-CN" dirty="0">
                <a:solidFill>
                  <a:srgbClr val="0066FF"/>
                </a:solidFill>
              </a:rPr>
              <a:t>&gt;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zh-CN" altLang="en-US" b="1" i="1" dirty="0">
                <a:solidFill>
                  <a:srgbClr val="0066FF"/>
                </a:solidFill>
                <a:latin typeface="+mn-lt"/>
                <a:ea typeface="+mn-ea"/>
              </a:rPr>
              <a:t>R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</a:t>
            </a:r>
            <a:r>
              <a:rPr lang="fr-FR" altLang="zh-CN" dirty="0">
                <a:solidFill>
                  <a:srgbClr val="7030A0"/>
                </a:solidFill>
              </a:rPr>
              <a:t>&lt;</a:t>
            </a:r>
            <a:r>
              <a:rPr lang="fr-FR" altLang="zh-CN" i="1" dirty="0">
                <a:solidFill>
                  <a:srgbClr val="7030A0"/>
                </a:solidFill>
              </a:rPr>
              <a:t>y</a:t>
            </a:r>
            <a:r>
              <a:rPr lang="fr-FR" altLang="zh-CN" dirty="0">
                <a:solidFill>
                  <a:srgbClr val="7030A0"/>
                </a:solidFill>
              </a:rPr>
              <a:t>,</a:t>
            </a:r>
            <a:r>
              <a:rPr lang="fr-FR" altLang="zh-CN" i="1" dirty="0">
                <a:solidFill>
                  <a:srgbClr val="7030A0"/>
                </a:solidFill>
              </a:rPr>
              <a:t>z</a:t>
            </a:r>
            <a:r>
              <a:rPr lang="fr-FR" altLang="zh-CN" dirty="0">
                <a:solidFill>
                  <a:srgbClr val="7030A0"/>
                </a:solidFill>
              </a:rPr>
              <a:t>&gt;</a:t>
            </a:r>
            <a:r>
              <a:rPr lang="en-US" altLang="zh-CN" dirty="0">
                <a:solidFill>
                  <a:srgbClr val="7030A0"/>
                </a:solidFill>
                <a:sym typeface="Symbol" panose="05050102010706020507" pitchFamily="18" charset="2"/>
              </a:rPr>
              <a:t></a:t>
            </a:r>
            <a:r>
              <a:rPr lang="zh-CN" altLang="en-US" b="1" i="1" dirty="0">
                <a:solidFill>
                  <a:srgbClr val="7030A0"/>
                </a:solidFill>
                <a:latin typeface="+mn-lt"/>
                <a:ea typeface="+mn-ea"/>
              </a:rPr>
              <a:t>R</a:t>
            </a:r>
            <a:r>
              <a:rPr lang="en-US" altLang="zh-CN" b="1" baseline="30000" dirty="0">
                <a:solidFill>
                  <a:srgbClr val="7030A0"/>
                </a:solidFill>
                <a:latin typeface="+mn-lt"/>
              </a:rPr>
              <a:t>-1</a:t>
            </a:r>
            <a:r>
              <a:rPr lang="fr-FR" altLang="zh-CN" dirty="0">
                <a:solidFill>
                  <a:srgbClr val="7030A0"/>
                </a:solidFill>
              </a:rPr>
              <a:t> </a:t>
            </a:r>
            <a:endParaRPr lang="fr-FR" altLang="zh-CN" dirty="0">
              <a:solidFill>
                <a:srgbClr val="7030A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ym typeface="Symbol" panose="05050102010706020507" pitchFamily="18" charset="2"/>
              </a:rPr>
              <a:t>                               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z</a:t>
            </a:r>
            <a:r>
              <a:rPr lang="en-US" altLang="zh-CN" dirty="0">
                <a:solidFill>
                  <a:srgbClr val="0066FF"/>
                </a:solidFill>
              </a:rPr>
              <a:t>&gt;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zh-CN" altLang="en-US" b="1" i="1" dirty="0">
                <a:solidFill>
                  <a:srgbClr val="0066FF"/>
                </a:solidFill>
                <a:latin typeface="+mn-lt"/>
                <a:ea typeface="+mn-ea"/>
              </a:rPr>
              <a:t>R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</a:t>
            </a:r>
            <a:r>
              <a:rPr lang="en-US" altLang="zh-CN" dirty="0">
                <a:solidFill>
                  <a:srgbClr val="7030A0"/>
                </a:solidFill>
              </a:rPr>
              <a:t>&lt;</a:t>
            </a:r>
            <a:r>
              <a:rPr lang="en-US" altLang="zh-CN" i="1" dirty="0" err="1">
                <a:solidFill>
                  <a:srgbClr val="7030A0"/>
                </a:solidFill>
              </a:rPr>
              <a:t>x</a:t>
            </a:r>
            <a:r>
              <a:rPr lang="en-US" altLang="zh-CN" dirty="0" err="1">
                <a:solidFill>
                  <a:srgbClr val="7030A0"/>
                </a:solidFill>
              </a:rPr>
              <a:t>,</a:t>
            </a:r>
            <a:r>
              <a:rPr lang="en-US" altLang="zh-CN" i="1" dirty="0" err="1">
                <a:solidFill>
                  <a:srgbClr val="7030A0"/>
                </a:solidFill>
              </a:rPr>
              <a:t>z</a:t>
            </a:r>
            <a:r>
              <a:rPr lang="en-US" altLang="zh-CN" dirty="0">
                <a:solidFill>
                  <a:srgbClr val="7030A0"/>
                </a:solidFill>
              </a:rPr>
              <a:t>&gt;</a:t>
            </a:r>
            <a:r>
              <a:rPr lang="en-US" altLang="zh-CN" dirty="0">
                <a:solidFill>
                  <a:srgbClr val="7030A0"/>
                </a:solidFill>
                <a:sym typeface="Symbol" panose="05050102010706020507" pitchFamily="18" charset="2"/>
              </a:rPr>
              <a:t></a:t>
            </a:r>
            <a:r>
              <a:rPr lang="zh-CN" altLang="en-US" b="1" i="1" dirty="0">
                <a:solidFill>
                  <a:srgbClr val="7030A0"/>
                </a:solidFill>
                <a:latin typeface="+mn-lt"/>
                <a:ea typeface="+mn-ea"/>
              </a:rPr>
              <a:t>R</a:t>
            </a:r>
            <a:r>
              <a:rPr lang="en-US" altLang="zh-CN" b="1" baseline="30000" dirty="0">
                <a:solidFill>
                  <a:srgbClr val="7030A0"/>
                </a:solidFill>
                <a:latin typeface="+mn-lt"/>
              </a:rPr>
              <a:t>-1</a:t>
            </a:r>
            <a:r>
              <a:rPr lang="en-US" altLang="zh-CN" dirty="0">
                <a:solidFill>
                  <a:srgbClr val="7030A0"/>
                </a:solidFill>
              </a:rPr>
              <a:t> 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ym typeface="Symbol" panose="05050102010706020507" pitchFamily="18" charset="2"/>
              </a:rPr>
              <a:t>                               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zh-CN" altLang="en-US" b="1" i="1" dirty="0">
                <a:latin typeface="+mn-lt"/>
                <a:ea typeface="+mn-ea"/>
              </a:rPr>
              <a:t>R</a:t>
            </a:r>
            <a:r>
              <a:rPr lang="zh-CN" altLang="en-US" b="1" dirty="0">
                <a:latin typeface="+mn-lt"/>
              </a:rPr>
              <a:t>∩</a:t>
            </a:r>
            <a:r>
              <a:rPr lang="zh-CN" altLang="en-US" b="1" i="1" dirty="0">
                <a:latin typeface="+mn-lt"/>
                <a:ea typeface="+mn-ea"/>
              </a:rPr>
              <a:t>R</a:t>
            </a:r>
            <a:r>
              <a:rPr lang="en-US" altLang="zh-CN" b="1" baseline="30000" dirty="0">
                <a:latin typeface="+mn-lt"/>
              </a:rPr>
              <a:t>-1</a:t>
            </a:r>
            <a:r>
              <a:rPr lang="en-US" altLang="zh-CN" dirty="0"/>
              <a:t> 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/>
              <a:t>                   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81864" y="611573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ym typeface="Symbol" panose="05050102010706020507" pitchFamily="18" charset="2"/>
              </a:rPr>
              <a:t>因此，</a:t>
            </a:r>
            <a:r>
              <a:rPr lang="zh-CN" altLang="en-US" b="1" i="1" dirty="0">
                <a:latin typeface="+mn-lt"/>
                <a:ea typeface="+mn-ea"/>
              </a:rPr>
              <a:t>R</a:t>
            </a:r>
            <a:r>
              <a:rPr lang="zh-CN" altLang="en-US" b="1" dirty="0">
                <a:sym typeface="Symbol" panose="05050102010706020507" pitchFamily="18" charset="2"/>
              </a:rPr>
              <a:t>是等价关系</a:t>
            </a:r>
            <a:r>
              <a:rPr lang="en-US" altLang="zh-CN" b="1" dirty="0">
                <a:sym typeface="Symbol" panose="05050102010706020507" pitchFamily="18" charset="2"/>
              </a:rPr>
              <a:t>.</a:t>
            </a:r>
            <a:endParaRPr lang="zh-CN" altLang="en-US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233092" y="211255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证明：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233092" y="3573016"/>
            <a:ext cx="8587380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33092" y="4660336"/>
            <a:ext cx="8587380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233092" y="6077949"/>
            <a:ext cx="8587380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244408" y="6245224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fld id="{4DD35A9E-92F9-4954-A643-3986319EA10E}" type="slidenum">
              <a:rPr lang="zh-CN" altLang="en-US" sz="1400">
                <a:latin typeface="Times New Roman" panose="02020603050405020304" pitchFamily="18" charset="0"/>
              </a:rPr>
              <a:t>133</a:t>
            </a:fld>
            <a:endParaRPr lang="en-US" altLang="zh-CN" sz="1400" dirty="0">
              <a:latin typeface="Times New Roman" panose="02020603050405020304" pitchFamily="18" charset="0"/>
            </a:endParaRPr>
          </a:p>
        </p:txBody>
      </p:sp>
      <p:sp>
        <p:nvSpPr>
          <p:cNvPr id="76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48580"/>
            <a:ext cx="8640960" cy="557289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例：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en-US" altLang="zh-CN" dirty="0"/>
              <a:t>Z</a:t>
            </a:r>
            <a:r>
              <a:rPr lang="en-US" altLang="zh-CN" baseline="30000" dirty="0"/>
              <a:t>+</a:t>
            </a:r>
            <a:r>
              <a:rPr lang="en-US" altLang="zh-CN" dirty="0">
                <a:sym typeface="Symbol" panose="05050102010706020507" pitchFamily="18" charset="2"/>
              </a:rPr>
              <a:t> </a:t>
            </a:r>
            <a:r>
              <a:rPr lang="en-US" altLang="zh-CN" dirty="0"/>
              <a:t>Z</a:t>
            </a:r>
            <a:r>
              <a:rPr lang="en-US" altLang="zh-CN" baseline="30000" dirty="0"/>
              <a:t>+</a:t>
            </a:r>
            <a:r>
              <a:rPr lang="zh-CN" altLang="en-US" dirty="0"/>
              <a:t>上的二元关系（</a:t>
            </a:r>
            <a:r>
              <a:rPr lang="en-US" altLang="zh-CN" dirty="0"/>
              <a:t> </a:t>
            </a:r>
            <a:r>
              <a:rPr lang="zh-CN" altLang="en-US" dirty="0"/>
              <a:t>其中，</a:t>
            </a:r>
            <a:r>
              <a:rPr lang="en-US" altLang="zh-CN" dirty="0"/>
              <a:t>Z</a:t>
            </a:r>
            <a:r>
              <a:rPr lang="en-US" altLang="zh-CN" baseline="30000" dirty="0"/>
              <a:t>+</a:t>
            </a:r>
            <a:r>
              <a:rPr lang="zh-CN" altLang="en-US" dirty="0"/>
              <a:t>表示正整数集）</a:t>
            </a:r>
            <a:r>
              <a:rPr lang="en-US" altLang="zh-CN" dirty="0"/>
              <a:t>, 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dirty="0"/>
              <a:t>        </a:t>
            </a:r>
            <a:r>
              <a:rPr lang="zh-CN" altLang="en-US" dirty="0"/>
              <a:t>其定义如下：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&gt;,&lt;</a:t>
            </a:r>
            <a:r>
              <a:rPr lang="en-US" altLang="zh-CN" i="1" dirty="0" err="1"/>
              <a:t>u</a:t>
            </a:r>
            <a:r>
              <a:rPr lang="en-US" altLang="zh-CN" dirty="0" err="1"/>
              <a:t>,</a:t>
            </a:r>
            <a:r>
              <a:rPr lang="en-US" altLang="zh-CN" i="1" dirty="0" err="1"/>
              <a:t>v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Z</a:t>
            </a:r>
            <a:r>
              <a:rPr lang="en-US" altLang="zh-CN" baseline="30000" dirty="0"/>
              <a:t>+</a:t>
            </a:r>
            <a:r>
              <a:rPr lang="en-US" altLang="zh-CN" dirty="0">
                <a:sym typeface="Symbol" panose="05050102010706020507" pitchFamily="18" charset="2"/>
              </a:rPr>
              <a:t> </a:t>
            </a:r>
            <a:r>
              <a:rPr lang="en-US" altLang="zh-CN" dirty="0"/>
              <a:t>Z</a:t>
            </a:r>
            <a:r>
              <a:rPr lang="en-US" altLang="zh-CN" baseline="30000" dirty="0"/>
              <a:t>+</a:t>
            </a:r>
            <a:r>
              <a:rPr lang="en-US" altLang="zh-CN" dirty="0">
                <a:sym typeface="Symbol" panose="05050102010706020507" pitchFamily="18" charset="2"/>
              </a:rPr>
              <a:t> ,</a:t>
            </a:r>
            <a:endParaRPr lang="en-US" altLang="zh-CN" dirty="0"/>
          </a:p>
          <a:p>
            <a:pPr eaLnBrk="1" hangingPunct="1">
              <a:lnSpc>
                <a:spcPct val="80000"/>
              </a:lnSpc>
            </a:pPr>
            <a:r>
              <a:rPr lang="zh-CN" altLang="en-US" dirty="0"/>
              <a:t>                         </a:t>
            </a:r>
            <a:r>
              <a:rPr lang="en-US" altLang="zh-CN" dirty="0"/>
              <a:t>&lt;&lt;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&gt;,&lt;</a:t>
            </a:r>
            <a:r>
              <a:rPr lang="en-US" altLang="zh-CN" i="1" dirty="0" err="1"/>
              <a:t>u</a:t>
            </a:r>
            <a:r>
              <a:rPr lang="en-US" altLang="zh-CN" dirty="0" err="1"/>
              <a:t>,</a:t>
            </a:r>
            <a:r>
              <a:rPr lang="en-US" altLang="zh-CN" i="1" dirty="0" err="1"/>
              <a:t>v</a:t>
            </a:r>
            <a:r>
              <a:rPr lang="en-US" altLang="zh-CN" dirty="0"/>
              <a:t>&gt;&gt;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ym typeface="Symbol" panose="05050102010706020507" pitchFamily="18" charset="2"/>
              </a:rPr>
              <a:t>R</a:t>
            </a:r>
            <a:r>
              <a:rPr lang="zh-CN" altLang="en-US" dirty="0">
                <a:sym typeface="Symbol" panose="05050102010706020507" pitchFamily="18" charset="2"/>
              </a:rPr>
              <a:t> 当且仅当 </a:t>
            </a:r>
            <a:r>
              <a:rPr lang="en-US" altLang="zh-CN" i="1" dirty="0">
                <a:sym typeface="Symbol" panose="05050102010706020507" pitchFamily="18" charset="2"/>
              </a:rPr>
              <a:t>xv</a:t>
            </a:r>
            <a:r>
              <a:rPr lang="en-US" altLang="zh-CN" dirty="0">
                <a:sym typeface="Symbol" panose="05050102010706020507" pitchFamily="18" charset="2"/>
              </a:rPr>
              <a:t>=</a:t>
            </a:r>
            <a:r>
              <a:rPr lang="en-US" altLang="zh-CN" i="1" dirty="0" err="1">
                <a:sym typeface="Symbol" panose="05050102010706020507" pitchFamily="18" charset="2"/>
              </a:rPr>
              <a:t>yu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dirty="0">
                <a:sym typeface="Symbol" panose="05050102010706020507" pitchFamily="18" charset="2"/>
              </a:rPr>
              <a:t>         证明：</a:t>
            </a:r>
            <a:r>
              <a:rPr lang="en-US" altLang="zh-CN" i="1" dirty="0">
                <a:sym typeface="Symbol" panose="05050102010706020507" pitchFamily="18" charset="2"/>
              </a:rPr>
              <a:t>R</a:t>
            </a:r>
            <a:r>
              <a:rPr lang="zh-CN" altLang="en-US" dirty="0">
                <a:sym typeface="Symbol" panose="05050102010706020507" pitchFamily="18" charset="2"/>
              </a:rPr>
              <a:t>是一个等价关系</a:t>
            </a:r>
            <a:r>
              <a:rPr lang="en-US" altLang="zh-CN" dirty="0"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证明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: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1.</a:t>
            </a:r>
            <a:r>
              <a:rPr lang="zh-CN" altLang="en-US" dirty="0">
                <a:sym typeface="Symbol" panose="05050102010706020507" pitchFamily="18" charset="2"/>
              </a:rPr>
              <a:t>自反性</a:t>
            </a:r>
            <a:r>
              <a:rPr lang="en-US" altLang="zh-CN" dirty="0">
                <a:sym typeface="Symbol" panose="05050102010706020507" pitchFamily="18" charset="2"/>
              </a:rPr>
              <a:t>   &lt;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,y</a:t>
            </a:r>
            <a:r>
              <a:rPr lang="en-US" altLang="zh-CN" dirty="0">
                <a:sym typeface="Symbol" panose="05050102010706020507" pitchFamily="18" charset="2"/>
              </a:rPr>
              <a:t>&gt;A,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                 </a:t>
            </a:r>
            <a:r>
              <a:rPr lang="zh-CN" altLang="en-US" dirty="0">
                <a:solidFill>
                  <a:srgbClr val="0066FF"/>
                </a:solidFill>
                <a:sym typeface="Symbol" panose="05050102010706020507" pitchFamily="18" charset="2"/>
              </a:rPr>
              <a:t>因为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xy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=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yx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66FF"/>
                </a:solidFill>
                <a:sym typeface="Symbol" panose="05050102010706020507" pitchFamily="18" charset="2"/>
              </a:rPr>
              <a:t>所以</a:t>
            </a:r>
            <a:r>
              <a:rPr lang="zh-CN" altLang="en-US" dirty="0">
                <a:solidFill>
                  <a:srgbClr val="0066FF"/>
                </a:solidFill>
              </a:rPr>
              <a:t>，</a:t>
            </a:r>
            <a:endParaRPr lang="en-US" altLang="zh-CN" dirty="0">
              <a:solidFill>
                <a:srgbClr val="0066FF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66FF"/>
                </a:solidFill>
              </a:rPr>
              <a:t>                     </a:t>
            </a:r>
            <a:r>
              <a:rPr lang="en-US" altLang="zh-CN" dirty="0"/>
              <a:t>&lt;&lt;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ym typeface="Symbol" panose="05050102010706020507" pitchFamily="18" charset="2"/>
              </a:rPr>
              <a:t>R</a:t>
            </a:r>
            <a:r>
              <a:rPr lang="en-US" altLang="zh-CN" dirty="0"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sym typeface="Symbol" panose="05050102010706020507" pitchFamily="18" charset="2"/>
              </a:rPr>
              <a:t>2.</a:t>
            </a:r>
            <a:r>
              <a:rPr lang="zh-CN" altLang="en-US" dirty="0">
                <a:sym typeface="Symbol" panose="05050102010706020507" pitchFamily="18" charset="2"/>
              </a:rPr>
              <a:t>对称性</a:t>
            </a:r>
            <a:r>
              <a:rPr lang="en-US" altLang="zh-CN" dirty="0">
                <a:sym typeface="Symbol" panose="05050102010706020507" pitchFamily="18" charset="2"/>
              </a:rPr>
              <a:t>   </a:t>
            </a:r>
            <a:r>
              <a:rPr lang="en-US" altLang="zh-CN" dirty="0"/>
              <a:t>&lt;&lt;</a:t>
            </a:r>
            <a:r>
              <a:rPr lang="en-US" altLang="zh-CN" i="1" dirty="0" err="1"/>
              <a:t>x</a:t>
            </a:r>
            <a:r>
              <a:rPr lang="en-US" altLang="zh-CN" dirty="0" err="1"/>
              <a:t>,y</a:t>
            </a:r>
            <a:r>
              <a:rPr lang="en-US" altLang="zh-CN" dirty="0"/>
              <a:t>&gt;,&lt;</a:t>
            </a:r>
            <a:r>
              <a:rPr lang="en-US" altLang="zh-CN" i="1" dirty="0" err="1"/>
              <a:t>u</a:t>
            </a:r>
            <a:r>
              <a:rPr lang="en-US" altLang="zh-CN" dirty="0" err="1"/>
              <a:t>,</a:t>
            </a:r>
            <a:r>
              <a:rPr lang="en-US" altLang="zh-CN" i="1" dirty="0" err="1"/>
              <a:t>v</a:t>
            </a:r>
            <a:r>
              <a:rPr lang="en-US" altLang="zh-CN" dirty="0"/>
              <a:t>&gt;&gt;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ym typeface="Symbol" panose="05050102010706020507" pitchFamily="18" charset="2"/>
              </a:rPr>
              <a:t>R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                 </a:t>
            </a:r>
            <a:r>
              <a:rPr lang="zh-CN" altLang="en-US" dirty="0">
                <a:solidFill>
                  <a:srgbClr val="0066FF"/>
                </a:solidFill>
                <a:sym typeface="Symbol" panose="05050102010706020507" pitchFamily="18" charset="2"/>
              </a:rPr>
              <a:t>则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xv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=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yu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66FF"/>
                </a:solidFill>
                <a:sym typeface="Symbol" panose="05050102010706020507" pitchFamily="18" charset="2"/>
              </a:rPr>
              <a:t>即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uy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=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vx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66FF"/>
                </a:solidFill>
                <a:sym typeface="Symbol" panose="05050102010706020507" pitchFamily="18" charset="2"/>
              </a:rPr>
              <a:t>所以，    </a:t>
            </a:r>
            <a:endParaRPr lang="en-US" altLang="zh-CN" dirty="0">
              <a:solidFill>
                <a:srgbClr val="0066FF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       </a:t>
            </a:r>
            <a:r>
              <a:rPr lang="en-US" altLang="zh-CN" dirty="0"/>
              <a:t>&lt;&lt;</a:t>
            </a:r>
            <a:r>
              <a:rPr lang="en-US" altLang="zh-CN" i="1" dirty="0" err="1"/>
              <a:t>u</a:t>
            </a:r>
            <a:r>
              <a:rPr lang="en-US" altLang="zh-CN" dirty="0" err="1"/>
              <a:t>,</a:t>
            </a:r>
            <a:r>
              <a:rPr lang="en-US" altLang="zh-CN" i="1" dirty="0" err="1"/>
              <a:t>v</a:t>
            </a:r>
            <a:r>
              <a:rPr lang="en-US" altLang="zh-CN" dirty="0"/>
              <a:t>&gt;,&lt;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ym typeface="Symbol" panose="05050102010706020507" pitchFamily="18" charset="2"/>
              </a:rPr>
              <a:t>R</a:t>
            </a:r>
            <a:r>
              <a:rPr lang="en-US" altLang="zh-CN" dirty="0"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sym typeface="Symbol" panose="05050102010706020507" pitchFamily="18" charset="2"/>
              </a:rPr>
              <a:t>3.</a:t>
            </a:r>
            <a:r>
              <a:rPr lang="zh-CN" altLang="en-US" dirty="0">
                <a:sym typeface="Symbol" panose="05050102010706020507" pitchFamily="18" charset="2"/>
              </a:rPr>
              <a:t>传递性</a:t>
            </a:r>
            <a:r>
              <a:rPr lang="en-US" altLang="zh-CN" dirty="0">
                <a:sym typeface="Symbol" panose="05050102010706020507" pitchFamily="18" charset="2"/>
              </a:rPr>
              <a:t>   </a:t>
            </a:r>
            <a:r>
              <a:rPr lang="en-US" altLang="zh-CN" dirty="0"/>
              <a:t>&lt;&lt;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&gt;,&lt;</a:t>
            </a:r>
            <a:r>
              <a:rPr lang="en-US" altLang="zh-CN" i="1" dirty="0" err="1"/>
              <a:t>u</a:t>
            </a:r>
            <a:r>
              <a:rPr lang="en-US" altLang="zh-CN" dirty="0" err="1"/>
              <a:t>,</a:t>
            </a:r>
            <a:r>
              <a:rPr lang="en-US" altLang="zh-CN" i="1" dirty="0" err="1"/>
              <a:t>v</a:t>
            </a:r>
            <a:r>
              <a:rPr lang="en-US" altLang="zh-CN" dirty="0"/>
              <a:t>&gt;&gt;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ym typeface="Symbol" panose="05050102010706020507" pitchFamily="18" charset="2"/>
              </a:rPr>
              <a:t>R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/>
              <a:t>,&lt;&lt;</a:t>
            </a:r>
            <a:r>
              <a:rPr lang="en-US" altLang="zh-CN" i="1" dirty="0" err="1"/>
              <a:t>u</a:t>
            </a:r>
            <a:r>
              <a:rPr lang="en-US" altLang="zh-CN" dirty="0" err="1"/>
              <a:t>,</a:t>
            </a:r>
            <a:r>
              <a:rPr lang="en-US" altLang="zh-CN" i="1" dirty="0" err="1"/>
              <a:t>v</a:t>
            </a:r>
            <a:r>
              <a:rPr lang="en-US" altLang="zh-CN" dirty="0"/>
              <a:t>&gt;,&lt;</a:t>
            </a:r>
            <a:r>
              <a:rPr lang="en-US" altLang="zh-CN" i="1" dirty="0" err="1"/>
              <a:t>w</a:t>
            </a:r>
            <a:r>
              <a:rPr lang="en-US" altLang="zh-CN" dirty="0" err="1"/>
              <a:t>,</a:t>
            </a:r>
            <a:r>
              <a:rPr lang="en-US" altLang="zh-CN" i="1" dirty="0" err="1"/>
              <a:t>s</a:t>
            </a:r>
            <a:r>
              <a:rPr lang="en-US" altLang="zh-CN" dirty="0"/>
              <a:t>&gt;&gt;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ym typeface="Symbol" panose="05050102010706020507" pitchFamily="18" charset="2"/>
              </a:rPr>
              <a:t>R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    </a:t>
            </a:r>
            <a:r>
              <a:rPr lang="zh-CN" altLang="en-US" dirty="0">
                <a:solidFill>
                  <a:srgbClr val="0066FF"/>
                </a:solidFill>
                <a:sym typeface="Symbol" panose="05050102010706020507" pitchFamily="18" charset="2"/>
              </a:rPr>
              <a:t>则 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xv=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yu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, 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us=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vw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. </a:t>
            </a:r>
            <a:r>
              <a:rPr lang="zh-CN" altLang="en-US" dirty="0">
                <a:solidFill>
                  <a:srgbClr val="0066FF"/>
                </a:solidFill>
                <a:sym typeface="Symbol" panose="05050102010706020507" pitchFamily="18" charset="2"/>
              </a:rPr>
              <a:t>因此 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xvus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=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yuvw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66FF"/>
                </a:solidFill>
                <a:sym typeface="Symbol" panose="05050102010706020507" pitchFamily="18" charset="2"/>
              </a:rPr>
              <a:t>即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xs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=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yw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66FF"/>
                </a:solidFill>
                <a:sym typeface="Symbol" panose="05050102010706020507" pitchFamily="18" charset="2"/>
              </a:rPr>
              <a:t>所以， </a:t>
            </a:r>
            <a:endParaRPr lang="en-US" altLang="zh-CN" dirty="0">
              <a:solidFill>
                <a:srgbClr val="0066FF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        &lt;&lt;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&gt;,&lt;</a:t>
            </a:r>
            <a:r>
              <a:rPr lang="en-US" altLang="zh-CN" i="1" dirty="0" err="1"/>
              <a:t>w</a:t>
            </a:r>
            <a:r>
              <a:rPr lang="en-US" altLang="zh-CN" dirty="0" err="1"/>
              <a:t>,</a:t>
            </a:r>
            <a:r>
              <a:rPr lang="en-US" altLang="zh-CN" i="1" dirty="0" err="1"/>
              <a:t>s</a:t>
            </a:r>
            <a:r>
              <a:rPr lang="en-US" altLang="zh-CN" dirty="0"/>
              <a:t>&gt;&gt;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ym typeface="Symbol" panose="05050102010706020507" pitchFamily="18" charset="2"/>
              </a:rPr>
              <a:t>R</a:t>
            </a:r>
            <a:r>
              <a:rPr lang="en-US" altLang="zh-CN" dirty="0"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</a:t>
            </a:r>
            <a:r>
              <a:rPr lang="zh-CN" altLang="en-US" dirty="0">
                <a:sym typeface="Symbol" panose="05050102010706020507" pitchFamily="18" charset="2"/>
              </a:rPr>
              <a:t>因此，</a:t>
            </a:r>
            <a:r>
              <a:rPr lang="en-US" altLang="zh-CN" i="1" dirty="0">
                <a:sym typeface="Symbol" panose="05050102010706020507" pitchFamily="18" charset="2"/>
              </a:rPr>
              <a:t>R</a:t>
            </a:r>
            <a:r>
              <a:rPr lang="zh-CN" altLang="en-US" dirty="0">
                <a:sym typeface="Symbol" panose="05050102010706020507" pitchFamily="18" charset="2"/>
              </a:rPr>
              <a:t>是等价关系</a:t>
            </a:r>
            <a:r>
              <a:rPr lang="en-US" altLang="zh-CN" dirty="0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 dirty="0"/>
              <a:t>等价关系的证明方法及实例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233092" y="4069872"/>
            <a:ext cx="8587380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33092" y="5157192"/>
            <a:ext cx="8587380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33092" y="6237312"/>
            <a:ext cx="8587380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4931" grpId="0" uiExpand="1" build="p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8F5C18C-36E4-4C00-AA22-14BD3F04CAEA}" type="slidenum">
              <a:rPr lang="en-US" altLang="zh-CN" sz="1400" b="0" smtClean="0">
                <a:latin typeface="Arial" panose="020B0604020202020204" pitchFamily="34" charset="0"/>
              </a:rPr>
              <a:t>134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7.6</a:t>
            </a:r>
            <a:r>
              <a:rPr lang="en-US" altLang="zh-CN">
                <a:latin typeface="华文中宋" panose="02010600040101010101" pitchFamily="2" charset="-122"/>
              </a:rPr>
              <a:t> </a:t>
            </a:r>
            <a:r>
              <a:rPr lang="zh-CN" altLang="en-US">
                <a:latin typeface="华文中宋" panose="02010600040101010101" pitchFamily="2" charset="-122"/>
              </a:rPr>
              <a:t>等价关系与划分（回顾）</a:t>
            </a:r>
            <a:r>
              <a:rPr lang="zh-CN" altLang="en-US"/>
              <a:t> </a:t>
            </a:r>
          </a:p>
        </p:txBody>
      </p:sp>
      <p:sp>
        <p:nvSpPr>
          <p:cNvPr id="37892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等价关系的定义与实例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等价类及其性质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商集与集合的划分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等价关系与划分的一一对应 </a:t>
            </a:r>
          </a:p>
        </p:txBody>
      </p:sp>
    </p:spTree>
  </p:cSld>
  <p:clrMapOvr>
    <a:masterClrMapping/>
  </p:clrMapOvr>
  <p:transition spd="slow">
    <p:fade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C18C4D2-4404-4BF1-8CE2-E3EDE0A86E2A}" type="slidenum">
              <a:rPr lang="en-US" altLang="zh-CN" sz="1400" b="0">
                <a:latin typeface="Arial" panose="020B0604020202020204" pitchFamily="34" charset="0"/>
              </a:rPr>
              <a:t>135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4924425"/>
          </a:xfrm>
        </p:spPr>
        <p:txBody>
          <a:bodyPr/>
          <a:lstStyle/>
          <a:p>
            <a:pPr marL="361950" indent="-361950" eaLnBrk="1" hangingPunct="1">
              <a:buClr>
                <a:srgbClr val="FF9900"/>
              </a:buClr>
            </a:pPr>
            <a:r>
              <a:rPr lang="zh-CN" altLang="en-US"/>
              <a:t>主要内容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7.1</a:t>
            </a:r>
            <a:r>
              <a:rPr lang="zh-CN" altLang="en-US"/>
              <a:t>有序对与笛卡儿积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7.2</a:t>
            </a:r>
            <a:r>
              <a:rPr lang="zh-CN" altLang="en-US"/>
              <a:t>二元关系的定义与表示法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7.3</a:t>
            </a:r>
            <a:r>
              <a:rPr lang="zh-CN" altLang="en-US"/>
              <a:t>关系的运算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7.4</a:t>
            </a:r>
            <a:r>
              <a:rPr lang="zh-CN" altLang="en-US"/>
              <a:t>关系的性质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7.5</a:t>
            </a:r>
            <a:r>
              <a:rPr lang="zh-CN" altLang="en-US"/>
              <a:t>关系的闭包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7.6</a:t>
            </a:r>
            <a:r>
              <a:rPr lang="zh-CN" altLang="en-US"/>
              <a:t>等价关系与划分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FF0000"/>
                </a:solidFill>
              </a:rPr>
              <a:t>7.7</a:t>
            </a:r>
            <a:r>
              <a:rPr lang="zh-CN" altLang="en-US">
                <a:solidFill>
                  <a:srgbClr val="FF0000"/>
                </a:solidFill>
              </a:rPr>
              <a:t>偏序关系</a:t>
            </a:r>
          </a:p>
          <a:p>
            <a:pPr marL="361950" indent="-361950" eaLnBrk="1" hangingPunct="1"/>
            <a:endParaRPr lang="en-US" altLang="zh-CN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latin typeface="华文中宋" panose="02010600040101010101" pitchFamily="2" charset="-122"/>
              </a:rPr>
              <a:t>第七章 二元关系</a:t>
            </a:r>
          </a:p>
        </p:txBody>
      </p:sp>
    </p:spTree>
  </p:cSld>
  <p:clrMapOvr>
    <a:masterClrMapping/>
  </p:clrMapOvr>
  <p:transition spd="slow">
    <p:fade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91EC795-92A3-4800-B493-BD9CA7A16EFD}" type="slidenum">
              <a:rPr lang="en-US" altLang="zh-CN" sz="1400" b="0">
                <a:latin typeface="Arial" panose="020B0604020202020204" pitchFamily="34" charset="0"/>
              </a:rPr>
              <a:t>136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7.7 </a:t>
            </a:r>
            <a:r>
              <a:rPr lang="zh-CN" altLang="en-US">
                <a:latin typeface="华文中宋" panose="02010600040101010101" pitchFamily="2" charset="-122"/>
              </a:rPr>
              <a:t>偏序关系</a:t>
            </a:r>
            <a:r>
              <a:rPr lang="zh-CN" altLang="en-US"/>
              <a:t> </a:t>
            </a:r>
          </a:p>
        </p:txBody>
      </p:sp>
      <p:sp>
        <p:nvSpPr>
          <p:cNvPr id="6148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偏序关系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/>
              <a:t>     偏序关系的定义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/>
              <a:t>     偏序关系的实例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偏序集与哈斯图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偏序集中的特殊元素及其性质</a:t>
            </a:r>
          </a:p>
          <a:p>
            <a:pPr eaLnBrk="1" hangingPunct="1"/>
            <a:r>
              <a:rPr lang="zh-CN" altLang="en-US"/>
              <a:t>     </a:t>
            </a:r>
            <a:r>
              <a:rPr lang="zh-CN" altLang="en-US">
                <a:solidFill>
                  <a:srgbClr val="0066FF"/>
                </a:solidFill>
              </a:rPr>
              <a:t>极大元、极小元、</a:t>
            </a:r>
            <a:endParaRPr lang="en-US" altLang="zh-CN">
              <a:solidFill>
                <a:srgbClr val="0066FF"/>
              </a:solidFill>
            </a:endParaRPr>
          </a:p>
          <a:p>
            <a:pPr eaLnBrk="1" hangingPunct="1"/>
            <a:r>
              <a:rPr lang="en-US" altLang="zh-CN">
                <a:solidFill>
                  <a:srgbClr val="0066FF"/>
                </a:solidFill>
              </a:rPr>
              <a:t>     </a:t>
            </a:r>
            <a:r>
              <a:rPr lang="zh-CN" altLang="en-US">
                <a:solidFill>
                  <a:srgbClr val="0066FF"/>
                </a:solidFill>
              </a:rPr>
              <a:t>最大元、最小元；</a:t>
            </a:r>
          </a:p>
          <a:p>
            <a:pPr eaLnBrk="1" hangingPunct="1"/>
            <a:r>
              <a:rPr lang="zh-CN" altLang="en-US"/>
              <a:t>     </a:t>
            </a:r>
            <a:r>
              <a:rPr lang="zh-CN" altLang="en-US">
                <a:solidFill>
                  <a:srgbClr val="7030A0"/>
                </a:solidFill>
              </a:rPr>
              <a:t>上界、下界、</a:t>
            </a:r>
            <a:endParaRPr lang="en-US" altLang="zh-CN">
              <a:solidFill>
                <a:srgbClr val="7030A0"/>
              </a:solidFill>
            </a:endParaRPr>
          </a:p>
          <a:p>
            <a:pPr eaLnBrk="1" hangingPunct="1"/>
            <a:r>
              <a:rPr lang="en-US" altLang="zh-CN">
                <a:solidFill>
                  <a:srgbClr val="7030A0"/>
                </a:solidFill>
              </a:rPr>
              <a:t>     </a:t>
            </a:r>
            <a:r>
              <a:rPr lang="zh-CN" altLang="en-US">
                <a:solidFill>
                  <a:srgbClr val="7030A0"/>
                </a:solidFill>
              </a:rPr>
              <a:t>最小上界、最大下界</a:t>
            </a:r>
            <a:r>
              <a:rPr lang="en-US" altLang="zh-CN">
                <a:solidFill>
                  <a:srgbClr val="7030A0"/>
                </a:solidFill>
              </a:rPr>
              <a:t>.</a:t>
            </a:r>
            <a:endParaRPr lang="zh-CN" altLang="en-US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669B64B-5822-4E61-89FB-05AC70894F91}" type="slidenum">
              <a:rPr lang="en-US" altLang="zh-CN" sz="1400" b="0">
                <a:latin typeface="Arial" panose="020B0604020202020204" pitchFamily="34" charset="0"/>
              </a:rPr>
              <a:t>137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定义与实例</a:t>
            </a:r>
          </a:p>
        </p:txBody>
      </p:sp>
      <p:sp>
        <p:nvSpPr>
          <p:cNvPr id="11366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7.19  </a:t>
            </a:r>
          </a:p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偏序关系</a:t>
            </a:r>
            <a:r>
              <a:rPr lang="zh-CN" altLang="en-US"/>
              <a:t>：非空集合</a:t>
            </a:r>
            <a:r>
              <a:rPr lang="en-US" altLang="zh-CN" i="1"/>
              <a:t>A</a:t>
            </a:r>
            <a:r>
              <a:rPr lang="zh-CN" altLang="en-US"/>
              <a:t>上的自反、反对称和传递的关系，</a:t>
            </a:r>
          </a:p>
          <a:p>
            <a:pPr eaLnBrk="1" hangingPunct="1"/>
            <a:r>
              <a:rPr lang="zh-CN" altLang="en-US"/>
              <a:t>记作≼</a:t>
            </a:r>
            <a:r>
              <a:rPr lang="en-US" altLang="zh-CN"/>
              <a:t>. </a:t>
            </a:r>
          </a:p>
          <a:p>
            <a:pPr eaLnBrk="1" hangingPunct="1"/>
            <a:r>
              <a:rPr lang="zh-CN" altLang="en-US"/>
              <a:t>设≼为偏序关系</a:t>
            </a:r>
            <a:r>
              <a:rPr lang="en-US" altLang="zh-CN"/>
              <a:t>, </a:t>
            </a:r>
            <a:r>
              <a:rPr lang="zh-CN" altLang="en-US"/>
              <a:t>如果 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 </a:t>
            </a:r>
            <a:r>
              <a:rPr lang="en-US" altLang="zh-CN" i="1"/>
              <a:t>y</a:t>
            </a:r>
            <a:r>
              <a:rPr lang="en-US" altLang="zh-CN"/>
              <a:t>&gt; ∈≼, </a:t>
            </a:r>
            <a:r>
              <a:rPr lang="zh-CN" altLang="en-US"/>
              <a:t>则记作 </a:t>
            </a:r>
            <a:r>
              <a:rPr lang="en-US" altLang="zh-CN" i="1"/>
              <a:t>x </a:t>
            </a:r>
            <a:r>
              <a:rPr lang="en-US" altLang="zh-CN"/>
              <a:t>≼ </a:t>
            </a:r>
            <a:r>
              <a:rPr lang="en-US" altLang="zh-CN" i="1"/>
              <a:t>y</a:t>
            </a:r>
            <a:r>
              <a:rPr lang="en-US" altLang="zh-CN"/>
              <a:t>, </a:t>
            </a:r>
            <a:r>
              <a:rPr lang="zh-CN" altLang="en-US"/>
              <a:t>读作</a:t>
            </a:r>
          </a:p>
          <a:p>
            <a:pPr eaLnBrk="1" hangingPunct="1"/>
            <a:r>
              <a:rPr lang="en-US" altLang="zh-CN" i="1"/>
              <a:t>x</a:t>
            </a:r>
            <a:r>
              <a:rPr lang="zh-CN" altLang="en-US"/>
              <a:t>“小于或等于”</a:t>
            </a:r>
            <a:r>
              <a:rPr lang="en-US" altLang="zh-CN" i="1"/>
              <a:t>y</a:t>
            </a:r>
            <a:r>
              <a:rPr lang="en-US" altLang="zh-CN"/>
              <a:t>.  </a:t>
            </a:r>
          </a:p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实例</a:t>
            </a:r>
          </a:p>
          <a:p>
            <a:pPr eaLnBrk="1" hangingPunct="1"/>
            <a:r>
              <a:rPr lang="zh-CN" altLang="en-US"/>
              <a:t>集合</a:t>
            </a:r>
            <a:r>
              <a:rPr lang="en-US" altLang="zh-CN" i="1"/>
              <a:t>A</a:t>
            </a:r>
            <a:r>
              <a:rPr lang="zh-CN" altLang="en-US"/>
              <a:t>上的恒等关系 </a:t>
            </a:r>
            <a:r>
              <a:rPr lang="en-US" altLang="zh-CN" i="1"/>
              <a:t>I</a:t>
            </a:r>
            <a:r>
              <a:rPr lang="en-US" altLang="zh-CN" i="1" baseline="-25000"/>
              <a:t>A</a:t>
            </a:r>
            <a:r>
              <a:rPr lang="zh-CN" altLang="en-US"/>
              <a:t>是 </a:t>
            </a:r>
            <a:r>
              <a:rPr lang="en-US" altLang="zh-CN" i="1"/>
              <a:t>A</a:t>
            </a:r>
            <a:r>
              <a:rPr lang="zh-CN" altLang="en-US"/>
              <a:t>上的偏序关系</a:t>
            </a:r>
            <a:r>
              <a:rPr lang="en-US" altLang="zh-CN"/>
              <a:t>. </a:t>
            </a:r>
          </a:p>
          <a:p>
            <a:pPr eaLnBrk="1" hangingPunct="1"/>
            <a:r>
              <a:rPr lang="zh-CN" altLang="en-US"/>
              <a:t>小于或等于关系</a:t>
            </a:r>
            <a:r>
              <a:rPr lang="en-US" altLang="zh-CN"/>
              <a:t>, </a:t>
            </a:r>
            <a:r>
              <a:rPr lang="zh-CN" altLang="en-US"/>
              <a:t>整除关系和包含关系也是相应集合上的</a:t>
            </a:r>
            <a:endParaRPr lang="en-US" altLang="zh-CN"/>
          </a:p>
          <a:p>
            <a:pPr eaLnBrk="1" hangingPunct="1"/>
            <a:r>
              <a:rPr lang="zh-CN" altLang="en-US"/>
              <a:t>偏序关系</a:t>
            </a:r>
            <a:r>
              <a:rPr lang="en-US" altLang="zh-CN"/>
              <a:t>.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4ECDBE5-6913-4C02-8DA9-AB7EE5C717EA}" type="slidenum">
              <a:rPr lang="en-US" altLang="zh-CN" sz="1400" b="0">
                <a:latin typeface="Arial" panose="020B0604020202020204" pitchFamily="34" charset="0"/>
              </a:rPr>
              <a:t>138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024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相关概念</a:t>
            </a:r>
          </a:p>
        </p:txBody>
      </p:sp>
      <p:sp>
        <p:nvSpPr>
          <p:cNvPr id="1024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7715250" cy="17272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7.20 </a:t>
            </a:r>
            <a:r>
              <a:rPr lang="en-US" altLang="zh-CN"/>
              <a:t> </a:t>
            </a:r>
            <a:r>
              <a:rPr lang="zh-CN" altLang="en-US"/>
              <a:t>设 </a:t>
            </a:r>
            <a:r>
              <a:rPr lang="en-US" altLang="zh-CN" i="1"/>
              <a:t>R </a:t>
            </a:r>
            <a:r>
              <a:rPr lang="zh-CN" altLang="en-US"/>
              <a:t>为非空集合</a:t>
            </a:r>
            <a:r>
              <a:rPr lang="en-US" altLang="zh-CN" i="1"/>
              <a:t>A</a:t>
            </a:r>
            <a:r>
              <a:rPr lang="zh-CN" altLang="en-US"/>
              <a:t>上的偏序关系</a:t>
            </a:r>
            <a:r>
              <a:rPr lang="en-US" altLang="zh-CN"/>
              <a:t>, </a:t>
            </a:r>
          </a:p>
          <a:p>
            <a:pPr eaLnBrk="1" hangingPunct="1"/>
            <a:r>
              <a:rPr lang="en-US" altLang="zh-CN"/>
              <a:t>(1)</a:t>
            </a:r>
            <a:r>
              <a:rPr lang="en-US" altLang="zh-CN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∈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zh-CN" altLang="en-US"/>
              <a:t> </a:t>
            </a:r>
            <a:r>
              <a:rPr lang="en-US" altLang="zh-CN" i="1"/>
              <a:t>x </a:t>
            </a:r>
            <a:r>
              <a:rPr lang="en-US" altLang="zh-CN"/>
              <a:t>≺ </a:t>
            </a:r>
            <a:r>
              <a:rPr lang="en-US" altLang="zh-CN" i="1"/>
              <a:t>y </a:t>
            </a:r>
            <a:r>
              <a:rPr lang="zh-CN" altLang="en-US">
                <a:sym typeface="Symbol" panose="05050102010706020507" pitchFamily="18" charset="2"/>
              </a:rPr>
              <a:t></a:t>
            </a:r>
            <a:r>
              <a:rPr lang="zh-CN" altLang="en-US"/>
              <a:t>  </a:t>
            </a:r>
            <a:r>
              <a:rPr lang="en-US" altLang="zh-CN" i="1"/>
              <a:t>x </a:t>
            </a:r>
            <a:r>
              <a:rPr lang="en-US" altLang="zh-CN"/>
              <a:t>≼ </a:t>
            </a:r>
            <a:r>
              <a:rPr lang="en-US" altLang="zh-CN" i="1"/>
              <a:t>y</a:t>
            </a:r>
            <a:r>
              <a:rPr lang="en-US" altLang="zh-CN"/>
              <a:t>∧</a:t>
            </a:r>
            <a:r>
              <a:rPr lang="en-US" altLang="zh-CN" i="1"/>
              <a:t> x</a:t>
            </a:r>
            <a:r>
              <a:rPr lang="zh-CN" altLang="en-US">
                <a:sym typeface="Symbol" panose="05050102010706020507" pitchFamily="18" charset="2"/>
              </a:rPr>
              <a:t></a:t>
            </a:r>
            <a:r>
              <a:rPr lang="en-US" altLang="zh-CN" i="1"/>
              <a:t>y</a:t>
            </a:r>
            <a:endParaRPr lang="en-US" altLang="zh-CN"/>
          </a:p>
          <a:p>
            <a:pPr eaLnBrk="1" hangingPunct="1"/>
            <a:r>
              <a:rPr lang="en-US" altLang="zh-CN"/>
              <a:t>(2) 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∈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x</a:t>
            </a:r>
            <a:r>
              <a:rPr lang="zh-CN" altLang="en-US"/>
              <a:t>与</a:t>
            </a:r>
            <a:r>
              <a:rPr lang="en-US" altLang="zh-CN" i="1"/>
              <a:t>y</a:t>
            </a:r>
            <a:r>
              <a:rPr lang="zh-CN" altLang="en-US">
                <a:solidFill>
                  <a:srgbClr val="A50021"/>
                </a:solidFill>
              </a:rPr>
              <a:t>可比</a:t>
            </a:r>
            <a:r>
              <a:rPr lang="zh-CN" altLang="en-US"/>
              <a:t> </a:t>
            </a:r>
            <a:r>
              <a:rPr lang="zh-CN" altLang="en-US">
                <a:sym typeface="Symbol" panose="05050102010706020507" pitchFamily="18" charset="2"/>
              </a:rPr>
              <a:t></a:t>
            </a:r>
            <a:r>
              <a:rPr lang="zh-CN" altLang="en-US"/>
              <a:t>  </a:t>
            </a:r>
            <a:r>
              <a:rPr lang="en-US" altLang="zh-CN" i="1"/>
              <a:t>x </a:t>
            </a:r>
            <a:r>
              <a:rPr lang="en-US" altLang="zh-CN"/>
              <a:t>≼ </a:t>
            </a:r>
            <a:r>
              <a:rPr lang="en-US" altLang="zh-CN" i="1"/>
              <a:t>y</a:t>
            </a:r>
            <a:r>
              <a:rPr lang="en-US" altLang="zh-CN"/>
              <a:t>∨</a:t>
            </a:r>
            <a:r>
              <a:rPr lang="en-US" altLang="zh-CN" i="1"/>
              <a:t>y </a:t>
            </a:r>
            <a:r>
              <a:rPr lang="en-US" altLang="zh-CN"/>
              <a:t>≼ </a:t>
            </a:r>
            <a:r>
              <a:rPr lang="en-US" altLang="zh-CN" i="1"/>
              <a:t>x 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任取元素 </a:t>
            </a:r>
            <a:r>
              <a:rPr lang="en-US" altLang="zh-CN" i="1"/>
              <a:t>x </a:t>
            </a:r>
            <a:r>
              <a:rPr lang="zh-CN" altLang="en-US"/>
              <a:t>和 </a:t>
            </a:r>
            <a:r>
              <a:rPr lang="en-US" altLang="zh-CN" i="1"/>
              <a:t>y</a:t>
            </a:r>
            <a:r>
              <a:rPr lang="en-US" altLang="zh-CN"/>
              <a:t>, </a:t>
            </a:r>
            <a:r>
              <a:rPr lang="zh-CN" altLang="en-US"/>
              <a:t>可能有下述几种情况发生：</a:t>
            </a:r>
            <a:br>
              <a:rPr lang="zh-CN" altLang="en-US"/>
            </a:br>
            <a:r>
              <a:rPr lang="zh-CN" altLang="en-US"/>
              <a:t>     </a:t>
            </a:r>
            <a:r>
              <a:rPr lang="en-US" altLang="zh-CN" i="1"/>
              <a:t>x </a:t>
            </a:r>
            <a:r>
              <a:rPr lang="en-US" altLang="zh-CN"/>
              <a:t>≺ </a:t>
            </a:r>
            <a:r>
              <a:rPr lang="en-US" altLang="zh-CN" i="1"/>
              <a:t>y </a:t>
            </a:r>
            <a:r>
              <a:rPr lang="en-US" altLang="zh-CN"/>
              <a:t>(</a:t>
            </a:r>
            <a:r>
              <a:rPr lang="zh-CN" altLang="en-US"/>
              <a:t>或 </a:t>
            </a:r>
            <a:r>
              <a:rPr lang="en-US" altLang="zh-CN" i="1"/>
              <a:t>y </a:t>
            </a:r>
            <a:r>
              <a:rPr lang="en-US" altLang="zh-CN"/>
              <a:t>≺ </a:t>
            </a:r>
            <a:r>
              <a:rPr lang="en-US" altLang="zh-CN" i="1"/>
              <a:t>x</a:t>
            </a:r>
            <a:r>
              <a:rPr lang="en-US" altLang="zh-CN"/>
              <a:t>),    </a:t>
            </a:r>
            <a:r>
              <a:rPr lang="en-US" altLang="zh-CN" i="1"/>
              <a:t>x</a:t>
            </a:r>
            <a:r>
              <a:rPr lang="zh-CN" altLang="en-US"/>
              <a:t>＝</a:t>
            </a:r>
            <a:r>
              <a:rPr lang="en-US" altLang="zh-CN" i="1"/>
              <a:t>y</a:t>
            </a:r>
            <a:r>
              <a:rPr lang="en-US" altLang="zh-CN"/>
              <a:t>,    </a:t>
            </a:r>
            <a:r>
              <a:rPr lang="en-US" altLang="zh-CN" i="1"/>
              <a:t>x</a:t>
            </a:r>
            <a:r>
              <a:rPr lang="zh-CN" altLang="en-US"/>
              <a:t>与</a:t>
            </a:r>
            <a:r>
              <a:rPr lang="en-US" altLang="zh-CN" i="1"/>
              <a:t>y</a:t>
            </a:r>
            <a:r>
              <a:rPr lang="zh-CN" altLang="en-US"/>
              <a:t>不是可比的</a:t>
            </a:r>
          </a:p>
        </p:txBody>
      </p:sp>
      <p:sp>
        <p:nvSpPr>
          <p:cNvPr id="115717" name="Rectangle 9"/>
          <p:cNvSpPr>
            <a:spLocks noChangeArrowheads="1"/>
          </p:cNvSpPr>
          <p:nvPr/>
        </p:nvSpPr>
        <p:spPr bwMode="auto">
          <a:xfrm>
            <a:off x="431800" y="4221163"/>
            <a:ext cx="82804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7.21</a:t>
            </a:r>
            <a:r>
              <a:rPr lang="en-US" altLang="zh-CN"/>
              <a:t>  </a:t>
            </a:r>
            <a:r>
              <a:rPr lang="en-US" altLang="zh-CN" i="1"/>
              <a:t>R </a:t>
            </a:r>
            <a:r>
              <a:rPr lang="zh-CN" altLang="en-US"/>
              <a:t>为非空集合</a:t>
            </a:r>
            <a:r>
              <a:rPr lang="en-US" altLang="zh-CN" i="1"/>
              <a:t>A</a:t>
            </a:r>
            <a:r>
              <a:rPr lang="zh-CN" altLang="en-US"/>
              <a:t>上的偏序关系</a:t>
            </a:r>
            <a:r>
              <a:rPr lang="en-US" altLang="zh-CN"/>
              <a:t>, 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(1) 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∈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x</a:t>
            </a:r>
            <a:r>
              <a:rPr lang="zh-CN" altLang="en-US"/>
              <a:t>与</a:t>
            </a:r>
            <a:r>
              <a:rPr lang="en-US" altLang="zh-CN" i="1"/>
              <a:t>y</a:t>
            </a:r>
            <a:r>
              <a:rPr lang="zh-CN" altLang="en-US"/>
              <a:t>都是可比的，则称</a:t>
            </a:r>
            <a:r>
              <a:rPr lang="en-US" altLang="zh-CN" i="1"/>
              <a:t>R</a:t>
            </a:r>
            <a:r>
              <a:rPr lang="zh-CN" altLang="en-US"/>
              <a:t>为</a:t>
            </a:r>
            <a:r>
              <a:rPr lang="zh-CN" altLang="en-US">
                <a:solidFill>
                  <a:srgbClr val="A50021"/>
                </a:solidFill>
              </a:rPr>
              <a:t>全序</a:t>
            </a:r>
            <a:r>
              <a:rPr lang="zh-CN" altLang="en-US"/>
              <a:t>（或线序）</a:t>
            </a:r>
          </a:p>
          <a:p>
            <a:pPr eaLnBrk="1" hangingPunct="1"/>
            <a:r>
              <a:rPr lang="zh-CN" altLang="en-US"/>
              <a:t>实例：数集上的小于或等于关系是全序关系</a:t>
            </a:r>
            <a:r>
              <a:rPr lang="en-US" altLang="zh-CN"/>
              <a:t>,</a:t>
            </a:r>
          </a:p>
          <a:p>
            <a:pPr eaLnBrk="1" hangingPunct="1"/>
            <a:r>
              <a:rPr lang="zh-CN" altLang="en-US"/>
              <a:t>            整除关系不是正整数集合上的全序关系</a:t>
            </a:r>
          </a:p>
          <a:p>
            <a:pPr eaLnBrk="1" hangingPunct="1">
              <a:spcBef>
                <a:spcPct val="50000"/>
              </a:spcBef>
            </a:pPr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7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249037C-2211-4242-AF88-00ABAD9E7DAE}" type="slidenum">
              <a:rPr lang="en-US" altLang="zh-CN" sz="1400" b="0">
                <a:latin typeface="Arial" panose="020B0604020202020204" pitchFamily="34" charset="0"/>
              </a:rPr>
              <a:t>139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229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相关概念</a:t>
            </a:r>
          </a:p>
        </p:txBody>
      </p:sp>
      <p:sp>
        <p:nvSpPr>
          <p:cNvPr id="12292" name="Rectangle 10"/>
          <p:cNvSpPr>
            <a:spLocks noChangeArrowheads="1"/>
          </p:cNvSpPr>
          <p:nvPr/>
        </p:nvSpPr>
        <p:spPr bwMode="auto">
          <a:xfrm>
            <a:off x="395288" y="1408113"/>
            <a:ext cx="7920037" cy="4037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7.22</a:t>
            </a:r>
            <a:r>
              <a:rPr lang="en-US" altLang="zh-CN"/>
              <a:t> 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∈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zh-CN" altLang="en-US"/>
              <a:t>如果 </a:t>
            </a:r>
            <a:r>
              <a:rPr lang="en-US" altLang="zh-CN" i="1"/>
              <a:t>x</a:t>
            </a:r>
            <a:r>
              <a:rPr lang="en-US" altLang="zh-CN"/>
              <a:t>≺</a:t>
            </a:r>
            <a:r>
              <a:rPr lang="en-US" altLang="zh-CN" i="1"/>
              <a:t>y </a:t>
            </a:r>
            <a:r>
              <a:rPr lang="zh-CN" altLang="en-US"/>
              <a:t>且不存在 </a:t>
            </a:r>
            <a:r>
              <a:rPr lang="en-US" altLang="zh-CN" i="1"/>
              <a:t>z</a:t>
            </a:r>
            <a:r>
              <a:rPr lang="en-US" altLang="zh-CN"/>
              <a:t>∈</a:t>
            </a:r>
            <a:r>
              <a:rPr lang="en-US" altLang="zh-CN" i="1"/>
              <a:t>A </a:t>
            </a:r>
            <a:r>
              <a:rPr lang="zh-CN" altLang="en-US"/>
              <a:t>使得 </a:t>
            </a:r>
            <a:r>
              <a:rPr lang="en-US" altLang="zh-CN" i="1"/>
              <a:t>x</a:t>
            </a:r>
            <a:r>
              <a:rPr lang="en-US" altLang="zh-CN"/>
              <a:t>≺</a:t>
            </a:r>
            <a:r>
              <a:rPr lang="en-US" altLang="zh-CN" i="1"/>
              <a:t>z</a:t>
            </a:r>
            <a:r>
              <a:rPr lang="en-US" altLang="zh-CN"/>
              <a:t>≺</a:t>
            </a:r>
            <a:r>
              <a:rPr lang="en-US" altLang="zh-CN" i="1"/>
              <a:t>y</a:t>
            </a:r>
            <a:r>
              <a:rPr lang="en-US" altLang="zh-CN"/>
              <a:t>, 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/>
              <a:t>               则称 </a:t>
            </a:r>
            <a:r>
              <a:rPr lang="en-US" altLang="zh-CN" i="1"/>
              <a:t>y</a:t>
            </a:r>
            <a:r>
              <a:rPr lang="zh-CN" altLang="en-US">
                <a:solidFill>
                  <a:srgbClr val="A50021"/>
                </a:solidFill>
              </a:rPr>
              <a:t>覆盖</a:t>
            </a:r>
            <a:r>
              <a:rPr lang="en-US" altLang="zh-CN" i="1"/>
              <a:t>x</a:t>
            </a:r>
            <a:r>
              <a:rPr lang="en-US" altLang="zh-CN"/>
              <a:t>.</a:t>
            </a:r>
          </a:p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例如</a:t>
            </a:r>
            <a:r>
              <a:rPr lang="en-US" altLang="zh-CN"/>
              <a:t>:</a:t>
            </a:r>
          </a:p>
          <a:p>
            <a:pPr eaLnBrk="1" hangingPunct="1"/>
            <a:r>
              <a:rPr lang="en-US" altLang="zh-CN"/>
              <a:t>        {1,2,4,6}</a:t>
            </a:r>
            <a:r>
              <a:rPr lang="zh-CN" altLang="en-US"/>
              <a:t>集合上整除关系</a:t>
            </a:r>
            <a:r>
              <a:rPr lang="en-US" altLang="zh-CN"/>
              <a:t>, </a:t>
            </a:r>
          </a:p>
          <a:p>
            <a:pPr eaLnBrk="1" hangingPunct="1"/>
            <a:r>
              <a:rPr lang="en-US" altLang="zh-CN"/>
              <a:t>        2</a:t>
            </a:r>
            <a:r>
              <a:rPr lang="zh-CN" altLang="en-US"/>
              <a:t>覆盖</a:t>
            </a:r>
            <a:r>
              <a:rPr lang="en-US" altLang="zh-CN"/>
              <a:t>1, </a:t>
            </a:r>
          </a:p>
          <a:p>
            <a:pPr eaLnBrk="1" hangingPunct="1"/>
            <a:r>
              <a:rPr lang="en-US" altLang="zh-CN"/>
              <a:t>        4</a:t>
            </a:r>
            <a:r>
              <a:rPr lang="zh-CN" altLang="en-US"/>
              <a:t>和</a:t>
            </a:r>
            <a:r>
              <a:rPr lang="en-US" altLang="zh-CN"/>
              <a:t>6</a:t>
            </a:r>
            <a:r>
              <a:rPr lang="zh-CN" altLang="en-US"/>
              <a:t>覆盖</a:t>
            </a:r>
            <a:r>
              <a:rPr lang="en-US" altLang="zh-CN"/>
              <a:t>2,  </a:t>
            </a:r>
            <a:r>
              <a:rPr lang="zh-CN" altLang="en-US"/>
              <a:t>不覆盖</a:t>
            </a:r>
            <a:r>
              <a:rPr lang="en-US" altLang="zh-CN"/>
              <a:t>1. </a:t>
            </a:r>
          </a:p>
        </p:txBody>
      </p:sp>
      <p:sp>
        <p:nvSpPr>
          <p:cNvPr id="12293" name="Text Box 60"/>
          <p:cNvSpPr txBox="1">
            <a:spLocks noChangeArrowheads="1"/>
          </p:cNvSpPr>
          <p:nvPr/>
        </p:nvSpPr>
        <p:spPr bwMode="auto">
          <a:xfrm>
            <a:off x="4535488" y="2230438"/>
            <a:ext cx="1600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kumimoji="1" lang="zh-CN" altLang="en-US" sz="3600">
              <a:ea typeface="楷体_GB2312"/>
              <a:cs typeface="楷体_GB2312"/>
            </a:endParaRPr>
          </a:p>
        </p:txBody>
      </p:sp>
      <p:grpSp>
        <p:nvGrpSpPr>
          <p:cNvPr id="12294" name="组合 73"/>
          <p:cNvGrpSpPr/>
          <p:nvPr/>
        </p:nvGrpSpPr>
        <p:grpSpPr bwMode="auto">
          <a:xfrm>
            <a:off x="5813425" y="2554288"/>
            <a:ext cx="2065338" cy="2670175"/>
            <a:chOff x="5968548" y="2418201"/>
            <a:chExt cx="2065587" cy="2670056"/>
          </a:xfrm>
        </p:grpSpPr>
        <p:grpSp>
          <p:nvGrpSpPr>
            <p:cNvPr id="12295" name="组合 83"/>
            <p:cNvGrpSpPr/>
            <p:nvPr/>
          </p:nvGrpSpPr>
          <p:grpSpPr bwMode="auto">
            <a:xfrm rot="-1637327">
              <a:off x="6711312" y="3061796"/>
              <a:ext cx="524544" cy="522442"/>
              <a:chOff x="6123637" y="2418365"/>
              <a:chExt cx="524544" cy="522442"/>
            </a:xfrm>
          </p:grpSpPr>
          <p:sp>
            <p:nvSpPr>
              <p:cNvPr id="85" name="椭圆 84"/>
              <p:cNvSpPr/>
              <p:nvPr/>
            </p:nvSpPr>
            <p:spPr>
              <a:xfrm>
                <a:off x="6123908" y="2417664"/>
                <a:ext cx="523938" cy="523852"/>
              </a:xfrm>
              <a:prstGeom prst="ellipse">
                <a:avLst/>
              </a:prstGeom>
              <a:no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86" name="直接箭头连接符 85"/>
              <p:cNvCxnSpPr>
                <a:stCxn id="85" idx="6"/>
              </p:cNvCxnSpPr>
              <p:nvPr/>
            </p:nvCxnSpPr>
            <p:spPr>
              <a:xfrm flipH="1">
                <a:off x="6624812" y="2674214"/>
                <a:ext cx="22228" cy="10794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296" name="组合 80"/>
            <p:cNvGrpSpPr/>
            <p:nvPr/>
          </p:nvGrpSpPr>
          <p:grpSpPr bwMode="auto">
            <a:xfrm>
              <a:off x="6753069" y="4565815"/>
              <a:ext cx="524544" cy="522442"/>
              <a:chOff x="6123637" y="2418365"/>
              <a:chExt cx="524544" cy="522442"/>
            </a:xfrm>
          </p:grpSpPr>
          <p:sp>
            <p:nvSpPr>
              <p:cNvPr id="82" name="椭圆 81"/>
              <p:cNvSpPr/>
              <p:nvPr/>
            </p:nvSpPr>
            <p:spPr>
              <a:xfrm>
                <a:off x="6123436" y="2418542"/>
                <a:ext cx="525526" cy="522265"/>
              </a:xfrm>
              <a:prstGeom prst="ellipse">
                <a:avLst/>
              </a:prstGeom>
              <a:no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83" name="直接箭头连接符 82"/>
              <p:cNvCxnSpPr>
                <a:stCxn id="82" idx="6"/>
              </p:cNvCxnSpPr>
              <p:nvPr/>
            </p:nvCxnSpPr>
            <p:spPr>
              <a:xfrm flipH="1">
                <a:off x="6626734" y="2680468"/>
                <a:ext cx="22228" cy="10635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297" name="组合 76"/>
            <p:cNvGrpSpPr/>
            <p:nvPr/>
          </p:nvGrpSpPr>
          <p:grpSpPr bwMode="auto">
            <a:xfrm>
              <a:off x="7425560" y="2418201"/>
              <a:ext cx="524544" cy="522442"/>
              <a:chOff x="6123637" y="2418365"/>
              <a:chExt cx="524544" cy="522442"/>
            </a:xfrm>
          </p:grpSpPr>
          <p:sp>
            <p:nvSpPr>
              <p:cNvPr id="78" name="椭圆 77"/>
              <p:cNvSpPr/>
              <p:nvPr/>
            </p:nvSpPr>
            <p:spPr>
              <a:xfrm>
                <a:off x="6124126" y="2418365"/>
                <a:ext cx="523938" cy="522264"/>
              </a:xfrm>
              <a:prstGeom prst="ellipse">
                <a:avLst/>
              </a:prstGeom>
              <a:no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79" name="直接箭头连接符 78"/>
              <p:cNvCxnSpPr>
                <a:stCxn id="78" idx="6"/>
              </p:cNvCxnSpPr>
              <p:nvPr/>
            </p:nvCxnSpPr>
            <p:spPr>
              <a:xfrm flipH="1">
                <a:off x="6625836" y="2680290"/>
                <a:ext cx="22228" cy="10635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298" name="组合 72"/>
            <p:cNvGrpSpPr/>
            <p:nvPr/>
          </p:nvGrpSpPr>
          <p:grpSpPr bwMode="auto">
            <a:xfrm>
              <a:off x="6123637" y="2418365"/>
              <a:ext cx="524544" cy="522442"/>
              <a:chOff x="6123637" y="2418365"/>
              <a:chExt cx="524544" cy="522442"/>
            </a:xfrm>
          </p:grpSpPr>
          <p:sp>
            <p:nvSpPr>
              <p:cNvPr id="67" name="椭圆 66"/>
              <p:cNvSpPr/>
              <p:nvPr/>
            </p:nvSpPr>
            <p:spPr>
              <a:xfrm>
                <a:off x="6124142" y="2418201"/>
                <a:ext cx="523938" cy="522264"/>
              </a:xfrm>
              <a:prstGeom prst="ellipse">
                <a:avLst/>
              </a:prstGeom>
              <a:no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70" name="直接箭头连接符 69"/>
              <p:cNvCxnSpPr>
                <a:stCxn id="67" idx="6"/>
              </p:cNvCxnSpPr>
              <p:nvPr/>
            </p:nvCxnSpPr>
            <p:spPr>
              <a:xfrm flipH="1">
                <a:off x="6625852" y="2680126"/>
                <a:ext cx="22228" cy="10635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" name="直接连接符 2"/>
            <p:cNvCxnSpPr/>
            <p:nvPr/>
          </p:nvCxnSpPr>
          <p:spPr>
            <a:xfrm>
              <a:off x="6979908" y="3721480"/>
              <a:ext cx="0" cy="720693"/>
            </a:xfrm>
            <a:prstGeom prst="line">
              <a:avLst/>
            </a:prstGeom>
            <a:ln w="28575">
              <a:headEnd type="stealth" w="lg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6455970" y="3065872"/>
              <a:ext cx="523938" cy="522264"/>
            </a:xfrm>
            <a:prstGeom prst="line">
              <a:avLst/>
            </a:prstGeom>
            <a:ln w="28575">
              <a:headEnd type="stealth" w="med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6979908" y="3065872"/>
              <a:ext cx="614436" cy="522264"/>
            </a:xfrm>
            <a:prstGeom prst="line">
              <a:avLst/>
            </a:prstGeom>
            <a:ln w="28575" cap="rnd">
              <a:solidFill>
                <a:schemeClr val="dk1">
                  <a:alpha val="82000"/>
                </a:schemeClr>
              </a:solidFill>
              <a:round/>
              <a:headEnd type="stealth" w="lg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302" name="文本框 35"/>
            <p:cNvSpPr txBox="1">
              <a:spLocks noChangeArrowheads="1"/>
            </p:cNvSpPr>
            <p:nvPr/>
          </p:nvSpPr>
          <p:spPr bwMode="auto">
            <a:xfrm>
              <a:off x="7053311" y="4221088"/>
              <a:ext cx="3342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0">
                  <a:latin typeface="Arial" panose="020B0604020202020204" pitchFamily="34" charset="0"/>
                </a:rPr>
                <a:t>1</a:t>
              </a: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12303" name="文本框 39"/>
            <p:cNvSpPr txBox="1">
              <a:spLocks noChangeArrowheads="1"/>
            </p:cNvSpPr>
            <p:nvPr/>
          </p:nvSpPr>
          <p:spPr bwMode="auto">
            <a:xfrm>
              <a:off x="7053312" y="3534983"/>
              <a:ext cx="3342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0">
                  <a:latin typeface="Arial" panose="020B0604020202020204" pitchFamily="34" charset="0"/>
                </a:rPr>
                <a:t>2</a:t>
              </a: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12304" name="文本框 40"/>
            <p:cNvSpPr txBox="1">
              <a:spLocks noChangeArrowheads="1"/>
            </p:cNvSpPr>
            <p:nvPr/>
          </p:nvSpPr>
          <p:spPr bwMode="auto">
            <a:xfrm>
              <a:off x="7699856" y="2918931"/>
              <a:ext cx="3342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0">
                  <a:latin typeface="Arial" panose="020B0604020202020204" pitchFamily="34" charset="0"/>
                </a:rPr>
                <a:t>6</a:t>
              </a: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12305" name="文本框 41"/>
            <p:cNvSpPr txBox="1">
              <a:spLocks noChangeArrowheads="1"/>
            </p:cNvSpPr>
            <p:nvPr/>
          </p:nvSpPr>
          <p:spPr bwMode="auto">
            <a:xfrm>
              <a:off x="5968548" y="2965003"/>
              <a:ext cx="3342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0">
                  <a:latin typeface="Arial" panose="020B0604020202020204" pitchFamily="34" charset="0"/>
                </a:rPr>
                <a:t>4</a:t>
              </a: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6868770" y="3473841"/>
              <a:ext cx="246092" cy="24446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6228929" y="2853157"/>
              <a:ext cx="244504" cy="24446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7567354" y="2853157"/>
              <a:ext cx="244504" cy="24446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6857655" y="4408837"/>
              <a:ext cx="244504" cy="24446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64" name="直接连接符 63"/>
            <p:cNvCxnSpPr>
              <a:endCxn id="48" idx="1"/>
            </p:cNvCxnSpPr>
            <p:nvPr/>
          </p:nvCxnSpPr>
          <p:spPr>
            <a:xfrm>
              <a:off x="6357533" y="3097621"/>
              <a:ext cx="536640" cy="1346140"/>
            </a:xfrm>
            <a:prstGeom prst="line">
              <a:avLst/>
            </a:prstGeom>
            <a:ln w="28575">
              <a:headEnd type="stealth" w="lg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>
              <a:endCxn id="48" idx="7"/>
            </p:cNvCxnSpPr>
            <p:nvPr/>
          </p:nvCxnSpPr>
          <p:spPr>
            <a:xfrm flipH="1">
              <a:off x="7067230" y="3130956"/>
              <a:ext cx="620788" cy="1312804"/>
            </a:xfrm>
            <a:prstGeom prst="line">
              <a:avLst/>
            </a:prstGeom>
            <a:ln w="28575">
              <a:headEnd type="stealth" w="lg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1E8AE9-0D19-4C6A-A56B-125BBA381C8C}" type="slidenum">
              <a:rPr lang="en-US" altLang="zh-CN" sz="1400" b="0">
                <a:latin typeface="Arial" panose="020B0604020202020204" pitchFamily="34" charset="0"/>
              </a:rPr>
              <a:t>140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4339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偏序集与哈斯图</a:t>
            </a:r>
          </a:p>
        </p:txBody>
      </p:sp>
      <p:sp>
        <p:nvSpPr>
          <p:cNvPr id="14340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075613" cy="1512887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7.23</a:t>
            </a:r>
            <a:r>
              <a:rPr lang="en-US" altLang="zh-CN"/>
              <a:t> </a:t>
            </a:r>
            <a:r>
              <a:rPr lang="zh-CN" altLang="en-US"/>
              <a:t>集合</a:t>
            </a:r>
            <a:r>
              <a:rPr lang="en-US" altLang="zh-CN" i="1"/>
              <a:t>A</a:t>
            </a:r>
            <a:r>
              <a:rPr lang="zh-CN" altLang="en-US"/>
              <a:t>和</a:t>
            </a:r>
            <a:r>
              <a:rPr lang="en-US" altLang="zh-CN" i="1"/>
              <a:t>A</a:t>
            </a:r>
            <a:r>
              <a:rPr lang="zh-CN" altLang="en-US"/>
              <a:t>上的偏序关系≼一起叫做</a:t>
            </a:r>
            <a:r>
              <a:rPr lang="zh-CN" altLang="en-US">
                <a:solidFill>
                  <a:srgbClr val="A50021"/>
                </a:solidFill>
              </a:rPr>
              <a:t>偏序集</a:t>
            </a:r>
            <a:r>
              <a:rPr lang="en-US" altLang="zh-CN"/>
              <a:t>, </a:t>
            </a:r>
            <a:r>
              <a:rPr lang="zh-CN" altLang="en-US"/>
              <a:t>记作</a:t>
            </a:r>
          </a:p>
          <a:p>
            <a:pPr eaLnBrk="1" hangingPunct="1"/>
            <a:r>
              <a:rPr lang="en-US" altLang="zh-CN"/>
              <a:t>&lt;</a:t>
            </a:r>
            <a:r>
              <a:rPr lang="en-US" altLang="zh-CN" i="1"/>
              <a:t>A</a:t>
            </a:r>
            <a:r>
              <a:rPr lang="en-US" altLang="zh-CN"/>
              <a:t>,≼&gt;.  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/>
              <a:t>实例</a:t>
            </a:r>
            <a:r>
              <a:rPr lang="en-US" altLang="zh-CN"/>
              <a:t>:   &lt;Z,≤&gt;, 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CN"/>
              <a:t>            &lt;</a:t>
            </a:r>
            <a:r>
              <a:rPr lang="en-US" altLang="zh-CN" i="1"/>
              <a:t>P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/>
              <a:t>),</a:t>
            </a:r>
            <a:r>
              <a:rPr lang="en-US" altLang="zh-CN" i="1"/>
              <a:t>R</a:t>
            </a:r>
            <a:r>
              <a:rPr lang="en-US" altLang="zh-CN" baseline="-25000">
                <a:sym typeface="Symbol" panose="05050102010706020507" pitchFamily="18" charset="2"/>
              </a:rPr>
              <a:t></a:t>
            </a:r>
            <a:r>
              <a:rPr lang="en-US" altLang="zh-CN"/>
              <a:t>&gt; </a:t>
            </a:r>
          </a:p>
        </p:txBody>
      </p:sp>
      <p:sp>
        <p:nvSpPr>
          <p:cNvPr id="14341" name="矩形 2"/>
          <p:cNvSpPr>
            <a:spLocks noChangeArrowheads="1"/>
          </p:cNvSpPr>
          <p:nvPr/>
        </p:nvSpPr>
        <p:spPr bwMode="auto">
          <a:xfrm>
            <a:off x="1331913" y="3448050"/>
            <a:ext cx="23968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&lt;{1,2,4,6},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zh-CN" altLang="en-US" baseline="-25000" dirty="0">
                <a:solidFill>
                  <a:srgbClr val="000000"/>
                </a:solidFill>
              </a:rPr>
              <a:t>整除</a:t>
            </a:r>
            <a:r>
              <a:rPr lang="en-US" altLang="zh-CN" dirty="0">
                <a:solidFill>
                  <a:srgbClr val="000000"/>
                </a:solidFill>
              </a:rPr>
              <a:t>&gt;</a:t>
            </a:r>
            <a:endParaRPr lang="zh-CN" altLang="en-US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D7D0E54-D793-4F1B-A9B1-BE2CC35DDC6F}" type="slidenum">
              <a:rPr lang="en-US" altLang="zh-CN" sz="1400" b="0">
                <a:latin typeface="Arial" panose="020B0604020202020204" pitchFamily="34" charset="0"/>
              </a:rPr>
              <a:t>141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6387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偏序集与哈斯图</a:t>
            </a:r>
          </a:p>
        </p:txBody>
      </p:sp>
      <p:sp>
        <p:nvSpPr>
          <p:cNvPr id="16388" name="Rectangle 12"/>
          <p:cNvSpPr>
            <a:spLocks noChangeArrowheads="1"/>
          </p:cNvSpPr>
          <p:nvPr/>
        </p:nvSpPr>
        <p:spPr bwMode="auto">
          <a:xfrm>
            <a:off x="395288" y="1341438"/>
            <a:ext cx="8064500" cy="91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zh-CN" altLang="en-US">
                <a:solidFill>
                  <a:srgbClr val="A50021"/>
                </a:solidFill>
              </a:rPr>
              <a:t>哈斯图</a:t>
            </a:r>
            <a:r>
              <a:rPr lang="en-US" altLang="zh-CN"/>
              <a:t>: </a:t>
            </a:r>
            <a:r>
              <a:rPr lang="zh-CN" altLang="en-US"/>
              <a:t>利用偏序关系的自反、反对称、传递性进行简化的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关系图</a:t>
            </a:r>
          </a:p>
        </p:txBody>
      </p:sp>
      <p:grpSp>
        <p:nvGrpSpPr>
          <p:cNvPr id="7" name="组合 6"/>
          <p:cNvGrpSpPr/>
          <p:nvPr/>
        </p:nvGrpSpPr>
        <p:grpSpPr bwMode="auto">
          <a:xfrm>
            <a:off x="4424363" y="2370138"/>
            <a:ext cx="2065337" cy="2670175"/>
            <a:chOff x="5968548" y="2418201"/>
            <a:chExt cx="2065587" cy="2670056"/>
          </a:xfrm>
        </p:grpSpPr>
        <p:grpSp>
          <p:nvGrpSpPr>
            <p:cNvPr id="16407" name="组合 7"/>
            <p:cNvGrpSpPr/>
            <p:nvPr/>
          </p:nvGrpSpPr>
          <p:grpSpPr bwMode="auto">
            <a:xfrm rot="-1637327">
              <a:off x="6711312" y="3061796"/>
              <a:ext cx="524544" cy="522442"/>
              <a:chOff x="6123637" y="2418365"/>
              <a:chExt cx="524544" cy="522442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6123908" y="2417664"/>
                <a:ext cx="523938" cy="523852"/>
              </a:xfrm>
              <a:prstGeom prst="ellipse">
                <a:avLst/>
              </a:prstGeom>
              <a:no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32" name="直接箭头连接符 31"/>
              <p:cNvCxnSpPr>
                <a:stCxn id="31" idx="6"/>
              </p:cNvCxnSpPr>
              <p:nvPr/>
            </p:nvCxnSpPr>
            <p:spPr>
              <a:xfrm flipH="1">
                <a:off x="6624812" y="2674214"/>
                <a:ext cx="22228" cy="10794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408" name="组合 8"/>
            <p:cNvGrpSpPr/>
            <p:nvPr/>
          </p:nvGrpSpPr>
          <p:grpSpPr bwMode="auto">
            <a:xfrm>
              <a:off x="6753069" y="4565815"/>
              <a:ext cx="524544" cy="522442"/>
              <a:chOff x="6123637" y="2418365"/>
              <a:chExt cx="524544" cy="522442"/>
            </a:xfrm>
          </p:grpSpPr>
          <p:sp>
            <p:nvSpPr>
              <p:cNvPr id="29" name="椭圆 28"/>
              <p:cNvSpPr/>
              <p:nvPr/>
            </p:nvSpPr>
            <p:spPr>
              <a:xfrm>
                <a:off x="6123436" y="2418542"/>
                <a:ext cx="525525" cy="522265"/>
              </a:xfrm>
              <a:prstGeom prst="ellipse">
                <a:avLst/>
              </a:prstGeom>
              <a:no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30" name="直接箭头连接符 29"/>
              <p:cNvCxnSpPr>
                <a:stCxn id="29" idx="6"/>
              </p:cNvCxnSpPr>
              <p:nvPr/>
            </p:nvCxnSpPr>
            <p:spPr>
              <a:xfrm flipH="1">
                <a:off x="6626733" y="2680468"/>
                <a:ext cx="22228" cy="10635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409" name="组合 9"/>
            <p:cNvGrpSpPr/>
            <p:nvPr/>
          </p:nvGrpSpPr>
          <p:grpSpPr bwMode="auto">
            <a:xfrm>
              <a:off x="7425560" y="2418201"/>
              <a:ext cx="524544" cy="522442"/>
              <a:chOff x="6123637" y="2418365"/>
              <a:chExt cx="524544" cy="522442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6124126" y="2418365"/>
                <a:ext cx="523938" cy="522264"/>
              </a:xfrm>
              <a:prstGeom prst="ellipse">
                <a:avLst/>
              </a:prstGeom>
              <a:no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28" name="直接箭头连接符 27"/>
              <p:cNvCxnSpPr>
                <a:stCxn id="27" idx="6"/>
              </p:cNvCxnSpPr>
              <p:nvPr/>
            </p:nvCxnSpPr>
            <p:spPr>
              <a:xfrm flipH="1">
                <a:off x="6625836" y="2680290"/>
                <a:ext cx="22228" cy="10635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410" name="组合 10"/>
            <p:cNvGrpSpPr/>
            <p:nvPr/>
          </p:nvGrpSpPr>
          <p:grpSpPr bwMode="auto">
            <a:xfrm>
              <a:off x="6123637" y="2418365"/>
              <a:ext cx="524544" cy="522442"/>
              <a:chOff x="6123637" y="2418365"/>
              <a:chExt cx="524544" cy="522442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6124142" y="2418201"/>
                <a:ext cx="523938" cy="522264"/>
              </a:xfrm>
              <a:prstGeom prst="ellipse">
                <a:avLst/>
              </a:prstGeom>
              <a:no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26" name="直接箭头连接符 25"/>
              <p:cNvCxnSpPr>
                <a:stCxn id="25" idx="6"/>
              </p:cNvCxnSpPr>
              <p:nvPr/>
            </p:nvCxnSpPr>
            <p:spPr>
              <a:xfrm flipH="1">
                <a:off x="6625852" y="2680126"/>
                <a:ext cx="22228" cy="10635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直接连接符 11"/>
            <p:cNvCxnSpPr/>
            <p:nvPr/>
          </p:nvCxnSpPr>
          <p:spPr>
            <a:xfrm>
              <a:off x="6979907" y="3721480"/>
              <a:ext cx="0" cy="720693"/>
            </a:xfrm>
            <a:prstGeom prst="line">
              <a:avLst/>
            </a:prstGeom>
            <a:ln w="28575">
              <a:headEnd type="stealth" w="lg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6455969" y="3065872"/>
              <a:ext cx="523938" cy="522264"/>
            </a:xfrm>
            <a:prstGeom prst="line">
              <a:avLst/>
            </a:prstGeom>
            <a:ln w="28575">
              <a:headEnd type="stealth" w="med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6979907" y="3065872"/>
              <a:ext cx="614437" cy="522264"/>
            </a:xfrm>
            <a:prstGeom prst="line">
              <a:avLst/>
            </a:prstGeom>
            <a:ln w="28575" cap="rnd">
              <a:solidFill>
                <a:schemeClr val="dk1">
                  <a:alpha val="82000"/>
                </a:schemeClr>
              </a:solidFill>
              <a:round/>
              <a:headEnd type="stealth" w="lg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414" name="文本框 14"/>
            <p:cNvSpPr txBox="1">
              <a:spLocks noChangeArrowheads="1"/>
            </p:cNvSpPr>
            <p:nvPr/>
          </p:nvSpPr>
          <p:spPr bwMode="auto">
            <a:xfrm>
              <a:off x="7053311" y="4221088"/>
              <a:ext cx="3342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0">
                  <a:latin typeface="Arial" panose="020B0604020202020204" pitchFamily="34" charset="0"/>
                </a:rPr>
                <a:t>1</a:t>
              </a: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16415" name="文本框 15"/>
            <p:cNvSpPr txBox="1">
              <a:spLocks noChangeArrowheads="1"/>
            </p:cNvSpPr>
            <p:nvPr/>
          </p:nvSpPr>
          <p:spPr bwMode="auto">
            <a:xfrm>
              <a:off x="7053312" y="3534983"/>
              <a:ext cx="3342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0">
                  <a:latin typeface="Arial" panose="020B0604020202020204" pitchFamily="34" charset="0"/>
                </a:rPr>
                <a:t>2</a:t>
              </a: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16416" name="文本框 16"/>
            <p:cNvSpPr txBox="1">
              <a:spLocks noChangeArrowheads="1"/>
            </p:cNvSpPr>
            <p:nvPr/>
          </p:nvSpPr>
          <p:spPr bwMode="auto">
            <a:xfrm>
              <a:off x="7699856" y="2918931"/>
              <a:ext cx="3342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0">
                  <a:latin typeface="Arial" panose="020B0604020202020204" pitchFamily="34" charset="0"/>
                </a:rPr>
                <a:t>6</a:t>
              </a: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16417" name="文本框 17"/>
            <p:cNvSpPr txBox="1">
              <a:spLocks noChangeArrowheads="1"/>
            </p:cNvSpPr>
            <p:nvPr/>
          </p:nvSpPr>
          <p:spPr bwMode="auto">
            <a:xfrm>
              <a:off x="5968548" y="2965003"/>
              <a:ext cx="3342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0">
                  <a:latin typeface="Arial" panose="020B0604020202020204" pitchFamily="34" charset="0"/>
                </a:rPr>
                <a:t>4</a:t>
              </a: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6868769" y="3473841"/>
              <a:ext cx="246093" cy="24446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6228930" y="2853157"/>
              <a:ext cx="244505" cy="24446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7567354" y="2853157"/>
              <a:ext cx="244505" cy="24446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6857656" y="4408837"/>
              <a:ext cx="244505" cy="24446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3" name="直接连接符 22"/>
            <p:cNvCxnSpPr>
              <a:endCxn id="22" idx="1"/>
            </p:cNvCxnSpPr>
            <p:nvPr/>
          </p:nvCxnSpPr>
          <p:spPr>
            <a:xfrm>
              <a:off x="6357532" y="3097621"/>
              <a:ext cx="536640" cy="1346140"/>
            </a:xfrm>
            <a:prstGeom prst="line">
              <a:avLst/>
            </a:prstGeom>
            <a:ln w="28575">
              <a:headEnd type="stealth" w="lg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endCxn id="22" idx="7"/>
            </p:cNvCxnSpPr>
            <p:nvPr/>
          </p:nvCxnSpPr>
          <p:spPr>
            <a:xfrm flipH="1">
              <a:off x="7067231" y="3130956"/>
              <a:ext cx="620787" cy="1312804"/>
            </a:xfrm>
            <a:prstGeom prst="line">
              <a:avLst/>
            </a:prstGeom>
            <a:ln w="28575">
              <a:headEnd type="stealth" w="lg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90" name="矩形 5"/>
          <p:cNvSpPr>
            <a:spLocks noChangeArrowheads="1"/>
          </p:cNvSpPr>
          <p:nvPr/>
        </p:nvSpPr>
        <p:spPr bwMode="auto">
          <a:xfrm>
            <a:off x="374650" y="2328863"/>
            <a:ext cx="3856038" cy="275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5000"/>
              </a:spcBef>
              <a:buClr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特点：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(1) </a:t>
            </a:r>
            <a:r>
              <a:rPr lang="zh-CN" altLang="en-US">
                <a:latin typeface="Arial" panose="020B0604020202020204" pitchFamily="34" charset="0"/>
              </a:rPr>
              <a:t>每个结点没有环；	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(2) </a:t>
            </a:r>
            <a:r>
              <a:rPr lang="zh-CN" altLang="en-US">
                <a:latin typeface="Arial" panose="020B0604020202020204" pitchFamily="34" charset="0"/>
              </a:rPr>
              <a:t>两个连通的结点之间的序关系通过结点位置的高低表示，位置低的元素的顺序在前（省略箭头）；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(3) </a:t>
            </a:r>
            <a:r>
              <a:rPr lang="zh-CN" altLang="en-US">
                <a:latin typeface="Arial" panose="020B0604020202020204" pitchFamily="34" charset="0"/>
              </a:rPr>
              <a:t>具有覆盖关系的两个结点之间连边</a:t>
            </a:r>
            <a:r>
              <a:rPr lang="en-US" altLang="zh-CN">
                <a:latin typeface="Arial" panose="020B0604020202020204" pitchFamily="34" charset="0"/>
              </a:rPr>
              <a:t>.</a:t>
            </a:r>
            <a:endParaRPr lang="zh-CN" altLang="en-US">
              <a:latin typeface="Arial" panose="020B0604020202020204" pitchFamily="34" charset="0"/>
            </a:endParaRPr>
          </a:p>
        </p:txBody>
      </p:sp>
      <p:grpSp>
        <p:nvGrpSpPr>
          <p:cNvPr id="37" name="组合 36"/>
          <p:cNvGrpSpPr/>
          <p:nvPr/>
        </p:nvGrpSpPr>
        <p:grpSpPr bwMode="auto">
          <a:xfrm>
            <a:off x="7089775" y="2938463"/>
            <a:ext cx="2022475" cy="1893887"/>
            <a:chOff x="6012160" y="2903163"/>
            <a:chExt cx="2021975" cy="1893485"/>
          </a:xfrm>
        </p:grpSpPr>
        <p:cxnSp>
          <p:nvCxnSpPr>
            <p:cNvPr id="38" name="直接连接符 37"/>
            <p:cNvCxnSpPr/>
            <p:nvPr/>
          </p:nvCxnSpPr>
          <p:spPr>
            <a:xfrm>
              <a:off x="6980296" y="3588817"/>
              <a:ext cx="0" cy="718984"/>
            </a:xfrm>
            <a:prstGeom prst="line">
              <a:avLst/>
            </a:prstGeom>
            <a:ln w="28575">
              <a:headEnd type="none" w="lg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6456550" y="3065054"/>
              <a:ext cx="523745" cy="523764"/>
            </a:xfrm>
            <a:prstGeom prst="line">
              <a:avLst/>
            </a:prstGeom>
            <a:ln w="28575">
              <a:headEnd type="none" w="lg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6980296" y="3065054"/>
              <a:ext cx="614211" cy="523764"/>
            </a:xfrm>
            <a:prstGeom prst="line">
              <a:avLst/>
            </a:prstGeom>
            <a:ln w="28575" cap="rnd">
              <a:solidFill>
                <a:schemeClr val="dk1">
                  <a:alpha val="82000"/>
                </a:schemeClr>
              </a:solidFill>
              <a:round/>
              <a:headEnd type="none" w="lg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399" name="文本框 40"/>
            <p:cNvSpPr txBox="1">
              <a:spLocks noChangeArrowheads="1"/>
            </p:cNvSpPr>
            <p:nvPr/>
          </p:nvSpPr>
          <p:spPr bwMode="auto">
            <a:xfrm>
              <a:off x="7053311" y="4334983"/>
              <a:ext cx="3342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0">
                  <a:latin typeface="Arial" panose="020B0604020202020204" pitchFamily="34" charset="0"/>
                </a:rPr>
                <a:t>1</a:t>
              </a: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16400" name="文本框 41"/>
            <p:cNvSpPr txBox="1">
              <a:spLocks noChangeArrowheads="1"/>
            </p:cNvSpPr>
            <p:nvPr/>
          </p:nvSpPr>
          <p:spPr bwMode="auto">
            <a:xfrm>
              <a:off x="7053312" y="3534983"/>
              <a:ext cx="3342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0">
                  <a:latin typeface="Arial" panose="020B0604020202020204" pitchFamily="34" charset="0"/>
                </a:rPr>
                <a:t>2</a:t>
              </a: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16401" name="文本框 42"/>
            <p:cNvSpPr txBox="1">
              <a:spLocks noChangeArrowheads="1"/>
            </p:cNvSpPr>
            <p:nvPr/>
          </p:nvSpPr>
          <p:spPr bwMode="auto">
            <a:xfrm>
              <a:off x="7699856" y="2918931"/>
              <a:ext cx="3342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0">
                  <a:latin typeface="Arial" panose="020B0604020202020204" pitchFamily="34" charset="0"/>
                </a:rPr>
                <a:t>6</a:t>
              </a: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16402" name="文本框 43"/>
            <p:cNvSpPr txBox="1">
              <a:spLocks noChangeArrowheads="1"/>
            </p:cNvSpPr>
            <p:nvPr/>
          </p:nvSpPr>
          <p:spPr bwMode="auto">
            <a:xfrm>
              <a:off x="6012160" y="2903163"/>
              <a:ext cx="3342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0">
                  <a:latin typeface="Arial" panose="020B0604020202020204" pitchFamily="34" charset="0"/>
                </a:rPr>
                <a:t>4</a:t>
              </a:r>
              <a:endParaRPr lang="zh-CN" altLang="en-US" b="0">
                <a:latin typeface="Arial" panose="020B0604020202020204" pitchFamily="34" charset="0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6869198" y="3474542"/>
              <a:ext cx="244415" cy="244423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6296253" y="2919035"/>
              <a:ext cx="244415" cy="244423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7461190" y="2903163"/>
              <a:ext cx="244415" cy="244423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6858089" y="4274472"/>
              <a:ext cx="244415" cy="244423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4336" name="文本框 14335"/>
          <p:cNvSpPr txBox="1">
            <a:spLocks noChangeArrowheads="1"/>
          </p:cNvSpPr>
          <p:nvPr/>
        </p:nvSpPr>
        <p:spPr bwMode="auto">
          <a:xfrm>
            <a:off x="7496175" y="5040313"/>
            <a:ext cx="12811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哈斯图</a:t>
            </a:r>
          </a:p>
        </p:txBody>
      </p:sp>
      <p:sp>
        <p:nvSpPr>
          <p:cNvPr id="51" name="矩形 50"/>
          <p:cNvSpPr>
            <a:spLocks noChangeArrowheads="1"/>
          </p:cNvSpPr>
          <p:nvPr/>
        </p:nvSpPr>
        <p:spPr bwMode="auto">
          <a:xfrm>
            <a:off x="4503738" y="5715000"/>
            <a:ext cx="23968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&lt;{1,2,4,6},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zh-CN" altLang="en-US" baseline="-25000" dirty="0">
                <a:solidFill>
                  <a:srgbClr val="000000"/>
                </a:solidFill>
              </a:rPr>
              <a:t>整除</a:t>
            </a:r>
            <a:r>
              <a:rPr lang="en-US" altLang="zh-CN" dirty="0">
                <a:solidFill>
                  <a:srgbClr val="000000"/>
                </a:solidFill>
              </a:rPr>
              <a:t>&gt;</a:t>
            </a:r>
            <a:endParaRPr lang="zh-CN" altLang="en-US" b="0" dirty="0">
              <a:latin typeface="Arial" panose="020B0604020202020204" pitchFamily="34" charset="0"/>
            </a:endParaRPr>
          </a:p>
        </p:txBody>
      </p:sp>
      <p:sp>
        <p:nvSpPr>
          <p:cNvPr id="14341" name="箭头: 右 14340"/>
          <p:cNvSpPr/>
          <p:nvPr/>
        </p:nvSpPr>
        <p:spPr>
          <a:xfrm>
            <a:off x="6524625" y="3886200"/>
            <a:ext cx="620713" cy="24447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4881563" y="5040313"/>
            <a:ext cx="1282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关系图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" grpId="0"/>
      <p:bldP spid="51" grpId="0"/>
      <p:bldP spid="14341" grpId="0" animBg="1"/>
      <p:bldP spid="53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8F8AE7-041B-479E-AFD3-743A157C1815}" type="slidenum">
              <a:rPr lang="en-US" altLang="zh-CN" sz="1400" b="0">
                <a:latin typeface="Arial" panose="020B0604020202020204" pitchFamily="34" charset="0"/>
              </a:rPr>
              <a:t>142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843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18436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80400" cy="10080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12</a:t>
            </a:r>
            <a:r>
              <a:rPr lang="en-US" altLang="zh-CN" dirty="0"/>
              <a:t>  </a:t>
            </a:r>
            <a:r>
              <a:rPr lang="zh-CN" altLang="en-US" dirty="0"/>
              <a:t>偏序集</a:t>
            </a:r>
            <a:r>
              <a:rPr lang="en-US" altLang="zh-CN" dirty="0"/>
              <a:t>&lt;{1,2,3,4,5,6,7,8,9}, </a:t>
            </a:r>
            <a:r>
              <a:rPr lang="en-US" altLang="zh-CN" i="1" dirty="0"/>
              <a:t>R</a:t>
            </a:r>
            <a:r>
              <a:rPr lang="zh-CN" altLang="en-US" baseline="-25000" dirty="0"/>
              <a:t>整除</a:t>
            </a:r>
            <a:r>
              <a:rPr lang="en-US" altLang="zh-CN" dirty="0"/>
              <a:t>&gt;</a:t>
            </a:r>
            <a:r>
              <a:rPr lang="zh-CN" altLang="en-US" dirty="0"/>
              <a:t>和</a:t>
            </a:r>
            <a:r>
              <a:rPr lang="en-US" altLang="zh-CN" dirty="0"/>
              <a:t>&lt;</a:t>
            </a:r>
            <a:r>
              <a:rPr lang="en-US" altLang="zh-CN" i="1" dirty="0"/>
              <a:t>P</a:t>
            </a:r>
            <a:r>
              <a:rPr lang="en-US" altLang="zh-CN" dirty="0"/>
              <a:t>({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}),</a:t>
            </a:r>
            <a:r>
              <a:rPr lang="en-US" altLang="zh-CN" i="1" dirty="0"/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&gt;</a:t>
            </a:r>
            <a:r>
              <a:rPr lang="zh-CN" altLang="en-US" dirty="0"/>
              <a:t>的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哈斯图</a:t>
            </a:r>
            <a:r>
              <a:rPr lang="en-US" altLang="zh-CN" dirty="0"/>
              <a:t>.</a:t>
            </a:r>
            <a:br>
              <a:rPr lang="en-US" altLang="zh-CN" dirty="0"/>
            </a:br>
            <a:endParaRPr lang="en-US" altLang="zh-CN" dirty="0"/>
          </a:p>
        </p:txBody>
      </p:sp>
      <p:pic>
        <p:nvPicPr>
          <p:cNvPr id="18437" name="Picture 12" descr="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99" t="6117" r="-2565" b="8000"/>
          <a:stretch>
            <a:fillRect/>
          </a:stretch>
        </p:blipFill>
        <p:spPr bwMode="auto">
          <a:xfrm>
            <a:off x="755650" y="2420938"/>
            <a:ext cx="7632700" cy="3486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741691E-7C3A-4B92-A68A-8EBAF0D6735C}" type="slidenum">
              <a:rPr lang="en-US" altLang="zh-CN" sz="1400" b="0">
                <a:latin typeface="Arial" panose="020B0604020202020204" pitchFamily="34" charset="0"/>
              </a:rPr>
              <a:t>143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608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748712" cy="42513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>
                <a:solidFill>
                  <a:srgbClr val="FF0000"/>
                </a:solidFill>
              </a:rPr>
              <a:t>哈斯图是简化的关系图</a:t>
            </a:r>
            <a:r>
              <a:rPr lang="zh-CN" altLang="en-US" sz="2800"/>
              <a:t>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800"/>
              <a:t>(1)</a:t>
            </a:r>
            <a:r>
              <a:rPr lang="zh-CN" altLang="en-US" sz="2800"/>
              <a:t>自反性：每个顶点都有自回路，</a:t>
            </a:r>
            <a:r>
              <a:rPr lang="zh-CN" altLang="en-US" sz="2800">
                <a:solidFill>
                  <a:srgbClr val="FF0000"/>
                </a:solidFill>
              </a:rPr>
              <a:t>省去自回路</a:t>
            </a:r>
            <a:r>
              <a:rPr lang="en-US" altLang="zh-CN" sz="2800"/>
              <a:t>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800"/>
              <a:t>(2)</a:t>
            </a:r>
            <a:r>
              <a:rPr lang="zh-CN" altLang="en-US" sz="2800"/>
              <a:t>反对称性：从小到大安置顶点，</a:t>
            </a:r>
            <a:r>
              <a:rPr lang="zh-CN" altLang="en-US" sz="2800">
                <a:solidFill>
                  <a:srgbClr val="FF0000"/>
                </a:solidFill>
              </a:rPr>
              <a:t>可省略箭头</a:t>
            </a:r>
            <a:r>
              <a:rPr lang="en-US" altLang="zh-CN" sz="2800"/>
              <a:t>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800"/>
              <a:t>(3)</a:t>
            </a:r>
            <a:r>
              <a:rPr lang="zh-CN" altLang="en-US" sz="2800"/>
              <a:t>传递性：由于有</a:t>
            </a:r>
            <a:r>
              <a:rPr lang="en-US" altLang="zh-CN" sz="2800"/>
              <a:t>&lt;</a:t>
            </a:r>
            <a:r>
              <a:rPr lang="en-US" altLang="zh-CN" sz="2800" i="1"/>
              <a:t>a</a:t>
            </a:r>
            <a:r>
              <a:rPr lang="en-US" altLang="zh-CN" sz="2800"/>
              <a:t>,</a:t>
            </a:r>
            <a:r>
              <a:rPr lang="en-US" altLang="zh-CN" sz="2800" i="1"/>
              <a:t>b</a:t>
            </a:r>
            <a:r>
              <a:rPr lang="en-US" altLang="zh-CN" sz="2800"/>
              <a:t>&gt;,&lt;</a:t>
            </a:r>
            <a:r>
              <a:rPr lang="en-US" altLang="zh-CN" sz="2800" i="1"/>
              <a:t>b</a:t>
            </a:r>
            <a:r>
              <a:rPr lang="en-US" altLang="zh-CN" sz="2800"/>
              <a:t>,</a:t>
            </a:r>
            <a:r>
              <a:rPr lang="en-US" altLang="zh-CN" sz="2800" i="1"/>
              <a:t>c</a:t>
            </a:r>
            <a:r>
              <a:rPr lang="en-US" altLang="zh-CN" sz="2800"/>
              <a:t>&gt; ∈</a:t>
            </a:r>
            <a:r>
              <a:rPr lang="en-US" altLang="zh-CN" sz="2800" i="1"/>
              <a:t>R</a:t>
            </a:r>
            <a:r>
              <a:rPr lang="en-US" altLang="zh-CN" sz="2800"/>
              <a:t> </a:t>
            </a:r>
            <a:r>
              <a:rPr lang="zh-CN" altLang="en-US" sz="2800"/>
              <a:t>则</a:t>
            </a:r>
            <a:r>
              <a:rPr lang="en-US" altLang="zh-CN" sz="2800"/>
              <a:t>&lt;</a:t>
            </a:r>
            <a:r>
              <a:rPr lang="en-US" altLang="zh-CN" sz="2800" i="1"/>
              <a:t>a</a:t>
            </a:r>
            <a:r>
              <a:rPr lang="en-US" altLang="zh-CN" sz="2800"/>
              <a:t>,</a:t>
            </a:r>
            <a:r>
              <a:rPr lang="en-US" altLang="zh-CN" sz="2800" i="1"/>
              <a:t>c</a:t>
            </a:r>
            <a:r>
              <a:rPr lang="en-US" altLang="zh-CN" sz="2800"/>
              <a:t>&gt; ∈</a:t>
            </a:r>
            <a:r>
              <a:rPr lang="en-US" altLang="zh-CN" sz="2800" i="1"/>
              <a:t>R</a:t>
            </a:r>
            <a:r>
              <a:rPr lang="zh-CN" altLang="en-US" sz="2800"/>
              <a:t>，</a:t>
            </a:r>
            <a:endParaRPr lang="en-US" altLang="zh-CN" sz="2800"/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800"/>
              <a:t>         </a:t>
            </a:r>
            <a:r>
              <a:rPr lang="zh-CN" altLang="en-US" sz="2800"/>
              <a:t>故只画</a:t>
            </a:r>
            <a:r>
              <a:rPr lang="en-US" altLang="zh-CN" sz="2800"/>
              <a:t>&lt;</a:t>
            </a:r>
            <a:r>
              <a:rPr lang="en-US" altLang="zh-CN" sz="2800" i="1"/>
              <a:t>a</a:t>
            </a:r>
            <a:r>
              <a:rPr lang="en-US" altLang="zh-CN" sz="2800"/>
              <a:t>,</a:t>
            </a:r>
            <a:r>
              <a:rPr lang="en-US" altLang="zh-CN" sz="2800" i="1"/>
              <a:t>b</a:t>
            </a:r>
            <a:r>
              <a:rPr lang="en-US" altLang="zh-CN" sz="2800"/>
              <a:t>&gt;,&lt;</a:t>
            </a:r>
            <a:r>
              <a:rPr lang="en-US" altLang="zh-CN" sz="2800" i="1"/>
              <a:t>b</a:t>
            </a:r>
            <a:r>
              <a:rPr lang="en-US" altLang="zh-CN" sz="2800"/>
              <a:t>,</a:t>
            </a:r>
            <a:r>
              <a:rPr lang="en-US" altLang="zh-CN" sz="2800" i="1"/>
              <a:t>c</a:t>
            </a:r>
            <a:r>
              <a:rPr lang="en-US" altLang="zh-CN" sz="2800"/>
              <a:t>&gt;</a:t>
            </a:r>
            <a:r>
              <a:rPr lang="zh-CN" altLang="en-US" sz="2800"/>
              <a:t>对应的边，</a:t>
            </a:r>
            <a:r>
              <a:rPr lang="zh-CN" altLang="en-US" sz="2800">
                <a:solidFill>
                  <a:srgbClr val="FF0000"/>
                </a:solidFill>
              </a:rPr>
              <a:t>省略边</a:t>
            </a:r>
            <a:r>
              <a:rPr lang="en-US" altLang="zh-CN" sz="2800">
                <a:solidFill>
                  <a:srgbClr val="FF0000"/>
                </a:solidFill>
              </a:rPr>
              <a:t>&lt;</a:t>
            </a:r>
            <a:r>
              <a:rPr lang="en-US" altLang="zh-CN" sz="2800" i="1">
                <a:solidFill>
                  <a:srgbClr val="FF0000"/>
                </a:solidFill>
              </a:rPr>
              <a:t>a</a:t>
            </a:r>
            <a:r>
              <a:rPr lang="en-US" altLang="zh-CN" sz="2800">
                <a:solidFill>
                  <a:srgbClr val="FF0000"/>
                </a:solidFill>
              </a:rPr>
              <a:t>,</a:t>
            </a:r>
            <a:r>
              <a:rPr lang="en-US" altLang="zh-CN" sz="2800" i="1">
                <a:solidFill>
                  <a:srgbClr val="FF0000"/>
                </a:solidFill>
              </a:rPr>
              <a:t>c</a:t>
            </a:r>
            <a:r>
              <a:rPr lang="en-US" altLang="zh-CN" sz="2800">
                <a:solidFill>
                  <a:srgbClr val="FF0000"/>
                </a:solidFill>
              </a:rPr>
              <a:t>&gt;</a:t>
            </a:r>
            <a:r>
              <a:rPr lang="en-US" altLang="zh-CN" sz="2800"/>
              <a:t>.</a:t>
            </a:r>
            <a:endParaRPr lang="en-US" altLang="zh-CN" sz="2800">
              <a:solidFill>
                <a:srgbClr val="FF0000"/>
              </a:solidFill>
            </a:endParaRPr>
          </a:p>
        </p:txBody>
      </p:sp>
      <p:sp>
        <p:nvSpPr>
          <p:cNvPr id="20484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哈斯图与关系图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5C0EE59-E509-4DCD-9F2C-F0DE6F3C1A5F}" type="slidenum">
              <a:rPr lang="en-US" altLang="zh-CN" sz="1400" b="0">
                <a:latin typeface="Arial" panose="020B0604020202020204" pitchFamily="34" charset="0"/>
              </a:rPr>
              <a:t>144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150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064500" cy="1008062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13</a:t>
            </a:r>
            <a:r>
              <a:rPr lang="en-US" altLang="zh-CN"/>
              <a:t>  </a:t>
            </a:r>
            <a:r>
              <a:rPr lang="zh-CN" altLang="en-US"/>
              <a:t>已知偏序集</a:t>
            </a:r>
            <a:r>
              <a:rPr lang="en-US" altLang="zh-CN"/>
              <a:t>&lt;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R</a:t>
            </a:r>
            <a:r>
              <a:rPr lang="en-US" altLang="zh-CN"/>
              <a:t>&gt;</a:t>
            </a:r>
            <a:r>
              <a:rPr lang="zh-CN" altLang="en-US"/>
              <a:t>的哈斯图如下图所示</a:t>
            </a:r>
            <a:r>
              <a:rPr lang="en-US" altLang="zh-CN"/>
              <a:t>, </a:t>
            </a:r>
            <a:r>
              <a:rPr lang="zh-CN" altLang="en-US"/>
              <a:t>试求出集合</a:t>
            </a:r>
            <a:r>
              <a:rPr lang="en-US" altLang="zh-CN" i="1"/>
              <a:t>A</a:t>
            </a:r>
          </a:p>
          <a:p>
            <a:pPr eaLnBrk="1" hangingPunct="1"/>
            <a:r>
              <a:rPr lang="zh-CN" altLang="en-US"/>
              <a:t>和关系</a:t>
            </a:r>
            <a:r>
              <a:rPr lang="en-US" altLang="zh-CN" i="1"/>
              <a:t>R</a:t>
            </a:r>
            <a:r>
              <a:rPr lang="zh-CN" altLang="en-US"/>
              <a:t>的表达式</a:t>
            </a:r>
            <a:r>
              <a:rPr lang="en-US" altLang="zh-CN"/>
              <a:t>. </a:t>
            </a:r>
          </a:p>
        </p:txBody>
      </p:sp>
      <p:sp>
        <p:nvSpPr>
          <p:cNvPr id="436234" name="Rectangle 10"/>
          <p:cNvSpPr>
            <a:spLocks noChangeArrowheads="1"/>
          </p:cNvSpPr>
          <p:nvPr/>
        </p:nvSpPr>
        <p:spPr bwMode="auto">
          <a:xfrm>
            <a:off x="468313" y="5157192"/>
            <a:ext cx="8316912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解  </a:t>
            </a:r>
            <a:r>
              <a:rPr lang="en-US" altLang="zh-CN" i="1" dirty="0"/>
              <a:t>A</a:t>
            </a:r>
            <a:r>
              <a:rPr lang="en-US" altLang="zh-CN" dirty="0"/>
              <a:t>={ 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en-US" altLang="zh-CN" i="1" dirty="0"/>
              <a:t>c</a:t>
            </a:r>
            <a:r>
              <a:rPr lang="en-US" altLang="zh-CN" dirty="0"/>
              <a:t>, </a:t>
            </a:r>
            <a:r>
              <a:rPr lang="en-US" altLang="zh-CN" i="1" dirty="0"/>
              <a:t>d</a:t>
            </a:r>
            <a:r>
              <a:rPr lang="en-US" altLang="zh-CN" dirty="0"/>
              <a:t>, </a:t>
            </a:r>
            <a:r>
              <a:rPr lang="en-US" altLang="zh-CN" i="1" dirty="0"/>
              <a:t>e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dirty="0"/>
              <a:t>, </a:t>
            </a:r>
            <a:r>
              <a:rPr lang="en-US" altLang="zh-CN" i="1" dirty="0"/>
              <a:t>h </a:t>
            </a:r>
            <a:r>
              <a:rPr lang="en-US" altLang="zh-CN" dirty="0"/>
              <a:t>}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R</a:t>
            </a:r>
            <a:r>
              <a:rPr lang="en-US" altLang="zh-CN" dirty="0"/>
              <a:t>={&lt;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d</a:t>
            </a:r>
            <a:r>
              <a:rPr lang="en-US" altLang="zh-CN" dirty="0"/>
              <a:t>&gt;,&lt;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e</a:t>
            </a:r>
            <a:r>
              <a:rPr lang="en-US" altLang="zh-CN" dirty="0"/>
              <a:t>&gt;,&lt;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f</a:t>
            </a:r>
            <a:r>
              <a:rPr lang="en-US" altLang="zh-CN" dirty="0"/>
              <a:t>&gt;,&lt;</a:t>
            </a:r>
            <a:r>
              <a:rPr lang="en-US" altLang="zh-CN" i="1" dirty="0" err="1"/>
              <a:t>c</a:t>
            </a:r>
            <a:r>
              <a:rPr lang="en-US" altLang="zh-CN" dirty="0" err="1"/>
              <a:t>,</a:t>
            </a:r>
            <a:r>
              <a:rPr lang="en-US" altLang="zh-CN" i="1" dirty="0" err="1"/>
              <a:t>d</a:t>
            </a:r>
            <a:r>
              <a:rPr lang="en-US" altLang="zh-CN" dirty="0"/>
              <a:t>&gt;,&lt;</a:t>
            </a:r>
            <a:r>
              <a:rPr lang="en-US" altLang="zh-CN" i="1" dirty="0" err="1"/>
              <a:t>c</a:t>
            </a:r>
            <a:r>
              <a:rPr lang="en-US" altLang="zh-CN" dirty="0" err="1"/>
              <a:t>,</a:t>
            </a:r>
            <a:r>
              <a:rPr lang="en-US" altLang="zh-CN" i="1" dirty="0" err="1"/>
              <a:t>e</a:t>
            </a:r>
            <a:r>
              <a:rPr lang="en-US" altLang="zh-CN" dirty="0"/>
              <a:t>&gt;,&lt;</a:t>
            </a:r>
            <a:r>
              <a:rPr lang="en-US" altLang="zh-CN" i="1" dirty="0" err="1"/>
              <a:t>c</a:t>
            </a:r>
            <a:r>
              <a:rPr lang="en-US" altLang="zh-CN" dirty="0" err="1"/>
              <a:t>,</a:t>
            </a:r>
            <a:r>
              <a:rPr lang="en-US" altLang="zh-CN" i="1" dirty="0" err="1"/>
              <a:t>f</a:t>
            </a:r>
            <a:r>
              <a:rPr lang="en-US" altLang="zh-CN" dirty="0"/>
              <a:t>&gt;,&lt;</a:t>
            </a:r>
            <a:r>
              <a:rPr lang="en-US" altLang="zh-CN" i="1" dirty="0" err="1"/>
              <a:t>d</a:t>
            </a:r>
            <a:r>
              <a:rPr lang="en-US" altLang="zh-CN" dirty="0" err="1"/>
              <a:t>,</a:t>
            </a:r>
            <a:r>
              <a:rPr lang="en-US" altLang="zh-CN" i="1" dirty="0" err="1"/>
              <a:t>f</a:t>
            </a:r>
            <a:r>
              <a:rPr lang="en-US" altLang="zh-CN" dirty="0"/>
              <a:t>&gt;,&lt;</a:t>
            </a:r>
            <a:r>
              <a:rPr lang="en-US" altLang="zh-CN" i="1" dirty="0" err="1"/>
              <a:t>e</a:t>
            </a:r>
            <a:r>
              <a:rPr lang="en-US" altLang="zh-CN" dirty="0" err="1"/>
              <a:t>,</a:t>
            </a:r>
            <a:r>
              <a:rPr lang="en-US" altLang="zh-CN" i="1" dirty="0" err="1"/>
              <a:t>f</a:t>
            </a:r>
            <a:r>
              <a:rPr lang="en-US" altLang="zh-CN" dirty="0"/>
              <a:t>&gt;,&lt;</a:t>
            </a:r>
            <a:r>
              <a:rPr lang="en-US" altLang="zh-CN" i="1" dirty="0" err="1"/>
              <a:t>g</a:t>
            </a:r>
            <a:r>
              <a:rPr lang="en-US" altLang="zh-CN" dirty="0" err="1"/>
              <a:t>,</a:t>
            </a:r>
            <a:r>
              <a:rPr lang="en-US" altLang="zh-CN" i="1" dirty="0" err="1"/>
              <a:t>h</a:t>
            </a:r>
            <a:r>
              <a:rPr lang="en-US" altLang="zh-CN" dirty="0"/>
              <a:t>&gt;}∪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endParaRPr lang="en-US" altLang="zh-CN" baseline="-25000" dirty="0"/>
          </a:p>
        </p:txBody>
      </p:sp>
      <p:pic>
        <p:nvPicPr>
          <p:cNvPr id="21509" name="Picture 11" descr="7-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90" b="16397"/>
          <a:stretch>
            <a:fillRect/>
          </a:stretch>
        </p:blipFill>
        <p:spPr bwMode="auto">
          <a:xfrm>
            <a:off x="2555875" y="2349500"/>
            <a:ext cx="3960813" cy="273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Rectangle 1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6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6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34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3B452A2-7E6C-414F-886B-C7064CDD85E7}" type="slidenum">
              <a:rPr lang="en-US" altLang="zh-CN" sz="1400" b="0">
                <a:latin typeface="Arial" panose="020B0604020202020204" pitchFamily="34" charset="0"/>
              </a:rPr>
              <a:t>145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3555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偏序集中的特殊元素 </a:t>
            </a:r>
          </a:p>
        </p:txBody>
      </p:sp>
      <p:sp>
        <p:nvSpPr>
          <p:cNvPr id="21508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395288" y="1195388"/>
            <a:ext cx="8229600" cy="2233612"/>
          </a:xfrm>
        </p:spPr>
        <p:txBody>
          <a:bodyPr/>
          <a:lstStyle/>
          <a:p>
            <a:pPr marL="457200" indent="-457200" eaLnBrk="1" hangingPunct="1"/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7.24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/>
              <a:t>&lt;</a:t>
            </a:r>
            <a:r>
              <a:rPr lang="en-US" altLang="zh-CN" i="1"/>
              <a:t>A</a:t>
            </a:r>
            <a:r>
              <a:rPr lang="en-US" altLang="zh-CN"/>
              <a:t>,≼&gt;</a:t>
            </a:r>
            <a:r>
              <a:rPr lang="zh-CN" altLang="en-US"/>
              <a:t>为偏序集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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</a:p>
          <a:p>
            <a:pPr marL="457200" indent="-457200" eaLnBrk="1" hangingPunct="1"/>
            <a:r>
              <a:rPr lang="en-US" altLang="zh-CN"/>
              <a:t>(1) </a:t>
            </a:r>
            <a:r>
              <a:rPr lang="zh-CN" altLang="en-US"/>
              <a:t>若</a:t>
            </a:r>
            <a:r>
              <a:rPr lang="zh-CN" altLang="en-US">
                <a:sym typeface="Symbol" panose="05050102010706020507" pitchFamily="18" charset="2"/>
              </a:rPr>
              <a:t></a:t>
            </a:r>
            <a:r>
              <a:rPr lang="en-US" altLang="zh-CN" i="1"/>
              <a:t>x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∈</a:t>
            </a:r>
            <a:r>
              <a:rPr lang="en-US" altLang="zh-CN" i="1"/>
              <a:t>B</a:t>
            </a:r>
            <a:r>
              <a:rPr lang="en-US" altLang="zh-CN"/>
              <a:t>→</a:t>
            </a:r>
            <a:r>
              <a:rPr lang="en-US" altLang="zh-CN" i="1"/>
              <a:t>y</a:t>
            </a:r>
            <a:r>
              <a:rPr lang="en-US" altLang="zh-CN"/>
              <a:t>≼</a:t>
            </a:r>
            <a:r>
              <a:rPr lang="en-US" altLang="zh-CN" i="1"/>
              <a:t>x</a:t>
            </a:r>
            <a:r>
              <a:rPr lang="en-US" altLang="zh-CN"/>
              <a:t>)</a:t>
            </a:r>
            <a:r>
              <a:rPr lang="zh-CN" altLang="en-US"/>
              <a:t>成立</a:t>
            </a:r>
            <a:r>
              <a:rPr lang="en-US" altLang="zh-CN"/>
              <a:t>, </a:t>
            </a:r>
            <a:r>
              <a:rPr lang="zh-CN" altLang="en-US"/>
              <a:t>则称 </a:t>
            </a:r>
            <a:r>
              <a:rPr lang="en-US" altLang="zh-CN" i="1"/>
              <a:t>y </a:t>
            </a:r>
            <a:r>
              <a:rPr lang="zh-CN" altLang="en-US"/>
              <a:t>为</a:t>
            </a:r>
            <a:r>
              <a:rPr lang="en-US" altLang="zh-CN" i="1"/>
              <a:t>B</a:t>
            </a:r>
            <a:r>
              <a:rPr lang="zh-CN" altLang="en-US"/>
              <a:t>的</a:t>
            </a:r>
            <a:r>
              <a:rPr lang="zh-CN" altLang="en-US">
                <a:solidFill>
                  <a:srgbClr val="A50021"/>
                </a:solidFill>
              </a:rPr>
              <a:t>最小元</a:t>
            </a:r>
          </a:p>
          <a:p>
            <a:pPr marL="457200" indent="-457200" eaLnBrk="1" hangingPunct="1"/>
            <a:r>
              <a:rPr lang="en-US" altLang="zh-CN"/>
              <a:t>(2) </a:t>
            </a:r>
            <a:r>
              <a:rPr lang="zh-CN" altLang="en-US"/>
              <a:t>若</a:t>
            </a:r>
            <a:r>
              <a:rPr lang="zh-CN" altLang="en-US">
                <a:sym typeface="Symbol" panose="05050102010706020507" pitchFamily="18" charset="2"/>
              </a:rPr>
              <a:t></a:t>
            </a:r>
            <a:r>
              <a:rPr lang="en-US" altLang="zh-CN" i="1"/>
              <a:t>x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∈</a:t>
            </a:r>
            <a:r>
              <a:rPr lang="en-US" altLang="zh-CN" i="1"/>
              <a:t>B</a:t>
            </a:r>
            <a:r>
              <a:rPr lang="en-US" altLang="zh-CN"/>
              <a:t>→</a:t>
            </a:r>
            <a:r>
              <a:rPr lang="en-US" altLang="zh-CN" i="1"/>
              <a:t>x</a:t>
            </a:r>
            <a:r>
              <a:rPr lang="en-US" altLang="zh-CN"/>
              <a:t>≼</a:t>
            </a:r>
            <a:r>
              <a:rPr lang="en-US" altLang="zh-CN" i="1"/>
              <a:t>y</a:t>
            </a:r>
            <a:r>
              <a:rPr lang="en-US" altLang="zh-CN"/>
              <a:t>)</a:t>
            </a:r>
            <a:r>
              <a:rPr lang="zh-CN" altLang="en-US"/>
              <a:t>成立</a:t>
            </a:r>
            <a:r>
              <a:rPr lang="en-US" altLang="zh-CN"/>
              <a:t>, </a:t>
            </a:r>
            <a:r>
              <a:rPr lang="zh-CN" altLang="en-US"/>
              <a:t>则称 </a:t>
            </a:r>
            <a:r>
              <a:rPr lang="en-US" altLang="zh-CN" i="1"/>
              <a:t>y </a:t>
            </a:r>
            <a:r>
              <a:rPr lang="zh-CN" altLang="en-US"/>
              <a:t>为</a:t>
            </a:r>
            <a:r>
              <a:rPr lang="en-US" altLang="zh-CN" i="1"/>
              <a:t>B</a:t>
            </a:r>
            <a:r>
              <a:rPr lang="zh-CN" altLang="en-US"/>
              <a:t>的</a:t>
            </a:r>
            <a:r>
              <a:rPr lang="zh-CN" altLang="en-US">
                <a:solidFill>
                  <a:srgbClr val="A50021"/>
                </a:solidFill>
              </a:rPr>
              <a:t>最大元</a:t>
            </a:r>
          </a:p>
          <a:p>
            <a:pPr marL="457200" indent="-457200" eaLnBrk="1" hangingPunct="1"/>
            <a:r>
              <a:rPr lang="en-US" altLang="zh-CN"/>
              <a:t>(3) </a:t>
            </a:r>
            <a:r>
              <a:rPr lang="zh-CN" altLang="en-US"/>
              <a:t>若</a:t>
            </a:r>
            <a:r>
              <a:rPr lang="zh-CN" altLang="en-US">
                <a:sym typeface="Symbol" panose="05050102010706020507" pitchFamily="18" charset="2"/>
              </a:rPr>
              <a:t></a:t>
            </a:r>
            <a:r>
              <a:rPr lang="en-US" altLang="zh-CN" i="1"/>
              <a:t>x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∈</a:t>
            </a:r>
            <a:r>
              <a:rPr lang="en-US" altLang="zh-CN" i="1"/>
              <a:t>B</a:t>
            </a:r>
            <a:r>
              <a:rPr lang="en-US" altLang="zh-CN"/>
              <a:t>∧</a:t>
            </a:r>
            <a:r>
              <a:rPr lang="en-US" altLang="zh-CN" i="1"/>
              <a:t>x</a:t>
            </a:r>
            <a:r>
              <a:rPr lang="en-US" altLang="zh-CN"/>
              <a:t>≼</a:t>
            </a:r>
            <a:r>
              <a:rPr lang="en-US" altLang="zh-CN" i="1"/>
              <a:t>y</a:t>
            </a:r>
            <a:r>
              <a:rPr lang="en-US" altLang="zh-CN"/>
              <a:t>→</a:t>
            </a:r>
            <a:r>
              <a:rPr lang="en-US" altLang="zh-CN" i="1"/>
              <a:t>x</a:t>
            </a:r>
            <a:r>
              <a:rPr lang="en-US" altLang="zh-CN"/>
              <a:t>=</a:t>
            </a:r>
            <a:r>
              <a:rPr lang="en-US" altLang="zh-CN" i="1"/>
              <a:t>y</a:t>
            </a:r>
            <a:r>
              <a:rPr lang="en-US" altLang="zh-CN"/>
              <a:t>)</a:t>
            </a:r>
            <a:r>
              <a:rPr lang="zh-CN" altLang="en-US"/>
              <a:t>成立</a:t>
            </a:r>
            <a:r>
              <a:rPr lang="en-US" altLang="zh-CN"/>
              <a:t>, </a:t>
            </a:r>
            <a:r>
              <a:rPr lang="zh-CN" altLang="en-US"/>
              <a:t>则称 </a:t>
            </a:r>
            <a:r>
              <a:rPr lang="en-US" altLang="zh-CN" i="1"/>
              <a:t>y </a:t>
            </a:r>
            <a:r>
              <a:rPr lang="zh-CN" altLang="en-US"/>
              <a:t>为</a:t>
            </a:r>
            <a:r>
              <a:rPr lang="en-US" altLang="zh-CN" i="1"/>
              <a:t>B</a:t>
            </a:r>
            <a:r>
              <a:rPr lang="zh-CN" altLang="en-US"/>
              <a:t>的</a:t>
            </a:r>
            <a:r>
              <a:rPr lang="zh-CN" altLang="en-US">
                <a:solidFill>
                  <a:srgbClr val="A50021"/>
                </a:solidFill>
              </a:rPr>
              <a:t>极小元</a:t>
            </a:r>
          </a:p>
          <a:p>
            <a:pPr marL="457200" indent="-457200" eaLnBrk="1" hangingPunct="1"/>
            <a:r>
              <a:rPr lang="en-US" altLang="zh-CN"/>
              <a:t>(4) </a:t>
            </a:r>
            <a:r>
              <a:rPr lang="zh-CN" altLang="en-US"/>
              <a:t>若</a:t>
            </a:r>
            <a:r>
              <a:rPr lang="zh-CN" altLang="en-US">
                <a:sym typeface="Symbol" panose="05050102010706020507" pitchFamily="18" charset="2"/>
              </a:rPr>
              <a:t></a:t>
            </a:r>
            <a:r>
              <a:rPr lang="en-US" altLang="zh-CN" i="1"/>
              <a:t>x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∈</a:t>
            </a:r>
            <a:r>
              <a:rPr lang="en-US" altLang="zh-CN" i="1"/>
              <a:t>B</a:t>
            </a:r>
            <a:r>
              <a:rPr lang="en-US" altLang="zh-CN"/>
              <a:t>∧</a:t>
            </a:r>
            <a:r>
              <a:rPr lang="en-US" altLang="zh-CN" i="1"/>
              <a:t>y</a:t>
            </a:r>
            <a:r>
              <a:rPr lang="en-US" altLang="zh-CN"/>
              <a:t>≼</a:t>
            </a:r>
            <a:r>
              <a:rPr lang="en-US" altLang="zh-CN" i="1"/>
              <a:t>x</a:t>
            </a:r>
            <a:r>
              <a:rPr lang="en-US" altLang="zh-CN"/>
              <a:t>→</a:t>
            </a:r>
            <a:r>
              <a:rPr lang="en-US" altLang="zh-CN" i="1"/>
              <a:t>x</a:t>
            </a:r>
            <a:r>
              <a:rPr lang="en-US" altLang="zh-CN"/>
              <a:t>=</a:t>
            </a:r>
            <a:r>
              <a:rPr lang="en-US" altLang="zh-CN" i="1"/>
              <a:t>y</a:t>
            </a:r>
            <a:r>
              <a:rPr lang="en-US" altLang="zh-CN"/>
              <a:t>)</a:t>
            </a:r>
            <a:r>
              <a:rPr lang="zh-CN" altLang="en-US"/>
              <a:t>成立</a:t>
            </a:r>
            <a:r>
              <a:rPr lang="en-US" altLang="zh-CN"/>
              <a:t>, </a:t>
            </a:r>
            <a:r>
              <a:rPr lang="zh-CN" altLang="en-US"/>
              <a:t>则称 </a:t>
            </a:r>
            <a:r>
              <a:rPr lang="en-US" altLang="zh-CN" i="1"/>
              <a:t>y </a:t>
            </a:r>
            <a:r>
              <a:rPr lang="zh-CN" altLang="en-US"/>
              <a:t>为</a:t>
            </a:r>
            <a:r>
              <a:rPr lang="en-US" altLang="zh-CN" i="1"/>
              <a:t>B</a:t>
            </a:r>
            <a:r>
              <a:rPr lang="zh-CN" altLang="en-US"/>
              <a:t>的</a:t>
            </a:r>
            <a:r>
              <a:rPr lang="zh-CN" altLang="en-US">
                <a:solidFill>
                  <a:srgbClr val="A50021"/>
                </a:solidFill>
              </a:rPr>
              <a:t>极大元</a:t>
            </a:r>
            <a:endParaRPr lang="zh-CN" altLang="en-US"/>
          </a:p>
        </p:txBody>
      </p:sp>
      <p:sp>
        <p:nvSpPr>
          <p:cNvPr id="123909" name="Rectangle 14"/>
          <p:cNvSpPr>
            <a:spLocks noChangeArrowheads="1"/>
          </p:cNvSpPr>
          <p:nvPr/>
        </p:nvSpPr>
        <p:spPr bwMode="auto">
          <a:xfrm>
            <a:off x="395288" y="3716338"/>
            <a:ext cx="8208962" cy="2303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763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333500" indent="-4191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7907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47900" indent="-4191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7051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623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6195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767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zh-CN" altLang="en-US"/>
              <a:t>性质：</a:t>
            </a:r>
          </a:p>
          <a:p>
            <a:pPr eaLnBrk="1" hangingPunct="1"/>
            <a:r>
              <a:rPr lang="en-US" altLang="zh-CN"/>
              <a:t>(1) </a:t>
            </a:r>
            <a:r>
              <a:rPr lang="zh-CN" altLang="en-US"/>
              <a:t>对于有穷集，极小元和极大元一定存在，可能存在多个</a:t>
            </a:r>
            <a:r>
              <a:rPr lang="en-US" altLang="zh-CN"/>
              <a:t>. </a:t>
            </a:r>
          </a:p>
          <a:p>
            <a:pPr eaLnBrk="1" hangingPunct="1"/>
            <a:r>
              <a:rPr lang="en-US" altLang="zh-CN"/>
              <a:t>(2) </a:t>
            </a:r>
            <a:r>
              <a:rPr lang="zh-CN" altLang="en-US"/>
              <a:t>最小元和最大元不一定存在，如果存在一定惟一</a:t>
            </a:r>
            <a:r>
              <a:rPr lang="en-US" altLang="zh-CN"/>
              <a:t>.</a:t>
            </a:r>
          </a:p>
          <a:p>
            <a:pPr eaLnBrk="1" hangingPunct="1"/>
            <a:r>
              <a:rPr lang="en-US" altLang="zh-CN"/>
              <a:t>(3) </a:t>
            </a:r>
            <a:r>
              <a:rPr lang="zh-CN" altLang="en-US"/>
              <a:t>最小元一定是极小元；最大元一定是极大元</a:t>
            </a:r>
            <a:r>
              <a:rPr lang="en-US" altLang="zh-CN"/>
              <a:t>. </a:t>
            </a:r>
          </a:p>
          <a:p>
            <a:pPr eaLnBrk="1" hangingPunct="1"/>
            <a:r>
              <a:rPr lang="en-US" altLang="zh-CN"/>
              <a:t>(4) </a:t>
            </a:r>
            <a:r>
              <a:rPr lang="zh-CN" altLang="en-US"/>
              <a:t>孤立结点既是极小元，也是极大元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0F3CA7C-C72A-4C0A-9862-4A56C6A881B4}" type="slidenum">
              <a:rPr lang="en-US" altLang="zh-CN" sz="1400" b="0">
                <a:latin typeface="Arial" panose="020B0604020202020204" pitchFamily="34" charset="0"/>
              </a:rPr>
              <a:t>146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355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569325" cy="23749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7.25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/>
              <a:t>&lt;</a:t>
            </a:r>
            <a:r>
              <a:rPr lang="en-US" altLang="zh-CN" i="1"/>
              <a:t>A</a:t>
            </a:r>
            <a:r>
              <a:rPr lang="en-US" altLang="zh-CN"/>
              <a:t>, ≼&gt;</a:t>
            </a:r>
            <a:r>
              <a:rPr lang="zh-CN" altLang="en-US"/>
              <a:t>为偏序集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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>
                <a:solidFill>
                  <a:srgbClr val="0066FF"/>
                </a:solidFill>
              </a:rPr>
              <a:t>y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endParaRPr lang="en-US" altLang="zh-CN">
              <a:solidFill>
                <a:srgbClr val="0066FF"/>
              </a:solidFill>
            </a:endParaRPr>
          </a:p>
          <a:p>
            <a:pPr eaLnBrk="1" hangingPunct="1"/>
            <a:r>
              <a:rPr lang="en-US" altLang="zh-CN"/>
              <a:t>(1) </a:t>
            </a:r>
            <a:r>
              <a:rPr lang="zh-CN" altLang="en-US"/>
              <a:t>若</a:t>
            </a:r>
            <a:r>
              <a:rPr lang="zh-CN" altLang="en-US">
                <a:sym typeface="Symbol" panose="05050102010706020507" pitchFamily="18" charset="2"/>
              </a:rPr>
              <a:t></a:t>
            </a:r>
            <a:r>
              <a:rPr lang="en-US" altLang="zh-CN" i="1"/>
              <a:t>x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∈</a:t>
            </a:r>
            <a:r>
              <a:rPr lang="en-US" altLang="zh-CN" i="1"/>
              <a:t>B</a:t>
            </a:r>
            <a:r>
              <a:rPr lang="en-US" altLang="zh-CN"/>
              <a:t>→</a:t>
            </a:r>
            <a:r>
              <a:rPr lang="en-US" altLang="zh-CN" i="1"/>
              <a:t>x</a:t>
            </a:r>
            <a:r>
              <a:rPr lang="en-US" altLang="zh-CN"/>
              <a:t>≼</a:t>
            </a:r>
            <a:r>
              <a:rPr lang="en-US" altLang="zh-CN" i="1"/>
              <a:t>y</a:t>
            </a:r>
            <a:r>
              <a:rPr lang="en-US" altLang="zh-CN"/>
              <a:t>)</a:t>
            </a:r>
            <a:r>
              <a:rPr lang="zh-CN" altLang="en-US"/>
              <a:t>成立</a:t>
            </a:r>
            <a:r>
              <a:rPr lang="en-US" altLang="zh-CN"/>
              <a:t>, </a:t>
            </a:r>
            <a:r>
              <a:rPr lang="zh-CN" altLang="en-US"/>
              <a:t>则称</a:t>
            </a:r>
            <a:r>
              <a:rPr lang="en-US" altLang="zh-CN" i="1"/>
              <a:t>y</a:t>
            </a:r>
            <a:r>
              <a:rPr lang="zh-CN" altLang="en-US"/>
              <a:t>为</a:t>
            </a:r>
            <a:r>
              <a:rPr lang="en-US" altLang="zh-CN" i="1"/>
              <a:t>B</a:t>
            </a:r>
            <a:r>
              <a:rPr lang="zh-CN" altLang="en-US"/>
              <a:t>的</a:t>
            </a:r>
            <a:r>
              <a:rPr lang="zh-CN" altLang="en-US">
                <a:solidFill>
                  <a:srgbClr val="A50021"/>
                </a:solidFill>
              </a:rPr>
              <a:t>上界</a:t>
            </a:r>
            <a:r>
              <a:rPr lang="zh-CN" altLang="en-US"/>
              <a:t> </a:t>
            </a:r>
          </a:p>
          <a:p>
            <a:pPr eaLnBrk="1" hangingPunct="1"/>
            <a:r>
              <a:rPr lang="en-US" altLang="zh-CN"/>
              <a:t>(2) </a:t>
            </a:r>
            <a:r>
              <a:rPr lang="zh-CN" altLang="en-US"/>
              <a:t>若</a:t>
            </a:r>
            <a:r>
              <a:rPr lang="zh-CN" altLang="en-US">
                <a:sym typeface="Symbol" panose="05050102010706020507" pitchFamily="18" charset="2"/>
              </a:rPr>
              <a:t></a:t>
            </a:r>
            <a:r>
              <a:rPr lang="en-US" altLang="zh-CN" i="1"/>
              <a:t>x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∈</a:t>
            </a:r>
            <a:r>
              <a:rPr lang="en-US" altLang="zh-CN" i="1"/>
              <a:t>B</a:t>
            </a:r>
            <a:r>
              <a:rPr lang="en-US" altLang="zh-CN"/>
              <a:t>→</a:t>
            </a:r>
            <a:r>
              <a:rPr lang="en-US" altLang="zh-CN" i="1"/>
              <a:t>y</a:t>
            </a:r>
            <a:r>
              <a:rPr lang="en-US" altLang="zh-CN"/>
              <a:t>≼</a:t>
            </a:r>
            <a:r>
              <a:rPr lang="en-US" altLang="zh-CN" i="1"/>
              <a:t>x</a:t>
            </a:r>
            <a:r>
              <a:rPr lang="en-US" altLang="zh-CN"/>
              <a:t>)</a:t>
            </a:r>
            <a:r>
              <a:rPr lang="zh-CN" altLang="en-US"/>
              <a:t>成立</a:t>
            </a:r>
            <a:r>
              <a:rPr lang="en-US" altLang="zh-CN"/>
              <a:t>, </a:t>
            </a:r>
            <a:r>
              <a:rPr lang="zh-CN" altLang="en-US"/>
              <a:t>则称</a:t>
            </a:r>
            <a:r>
              <a:rPr lang="en-US" altLang="zh-CN" i="1"/>
              <a:t>y</a:t>
            </a:r>
            <a:r>
              <a:rPr lang="zh-CN" altLang="en-US"/>
              <a:t>为</a:t>
            </a:r>
            <a:r>
              <a:rPr lang="en-US" altLang="zh-CN" i="1"/>
              <a:t>B</a:t>
            </a:r>
            <a:r>
              <a:rPr lang="zh-CN" altLang="en-US"/>
              <a:t>的</a:t>
            </a:r>
            <a:r>
              <a:rPr lang="zh-CN" altLang="en-US">
                <a:solidFill>
                  <a:srgbClr val="A50021"/>
                </a:solidFill>
              </a:rPr>
              <a:t>下界</a:t>
            </a:r>
            <a:r>
              <a:rPr lang="zh-CN" altLang="en-US"/>
              <a:t> </a:t>
            </a:r>
          </a:p>
          <a:p>
            <a:pPr eaLnBrk="1" hangingPunct="1"/>
            <a:r>
              <a:rPr lang="en-US" altLang="zh-CN"/>
              <a:t>(3) </a:t>
            </a:r>
            <a:r>
              <a:rPr lang="zh-CN" altLang="en-US"/>
              <a:t>令</a:t>
            </a:r>
            <a:r>
              <a:rPr lang="en-US" altLang="zh-CN" i="1"/>
              <a:t>C</a:t>
            </a:r>
            <a:r>
              <a:rPr lang="zh-CN" altLang="en-US"/>
              <a:t>＝</a:t>
            </a:r>
            <a:r>
              <a:rPr lang="en-US" altLang="zh-CN"/>
              <a:t>{</a:t>
            </a:r>
            <a:r>
              <a:rPr lang="en-US" altLang="zh-CN" i="1"/>
              <a:t>y</a:t>
            </a:r>
            <a:r>
              <a:rPr lang="en-US" altLang="zh-CN"/>
              <a:t>| </a:t>
            </a:r>
            <a:r>
              <a:rPr lang="en-US" altLang="zh-CN" i="1"/>
              <a:t>y</a:t>
            </a:r>
            <a:r>
              <a:rPr lang="zh-CN" altLang="en-US"/>
              <a:t>为</a:t>
            </a:r>
            <a:r>
              <a:rPr lang="en-US" altLang="zh-CN" i="1"/>
              <a:t>B</a:t>
            </a:r>
            <a:r>
              <a:rPr lang="zh-CN" altLang="en-US"/>
              <a:t>的上界</a:t>
            </a:r>
            <a:r>
              <a:rPr lang="en-US" altLang="zh-CN"/>
              <a:t>}, </a:t>
            </a:r>
            <a:r>
              <a:rPr lang="en-US" altLang="zh-CN" i="1"/>
              <a:t>C</a:t>
            </a:r>
            <a:r>
              <a:rPr lang="zh-CN" altLang="en-US"/>
              <a:t>的最小元为</a:t>
            </a:r>
            <a:r>
              <a:rPr lang="en-US" altLang="zh-CN" i="1"/>
              <a:t>B</a:t>
            </a:r>
            <a:r>
              <a:rPr lang="zh-CN" altLang="en-US"/>
              <a:t>的</a:t>
            </a:r>
            <a:r>
              <a:rPr lang="zh-CN" altLang="en-US">
                <a:solidFill>
                  <a:srgbClr val="A50021"/>
                </a:solidFill>
              </a:rPr>
              <a:t>最小上界</a:t>
            </a:r>
            <a:r>
              <a:rPr lang="zh-CN" altLang="en-US"/>
              <a:t>或</a:t>
            </a:r>
            <a:r>
              <a:rPr lang="zh-CN" altLang="en-US">
                <a:solidFill>
                  <a:srgbClr val="A50021"/>
                </a:solidFill>
              </a:rPr>
              <a:t>上确界</a:t>
            </a:r>
            <a:r>
              <a:rPr lang="zh-CN" altLang="en-US"/>
              <a:t> </a:t>
            </a:r>
          </a:p>
          <a:p>
            <a:pPr eaLnBrk="1" hangingPunct="1"/>
            <a:r>
              <a:rPr lang="en-US" altLang="zh-CN"/>
              <a:t>(4) </a:t>
            </a:r>
            <a:r>
              <a:rPr lang="zh-CN" altLang="en-US"/>
              <a:t>令</a:t>
            </a:r>
            <a:r>
              <a:rPr lang="en-US" altLang="zh-CN" i="1"/>
              <a:t>D</a:t>
            </a:r>
            <a:r>
              <a:rPr lang="zh-CN" altLang="en-US"/>
              <a:t>＝</a:t>
            </a:r>
            <a:r>
              <a:rPr lang="en-US" altLang="zh-CN"/>
              <a:t>{</a:t>
            </a:r>
            <a:r>
              <a:rPr lang="en-US" altLang="zh-CN" i="1"/>
              <a:t>y</a:t>
            </a:r>
            <a:r>
              <a:rPr lang="en-US" altLang="zh-CN"/>
              <a:t>| </a:t>
            </a:r>
            <a:r>
              <a:rPr lang="en-US" altLang="zh-CN" i="1"/>
              <a:t>y</a:t>
            </a:r>
            <a:r>
              <a:rPr lang="zh-CN" altLang="en-US"/>
              <a:t>为</a:t>
            </a:r>
            <a:r>
              <a:rPr lang="en-US" altLang="zh-CN" i="1"/>
              <a:t>B</a:t>
            </a:r>
            <a:r>
              <a:rPr lang="zh-CN" altLang="en-US"/>
              <a:t>的下界</a:t>
            </a:r>
            <a:r>
              <a:rPr lang="en-US" altLang="zh-CN"/>
              <a:t>}, </a:t>
            </a:r>
            <a:r>
              <a:rPr lang="en-US" altLang="zh-CN" i="1"/>
              <a:t>D</a:t>
            </a:r>
            <a:r>
              <a:rPr lang="zh-CN" altLang="en-US"/>
              <a:t>的最大元为</a:t>
            </a:r>
            <a:r>
              <a:rPr lang="en-US" altLang="zh-CN" i="1"/>
              <a:t>B</a:t>
            </a:r>
            <a:r>
              <a:rPr lang="zh-CN" altLang="en-US"/>
              <a:t>的</a:t>
            </a:r>
            <a:r>
              <a:rPr lang="zh-CN" altLang="en-US">
                <a:solidFill>
                  <a:srgbClr val="A50021"/>
                </a:solidFill>
              </a:rPr>
              <a:t>最大下界</a:t>
            </a:r>
            <a:r>
              <a:rPr lang="zh-CN" altLang="en-US"/>
              <a:t>或</a:t>
            </a:r>
            <a:r>
              <a:rPr lang="zh-CN" altLang="en-US">
                <a:solidFill>
                  <a:srgbClr val="A50021"/>
                </a:solidFill>
              </a:rPr>
              <a:t>下确界</a:t>
            </a:r>
          </a:p>
          <a:p>
            <a:pPr eaLnBrk="1" hangingPunct="1"/>
            <a:endParaRPr lang="en-US" altLang="zh-CN"/>
          </a:p>
        </p:txBody>
      </p:sp>
      <p:sp>
        <p:nvSpPr>
          <p:cNvPr id="25604" name="Rectangle 1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偏序集中的特殊元素 </a:t>
            </a:r>
          </a:p>
        </p:txBody>
      </p:sp>
      <p:sp>
        <p:nvSpPr>
          <p:cNvPr id="125957" name="Rectangle 14"/>
          <p:cNvSpPr>
            <a:spLocks noChangeArrowheads="1"/>
          </p:cNvSpPr>
          <p:nvPr/>
        </p:nvSpPr>
        <p:spPr bwMode="auto">
          <a:xfrm>
            <a:off x="323850" y="3690938"/>
            <a:ext cx="8820150" cy="225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/>
              <a:t>性质：</a:t>
            </a:r>
          </a:p>
          <a:p>
            <a:pPr eaLnBrk="1" hangingPunct="1"/>
            <a:r>
              <a:rPr lang="en-US" altLang="zh-CN"/>
              <a:t>(1) </a:t>
            </a:r>
            <a:r>
              <a:rPr lang="zh-CN" altLang="en-US"/>
              <a:t>下界、上界、下确界、上确界不一定存在</a:t>
            </a:r>
          </a:p>
          <a:p>
            <a:pPr eaLnBrk="1" hangingPunct="1"/>
            <a:r>
              <a:rPr lang="en-US" altLang="zh-CN"/>
              <a:t>(2) </a:t>
            </a:r>
            <a:r>
              <a:rPr lang="zh-CN" altLang="en-US"/>
              <a:t>下界、上界存在不一定惟一</a:t>
            </a:r>
          </a:p>
          <a:p>
            <a:pPr eaLnBrk="1" hangingPunct="1"/>
            <a:r>
              <a:rPr lang="en-US" altLang="zh-CN"/>
              <a:t>(3) </a:t>
            </a:r>
            <a:r>
              <a:rPr lang="zh-CN" altLang="en-US"/>
              <a:t>下确界、上确界如果存在，则惟一</a:t>
            </a:r>
          </a:p>
          <a:p>
            <a:pPr eaLnBrk="1" hangingPunct="1"/>
            <a:r>
              <a:rPr lang="en-US" altLang="zh-CN"/>
              <a:t>(4) </a:t>
            </a:r>
            <a:r>
              <a:rPr lang="zh-CN" altLang="en-US"/>
              <a:t>集合的最小元是其下确界，最大元是其上确界；反之不对</a:t>
            </a:r>
            <a:r>
              <a:rPr lang="en-US" altLang="zh-CN"/>
              <a:t>.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 rot="19509435">
            <a:off x="5884863" y="3382963"/>
            <a:ext cx="1484312" cy="2035175"/>
          </a:xfrm>
          <a:prstGeom prst="ellipse">
            <a:avLst/>
          </a:prstGeom>
          <a:solidFill>
            <a:srgbClr val="CCFFCC"/>
          </a:solidFill>
          <a:ln w="38100">
            <a:solidFill>
              <a:srgbClr val="FF0000"/>
            </a:solidFill>
            <a:prstDash val="dash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27651" name="Picture 11" descr="7-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66" r="22261" b="20337"/>
          <a:stretch>
            <a:fillRect/>
          </a:stretch>
        </p:blipFill>
        <p:spPr bwMode="auto">
          <a:xfrm>
            <a:off x="5603875" y="2667000"/>
            <a:ext cx="3097213" cy="250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F508E82-D375-4C82-8E5F-42D127C4D92F}" type="slidenum">
              <a:rPr lang="en-US" altLang="zh-CN" sz="1400" b="0">
                <a:latin typeface="Arial" panose="020B0604020202020204" pitchFamily="34" charset="0"/>
              </a:rPr>
              <a:t>147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7653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27654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8651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14</a:t>
            </a:r>
            <a:r>
              <a:rPr lang="en-US" altLang="zh-CN"/>
              <a:t>   </a:t>
            </a:r>
            <a:r>
              <a:rPr lang="zh-CN" altLang="en-US"/>
              <a:t>设偏序集</a:t>
            </a:r>
            <a:r>
              <a:rPr lang="en-US" altLang="zh-CN"/>
              <a:t>&lt;</a:t>
            </a:r>
            <a:r>
              <a:rPr lang="en-US" altLang="zh-CN" i="1"/>
              <a:t>A</a:t>
            </a:r>
            <a:r>
              <a:rPr lang="en-US" altLang="zh-CN"/>
              <a:t>,≼&gt;</a:t>
            </a:r>
            <a:r>
              <a:rPr lang="zh-CN" altLang="en-US"/>
              <a:t>，求</a:t>
            </a:r>
            <a:r>
              <a:rPr lang="en-US" altLang="zh-CN" i="1"/>
              <a:t>A</a:t>
            </a:r>
            <a:r>
              <a:rPr lang="zh-CN" altLang="en-US"/>
              <a:t>的极小元、最小元、极大元、最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大元，设</a:t>
            </a:r>
            <a:r>
              <a:rPr lang="en-US" altLang="zh-CN" i="1"/>
              <a:t>B</a:t>
            </a:r>
            <a:r>
              <a:rPr lang="zh-CN" altLang="en-US"/>
              <a:t>＝</a:t>
            </a:r>
            <a:r>
              <a:rPr lang="en-US" altLang="zh-CN"/>
              <a:t>{ 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/>
              <a:t>,</a:t>
            </a:r>
            <a:r>
              <a:rPr lang="en-US" altLang="zh-CN" i="1"/>
              <a:t>d </a:t>
            </a:r>
            <a:r>
              <a:rPr lang="en-US" altLang="zh-CN"/>
              <a:t>}, </a:t>
            </a:r>
            <a:r>
              <a:rPr lang="zh-CN" altLang="en-US"/>
              <a:t>求</a:t>
            </a:r>
            <a:r>
              <a:rPr lang="en-US" altLang="zh-CN" i="1"/>
              <a:t>B</a:t>
            </a:r>
            <a:r>
              <a:rPr lang="zh-CN" altLang="en-US"/>
              <a:t>的下界、上界、下确界、上确界</a:t>
            </a:r>
            <a:r>
              <a:rPr lang="en-US" altLang="zh-CN"/>
              <a:t>. </a:t>
            </a:r>
          </a:p>
        </p:txBody>
      </p:sp>
      <p:sp>
        <p:nvSpPr>
          <p:cNvPr id="442378" name="Rectangle 10"/>
          <p:cNvSpPr>
            <a:spLocks noChangeArrowheads="1"/>
          </p:cNvSpPr>
          <p:nvPr/>
        </p:nvSpPr>
        <p:spPr bwMode="auto">
          <a:xfrm>
            <a:off x="539750" y="2349500"/>
            <a:ext cx="4572000" cy="345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/>
              <a:t>解</a:t>
            </a:r>
          </a:p>
          <a:p>
            <a:pPr eaLnBrk="1" hangingPunct="1">
              <a:buClrTx/>
              <a:buFontTx/>
              <a:buNone/>
            </a:pPr>
            <a:r>
              <a:rPr lang="zh-CN" altLang="en-US"/>
              <a:t>极小元：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/>
              <a:t>, </a:t>
            </a:r>
            <a:r>
              <a:rPr lang="en-US" altLang="zh-CN" i="1"/>
              <a:t>g</a:t>
            </a:r>
            <a:r>
              <a:rPr lang="zh-CN" altLang="en-US"/>
              <a:t>；  </a:t>
            </a:r>
          </a:p>
          <a:p>
            <a:pPr eaLnBrk="1" hangingPunct="1">
              <a:buClrTx/>
              <a:buFontTx/>
              <a:buNone/>
            </a:pPr>
            <a:r>
              <a:rPr lang="zh-CN" altLang="en-US"/>
              <a:t>极大元：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f</a:t>
            </a:r>
            <a:r>
              <a:rPr lang="en-US" altLang="zh-CN"/>
              <a:t>, </a:t>
            </a:r>
            <a:r>
              <a:rPr lang="en-US" altLang="zh-CN" i="1"/>
              <a:t>h</a:t>
            </a:r>
            <a:r>
              <a:rPr lang="zh-CN" altLang="en-US"/>
              <a:t>；</a:t>
            </a:r>
          </a:p>
          <a:p>
            <a:pPr eaLnBrk="1" hangingPunct="1">
              <a:buClrTx/>
              <a:buFontTx/>
              <a:buNone/>
            </a:pPr>
            <a:r>
              <a:rPr lang="zh-CN" altLang="en-US"/>
              <a:t>没有最小元与最大元</a:t>
            </a:r>
            <a:r>
              <a:rPr lang="en-US" altLang="zh-CN"/>
              <a:t>.</a:t>
            </a:r>
            <a:endParaRPr lang="en-US" altLang="zh-CN" i="1"/>
          </a:p>
          <a:p>
            <a:pPr eaLnBrk="1" hangingPunct="1">
              <a:buClrTx/>
              <a:buFontTx/>
              <a:buNone/>
            </a:pPr>
            <a:r>
              <a:rPr lang="en-US" altLang="zh-CN" i="1"/>
              <a:t>B</a:t>
            </a:r>
            <a:r>
              <a:rPr lang="zh-CN" altLang="en-US"/>
              <a:t>的下界和最大下界都不存在；</a:t>
            </a:r>
          </a:p>
          <a:p>
            <a:pPr eaLnBrk="1" hangingPunct="1">
              <a:buClrTx/>
              <a:buFontTx/>
              <a:buNone/>
            </a:pPr>
            <a:r>
              <a:rPr lang="zh-CN" altLang="en-US"/>
              <a:t>上界有 </a:t>
            </a:r>
            <a:r>
              <a:rPr lang="en-US" altLang="zh-CN" i="1"/>
              <a:t>d </a:t>
            </a:r>
            <a:r>
              <a:rPr lang="zh-CN" altLang="en-US"/>
              <a:t>和 </a:t>
            </a:r>
            <a:r>
              <a:rPr lang="en-US" altLang="zh-CN" i="1"/>
              <a:t>f</a:t>
            </a:r>
            <a:r>
              <a:rPr lang="en-US" altLang="zh-CN"/>
              <a:t>, </a:t>
            </a:r>
          </a:p>
          <a:p>
            <a:pPr eaLnBrk="1" hangingPunct="1">
              <a:buClrTx/>
              <a:buFontTx/>
              <a:buNone/>
            </a:pPr>
            <a:r>
              <a:rPr lang="zh-CN" altLang="en-US"/>
              <a:t>最小上界为 </a:t>
            </a:r>
            <a:r>
              <a:rPr lang="en-US" altLang="zh-CN" i="1"/>
              <a:t>d</a:t>
            </a:r>
            <a:r>
              <a:rPr lang="en-US" altLang="zh-CN"/>
              <a:t>. </a:t>
            </a:r>
            <a:br>
              <a:rPr lang="en-US" altLang="zh-CN"/>
            </a:br>
            <a:r>
              <a:rPr lang="en-US" altLang="zh-CN"/>
              <a:t>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16BFE6A-5A14-4886-B086-A8F3180D7FEA}" type="slidenum">
              <a:rPr lang="en-US" altLang="zh-CN" sz="1400" b="0">
                <a:latin typeface="Arial" panose="020B0604020202020204" pitchFamily="34" charset="0"/>
              </a:rPr>
              <a:t>148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969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2970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259238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15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 i="1"/>
              <a:t>X</a:t>
            </a:r>
            <a:r>
              <a:rPr lang="zh-CN" altLang="en-US"/>
              <a:t>为集合</a:t>
            </a:r>
            <a:r>
              <a:rPr lang="en-US" altLang="zh-CN"/>
              <a:t>, </a:t>
            </a:r>
            <a:r>
              <a:rPr lang="en-US" altLang="zh-CN" i="1"/>
              <a:t>A</a:t>
            </a:r>
            <a:r>
              <a:rPr lang="zh-CN" altLang="en-US"/>
              <a:t>＝</a:t>
            </a:r>
            <a:r>
              <a:rPr lang="en-US" altLang="zh-CN" i="1"/>
              <a:t>P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</a:t>
            </a:r>
            <a:r>
              <a:rPr lang="zh-CN" altLang="en-US"/>
              <a:t>－</a:t>
            </a:r>
            <a:r>
              <a:rPr lang="en-US" altLang="zh-CN"/>
              <a:t>{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}</a:t>
            </a:r>
            <a:r>
              <a:rPr lang="zh-CN" altLang="en-US"/>
              <a:t>－</a:t>
            </a:r>
            <a:r>
              <a:rPr lang="en-US" altLang="zh-CN"/>
              <a:t>{</a:t>
            </a:r>
            <a:r>
              <a:rPr lang="en-US" altLang="zh-CN" i="1"/>
              <a:t>X</a:t>
            </a:r>
            <a:r>
              <a:rPr lang="en-US" altLang="zh-CN"/>
              <a:t>}, </a:t>
            </a:r>
            <a:r>
              <a:rPr lang="zh-CN" altLang="en-US"/>
              <a:t>且</a:t>
            </a:r>
            <a:r>
              <a:rPr lang="en-US" altLang="zh-CN" i="1"/>
              <a:t>A</a:t>
            </a:r>
            <a:r>
              <a:rPr lang="en-US" altLang="zh-CN"/>
              <a:t>≠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. </a:t>
            </a:r>
            <a:r>
              <a:rPr lang="zh-CN" altLang="en-US"/>
              <a:t>若</a:t>
            </a:r>
            <a:r>
              <a:rPr lang="en-US" altLang="zh-CN"/>
              <a:t>|</a:t>
            </a:r>
            <a:r>
              <a:rPr lang="en-US" altLang="zh-CN" i="1"/>
              <a:t>X</a:t>
            </a:r>
            <a:r>
              <a:rPr lang="en-US" altLang="zh-CN"/>
              <a:t>|=</a:t>
            </a:r>
            <a:r>
              <a:rPr lang="en-US" altLang="zh-CN" i="1"/>
              <a:t>n</a:t>
            </a:r>
            <a:r>
              <a:rPr lang="en-US" altLang="zh-CN"/>
              <a:t>, </a:t>
            </a:r>
            <a:r>
              <a:rPr lang="en-US" altLang="zh-CN" i="1"/>
              <a:t>n</a:t>
            </a:r>
            <a:r>
              <a:rPr lang="en-US" altLang="zh-CN"/>
              <a:t>≥2. </a:t>
            </a:r>
            <a:r>
              <a:rPr lang="zh-CN" altLang="en-US"/>
              <a:t>问： </a:t>
            </a:r>
          </a:p>
          <a:p>
            <a:pPr eaLnBrk="1" hangingPunct="1"/>
            <a:r>
              <a:rPr lang="en-US" altLang="zh-CN"/>
              <a:t>(1)  </a:t>
            </a:r>
            <a:r>
              <a:rPr lang="zh-CN" altLang="en-US"/>
              <a:t>偏序集 </a:t>
            </a:r>
            <a:r>
              <a:rPr lang="en-US" altLang="zh-CN"/>
              <a:t>&lt;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R</a:t>
            </a:r>
            <a:r>
              <a:rPr lang="en-US" altLang="zh-CN" baseline="-25000">
                <a:sym typeface="Symbol" panose="05050102010706020507" pitchFamily="18" charset="2"/>
              </a:rPr>
              <a:t></a:t>
            </a:r>
            <a:r>
              <a:rPr lang="en-US" altLang="zh-CN"/>
              <a:t>&gt; </a:t>
            </a:r>
            <a:r>
              <a:rPr lang="zh-CN" altLang="en-US"/>
              <a:t>是否存在最大元？ </a:t>
            </a:r>
          </a:p>
          <a:p>
            <a:pPr eaLnBrk="1" hangingPunct="1"/>
            <a:r>
              <a:rPr lang="en-US" altLang="zh-CN"/>
              <a:t>(2)  </a:t>
            </a:r>
            <a:r>
              <a:rPr lang="zh-CN" altLang="en-US"/>
              <a:t>偏序集 </a:t>
            </a:r>
            <a:r>
              <a:rPr lang="en-US" altLang="zh-CN"/>
              <a:t>&lt;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R</a:t>
            </a:r>
            <a:r>
              <a:rPr lang="en-US" altLang="zh-CN" baseline="-25000">
                <a:sym typeface="Symbol" panose="05050102010706020507" pitchFamily="18" charset="2"/>
              </a:rPr>
              <a:t></a:t>
            </a:r>
            <a:r>
              <a:rPr lang="en-US" altLang="zh-CN"/>
              <a:t>&gt; </a:t>
            </a:r>
            <a:r>
              <a:rPr lang="zh-CN" altLang="en-US"/>
              <a:t>是否存在最小元？ </a:t>
            </a:r>
          </a:p>
          <a:p>
            <a:pPr eaLnBrk="1" hangingPunct="1"/>
            <a:r>
              <a:rPr lang="en-US" altLang="zh-CN">
                <a:solidFill>
                  <a:srgbClr val="0066FF"/>
                </a:solidFill>
              </a:rPr>
              <a:t>(3)  </a:t>
            </a:r>
            <a:r>
              <a:rPr lang="zh-CN" altLang="en-US">
                <a:solidFill>
                  <a:srgbClr val="0066FF"/>
                </a:solidFill>
              </a:rPr>
              <a:t>偏序集 </a:t>
            </a:r>
            <a:r>
              <a:rPr lang="en-US" altLang="zh-CN">
                <a:solidFill>
                  <a:srgbClr val="0066FF"/>
                </a:solidFill>
              </a:rPr>
              <a:t>&lt;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, </a:t>
            </a:r>
            <a:r>
              <a:rPr lang="en-US" altLang="zh-CN" i="1">
                <a:solidFill>
                  <a:srgbClr val="0066FF"/>
                </a:solidFill>
              </a:rPr>
              <a:t>R</a:t>
            </a:r>
            <a:r>
              <a:rPr lang="en-US" altLang="zh-CN" baseline="-25000">
                <a:solidFill>
                  <a:srgbClr val="0066FF"/>
                </a:solidFill>
                <a:sym typeface="Symbol" panose="05050102010706020507" pitchFamily="18" charset="2"/>
              </a:rPr>
              <a:t></a:t>
            </a:r>
            <a:r>
              <a:rPr lang="en-US" altLang="zh-CN">
                <a:solidFill>
                  <a:srgbClr val="0066FF"/>
                </a:solidFill>
              </a:rPr>
              <a:t>&gt; </a:t>
            </a:r>
            <a:r>
              <a:rPr lang="zh-CN" altLang="en-US">
                <a:solidFill>
                  <a:srgbClr val="0066FF"/>
                </a:solidFill>
              </a:rPr>
              <a:t>中极大元和极小元的一般形式是什么？</a:t>
            </a:r>
          </a:p>
          <a:p>
            <a:pPr eaLnBrk="1" hangingPunct="1"/>
            <a:r>
              <a:rPr lang="zh-CN" altLang="en-US">
                <a:solidFill>
                  <a:srgbClr val="0066FF"/>
                </a:solidFill>
              </a:rPr>
              <a:t>       并说明理由</a:t>
            </a:r>
            <a:r>
              <a:rPr lang="en-US" altLang="zh-CN">
                <a:solidFill>
                  <a:srgbClr val="0066FF"/>
                </a:solidFill>
              </a:rPr>
              <a:t>. </a:t>
            </a:r>
          </a:p>
        </p:txBody>
      </p:sp>
      <p:sp>
        <p:nvSpPr>
          <p:cNvPr id="444425" name="Rectangle 9"/>
          <p:cNvSpPr>
            <a:spLocks noChangeArrowheads="1"/>
          </p:cNvSpPr>
          <p:nvPr/>
        </p:nvSpPr>
        <p:spPr bwMode="auto">
          <a:xfrm>
            <a:off x="457200" y="3979863"/>
            <a:ext cx="4464050" cy="249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25000"/>
              </a:spcBef>
              <a:buClrTx/>
              <a:buFontTx/>
              <a:buNone/>
            </a:pPr>
            <a:r>
              <a:rPr lang="zh-CN" altLang="en-US"/>
              <a:t>解  </a:t>
            </a:r>
            <a:r>
              <a:rPr lang="en-US" altLang="zh-CN"/>
              <a:t>(1)(2) &lt;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R</a:t>
            </a:r>
            <a:r>
              <a:rPr lang="en-US" altLang="zh-CN" baseline="-25000">
                <a:sym typeface="Symbol" panose="05050102010706020507" pitchFamily="18" charset="2"/>
              </a:rPr>
              <a:t></a:t>
            </a:r>
            <a:r>
              <a:rPr lang="en-US" altLang="zh-CN"/>
              <a:t>&gt; </a:t>
            </a:r>
            <a:r>
              <a:rPr lang="zh-CN" altLang="en-US"/>
              <a:t>不存在最小元和最大元</a:t>
            </a:r>
            <a:r>
              <a:rPr lang="en-US" altLang="zh-CN"/>
              <a:t>, </a:t>
            </a:r>
            <a:r>
              <a:rPr lang="zh-CN" altLang="en-US"/>
              <a:t>因为</a:t>
            </a:r>
            <a:r>
              <a:rPr lang="en-US" altLang="zh-CN" i="1"/>
              <a:t>n</a:t>
            </a:r>
            <a:r>
              <a:rPr lang="en-US" altLang="zh-CN"/>
              <a:t>≥2.</a:t>
            </a:r>
          </a:p>
          <a:p>
            <a:pPr eaLnBrk="1" hangingPunct="1">
              <a:spcBef>
                <a:spcPct val="25000"/>
              </a:spcBef>
              <a:buClrTx/>
              <a:buFontTx/>
              <a:buNone/>
            </a:pPr>
            <a:r>
              <a:rPr lang="en-US" altLang="zh-CN">
                <a:solidFill>
                  <a:srgbClr val="0066FF"/>
                </a:solidFill>
              </a:rPr>
              <a:t>(3) &lt;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, </a:t>
            </a:r>
            <a:r>
              <a:rPr lang="en-US" altLang="zh-CN" i="1">
                <a:solidFill>
                  <a:srgbClr val="0066FF"/>
                </a:solidFill>
              </a:rPr>
              <a:t>R</a:t>
            </a:r>
            <a:r>
              <a:rPr lang="en-US" altLang="zh-CN" baseline="-25000">
                <a:solidFill>
                  <a:srgbClr val="0066FF"/>
                </a:solidFill>
                <a:sym typeface="Symbol" panose="05050102010706020507" pitchFamily="18" charset="2"/>
              </a:rPr>
              <a:t></a:t>
            </a:r>
            <a:r>
              <a:rPr lang="en-US" altLang="zh-CN">
                <a:solidFill>
                  <a:srgbClr val="0066FF"/>
                </a:solidFill>
              </a:rPr>
              <a:t>&gt; </a:t>
            </a:r>
            <a:r>
              <a:rPr lang="zh-CN" altLang="en-US">
                <a:solidFill>
                  <a:srgbClr val="0066FF"/>
                </a:solidFill>
              </a:rPr>
              <a:t>的极小元就是 </a:t>
            </a:r>
            <a:r>
              <a:rPr lang="en-US" altLang="zh-CN" i="1">
                <a:solidFill>
                  <a:srgbClr val="0066FF"/>
                </a:solidFill>
              </a:rPr>
              <a:t>X </a:t>
            </a:r>
            <a:r>
              <a:rPr lang="zh-CN" altLang="en-US">
                <a:solidFill>
                  <a:srgbClr val="0066FF"/>
                </a:solidFill>
              </a:rPr>
              <a:t>的所有单元集</a:t>
            </a:r>
            <a:r>
              <a:rPr lang="en-US" altLang="zh-CN">
                <a:solidFill>
                  <a:srgbClr val="0066FF"/>
                </a:solidFill>
              </a:rPr>
              <a:t>, </a:t>
            </a:r>
            <a:r>
              <a:rPr lang="zh-CN" altLang="en-US">
                <a:solidFill>
                  <a:srgbClr val="0066FF"/>
                </a:solidFill>
              </a:rPr>
              <a:t>即</a:t>
            </a:r>
            <a:r>
              <a:rPr lang="en-US" altLang="zh-CN">
                <a:solidFill>
                  <a:srgbClr val="0066FF"/>
                </a:solidFill>
              </a:rPr>
              <a:t>{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}, 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.</a:t>
            </a:r>
          </a:p>
          <a:p>
            <a:pPr eaLnBrk="1" hangingPunct="1">
              <a:spcBef>
                <a:spcPct val="25000"/>
              </a:spcBef>
              <a:buClrTx/>
              <a:buFontTx/>
              <a:buNone/>
            </a:pPr>
            <a:r>
              <a:rPr lang="en-US" altLang="zh-CN">
                <a:solidFill>
                  <a:srgbClr val="0066FF"/>
                </a:solidFill>
              </a:rPr>
              <a:t> &lt;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, </a:t>
            </a:r>
            <a:r>
              <a:rPr lang="en-US" altLang="zh-CN" i="1">
                <a:solidFill>
                  <a:srgbClr val="0066FF"/>
                </a:solidFill>
              </a:rPr>
              <a:t>R</a:t>
            </a:r>
            <a:r>
              <a:rPr lang="en-US" altLang="zh-CN" baseline="-25000">
                <a:solidFill>
                  <a:srgbClr val="0066FF"/>
                </a:solidFill>
                <a:sym typeface="Symbol" panose="05050102010706020507" pitchFamily="18" charset="2"/>
              </a:rPr>
              <a:t></a:t>
            </a:r>
            <a:r>
              <a:rPr lang="en-US" altLang="zh-CN">
                <a:solidFill>
                  <a:srgbClr val="0066FF"/>
                </a:solidFill>
              </a:rPr>
              <a:t>&gt; </a:t>
            </a:r>
            <a:r>
              <a:rPr lang="zh-CN" altLang="en-US">
                <a:solidFill>
                  <a:srgbClr val="0066FF"/>
                </a:solidFill>
              </a:rPr>
              <a:t>的极大元恰好比 </a:t>
            </a:r>
            <a:r>
              <a:rPr lang="en-US" altLang="zh-CN" i="1">
                <a:solidFill>
                  <a:srgbClr val="0066FF"/>
                </a:solidFill>
              </a:rPr>
              <a:t>X </a:t>
            </a:r>
            <a:r>
              <a:rPr lang="zh-CN" altLang="en-US">
                <a:solidFill>
                  <a:srgbClr val="0066FF"/>
                </a:solidFill>
              </a:rPr>
              <a:t>少一个元素</a:t>
            </a:r>
            <a:r>
              <a:rPr lang="en-US" altLang="zh-CN">
                <a:solidFill>
                  <a:srgbClr val="0066FF"/>
                </a:solidFill>
              </a:rPr>
              <a:t>, </a:t>
            </a:r>
            <a:r>
              <a:rPr lang="zh-CN" altLang="en-US">
                <a:solidFill>
                  <a:srgbClr val="0066FF"/>
                </a:solidFill>
              </a:rPr>
              <a:t>即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>
                <a:solidFill>
                  <a:srgbClr val="0066FF"/>
                </a:solidFill>
              </a:rPr>
              <a:t>{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}, 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∈</a:t>
            </a:r>
            <a:r>
              <a:rPr lang="en-US" altLang="zh-CN" i="1">
                <a:solidFill>
                  <a:srgbClr val="0066FF"/>
                </a:solidFill>
              </a:rPr>
              <a:t>X</a:t>
            </a:r>
            <a:r>
              <a:rPr lang="en-US" altLang="zh-CN">
                <a:solidFill>
                  <a:srgbClr val="0066FF"/>
                </a:solidFill>
              </a:rPr>
              <a:t>.</a:t>
            </a:r>
          </a:p>
        </p:txBody>
      </p:sp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175" y="3844925"/>
            <a:ext cx="3095625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24A7E9-20C7-4CF7-A84A-5B2BF9443E21}" type="slidenum">
              <a:rPr lang="en-US" altLang="zh-CN" sz="1400" b="0">
                <a:latin typeface="Arial" panose="020B0604020202020204" pitchFamily="34" charset="0"/>
              </a:rPr>
              <a:t>149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713" y="141288"/>
            <a:ext cx="6453187" cy="684212"/>
          </a:xfrm>
        </p:spPr>
        <p:txBody>
          <a:bodyPr/>
          <a:lstStyle/>
          <a:p>
            <a:pPr eaLnBrk="1" hangingPunct="1"/>
            <a:r>
              <a:rPr lang="zh-CN" altLang="en-US"/>
              <a:t>实例：</a:t>
            </a:r>
            <a:r>
              <a:rPr lang="en-US" altLang="zh-CN"/>
              <a:t>  &lt;{1,2,…,12}, </a:t>
            </a:r>
            <a:r>
              <a:rPr lang="en-US" altLang="zh-CN" i="1"/>
              <a:t>R</a:t>
            </a:r>
            <a:r>
              <a:rPr lang="zh-CN" altLang="en-US" baseline="-25000"/>
              <a:t>整除</a:t>
            </a:r>
            <a:r>
              <a:rPr lang="en-US" altLang="zh-CN"/>
              <a:t>&gt;</a:t>
            </a:r>
          </a:p>
        </p:txBody>
      </p:sp>
      <p:sp>
        <p:nvSpPr>
          <p:cNvPr id="31748" name="Rectangle 42"/>
          <p:cNvSpPr>
            <a:spLocks noChangeArrowheads="1"/>
          </p:cNvSpPr>
          <p:nvPr/>
        </p:nvSpPr>
        <p:spPr bwMode="auto">
          <a:xfrm>
            <a:off x="158750" y="1025525"/>
            <a:ext cx="8764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200" b="0">
                <a:solidFill>
                  <a:schemeClr val="tx2"/>
                </a:solidFill>
                <a:ea typeface="隶书" panose="02010509060101010101" pitchFamily="49" charset="-122"/>
              </a:rPr>
              <a:t>画出哈斯图</a:t>
            </a:r>
            <a:r>
              <a:rPr kumimoji="1" lang="en-US" altLang="zh-CN" sz="3200" b="0">
                <a:solidFill>
                  <a:schemeClr val="tx2"/>
                </a:solidFill>
                <a:ea typeface="隶书" panose="02010509060101010101" pitchFamily="49" charset="-122"/>
              </a:rPr>
              <a:t>,</a:t>
            </a:r>
            <a:r>
              <a:rPr kumimoji="1" lang="zh-CN" altLang="en-US" sz="3200" b="0">
                <a:solidFill>
                  <a:schemeClr val="tx2"/>
                </a:solidFill>
                <a:ea typeface="隶书" panose="02010509060101010101" pitchFamily="49" charset="-122"/>
              </a:rPr>
              <a:t>并求 </a:t>
            </a:r>
            <a:r>
              <a:rPr kumimoji="1" lang="en-US" altLang="zh-CN" sz="3200" b="0" i="1">
                <a:solidFill>
                  <a:schemeClr val="tx2"/>
                </a:solidFill>
                <a:ea typeface="隶书" panose="02010509060101010101" pitchFamily="49" charset="-122"/>
              </a:rPr>
              <a:t>B</a:t>
            </a:r>
            <a:r>
              <a:rPr kumimoji="1" lang="en-US" altLang="zh-CN" sz="3200" b="0">
                <a:solidFill>
                  <a:schemeClr val="tx2"/>
                </a:solidFill>
                <a:ea typeface="隶书" panose="02010509060101010101" pitchFamily="49" charset="-122"/>
              </a:rPr>
              <a:t> = {2,3,6}</a:t>
            </a:r>
            <a:r>
              <a:rPr kumimoji="1" lang="zh-CN" altLang="en-US" sz="3200" b="0">
                <a:solidFill>
                  <a:schemeClr val="tx2"/>
                </a:solidFill>
                <a:ea typeface="隶书" panose="02010509060101010101" pitchFamily="49" charset="-122"/>
              </a:rPr>
              <a:t>的</a:t>
            </a:r>
            <a:r>
              <a:rPr kumimoji="1" lang="en-US" altLang="zh-CN" sz="3200" b="0">
                <a:solidFill>
                  <a:schemeClr val="tx2"/>
                </a:solidFill>
                <a:ea typeface="隶书" panose="02010509060101010101" pitchFamily="49" charset="-122"/>
              </a:rPr>
              <a:t> </a:t>
            </a:r>
            <a:r>
              <a:rPr kumimoji="1" lang="zh-CN" altLang="en-US" sz="3200" b="0">
                <a:solidFill>
                  <a:schemeClr val="tx2"/>
                </a:solidFill>
                <a:ea typeface="隶书" panose="02010509060101010101" pitchFamily="49" charset="-122"/>
              </a:rPr>
              <a:t>上</a:t>
            </a:r>
            <a:r>
              <a:rPr kumimoji="1" lang="en-US" altLang="zh-CN" sz="3200" b="0">
                <a:solidFill>
                  <a:schemeClr val="tx2"/>
                </a:solidFill>
                <a:ea typeface="隶书" panose="02010509060101010101" pitchFamily="49" charset="-122"/>
              </a:rPr>
              <a:t>(</a:t>
            </a:r>
            <a:r>
              <a:rPr kumimoji="1" lang="zh-CN" altLang="en-US" sz="3200" b="0">
                <a:solidFill>
                  <a:schemeClr val="tx2"/>
                </a:solidFill>
                <a:ea typeface="隶书" panose="02010509060101010101" pitchFamily="49" charset="-122"/>
              </a:rPr>
              <a:t>确</a:t>
            </a:r>
            <a:r>
              <a:rPr kumimoji="1" lang="en-US" altLang="zh-CN" sz="3200" b="0">
                <a:solidFill>
                  <a:schemeClr val="tx2"/>
                </a:solidFill>
                <a:ea typeface="隶书" panose="02010509060101010101" pitchFamily="49" charset="-122"/>
              </a:rPr>
              <a:t>)</a:t>
            </a:r>
            <a:r>
              <a:rPr kumimoji="1" lang="zh-CN" altLang="en-US" sz="3200" b="0">
                <a:solidFill>
                  <a:schemeClr val="tx2"/>
                </a:solidFill>
                <a:ea typeface="隶书" panose="02010509060101010101" pitchFamily="49" charset="-122"/>
              </a:rPr>
              <a:t> 、下</a:t>
            </a:r>
            <a:r>
              <a:rPr kumimoji="1" lang="en-US" altLang="zh-CN" sz="3200" b="0">
                <a:solidFill>
                  <a:schemeClr val="tx2"/>
                </a:solidFill>
                <a:ea typeface="隶书" panose="02010509060101010101" pitchFamily="49" charset="-122"/>
              </a:rPr>
              <a:t>(</a:t>
            </a:r>
            <a:r>
              <a:rPr kumimoji="1" lang="zh-CN" altLang="en-US" sz="3200" b="0">
                <a:solidFill>
                  <a:schemeClr val="tx2"/>
                </a:solidFill>
                <a:ea typeface="隶书" panose="02010509060101010101" pitchFamily="49" charset="-122"/>
              </a:rPr>
              <a:t>确</a:t>
            </a:r>
            <a:r>
              <a:rPr kumimoji="1" lang="en-US" altLang="zh-CN" sz="3200" b="0">
                <a:solidFill>
                  <a:schemeClr val="tx2"/>
                </a:solidFill>
                <a:ea typeface="隶书" panose="02010509060101010101" pitchFamily="49" charset="-122"/>
              </a:rPr>
              <a:t>)</a:t>
            </a:r>
            <a:r>
              <a:rPr kumimoji="1" lang="zh-CN" altLang="en-US" sz="3200" b="0">
                <a:solidFill>
                  <a:schemeClr val="tx2"/>
                </a:solidFill>
                <a:ea typeface="隶书" panose="02010509060101010101" pitchFamily="49" charset="-122"/>
              </a:rPr>
              <a:t>界</a:t>
            </a:r>
          </a:p>
        </p:txBody>
      </p:sp>
      <p:pic>
        <p:nvPicPr>
          <p:cNvPr id="7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555"/>
          <a:stretch>
            <a:fillRect/>
          </a:stretch>
        </p:blipFill>
        <p:spPr bwMode="auto">
          <a:xfrm>
            <a:off x="1320800" y="2073275"/>
            <a:ext cx="4259263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3027363"/>
            <a:ext cx="202882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5292725" y="3141663"/>
            <a:ext cx="574675" cy="158273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偏序关系的证明方法及实例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084077"/>
            <a:ext cx="8229600" cy="476250"/>
          </a:xfrm>
        </p:spPr>
        <p:txBody>
          <a:bodyPr/>
          <a:lstStyle/>
          <a:p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是非空集合</a:t>
            </a:r>
            <a:r>
              <a:rPr lang="en-US" altLang="zh-CN" i="1" dirty="0"/>
              <a:t>A</a:t>
            </a:r>
            <a:r>
              <a:rPr lang="zh-CN" altLang="en-US" dirty="0"/>
              <a:t>上的二元关系，证明</a:t>
            </a:r>
            <a:r>
              <a:rPr lang="en-US" altLang="zh-CN" i="1" dirty="0"/>
              <a:t>R</a:t>
            </a:r>
            <a:r>
              <a:rPr lang="zh-CN" altLang="en-US" dirty="0"/>
              <a:t>是偏序关系的方法：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18D934-2717-4E12-9313-02600D0D681D}" type="slidenum">
              <a:rPr lang="en-US" altLang="zh-CN" smtClean="0"/>
              <a:t>150</a:t>
            </a:fld>
            <a:endParaRPr lang="en-US" altLang="zh-CN" dirty="0"/>
          </a:p>
        </p:txBody>
      </p:sp>
      <p:sp>
        <p:nvSpPr>
          <p:cNvPr id="5" name="Rectangle 10"/>
          <p:cNvSpPr txBox="1">
            <a:spLocks noChangeArrowheads="1"/>
          </p:cNvSpPr>
          <p:nvPr/>
        </p:nvSpPr>
        <p:spPr bwMode="auto">
          <a:xfrm>
            <a:off x="323528" y="1603513"/>
            <a:ext cx="8229600" cy="2977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dirty="0"/>
              <a:t>1.  </a:t>
            </a:r>
            <a:r>
              <a:rPr lang="zh-CN" altLang="en-US" dirty="0"/>
              <a:t>证明</a:t>
            </a:r>
            <a:r>
              <a:rPr lang="en-US" altLang="zh-CN" i="1" dirty="0"/>
              <a:t>R</a:t>
            </a:r>
            <a:r>
              <a:rPr lang="zh-CN" altLang="en-US" dirty="0"/>
              <a:t>在</a:t>
            </a:r>
            <a:r>
              <a:rPr lang="en-US" altLang="zh-CN" i="1" dirty="0"/>
              <a:t>A</a:t>
            </a:r>
            <a:r>
              <a:rPr lang="zh-CN" altLang="en-US" dirty="0"/>
              <a:t>上自反</a:t>
            </a:r>
          </a:p>
          <a:p>
            <a:pPr eaLnBrk="1" hangingPunct="1"/>
            <a:r>
              <a:rPr lang="zh-CN" altLang="en-US" dirty="0"/>
              <a:t>     任取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    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/>
              <a:t> 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 ……………………..….……. 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endParaRPr lang="zh-CN" altLang="en-US" dirty="0"/>
          </a:p>
          <a:p>
            <a:pPr eaLnBrk="1" hangingPunct="1"/>
            <a:r>
              <a:rPr lang="en-US" altLang="zh-CN" dirty="0"/>
              <a:t>2.  </a:t>
            </a:r>
            <a:r>
              <a:rPr lang="zh-CN" altLang="en-US" dirty="0"/>
              <a:t>证明</a:t>
            </a:r>
            <a:r>
              <a:rPr lang="en-US" altLang="zh-CN" i="1" dirty="0"/>
              <a:t>R</a:t>
            </a:r>
            <a:r>
              <a:rPr lang="zh-CN" altLang="en-US" dirty="0"/>
              <a:t>在</a:t>
            </a:r>
            <a:r>
              <a:rPr lang="en-US" altLang="zh-CN" i="1" dirty="0"/>
              <a:t>A</a:t>
            </a:r>
            <a:r>
              <a:rPr lang="zh-CN" altLang="en-US" dirty="0"/>
              <a:t>上反对称</a:t>
            </a:r>
          </a:p>
          <a:p>
            <a:pPr eaLnBrk="1" hangingPunct="1"/>
            <a:r>
              <a:rPr lang="zh-CN" altLang="en-US" dirty="0"/>
              <a:t>     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r>
              <a:rPr lang="zh-CN" altLang="en-US" dirty="0"/>
              <a:t>，</a:t>
            </a:r>
          </a:p>
          <a:p>
            <a:pPr eaLnBrk="1" hangingPunct="1"/>
            <a:r>
              <a:rPr lang="zh-CN" altLang="en-US" dirty="0"/>
              <a:t>             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dirty="0"/>
              <a:t>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……………………..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y</a:t>
            </a:r>
            <a:r>
              <a:rPr lang="en-US" altLang="zh-CN" dirty="0"/>
              <a:t> </a:t>
            </a:r>
          </a:p>
          <a:p>
            <a:pPr eaLnBrk="1" hangingPunct="1"/>
            <a:r>
              <a:rPr lang="fr-FR" altLang="zh-CN" dirty="0"/>
              <a:t>           </a:t>
            </a:r>
            <a:endParaRPr lang="zh-CN" altLang="en-US" dirty="0"/>
          </a:p>
        </p:txBody>
      </p:sp>
      <p:sp>
        <p:nvSpPr>
          <p:cNvPr id="6" name="Rectangle 10"/>
          <p:cNvSpPr txBox="1">
            <a:spLocks noChangeArrowheads="1"/>
          </p:cNvSpPr>
          <p:nvPr/>
        </p:nvSpPr>
        <p:spPr bwMode="auto">
          <a:xfrm>
            <a:off x="323528" y="4553342"/>
            <a:ext cx="8229600" cy="135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65000"/>
              </a:spcBef>
            </a:pPr>
            <a:r>
              <a:rPr lang="en-US" altLang="zh-CN" dirty="0"/>
              <a:t>3.  </a:t>
            </a:r>
            <a:r>
              <a:rPr lang="zh-CN" altLang="en-US" dirty="0"/>
              <a:t>证明</a:t>
            </a:r>
            <a:r>
              <a:rPr lang="en-US" altLang="zh-CN" i="1" dirty="0"/>
              <a:t>R</a:t>
            </a:r>
            <a:r>
              <a:rPr lang="zh-CN" altLang="en-US" dirty="0"/>
              <a:t>在</a:t>
            </a:r>
            <a:r>
              <a:rPr lang="en-US" altLang="zh-CN" i="1" dirty="0"/>
              <a:t>A</a:t>
            </a:r>
            <a:r>
              <a:rPr lang="zh-CN" altLang="en-US" dirty="0"/>
              <a:t>上传递</a:t>
            </a:r>
          </a:p>
          <a:p>
            <a:pPr eaLnBrk="1" hangingPunct="1"/>
            <a:r>
              <a:rPr lang="zh-CN" altLang="en-US" dirty="0"/>
              <a:t>     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</a:t>
            </a:r>
            <a:r>
              <a:rPr lang="zh-CN" altLang="en-US" dirty="0"/>
              <a:t>，</a:t>
            </a:r>
            <a:endParaRPr lang="zh-CN" altLang="fr-FR" dirty="0"/>
          </a:p>
          <a:p>
            <a:pPr eaLnBrk="1" hangingPunct="1"/>
            <a:r>
              <a:rPr lang="fr-FR" altLang="zh-CN" dirty="0"/>
              <a:t>       &lt;</a:t>
            </a:r>
            <a:r>
              <a:rPr lang="fr-FR" altLang="zh-CN" i="1" dirty="0"/>
              <a:t>x</a:t>
            </a:r>
            <a:r>
              <a:rPr lang="fr-FR" altLang="zh-CN" dirty="0"/>
              <a:t>,</a:t>
            </a:r>
            <a:r>
              <a:rPr lang="fr-FR" altLang="zh-CN" i="1" dirty="0"/>
              <a:t>y</a:t>
            </a:r>
            <a:r>
              <a:rPr lang="fr-FR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fr-FR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fr-FR" altLang="zh-CN" dirty="0"/>
              <a:t>&lt;</a:t>
            </a:r>
            <a:r>
              <a:rPr lang="fr-FR" altLang="zh-CN" i="1" dirty="0"/>
              <a:t>y</a:t>
            </a:r>
            <a:r>
              <a:rPr lang="fr-FR" altLang="zh-CN" dirty="0"/>
              <a:t>,</a:t>
            </a:r>
            <a:r>
              <a:rPr lang="fr-FR" altLang="zh-CN" i="1" dirty="0"/>
              <a:t>z</a:t>
            </a:r>
            <a:r>
              <a:rPr lang="fr-FR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fr-FR" altLang="zh-CN" i="1" dirty="0"/>
              <a:t>R</a:t>
            </a:r>
            <a:r>
              <a:rPr lang="fr-FR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fr-FR" altLang="zh-CN" dirty="0"/>
              <a:t> ……………………..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</a:p>
          <a:p>
            <a:pPr eaLnBrk="1" hangingPunct="1"/>
            <a:r>
              <a:rPr lang="en-US" altLang="zh-CN" dirty="0"/>
              <a:t>                   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23528" y="602128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ym typeface="Symbol" panose="05050102010706020507" pitchFamily="18" charset="2"/>
              </a:rPr>
              <a:t>因此，</a:t>
            </a:r>
            <a:r>
              <a:rPr lang="zh-CN" altLang="en-US" b="1" i="1" dirty="0">
                <a:latin typeface="+mn-lt"/>
                <a:ea typeface="+mn-ea"/>
              </a:rPr>
              <a:t>R</a:t>
            </a:r>
            <a:r>
              <a:rPr lang="zh-CN" altLang="en-US" b="1" dirty="0">
                <a:sym typeface="Symbol" panose="05050102010706020507" pitchFamily="18" charset="2"/>
              </a:rPr>
              <a:t>是偏序关系</a:t>
            </a:r>
            <a:r>
              <a:rPr lang="en-US" altLang="zh-CN" b="1" dirty="0">
                <a:sym typeface="Symbol" panose="05050102010706020507" pitchFamily="18" charset="2"/>
              </a:rPr>
              <a:t>.</a:t>
            </a:r>
            <a:endParaRPr lang="zh-CN" altLang="en-US" b="1" dirty="0"/>
          </a:p>
        </p:txBody>
      </p:sp>
    </p:spTree>
  </p:cSld>
  <p:clrMapOvr>
    <a:masterClrMapping/>
  </p:clrMapOvr>
  <p:transition spd="slow">
    <p:fade/>
  </p:transition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偏序关系的证明方法及实例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18D934-2717-4E12-9313-02600D0D681D}" type="slidenum">
              <a:rPr lang="en-US" altLang="zh-CN" smtClean="0"/>
              <a:t>151</a:t>
            </a:fld>
            <a:endParaRPr lang="en-US" altLang="zh-CN" dirty="0"/>
          </a:p>
        </p:txBody>
      </p:sp>
      <p:sp>
        <p:nvSpPr>
          <p:cNvPr id="8" name="文本框 7"/>
          <p:cNvSpPr txBox="1"/>
          <p:nvPr/>
        </p:nvSpPr>
        <p:spPr>
          <a:xfrm>
            <a:off x="271079" y="1274245"/>
            <a:ext cx="6944497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例：</a:t>
            </a:r>
            <a:r>
              <a:rPr lang="zh-CN" altLang="en-US" b="1" dirty="0"/>
              <a:t>证明在实数集</a:t>
            </a:r>
            <a:r>
              <a:rPr lang="en-US" altLang="zh-CN" b="1" dirty="0"/>
              <a:t>R</a:t>
            </a:r>
            <a:r>
              <a:rPr lang="zh-CN" altLang="en-US" b="1" dirty="0"/>
              <a:t>上</a:t>
            </a:r>
            <a:r>
              <a:rPr lang="en-US" altLang="zh-CN" b="1" dirty="0"/>
              <a:t>, </a:t>
            </a:r>
            <a:r>
              <a:rPr lang="zh-CN" altLang="en-US" b="1" dirty="0"/>
              <a:t>小于等于</a:t>
            </a:r>
            <a:r>
              <a:rPr lang="zh-CN" altLang="en-US" b="1" i="1" dirty="0">
                <a:latin typeface="+mn-lt"/>
                <a:ea typeface="+mn-ea"/>
              </a:rPr>
              <a:t>R</a:t>
            </a:r>
            <a:r>
              <a:rPr lang="en-US" altLang="zh-CN" b="1" baseline="-25000" dirty="0">
                <a:sym typeface="Symbol" panose="05050102010706020507" pitchFamily="18" charset="2"/>
              </a:rPr>
              <a:t></a:t>
            </a:r>
            <a:r>
              <a:rPr lang="zh-CN" altLang="en-US" b="1" dirty="0">
                <a:sym typeface="Symbol" panose="05050102010706020507" pitchFamily="18" charset="2"/>
              </a:rPr>
              <a:t>是偏序关系</a:t>
            </a:r>
            <a:r>
              <a:rPr lang="en-US" altLang="zh-CN" b="1" dirty="0">
                <a:sym typeface="Symbol" panose="05050102010706020507" pitchFamily="18" charset="2"/>
              </a:rPr>
              <a:t>.</a:t>
            </a:r>
            <a:endParaRPr lang="zh-CN" altLang="en-US" b="1" dirty="0"/>
          </a:p>
        </p:txBody>
      </p:sp>
      <p:sp>
        <p:nvSpPr>
          <p:cNvPr id="10" name="Rectangle 10"/>
          <p:cNvSpPr txBox="1">
            <a:spLocks noChangeArrowheads="1"/>
          </p:cNvSpPr>
          <p:nvPr/>
        </p:nvSpPr>
        <p:spPr bwMode="auto">
          <a:xfrm>
            <a:off x="248494" y="2583036"/>
            <a:ext cx="8715994" cy="2568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/>
              <a:t>1.  </a:t>
            </a:r>
            <a:r>
              <a:rPr lang="zh-CN" altLang="en-US" dirty="0"/>
              <a:t>自反性   任取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dirty="0" err="1"/>
              <a:t>R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/>
              <a:t>, </a:t>
            </a:r>
            <a:r>
              <a:rPr lang="en-US" altLang="zh-CN" i="1" dirty="0"/>
              <a:t> 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i="1" dirty="0"/>
              <a:t>                             </a:t>
            </a:r>
            <a:r>
              <a:rPr lang="zh-CN" altLang="en-US" dirty="0">
                <a:solidFill>
                  <a:srgbClr val="0066FF"/>
                </a:solidFill>
              </a:rPr>
              <a:t>有</a:t>
            </a:r>
            <a:r>
              <a:rPr lang="en-US" altLang="zh-CN" i="1" dirty="0">
                <a:solidFill>
                  <a:srgbClr val="0066FF"/>
                </a:solidFill>
              </a:rPr>
              <a:t>x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</a:t>
            </a:r>
            <a:r>
              <a:rPr lang="en-US" altLang="zh-CN" i="1" dirty="0">
                <a:solidFill>
                  <a:srgbClr val="0066FF"/>
                </a:solidFill>
              </a:rPr>
              <a:t> x</a:t>
            </a:r>
            <a:r>
              <a:rPr lang="zh-CN" altLang="en-US" dirty="0">
                <a:solidFill>
                  <a:srgbClr val="0066FF"/>
                </a:solidFill>
              </a:rPr>
              <a:t>，故</a:t>
            </a:r>
            <a:r>
              <a:rPr lang="en-US" altLang="zh-CN" i="1" dirty="0">
                <a:solidFill>
                  <a:srgbClr val="0066FF"/>
                </a:solidFill>
              </a:rPr>
              <a:t> 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i="1" dirty="0">
                <a:sym typeface="Symbol" panose="05050102010706020507" pitchFamily="18" charset="2"/>
              </a:rPr>
              <a:t>                             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zh-CN" altLang="en-US" i="1" dirty="0"/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</a:t>
            </a:r>
            <a:endParaRPr lang="en-US" altLang="zh-CN" b="1" baseline="30000" dirty="0">
              <a:latin typeface="+mn-lt"/>
            </a:endParaRPr>
          </a:p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/>
              <a:t>2.  </a:t>
            </a:r>
            <a:r>
              <a:rPr lang="zh-CN" altLang="en-US" dirty="0"/>
              <a:t>反对称性   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r>
              <a:rPr lang="zh-CN" altLang="en-US" dirty="0"/>
              <a:t>，</a:t>
            </a:r>
            <a:r>
              <a:rPr lang="fr-FR" altLang="zh-CN" dirty="0"/>
              <a:t>&lt;</a:t>
            </a:r>
            <a:r>
              <a:rPr lang="fr-FR" altLang="zh-CN" i="1" dirty="0"/>
              <a:t>x</a:t>
            </a:r>
            <a:r>
              <a:rPr lang="fr-FR" altLang="zh-CN" dirty="0"/>
              <a:t>,</a:t>
            </a:r>
            <a:r>
              <a:rPr lang="fr-FR" altLang="zh-CN" i="1" dirty="0"/>
              <a:t>y</a:t>
            </a:r>
            <a:r>
              <a:rPr lang="fr-FR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zh-CN" altLang="en-US" i="1" dirty="0"/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</a:t>
            </a:r>
            <a:r>
              <a:rPr lang="en-US" altLang="zh-CN" dirty="0">
                <a:sym typeface="Symbol" panose="05050102010706020507" pitchFamily="18" charset="2"/>
              </a:rPr>
              <a:t> </a:t>
            </a:r>
            <a:r>
              <a:rPr lang="fr-FR" altLang="zh-CN" dirty="0"/>
              <a:t>&lt;</a:t>
            </a:r>
            <a:r>
              <a:rPr lang="fr-FR" altLang="zh-CN" i="1" dirty="0"/>
              <a:t>y</a:t>
            </a:r>
            <a:r>
              <a:rPr lang="fr-FR" altLang="zh-CN" dirty="0"/>
              <a:t>,</a:t>
            </a:r>
            <a:r>
              <a:rPr lang="fr-FR" altLang="zh-CN" i="1" dirty="0"/>
              <a:t>x</a:t>
            </a:r>
            <a:r>
              <a:rPr lang="fr-FR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zh-CN" altLang="en-US" i="1" dirty="0"/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</a:t>
            </a:r>
            <a:endParaRPr lang="fr-FR" altLang="zh-CN" dirty="0"/>
          </a:p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0066FF"/>
                </a:solidFill>
              </a:rPr>
              <a:t>                                             即</a:t>
            </a:r>
            <a:r>
              <a:rPr lang="fr-FR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 </a:t>
            </a:r>
            <a:r>
              <a:rPr lang="fr-FR" altLang="zh-CN" i="1" dirty="0">
                <a:solidFill>
                  <a:srgbClr val="0066FF"/>
                </a:solidFill>
              </a:rPr>
              <a:t>y </a:t>
            </a:r>
            <a:r>
              <a:rPr lang="zh-CN" altLang="en-US" dirty="0">
                <a:solidFill>
                  <a:srgbClr val="0066FF"/>
                </a:solidFill>
              </a:rPr>
              <a:t>且 </a:t>
            </a:r>
            <a:r>
              <a:rPr lang="fr-FR" altLang="zh-CN" i="1" dirty="0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 </a:t>
            </a:r>
            <a:r>
              <a:rPr lang="fr-FR" altLang="zh-CN" i="1" dirty="0">
                <a:solidFill>
                  <a:srgbClr val="0066FF"/>
                </a:solidFill>
              </a:rPr>
              <a:t>x</a:t>
            </a:r>
            <a:r>
              <a:rPr lang="zh-CN" altLang="en-US" dirty="0">
                <a:solidFill>
                  <a:srgbClr val="0066FF"/>
                </a:solidFill>
              </a:rPr>
              <a:t>，则必有</a:t>
            </a:r>
            <a:endParaRPr lang="fr-FR" altLang="zh-CN" dirty="0">
              <a:solidFill>
                <a:srgbClr val="0066FF"/>
              </a:solidFill>
            </a:endParaRPr>
          </a:p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i="1" dirty="0"/>
              <a:t>                                              x</a:t>
            </a:r>
            <a:r>
              <a:rPr lang="en-US" altLang="zh-CN" dirty="0"/>
              <a:t> = </a:t>
            </a:r>
            <a:r>
              <a:rPr lang="en-US" altLang="zh-CN" i="1" dirty="0"/>
              <a:t>y</a:t>
            </a:r>
            <a:r>
              <a:rPr lang="fr-FR" altLang="zh-CN" dirty="0"/>
              <a:t>           </a:t>
            </a:r>
            <a:endParaRPr lang="zh-CN" altLang="en-US" dirty="0"/>
          </a:p>
        </p:txBody>
      </p:sp>
      <p:sp>
        <p:nvSpPr>
          <p:cNvPr id="11" name="Rectangle 10"/>
          <p:cNvSpPr txBox="1">
            <a:spLocks noChangeArrowheads="1"/>
          </p:cNvSpPr>
          <p:nvPr/>
        </p:nvSpPr>
        <p:spPr bwMode="auto">
          <a:xfrm>
            <a:off x="233092" y="4660336"/>
            <a:ext cx="8731395" cy="2081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/>
              <a:t>3.  </a:t>
            </a:r>
            <a:r>
              <a:rPr lang="zh-CN" altLang="en-US" dirty="0"/>
              <a:t>传递性   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</a:t>
            </a:r>
            <a:r>
              <a:rPr lang="zh-CN" altLang="en-US" dirty="0"/>
              <a:t>，</a:t>
            </a:r>
            <a:r>
              <a:rPr lang="fr-FR" altLang="zh-CN" dirty="0"/>
              <a:t>&lt;</a:t>
            </a:r>
            <a:r>
              <a:rPr lang="fr-FR" altLang="zh-CN" i="1" dirty="0"/>
              <a:t>x</a:t>
            </a:r>
            <a:r>
              <a:rPr lang="fr-FR" altLang="zh-CN" dirty="0"/>
              <a:t>,</a:t>
            </a:r>
            <a:r>
              <a:rPr lang="fr-FR" altLang="zh-CN" i="1" dirty="0"/>
              <a:t>y</a:t>
            </a:r>
            <a:r>
              <a:rPr lang="fr-FR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zh-CN" altLang="en-US" i="1" dirty="0"/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 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fr-FR" altLang="zh-CN" dirty="0"/>
              <a:t>&lt;</a:t>
            </a:r>
            <a:r>
              <a:rPr lang="fr-FR" altLang="zh-CN" i="1" dirty="0"/>
              <a:t>y</a:t>
            </a:r>
            <a:r>
              <a:rPr lang="fr-FR" altLang="zh-CN" dirty="0"/>
              <a:t>,</a:t>
            </a:r>
            <a:r>
              <a:rPr lang="fr-FR" altLang="zh-CN" i="1" dirty="0"/>
              <a:t>z</a:t>
            </a:r>
            <a:r>
              <a:rPr lang="fr-FR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zh-CN" altLang="en-US" i="1" dirty="0"/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</a:t>
            </a:r>
            <a:endParaRPr lang="fr-FR" altLang="zh-CN" dirty="0"/>
          </a:p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0066FF"/>
                </a:solidFill>
              </a:rPr>
              <a:t>                                              即</a:t>
            </a:r>
            <a:r>
              <a:rPr lang="fr-FR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 </a:t>
            </a:r>
            <a:r>
              <a:rPr lang="fr-FR" altLang="zh-CN" i="1" dirty="0">
                <a:solidFill>
                  <a:srgbClr val="0066FF"/>
                </a:solidFill>
              </a:rPr>
              <a:t>y </a:t>
            </a:r>
            <a:r>
              <a:rPr lang="zh-CN" altLang="en-US" dirty="0">
                <a:solidFill>
                  <a:srgbClr val="0066FF"/>
                </a:solidFill>
              </a:rPr>
              <a:t>且 </a:t>
            </a:r>
            <a:r>
              <a:rPr lang="fr-FR" altLang="zh-CN" i="1" dirty="0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 </a:t>
            </a:r>
            <a:r>
              <a:rPr lang="fr-FR" altLang="zh-CN" i="1" dirty="0">
                <a:solidFill>
                  <a:srgbClr val="0066FF"/>
                </a:solidFill>
              </a:rPr>
              <a:t>z </a:t>
            </a:r>
            <a:r>
              <a:rPr lang="zh-CN" altLang="en-US" dirty="0">
                <a:solidFill>
                  <a:srgbClr val="0066FF"/>
                </a:solidFill>
              </a:rPr>
              <a:t>，则必有</a:t>
            </a:r>
            <a:r>
              <a:rPr lang="fr-FR" altLang="zh-CN" i="1" dirty="0">
                <a:solidFill>
                  <a:srgbClr val="0066FF"/>
                </a:solidFill>
              </a:rPr>
              <a:t>x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 </a:t>
            </a:r>
            <a:r>
              <a:rPr lang="fr-FR" altLang="zh-CN" i="1" dirty="0">
                <a:solidFill>
                  <a:srgbClr val="0066FF"/>
                </a:solidFill>
              </a:rPr>
              <a:t>z</a:t>
            </a:r>
            <a:r>
              <a:rPr lang="zh-CN" altLang="en-US" dirty="0">
                <a:solidFill>
                  <a:srgbClr val="0066FF"/>
                </a:solidFill>
              </a:rPr>
              <a:t>，即</a:t>
            </a:r>
            <a:r>
              <a:rPr lang="fr-FR" altLang="zh-CN" i="1" dirty="0">
                <a:solidFill>
                  <a:srgbClr val="0066FF"/>
                </a:solidFill>
              </a:rPr>
              <a:t> </a:t>
            </a:r>
            <a:endParaRPr lang="en-US" altLang="zh-CN" dirty="0">
              <a:solidFill>
                <a:srgbClr val="0066FF"/>
              </a:solidFill>
            </a:endParaRPr>
          </a:p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ym typeface="Symbol" panose="05050102010706020507" pitchFamily="18" charset="2"/>
              </a:rPr>
              <a:t>                               </a:t>
            </a:r>
            <a:r>
              <a:rPr lang="en-US" altLang="zh-CN" dirty="0"/>
              <a:t>              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zh-CN" altLang="en-US" i="1" dirty="0"/>
              <a:t> R</a:t>
            </a:r>
            <a:r>
              <a:rPr lang="en-US" altLang="zh-CN" baseline="-25000" dirty="0">
                <a:sym typeface="Symbol" panose="05050102010706020507" pitchFamily="18" charset="2"/>
              </a:rPr>
              <a:t> </a:t>
            </a:r>
            <a:endParaRPr lang="en-US" altLang="zh-CN" dirty="0"/>
          </a:p>
          <a:p>
            <a:pPr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/>
              <a:t>                   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81863" y="5877272"/>
            <a:ext cx="5593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ym typeface="Symbol" panose="05050102010706020507" pitchFamily="18" charset="2"/>
              </a:rPr>
              <a:t>因此，</a:t>
            </a:r>
            <a:r>
              <a:rPr lang="zh-CN" altLang="en-US" b="1" dirty="0"/>
              <a:t>小于等于</a:t>
            </a:r>
            <a:r>
              <a:rPr lang="zh-CN" altLang="en-US" b="1" i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R</a:t>
            </a:r>
            <a:r>
              <a:rPr lang="en-US" altLang="zh-CN" b="1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</a:t>
            </a:r>
            <a:r>
              <a:rPr lang="en-US" altLang="zh-CN" b="1" baseline="-25000" dirty="0">
                <a:sym typeface="Symbol" panose="05050102010706020507" pitchFamily="18" charset="2"/>
              </a:rPr>
              <a:t> </a:t>
            </a:r>
            <a:r>
              <a:rPr lang="zh-CN" altLang="en-US" b="1" dirty="0">
                <a:sym typeface="Symbol" panose="05050102010706020507" pitchFamily="18" charset="2"/>
              </a:rPr>
              <a:t>是偏序关系</a:t>
            </a:r>
            <a:r>
              <a:rPr lang="en-US" altLang="zh-CN" b="1" dirty="0">
                <a:sym typeface="Symbol" panose="05050102010706020507" pitchFamily="18" charset="2"/>
              </a:rPr>
              <a:t>.</a:t>
            </a:r>
            <a:endParaRPr lang="zh-CN" altLang="en-US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233092" y="211255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证明：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233092" y="3573016"/>
            <a:ext cx="8587380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33092" y="4581128"/>
            <a:ext cx="8587380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233092" y="5805264"/>
            <a:ext cx="8587380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828016C-4408-44DD-9429-207FD751C257}" type="slidenum">
              <a:rPr lang="en-US" altLang="zh-CN" sz="1400" b="0" smtClean="0">
                <a:latin typeface="Arial" panose="020B0604020202020204" pitchFamily="34" charset="0"/>
              </a:rPr>
              <a:t>152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4579" name="Rectangle 9"/>
          <p:cNvSpPr>
            <a:spLocks noChangeArrowheads="1"/>
          </p:cNvSpPr>
          <p:nvPr/>
        </p:nvSpPr>
        <p:spPr bwMode="auto">
          <a:xfrm>
            <a:off x="250825" y="980728"/>
            <a:ext cx="864235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3050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例：</a:t>
            </a:r>
            <a:r>
              <a:rPr lang="zh-CN" altLang="en-US" dirty="0"/>
              <a:t>设偏序集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en-US" altLang="zh-CN" i="1" dirty="0"/>
              <a:t>R</a:t>
            </a:r>
            <a:r>
              <a:rPr lang="en-US" altLang="zh-CN" dirty="0"/>
              <a:t>&gt;</a:t>
            </a:r>
            <a:r>
              <a:rPr lang="zh-CN" altLang="en-US" dirty="0"/>
              <a:t>和</a:t>
            </a:r>
            <a:r>
              <a:rPr lang="en-US" altLang="zh-CN" dirty="0"/>
              <a:t>&lt;</a:t>
            </a:r>
            <a:r>
              <a:rPr lang="en-US" altLang="zh-CN" i="1" dirty="0"/>
              <a:t>B</a:t>
            </a:r>
            <a:r>
              <a:rPr lang="en-US" altLang="zh-CN" dirty="0"/>
              <a:t>,</a:t>
            </a:r>
            <a:r>
              <a:rPr lang="en-US" altLang="zh-CN" i="1" dirty="0"/>
              <a:t>S</a:t>
            </a:r>
            <a:r>
              <a:rPr lang="en-US" altLang="zh-CN" dirty="0"/>
              <a:t>&gt;</a:t>
            </a:r>
            <a:r>
              <a:rPr lang="zh-CN" altLang="en-US" dirty="0"/>
              <a:t>，定义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  <a:r>
              <a:rPr lang="zh-CN" altLang="en-US" dirty="0">
                <a:sym typeface="Symbol" panose="05050102010706020507" pitchFamily="18" charset="2"/>
              </a:rPr>
              <a:t>上二元关系</a:t>
            </a:r>
            <a:r>
              <a:rPr lang="en-US" altLang="zh-CN" i="1" dirty="0">
                <a:sym typeface="Symbol" panose="05050102010706020507" pitchFamily="18" charset="2"/>
              </a:rPr>
              <a:t>T</a:t>
            </a:r>
            <a:r>
              <a:rPr lang="en-US" altLang="zh-CN" dirty="0">
                <a:sym typeface="Symbol" panose="05050102010706020507" pitchFamily="18" charset="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        &lt;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&gt;</a:t>
            </a:r>
            <a:r>
              <a:rPr lang="en-US" altLang="zh-CN" i="1" dirty="0">
                <a:sym typeface="Symbol" panose="05050102010706020507" pitchFamily="18" charset="2"/>
              </a:rPr>
              <a:t>T</a:t>
            </a:r>
            <a:r>
              <a:rPr lang="en-US" altLang="zh-CN" dirty="0">
                <a:sym typeface="Symbol" panose="05050102010706020507" pitchFamily="18" charset="2"/>
              </a:rPr>
              <a:t>&lt;</a:t>
            </a:r>
            <a:r>
              <a:rPr lang="en-US" altLang="zh-CN" i="1" dirty="0" err="1">
                <a:sym typeface="Symbol" panose="05050102010706020507" pitchFamily="18" charset="2"/>
              </a:rPr>
              <a:t>u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v</a:t>
            </a:r>
            <a:r>
              <a:rPr lang="en-US" altLang="zh-CN" dirty="0">
                <a:sym typeface="Symbol" panose="05050102010706020507" pitchFamily="18" charset="2"/>
              </a:rPr>
              <a:t>&gt; </a:t>
            </a:r>
            <a:r>
              <a:rPr lang="en-US" altLang="zh-CN" dirty="0"/>
              <a:t> </a:t>
            </a:r>
            <a:r>
              <a:rPr lang="en-US" altLang="zh-CN" i="1" dirty="0" err="1">
                <a:sym typeface="Symbol" panose="05050102010706020507" pitchFamily="18" charset="2"/>
              </a:rPr>
              <a:t>xRu</a:t>
            </a:r>
            <a:r>
              <a:rPr lang="en-US" altLang="zh-CN" dirty="0">
                <a:sym typeface="Symbol" panose="05050102010706020507" pitchFamily="18" charset="2"/>
              </a:rPr>
              <a:t> </a:t>
            </a:r>
            <a:r>
              <a:rPr lang="en-US" altLang="zh-CN" dirty="0"/>
              <a:t> </a:t>
            </a:r>
            <a:r>
              <a:rPr lang="en-US" altLang="zh-CN" i="1" dirty="0" err="1">
                <a:sym typeface="Symbol" panose="05050102010706020507" pitchFamily="18" charset="2"/>
              </a:rPr>
              <a:t>ySv</a:t>
            </a:r>
            <a:r>
              <a:rPr lang="en-US" altLang="zh-CN" dirty="0">
                <a:sym typeface="Symbol" panose="05050102010706020507" pitchFamily="18" charset="2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       证明：</a:t>
            </a:r>
            <a:r>
              <a:rPr lang="en-US" altLang="zh-CN" i="1" dirty="0">
                <a:sym typeface="Symbol" panose="05050102010706020507" pitchFamily="18" charset="2"/>
              </a:rPr>
              <a:t>T</a:t>
            </a:r>
            <a:r>
              <a:rPr lang="zh-CN" altLang="en-US" dirty="0">
                <a:sym typeface="Symbol" panose="05050102010706020507" pitchFamily="18" charset="2"/>
              </a:rPr>
              <a:t>为偏序关系</a:t>
            </a:r>
            <a:r>
              <a:rPr lang="en-US" altLang="zh-CN" dirty="0"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dirty="0">
              <a:sym typeface="Symbol" panose="05050102010706020507" pitchFamily="18" charset="2"/>
            </a:endParaRPr>
          </a:p>
        </p:txBody>
      </p:sp>
      <p:sp>
        <p:nvSpPr>
          <p:cNvPr id="462860" name="Rectangle 12"/>
          <p:cNvSpPr>
            <a:spLocks noChangeArrowheads="1"/>
          </p:cNvSpPr>
          <p:nvPr/>
        </p:nvSpPr>
        <p:spPr bwMode="auto">
          <a:xfrm>
            <a:off x="413543" y="2204864"/>
            <a:ext cx="847963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C00000"/>
                </a:solidFill>
              </a:rPr>
              <a:t>证明：</a:t>
            </a:r>
            <a:r>
              <a:rPr lang="en-US" altLang="zh-CN" dirty="0"/>
              <a:t>1.</a:t>
            </a:r>
            <a:r>
              <a:rPr lang="zh-CN" altLang="en-US" dirty="0"/>
              <a:t>自反性  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/>
              <a:t>                                      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 err="1">
                <a:solidFill>
                  <a:srgbClr val="0066FF"/>
                </a:solidFill>
                <a:sym typeface="Symbol" panose="05050102010706020507" pitchFamily="18" charset="2"/>
              </a:rPr>
              <a:t></a:t>
            </a:r>
            <a:r>
              <a:rPr lang="en-US" altLang="zh-CN" i="1" dirty="0" err="1">
                <a:solidFill>
                  <a:srgbClr val="0066FF"/>
                </a:solidFill>
              </a:rPr>
              <a:t>y</a:t>
            </a:r>
            <a:r>
              <a:rPr lang="en-US" altLang="zh-CN" dirty="0" err="1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rgbClr val="0066FF"/>
                </a:solidFill>
              </a:rPr>
              <a:t>B</a:t>
            </a:r>
            <a:r>
              <a:rPr lang="en-US" altLang="zh-CN" i="1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xRx</a:t>
            </a:r>
            <a:r>
              <a:rPr lang="en-US" altLang="zh-CN" dirty="0" err="1">
                <a:solidFill>
                  <a:srgbClr val="0066FF"/>
                </a:solidFill>
                <a:sym typeface="Symbol" panose="05050102010706020507" pitchFamily="18" charset="2"/>
              </a:rPr>
              <a:t></a:t>
            </a:r>
            <a:r>
              <a:rPr lang="en-US" altLang="zh-CN" i="1" dirty="0" err="1">
                <a:solidFill>
                  <a:srgbClr val="0066FF"/>
                </a:solidFill>
              </a:rPr>
              <a:t>ySy</a:t>
            </a:r>
            <a:r>
              <a:rPr lang="en-US" altLang="zh-CN" i="1" dirty="0">
                <a:solidFill>
                  <a:srgbClr val="0066FF"/>
                </a:solidFill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ym typeface="Symbol" panose="05050102010706020507" pitchFamily="18" charset="2"/>
              </a:rPr>
              <a:t>                                      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&gt;</a:t>
            </a:r>
            <a:r>
              <a:rPr lang="en-US" altLang="zh-CN" i="1" dirty="0">
                <a:sym typeface="Symbol" panose="05050102010706020507" pitchFamily="18" charset="2"/>
              </a:rPr>
              <a:t>T</a:t>
            </a:r>
            <a:r>
              <a:rPr lang="en-US" altLang="zh-CN" dirty="0">
                <a:sym typeface="Symbol" panose="05050102010706020507" pitchFamily="18" charset="2"/>
              </a:rPr>
              <a:t>&lt;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&gt;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2.</a:t>
            </a:r>
            <a:r>
              <a:rPr lang="zh-CN" altLang="en-US" dirty="0">
                <a:sym typeface="Symbol" panose="05050102010706020507" pitchFamily="18" charset="2"/>
              </a:rPr>
              <a:t>反对称性   任取</a:t>
            </a:r>
            <a:r>
              <a:rPr lang="en-US" altLang="zh-CN" dirty="0">
                <a:sym typeface="Symbol" panose="05050102010706020507" pitchFamily="18" charset="2"/>
              </a:rPr>
              <a:t>&lt;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&gt;,&lt;</a:t>
            </a:r>
            <a:r>
              <a:rPr lang="en-US" altLang="zh-CN" i="1" dirty="0" err="1">
                <a:sym typeface="Symbol" panose="05050102010706020507" pitchFamily="18" charset="2"/>
              </a:rPr>
              <a:t>u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v</a:t>
            </a:r>
            <a:r>
              <a:rPr lang="en-US" altLang="zh-CN" dirty="0">
                <a:sym typeface="Symbol" panose="05050102010706020507" pitchFamily="18" charset="2"/>
              </a:rPr>
              <a:t>&gt;, &lt;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&gt;</a:t>
            </a:r>
            <a:r>
              <a:rPr lang="en-US" altLang="zh-CN" i="1" dirty="0">
                <a:sym typeface="Symbol" panose="05050102010706020507" pitchFamily="18" charset="2"/>
              </a:rPr>
              <a:t>T</a:t>
            </a:r>
            <a:r>
              <a:rPr lang="en-US" altLang="zh-CN" dirty="0">
                <a:sym typeface="Symbol" panose="05050102010706020507" pitchFamily="18" charset="2"/>
              </a:rPr>
              <a:t>&lt;</a:t>
            </a:r>
            <a:r>
              <a:rPr lang="en-US" altLang="zh-CN" i="1" dirty="0" err="1">
                <a:sym typeface="Symbol" panose="05050102010706020507" pitchFamily="18" charset="2"/>
              </a:rPr>
              <a:t>u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v</a:t>
            </a:r>
            <a:r>
              <a:rPr lang="en-US" altLang="zh-CN" dirty="0">
                <a:sym typeface="Symbol" panose="05050102010706020507" pitchFamily="18" charset="2"/>
              </a:rPr>
              <a:t>&gt;</a:t>
            </a:r>
            <a:r>
              <a:rPr lang="en-US" altLang="zh-CN" dirty="0"/>
              <a:t>&lt;</a:t>
            </a:r>
            <a:r>
              <a:rPr lang="en-US" altLang="zh-CN" i="1" dirty="0" err="1">
                <a:sym typeface="Symbol" panose="05050102010706020507" pitchFamily="18" charset="2"/>
              </a:rPr>
              <a:t>u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v</a:t>
            </a:r>
            <a:r>
              <a:rPr lang="en-US" altLang="zh-CN" dirty="0">
                <a:sym typeface="Symbol" panose="05050102010706020507" pitchFamily="18" charset="2"/>
              </a:rPr>
              <a:t>&gt;</a:t>
            </a:r>
            <a:r>
              <a:rPr lang="en-US" altLang="zh-CN" i="1" dirty="0">
                <a:sym typeface="Symbol" panose="05050102010706020507" pitchFamily="18" charset="2"/>
              </a:rPr>
              <a:t>T</a:t>
            </a:r>
            <a:r>
              <a:rPr lang="en-US" altLang="zh-CN" dirty="0">
                <a:sym typeface="Symbol" panose="05050102010706020507" pitchFamily="18" charset="2"/>
              </a:rPr>
              <a:t>&lt;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              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xRu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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ySv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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uRx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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vSy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                            </a:t>
            </a:r>
            <a:r>
              <a:rPr lang="en-US" altLang="zh-CN" dirty="0">
                <a:solidFill>
                  <a:srgbClr val="0066FF"/>
                </a:solidFill>
              </a:rPr>
              <a:t> (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xRu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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uRx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) </a:t>
            </a:r>
            <a:r>
              <a:rPr lang="en-US" altLang="zh-CN" dirty="0">
                <a:solidFill>
                  <a:srgbClr val="0066FF"/>
                </a:solidFill>
              </a:rPr>
              <a:t> (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ySv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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vSy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) 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=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u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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=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v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               </a:t>
            </a:r>
            <a:r>
              <a:rPr lang="en-US" altLang="zh-CN" dirty="0"/>
              <a:t> &lt;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&gt;=&lt;</a:t>
            </a:r>
            <a:r>
              <a:rPr lang="en-US" altLang="zh-CN" i="1" dirty="0" err="1">
                <a:sym typeface="Symbol" panose="05050102010706020507" pitchFamily="18" charset="2"/>
              </a:rPr>
              <a:t>u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v</a:t>
            </a:r>
            <a:r>
              <a:rPr lang="en-US" altLang="zh-CN" dirty="0">
                <a:sym typeface="Symbol" panose="05050102010706020507" pitchFamily="18" charset="2"/>
              </a:rPr>
              <a:t>&gt;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3.</a:t>
            </a:r>
            <a:r>
              <a:rPr lang="zh-CN" altLang="en-US" dirty="0">
                <a:sym typeface="Symbol" panose="05050102010706020507" pitchFamily="18" charset="2"/>
              </a:rPr>
              <a:t>传递性  任取</a:t>
            </a:r>
            <a:r>
              <a:rPr lang="en-US" altLang="zh-CN" dirty="0">
                <a:sym typeface="Symbol" panose="05050102010706020507" pitchFamily="18" charset="2"/>
              </a:rPr>
              <a:t>&lt;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&gt;,&lt;</a:t>
            </a:r>
            <a:r>
              <a:rPr lang="en-US" altLang="zh-CN" i="1" dirty="0" err="1">
                <a:sym typeface="Symbol" panose="05050102010706020507" pitchFamily="18" charset="2"/>
              </a:rPr>
              <a:t>u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v</a:t>
            </a:r>
            <a:r>
              <a:rPr lang="en-US" altLang="zh-CN" dirty="0">
                <a:sym typeface="Symbol" panose="05050102010706020507" pitchFamily="18" charset="2"/>
              </a:rPr>
              <a:t>&gt;, &lt;</a:t>
            </a:r>
            <a:r>
              <a:rPr lang="en-US" altLang="zh-CN" i="1" dirty="0" err="1">
                <a:sym typeface="Symbol" panose="05050102010706020507" pitchFamily="18" charset="2"/>
              </a:rPr>
              <a:t>w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t</a:t>
            </a:r>
            <a:r>
              <a:rPr lang="en-US" altLang="zh-CN" dirty="0">
                <a:sym typeface="Symbol" panose="05050102010706020507" pitchFamily="18" charset="2"/>
              </a:rPr>
              <a:t>&gt;, &lt;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&gt;</a:t>
            </a:r>
            <a:r>
              <a:rPr lang="en-US" altLang="zh-CN" i="1" dirty="0">
                <a:sym typeface="Symbol" panose="05050102010706020507" pitchFamily="18" charset="2"/>
              </a:rPr>
              <a:t>T</a:t>
            </a:r>
            <a:r>
              <a:rPr lang="en-US" altLang="zh-CN" dirty="0">
                <a:sym typeface="Symbol" panose="05050102010706020507" pitchFamily="18" charset="2"/>
              </a:rPr>
              <a:t>&lt;</a:t>
            </a:r>
            <a:r>
              <a:rPr lang="en-US" altLang="zh-CN" i="1" dirty="0" err="1">
                <a:sym typeface="Symbol" panose="05050102010706020507" pitchFamily="18" charset="2"/>
              </a:rPr>
              <a:t>u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v</a:t>
            </a:r>
            <a:r>
              <a:rPr lang="en-US" altLang="zh-CN" dirty="0">
                <a:sym typeface="Symbol" panose="05050102010706020507" pitchFamily="18" charset="2"/>
              </a:rPr>
              <a:t>&gt;</a:t>
            </a:r>
            <a:r>
              <a:rPr lang="en-US" altLang="zh-CN" dirty="0"/>
              <a:t>&lt;</a:t>
            </a:r>
            <a:r>
              <a:rPr lang="en-US" altLang="zh-CN" i="1" dirty="0" err="1">
                <a:sym typeface="Symbol" panose="05050102010706020507" pitchFamily="18" charset="2"/>
              </a:rPr>
              <a:t>u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v</a:t>
            </a:r>
            <a:r>
              <a:rPr lang="en-US" altLang="zh-CN" dirty="0">
                <a:sym typeface="Symbol" panose="05050102010706020507" pitchFamily="18" charset="2"/>
              </a:rPr>
              <a:t>&gt;</a:t>
            </a:r>
            <a:r>
              <a:rPr lang="en-US" altLang="zh-CN" i="1" dirty="0">
                <a:sym typeface="Symbol" panose="05050102010706020507" pitchFamily="18" charset="2"/>
              </a:rPr>
              <a:t>T</a:t>
            </a:r>
            <a:r>
              <a:rPr lang="en-US" altLang="zh-CN" dirty="0">
                <a:sym typeface="Symbol" panose="05050102010706020507" pitchFamily="18" charset="2"/>
              </a:rPr>
              <a:t>&lt;</a:t>
            </a:r>
            <a:r>
              <a:rPr lang="en-US" altLang="zh-CN" i="1" dirty="0" err="1">
                <a:sym typeface="Symbol" panose="05050102010706020507" pitchFamily="18" charset="2"/>
              </a:rPr>
              <a:t>w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t</a:t>
            </a:r>
            <a:r>
              <a:rPr lang="en-US" altLang="zh-CN" dirty="0">
                <a:sym typeface="Symbol" panose="05050102010706020507" pitchFamily="18" charset="2"/>
              </a:rPr>
              <a:t>&gt;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          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xRu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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ySv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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uRw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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vSt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                        </a:t>
            </a:r>
            <a:r>
              <a:rPr lang="en-US" altLang="zh-CN" dirty="0">
                <a:solidFill>
                  <a:srgbClr val="0066FF"/>
                </a:solidFill>
              </a:rPr>
              <a:t> (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xRu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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uRw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) </a:t>
            </a:r>
            <a:r>
              <a:rPr lang="en-US" altLang="zh-CN" dirty="0">
                <a:solidFill>
                  <a:srgbClr val="0066FF"/>
                </a:solidFill>
              </a:rPr>
              <a:t> (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ySv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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vSt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) 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xRw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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  <a:sym typeface="Symbol" panose="05050102010706020507" pitchFamily="18" charset="2"/>
              </a:rPr>
              <a:t>ySt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           </a:t>
            </a:r>
            <a:r>
              <a:rPr lang="en-US" altLang="zh-CN" dirty="0"/>
              <a:t> &lt;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&gt;</a:t>
            </a:r>
            <a:r>
              <a:rPr lang="en-US" altLang="zh-CN" i="1" dirty="0">
                <a:sym typeface="Symbol" panose="05050102010706020507" pitchFamily="18" charset="2"/>
              </a:rPr>
              <a:t>T</a:t>
            </a:r>
            <a:r>
              <a:rPr lang="en-US" altLang="zh-CN" dirty="0">
                <a:sym typeface="Symbol" panose="05050102010706020507" pitchFamily="18" charset="2"/>
              </a:rPr>
              <a:t>&lt;</a:t>
            </a:r>
            <a:r>
              <a:rPr lang="en-US" altLang="zh-CN" i="1" dirty="0" err="1">
                <a:sym typeface="Symbol" panose="05050102010706020507" pitchFamily="18" charset="2"/>
              </a:rPr>
              <a:t>w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t</a:t>
            </a:r>
            <a:r>
              <a:rPr lang="en-US" altLang="zh-CN" dirty="0">
                <a:sym typeface="Symbol" panose="05050102010706020507" pitchFamily="18" charset="2"/>
              </a:rPr>
              <a:t>&gt;</a:t>
            </a:r>
            <a:r>
              <a:rPr lang="en-US" altLang="zh-CN" b="0" dirty="0">
                <a:sym typeface="Symbol" panose="05050102010706020507" pitchFamily="18" charset="2"/>
              </a:rPr>
              <a:t>  </a:t>
            </a:r>
          </a:p>
        </p:txBody>
      </p:sp>
      <p:sp>
        <p:nvSpPr>
          <p:cNvPr id="2" name="标题 1"/>
          <p:cNvSpPr txBox="1"/>
          <p:nvPr/>
        </p:nvSpPr>
        <p:spPr>
          <a:xfrm>
            <a:off x="1979613" y="260350"/>
            <a:ext cx="6121400" cy="417513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偏序关系的证明方法及实例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5576" y="636681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ym typeface="Symbol" panose="05050102010706020507" pitchFamily="18" charset="2"/>
              </a:rPr>
              <a:t>因此，</a:t>
            </a:r>
            <a:r>
              <a:rPr lang="en-US" altLang="zh-CN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lang="zh-CN" altLang="en-US" b="1" dirty="0">
                <a:sym typeface="Symbol" panose="05050102010706020507" pitchFamily="18" charset="2"/>
              </a:rPr>
              <a:t>为偏序关系</a:t>
            </a:r>
            <a:r>
              <a:rPr lang="en-US" altLang="zh-CN" b="1" dirty="0">
                <a:sym typeface="Symbol" panose="05050102010706020507" pitchFamily="18" charset="2"/>
              </a:rPr>
              <a:t>.</a:t>
            </a:r>
            <a:endParaRPr lang="zh-CN" altLang="en-US" b="1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233092" y="3356992"/>
            <a:ext cx="8587380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33092" y="4797152"/>
            <a:ext cx="8587380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33092" y="6309320"/>
            <a:ext cx="8587380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F66D64E-B372-4430-B92D-7BF76AB625F2}" type="slidenum">
              <a:rPr lang="en-US" altLang="zh-CN" sz="1400" b="0">
                <a:latin typeface="Arial" panose="020B0604020202020204" pitchFamily="34" charset="0"/>
              </a:rPr>
              <a:t>153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7.7 </a:t>
            </a:r>
            <a:r>
              <a:rPr lang="zh-CN" altLang="en-US">
                <a:latin typeface="华文中宋" panose="02010600040101010101" pitchFamily="2" charset="-122"/>
              </a:rPr>
              <a:t>偏序关系（回顾）</a:t>
            </a:r>
            <a:r>
              <a:rPr lang="zh-CN" altLang="en-US"/>
              <a:t> </a:t>
            </a:r>
          </a:p>
        </p:txBody>
      </p:sp>
      <p:sp>
        <p:nvSpPr>
          <p:cNvPr id="32772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偏序关系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/>
              <a:t>     偏序关系的定义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/>
              <a:t>     偏序关系的实例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偏序集与哈斯图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偏序集中的特殊元素及其性质</a:t>
            </a:r>
          </a:p>
          <a:p>
            <a:pPr eaLnBrk="1" hangingPunct="1"/>
            <a:r>
              <a:rPr lang="zh-CN" altLang="en-US">
                <a:solidFill>
                  <a:srgbClr val="0066FF"/>
                </a:solidFill>
              </a:rPr>
              <a:t>     极大元、极小元、</a:t>
            </a:r>
            <a:endParaRPr lang="en-US" altLang="zh-CN">
              <a:solidFill>
                <a:srgbClr val="0066FF"/>
              </a:solidFill>
            </a:endParaRPr>
          </a:p>
          <a:p>
            <a:pPr eaLnBrk="1" hangingPunct="1"/>
            <a:r>
              <a:rPr lang="en-US" altLang="zh-CN">
                <a:solidFill>
                  <a:srgbClr val="0066FF"/>
                </a:solidFill>
              </a:rPr>
              <a:t>     </a:t>
            </a:r>
            <a:r>
              <a:rPr lang="zh-CN" altLang="en-US">
                <a:solidFill>
                  <a:srgbClr val="0066FF"/>
                </a:solidFill>
              </a:rPr>
              <a:t>最大元、最小元；</a:t>
            </a:r>
          </a:p>
          <a:p>
            <a:pPr eaLnBrk="1" hangingPunct="1"/>
            <a:r>
              <a:rPr lang="zh-CN" altLang="en-US"/>
              <a:t>     </a:t>
            </a:r>
            <a:r>
              <a:rPr lang="zh-CN" altLang="en-US">
                <a:solidFill>
                  <a:srgbClr val="7030A0"/>
                </a:solidFill>
              </a:rPr>
              <a:t>上界、下界、</a:t>
            </a:r>
            <a:endParaRPr lang="en-US" altLang="zh-CN">
              <a:solidFill>
                <a:srgbClr val="7030A0"/>
              </a:solidFill>
            </a:endParaRPr>
          </a:p>
          <a:p>
            <a:pPr eaLnBrk="1" hangingPunct="1"/>
            <a:r>
              <a:rPr lang="en-US" altLang="zh-CN">
                <a:solidFill>
                  <a:srgbClr val="7030A0"/>
                </a:solidFill>
              </a:rPr>
              <a:t>     </a:t>
            </a:r>
            <a:r>
              <a:rPr lang="zh-CN" altLang="en-US">
                <a:solidFill>
                  <a:srgbClr val="7030A0"/>
                </a:solidFill>
              </a:rPr>
              <a:t>最小上界、最大下界</a:t>
            </a:r>
            <a:r>
              <a:rPr lang="en-US" altLang="zh-CN">
                <a:solidFill>
                  <a:srgbClr val="7030A0"/>
                </a:solidFill>
              </a:rPr>
              <a:t>.</a:t>
            </a:r>
            <a:endParaRPr lang="zh-CN" altLang="en-US"/>
          </a:p>
        </p:txBody>
      </p:sp>
    </p:spTree>
  </p:cSld>
  <p:clrMapOvr>
    <a:masterClrMapping/>
  </p:clrMapOvr>
  <p:transition spd="slow">
    <p:fade/>
  </p:transition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ABD6C9-DE68-4A3D-9374-665FBA489F0F}" type="slidenum">
              <a:rPr lang="en-US" altLang="zh-CN" sz="1400" b="0" smtClean="0">
                <a:latin typeface="Arial" panose="020B0604020202020204" pitchFamily="34" charset="0"/>
              </a:rPr>
              <a:t>154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410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进阶例题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580112" y="44624"/>
            <a:ext cx="1135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  <a:sym typeface="Webdings" panose="05030102010509060703" pitchFamily="18" charset="2"/>
              </a:rPr>
              <a:t>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544" y="1412776"/>
            <a:ext cx="8352928" cy="4461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宋体" panose="02010600030101010101" pitchFamily="2" charset="-122"/>
              </a:rPr>
              <a:t>例：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对于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偏序集</a:t>
            </a: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&lt;N, </a:t>
            </a:r>
            <a:r>
              <a:rPr lang="fr-FR" altLang="zh-CN" b="1" kern="0" dirty="0">
                <a:effectLst/>
                <a:latin typeface="inherit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fr-FR" altLang="zh-CN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，其中</a:t>
            </a: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是自然数集合，</a:t>
            </a:r>
            <a:r>
              <a:rPr lang="fr-FR" altLang="zh-CN" b="1" kern="0" dirty="0">
                <a:latin typeface="inherit"/>
                <a:cs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为普通的小于等于关系，对于</a:t>
            </a: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任意非空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子集</a:t>
            </a:r>
            <a:r>
              <a:rPr lang="en-US" altLang="zh-CN" sz="24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，下面</a:t>
            </a:r>
            <a:r>
              <a:rPr lang="zh-CN" altLang="en-US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那些命题为真？</a:t>
            </a:r>
            <a:endParaRPr lang="zh-CN" altLang="zh-CN" sz="18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lang="en-US" altLang="zh-CN" sz="24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中的极大元一定存在；</a:t>
            </a:r>
            <a:endParaRPr lang="zh-CN" altLang="zh-CN" sz="18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②</a:t>
            </a: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的上确界不一定存在；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18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③</a:t>
            </a: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中的极大元可能多于</a:t>
            </a: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个；</a:t>
            </a:r>
            <a:endParaRPr lang="zh-CN" altLang="zh-CN" sz="18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④</a:t>
            </a: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的极小元，则</a:t>
            </a:r>
            <a:r>
              <a:rPr lang="en-US" altLang="zh-CN" sz="24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也为</a:t>
            </a:r>
            <a:r>
              <a:rPr lang="en-US" altLang="zh-CN" sz="24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的最小元；</a:t>
            </a:r>
            <a:endParaRPr lang="zh-CN" altLang="zh-CN" sz="18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⑤</a:t>
            </a: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的极小元，则</a:t>
            </a:r>
            <a:r>
              <a:rPr lang="en-US" altLang="zh-CN" sz="24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也为</a:t>
            </a:r>
            <a:r>
              <a:rPr lang="en-US" altLang="zh-CN" sz="24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的下确界；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18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⑥</a:t>
            </a: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的下界一定存在。</a:t>
            </a:r>
            <a:endParaRPr lang="zh-CN" altLang="zh-CN" sz="18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8172" y="3198018"/>
            <a:ext cx="4333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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8172" y="4304961"/>
            <a:ext cx="4333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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8172" y="4858433"/>
            <a:ext cx="4333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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8172" y="5398618"/>
            <a:ext cx="4333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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AEEE7B1-9683-4296-B062-E8EA6FC7082B}" type="slidenum">
              <a:rPr lang="en-US" altLang="zh-CN" sz="1400" b="0">
                <a:latin typeface="Arial" panose="020B0604020202020204" pitchFamily="34" charset="0"/>
              </a:rPr>
              <a:t>155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4924425"/>
          </a:xfrm>
        </p:spPr>
        <p:txBody>
          <a:bodyPr/>
          <a:lstStyle/>
          <a:p>
            <a:pPr marL="361950" indent="-361950" eaLnBrk="1" hangingPunct="1">
              <a:buClr>
                <a:srgbClr val="FF9900"/>
              </a:buClr>
            </a:pPr>
            <a:r>
              <a:rPr lang="zh-CN" altLang="en-US" dirty="0"/>
              <a:t>主要内容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7.1 </a:t>
            </a:r>
            <a:r>
              <a:rPr lang="zh-CN" altLang="en-US" dirty="0"/>
              <a:t>有序对与笛卡儿积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7.2 </a:t>
            </a:r>
            <a:r>
              <a:rPr lang="zh-CN" altLang="en-US" dirty="0"/>
              <a:t>二元关系的定义与表示法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7.3 </a:t>
            </a:r>
            <a:r>
              <a:rPr lang="zh-CN" altLang="en-US" dirty="0"/>
              <a:t>关系的运算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7.4 </a:t>
            </a:r>
            <a:r>
              <a:rPr lang="zh-CN" altLang="en-US" dirty="0"/>
              <a:t>关系的性质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7.5 </a:t>
            </a:r>
            <a:r>
              <a:rPr lang="zh-CN" altLang="en-US" dirty="0"/>
              <a:t>关系的闭包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7.6 </a:t>
            </a:r>
            <a:r>
              <a:rPr lang="zh-CN" altLang="en-US" dirty="0"/>
              <a:t>等价关系与划分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7.7 </a:t>
            </a:r>
            <a:r>
              <a:rPr lang="zh-CN" altLang="en-US" dirty="0"/>
              <a:t>偏序关系</a:t>
            </a:r>
          </a:p>
          <a:p>
            <a:pPr marL="361950" indent="-361950" eaLnBrk="1" hangingPunct="1"/>
            <a:endParaRPr lang="en-US" altLang="zh-CN" dirty="0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 dirty="0">
                <a:latin typeface="华文中宋" panose="02010600040101010101" pitchFamily="2" charset="-122"/>
              </a:rPr>
              <a:t>第七章 二元关系（回顾）</a:t>
            </a:r>
          </a:p>
        </p:txBody>
      </p:sp>
    </p:spTree>
  </p:cSld>
  <p:clrMapOvr>
    <a:masterClrMapping/>
  </p:clrMapOvr>
  <p:transition spd="slow">
    <p:fade/>
  </p:transition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5AB60EE-C2CB-49A3-80FF-983FAF0F425A}" type="slidenum">
              <a:rPr lang="en-US" altLang="zh-CN" sz="1400" b="0" smtClean="0">
                <a:latin typeface="Arial" panose="020B0604020202020204" pitchFamily="34" charset="0"/>
              </a:rPr>
              <a:t>156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819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进阶例题</a:t>
            </a:r>
          </a:p>
        </p:txBody>
      </p:sp>
      <p:graphicFrame>
        <p:nvGraphicFramePr>
          <p:cNvPr id="11" name="Group 35"/>
          <p:cNvGraphicFramePr>
            <a:graphicFrameLocks noGrp="1"/>
          </p:cNvGraphicFramePr>
          <p:nvPr/>
        </p:nvGraphicFramePr>
        <p:xfrm>
          <a:off x="1861123" y="4491582"/>
          <a:ext cx="5040312" cy="1928811"/>
        </p:xfrm>
        <a:graphic>
          <a:graphicData uri="http://schemas.openxmlformats.org/drawingml/2006/table">
            <a:tbl>
              <a:tblPr/>
              <a:tblGrid>
                <a:gridCol w="1260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6946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R</a:t>
                      </a:r>
                    </a:p>
                  </a:txBody>
                  <a:tcPr marL="91436" marR="91436"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r(R)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s(R)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t(R)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9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自反的</a:t>
                      </a:r>
                    </a:p>
                  </a:txBody>
                  <a:tcPr marL="91436" marR="91436"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35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对称的</a:t>
                      </a:r>
                    </a:p>
                  </a:txBody>
                  <a:tcPr marL="91436" marR="91436"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416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传递的</a:t>
                      </a:r>
                    </a:p>
                  </a:txBody>
                  <a:tcPr marL="91436" marR="91436"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40000"/>
                        </a:spcBef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40000"/>
                        </a:spcBef>
                        <a:buClr>
                          <a:srgbClr val="8DACD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marL="91436" marR="91436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580112" y="44624"/>
            <a:ext cx="1135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  <a:sym typeface="Webdings" panose="05030102010509060703" pitchFamily="18" charset="2"/>
              </a:rPr>
              <a:t>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758" y="1170188"/>
            <a:ext cx="8611042" cy="2792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tabLst>
                <a:tab pos="533400" algn="l"/>
              </a:tabLst>
            </a:pPr>
            <a:r>
              <a:rPr lang="zh-CN" altLang="en-US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例：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fr-FR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fr-FR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上的二元关系，则下列阐述中正确的是：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endParaRPr lang="zh-CN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533400" algn="just">
              <a:lnSpc>
                <a:spcPct val="150000"/>
              </a:lnSpc>
            </a:pP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①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str(</a:t>
            </a:r>
            <a:r>
              <a:rPr lang="fr-FR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一定是</a:t>
            </a:r>
            <a:r>
              <a:rPr lang="en-US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上的等价关系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533400" algn="just">
              <a:lnSpc>
                <a:spcPct val="150000"/>
              </a:lnSpc>
            </a:pP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②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str(</a:t>
            </a:r>
            <a:r>
              <a:rPr lang="fr-FR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一定不是</a:t>
            </a:r>
            <a:r>
              <a:rPr lang="en-US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上的偏序关系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zh-CN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533400" algn="just">
              <a:lnSpc>
                <a:spcPct val="150000"/>
              </a:lnSpc>
            </a:pP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③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tsr(</a:t>
            </a:r>
            <a:r>
              <a:rPr lang="fr-FR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一定是</a:t>
            </a:r>
            <a:r>
              <a:rPr lang="en-US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上的等价关系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533400" algn="just">
              <a:lnSpc>
                <a:spcPct val="150000"/>
              </a:lnSpc>
            </a:pP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④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tsr(</a:t>
            </a:r>
            <a:r>
              <a:rPr lang="fr-FR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fr-FR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一定不是</a:t>
            </a:r>
            <a:r>
              <a:rPr lang="en-US" altLang="zh-CN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上的偏序关系</a:t>
            </a:r>
            <a:r>
              <a:rPr lang="en-US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zh-CN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22188" y="2967037"/>
            <a:ext cx="4333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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34000" y="184685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反例：</a:t>
            </a:r>
            <a:r>
              <a:rPr lang="en-US" altLang="zh-CN" sz="1800" b="0" i="0" dirty="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R = {&lt;1,3&gt;,&lt;1,2&gt;}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17266</Words>
  <Application>Microsoft Office PowerPoint</Application>
  <PresentationFormat>全屏显示(4:3)</PresentationFormat>
  <Paragraphs>1834</Paragraphs>
  <Slides>156</Slides>
  <Notes>123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156</vt:i4>
      </vt:variant>
    </vt:vector>
  </HeadingPairs>
  <TitlesOfParts>
    <vt:vector size="179" baseType="lpstr">
      <vt:lpstr>Arial Unicode MS</vt:lpstr>
      <vt:lpstr>inherit</vt:lpstr>
      <vt:lpstr>Monotype Sorts</vt:lpstr>
      <vt:lpstr>黑体</vt:lpstr>
      <vt:lpstr>华文中宋</vt:lpstr>
      <vt:lpstr>楷体_GB2312</vt:lpstr>
      <vt:lpstr>隶书</vt:lpstr>
      <vt:lpstr>宋体</vt:lpstr>
      <vt:lpstr>微软雅黑</vt:lpstr>
      <vt:lpstr>Arial</vt:lpstr>
      <vt:lpstr>Arial Narrow</vt:lpstr>
      <vt:lpstr>Calibri</vt:lpstr>
      <vt:lpstr>Cambria Math</vt:lpstr>
      <vt:lpstr>Lucida Sans Unicode</vt:lpstr>
      <vt:lpstr>Symbol</vt:lpstr>
      <vt:lpstr>Tahoma</vt:lpstr>
      <vt:lpstr>Times New Roman</vt:lpstr>
      <vt:lpstr>Webdings</vt:lpstr>
      <vt:lpstr>Wingdings</vt:lpstr>
      <vt:lpstr>默认设计模板</vt:lpstr>
      <vt:lpstr>公式</vt:lpstr>
      <vt:lpstr>Equation</vt:lpstr>
      <vt:lpstr>文档</vt:lpstr>
      <vt:lpstr>第七章 二元关系</vt:lpstr>
      <vt:lpstr>第七章 二元关系</vt:lpstr>
      <vt:lpstr>7.1 有序对与笛卡儿积</vt:lpstr>
      <vt:lpstr>笛卡儿积</vt:lpstr>
      <vt:lpstr>笛卡儿积的性质</vt:lpstr>
      <vt:lpstr>性质证明</vt:lpstr>
      <vt:lpstr>实例</vt:lpstr>
      <vt:lpstr>第七章 二元关系</vt:lpstr>
      <vt:lpstr>7.2 二元关系</vt:lpstr>
      <vt:lpstr>A到B的关系与A上的关系</vt:lpstr>
      <vt:lpstr>A到B的关系与A上的关系</vt:lpstr>
      <vt:lpstr>A上重要关系的实例</vt:lpstr>
      <vt:lpstr>A上重要关系的实例</vt:lpstr>
      <vt:lpstr>关系的表示</vt:lpstr>
      <vt:lpstr>实例</vt:lpstr>
      <vt:lpstr>第七章 二元关系</vt:lpstr>
      <vt:lpstr>7.3 关系的运算</vt:lpstr>
      <vt:lpstr>关系运算(逆与复合)</vt:lpstr>
      <vt:lpstr>关系运算(逆与复合)</vt:lpstr>
      <vt:lpstr>复合运算的图示法</vt:lpstr>
      <vt:lpstr>关系运算(限制与像)</vt:lpstr>
      <vt:lpstr>实例</vt:lpstr>
      <vt:lpstr>关系运算的性质</vt:lpstr>
      <vt:lpstr>关系运算的性质</vt:lpstr>
      <vt:lpstr>证明</vt:lpstr>
      <vt:lpstr>关系运算的性质</vt:lpstr>
      <vt:lpstr>关系运算的性质</vt:lpstr>
      <vt:lpstr>推广</vt:lpstr>
      <vt:lpstr>关系运算的性质</vt:lpstr>
      <vt:lpstr>证明</vt:lpstr>
      <vt:lpstr>证明</vt:lpstr>
      <vt:lpstr>关系的幂运算</vt:lpstr>
      <vt:lpstr>用关系矩阵求关系的幂</vt:lpstr>
      <vt:lpstr>上例（续）</vt:lpstr>
      <vt:lpstr>用关系图求关系的幂</vt:lpstr>
      <vt:lpstr> </vt:lpstr>
      <vt:lpstr>求关系的幂（续）</vt:lpstr>
      <vt:lpstr>求关系的幂（续）</vt:lpstr>
      <vt:lpstr>例</vt:lpstr>
      <vt:lpstr>R1</vt:lpstr>
      <vt:lpstr>R2</vt:lpstr>
      <vt:lpstr>R3</vt:lpstr>
      <vt:lpstr>R4</vt:lpstr>
      <vt:lpstr>幂运算的性质</vt:lpstr>
      <vt:lpstr>用实例理解关系的幂运算</vt:lpstr>
      <vt:lpstr>进阶例题</vt:lpstr>
      <vt:lpstr>幂运算的性质</vt:lpstr>
      <vt:lpstr>证明(续)</vt:lpstr>
      <vt:lpstr>幂运算的性质</vt:lpstr>
      <vt:lpstr>证明</vt:lpstr>
      <vt:lpstr>第七章 二元关系</vt:lpstr>
      <vt:lpstr>7.4 关系的性质 </vt:lpstr>
      <vt:lpstr>自反性与反自反性</vt:lpstr>
      <vt:lpstr>例: 已知X={a,b,c}, 下面关系哪些是自反的?</vt:lpstr>
      <vt:lpstr>例: 已知X={a,b,c}, 下面关系哪些是反自反的?</vt:lpstr>
      <vt:lpstr>自反性与反自反性</vt:lpstr>
      <vt:lpstr>对称性与反对称性</vt:lpstr>
      <vt:lpstr>例: 已知X={a,b,c}, 下面关系哪些是对称的?</vt:lpstr>
      <vt:lpstr>例: 已知X={a,b,c}, 下面关系哪些是反对称的?</vt:lpstr>
      <vt:lpstr>问题</vt:lpstr>
      <vt:lpstr>问题</vt:lpstr>
      <vt:lpstr>传递性</vt:lpstr>
      <vt:lpstr>例: 已知X={a,b,c}, 下面关系哪些是传递的?</vt:lpstr>
      <vt:lpstr>R1</vt:lpstr>
      <vt:lpstr>R2</vt:lpstr>
      <vt:lpstr>R3</vt:lpstr>
      <vt:lpstr>R4</vt:lpstr>
      <vt:lpstr>R5</vt:lpstr>
      <vt:lpstr>R6</vt:lpstr>
      <vt:lpstr>R7</vt:lpstr>
      <vt:lpstr>R8</vt:lpstr>
      <vt:lpstr>总结</vt:lpstr>
      <vt:lpstr>进阶例题</vt:lpstr>
      <vt:lpstr>关系性质成立的充要条件</vt:lpstr>
      <vt:lpstr>证明</vt:lpstr>
      <vt:lpstr>证明</vt:lpstr>
      <vt:lpstr>证明</vt:lpstr>
      <vt:lpstr>证明</vt:lpstr>
      <vt:lpstr>PowerPoint 演示文稿</vt:lpstr>
      <vt:lpstr>PowerPoint 演示文稿</vt:lpstr>
      <vt:lpstr>PowerPoint 演示文稿</vt:lpstr>
      <vt:lpstr>第七章 二元关系</vt:lpstr>
      <vt:lpstr>7.5 关系的闭包 </vt:lpstr>
      <vt:lpstr>闭包定义</vt:lpstr>
      <vt:lpstr>闭包的构造方法</vt:lpstr>
      <vt:lpstr>闭包的构造方法之集合表示</vt:lpstr>
      <vt:lpstr>证明</vt:lpstr>
      <vt:lpstr>证明</vt:lpstr>
      <vt:lpstr>证明</vt:lpstr>
      <vt:lpstr>闭包的构造方法之矩阵表示</vt:lpstr>
      <vt:lpstr>闭包的构造方法之图表示</vt:lpstr>
      <vt:lpstr> 例 已知集合 X 与关系 R,试求 r(R) s(R)  t(R)</vt:lpstr>
      <vt:lpstr>例（续）s(R)</vt:lpstr>
      <vt:lpstr>  例（续） t(R)</vt:lpstr>
      <vt:lpstr>例 已知集合 X 和关系 R, 试求 t(R)</vt:lpstr>
      <vt:lpstr>实例</vt:lpstr>
      <vt:lpstr>Warshall算法</vt:lpstr>
      <vt:lpstr>例4 用Warshall算法求传递闭包</vt:lpstr>
      <vt:lpstr>例4 用Warshall算法求传递闭包</vt:lpstr>
      <vt:lpstr>例4（续）</vt:lpstr>
      <vt:lpstr>例4（续）</vt:lpstr>
      <vt:lpstr>例4（续）</vt:lpstr>
      <vt:lpstr>例4（续）</vt:lpstr>
      <vt:lpstr>例4（续）</vt:lpstr>
      <vt:lpstr>例4（续）</vt:lpstr>
      <vt:lpstr>闭包的性质</vt:lpstr>
      <vt:lpstr>PowerPoint 演示文稿</vt:lpstr>
      <vt:lpstr>闭包的性质</vt:lpstr>
      <vt:lpstr>闭包的性质</vt:lpstr>
      <vt:lpstr>试证性质：st(R)  ts(R) </vt:lpstr>
      <vt:lpstr>7.5 关系的闭包（回顾） </vt:lpstr>
      <vt:lpstr>第七章 二元关系</vt:lpstr>
      <vt:lpstr>7.6 等价关系与划分 </vt:lpstr>
      <vt:lpstr>等价关系的定义与实例</vt:lpstr>
      <vt:lpstr>等价关系的定义与实例</vt:lpstr>
      <vt:lpstr>PowerPoint 演示文稿</vt:lpstr>
      <vt:lpstr>等价类定义 </vt:lpstr>
      <vt:lpstr>等价类的性质</vt:lpstr>
      <vt:lpstr>等价类的性质</vt:lpstr>
      <vt:lpstr>等价类的性质</vt:lpstr>
      <vt:lpstr>证明</vt:lpstr>
      <vt:lpstr>证明</vt:lpstr>
      <vt:lpstr>商集与划分</vt:lpstr>
      <vt:lpstr>商集与划分</vt:lpstr>
      <vt:lpstr>划分实例</vt:lpstr>
      <vt:lpstr>等价关系与划分</vt:lpstr>
      <vt:lpstr>实例</vt:lpstr>
      <vt:lpstr>实例（续）</vt:lpstr>
      <vt:lpstr>PowerPoint 演示文稿</vt:lpstr>
      <vt:lpstr>进阶例题</vt:lpstr>
      <vt:lpstr>等价关系的证明方法及实例</vt:lpstr>
      <vt:lpstr>等价关系的证明方法及实例</vt:lpstr>
      <vt:lpstr>等价关系的证明方法及实例</vt:lpstr>
      <vt:lpstr>7.6 等价关系与划分（回顾） </vt:lpstr>
      <vt:lpstr>第七章 二元关系</vt:lpstr>
      <vt:lpstr>7.7 偏序关系 </vt:lpstr>
      <vt:lpstr>定义与实例</vt:lpstr>
      <vt:lpstr>相关概念</vt:lpstr>
      <vt:lpstr>相关概念</vt:lpstr>
      <vt:lpstr>偏序集与哈斯图</vt:lpstr>
      <vt:lpstr>偏序集与哈斯图</vt:lpstr>
      <vt:lpstr>实例</vt:lpstr>
      <vt:lpstr>哈斯图与关系图</vt:lpstr>
      <vt:lpstr>实例</vt:lpstr>
      <vt:lpstr>偏序集中的特殊元素 </vt:lpstr>
      <vt:lpstr>偏序集中的特殊元素 </vt:lpstr>
      <vt:lpstr>实例</vt:lpstr>
      <vt:lpstr>实例</vt:lpstr>
      <vt:lpstr>实例：  &lt;{1,2,…,12}, R整除&gt;</vt:lpstr>
      <vt:lpstr>偏序关系的证明方法及实例</vt:lpstr>
      <vt:lpstr>偏序关系的证明方法及实例</vt:lpstr>
      <vt:lpstr>PowerPoint 演示文稿</vt:lpstr>
      <vt:lpstr>7.7 偏序关系（回顾） </vt:lpstr>
      <vt:lpstr>进阶例题</vt:lpstr>
      <vt:lpstr>第七章 二元关系（回顾）</vt:lpstr>
      <vt:lpstr>进阶例题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zhenyanliu@bit.edu.cn</cp:lastModifiedBy>
  <cp:revision>540</cp:revision>
  <dcterms:created xsi:type="dcterms:W3CDTF">2007-11-19T20:33:00Z</dcterms:created>
  <dcterms:modified xsi:type="dcterms:W3CDTF">2025-10-30T03:57:37Z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A0F1EF193A274C15ADEF37F404457D31_13</vt:lpwstr>
  </property>
  <property fmtid="{D5CDD505-2E9C-101B-9397-08002B2CF9AE}" pid="3" name="KSOProductBuildVer">
    <vt:lpwstr>2052-12.1.0.22529</vt:lpwstr>
  </property>
</Properties>
</file>