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79" r:id="rId2"/>
    <p:sldId id="281" r:id="rId3"/>
    <p:sldId id="283" r:id="rId4"/>
    <p:sldId id="284" r:id="rId5"/>
    <p:sldId id="290" r:id="rId6"/>
    <p:sldId id="289" r:id="rId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A50021"/>
    <a:srgbClr val="69B3F1"/>
    <a:srgbClr val="FF9900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73" autoAdjust="0"/>
    <p:restoredTop sz="86695" autoAdjust="0"/>
  </p:normalViewPr>
  <p:slideViewPr>
    <p:cSldViewPr>
      <p:cViewPr varScale="1">
        <p:scale>
          <a:sx n="99" d="100"/>
          <a:sy n="99" d="100"/>
        </p:scale>
        <p:origin x="199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127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FB9DBF42-2CFD-4614-9F34-8AB274D0ADB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DE367DC8-FDCF-4C2E-B349-6F77B64889E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20484" name="Rectangle 4">
            <a:extLst>
              <a:ext uri="{FF2B5EF4-FFF2-40B4-BE49-F238E27FC236}">
                <a16:creationId xmlns:a16="http://schemas.microsoft.com/office/drawing/2014/main" id="{CE905F72-01F7-4A9A-933C-C75DB6A7CD67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67F937D3-7BFD-482E-9797-D8C8AFC420F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C0D1D0A-1D61-4022-98F3-44A0479AD4D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9E31B4F-3883-4B7E-93DF-3E3D632F3D1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0389DE6C-F452-4A39-9646-EBAE3486AD42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CE2670C3-8AA8-401B-969F-ABBC1BE7575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796F6C2D-88AD-474A-9184-2F448A3BD09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ECDC2E00-0182-4DEA-A44B-7DD4F26B698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A5EE1FB4-C631-4AD3-81DB-F1216F85E1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D9C61B0-DCBC-41E2-96BB-02302D10E85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0A5C016-164C-4686-95BD-C5CB5AA4A8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FB995D-B265-46E5-880C-0D218D734920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412674" name="Rectangle 2">
            <a:extLst>
              <a:ext uri="{FF2B5EF4-FFF2-40B4-BE49-F238E27FC236}">
                <a16:creationId xmlns:a16="http://schemas.microsoft.com/office/drawing/2014/main" id="{989C5C12-8079-403C-9051-AB6F090AE2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2675" name="Rectangle 3">
            <a:extLst>
              <a:ext uri="{FF2B5EF4-FFF2-40B4-BE49-F238E27FC236}">
                <a16:creationId xmlns:a16="http://schemas.microsoft.com/office/drawing/2014/main" id="{A653AD9A-0297-42C6-9519-6AA25B1E85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B7FDFE00-9448-4DB8-81F6-46A7AF5CE6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93927E2-0AA9-44C4-B5F6-0CF0051F03F5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416770" name="Rectangle 2">
            <a:extLst>
              <a:ext uri="{FF2B5EF4-FFF2-40B4-BE49-F238E27FC236}">
                <a16:creationId xmlns:a16="http://schemas.microsoft.com/office/drawing/2014/main" id="{8204D9B5-ED10-4083-9DE7-F9B0DC9EBE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6771" name="Rectangle 3">
            <a:extLst>
              <a:ext uri="{FF2B5EF4-FFF2-40B4-BE49-F238E27FC236}">
                <a16:creationId xmlns:a16="http://schemas.microsoft.com/office/drawing/2014/main" id="{74D0F3F2-C9A9-4A18-A77A-86A063DAB6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AEBD1065-21B2-4A7A-A6B4-48143933FE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18C9139-E751-490F-B83C-CB710F6B640F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420866" name="Rectangle 2">
            <a:extLst>
              <a:ext uri="{FF2B5EF4-FFF2-40B4-BE49-F238E27FC236}">
                <a16:creationId xmlns:a16="http://schemas.microsoft.com/office/drawing/2014/main" id="{2C6BA8CC-E2D5-470D-8C9F-F1A42FB3F8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0867" name="Rectangle 3">
            <a:extLst>
              <a:ext uri="{FF2B5EF4-FFF2-40B4-BE49-F238E27FC236}">
                <a16:creationId xmlns:a16="http://schemas.microsoft.com/office/drawing/2014/main" id="{689F52B5-12AB-4F8C-B70E-6913A8956F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17.10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推论 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）阶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条边的简单平面图，则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1AE7EE57-8097-4517-AAC0-9CFF355DB7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B04194-DFB0-4042-B1DB-749122B7DE8B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422914" name="Rectangle 2">
            <a:extLst>
              <a:ext uri="{FF2B5EF4-FFF2-40B4-BE49-F238E27FC236}">
                <a16:creationId xmlns:a16="http://schemas.microsoft.com/office/drawing/2014/main" id="{78F3CD7A-B6BE-4728-AC34-30F8C909E8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22915" name="Rectangle 3">
            <a:extLst>
              <a:ext uri="{FF2B5EF4-FFF2-40B4-BE49-F238E27FC236}">
                <a16:creationId xmlns:a16="http://schemas.microsoft.com/office/drawing/2014/main" id="{B0387860-F98C-4928-B90B-953EA72BA3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574C2B1-E918-434F-8308-B2ED37CE02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B01325-821F-4893-8508-26AEF3500DB9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433154" name="Rectangle 2">
            <a:extLst>
              <a:ext uri="{FF2B5EF4-FFF2-40B4-BE49-F238E27FC236}">
                <a16:creationId xmlns:a16="http://schemas.microsoft.com/office/drawing/2014/main" id="{CE26A7D5-8234-454F-B3C6-A1B1D8A0C8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3155" name="Rectangle 3">
            <a:extLst>
              <a:ext uri="{FF2B5EF4-FFF2-40B4-BE49-F238E27FC236}">
                <a16:creationId xmlns:a16="http://schemas.microsoft.com/office/drawing/2014/main" id="{9CAFB25C-279E-4C41-B12C-B855431ACE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624864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F574C2B1-E918-434F-8308-B2ED37CE02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EB01325-821F-4893-8508-26AEF3500DB9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433154" name="Rectangle 2">
            <a:extLst>
              <a:ext uri="{FF2B5EF4-FFF2-40B4-BE49-F238E27FC236}">
                <a16:creationId xmlns:a16="http://schemas.microsoft.com/office/drawing/2014/main" id="{CE26A7D5-8234-454F-B3C6-A1B1D8A0C8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3155" name="Rectangle 3">
            <a:extLst>
              <a:ext uri="{FF2B5EF4-FFF2-40B4-BE49-F238E27FC236}">
                <a16:creationId xmlns:a16="http://schemas.microsoft.com/office/drawing/2014/main" id="{9CAFB25C-279E-4C41-B12C-B855431ACE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11A25-0F8A-40CE-8B4B-D04CD866B2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4036832-BDA5-41F9-B9C9-52392CF699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1BEDDC-6009-4125-9FD2-526263527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BC2057-0A5C-4181-8C1D-69A0931FF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F2AC05-A658-4DDD-810B-AB874142B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652A23-AFCC-4728-9E23-F700585DB4F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2585355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96C97A-B284-449E-9D00-460A1D00A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89A61-4D63-4956-81DB-BE4E43460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DB9CCF-5F27-42CE-9912-7E0DCD25C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F0D690-FA48-414D-9813-64B227015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D9464C-DA48-4B6A-B786-B3F333397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2B33F6-4451-40FB-9874-5FAFD162616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3535598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EC9941-16B5-42CC-8106-6081E41B7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B4125F-50E1-4777-A01C-2D127DBFB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F721E5-C483-47F1-91F6-602F65BB8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7E26A6-1FEA-43EB-A871-48495CF68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FCC539-B079-4ECF-A752-5798519D4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C0BC80-1632-4561-BCE0-F73F8E12D78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9202499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8EB2DF-3E5A-4C3C-9C79-F9B17E234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5960D1-7ABD-4832-BEC7-96E33D6C8A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B4B5128-B746-492A-8CA3-CDC8DE434C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ABFAF0-EA85-4C87-9065-9D29B1F5F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8901A3-AC62-4A47-8A6D-9279A016B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D729770-195F-48F6-B42D-A44B0F83F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F49BB4-07C0-4343-B27D-21E9C6D63DA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0097237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D21D51-3851-45FA-86DA-5F7FF88BD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ED401D-7415-4D8A-8763-6CEC5DB0D9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9E2FB8E-937E-4CD7-AC25-B330B5D701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8E7DA29-083C-4DD4-A6A7-9FCD9ACFF4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03901F3-DEE0-4A59-A3AE-FD34A6ABB9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C2AE095-9FED-4BF3-8EA8-EB86DF2CD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A9DD301-AC71-47D6-A76A-E3ABF3801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E1B92AF-A64D-4326-A076-21A6358CE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7A26A2-3F89-4E61-8C4E-52C00CA92E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3288003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8BA98F-47A6-4089-A085-614AEA57E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3E60D15-B81A-4340-B314-AE34AE469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9B0A8C8-3CEC-444E-B876-35E07035B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4253E8D-B982-4C24-A067-679C290EC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4B0DE8-152E-4255-ABFB-22A79354877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2180779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F6650FC-6B37-4CC1-AAEF-918599297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42C41CA-00F2-48E9-808E-9BC5420A0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E759AF-FBFC-4BC0-A847-67AA29FC5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89D218-A6F7-49E5-B0AD-A78F7A5E1FC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1335351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A71F14-8D71-4069-840F-2FA03A7F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FE8FEF-1FEC-434C-A993-7D8624B14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AE59A8F-B52B-46C4-8337-BC03B6794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6AA5C6-A8F3-4F4D-899F-87C9BE766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85701E-1D00-49C6-9A86-82A1533E5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D81439-7690-4618-B94E-7D7F9944F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E987F1-EBEF-42EA-9FF0-0F9B8A38E2F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521549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A28F84-BAB9-4F2D-8842-1E1B6E020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09B3742-9AEF-4F69-9448-BEC792C53A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125DB7-2C7B-49B3-AE7F-33712DA3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934FF5-793D-4C7E-A00A-24C50A753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62081C-6254-48A9-8AC2-73D6A4E9C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0F1D6F0-B0A4-4ADB-A226-9AAAABF82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4A95BA-F90C-4606-8740-7C440F56CC1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0641764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6FF7D7-DDBE-4585-BD2B-D874D73AC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E26D38-2416-4F53-A5EA-37BB3E996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565931-7F97-4B2E-B1E5-FC58B702D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682F4B-F984-4DC0-905B-EA09B1316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A17923-5366-4EA4-85AB-9D3C6676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6854C8-9CFF-4E45-8B7D-A794A287BC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9742823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D912FED-002F-4823-ADB1-923909A733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5865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A2D722-E0A1-4EF0-B8E1-B6D405742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5865813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D15F39-853A-4A4D-B5A9-0F4D70424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75EF6B-8C1A-474D-BDE8-45D0FE6DE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EB4389-7919-41B1-A6DC-3B7E517AA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6A91E1-F3E7-444C-B691-4D89554DFD9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83503135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494C5C3-418B-4484-B441-F64D85300E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898B8CA-0E5C-4FE4-B184-F3532F6940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zh-CN" altLang="zh-CN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CBD4514-0F13-40BF-8A14-1F7B875F10C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563125F-0D13-422C-97DD-B36711B9341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D58474D-2646-4D87-A20C-D6B8E675257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B9EC60A-8288-424B-BDD2-572B7F7667EB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hf hdr="0" ftr="0" dt="0"/>
  <p:txStyles>
    <p:titleStyle>
      <a:lvl1pPr algn="r" rtl="0" fontAlgn="base">
        <a:spcBef>
          <a:spcPct val="0"/>
        </a:spcBef>
        <a:spcAft>
          <a:spcPct val="0"/>
        </a:spcAft>
        <a:defRPr sz="32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69B3F1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200" kern="1200">
          <a:solidFill>
            <a:schemeClr val="tx1"/>
          </a:solidFill>
          <a:latin typeface="+mn-lt"/>
          <a:ea typeface="华文中宋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8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46AEF6-126F-4CCC-BF5F-E519987D1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271F7E-A976-41E0-82C5-4037ADA97E2D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411650" name="Rectangle 2">
            <a:extLst>
              <a:ext uri="{FF2B5EF4-FFF2-40B4-BE49-F238E27FC236}">
                <a16:creationId xmlns:a16="http://schemas.microsoft.com/office/drawing/2014/main" id="{B3259F56-5125-44AC-B585-B092302A0E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华文中宋" panose="02010600040101010101" pitchFamily="2" charset="-122"/>
              </a:rPr>
              <a:t>第十七章 习题</a:t>
            </a:r>
          </a:p>
        </p:txBody>
      </p:sp>
      <p:sp>
        <p:nvSpPr>
          <p:cNvPr id="411651" name="Rectangle 3">
            <a:extLst>
              <a:ext uri="{FF2B5EF4-FFF2-40B4-BE49-F238E27FC236}">
                <a16:creationId xmlns:a16="http://schemas.microsoft.com/office/drawing/2014/main" id="{33B01A68-A21E-4122-ABA6-E103B9DB9B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288" y="1052513"/>
            <a:ext cx="8280400" cy="5399087"/>
          </a:xfrm>
        </p:spPr>
        <p:txBody>
          <a:bodyPr/>
          <a:lstStyle/>
          <a:p>
            <a:pPr marL="457200" indent="-457200">
              <a:lnSpc>
                <a:spcPct val="90000"/>
              </a:lnSpc>
            </a:pPr>
            <a:r>
              <a:rPr lang="zh-CN" altLang="en-US" dirty="0"/>
              <a:t>主要内容</a:t>
            </a:r>
          </a:p>
          <a:p>
            <a:pPr marL="457200" indent="-457200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平面图的基本概念</a:t>
            </a:r>
          </a:p>
          <a:p>
            <a:pPr marL="457200" indent="-457200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欧拉公式</a:t>
            </a:r>
          </a:p>
          <a:p>
            <a:pPr marL="457200" indent="-457200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平面图的判断</a:t>
            </a:r>
          </a:p>
          <a:p>
            <a:pPr marL="457200" indent="-457200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平面图的对偶图</a:t>
            </a:r>
          </a:p>
          <a:p>
            <a:pPr marL="457200" indent="-457200">
              <a:lnSpc>
                <a:spcPct val="90000"/>
              </a:lnSpc>
              <a:spcBef>
                <a:spcPct val="60000"/>
              </a:spcBef>
              <a:buClr>
                <a:srgbClr val="FF9900"/>
              </a:buClr>
            </a:pPr>
            <a:r>
              <a:rPr lang="zh-CN" altLang="en-US" dirty="0"/>
              <a:t>基本要求</a:t>
            </a:r>
          </a:p>
          <a:p>
            <a:pPr marL="457200" indent="-457200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深刻理解本部分的基本概念：平面图、平面嵌入、面、次数、极大平面图、极小非平面图、对偶图</a:t>
            </a:r>
          </a:p>
          <a:p>
            <a:pPr marL="457200" indent="-457200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牢记极大平面图的主要性质和判别方法</a:t>
            </a:r>
          </a:p>
          <a:p>
            <a:pPr marL="457200" indent="-457200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熟记欧拉公式及推广形式，并能用欧拉公式及推广形式证明有关定理与命题</a:t>
            </a:r>
          </a:p>
          <a:p>
            <a:pPr marL="457200" indent="-457200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会用库拉图斯基定理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17.12&amp;</a:t>
            </a:r>
            <a:r>
              <a:rPr lang="zh-CN" altLang="en-US" dirty="0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dirty="0">
                <a:solidFill>
                  <a:srgbClr val="A50021"/>
                </a:solidFill>
                <a:latin typeface="Times New Roman" panose="02020603050405020304" pitchFamily="18" charset="0"/>
              </a:rPr>
              <a:t>17.13)</a:t>
            </a:r>
            <a:r>
              <a:rPr lang="zh-CN" altLang="en-US" dirty="0"/>
              <a:t>证明某些图不是平面图 </a:t>
            </a:r>
          </a:p>
          <a:p>
            <a:pPr marL="457200" indent="-457200">
              <a:lnSpc>
                <a:spcPct val="90000"/>
              </a:lnSpc>
              <a:buClr>
                <a:srgbClr val="FF9900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记住平面图与它的对偶图阶数、边数、面数之间的关系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508C5B5D-FB50-4221-9CAB-C4559C446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F9D69-61B8-497F-8D8E-2673192C993D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415746" name="Rectangle 2">
            <a:extLst>
              <a:ext uri="{FF2B5EF4-FFF2-40B4-BE49-F238E27FC236}">
                <a16:creationId xmlns:a16="http://schemas.microsoft.com/office/drawing/2014/main" id="{DC6DDB0D-E4BF-49C6-8347-2F0C132684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415749" name="Rectangle 5">
            <a:extLst>
              <a:ext uri="{FF2B5EF4-FFF2-40B4-BE49-F238E27FC236}">
                <a16:creationId xmlns:a16="http://schemas.microsoft.com/office/drawing/2014/main" id="{5EEAB531-8665-4C4B-B63D-3B2FF2B2A4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2636838"/>
            <a:ext cx="8135937" cy="3816350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解   设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zh-CN" altLang="en-US" dirty="0">
                <a:latin typeface="Times New Roman" panose="02020603050405020304" pitchFamily="18" charset="0"/>
              </a:rPr>
              <a:t>的阶数、边数、面数分别为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(1) </a:t>
            </a:r>
            <a:r>
              <a:rPr lang="zh-CN" altLang="en-US" dirty="0">
                <a:latin typeface="Times New Roman" panose="02020603050405020304" pitchFamily="18" charset="0"/>
              </a:rPr>
              <a:t>否则（</a:t>
            </a:r>
            <a:r>
              <a:rPr lang="zh-CN" altLang="en-US" dirty="0">
                <a:solidFill>
                  <a:srgbClr val="0066FF"/>
                </a:solidFill>
                <a:latin typeface="Times New Roman" panose="02020603050405020304" pitchFamily="18" charset="0"/>
              </a:rPr>
              <a:t>所有面的次数都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 </a:t>
            </a:r>
            <a:r>
              <a:rPr lang="en-US" altLang="zh-CN" dirty="0">
                <a:solidFill>
                  <a:srgbClr val="0066FF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dirty="0">
                <a:latin typeface="Times New Roman" panose="02020603050405020304" pitchFamily="18" charset="0"/>
              </a:rPr>
              <a:t>），由欧拉公式得</a:t>
            </a:r>
          </a:p>
          <a:p>
            <a:pPr>
              <a:lnSpc>
                <a:spcPct val="90000"/>
              </a:lnSpc>
            </a:pPr>
            <a:r>
              <a:rPr lang="zh-CN" altLang="en-US" dirty="0">
                <a:latin typeface="Times New Roman" panose="02020603050405020304" pitchFamily="18" charset="0"/>
              </a:rPr>
              <a:t>                      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</a:rPr>
              <a:t> 5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 = 5 (2+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)                         ①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</a:t>
            </a:r>
            <a:r>
              <a:rPr lang="zh-CN" altLang="en-US" dirty="0">
                <a:latin typeface="Times New Roman" panose="02020603050405020304" pitchFamily="18" charset="0"/>
              </a:rPr>
              <a:t>由于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</a:rPr>
              <a:t>及握手定理又有    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</a:rPr>
              <a:t> 3</a:t>
            </a:r>
            <a:r>
              <a:rPr lang="en-US" altLang="zh-CN" i="1" dirty="0">
                <a:latin typeface="Times New Roman" panose="02020603050405020304" pitchFamily="18" charset="0"/>
              </a:rPr>
              <a:t>n    </a:t>
            </a:r>
            <a:r>
              <a:rPr lang="en-US" altLang="zh-CN" dirty="0">
                <a:latin typeface="Times New Roman" panose="02020603050405020304" pitchFamily="18" charset="0"/>
              </a:rPr>
              <a:t>       ②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</a:t>
            </a:r>
            <a:r>
              <a:rPr lang="zh-CN" altLang="en-US" dirty="0">
                <a:latin typeface="Times New Roman" panose="02020603050405020304" pitchFamily="18" charset="0"/>
              </a:rPr>
              <a:t>由①与②得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dirty="0">
                <a:latin typeface="Times New Roman" panose="02020603050405020304" pitchFamily="18" charset="0"/>
              </a:rPr>
              <a:t>30                                ③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</a:t>
            </a:r>
            <a:r>
              <a:rPr lang="zh-CN" altLang="en-US" dirty="0">
                <a:latin typeface="Times New Roman" panose="02020603050405020304" pitchFamily="18" charset="0"/>
              </a:rPr>
              <a:t>又有                   </a:t>
            </a:r>
            <a:r>
              <a:rPr lang="en-US" altLang="zh-CN" i="1" dirty="0">
                <a:latin typeface="Times New Roman" panose="02020603050405020304" pitchFamily="18" charset="0"/>
              </a:rPr>
              <a:t>r</a:t>
            </a:r>
            <a:r>
              <a:rPr lang="en-US" altLang="zh-CN" dirty="0">
                <a:latin typeface="Times New Roman" panose="02020603050405020304" pitchFamily="18" charset="0"/>
              </a:rPr>
              <a:t>=2+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i="1" dirty="0">
                <a:latin typeface="Times New Roman" panose="02020603050405020304" pitchFamily="18" charset="0"/>
              </a:rPr>
              <a:t>n</a:t>
            </a:r>
            <a:r>
              <a:rPr lang="en-US" altLang="zh-CN" dirty="0">
                <a:latin typeface="Times New Roman" panose="02020603050405020304" pitchFamily="18" charset="0"/>
              </a:rPr>
              <a:t> &lt;12                           ④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</a:t>
            </a:r>
            <a:r>
              <a:rPr lang="zh-CN" altLang="en-US" dirty="0">
                <a:latin typeface="Times New Roman" panose="02020603050405020304" pitchFamily="18" charset="0"/>
              </a:rPr>
              <a:t>由④及②又可得        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&lt;30                               ⑤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     ③,⑤</a:t>
            </a:r>
            <a:r>
              <a:rPr lang="zh-CN" altLang="en-US" dirty="0">
                <a:latin typeface="Times New Roman" panose="02020603050405020304" pitchFamily="18" charset="0"/>
              </a:rPr>
              <a:t>是矛盾的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</a:rPr>
              <a:t>(2)</a:t>
            </a:r>
            <a:r>
              <a:rPr lang="en-US" altLang="zh-CN" dirty="0"/>
              <a:t> </a:t>
            </a:r>
            <a:r>
              <a:rPr lang="zh-CN" altLang="en-US" dirty="0"/>
              <a:t>正十二面体是一个反例 </a:t>
            </a:r>
          </a:p>
        </p:txBody>
      </p:sp>
      <p:sp>
        <p:nvSpPr>
          <p:cNvPr id="415751" name="Rectangle 7">
            <a:extLst>
              <a:ext uri="{FF2B5EF4-FFF2-40B4-BE49-F238E27FC236}">
                <a16:creationId xmlns:a16="http://schemas.microsoft.com/office/drawing/2014/main" id="{6804A5F4-9D74-46DF-907B-4172C3C22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2536" y="1181526"/>
            <a:ext cx="799306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/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1. 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是连通的简单的平面图，面数</a:t>
            </a:r>
            <a:r>
              <a:rPr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&lt;12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，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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</a:rPr>
              <a:t>G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3. </a:t>
            </a:r>
          </a:p>
          <a:p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         (1) 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证明</a:t>
            </a:r>
            <a:r>
              <a:rPr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中存在次数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的面</a:t>
            </a:r>
          </a:p>
          <a:p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         (2) 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举例说明当</a:t>
            </a:r>
            <a:r>
              <a:rPr lang="en-US" altLang="zh-CN" b="1" i="1" dirty="0">
                <a:solidFill>
                  <a:srgbClr val="0066FF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=12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时，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(1) 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中结论不真</a:t>
            </a:r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10" descr="15-9">
            <a:extLst>
              <a:ext uri="{FF2B5EF4-FFF2-40B4-BE49-F238E27FC236}">
                <a16:creationId xmlns:a16="http://schemas.microsoft.com/office/drawing/2014/main" id="{E80332B5-EF43-4CE7-AAB2-D77EA10D8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212" y="4973042"/>
            <a:ext cx="1915601" cy="18849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4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DEC82522-162E-4589-975D-2BCA8011D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605EC-9A4A-4DF6-95BF-E306E8896D0D}" type="slidenum">
              <a:rPr lang="en-US" altLang="zh-CN"/>
              <a:pPr/>
              <a:t>3</a:t>
            </a:fld>
            <a:endParaRPr lang="en-US" altLang="zh-CN"/>
          </a:p>
        </p:txBody>
      </p:sp>
      <p:grpSp>
        <p:nvGrpSpPr>
          <p:cNvPr id="419861" name="Group 21">
            <a:extLst>
              <a:ext uri="{FF2B5EF4-FFF2-40B4-BE49-F238E27FC236}">
                <a16:creationId xmlns:a16="http://schemas.microsoft.com/office/drawing/2014/main" id="{D97CF976-F3AF-4410-AF01-4BDCC89FE10F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1125538"/>
            <a:ext cx="7920037" cy="968375"/>
            <a:chOff x="295" y="709"/>
            <a:chExt cx="4989" cy="610"/>
          </a:xfrm>
        </p:grpSpPr>
        <p:sp>
          <p:nvSpPr>
            <p:cNvPr id="419858" name="Rectangle 18">
              <a:extLst>
                <a:ext uri="{FF2B5EF4-FFF2-40B4-BE49-F238E27FC236}">
                  <a16:creationId xmlns:a16="http://schemas.microsoft.com/office/drawing/2014/main" id="{0895D643-7950-41FE-AC25-C5EC8DE534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709"/>
              <a:ext cx="4989" cy="6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b="1" dirty="0">
                  <a:solidFill>
                    <a:srgbClr val="0066FF"/>
                  </a:solidFill>
                  <a:latin typeface="Times New Roman" panose="02020603050405020304" pitchFamily="18" charset="0"/>
                </a:rPr>
                <a:t>2.  </a:t>
              </a:r>
              <a:r>
                <a:rPr lang="zh-CN" altLang="en-US" b="1" dirty="0">
                  <a:solidFill>
                    <a:srgbClr val="0066FF"/>
                  </a:solidFill>
                  <a:latin typeface="Times New Roman" panose="02020603050405020304" pitchFamily="18" charset="0"/>
                </a:rPr>
                <a:t>设</a:t>
              </a:r>
              <a:r>
                <a:rPr lang="en-US" altLang="zh-CN" b="1" i="1" dirty="0">
                  <a:solidFill>
                    <a:srgbClr val="0066FF"/>
                  </a:solidFill>
                  <a:latin typeface="Times New Roman" panose="02020603050405020304" pitchFamily="18" charset="0"/>
                </a:rPr>
                <a:t>G</a:t>
              </a:r>
              <a:r>
                <a:rPr lang="zh-CN" altLang="en-US" b="1" dirty="0">
                  <a:solidFill>
                    <a:srgbClr val="0066FF"/>
                  </a:solidFill>
                  <a:latin typeface="Times New Roman" panose="02020603050405020304" pitchFamily="18" charset="0"/>
                </a:rPr>
                <a:t>是阶数</a:t>
              </a:r>
              <a:r>
                <a:rPr lang="en-US" altLang="zh-CN" b="1" i="1" dirty="0">
                  <a:solidFill>
                    <a:srgbClr val="0066FF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b="1" dirty="0">
                  <a:solidFill>
                    <a:srgbClr val="0066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</a:t>
              </a:r>
              <a:r>
                <a:rPr lang="en-US" altLang="zh-CN" b="1" dirty="0">
                  <a:solidFill>
                    <a:srgbClr val="0066FF"/>
                  </a:solidFill>
                  <a:latin typeface="Times New Roman" panose="02020603050405020304" pitchFamily="18" charset="0"/>
                </a:rPr>
                <a:t>11</a:t>
              </a:r>
              <a:r>
                <a:rPr lang="zh-CN" altLang="en-US" b="1" dirty="0">
                  <a:solidFill>
                    <a:srgbClr val="0066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的无向平面图，证明</a:t>
              </a:r>
              <a:r>
                <a:rPr lang="en-US" altLang="zh-CN" b="1" i="1" dirty="0">
                  <a:solidFill>
                    <a:srgbClr val="0066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G</a:t>
              </a:r>
              <a:r>
                <a:rPr lang="zh-CN" altLang="en-US" b="1" dirty="0">
                  <a:solidFill>
                    <a:srgbClr val="0066FF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和      </a:t>
              </a:r>
              <a:r>
                <a:rPr lang="zh-CN" altLang="en-US" b="1" dirty="0">
                  <a:solidFill>
                    <a:srgbClr val="0066FF"/>
                  </a:solidFill>
                  <a:latin typeface="Times New Roman" panose="02020603050405020304" pitchFamily="18" charset="0"/>
                </a:rPr>
                <a:t>不可能全是平面图</a:t>
              </a:r>
              <a:r>
                <a:rPr lang="en-US" altLang="zh-CN" b="1" dirty="0">
                  <a:solidFill>
                    <a:srgbClr val="0066FF"/>
                  </a:solidFill>
                  <a:latin typeface="Times New Roman" panose="02020603050405020304" pitchFamily="18" charset="0"/>
                </a:rPr>
                <a:t>.  </a:t>
              </a:r>
              <a:endPara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graphicFrame>
          <p:nvGraphicFramePr>
            <p:cNvPr id="419843" name="Object 3">
              <a:extLst>
                <a:ext uri="{FF2B5EF4-FFF2-40B4-BE49-F238E27FC236}">
                  <a16:creationId xmlns:a16="http://schemas.microsoft.com/office/drawing/2014/main" id="{4D1AD4FA-4C0E-4AB0-8418-5288412BB49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50" y="746"/>
            <a:ext cx="225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64880" imgH="215640" progId="Equation.3">
                    <p:embed/>
                  </p:oleObj>
                </mc:Choice>
                <mc:Fallback>
                  <p:oleObj name="公式" r:id="rId3" imgW="164880" imgH="215640" progId="Equation.3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0" y="746"/>
                          <a:ext cx="225" cy="2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19860" name="Group 20">
            <a:extLst>
              <a:ext uri="{FF2B5EF4-FFF2-40B4-BE49-F238E27FC236}">
                <a16:creationId xmlns:a16="http://schemas.microsoft.com/office/drawing/2014/main" id="{3AA410F9-5093-4435-9C56-DE230596BAF0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2005013"/>
            <a:ext cx="8135938" cy="4510087"/>
            <a:chOff x="340" y="1263"/>
            <a:chExt cx="5125" cy="2841"/>
          </a:xfrm>
        </p:grpSpPr>
        <p:sp>
          <p:nvSpPr>
            <p:cNvPr id="419850" name="Rectangle 10">
              <a:extLst>
                <a:ext uri="{FF2B5EF4-FFF2-40B4-BE49-F238E27FC236}">
                  <a16:creationId xmlns:a16="http://schemas.microsoft.com/office/drawing/2014/main" id="{C4C628E7-BFBF-4BD3-8483-314E28AC27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" y="1263"/>
              <a:ext cx="5125" cy="28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证 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只需证明</a:t>
              </a: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和    中至少有一个是非平面图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采用反证法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否则     与</a:t>
              </a: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 </a:t>
              </a:r>
              <a:r>
                <a: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都是平面图，下面来推出矛盾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>
                <a:lnSpc>
                  <a:spcPct val="120000"/>
                </a:lnSpc>
                <a:spcBef>
                  <a:spcPct val="30000"/>
                </a:spcBef>
              </a:pP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与     的边数</a:t>
              </a: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</a:t>
              </a:r>
              <a:r>
                <a: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应满足</a:t>
              </a:r>
              <a:r>
                <a: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                           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( </a:t>
              </a:r>
              <a:r>
                <a:rPr lang="en-US" altLang="zh-CN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CN" b="1" i="1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的边数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①</a:t>
              </a:r>
            </a:p>
            <a:p>
              <a:pPr eaLnBrk="0" hangingPunct="0">
                <a:lnSpc>
                  <a:spcPct val="120000"/>
                </a:lnSpc>
                <a:spcBef>
                  <a:spcPct val="40000"/>
                </a:spcBef>
              </a:pPr>
              <a:r>
                <a: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不妨设</a:t>
              </a:r>
              <a:r>
                <a: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                                                                                 </a:t>
              </a:r>
              <a:r>
                <a: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 </a:t>
              </a:r>
              <a:r>
                <a:rPr lang="zh-CN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②</a:t>
              </a:r>
            </a:p>
            <a:p>
              <a:pPr>
                <a:lnSpc>
                  <a:spcPct val="110000"/>
                </a:lnSpc>
              </a:pP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lnSpc>
                  <a:spcPct val="110000"/>
                </a:lnSpc>
              </a:pPr>
              <a:endParaRPr lang="zh-CN" altLang="en-US" dirty="0"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10000"/>
                </a:lnSpc>
              </a:pPr>
              <a:endParaRPr lang="zh-CN" altLang="en-US" dirty="0"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10000"/>
                </a:lnSpc>
              </a:pPr>
              <a:endParaRPr lang="zh-CN" altLang="en-US" dirty="0"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10000"/>
                </a:lnSpc>
              </a:pPr>
              <a:endParaRPr lang="zh-CN" altLang="en-US" dirty="0"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  <a:p>
              <a:pPr>
                <a:lnSpc>
                  <a:spcPct val="110000"/>
                </a:lnSpc>
              </a:pPr>
              <a:endParaRPr lang="en-US" altLang="zh-CN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19845" name="Object 5">
              <a:extLst>
                <a:ext uri="{FF2B5EF4-FFF2-40B4-BE49-F238E27FC236}">
                  <a16:creationId xmlns:a16="http://schemas.microsoft.com/office/drawing/2014/main" id="{854E706A-9C46-4AA3-A2D5-97B3D143D8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51" y="1925"/>
            <a:ext cx="224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64880" imgH="215640" progId="Equation.3">
                    <p:embed/>
                  </p:oleObj>
                </mc:Choice>
                <mc:Fallback>
                  <p:oleObj name="公式" r:id="rId5" imgW="164880" imgH="21564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1" y="1925"/>
                          <a:ext cx="224" cy="2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9846" name="Object 6">
              <a:extLst>
                <a:ext uri="{FF2B5EF4-FFF2-40B4-BE49-F238E27FC236}">
                  <a16:creationId xmlns:a16="http://schemas.microsoft.com/office/drawing/2014/main" id="{8FAD5918-E8C7-4B0F-8E6D-9BD53184850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85" y="1616"/>
            <a:ext cx="224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64880" imgH="215640" progId="Equation.3">
                    <p:embed/>
                  </p:oleObj>
                </mc:Choice>
                <mc:Fallback>
                  <p:oleObj name="公式" r:id="rId7" imgW="164880" imgH="21564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5" y="1616"/>
                          <a:ext cx="224" cy="2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9847" name="Object 7">
              <a:extLst>
                <a:ext uri="{FF2B5EF4-FFF2-40B4-BE49-F238E27FC236}">
                  <a16:creationId xmlns:a16="http://schemas.microsoft.com/office/drawing/2014/main" id="{7D3DB39F-523D-459F-9A2E-3C445671C33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29" y="1290"/>
            <a:ext cx="224" cy="2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64880" imgH="215640" progId="Equation.3">
                    <p:embed/>
                  </p:oleObj>
                </mc:Choice>
                <mc:Fallback>
                  <p:oleObj name="公式" r:id="rId9" imgW="164880" imgH="21564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9" y="1290"/>
                          <a:ext cx="224" cy="2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9848" name="Object 8">
            <a:extLst>
              <a:ext uri="{FF2B5EF4-FFF2-40B4-BE49-F238E27FC236}">
                <a16:creationId xmlns:a16="http://schemas.microsoft.com/office/drawing/2014/main" id="{021CB36F-8B8F-4CE1-85C4-CC56DB6CCE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7175" y="2924175"/>
          <a:ext cx="20320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117440" imgH="393480" progId="Equation.3">
                  <p:embed/>
                </p:oleObj>
              </mc:Choice>
              <mc:Fallback>
                <p:oleObj name="公式" r:id="rId11" imgW="1117440" imgH="393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2924175"/>
                        <a:ext cx="2032000" cy="722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49" name="Object 9">
            <a:extLst>
              <a:ext uri="{FF2B5EF4-FFF2-40B4-BE49-F238E27FC236}">
                <a16:creationId xmlns:a16="http://schemas.microsoft.com/office/drawing/2014/main" id="{347FBA6B-10F7-4C8F-A953-2A906E3C55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7356648"/>
              </p:ext>
            </p:extLst>
          </p:nvPr>
        </p:nvGraphicFramePr>
        <p:xfrm>
          <a:off x="2110581" y="3447299"/>
          <a:ext cx="139382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838080" imgH="393480" progId="Equation.3">
                  <p:embed/>
                </p:oleObj>
              </mc:Choice>
              <mc:Fallback>
                <p:oleObj name="公式" r:id="rId13" imgW="838080" imgH="3934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0581" y="3447299"/>
                        <a:ext cx="1393825" cy="784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55" name="Rectangle 15">
            <a:extLst>
              <a:ext uri="{FF2B5EF4-FFF2-40B4-BE49-F238E27FC236}">
                <a16:creationId xmlns:a16="http://schemas.microsoft.com/office/drawing/2014/main" id="{CB9F3AFD-446A-47EB-8352-DBAA4A4AA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884" y="4122506"/>
            <a:ext cx="8497888" cy="1684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2762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110000"/>
              </a:lnSpc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又由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定理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17.10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的推论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知                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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   ③</a:t>
            </a:r>
          </a:p>
          <a:p>
            <a:pPr eaLnBrk="0" hangingPunct="0">
              <a:lnSpc>
                <a:spcPct val="110000"/>
              </a:lnSpc>
            </a:pP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由②与③得                       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baseline="30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r>
              <a:rPr lang="en-US" altLang="zh-CN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+24 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                           ④</a:t>
            </a:r>
            <a:endParaRPr lang="en-US" altLang="zh-CN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0" hangingPunct="0">
              <a:lnSpc>
                <a:spcPct val="110000"/>
              </a:lnSpc>
            </a:pP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由④解得                           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2 </a:t>
            </a:r>
            <a:r>
              <a:rPr lang="en-US" altLang="zh-CN" b="1" dirty="0">
                <a:latin typeface="Times New Roman" panose="02020603050405020304" pitchFamily="18" charset="0"/>
              </a:rPr>
              <a:t> 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</a:t>
            </a:r>
            <a:r>
              <a:rPr lang="en-US" altLang="zh-CN" b="1" dirty="0">
                <a:latin typeface="Times New Roman" panose="02020603050405020304" pitchFamily="18" charset="0"/>
              </a:rPr>
              <a:t>10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              ⑤</a:t>
            </a:r>
          </a:p>
          <a:p>
            <a:pPr eaLnBrk="0" hangingPunct="0">
              <a:lnSpc>
                <a:spcPct val="110000"/>
              </a:lnSpc>
            </a:pP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⑤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与</a:t>
            </a:r>
            <a:r>
              <a:rPr lang="en-US" altLang="zh-CN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 </a:t>
            </a:r>
            <a:r>
              <a:rPr lang="en-US" altLang="zh-CN" b="1" dirty="0">
                <a:latin typeface="Times New Roman" panose="02020603050405020304" pitchFamily="18" charset="0"/>
              </a:rPr>
              <a:t>11</a:t>
            </a:r>
            <a:r>
              <a:rPr lang="zh-CN" altLang="en-US" b="1" dirty="0">
                <a:latin typeface="Times New Roman" panose="02020603050405020304" pitchFamily="18" charset="0"/>
                <a:sym typeface="Symbol" panose="05050102010706020507" pitchFamily="18" charset="2"/>
              </a:rPr>
              <a:t>矛盾</a:t>
            </a:r>
            <a:r>
              <a:rPr lang="en-US" altLang="zh-CN" b="1" dirty="0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</p:txBody>
      </p:sp>
      <p:sp>
        <p:nvSpPr>
          <p:cNvPr id="419859" name="Rectangle 19">
            <a:extLst>
              <a:ext uri="{FF2B5EF4-FFF2-40B4-BE49-F238E27FC236}">
                <a16:creationId xmlns:a16="http://schemas.microsoft.com/office/drawing/2014/main" id="{104C0DF2-6ABF-48AB-82F4-7D9FF78A3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2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5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1B533C7D-C425-4C75-A1FF-9B6B1AF24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178D7-E36E-425D-B5C3-4E983893C637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421891" name="Rectangle 3">
            <a:extLst>
              <a:ext uri="{FF2B5EF4-FFF2-40B4-BE49-F238E27FC236}">
                <a16:creationId xmlns:a16="http://schemas.microsoft.com/office/drawing/2014/main" id="{C0122923-1247-4C2A-8DEA-06B1A9FA0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196975"/>
            <a:ext cx="698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4953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 dirty="0">
                <a:solidFill>
                  <a:srgbClr val="0066FF"/>
                </a:solidFill>
                <a:latin typeface="Times New Roman" panose="02020603050405020304" pitchFamily="18" charset="0"/>
              </a:rPr>
              <a:t>3. </a:t>
            </a:r>
            <a:r>
              <a:rPr lang="zh-CN" altLang="en-US" b="1" dirty="0">
                <a:solidFill>
                  <a:srgbClr val="0066FF"/>
                </a:solidFill>
                <a:latin typeface="Times New Roman" panose="02020603050405020304" pitchFamily="18" charset="0"/>
              </a:rPr>
              <a:t>证明下图为非平面图</a:t>
            </a:r>
          </a:p>
        </p:txBody>
      </p:sp>
      <p:sp>
        <p:nvSpPr>
          <p:cNvPr id="421892" name="Rectangle 4">
            <a:extLst>
              <a:ext uri="{FF2B5EF4-FFF2-40B4-BE49-F238E27FC236}">
                <a16:creationId xmlns:a16="http://schemas.microsoft.com/office/drawing/2014/main" id="{74207E56-100B-4DEB-B22F-E9C4D87FA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260350"/>
            <a:ext cx="6121400" cy="41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r"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r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/>
              <a:t>练习</a:t>
            </a:r>
            <a:r>
              <a:rPr lang="en-US" altLang="zh-CN">
                <a:latin typeface="Times New Roman" panose="02020603050405020304" pitchFamily="18" charset="0"/>
              </a:rPr>
              <a:t>3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CC864A1-EF41-477C-AD4B-CB33405A1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5516" y="1988840"/>
            <a:ext cx="3096344" cy="3531111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D1C9F891-3A4E-49F3-8FE4-60786DF41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27" y="2564904"/>
            <a:ext cx="7867377" cy="2767225"/>
          </a:xfrm>
          <a:prstGeom prst="rect">
            <a:avLst/>
          </a:prstGeom>
        </p:spPr>
      </p:pic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898D47B7-748E-413B-B803-B1EA0EE94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AC2E-B974-4814-A124-B027E02259BA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432130" name="Rectangle 2">
            <a:extLst>
              <a:ext uri="{FF2B5EF4-FFF2-40B4-BE49-F238E27FC236}">
                <a16:creationId xmlns:a16="http://schemas.microsoft.com/office/drawing/2014/main" id="{13F05148-D67D-4B3F-9441-CA234851F7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/>
              <a:t>证明</a:t>
            </a:r>
          </a:p>
        </p:txBody>
      </p:sp>
      <p:sp>
        <p:nvSpPr>
          <p:cNvPr id="432132" name="Rectangle 4">
            <a:extLst>
              <a:ext uri="{FF2B5EF4-FFF2-40B4-BE49-F238E27FC236}">
                <a16:creationId xmlns:a16="http://schemas.microsoft.com/office/drawing/2014/main" id="{76DF45BB-4EFA-4441-BE8D-431921A5A1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25538"/>
            <a:ext cx="7891024" cy="5000625"/>
          </a:xfrm>
          <a:noFill/>
          <a:ln/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</a:rPr>
              <a:t>证  用库拉图斯基定理证明</a:t>
            </a:r>
          </a:p>
          <a:p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方法一：</a:t>
            </a:r>
            <a:r>
              <a:rPr lang="zh-CN" altLang="en-US" dirty="0">
                <a:latin typeface="Times New Roman" panose="02020603050405020304" pitchFamily="18" charset="0"/>
              </a:rPr>
              <a:t>在原图中删除边得到子图，再消去</a:t>
            </a:r>
            <a:r>
              <a:rPr lang="en-US" altLang="zh-CN" dirty="0">
                <a:latin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</a:rPr>
              <a:t>度顶点，由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库拉图斯基定理（原图中含与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3,3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</a:rPr>
              <a:t>同胚的子图）   </a:t>
            </a:r>
            <a:r>
              <a:rPr lang="zh-CN" altLang="en-US" dirty="0">
                <a:latin typeface="Times New Roman" panose="02020603050405020304" pitchFamily="18" charset="0"/>
              </a:rPr>
              <a:t>得证命题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D056CF-EF9A-494E-B5CA-D8E3646C94AD}"/>
              </a:ext>
            </a:extLst>
          </p:cNvPr>
          <p:cNvSpPr/>
          <p:nvPr/>
        </p:nvSpPr>
        <p:spPr>
          <a:xfrm>
            <a:off x="2699792" y="2708920"/>
            <a:ext cx="2016224" cy="1970880"/>
          </a:xfrm>
          <a:prstGeom prst="rect">
            <a:avLst/>
          </a:prstGeom>
          <a:noFill/>
          <a:ln>
            <a:solidFill>
              <a:srgbClr val="FF000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39613B5-9FBA-45FB-AE93-0F52A5814A66}"/>
              </a:ext>
            </a:extLst>
          </p:cNvPr>
          <p:cNvSpPr txBox="1"/>
          <p:nvPr/>
        </p:nvSpPr>
        <p:spPr>
          <a:xfrm>
            <a:off x="1503624" y="4929995"/>
            <a:ext cx="3528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原图         原图的子图</a:t>
            </a:r>
          </a:p>
        </p:txBody>
      </p:sp>
    </p:spTree>
    <p:extLst>
      <p:ext uri="{BB962C8B-B14F-4D97-AF65-F5344CB8AC3E}">
        <p14:creationId xmlns:p14="http://schemas.microsoft.com/office/powerpoint/2010/main" val="2339328518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898D47B7-748E-413B-B803-B1EA0EE94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7AC2E-B974-4814-A124-B027E02259BA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432130" name="Rectangle 2">
            <a:extLst>
              <a:ext uri="{FF2B5EF4-FFF2-40B4-BE49-F238E27FC236}">
                <a16:creationId xmlns:a16="http://schemas.microsoft.com/office/drawing/2014/main" id="{13F05148-D67D-4B3F-9441-CA234851F7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证明（续）</a:t>
            </a:r>
          </a:p>
        </p:txBody>
      </p:sp>
      <p:sp>
        <p:nvSpPr>
          <p:cNvPr id="432134" name="Rectangle 6">
            <a:extLst>
              <a:ext uri="{FF2B5EF4-FFF2-40B4-BE49-F238E27FC236}">
                <a16:creationId xmlns:a16="http://schemas.microsoft.com/office/drawing/2014/main" id="{BCCC3C28-4C80-487B-8834-9791A543F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3" y="1156102"/>
            <a:ext cx="770485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方法二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  <a:r>
              <a:rPr lang="zh-CN" altLang="en-US" b="1" dirty="0">
                <a:latin typeface="Times New Roman" panose="02020603050405020304" pitchFamily="18" charset="0"/>
              </a:rPr>
              <a:t>在原图中删除边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dirty="0" err="1">
                <a:latin typeface="Times New Roman" panose="02020603050405020304" pitchFamily="18" charset="0"/>
              </a:rPr>
              <a:t>,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</a:rPr>
              <a:t>得到子图，再收缩子图中的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f</a:t>
            </a:r>
            <a:r>
              <a:rPr lang="en-US" altLang="zh-CN" b="1" dirty="0" err="1">
                <a:latin typeface="Times New Roman" panose="02020603050405020304" pitchFamily="18" charset="0"/>
              </a:rPr>
              <a:t>,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g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</a:rPr>
              <a:t>和</a:t>
            </a:r>
            <a:r>
              <a:rPr lang="en-US" altLang="zh-CN" b="1" dirty="0">
                <a:latin typeface="Times New Roman" panose="02020603050405020304" pitchFamily="18" charset="0"/>
              </a:rPr>
              <a:t> (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a</a:t>
            </a:r>
            <a:r>
              <a:rPr lang="en-US" altLang="zh-CN" b="1" dirty="0" err="1">
                <a:latin typeface="Times New Roman" panose="02020603050405020304" pitchFamily="18" charset="0"/>
              </a:rPr>
              <a:t>,</a:t>
            </a:r>
            <a:r>
              <a:rPr lang="en-US" altLang="zh-CN" b="1" i="1" dirty="0" err="1">
                <a:latin typeface="Times New Roman" panose="02020603050405020304" pitchFamily="18" charset="0"/>
              </a:rPr>
              <a:t>e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zh-CN" altLang="en-US" b="1" dirty="0">
                <a:latin typeface="Times New Roman" panose="02020603050405020304" pitchFamily="18" charset="0"/>
              </a:rPr>
              <a:t>所得图为</a:t>
            </a:r>
            <a:r>
              <a:rPr lang="en-US" altLang="zh-CN" b="1" i="1" dirty="0">
                <a:latin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latin typeface="Times New Roman" panose="02020603050405020304" pitchFamily="18" charset="0"/>
              </a:rPr>
              <a:t>5</a:t>
            </a:r>
            <a:r>
              <a:rPr lang="en-US" altLang="zh-CN" b="1" dirty="0">
                <a:latin typeface="Times New Roman" panose="02020603050405020304" pitchFamily="18" charset="0"/>
              </a:rPr>
              <a:t>, </a:t>
            </a:r>
            <a:r>
              <a:rPr lang="zh-CN" altLang="en-US" b="1" dirty="0">
                <a:latin typeface="Times New Roman" panose="02020603050405020304" pitchFamily="18" charset="0"/>
              </a:rPr>
              <a:t>由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库拉图斯基定理（原图中有可收缩为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或</a:t>
            </a:r>
            <a:r>
              <a:rPr lang="en-US" altLang="zh-CN" b="1" i="1" dirty="0">
                <a:solidFill>
                  <a:srgbClr val="C00000"/>
                </a:solidFill>
                <a:latin typeface="Times New Roman" panose="02020603050405020304" pitchFamily="18" charset="0"/>
              </a:rPr>
              <a:t>K</a:t>
            </a:r>
            <a:r>
              <a:rPr lang="en-US" altLang="zh-CN" b="1" baseline="-25000" dirty="0">
                <a:solidFill>
                  <a:srgbClr val="C00000"/>
                </a:solidFill>
                <a:latin typeface="Times New Roman" panose="02020603050405020304" pitchFamily="18" charset="0"/>
              </a:rPr>
              <a:t>3,3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的子图）</a:t>
            </a:r>
            <a:r>
              <a:rPr lang="zh-CN" altLang="en-US" b="1" dirty="0">
                <a:latin typeface="Times New Roman" panose="02020603050405020304" pitchFamily="18" charset="0"/>
              </a:rPr>
              <a:t>得证命题</a:t>
            </a:r>
            <a:r>
              <a:rPr lang="en-US" altLang="zh-CN" b="1" dirty="0">
                <a:latin typeface="Times New Roman" panose="02020603050405020304" pitchFamily="18" charset="0"/>
              </a:rPr>
              <a:t>.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3102A8B-F02F-4C67-876D-A9348A547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33" y="2631881"/>
            <a:ext cx="8759430" cy="2119442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E4F77F7-F261-4B61-9EC8-1DFB11575334}"/>
              </a:ext>
            </a:extLst>
          </p:cNvPr>
          <p:cNvSpPr/>
          <p:nvPr/>
        </p:nvSpPr>
        <p:spPr>
          <a:xfrm>
            <a:off x="1835696" y="2780443"/>
            <a:ext cx="1800200" cy="1872693"/>
          </a:xfrm>
          <a:prstGeom prst="rect">
            <a:avLst/>
          </a:prstGeom>
          <a:noFill/>
          <a:ln>
            <a:solidFill>
              <a:srgbClr val="FF0000"/>
            </a:solidFill>
            <a:prstDash val="lg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44DD6C6-BF5A-4A3B-873B-C925230B2862}"/>
              </a:ext>
            </a:extLst>
          </p:cNvPr>
          <p:cNvSpPr txBox="1"/>
          <p:nvPr/>
        </p:nvSpPr>
        <p:spPr>
          <a:xfrm>
            <a:off x="539553" y="4801698"/>
            <a:ext cx="3528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原图         原图的子图</a:t>
            </a:r>
          </a:p>
        </p:txBody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570</Words>
  <Application>Microsoft Office PowerPoint</Application>
  <PresentationFormat>全屏显示(4:3)</PresentationFormat>
  <Paragraphs>60</Paragraphs>
  <Slides>6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华文中宋</vt:lpstr>
      <vt:lpstr>Arial</vt:lpstr>
      <vt:lpstr>Times New Roman</vt:lpstr>
      <vt:lpstr>Wingdings</vt:lpstr>
      <vt:lpstr>默认设计模板</vt:lpstr>
      <vt:lpstr>公式</vt:lpstr>
      <vt:lpstr>第十七章 习题</vt:lpstr>
      <vt:lpstr>练习1</vt:lpstr>
      <vt:lpstr>PowerPoint 演示文稿</vt:lpstr>
      <vt:lpstr>PowerPoint 演示文稿</vt:lpstr>
      <vt:lpstr>证明</vt:lpstr>
      <vt:lpstr>证明（续）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Amy</dc:creator>
  <cp:lastModifiedBy>zhenyanliu@bit.edu.cn</cp:lastModifiedBy>
  <cp:revision>398</cp:revision>
  <dcterms:created xsi:type="dcterms:W3CDTF">2007-11-19T20:33:53Z</dcterms:created>
  <dcterms:modified xsi:type="dcterms:W3CDTF">2021-01-08T11:38:58Z</dcterms:modified>
</cp:coreProperties>
</file>