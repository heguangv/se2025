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321" r:id="rId2"/>
    <p:sldId id="257" r:id="rId3"/>
    <p:sldId id="322" r:id="rId4"/>
    <p:sldId id="259" r:id="rId5"/>
    <p:sldId id="260" r:id="rId6"/>
    <p:sldId id="293" r:id="rId7"/>
    <p:sldId id="295" r:id="rId8"/>
    <p:sldId id="292" r:id="rId9"/>
    <p:sldId id="296" r:id="rId10"/>
    <p:sldId id="297" r:id="rId11"/>
    <p:sldId id="262" r:id="rId12"/>
    <p:sldId id="264" r:id="rId13"/>
    <p:sldId id="265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14" r:id="rId22"/>
    <p:sldId id="308" r:id="rId23"/>
    <p:sldId id="309" r:id="rId24"/>
    <p:sldId id="316" r:id="rId25"/>
    <p:sldId id="324" r:id="rId26"/>
    <p:sldId id="323" r:id="rId27"/>
    <p:sldId id="267" r:id="rId28"/>
    <p:sldId id="271" r:id="rId29"/>
    <p:sldId id="272" r:id="rId30"/>
    <p:sldId id="274" r:id="rId31"/>
    <p:sldId id="275" r:id="rId32"/>
    <p:sldId id="317" r:id="rId33"/>
    <p:sldId id="291" r:id="rId34"/>
    <p:sldId id="277" r:id="rId35"/>
    <p:sldId id="279" r:id="rId36"/>
    <p:sldId id="280" r:id="rId37"/>
    <p:sldId id="281" r:id="rId38"/>
    <p:sldId id="282" r:id="rId39"/>
    <p:sldId id="325" r:id="rId40"/>
    <p:sldId id="586" r:id="rId41"/>
    <p:sldId id="587" r:id="rId42"/>
    <p:sldId id="319" r:id="rId43"/>
    <p:sldId id="318" r:id="rId44"/>
    <p:sldId id="320" r:id="rId4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66FF"/>
    <a:srgbClr val="A50021"/>
    <a:srgbClr val="69B3F1"/>
    <a:srgbClr val="FF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333" autoAdjust="0"/>
    <p:restoredTop sz="74377" autoAdjust="0"/>
  </p:normalViewPr>
  <p:slideViewPr>
    <p:cSldViewPr showGuides="1">
      <p:cViewPr varScale="1">
        <p:scale>
          <a:sx n="51" d="100"/>
          <a:sy n="51" d="100"/>
        </p:scale>
        <p:origin x="1046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304"/>
    </p:cViewPr>
  </p:sorter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11130E1-B26D-4A45-8097-71794759B2BB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5407225-3ED1-4442-AD94-51140364E641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DC98D73-F3B8-46DB-86D3-1B030EFF45D9}" type="slidenum">
              <a:rPr lang="en-US" altLang="zh-CN" sz="1200"/>
              <a:t>1</a:t>
            </a:fld>
            <a:endParaRPr lang="en-US" altLang="zh-CN" sz="120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73A1B88-B702-4B7E-80F5-87FED1B3A214}" type="slidenum">
              <a:rPr lang="en-US" altLang="zh-CN" sz="1200"/>
              <a:t>2</a:t>
            </a:fld>
            <a:endParaRPr lang="en-US" altLang="zh-CN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5556C8-D4C8-4547-927B-A9EB82978DED}" type="slidenum">
              <a:rPr lang="en-US" altLang="zh-CN" sz="1200"/>
              <a:t>3</a:t>
            </a:fld>
            <a:endParaRPr lang="en-US" altLang="zh-CN" sz="120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5A575C3-BE2A-4C14-900A-523531D04A16}" type="slidenum">
              <a:rPr lang="en-US" altLang="zh-CN" sz="1200"/>
              <a:t>4</a:t>
            </a:fld>
            <a:endParaRPr lang="en-US" altLang="zh-CN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复习下蕴涵的真值表</a:t>
            </a:r>
          </a:p>
          <a:p>
            <a:pPr eaLnBrk="1" hangingPunct="1"/>
            <a:r>
              <a:rPr lang="en-US" altLang="zh-CN" dirty="0"/>
              <a:t>P47</a:t>
            </a:r>
            <a:r>
              <a:rPr lang="zh-CN" altLang="en-US" dirty="0"/>
              <a:t>有详细解释如何理解：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推理正确不能保证结论一定正确（因为前提可能就不成立）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73B0253-BAA4-4744-92D9-2FE79CD3226D}" type="slidenum">
              <a:rPr lang="en-US" altLang="zh-CN" sz="1200"/>
              <a:t>5</a:t>
            </a:fld>
            <a:endParaRPr lang="en-US" altLang="zh-CN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CFE8472-C10F-4AE7-826B-5C8543FDB736}" type="slidenum">
              <a:rPr lang="en-US" altLang="zh-CN" sz="1200"/>
              <a:t>6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CF05BA3-187A-4B1B-A8E8-0D10E8F9DC72}" type="slidenum">
              <a:rPr lang="en-US" altLang="zh-CN" sz="1200"/>
              <a:t>7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前真后真</a:t>
            </a:r>
          </a:p>
          <a:p>
            <a:r>
              <a:rPr lang="zh-CN" altLang="en-US" dirty="0"/>
              <a:t>扩展练习：否定后件得前件的否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407225-3ED1-4442-AD94-51140364E641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8A29018-1039-4D89-82EC-4569B267B9E5}" type="slidenum">
              <a:rPr lang="en-US" altLang="zh-CN" sz="1200"/>
              <a:t>11</a:t>
            </a:fld>
            <a:endParaRPr lang="en-US" altLang="zh-CN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3.1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由命题公式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推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的推理正确当且仅当</a:t>
            </a: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为重言式</a:t>
            </a: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43BAD1-458A-480D-81E6-A86AA2581861}" type="slidenum">
              <a:rPr lang="en-US" altLang="zh-CN" sz="1200"/>
              <a:t>12</a:t>
            </a:fld>
            <a:endParaRPr lang="en-US" altLang="zh-CN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DBE147-4507-4186-A780-9AB3D86ABE4E}" type="slidenum">
              <a:rPr lang="en-US" altLang="zh-CN" sz="1200"/>
              <a:t>13</a:t>
            </a:fld>
            <a:endParaRPr lang="en-US" altLang="zh-CN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b="1"/>
              <a:t>构造性二难推理</a:t>
            </a:r>
            <a:r>
              <a:rPr lang="zh-CN" altLang="en-US"/>
              <a:t>的意思就是，构造出一个二难的境地</a:t>
            </a:r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407225-3ED1-4442-AD94-51140364E641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407225-3ED1-4442-AD94-51140364E641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407225-3ED1-4442-AD94-51140364E641}" type="slidenum">
              <a:rPr lang="en-US" altLang="zh-CN" smtClean="0"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拒取式：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407225-3ED1-4442-AD94-51140364E641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407225-3ED1-4442-AD94-51140364E641}" type="slidenum">
              <a:rPr lang="en-US" altLang="zh-CN" smtClean="0"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407225-3ED1-4442-AD94-51140364E641}" type="slidenum">
              <a:rPr lang="en-US" altLang="zh-CN" smtClean="0"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9E6E0F6-5946-4B56-8322-F85FB2CD9038}" type="slidenum">
              <a:rPr lang="zh-CN" altLang="en-US" sz="1200"/>
              <a:t>22</a:t>
            </a:fld>
            <a:endParaRPr lang="en-US" altLang="zh-CN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古希腊辩论中常用这类推理，原意为双重假定，并无“难”意。</a:t>
            </a:r>
          </a:p>
          <a:p>
            <a:pPr eaLnBrk="1" hangingPunct="1"/>
            <a:r>
              <a:rPr lang="zh-CN" altLang="en-US" dirty="0"/>
              <a:t>这种推理之所以叫二难推理，是因为在辩论的时候，辩论者常用此方法对一个问题，向对方提出两种可能，对方不论选择那一种可能，其结果总是“不利”的，使对方陷于“左右为难”、“进退维谷”的境地。二难推理的名称就是由此而来的。然而，实际上，二难推理也不一定非用在“左右为难”的情况不可，我们只不过是沿用一贯通称的“二难”名称罢了。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zh-CN" dirty="0"/>
              <a:t>东方朔偷饮了汉武帝求得的据说饮了能够不死的酒，汉武帝要杀他，他说：</a:t>
            </a:r>
            <a:r>
              <a:rPr lang="en-US" altLang="zh-CN" dirty="0"/>
              <a:t>“</a:t>
            </a:r>
            <a:r>
              <a:rPr lang="zh-CN" altLang="zh-CN" dirty="0"/>
              <a:t>如果这酒真能使人不死，那么你就杀不死我；如果这酒不能使人不死</a:t>
            </a:r>
            <a:r>
              <a:rPr lang="en-US" altLang="zh-CN" dirty="0"/>
              <a:t>(</a:t>
            </a:r>
            <a:r>
              <a:rPr lang="zh-CN" altLang="zh-CN" dirty="0"/>
              <a:t>你能杀得死我</a:t>
            </a:r>
            <a:r>
              <a:rPr lang="en-US" altLang="zh-CN" dirty="0"/>
              <a:t>)</a:t>
            </a:r>
            <a:r>
              <a:rPr lang="zh-CN" altLang="zh-CN" dirty="0"/>
              <a:t>，那么它就没有什么用处，不必杀我；这酒或者能使人不死，或者不能使人不死；所以你或者杀不死我，或者不必杀我。</a:t>
            </a:r>
            <a:r>
              <a:rPr lang="en-US" altLang="zh-CN" dirty="0"/>
              <a:t>”</a:t>
            </a:r>
            <a:r>
              <a:rPr lang="zh-CN" altLang="zh-CN" dirty="0"/>
              <a:t>这就是一个二难推理。汉武帝认为他说得有理，就放了他。</a:t>
            </a:r>
          </a:p>
          <a:p>
            <a:pPr eaLnBrk="1" hangingPunct="1"/>
            <a:r>
              <a:rPr lang="zh-CN" altLang="en-US" dirty="0"/>
              <a:t>  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zh-CN" dirty="0"/>
              <a:t>纪晓岚买书</a:t>
            </a:r>
            <a:r>
              <a:rPr lang="en-US" altLang="zh-CN" dirty="0"/>
              <a:t>——</a:t>
            </a:r>
            <a:r>
              <a:rPr lang="zh-CN" altLang="zh-CN" dirty="0"/>
              <a:t>谈二难推理</a:t>
            </a:r>
            <a:r>
              <a:rPr lang="en-US" altLang="zh-CN" dirty="0"/>
              <a:t>     </a:t>
            </a:r>
            <a:br>
              <a:rPr lang="en-US" altLang="zh-CN" dirty="0"/>
            </a:br>
            <a:r>
              <a:rPr lang="zh-CN" altLang="zh-CN" dirty="0"/>
              <a:t>清代学者纪晓岚自幼勤奋好学，当他还是个孩子的时候，就经常到书摊上去看书。掌柜对他总是光看不买，有点不耐烦了。</a:t>
            </a:r>
            <a:r>
              <a:rPr lang="en-US" altLang="zh-CN" dirty="0"/>
              <a:t>  </a:t>
            </a:r>
            <a:br>
              <a:rPr lang="en-US" altLang="zh-CN" dirty="0"/>
            </a:br>
            <a:r>
              <a:rPr lang="zh-CN" altLang="zh-CN" dirty="0"/>
              <a:t>一天，掌柜对他说：</a:t>
            </a:r>
            <a:r>
              <a:rPr lang="en-US" altLang="zh-CN" dirty="0"/>
              <a:t>“</a:t>
            </a:r>
            <a:r>
              <a:rPr lang="zh-CN" altLang="zh-CN" dirty="0"/>
              <a:t>小孩子，我们是靠卖书吃饭的，你要看，就买回去看好了。</a:t>
            </a:r>
            <a:r>
              <a:rPr lang="en-US" altLang="zh-CN" dirty="0"/>
              <a:t>  </a:t>
            </a:r>
            <a:br>
              <a:rPr lang="en-US" altLang="zh-CN" dirty="0"/>
            </a:br>
            <a:r>
              <a:rPr lang="zh-CN" altLang="zh-CN" dirty="0"/>
              <a:t>纪晓岚听了，显出不高兴的样子，说：</a:t>
            </a:r>
            <a:r>
              <a:rPr lang="en-US" altLang="zh-CN" dirty="0"/>
              <a:t>“</a:t>
            </a:r>
            <a:r>
              <a:rPr lang="zh-CN" altLang="zh-CN" dirty="0"/>
              <a:t>买书就得先看，不看，怎么知道哪本好？</a:t>
            </a:r>
            <a:r>
              <a:rPr lang="en-US" altLang="zh-CN" dirty="0"/>
              <a:t>”  </a:t>
            </a:r>
            <a:br>
              <a:rPr lang="en-US" altLang="zh-CN" dirty="0"/>
            </a:br>
            <a:r>
              <a:rPr lang="zh-CN" altLang="zh-CN" dirty="0"/>
              <a:t>掌柜的说：</a:t>
            </a:r>
            <a:r>
              <a:rPr lang="en-US" altLang="zh-CN" dirty="0"/>
              <a:t>“</a:t>
            </a:r>
            <a:r>
              <a:rPr lang="zh-CN" altLang="zh-CN" dirty="0"/>
              <a:t>你经常到我这看书，就没有一本好的值得你买了吗？</a:t>
            </a:r>
            <a:r>
              <a:rPr lang="en-US" altLang="zh-CN" dirty="0"/>
              <a:t>”  </a:t>
            </a:r>
            <a:br>
              <a:rPr lang="en-US" altLang="zh-CN" dirty="0"/>
            </a:br>
            <a:r>
              <a:rPr lang="zh-CN" altLang="zh-CN" dirty="0"/>
              <a:t>纪晓岚见掌柜的发火了，就很和气地说：</a:t>
            </a:r>
            <a:r>
              <a:rPr lang="en-US" altLang="zh-CN" dirty="0"/>
              <a:t>“</a:t>
            </a:r>
            <a:r>
              <a:rPr lang="zh-CN" altLang="zh-CN" dirty="0"/>
              <a:t>你这书摊上好的书倒是不少，不过，我看完后也就背得了，还买它有何用？</a:t>
            </a:r>
            <a:r>
              <a:rPr lang="en-US" altLang="zh-CN" dirty="0"/>
              <a:t>”  </a:t>
            </a:r>
            <a:br>
              <a:rPr lang="en-US" altLang="zh-CN" dirty="0"/>
            </a:br>
            <a:r>
              <a:rPr lang="en-US" altLang="zh-CN" dirty="0"/>
              <a:t>“</a:t>
            </a:r>
            <a:r>
              <a:rPr lang="zh-CN" altLang="zh-CN" dirty="0"/>
              <a:t>看完就能背？</a:t>
            </a:r>
            <a:r>
              <a:rPr lang="en-US" altLang="zh-CN" dirty="0"/>
              <a:t>”</a:t>
            </a:r>
            <a:r>
              <a:rPr lang="zh-CN" altLang="zh-CN" dirty="0"/>
              <a:t>掌柜显出一副不相信的神态，顺手拿起一本纪晓岚刚看过的书说道：</a:t>
            </a:r>
            <a:r>
              <a:rPr lang="en-US" altLang="zh-CN" dirty="0"/>
              <a:t>“</a:t>
            </a:r>
            <a:r>
              <a:rPr lang="zh-CN" altLang="zh-CN" dirty="0"/>
              <a:t>要是你当着我的面把这本书背下来，我就把它白送你，要是你背不下来，就永远别再来看我的书了！</a:t>
            </a:r>
            <a:r>
              <a:rPr lang="en-US" altLang="zh-CN" dirty="0"/>
              <a:t>”  </a:t>
            </a:r>
            <a:br>
              <a:rPr lang="en-US" altLang="zh-CN" dirty="0"/>
            </a:br>
            <a:r>
              <a:rPr lang="en-US" altLang="zh-CN" dirty="0"/>
              <a:t>“</a:t>
            </a:r>
            <a:r>
              <a:rPr lang="zh-CN" altLang="zh-CN" dirty="0"/>
              <a:t>好，一言为定。</a:t>
            </a:r>
            <a:r>
              <a:rPr lang="en-US" altLang="zh-CN" dirty="0"/>
              <a:t>”</a:t>
            </a:r>
            <a:r>
              <a:rPr lang="zh-CN" altLang="zh-CN" dirty="0"/>
              <a:t>纪晓岚把两只小手一背，果然把那本书背了下来。</a:t>
            </a:r>
            <a:r>
              <a:rPr lang="en-US" altLang="zh-CN" dirty="0"/>
              <a:t>  </a:t>
            </a:r>
            <a:br>
              <a:rPr lang="en-US" altLang="zh-CN" dirty="0"/>
            </a:br>
            <a:r>
              <a:rPr lang="zh-CN" altLang="zh-CN" dirty="0"/>
              <a:t>掌柜大吃一惊，连连称赞，并把那本书送给了纪晓岚。</a:t>
            </a:r>
            <a:r>
              <a:rPr lang="en-US" altLang="zh-CN" dirty="0"/>
              <a:t>  </a:t>
            </a:r>
            <a:br>
              <a:rPr lang="en-US" altLang="zh-CN" dirty="0"/>
            </a:br>
            <a:r>
              <a:rPr lang="zh-CN" altLang="zh-CN" dirty="0"/>
              <a:t>这段故事中，纪晓岚前半部分的谈话里就包含了如下一个推理：</a:t>
            </a:r>
            <a:r>
              <a:rPr lang="en-US" altLang="zh-CN" dirty="0"/>
              <a:t>  </a:t>
            </a:r>
            <a:br>
              <a:rPr lang="en-US" altLang="zh-CN" dirty="0"/>
            </a:br>
            <a:r>
              <a:rPr lang="zh-CN" altLang="zh-CN" dirty="0"/>
              <a:t>如果是好书，我看完后就背过了，那么，我没必要买；</a:t>
            </a:r>
            <a:r>
              <a:rPr lang="en-US" altLang="zh-CN" dirty="0"/>
              <a:t>  </a:t>
            </a:r>
            <a:br>
              <a:rPr lang="en-US" altLang="zh-CN" dirty="0"/>
            </a:br>
            <a:r>
              <a:rPr lang="zh-CN" altLang="zh-CN" dirty="0"/>
              <a:t>如果不是好书，我看了后当然也没必要买；</a:t>
            </a:r>
            <a:r>
              <a:rPr lang="en-US" altLang="zh-CN" dirty="0"/>
              <a:t>  </a:t>
            </a:r>
            <a:br>
              <a:rPr lang="en-US" altLang="zh-CN" dirty="0"/>
            </a:br>
            <a:r>
              <a:rPr lang="zh-CN" altLang="zh-CN" dirty="0"/>
              <a:t>或者是好书，或者不是好书；</a:t>
            </a:r>
            <a:r>
              <a:rPr lang="en-US" altLang="zh-CN" dirty="0"/>
              <a:t>  </a:t>
            </a:r>
            <a:br>
              <a:rPr lang="en-US" altLang="zh-CN" dirty="0"/>
            </a:br>
            <a:r>
              <a:rPr lang="zh-CN" altLang="zh-CN" dirty="0"/>
              <a:t>总之，我只看不买。</a:t>
            </a:r>
            <a:endParaRPr lang="zh-CN" altLang="en-US" dirty="0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6199C17-4129-4D3E-AC68-33AAD7A921D6}" type="slidenum">
              <a:rPr lang="en-US" altLang="zh-CN" sz="1200"/>
              <a:t>23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9B2533-1897-47EE-80CF-CE6D5EB5000D}" type="slidenum">
              <a:rPr lang="zh-CN" altLang="en-US" sz="1200"/>
              <a:t>24</a:t>
            </a:fld>
            <a:endParaRPr lang="en-US" altLang="zh-CN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  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7962A7-2CBF-497E-9B52-B4E2D8EEF950}" type="slidenum">
              <a:rPr lang="en-US" altLang="zh-CN" sz="1200"/>
              <a:t>25</a:t>
            </a:fld>
            <a:endParaRPr lang="en-US" altLang="zh-CN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48A3188-1BAF-4B38-BBC0-10F025498445}" type="slidenum">
              <a:rPr lang="en-US" altLang="zh-CN" sz="1200"/>
              <a:t>26</a:t>
            </a:fld>
            <a:endParaRPr lang="en-US" altLang="zh-CN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0ECAE47-F6E4-48E1-8E70-AF6AD98719DE}" type="slidenum">
              <a:rPr lang="en-US" altLang="zh-CN" sz="1200"/>
              <a:t>27</a:t>
            </a:fld>
            <a:endParaRPr lang="en-US" altLang="zh-CN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1307D7-1D2D-4240-BC76-076DE1A78230}" type="slidenum">
              <a:rPr lang="en-US" altLang="zh-CN" sz="1200"/>
              <a:t>28</a:t>
            </a:fld>
            <a:endParaRPr lang="en-US" altLang="zh-CN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结论引入规则：在证明的任何步骤所得到的结论都可以作为后继证明的前提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置换规则：等值公式置换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641233F-E81A-49A2-B705-F6332D37C932}" type="slidenum">
              <a:rPr lang="en-US" altLang="zh-CN" sz="1200"/>
              <a:t>29</a:t>
            </a:fld>
            <a:endParaRPr lang="en-US" altLang="zh-CN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1C97D00-6CE2-474C-A137-A98D69FE516E}" type="slidenum">
              <a:rPr lang="en-US" altLang="zh-CN" sz="1200"/>
              <a:t>30</a:t>
            </a:fld>
            <a:endParaRPr lang="en-US" altLang="zh-CN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544CBFF-3CCA-4E5E-824C-8CCADD75D966}" type="slidenum">
              <a:rPr lang="en-US" altLang="zh-CN" sz="1200"/>
              <a:t>31</a:t>
            </a:fld>
            <a:endParaRPr lang="en-US" altLang="zh-CN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7B866F-43D7-42F3-86BC-CDA6D1D1F59F}" type="slidenum">
              <a:rPr lang="en-US" altLang="zh-CN" sz="1200"/>
              <a:t>32</a:t>
            </a:fld>
            <a:endParaRPr lang="en-US" altLang="zh-CN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zh-CN" altLang="en-US" i="1" dirty="0">
                <a:latin typeface="Times New Roman" panose="02020603050405020304" pitchFamily="18" charset="0"/>
              </a:rPr>
              <a:t>实际上不能同时为真，故可以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i="1" dirty="0">
                <a:latin typeface="Times New Roman" panose="02020603050405020304" pitchFamily="18" charset="0"/>
              </a:rPr>
              <a:t>当然，也可以</a:t>
            </a:r>
            <a:r>
              <a:rPr lang="en-US" altLang="zh-CN" b="1" dirty="0">
                <a:sym typeface="Symbol" panose="05050102010706020507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ym typeface="Symbol" panose="05050102010706020507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sym typeface="Symbol" panose="05050102010706020507"/>
              </a:rPr>
              <a:t>)(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sym typeface="Symbol" panose="05050102010706020507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sym typeface="Symbol" panose="05050102010706020507"/>
              </a:rPr>
              <a:t>)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25D19D0-79BB-4A7C-9470-93C9D1849322}" type="slidenum">
              <a:rPr lang="en-US" altLang="zh-CN" sz="1200"/>
              <a:t>33</a:t>
            </a:fld>
            <a:endParaRPr lang="en-US" altLang="zh-CN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F7A748D-D463-4DFE-B2B4-15EE78C71D87}" type="slidenum">
              <a:rPr lang="en-US" altLang="zh-CN" sz="1200"/>
              <a:t>34</a:t>
            </a:fld>
            <a:endParaRPr lang="en-US" altLang="zh-CN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5DEC304-FBC1-4FE5-B19E-F175FE029601}" type="slidenum">
              <a:rPr lang="en-US" altLang="zh-CN" sz="1200"/>
              <a:t>35</a:t>
            </a:fld>
            <a:endParaRPr lang="en-US" altLang="zh-CN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质数</a:t>
            </a:r>
            <a:r>
              <a:rPr lang="en-US" altLang="zh-CN" dirty="0"/>
              <a:t>(prime number)</a:t>
            </a:r>
            <a:r>
              <a:rPr lang="zh-CN" altLang="en-US" dirty="0"/>
              <a:t>又称素数，有无限个。一个大于</a:t>
            </a:r>
            <a:r>
              <a:rPr lang="en-US" altLang="zh-CN" dirty="0"/>
              <a:t>1</a:t>
            </a:r>
            <a:r>
              <a:rPr lang="zh-CN" altLang="en-US" dirty="0"/>
              <a:t>的自然数，除了</a:t>
            </a:r>
            <a:r>
              <a:rPr lang="en-US" altLang="zh-CN" dirty="0"/>
              <a:t>1</a:t>
            </a:r>
            <a:r>
              <a:rPr lang="zh-CN" altLang="en-US" dirty="0"/>
              <a:t>和它本身外，不能被其他自然数整除。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合数</a:t>
            </a:r>
            <a:r>
              <a:rPr lang="zh-CN" altLang="en-US" dirty="0"/>
              <a:t>指自然数中除了能被</a:t>
            </a:r>
            <a:r>
              <a:rPr lang="en-US" altLang="zh-CN" dirty="0"/>
              <a:t>1</a:t>
            </a:r>
            <a:r>
              <a:rPr lang="zh-CN" altLang="en-US" dirty="0"/>
              <a:t>和本身整除外，还能被其他的数整除的数</a:t>
            </a:r>
            <a:endParaRPr lang="en-US" altLang="zh-CN" dirty="0"/>
          </a:p>
          <a:p>
            <a:pPr eaLnBrk="1" hangingPunct="1"/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质数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与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合数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是两个对立的概念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不可能有即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是质数又是合数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的数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zh-CN" altLang="en-US" i="1" dirty="0">
                <a:latin typeface="Times New Roman" panose="02020603050405020304" pitchFamily="18" charset="0"/>
              </a:rPr>
              <a:t>实际上不能同时为真，故可以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i="1" dirty="0">
                <a:latin typeface="Times New Roman" panose="02020603050405020304" pitchFamily="18" charset="0"/>
              </a:rPr>
              <a:t>当然，也可以</a:t>
            </a:r>
            <a:r>
              <a:rPr lang="en-US" altLang="zh-CN" b="1" dirty="0">
                <a:sym typeface="Symbol" panose="05050102010706020507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ym typeface="Symbol" panose="05050102010706020507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sym typeface="Symbol" panose="05050102010706020507"/>
              </a:rPr>
              <a:t>)(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sym typeface="Symbol" panose="05050102010706020507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sym typeface="Symbol" panose="05050102010706020507"/>
              </a:rPr>
              <a:t>)</a:t>
            </a:r>
            <a:endParaRPr lang="zh-CN" altLang="zh-CN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F369553-15DB-4C55-8F10-51E665BCF939}" type="slidenum">
              <a:rPr lang="en-US" altLang="zh-CN" sz="1200"/>
              <a:t>36</a:t>
            </a:fld>
            <a:endParaRPr lang="en-US" altLang="zh-CN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1DB4C28-2CFF-4931-AC6A-2EBC4ED1C6CC}" type="slidenum">
              <a:rPr lang="en-US" altLang="zh-CN" sz="1200"/>
              <a:t>37</a:t>
            </a:fld>
            <a:endParaRPr lang="en-US" altLang="zh-CN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5FC192A-8C12-4690-A375-178EDB9E43C4}" type="slidenum">
              <a:rPr lang="en-US" altLang="zh-CN" sz="1200"/>
              <a:t>38</a:t>
            </a:fld>
            <a:endParaRPr lang="en-US" altLang="zh-CN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6</a:t>
            </a:r>
            <a:r>
              <a:rPr lang="zh-CN" altLang="en-US" dirty="0"/>
              <a:t>和</a:t>
            </a:r>
            <a:r>
              <a:rPr lang="en-US" altLang="zh-CN" dirty="0"/>
              <a:t>7</a:t>
            </a:r>
            <a:r>
              <a:rPr lang="zh-CN" altLang="en-US" dirty="0"/>
              <a:t>分别是主析取范式和主合取范式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790635-F885-4687-8950-F461F11909CE}" type="slidenum">
              <a:rPr lang="zh-CN" altLang="en-US" smtClean="0"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可以简化成这种写法</a:t>
            </a:r>
            <a:r>
              <a:rPr lang="en-US" altLang="zh-CN" dirty="0"/>
              <a:t>【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重言式（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Tautology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）又称为永真式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】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Premise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前提</a:t>
            </a:r>
            <a:endParaRPr lang="en-US" altLang="zh-CN" dirty="0"/>
          </a:p>
          <a:p>
            <a:r>
              <a:rPr lang="zh-CN" altLang="en-US" dirty="0"/>
              <a:t>若有时间，完成课堂练习：用三种证法来证明构造性二难定理，体会两种非直接证法的易用性。</a:t>
            </a:r>
          </a:p>
        </p:txBody>
      </p:sp>
      <p:sp>
        <p:nvSpPr>
          <p:cNvPr id="1024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B391191-07DC-48B8-8A38-21765123C570}" type="slidenum">
              <a:rPr lang="zh-CN" altLang="en-US" sz="1200"/>
              <a:t>41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94B38CB-97FD-4AA8-B4A9-A7FDF0799EA3}" type="slidenum">
              <a:rPr lang="en-US" altLang="zh-CN" sz="1200"/>
              <a:t>42</a:t>
            </a:fld>
            <a:endParaRPr lang="en-US" altLang="zh-CN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6853B1C-3523-464A-B11E-868C5EAE9717}" type="slidenum">
              <a:rPr lang="en-US" altLang="zh-CN" sz="1200"/>
              <a:t>43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DEE08D8-A5AA-4E7E-8F74-EFD4F4C3400B}" type="slidenum">
              <a:rPr lang="en-US" altLang="zh-CN" sz="1200"/>
              <a:t>44</a:t>
            </a:fld>
            <a:endParaRPr lang="en-US" altLang="zh-CN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C212D8-EFFF-441D-8D4F-4AAA7227887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1402FF-9937-47C4-A7B9-7772D8E97A0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EC5C8-05CA-4BAA-8752-BEB5BAB86CA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2FFCB3-7871-4086-BF4D-FDA8C797005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CDFF2-89A5-4D27-86FB-20CF09D1D49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F102F5-AFDB-40CB-B199-5A7BEBC9C43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E4BB8B-7CF0-448C-B797-F057307D111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D940C-507D-4339-9847-48F72AE574D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56144D-DA8D-438C-907D-AF9478DFD1B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8B08A-972C-4931-87AF-625CF5B216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2E0C8C-E2AB-4B50-8A3A-22504E147F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82A42C1F-ADF7-4107-9AB9-3038B0C87E07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5.png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0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5EA5E0-A015-4B05-A010-09FFD74D1E75}" type="slidenum">
              <a:rPr lang="en-US" altLang="zh-CN" sz="1400" b="0"/>
              <a:t>1</a:t>
            </a:fld>
            <a:endParaRPr lang="en-US" altLang="zh-CN" sz="1400" b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37300" cy="431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latin typeface="宋体" panose="02010600030101010101" pitchFamily="2" charset="-122"/>
              </a:rPr>
              <a:t>第一部分 数理逻辑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5695"/>
          <a:stretch>
            <a:fillRect/>
          </a:stretch>
        </p:blipFill>
        <p:spPr>
          <a:xfrm>
            <a:off x="457200" y="1197842"/>
            <a:ext cx="8020050" cy="530869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195736" y="3789040"/>
            <a:ext cx="4824536" cy="6702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05FACC3-D212-4DAE-8965-856C1A29B536}" type="slidenum">
              <a:rPr lang="en-US" altLang="zh-CN" sz="1400" b="0"/>
              <a:t>2</a:t>
            </a:fld>
            <a:endParaRPr lang="en-US" altLang="zh-CN" sz="1400" b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4924425"/>
          </a:xfrm>
        </p:spPr>
        <p:txBody>
          <a:bodyPr/>
          <a:lstStyle/>
          <a:p>
            <a:pPr marL="361950" indent="-361950" eaLnBrk="1" hangingPunct="1"/>
            <a:r>
              <a:rPr lang="zh-CN" altLang="en-US"/>
              <a:t>主要内容</a:t>
            </a:r>
          </a:p>
          <a:p>
            <a:pPr marL="361950" indent="-361950" eaLnBrk="1" hangingPunct="1">
              <a:buClr>
                <a:srgbClr val="FF9900"/>
              </a:buClr>
            </a:pPr>
            <a:r>
              <a:rPr lang="en-US" altLang="zh-CN"/>
              <a:t>3.1</a:t>
            </a:r>
            <a:r>
              <a:rPr lang="zh-CN" altLang="en-US"/>
              <a:t>推理的形式结构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推理的正确与错误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推理的形式结构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判断推理正确的方法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推理定律</a:t>
            </a:r>
          </a:p>
          <a:p>
            <a:pPr marL="361950" indent="-361950" eaLnBrk="1" hangingPunct="1">
              <a:spcBef>
                <a:spcPct val="60000"/>
              </a:spcBef>
              <a:buClr>
                <a:srgbClr val="FF9900"/>
              </a:buClr>
            </a:pPr>
            <a:r>
              <a:rPr lang="en-US" altLang="zh-CN"/>
              <a:t>3.2</a:t>
            </a:r>
            <a:r>
              <a:rPr lang="zh-CN" altLang="en-US"/>
              <a:t>自然推理系统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形式系统的定义与分类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自然推理系统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在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zh-CN" altLang="en-US">
                <a:latin typeface="Times New Roman" panose="02020603050405020304" pitchFamily="18" charset="0"/>
              </a:rPr>
              <a:t>中构造证明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zh-CN" altLang="en-US">
                <a:latin typeface="Times New Roman" panose="02020603050405020304" pitchFamily="18" charset="0"/>
              </a:rPr>
              <a:t>直接证明法、附加前提证明法、归谬法</a:t>
            </a:r>
          </a:p>
          <a:p>
            <a:pPr marL="361950" indent="-361950" eaLnBrk="1" hangingPunct="1">
              <a:buFont typeface="Wingdings" panose="05000000000000000000" pitchFamily="2" charset="2"/>
              <a:buChar char="l"/>
            </a:pP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第三章 命题逻辑的推理理论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8E0C4AE-3A79-478A-8D1C-EA5812ABBB59}" type="slidenum">
              <a:rPr lang="en-US" altLang="zh-CN" sz="1400" b="0"/>
              <a:t>3</a:t>
            </a:fld>
            <a:endParaRPr lang="en-US" altLang="zh-CN" sz="1400" b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4924425"/>
          </a:xfrm>
        </p:spPr>
        <p:txBody>
          <a:bodyPr/>
          <a:lstStyle/>
          <a:p>
            <a:pPr marL="361950" indent="-361950" eaLnBrk="1" hangingPunct="1"/>
            <a:r>
              <a:rPr lang="zh-CN" altLang="en-US"/>
              <a:t>主要内容</a:t>
            </a:r>
          </a:p>
          <a:p>
            <a:pPr marL="361950" indent="-361950" eaLnBrk="1" hangingPunct="1">
              <a:buClr>
                <a:srgbClr val="FF9900"/>
              </a:buClr>
            </a:pPr>
            <a:r>
              <a:rPr lang="en-US" altLang="zh-CN">
                <a:solidFill>
                  <a:srgbClr val="FF0000"/>
                </a:solidFill>
              </a:rPr>
              <a:t>3.1</a:t>
            </a:r>
            <a:r>
              <a:rPr lang="zh-CN" altLang="en-US">
                <a:solidFill>
                  <a:srgbClr val="FF0000"/>
                </a:solidFill>
              </a:rPr>
              <a:t>推理的形式结构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FF0000"/>
                </a:solidFill>
              </a:rPr>
              <a:t>推理的正确与错误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FF0000"/>
                </a:solidFill>
              </a:rPr>
              <a:t>推理的形式结构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FF0000"/>
                </a:solidFill>
              </a:rPr>
              <a:t>判断推理正确的方法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FF0000"/>
                </a:solidFill>
              </a:rPr>
              <a:t>推理定律</a:t>
            </a:r>
          </a:p>
          <a:p>
            <a:pPr marL="361950" indent="-361950" eaLnBrk="1" hangingPunct="1">
              <a:spcBef>
                <a:spcPct val="60000"/>
              </a:spcBef>
              <a:buClr>
                <a:srgbClr val="FF9900"/>
              </a:buClr>
            </a:pPr>
            <a:r>
              <a:rPr lang="en-US" altLang="zh-CN"/>
              <a:t>3.2</a:t>
            </a:r>
            <a:r>
              <a:rPr lang="zh-CN" altLang="en-US"/>
              <a:t>自然推理系统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形式系统的定义与分类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自然推理系统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在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zh-CN" altLang="en-US">
                <a:latin typeface="Times New Roman" panose="02020603050405020304" pitchFamily="18" charset="0"/>
              </a:rPr>
              <a:t>中构造证明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zh-CN" altLang="en-US">
                <a:latin typeface="Times New Roman" panose="02020603050405020304" pitchFamily="18" charset="0"/>
              </a:rPr>
              <a:t>直接证明法、附加前提证明法、归谬法</a:t>
            </a:r>
          </a:p>
          <a:p>
            <a:pPr marL="361950" indent="-361950" eaLnBrk="1" hangingPunct="1">
              <a:buFont typeface="Wingdings" panose="05000000000000000000" pitchFamily="2" charset="2"/>
              <a:buChar char="l"/>
            </a:pP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第三章 命题逻辑的推理理论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5D38D01-AE96-46E2-8455-72B2D49455EE}" type="slidenum">
              <a:rPr lang="en-US" altLang="zh-CN" sz="1400" b="0"/>
              <a:t>4</a:t>
            </a:fld>
            <a:endParaRPr lang="en-US" altLang="zh-CN" sz="1400" b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3.1  </a:t>
            </a:r>
            <a:r>
              <a:rPr lang="zh-CN" altLang="en-US"/>
              <a:t>推理的形式结构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229600" cy="1944687"/>
          </a:xfrm>
        </p:spPr>
        <p:txBody>
          <a:bodyPr/>
          <a:lstStyle/>
          <a:p>
            <a:pPr marL="625475" indent="-625475" eaLnBrk="1" hangingPunct="1">
              <a:tabLst>
                <a:tab pos="990600" algn="l"/>
                <a:tab pos="1431925" algn="l"/>
              </a:tabLst>
              <a:defRPr/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3.1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为命题公式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若对于每组赋值，</a:t>
            </a:r>
          </a:p>
          <a:p>
            <a:pPr marL="625475" indent="-625475" eaLnBrk="1" hangingPunct="1">
              <a:tabLst>
                <a:tab pos="990600" algn="l"/>
                <a:tab pos="1431925" algn="l"/>
              </a:tabLst>
              <a:defRPr/>
            </a:pP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为假，或  当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为真时，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也为真，</a:t>
            </a:r>
          </a:p>
          <a:p>
            <a:pPr marL="625475" indent="-625475" eaLnBrk="1" hangingPunct="1">
              <a:tabLst>
                <a:tab pos="990600" algn="l"/>
                <a:tab pos="1431925" algn="l"/>
              </a:tabLst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则称由</a:t>
            </a:r>
            <a:r>
              <a:rPr lang="zh-CN" altLang="en-US" dirty="0">
                <a:solidFill>
                  <a:srgbClr val="A50021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前提</a:t>
            </a:r>
            <a:r>
              <a:rPr lang="en-US" altLang="zh-CN" i="1" dirty="0">
                <a:highlight>
                  <a:srgbClr val="FFFF00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highlight>
                  <a:srgbClr val="FFFF00"/>
                </a:highlight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highlight>
                  <a:srgbClr val="FFFF00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highlight>
                  <a:srgbClr val="FFFF00"/>
                </a:highlight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highlight>
                  <a:srgbClr val="FFFF00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highlight>
                  <a:srgbClr val="FFFF00"/>
                </a:highlight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推出</a:t>
            </a:r>
            <a:r>
              <a:rPr lang="zh-CN" altLang="en-US" dirty="0">
                <a:solidFill>
                  <a:srgbClr val="A50021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结论</a:t>
            </a:r>
            <a:r>
              <a:rPr lang="en-US" altLang="zh-CN" i="1" dirty="0">
                <a:highlight>
                  <a:srgbClr val="FFFF00"/>
                </a:highlight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推理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有效的</a:t>
            </a: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正确</a:t>
            </a:r>
          </a:p>
          <a:p>
            <a:pPr marL="625475" indent="-625475" eaLnBrk="1" hangingPunct="1">
              <a:tabLst>
                <a:tab pos="990600" algn="l"/>
                <a:tab pos="1431925" algn="l"/>
              </a:tabLst>
              <a:defRPr/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并称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有效结论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02758" name="Rectangle 6"/>
          <p:cNvSpPr>
            <a:spLocks noChangeArrowheads="1"/>
          </p:cNvSpPr>
          <p:nvPr/>
        </p:nvSpPr>
        <p:spPr bwMode="auto">
          <a:xfrm>
            <a:off x="323850" y="3357563"/>
            <a:ext cx="8229600" cy="187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25475" indent="-62547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tabLst>
                <a:tab pos="990600" algn="l"/>
                <a:tab pos="1431925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2057400" indent="-628650">
              <a:spcBef>
                <a:spcPct val="20000"/>
              </a:spcBef>
              <a:buChar char="–"/>
              <a:tabLst>
                <a:tab pos="990600" algn="l"/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2818130" indent="-558800">
              <a:spcBef>
                <a:spcPct val="20000"/>
              </a:spcBef>
              <a:buChar char="•"/>
              <a:tabLst>
                <a:tab pos="990600" algn="l"/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3556000" indent="-558800">
              <a:spcBef>
                <a:spcPct val="20000"/>
              </a:spcBef>
              <a:buChar char="–"/>
              <a:tabLst>
                <a:tab pos="990600" algn="l"/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4294505" indent="-558800">
              <a:spcBef>
                <a:spcPct val="20000"/>
              </a:spcBef>
              <a:buChar char="»"/>
              <a:tabLst>
                <a:tab pos="990600" algn="l"/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4751705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90600" algn="l"/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5208905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90600" algn="l"/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5666105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90600" algn="l"/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6123305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90600" algn="l"/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3.1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由命题公式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推出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的推理正确当且仅当</a:t>
            </a: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为重言式</a:t>
            </a: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注意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推理正确不能保证结论一定正确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9ECC1D-7EF5-4BD9-AC62-3A7C9A8325B9}" type="slidenum">
              <a:rPr lang="en-US" altLang="zh-CN" sz="1400" b="0"/>
              <a:t>5</a:t>
            </a:fld>
            <a:endParaRPr lang="en-US" altLang="zh-CN" sz="1400" b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推理的形式结构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3400425"/>
            <a:ext cx="7488238" cy="2657475"/>
          </a:xfrm>
        </p:spPr>
        <p:txBody>
          <a:bodyPr/>
          <a:lstStyle/>
          <a:p>
            <a:pPr marL="990600" indent="-990600" eaLnBrk="1" hangingPunct="1"/>
            <a:r>
              <a:rPr lang="en-US" altLang="zh-CN">
                <a:latin typeface="Times New Roman" panose="02020603050405020304" pitchFamily="18" charset="0"/>
              </a:rPr>
              <a:t>2.</a:t>
            </a:r>
            <a:r>
              <a:rPr lang="en-US" altLang="zh-CN" i="1">
                <a:latin typeface="Times New Roman" panose="02020603050405020304" pitchFamily="18" charset="0"/>
              </a:rPr>
              <a:t>  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…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endParaRPr lang="en-US" altLang="zh-CN">
              <a:latin typeface="Times New Roman" panose="02020603050405020304" pitchFamily="18" charset="0"/>
            </a:endParaRPr>
          </a:p>
          <a:p>
            <a:pPr marL="990600" indent="-990600" eaLnBrk="1" hangingPunct="1"/>
            <a:r>
              <a:rPr lang="en-US" altLang="zh-CN">
                <a:latin typeface="Times New Roman" panose="02020603050405020304" pitchFamily="18" charset="0"/>
              </a:rPr>
              <a:t>    </a:t>
            </a:r>
            <a:r>
              <a:rPr lang="zh-CN" altLang="en-US">
                <a:latin typeface="Times New Roman" panose="02020603050405020304" pitchFamily="18" charset="0"/>
              </a:rPr>
              <a:t>若推理正确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记为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>
                <a:latin typeface="Times New Roman" panose="02020603050405020304" pitchFamily="18" charset="0"/>
              </a:rPr>
              <a:t>…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</a:p>
          <a:p>
            <a:pPr marL="990600" indent="-990600" eaLnBrk="1" hangingPunct="1"/>
            <a:endParaRPr lang="en-US" altLang="zh-CN">
              <a:latin typeface="Times New Roman" panose="02020603050405020304" pitchFamily="18" charset="0"/>
            </a:endParaRPr>
          </a:p>
          <a:p>
            <a:pPr marL="990600" indent="-990600" eaLnBrk="1" hangingPunct="1"/>
            <a:r>
              <a:rPr lang="en-US" altLang="zh-CN">
                <a:latin typeface="Times New Roman" panose="02020603050405020304" pitchFamily="18" charset="0"/>
              </a:rPr>
              <a:t>3.  </a:t>
            </a:r>
            <a:r>
              <a:rPr lang="zh-CN" altLang="en-US">
                <a:latin typeface="Times New Roman" panose="02020603050405020304" pitchFamily="18" charset="0"/>
              </a:rPr>
              <a:t>前提：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 … 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endParaRPr lang="en-US" altLang="zh-CN" baseline="-25000">
              <a:latin typeface="Times New Roman" panose="02020603050405020304" pitchFamily="18" charset="0"/>
            </a:endParaRPr>
          </a:p>
          <a:p>
            <a:pPr marL="990600" indent="-990600" eaLnBrk="1" hangingPunct="1"/>
            <a:r>
              <a:rPr lang="en-US" altLang="zh-CN">
                <a:latin typeface="Times New Roman" panose="02020603050405020304" pitchFamily="18" charset="0"/>
              </a:rPr>
              <a:t>     </a:t>
            </a:r>
            <a:r>
              <a:rPr lang="zh-CN" altLang="en-US">
                <a:latin typeface="Times New Roman" panose="02020603050405020304" pitchFamily="18" charset="0"/>
              </a:rPr>
              <a:t>结论：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12293" name="组合 3"/>
          <p:cNvGrpSpPr/>
          <p:nvPr/>
        </p:nvGrpSpPr>
        <p:grpSpPr bwMode="auto">
          <a:xfrm>
            <a:off x="323850" y="1125538"/>
            <a:ext cx="5688013" cy="2235200"/>
            <a:chOff x="323850" y="1125538"/>
            <a:chExt cx="5688013" cy="2235200"/>
          </a:xfrm>
        </p:grpSpPr>
        <p:grpSp>
          <p:nvGrpSpPr>
            <p:cNvPr id="12294" name="Group 9"/>
            <p:cNvGrpSpPr/>
            <p:nvPr/>
          </p:nvGrpSpPr>
          <p:grpSpPr bwMode="auto">
            <a:xfrm>
              <a:off x="323850" y="1125538"/>
              <a:ext cx="5688013" cy="2235200"/>
              <a:chOff x="204" y="845"/>
              <a:chExt cx="3583" cy="1408"/>
            </a:xfrm>
          </p:grpSpPr>
          <p:sp>
            <p:nvSpPr>
              <p:cNvPr id="12298" name="Text Box 6"/>
              <p:cNvSpPr txBox="1">
                <a:spLocks noChangeArrowheads="1"/>
              </p:cNvSpPr>
              <p:nvPr/>
            </p:nvSpPr>
            <p:spPr bwMode="auto">
              <a:xfrm>
                <a:off x="204" y="845"/>
                <a:ext cx="3583" cy="14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9B3F1"/>
                  </a:buClr>
                  <a:buFont typeface="Wingdings" panose="05000000000000000000" pitchFamily="2" charset="2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/>
                  <a:t>推理的形式结构</a:t>
                </a:r>
              </a:p>
              <a:p>
                <a:pPr eaLnBrk="1" hangingPunct="1"/>
                <a:r>
                  <a:rPr lang="en-US" altLang="zh-CN">
                    <a:latin typeface="Times New Roman" panose="02020603050405020304" pitchFamily="18" charset="0"/>
                  </a:rPr>
                  <a:t>1. {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>
                    <a:latin typeface="Times New Roman" panose="02020603050405020304" pitchFamily="18" charset="0"/>
                  </a:rPr>
                  <a:t>,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zh-CN">
                    <a:latin typeface="Times New Roman" panose="02020603050405020304" pitchFamily="18" charset="0"/>
                  </a:rPr>
                  <a:t>, …,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i="1" baseline="-25000">
                    <a:latin typeface="Times New Roman" panose="02020603050405020304" pitchFamily="18" charset="0"/>
                  </a:rPr>
                  <a:t>k</a:t>
                </a:r>
                <a:r>
                  <a:rPr lang="en-US" altLang="zh-CN">
                    <a:latin typeface="Times New Roman" panose="02020603050405020304" pitchFamily="18" charset="0"/>
                  </a:rPr>
                  <a:t>}   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B</a:t>
                </a:r>
              </a:p>
              <a:p>
                <a:pPr eaLnBrk="1" hangingPunct="1"/>
                <a:r>
                  <a:rPr lang="en-US" altLang="zh-CN">
                    <a:latin typeface="Times New Roman" panose="02020603050405020304" pitchFamily="18" charset="0"/>
                  </a:rPr>
                  <a:t>    </a:t>
                </a:r>
                <a:r>
                  <a:rPr lang="zh-CN" altLang="en-US">
                    <a:latin typeface="Times New Roman" panose="02020603050405020304" pitchFamily="18" charset="0"/>
                  </a:rPr>
                  <a:t>若推理正确</a:t>
                </a:r>
                <a:r>
                  <a:rPr lang="en-US" altLang="zh-CN">
                    <a:latin typeface="Times New Roman" panose="02020603050405020304" pitchFamily="18" charset="0"/>
                  </a:rPr>
                  <a:t>, </a:t>
                </a:r>
                <a:r>
                  <a:rPr lang="zh-CN" altLang="en-US">
                    <a:latin typeface="Times New Roman" panose="02020603050405020304" pitchFamily="18" charset="0"/>
                  </a:rPr>
                  <a:t>记为</a:t>
                </a:r>
                <a:r>
                  <a:rPr lang="en-US" altLang="zh-CN">
                    <a:latin typeface="Times New Roman" panose="02020603050405020304" pitchFamily="18" charset="0"/>
                  </a:rPr>
                  <a:t>{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>
                    <a:latin typeface="Times New Roman" panose="02020603050405020304" pitchFamily="18" charset="0"/>
                  </a:rPr>
                  <a:t>,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zh-CN">
                    <a:latin typeface="Times New Roman" panose="02020603050405020304" pitchFamily="18" charset="0"/>
                  </a:rPr>
                  <a:t>,</a:t>
                </a:r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,</a:t>
                </a:r>
                <a:r>
                  <a:rPr lang="en-US" altLang="zh-CN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zh-CN" i="1" baseline="-25000">
                    <a:latin typeface="Times New Roman" panose="02020603050405020304" pitchFamily="18" charset="0"/>
                    <a:sym typeface="Symbol" panose="05050102010706020507" pitchFamily="18" charset="2"/>
                  </a:rPr>
                  <a:t>n</a:t>
                </a:r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}     </a:t>
                </a:r>
                <a:r>
                  <a:rPr lang="en-US" altLang="zh-CN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</a:p>
              <a:p>
                <a:pPr eaLnBrk="1" hangingPunct="1"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  <a:sym typeface="Symbol" panose="05050102010706020507" pitchFamily="18" charset="2"/>
                  </a:rPr>
                  <a:t>    否则记为</a:t>
                </a:r>
                <a:r>
                  <a:rPr lang="en-US" altLang="zh-CN">
                    <a:latin typeface="Times New Roman" panose="02020603050405020304" pitchFamily="18" charset="0"/>
                  </a:rPr>
                  <a:t>{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>
                    <a:latin typeface="Times New Roman" panose="02020603050405020304" pitchFamily="18" charset="0"/>
                  </a:rPr>
                  <a:t>,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zh-CN">
                    <a:latin typeface="Times New Roman" panose="02020603050405020304" pitchFamily="18" charset="0"/>
                  </a:rPr>
                  <a:t>,</a:t>
                </a:r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,</a:t>
                </a:r>
                <a:r>
                  <a:rPr lang="en-US" altLang="zh-CN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zh-CN" i="1" baseline="-25000">
                    <a:latin typeface="Times New Roman" panose="02020603050405020304" pitchFamily="18" charset="0"/>
                    <a:sym typeface="Symbol" panose="05050102010706020507" pitchFamily="18" charset="2"/>
                  </a:rPr>
                  <a:t>n</a:t>
                </a:r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}     </a:t>
                </a:r>
                <a:r>
                  <a:rPr lang="en-US" altLang="zh-CN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</a:p>
              <a:p>
                <a:pPr eaLnBrk="1" hangingPunct="1"/>
                <a:endParaRPr lang="en-US" altLang="zh-CN" i="1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pic>
            <p:nvPicPr>
              <p:cNvPr id="12299" name="Picture 7" descr="推理符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71" y="1162"/>
                <a:ext cx="120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300" name="Picture 8" descr="推理符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6" y="1480"/>
                <a:ext cx="158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2295" name="组合 2"/>
            <p:cNvGrpSpPr/>
            <p:nvPr/>
          </p:nvGrpSpPr>
          <p:grpSpPr bwMode="auto">
            <a:xfrm>
              <a:off x="3707903" y="2567037"/>
              <a:ext cx="216025" cy="288093"/>
              <a:chOff x="6929456" y="4941107"/>
              <a:chExt cx="288926" cy="360363"/>
            </a:xfrm>
          </p:grpSpPr>
          <p:pic>
            <p:nvPicPr>
              <p:cNvPr id="12296" name="Picture 7" descr="推理符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29456" y="4953807"/>
                <a:ext cx="288926" cy="319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297" name="Line 8"/>
              <p:cNvSpPr>
                <a:spLocks noChangeShapeType="1"/>
              </p:cNvSpPr>
              <p:nvPr/>
            </p:nvSpPr>
            <p:spPr bwMode="auto">
              <a:xfrm flipH="1">
                <a:off x="7000894" y="4941107"/>
                <a:ext cx="144463" cy="360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31722E-9D1C-406A-AEAC-8EE53E6D4712}" type="slidenum">
              <a:rPr lang="en-US" altLang="zh-CN" sz="1400" b="0">
                <a:latin typeface="Verdana" panose="020B0604030504040204" pitchFamily="34" charset="0"/>
              </a:rPr>
              <a:t>6</a:t>
            </a:fld>
            <a:endParaRPr lang="en-US" altLang="zh-CN" sz="1400" b="0">
              <a:latin typeface="Verdana" panose="020B060403050404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推理的形式结构</a:t>
            </a:r>
            <a:r>
              <a:rPr lang="en-US" altLang="zh-CN"/>
              <a:t>_</a:t>
            </a:r>
            <a:r>
              <a:rPr lang="zh-CN" altLang="en-US"/>
              <a:t>实例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7675" y="1338263"/>
            <a:ext cx="8229600" cy="4525962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判断下列推理是否正确：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sym typeface="Symbol" panose="05050102010706020507" pitchFamily="18" charset="2"/>
              </a:rPr>
              <a:t>{</a:t>
            </a:r>
            <a:r>
              <a:rPr lang="en-US" altLang="zh-CN" sz="3000" b="1" i="1">
                <a:latin typeface="Times New Roman" panose="02020603050405020304" pitchFamily="18" charset="0"/>
              </a:rPr>
              <a:t>q</a:t>
            </a:r>
            <a:r>
              <a:rPr lang="en-US" altLang="zh-CN" sz="30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3000" b="1">
                <a:latin typeface="Times New Roman" panose="02020603050405020304" pitchFamily="18" charset="0"/>
              </a:rPr>
              <a:t> </a:t>
            </a:r>
            <a:r>
              <a:rPr lang="en-US" altLang="zh-CN" sz="3000" b="1" i="1">
                <a:latin typeface="Times New Roman" panose="02020603050405020304" pitchFamily="18" charset="0"/>
              </a:rPr>
              <a:t>p</a:t>
            </a:r>
            <a:r>
              <a:rPr lang="en-US" altLang="zh-CN" sz="3000" b="1">
                <a:latin typeface="Times New Roman" panose="02020603050405020304" pitchFamily="18" charset="0"/>
              </a:rPr>
              <a:t> → </a:t>
            </a:r>
            <a:r>
              <a:rPr lang="en-US" altLang="zh-CN" sz="3000" b="1" i="1">
                <a:latin typeface="Times New Roman" panose="02020603050405020304" pitchFamily="18" charset="0"/>
              </a:rPr>
              <a:t>q</a:t>
            </a:r>
            <a:r>
              <a:rPr lang="en-US" altLang="zh-CN" sz="3000" b="1">
                <a:latin typeface="Times New Roman" panose="02020603050405020304" pitchFamily="18" charset="0"/>
              </a:rPr>
              <a:t> }  </a:t>
            </a:r>
            <a:r>
              <a:rPr lang="en-US" altLang="zh-CN" sz="3000" b="1">
                <a:latin typeface="Times New Roman" panose="02020603050405020304" pitchFamily="18" charset="0"/>
                <a:sym typeface="MT Symbol"/>
              </a:rPr>
              <a:t>  </a:t>
            </a:r>
            <a:r>
              <a:rPr lang="en-US" altLang="zh-CN" sz="3000" b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000" b="1" i="1">
                <a:latin typeface="Times New Roman" panose="02020603050405020304" pitchFamily="18" charset="0"/>
              </a:rPr>
              <a:t>p</a:t>
            </a:r>
          </a:p>
        </p:txBody>
      </p:sp>
      <p:pic>
        <p:nvPicPr>
          <p:cNvPr id="14341" name="Picture 33" descr="推理符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1789113"/>
            <a:ext cx="21907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0"/>
          <p:cNvGrpSpPr/>
          <p:nvPr/>
        </p:nvGrpSpPr>
        <p:grpSpPr bwMode="auto">
          <a:xfrm>
            <a:off x="1550988" y="4056063"/>
            <a:ext cx="3455987" cy="549275"/>
            <a:chOff x="612" y="3475"/>
            <a:chExt cx="2177" cy="346"/>
          </a:xfrm>
        </p:grpSpPr>
        <p:sp>
          <p:nvSpPr>
            <p:cNvPr id="14387" name="Rectangle 34"/>
            <p:cNvSpPr>
              <a:spLocks noChangeArrowheads="1"/>
            </p:cNvSpPr>
            <p:nvPr/>
          </p:nvSpPr>
          <p:spPr bwMode="auto">
            <a:xfrm>
              <a:off x="612" y="3475"/>
              <a:ext cx="2177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3000">
                  <a:latin typeface="Times New Roman" panose="02020603050405020304" pitchFamily="18" charset="0"/>
                  <a:sym typeface="Symbol" panose="05050102010706020507" pitchFamily="18" charset="2"/>
                </a:rPr>
                <a:t>{</a:t>
              </a:r>
              <a:r>
                <a:rPr lang="en-US" altLang="zh-CN" sz="3000" i="1">
                  <a:latin typeface="Times New Roman" panose="02020603050405020304" pitchFamily="18" charset="0"/>
                </a:rPr>
                <a:t>q</a:t>
              </a:r>
              <a:r>
                <a:rPr lang="en-US" altLang="zh-CN" sz="3000">
                  <a:latin typeface="Times New Roman" panose="02020603050405020304" pitchFamily="18" charset="0"/>
                  <a:sym typeface="Symbol" panose="05050102010706020507" pitchFamily="18" charset="2"/>
                </a:rPr>
                <a:t>,</a:t>
              </a:r>
              <a:r>
                <a:rPr lang="en-US" altLang="zh-CN" sz="3000">
                  <a:latin typeface="Times New Roman" panose="02020603050405020304" pitchFamily="18" charset="0"/>
                </a:rPr>
                <a:t> </a:t>
              </a:r>
              <a:r>
                <a:rPr lang="en-US" altLang="zh-CN" sz="3000" i="1">
                  <a:latin typeface="Times New Roman" panose="02020603050405020304" pitchFamily="18" charset="0"/>
                </a:rPr>
                <a:t>p</a:t>
              </a:r>
              <a:r>
                <a:rPr lang="en-US" altLang="zh-CN" sz="3000">
                  <a:latin typeface="Times New Roman" panose="02020603050405020304" pitchFamily="18" charset="0"/>
                </a:rPr>
                <a:t> → </a:t>
              </a:r>
              <a:r>
                <a:rPr lang="en-US" altLang="zh-CN" sz="3000" i="1">
                  <a:latin typeface="Times New Roman" panose="02020603050405020304" pitchFamily="18" charset="0"/>
                </a:rPr>
                <a:t>q</a:t>
              </a:r>
              <a:r>
                <a:rPr lang="en-US" altLang="zh-CN" sz="3000">
                  <a:latin typeface="Times New Roman" panose="02020603050405020304" pitchFamily="18" charset="0"/>
                </a:rPr>
                <a:t> }  </a:t>
              </a:r>
              <a:r>
                <a:rPr lang="en-US" altLang="zh-CN" sz="3000">
                  <a:latin typeface="Times New Roman" panose="02020603050405020304" pitchFamily="18" charset="0"/>
                  <a:sym typeface="MT Symbol"/>
                </a:rPr>
                <a:t>  </a:t>
              </a:r>
              <a:r>
                <a:rPr lang="en-US" altLang="zh-CN" sz="3000">
                  <a:latin typeface="Times New Roman" panose="02020603050405020304" pitchFamily="18" charset="0"/>
                  <a:sym typeface="Symbol" panose="05050102010706020507" pitchFamily="18" charset="2"/>
                </a:rPr>
                <a:t></a:t>
              </a:r>
              <a:r>
                <a:rPr lang="en-US" altLang="zh-CN" sz="3000" i="1">
                  <a:latin typeface="Times New Roman" panose="02020603050405020304" pitchFamily="18" charset="0"/>
                </a:rPr>
                <a:t>p</a:t>
              </a:r>
            </a:p>
          </p:txBody>
        </p:sp>
        <p:pic>
          <p:nvPicPr>
            <p:cNvPr id="14388" name="Picture 35" descr="推理符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3" y="3575"/>
              <a:ext cx="182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98022" name="Rectangle 38"/>
          <p:cNvSpPr>
            <a:spLocks noChangeArrowheads="1"/>
          </p:cNvSpPr>
          <p:nvPr/>
        </p:nvSpPr>
        <p:spPr bwMode="auto">
          <a:xfrm>
            <a:off x="900113" y="2398713"/>
            <a:ext cx="72009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方法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假定</a:t>
            </a:r>
            <a:r>
              <a:rPr kumimoji="1" lang="zh-CN" altLang="en-US" dirty="0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dirty="0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→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1,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1" lang="zh-CN" altLang="en-US" dirty="0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1,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→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由于 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 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0,  (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→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，则必须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 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0,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故 </a:t>
            </a:r>
            <a:r>
              <a:rPr kumimoji="1" lang="zh-CN" altLang="en-US" dirty="0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CN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8043863" y="2363788"/>
            <a:ext cx="509587" cy="1570037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前真后真</a:t>
            </a:r>
            <a:endParaRPr kumimoji="1" lang="en-US" altLang="zh-CN">
              <a:solidFill>
                <a:srgbClr val="FFFF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68313" y="4005263"/>
            <a:ext cx="8207375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68313" y="2268538"/>
            <a:ext cx="8207375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00113" y="4137025"/>
            <a:ext cx="692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楷体_GB2312" pitchFamily="49" charset="-122"/>
                <a:ea typeface="楷体_GB2312" pitchFamily="49" charset="-122"/>
              </a:rPr>
              <a:t>故：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42988" y="4692650"/>
          <a:ext cx="6096000" cy="2041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072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p</a:t>
                      </a:r>
                      <a:endParaRPr lang="zh-CN" altLang="en-US" sz="24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q</a:t>
                      </a:r>
                      <a:endParaRPr lang="zh-CN" altLang="en-US" sz="24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p</a:t>
                      </a:r>
                      <a:endParaRPr lang="zh-CN" altLang="en-US" sz="24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q</a:t>
                      </a:r>
                      <a:endParaRPr lang="zh-CN" altLang="en-US" sz="24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→ </a:t>
                      </a:r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endParaRPr lang="zh-CN" altLang="en-US" sz="2400" dirty="0"/>
                    </a:p>
                  </a:txBody>
                  <a:tcPr marT="45661" marB="4566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箭头: 左 6"/>
          <p:cNvSpPr/>
          <p:nvPr/>
        </p:nvSpPr>
        <p:spPr>
          <a:xfrm>
            <a:off x="7138988" y="5229225"/>
            <a:ext cx="673100" cy="13811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8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80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80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80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022" grpId="0" uiExpand="1" build="p" autoUpdateAnimBg="0"/>
      <p:bldP spid="10" grpId="0" animBg="1" autoUpdateAnimBg="0"/>
      <p:bldP spid="5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ACAC2FE-FAF4-4459-8472-30BB4EA717B2}" type="slidenum">
              <a:rPr lang="en-US" altLang="zh-CN" sz="1400" b="0">
                <a:latin typeface="Verdana" panose="020B0604030504040204" pitchFamily="34" charset="0"/>
              </a:rPr>
              <a:t>7</a:t>
            </a:fld>
            <a:endParaRPr lang="en-US" altLang="zh-CN" sz="1400" b="0">
              <a:latin typeface="Verdana" panose="020B0604030504040204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推理的形式结构</a:t>
            </a:r>
            <a:r>
              <a:rPr lang="en-US" altLang="zh-CN" dirty="0"/>
              <a:t>_</a:t>
            </a:r>
            <a:r>
              <a:rPr lang="zh-CN" altLang="en-US" dirty="0"/>
              <a:t>实例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38263"/>
            <a:ext cx="8229600" cy="4525962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判断下列推理是否正确：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 dirty="0">
                <a:latin typeface="Times New Roman" panose="02020603050405020304" pitchFamily="18" charset="0"/>
                <a:sym typeface="Symbol" panose="05050102010706020507" pitchFamily="18" charset="2"/>
              </a:rPr>
              <a:t>{</a:t>
            </a:r>
            <a:r>
              <a:rPr lang="en-US" altLang="zh-CN" sz="30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30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3000" b="1" dirty="0">
                <a:latin typeface="Times New Roman" panose="02020603050405020304" pitchFamily="18" charset="0"/>
              </a:rPr>
              <a:t> </a:t>
            </a:r>
            <a:r>
              <a:rPr lang="en-US" altLang="zh-CN" sz="30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3000" b="1" dirty="0">
                <a:latin typeface="Times New Roman" panose="02020603050405020304" pitchFamily="18" charset="0"/>
              </a:rPr>
              <a:t> → </a:t>
            </a:r>
            <a:r>
              <a:rPr lang="en-US" altLang="zh-CN" sz="30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3000" b="1" dirty="0">
                <a:latin typeface="Times New Roman" panose="02020603050405020304" pitchFamily="18" charset="0"/>
              </a:rPr>
              <a:t> }  </a:t>
            </a:r>
            <a:r>
              <a:rPr lang="en-US" altLang="zh-CN" sz="3000" b="1" dirty="0">
                <a:latin typeface="Times New Roman" panose="02020603050405020304" pitchFamily="18" charset="0"/>
                <a:sym typeface="MT Symbol"/>
              </a:rPr>
              <a:t>  </a:t>
            </a:r>
            <a:r>
              <a:rPr lang="en-US" altLang="zh-CN" sz="3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000" b="1" i="1" dirty="0">
                <a:latin typeface="Times New Roman" panose="02020603050405020304" pitchFamily="18" charset="0"/>
              </a:rPr>
              <a:t>p</a:t>
            </a:r>
          </a:p>
        </p:txBody>
      </p:sp>
      <p:pic>
        <p:nvPicPr>
          <p:cNvPr id="16389" name="Picture 33" descr="推理符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1789113"/>
            <a:ext cx="21907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0"/>
          <p:cNvGrpSpPr/>
          <p:nvPr/>
        </p:nvGrpSpPr>
        <p:grpSpPr bwMode="auto">
          <a:xfrm>
            <a:off x="1573213" y="3868738"/>
            <a:ext cx="3455987" cy="549275"/>
            <a:chOff x="612" y="3475"/>
            <a:chExt cx="2177" cy="346"/>
          </a:xfrm>
        </p:grpSpPr>
        <p:sp>
          <p:nvSpPr>
            <p:cNvPr id="16436" name="Rectangle 34"/>
            <p:cNvSpPr>
              <a:spLocks noChangeArrowheads="1"/>
            </p:cNvSpPr>
            <p:nvPr/>
          </p:nvSpPr>
          <p:spPr bwMode="auto">
            <a:xfrm>
              <a:off x="612" y="3475"/>
              <a:ext cx="2177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3000">
                  <a:latin typeface="Times New Roman" panose="02020603050405020304" pitchFamily="18" charset="0"/>
                  <a:sym typeface="Symbol" panose="05050102010706020507" pitchFamily="18" charset="2"/>
                </a:rPr>
                <a:t>{</a:t>
              </a:r>
              <a:r>
                <a:rPr lang="en-US" altLang="zh-CN" sz="3000" i="1">
                  <a:latin typeface="Times New Roman" panose="02020603050405020304" pitchFamily="18" charset="0"/>
                </a:rPr>
                <a:t>q</a:t>
              </a:r>
              <a:r>
                <a:rPr lang="en-US" altLang="zh-CN" sz="3000">
                  <a:latin typeface="Times New Roman" panose="02020603050405020304" pitchFamily="18" charset="0"/>
                  <a:sym typeface="Symbol" panose="05050102010706020507" pitchFamily="18" charset="2"/>
                </a:rPr>
                <a:t>,</a:t>
              </a:r>
              <a:r>
                <a:rPr lang="en-US" altLang="zh-CN" sz="3000">
                  <a:latin typeface="Times New Roman" panose="02020603050405020304" pitchFamily="18" charset="0"/>
                </a:rPr>
                <a:t> </a:t>
              </a:r>
              <a:r>
                <a:rPr lang="en-US" altLang="zh-CN" sz="3000" i="1">
                  <a:latin typeface="Times New Roman" panose="02020603050405020304" pitchFamily="18" charset="0"/>
                </a:rPr>
                <a:t>p</a:t>
              </a:r>
              <a:r>
                <a:rPr lang="en-US" altLang="zh-CN" sz="3000">
                  <a:latin typeface="Times New Roman" panose="02020603050405020304" pitchFamily="18" charset="0"/>
                </a:rPr>
                <a:t> → </a:t>
              </a:r>
              <a:r>
                <a:rPr lang="en-US" altLang="zh-CN" sz="3000" i="1">
                  <a:latin typeface="Times New Roman" panose="02020603050405020304" pitchFamily="18" charset="0"/>
                </a:rPr>
                <a:t>q</a:t>
              </a:r>
              <a:r>
                <a:rPr lang="en-US" altLang="zh-CN" sz="3000">
                  <a:latin typeface="Times New Roman" panose="02020603050405020304" pitchFamily="18" charset="0"/>
                </a:rPr>
                <a:t> }  </a:t>
              </a:r>
              <a:r>
                <a:rPr lang="en-US" altLang="zh-CN" sz="3000">
                  <a:latin typeface="Times New Roman" panose="02020603050405020304" pitchFamily="18" charset="0"/>
                  <a:sym typeface="MT Symbol"/>
                </a:rPr>
                <a:t>  </a:t>
              </a:r>
              <a:r>
                <a:rPr lang="en-US" altLang="zh-CN" sz="3000">
                  <a:latin typeface="Times New Roman" panose="02020603050405020304" pitchFamily="18" charset="0"/>
                  <a:sym typeface="Symbol" panose="05050102010706020507" pitchFamily="18" charset="2"/>
                </a:rPr>
                <a:t></a:t>
              </a:r>
              <a:r>
                <a:rPr lang="en-US" altLang="zh-CN" sz="3000" i="1">
                  <a:latin typeface="Times New Roman" panose="02020603050405020304" pitchFamily="18" charset="0"/>
                </a:rPr>
                <a:t>p</a:t>
              </a:r>
            </a:p>
          </p:txBody>
        </p:sp>
        <p:pic>
          <p:nvPicPr>
            <p:cNvPr id="16437" name="Picture 35" descr="推理符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3" y="3575"/>
              <a:ext cx="182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98022" name="Rectangle 38"/>
          <p:cNvSpPr>
            <a:spLocks noChangeArrowheads="1"/>
          </p:cNvSpPr>
          <p:nvPr/>
        </p:nvSpPr>
        <p:spPr bwMode="auto">
          <a:xfrm>
            <a:off x="900113" y="2398713"/>
            <a:ext cx="72009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方法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</a:rPr>
              <a:t>假定</a:t>
            </a: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kumimoji="1" lang="en-US" altLang="zh-CN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</a:rPr>
              <a:t>为 </a:t>
            </a:r>
            <a:r>
              <a:rPr kumimoji="1" lang="en-US" altLang="zh-CN" dirty="0">
                <a:latin typeface="Times New Roman" panose="02020603050405020304" pitchFamily="18" charset="0"/>
                <a:ea typeface="楷体_GB2312" pitchFamily="49" charset="-122"/>
              </a:rPr>
              <a:t>0, </a:t>
            </a: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</a:rPr>
              <a:t>则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kumimoji="1" lang="en-US" altLang="zh-CN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  <a:ea typeface="楷体_GB2312" pitchFamily="49" charset="-122"/>
              </a:rPr>
              <a:t>1.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</a:rPr>
              <a:t>若 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kumimoji="1" lang="en-US" altLang="zh-CN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  <a:ea typeface="楷体_GB2312" pitchFamily="49" charset="-122"/>
              </a:rPr>
              <a:t>0, </a:t>
            </a: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</a:rPr>
              <a:t>则 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kumimoji="1"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kumimoji="1" lang="en-US" altLang="zh-CN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</a:rPr>
              <a:t>为 </a:t>
            </a:r>
            <a:r>
              <a:rPr kumimoji="1" lang="en-US" altLang="zh-CN" dirty="0">
                <a:latin typeface="Times New Roman" panose="02020603050405020304" pitchFamily="18" charset="0"/>
                <a:ea typeface="楷体_GB2312" pitchFamily="49" charset="-122"/>
              </a:rPr>
              <a:t>0,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</a:rPr>
              <a:t>若 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kumimoji="1" lang="en-US" altLang="zh-CN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  <a:ea typeface="楷体_GB2312" pitchFamily="49" charset="-122"/>
              </a:rPr>
              <a:t>1, </a:t>
            </a: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</a:rPr>
              <a:t>则 </a:t>
            </a: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kumimoji="1" lang="en-US" altLang="zh-CN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</a:rPr>
              <a:t>为 </a:t>
            </a:r>
            <a:r>
              <a:rPr kumimoji="1" lang="en-US" altLang="zh-CN" dirty="0">
                <a:latin typeface="Times New Roman" panose="02020603050405020304" pitchFamily="18" charset="0"/>
                <a:ea typeface="楷体_GB2312" pitchFamily="49" charset="-122"/>
              </a:rPr>
              <a:t>0,</a:t>
            </a:r>
          </a:p>
        </p:txBody>
      </p:sp>
      <p:sp>
        <p:nvSpPr>
          <p:cNvPr id="11" name="Rectangle 35"/>
          <p:cNvSpPr>
            <a:spLocks noChangeArrowheads="1"/>
          </p:cNvSpPr>
          <p:nvPr/>
        </p:nvSpPr>
        <p:spPr bwMode="auto">
          <a:xfrm>
            <a:off x="8047038" y="2282825"/>
            <a:ext cx="509587" cy="15700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后假前假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68313" y="3860800"/>
            <a:ext cx="8207375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68313" y="2268538"/>
            <a:ext cx="8207375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2338" y="3951288"/>
            <a:ext cx="692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楷体_GB2312" pitchFamily="49" charset="-122"/>
                <a:ea typeface="楷体_GB2312" pitchFamily="49" charset="-122"/>
              </a:rPr>
              <a:t>故：</a:t>
            </a: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042988" y="4581525"/>
          <a:ext cx="6096000" cy="2041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072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p</a:t>
                      </a:r>
                      <a:endParaRPr lang="zh-CN" altLang="en-US" sz="24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q</a:t>
                      </a:r>
                      <a:endParaRPr lang="zh-CN" altLang="en-US" sz="24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p</a:t>
                      </a:r>
                      <a:endParaRPr lang="zh-CN" altLang="en-US" sz="24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q</a:t>
                      </a:r>
                      <a:endParaRPr lang="zh-CN" altLang="en-US" sz="24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→ </a:t>
                      </a:r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endParaRPr lang="zh-CN" altLang="en-US" sz="2400" dirty="0"/>
                    </a:p>
                  </a:txBody>
                  <a:tcPr marT="45661" marB="4566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T="45661" marB="45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marT="45661" marB="4566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箭头: 右 2"/>
          <p:cNvSpPr/>
          <p:nvPr/>
        </p:nvSpPr>
        <p:spPr>
          <a:xfrm>
            <a:off x="301625" y="6021388"/>
            <a:ext cx="741363" cy="14446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9" name="箭头: 右 18"/>
          <p:cNvSpPr/>
          <p:nvPr/>
        </p:nvSpPr>
        <p:spPr>
          <a:xfrm>
            <a:off x="301625" y="6376988"/>
            <a:ext cx="741363" cy="14287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228527" y="2965160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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为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0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3868487" y="2683470"/>
            <a:ext cx="360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</a:t>
            </a:r>
            <a:endParaRPr lang="zh-CN" altLang="en-US" sz="54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8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80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80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022" grpId="0" uiExpand="1" build="p" autoUpdateAnimBg="0"/>
      <p:bldP spid="11" grpId="0" animBg="1" autoUpdateAnimBg="0"/>
      <p:bldP spid="5" grpId="0"/>
      <p:bldP spid="3" grpId="0" animBg="1"/>
      <p:bldP spid="19" grpId="0" animBg="1"/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判断推理是否正确的方法</a:t>
            </a:r>
            <a:endParaRPr lang="zh-CN" altLang="en-US"/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CF3D873-10B3-4224-83AA-A75FB6717061}" type="slidenum">
              <a:rPr lang="en-US" altLang="zh-CN" sz="1400" b="0"/>
              <a:t>8</a:t>
            </a:fld>
            <a:endParaRPr lang="en-US" altLang="zh-CN" sz="1400" b="0"/>
          </a:p>
        </p:txBody>
      </p:sp>
      <p:sp>
        <p:nvSpPr>
          <p:cNvPr id="18436" name="Rectangle 3"/>
          <p:cNvSpPr txBox="1">
            <a:spLocks noChangeArrowheads="1"/>
          </p:cNvSpPr>
          <p:nvPr/>
        </p:nvSpPr>
        <p:spPr bwMode="auto">
          <a:xfrm>
            <a:off x="571500" y="1341438"/>
            <a:ext cx="8001000" cy="446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真值表法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等值演算法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主析取范式法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28D418-D70B-4214-AF45-EC08A4446016}" type="slidenum">
              <a:rPr lang="en-US" altLang="zh-CN" sz="1400" b="0">
                <a:latin typeface="Verdana" panose="020B0604030504040204" pitchFamily="34" charset="0"/>
              </a:rPr>
              <a:t>9</a:t>
            </a:fld>
            <a:endParaRPr lang="en-US" altLang="zh-CN" sz="1400" b="0">
              <a:latin typeface="Verdana" panose="020B0604030504040204" pitchFamily="34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真值表法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从真值表上找出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k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真值均为 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的行，对每一个这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样的行，若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的真值也为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1,</a:t>
            </a:r>
          </a:p>
          <a:p>
            <a:pPr marL="0" indent="0" eaLnBrk="1" hangingPunct="1">
              <a:buClr>
                <a:srgbClr val="FF9900"/>
              </a:buClr>
              <a:defRPr/>
            </a:pP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kumimoji="1"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则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dirty="0">
                <a:latin typeface="Times New Roman" panose="02020603050405020304" pitchFamily="18" charset="0"/>
              </a:rPr>
              <a:t>…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k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成立。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或者看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的行,在每个这样的行中，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k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真值中至少有一个为 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b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则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dirty="0">
                <a:latin typeface="Times New Roman" panose="02020603050405020304" pitchFamily="18" charset="0"/>
              </a:rPr>
              <a:t>…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k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成立。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924944"/>
            <a:ext cx="6239646" cy="3111084"/>
          </a:xfrm>
          <a:prstGeom prst="rect">
            <a:avLst/>
          </a:prstGeom>
        </p:spPr>
      </p:pic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43B3F0-1F96-4166-BDB2-7E6D6A1C3783}" type="slidenum">
              <a:rPr lang="en-US" altLang="zh-CN" sz="1400" b="0">
                <a:latin typeface="Verdana" panose="020B0604030504040204" pitchFamily="34" charset="0"/>
              </a:rPr>
              <a:t>10</a:t>
            </a:fld>
            <a:endParaRPr lang="en-US" altLang="zh-CN" sz="1400" b="0">
              <a:latin typeface="Verdana" panose="020B060403050404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真值表法</a:t>
            </a:r>
            <a:r>
              <a:rPr lang="en-US" altLang="zh-CN"/>
              <a:t>_</a:t>
            </a:r>
            <a:r>
              <a:rPr lang="zh-CN" altLang="en-US"/>
              <a:t>推理实例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0700" y="1295400"/>
            <a:ext cx="8229600" cy="1665671"/>
          </a:xfrm>
        </p:spPr>
        <p:txBody>
          <a:bodyPr/>
          <a:lstStyle/>
          <a:p>
            <a:pPr marL="571500" indent="-571500" eaLnBrk="1" hangingPunct="1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考察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是否是下列前提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, 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的有效结论？</a:t>
            </a:r>
          </a:p>
          <a:p>
            <a:pPr marL="571500" indent="-571500"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: 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 → 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: p</a:t>
            </a:r>
            <a:r>
              <a:rPr lang="en-US" altLang="zh-CN" i="1" dirty="0">
                <a:latin typeface="Times New Roman" panose="02020603050405020304" pitchFamily="18" charset="0"/>
              </a:rPr>
              <a:t>         B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 q</a:t>
            </a:r>
          </a:p>
          <a:p>
            <a:pPr marL="571500" indent="-571500"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kumimoji="1"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dirty="0">
                <a:latin typeface="Times New Roman" panose="02020603050405020304" pitchFamily="18" charset="0"/>
              </a:rPr>
              <a:t>:  </a:t>
            </a:r>
            <a:r>
              <a:rPr kumimoji="1" lang="en-US" altLang="zh-CN" i="1" dirty="0">
                <a:latin typeface="Times New Roman" panose="02020603050405020304" pitchFamily="18" charset="0"/>
              </a:rPr>
              <a:t>p</a:t>
            </a:r>
            <a:r>
              <a:rPr kumimoji="1" lang="en-US" altLang="zh-CN" dirty="0">
                <a:latin typeface="Times New Roman" panose="02020603050405020304" pitchFamily="18" charset="0"/>
              </a:rPr>
              <a:t> → </a:t>
            </a:r>
            <a:r>
              <a:rPr kumimoji="1" lang="en-US" altLang="zh-CN" i="1" dirty="0">
                <a:latin typeface="Times New Roman" panose="02020603050405020304" pitchFamily="18" charset="0"/>
              </a:rPr>
              <a:t>q</a:t>
            </a:r>
            <a:r>
              <a:rPr kumimoji="1" lang="en-US" altLang="zh-CN" dirty="0">
                <a:latin typeface="Times New Roman" panose="02020603050405020304" pitchFamily="18" charset="0"/>
              </a:rPr>
              <a:t>      </a:t>
            </a:r>
            <a:r>
              <a:rPr kumimoji="1"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dirty="0">
                <a:latin typeface="Times New Roman" panose="02020603050405020304" pitchFamily="18" charset="0"/>
              </a:rPr>
              <a:t> : 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i="1" dirty="0">
                <a:latin typeface="Times New Roman" panose="02020603050405020304" pitchFamily="18" charset="0"/>
              </a:rPr>
              <a:t>p      B</a:t>
            </a:r>
            <a:r>
              <a:rPr kumimoji="1" lang="en-US" altLang="zh-CN" dirty="0">
                <a:latin typeface="Times New Roman" panose="02020603050405020304" pitchFamily="18" charset="0"/>
              </a:rPr>
              <a:t>:</a:t>
            </a:r>
            <a:r>
              <a:rPr kumimoji="1" lang="en-US" altLang="zh-CN" i="1" dirty="0">
                <a:latin typeface="Times New Roman" panose="02020603050405020304" pitchFamily="18" charset="0"/>
              </a:rPr>
              <a:t> q</a:t>
            </a:r>
          </a:p>
          <a:p>
            <a:pPr marL="571500" indent="-571500"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kumimoji="1"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dirty="0">
                <a:latin typeface="Times New Roman" panose="02020603050405020304" pitchFamily="18" charset="0"/>
              </a:rPr>
              <a:t>:  </a:t>
            </a:r>
            <a:r>
              <a:rPr kumimoji="1" lang="en-US" altLang="zh-CN" i="1" dirty="0">
                <a:latin typeface="Times New Roman" panose="02020603050405020304" pitchFamily="18" charset="0"/>
              </a:rPr>
              <a:t>p</a:t>
            </a:r>
            <a:r>
              <a:rPr kumimoji="1" lang="en-US" altLang="zh-CN" dirty="0">
                <a:latin typeface="Times New Roman" panose="02020603050405020304" pitchFamily="18" charset="0"/>
              </a:rPr>
              <a:t> → </a:t>
            </a:r>
            <a:r>
              <a:rPr kumimoji="1" lang="en-US" altLang="zh-CN" i="1" dirty="0">
                <a:latin typeface="Times New Roman" panose="02020603050405020304" pitchFamily="18" charset="0"/>
              </a:rPr>
              <a:t>q</a:t>
            </a:r>
            <a:r>
              <a:rPr kumimoji="1" lang="en-US" altLang="zh-CN" dirty="0">
                <a:latin typeface="Times New Roman" panose="02020603050405020304" pitchFamily="18" charset="0"/>
              </a:rPr>
              <a:t>      </a:t>
            </a:r>
            <a:r>
              <a:rPr kumimoji="1"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dirty="0">
                <a:latin typeface="Times New Roman" panose="02020603050405020304" pitchFamily="18" charset="0"/>
              </a:rPr>
              <a:t> : </a:t>
            </a:r>
            <a:r>
              <a:rPr kumimoji="1"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i="1" dirty="0">
                <a:latin typeface="Times New Roman" panose="02020603050405020304" pitchFamily="18" charset="0"/>
              </a:rPr>
              <a:t>         B</a:t>
            </a:r>
            <a:r>
              <a:rPr kumimoji="1" lang="en-US" altLang="zh-CN" dirty="0">
                <a:latin typeface="Times New Roman" panose="02020603050405020304" pitchFamily="18" charset="0"/>
              </a:rPr>
              <a:t>:</a:t>
            </a:r>
            <a:r>
              <a:rPr kumimoji="1" lang="en-US" altLang="zh-CN" i="1" dirty="0">
                <a:latin typeface="Times New Roman" panose="02020603050405020304" pitchFamily="18" charset="0"/>
              </a:rPr>
              <a:t> p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marL="571500" indent="-571500" eaLnBrk="1" hangingPunct="1">
              <a:spcBef>
                <a:spcPct val="0"/>
              </a:spcBef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7" name="Group 29"/>
          <p:cNvGrpSpPr/>
          <p:nvPr/>
        </p:nvGrpSpPr>
        <p:grpSpPr bwMode="auto">
          <a:xfrm>
            <a:off x="6553200" y="3876940"/>
            <a:ext cx="1268378" cy="738933"/>
            <a:chOff x="4080" y="2543"/>
            <a:chExt cx="857" cy="576"/>
          </a:xfrm>
        </p:grpSpPr>
        <p:graphicFrame>
          <p:nvGraphicFramePr>
            <p:cNvPr id="20513" name="Object 30"/>
            <p:cNvGraphicFramePr>
              <a:graphicFrameLocks noChangeAspect="1"/>
            </p:cNvGraphicFramePr>
            <p:nvPr/>
          </p:nvGraphicFramePr>
          <p:xfrm>
            <a:off x="4560" y="2639"/>
            <a:ext cx="377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09855" imgH="133350" progId="Equation.3">
                    <p:embed/>
                  </p:oleObj>
                </mc:Choice>
                <mc:Fallback>
                  <p:oleObj name="公式" r:id="rId4" imgW="109855" imgH="13335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2639"/>
                          <a:ext cx="377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4" name="Line 31"/>
            <p:cNvSpPr>
              <a:spLocks noChangeShapeType="1"/>
            </p:cNvSpPr>
            <p:nvPr/>
          </p:nvSpPr>
          <p:spPr bwMode="auto">
            <a:xfrm flipH="1" flipV="1">
              <a:off x="4080" y="2543"/>
              <a:ext cx="432" cy="33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5" name="Line 32"/>
            <p:cNvSpPr>
              <a:spLocks noChangeShapeType="1"/>
            </p:cNvSpPr>
            <p:nvPr/>
          </p:nvSpPr>
          <p:spPr bwMode="auto">
            <a:xfrm flipH="1">
              <a:off x="4080" y="2879"/>
              <a:ext cx="432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33"/>
          <p:cNvGrpSpPr/>
          <p:nvPr/>
        </p:nvGrpSpPr>
        <p:grpSpPr bwMode="auto">
          <a:xfrm>
            <a:off x="4690289" y="5351816"/>
            <a:ext cx="1273175" cy="684212"/>
            <a:chOff x="4128" y="3744"/>
            <a:chExt cx="802" cy="431"/>
          </a:xfrm>
        </p:grpSpPr>
        <p:sp>
          <p:nvSpPr>
            <p:cNvPr id="20511" name="Line 34"/>
            <p:cNvSpPr>
              <a:spLocks noChangeShapeType="1"/>
            </p:cNvSpPr>
            <p:nvPr/>
          </p:nvSpPr>
          <p:spPr bwMode="auto">
            <a:xfrm flipH="1" flipV="1">
              <a:off x="4128" y="3982"/>
              <a:ext cx="480" cy="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512" name="Object 35"/>
            <p:cNvGraphicFramePr>
              <a:graphicFrameLocks noChangeAspect="1"/>
            </p:cNvGraphicFramePr>
            <p:nvPr/>
          </p:nvGraphicFramePr>
          <p:xfrm>
            <a:off x="4608" y="3744"/>
            <a:ext cx="322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86995" imgH="133350" progId="Equation.3">
                    <p:embed/>
                  </p:oleObj>
                </mc:Choice>
                <mc:Fallback>
                  <p:oleObj name="公式" r:id="rId6" imgW="86995" imgH="13335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744"/>
                          <a:ext cx="322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36"/>
          <p:cNvGrpSpPr/>
          <p:nvPr/>
        </p:nvGrpSpPr>
        <p:grpSpPr bwMode="auto">
          <a:xfrm>
            <a:off x="4703762" y="4468783"/>
            <a:ext cx="1468438" cy="1220788"/>
            <a:chOff x="4032" y="3119"/>
            <a:chExt cx="925" cy="769"/>
          </a:xfrm>
        </p:grpSpPr>
        <p:sp>
          <p:nvSpPr>
            <p:cNvPr id="20508" name="Line 37"/>
            <p:cNvSpPr>
              <a:spLocks noChangeShapeType="1"/>
            </p:cNvSpPr>
            <p:nvPr/>
          </p:nvSpPr>
          <p:spPr bwMode="auto">
            <a:xfrm flipH="1" flipV="1">
              <a:off x="4080" y="3119"/>
              <a:ext cx="480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9" name="Line 38"/>
            <p:cNvSpPr>
              <a:spLocks noChangeShapeType="1"/>
            </p:cNvSpPr>
            <p:nvPr/>
          </p:nvSpPr>
          <p:spPr bwMode="auto">
            <a:xfrm flipH="1">
              <a:off x="4032" y="3359"/>
              <a:ext cx="528" cy="52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510" name="Object 39"/>
            <p:cNvGraphicFramePr>
              <a:graphicFrameLocks noChangeAspect="1"/>
            </p:cNvGraphicFramePr>
            <p:nvPr/>
          </p:nvGraphicFramePr>
          <p:xfrm>
            <a:off x="4608" y="3119"/>
            <a:ext cx="349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98425" imgH="133350" progId="Equation.3">
                    <p:embed/>
                  </p:oleObj>
                </mc:Choice>
                <mc:Fallback>
                  <p:oleObj name="公式" r:id="rId8" imgW="98425" imgH="13335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119"/>
                          <a:ext cx="349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0"/>
          <p:cNvGrpSpPr/>
          <p:nvPr/>
        </p:nvGrpSpPr>
        <p:grpSpPr bwMode="auto">
          <a:xfrm>
            <a:off x="762000" y="3049588"/>
            <a:ext cx="4419600" cy="3043237"/>
            <a:chOff x="336" y="2016"/>
            <a:chExt cx="2784" cy="2112"/>
          </a:xfrm>
        </p:grpSpPr>
        <p:sp>
          <p:nvSpPr>
            <p:cNvPr id="20505" name="Rectangle 41"/>
            <p:cNvSpPr>
              <a:spLocks noChangeArrowheads="1"/>
            </p:cNvSpPr>
            <p:nvPr/>
          </p:nvSpPr>
          <p:spPr bwMode="auto">
            <a:xfrm>
              <a:off x="336" y="2064"/>
              <a:ext cx="432" cy="20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Verdana" panose="020B0604030504040204" pitchFamily="34" charset="0"/>
              </a:endParaRPr>
            </a:p>
          </p:txBody>
        </p:sp>
        <p:sp>
          <p:nvSpPr>
            <p:cNvPr id="20506" name="Rectangle 42"/>
            <p:cNvSpPr>
              <a:spLocks noChangeArrowheads="1"/>
            </p:cNvSpPr>
            <p:nvPr/>
          </p:nvSpPr>
          <p:spPr bwMode="auto">
            <a:xfrm>
              <a:off x="2064" y="2064"/>
              <a:ext cx="1056" cy="20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Verdana" panose="020B0604030504040204" pitchFamily="34" charset="0"/>
              </a:endParaRPr>
            </a:p>
          </p:txBody>
        </p:sp>
        <p:sp>
          <p:nvSpPr>
            <p:cNvPr id="20507" name="Oval 43"/>
            <p:cNvSpPr>
              <a:spLocks noChangeArrowheads="1"/>
            </p:cNvSpPr>
            <p:nvPr/>
          </p:nvSpPr>
          <p:spPr bwMode="auto">
            <a:xfrm>
              <a:off x="1248" y="2016"/>
              <a:ext cx="528" cy="211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Verdana" panose="020B0604030504040204" pitchFamily="34" charset="0"/>
              </a:endParaRPr>
            </a:p>
          </p:txBody>
        </p:sp>
      </p:grpSp>
      <p:grpSp>
        <p:nvGrpSpPr>
          <p:cNvPr id="11" name="Group 44"/>
          <p:cNvGrpSpPr/>
          <p:nvPr/>
        </p:nvGrpSpPr>
        <p:grpSpPr bwMode="auto">
          <a:xfrm>
            <a:off x="2209800" y="3049588"/>
            <a:ext cx="4800600" cy="3043237"/>
            <a:chOff x="1248" y="2016"/>
            <a:chExt cx="3024" cy="2112"/>
          </a:xfrm>
        </p:grpSpPr>
        <p:sp>
          <p:nvSpPr>
            <p:cNvPr id="20502" name="Rectangle 45"/>
            <p:cNvSpPr>
              <a:spLocks noChangeArrowheads="1"/>
            </p:cNvSpPr>
            <p:nvPr/>
          </p:nvSpPr>
          <p:spPr bwMode="auto">
            <a:xfrm>
              <a:off x="3600" y="2064"/>
              <a:ext cx="672" cy="20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Verdana" panose="020B0604030504040204" pitchFamily="34" charset="0"/>
              </a:endParaRPr>
            </a:p>
          </p:txBody>
        </p:sp>
        <p:sp>
          <p:nvSpPr>
            <p:cNvPr id="20503" name="Rectangle 46"/>
            <p:cNvSpPr>
              <a:spLocks noChangeArrowheads="1"/>
            </p:cNvSpPr>
            <p:nvPr/>
          </p:nvSpPr>
          <p:spPr bwMode="auto">
            <a:xfrm>
              <a:off x="2064" y="2064"/>
              <a:ext cx="1056" cy="20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Verdana" panose="020B0604030504040204" pitchFamily="34" charset="0"/>
              </a:endParaRPr>
            </a:p>
          </p:txBody>
        </p:sp>
        <p:sp>
          <p:nvSpPr>
            <p:cNvPr id="20504" name="Oval 47"/>
            <p:cNvSpPr>
              <a:spLocks noChangeArrowheads="1"/>
            </p:cNvSpPr>
            <p:nvPr/>
          </p:nvSpPr>
          <p:spPr bwMode="auto">
            <a:xfrm>
              <a:off x="1248" y="2016"/>
              <a:ext cx="528" cy="211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Verdana" panose="020B0604030504040204" pitchFamily="34" charset="0"/>
              </a:endParaRPr>
            </a:p>
          </p:txBody>
        </p:sp>
      </p:grpSp>
      <p:grpSp>
        <p:nvGrpSpPr>
          <p:cNvPr id="12" name="Group 48"/>
          <p:cNvGrpSpPr/>
          <p:nvPr/>
        </p:nvGrpSpPr>
        <p:grpSpPr bwMode="auto">
          <a:xfrm>
            <a:off x="685800" y="3049588"/>
            <a:ext cx="4495800" cy="3043237"/>
            <a:chOff x="288" y="2016"/>
            <a:chExt cx="2832" cy="2112"/>
          </a:xfrm>
        </p:grpSpPr>
        <p:sp>
          <p:nvSpPr>
            <p:cNvPr id="20499" name="Rectangle 49"/>
            <p:cNvSpPr>
              <a:spLocks noChangeArrowheads="1"/>
            </p:cNvSpPr>
            <p:nvPr/>
          </p:nvSpPr>
          <p:spPr bwMode="auto">
            <a:xfrm>
              <a:off x="1152" y="2064"/>
              <a:ext cx="672" cy="20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Verdana" panose="020B0604030504040204" pitchFamily="34" charset="0"/>
              </a:endParaRPr>
            </a:p>
          </p:txBody>
        </p:sp>
        <p:sp>
          <p:nvSpPr>
            <p:cNvPr id="20500" name="Rectangle 50"/>
            <p:cNvSpPr>
              <a:spLocks noChangeArrowheads="1"/>
            </p:cNvSpPr>
            <p:nvPr/>
          </p:nvSpPr>
          <p:spPr bwMode="auto">
            <a:xfrm>
              <a:off x="2064" y="2064"/>
              <a:ext cx="1056" cy="20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Verdana" panose="020B0604030504040204" pitchFamily="34" charset="0"/>
              </a:endParaRPr>
            </a:p>
          </p:txBody>
        </p:sp>
        <p:sp>
          <p:nvSpPr>
            <p:cNvPr id="20501" name="Oval 51"/>
            <p:cNvSpPr>
              <a:spLocks noChangeArrowheads="1"/>
            </p:cNvSpPr>
            <p:nvPr/>
          </p:nvSpPr>
          <p:spPr bwMode="auto">
            <a:xfrm>
              <a:off x="288" y="2016"/>
              <a:ext cx="528" cy="211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Verdana" panose="020B0604030504040204" pitchFamily="34" charset="0"/>
              </a:endParaRPr>
            </a:p>
          </p:txBody>
        </p:sp>
      </p:grpSp>
      <p:sp>
        <p:nvSpPr>
          <p:cNvPr id="302133" name="Text Box 53"/>
          <p:cNvSpPr txBox="1">
            <a:spLocks noChangeArrowheads="1"/>
          </p:cNvSpPr>
          <p:nvPr/>
        </p:nvSpPr>
        <p:spPr bwMode="auto">
          <a:xfrm>
            <a:off x="6477000" y="1660525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b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是</a:t>
            </a:r>
          </a:p>
        </p:txBody>
      </p:sp>
      <p:sp>
        <p:nvSpPr>
          <p:cNvPr id="302134" name="Text Box 54"/>
          <p:cNvSpPr txBox="1">
            <a:spLocks noChangeArrowheads="1"/>
          </p:cNvSpPr>
          <p:nvPr/>
        </p:nvSpPr>
        <p:spPr bwMode="auto">
          <a:xfrm>
            <a:off x="6477000" y="2092325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b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否</a:t>
            </a:r>
          </a:p>
        </p:txBody>
      </p:sp>
      <p:sp>
        <p:nvSpPr>
          <p:cNvPr id="302135" name="Text Box 55"/>
          <p:cNvSpPr txBox="1">
            <a:spLocks noChangeArrowheads="1"/>
          </p:cNvSpPr>
          <p:nvPr/>
        </p:nvSpPr>
        <p:spPr bwMode="auto">
          <a:xfrm>
            <a:off x="6477000" y="2492375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b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否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2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2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2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2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2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2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133" grpId="0" autoUpdateAnimBg="0"/>
      <p:bldP spid="302134" grpId="0" autoUpdateAnimBg="0"/>
      <p:bldP spid="30213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CB8E26F-FFDA-4DB3-BB13-C27DA1DEA182}" type="slidenum">
              <a:rPr lang="en-US" altLang="zh-CN" sz="1400" b="0"/>
              <a:t>11</a:t>
            </a:fld>
            <a:endParaRPr lang="en-US" altLang="zh-CN" sz="1400" b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等值演算法</a:t>
            </a:r>
            <a:r>
              <a:rPr lang="en-US" altLang="zh-CN">
                <a:latin typeface="Times New Roman" panose="02020603050405020304" pitchFamily="18" charset="0"/>
              </a:rPr>
              <a:t>_</a:t>
            </a:r>
            <a:r>
              <a:rPr lang="zh-CN" altLang="en-US"/>
              <a:t>推理实例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91512" cy="1439863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zh-CN" altLang="en-US">
                <a:latin typeface="Times New Roman" panose="02020603050405020304" pitchFamily="18" charset="0"/>
              </a:rPr>
              <a:t>判断下面推理是否正确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zh-CN" altLang="en-US">
                <a:latin typeface="Times New Roman" panose="02020603050405020304" pitchFamily="18" charset="0"/>
              </a:rPr>
              <a:t>若今天是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号，则明天是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  <a:r>
              <a:rPr lang="zh-CN" altLang="en-US">
                <a:latin typeface="Times New Roman" panose="02020603050405020304" pitchFamily="18" charset="0"/>
              </a:rPr>
              <a:t>号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今天是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号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所以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明天是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  <a:r>
              <a:rPr lang="zh-CN" altLang="en-US">
                <a:latin typeface="Times New Roman" panose="02020603050405020304" pitchFamily="18" charset="0"/>
              </a:rPr>
              <a:t>号</a:t>
            </a:r>
            <a:r>
              <a:rPr lang="en-US" altLang="zh-CN">
                <a:latin typeface="Times New Roman" panose="02020603050405020304" pitchFamily="18" charset="0"/>
              </a:rPr>
              <a:t>.  </a:t>
            </a:r>
          </a:p>
        </p:txBody>
      </p:sp>
      <p:sp>
        <p:nvSpPr>
          <p:cNvPr id="208900" name="Rectangle 4"/>
          <p:cNvSpPr>
            <a:spLocks noChangeArrowheads="1"/>
          </p:cNvSpPr>
          <p:nvPr/>
        </p:nvSpPr>
        <p:spPr bwMode="auto">
          <a:xfrm>
            <a:off x="395288" y="2781300"/>
            <a:ext cx="5329237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解  设 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zh-CN" altLang="en-US">
                <a:latin typeface="Times New Roman" panose="02020603050405020304" pitchFamily="18" charset="0"/>
              </a:rPr>
              <a:t>：今天是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号，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zh-CN" altLang="en-US">
                <a:latin typeface="Times New Roman" panose="02020603050405020304" pitchFamily="18" charset="0"/>
              </a:rPr>
              <a:t>：明天是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  <a:r>
              <a:rPr lang="zh-CN" altLang="en-US">
                <a:latin typeface="Times New Roman" panose="02020603050405020304" pitchFamily="18" charset="0"/>
              </a:rPr>
              <a:t>号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 (1) </a:t>
            </a:r>
            <a:r>
              <a:rPr lang="zh-CN" altLang="en-US">
                <a:latin typeface="Times New Roman" panose="02020603050405020304" pitchFamily="18" charset="0"/>
              </a:rPr>
              <a:t>推理的形式结构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208901" name="Rectangle 5"/>
          <p:cNvSpPr>
            <a:spLocks noChangeArrowheads="1"/>
          </p:cNvSpPr>
          <p:nvPr/>
        </p:nvSpPr>
        <p:spPr bwMode="auto">
          <a:xfrm>
            <a:off x="3130550" y="3214688"/>
            <a:ext cx="3097213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   (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8902" name="Rectangle 6"/>
          <p:cNvSpPr>
            <a:spLocks noChangeArrowheads="1"/>
          </p:cNvSpPr>
          <p:nvPr/>
        </p:nvSpPr>
        <p:spPr bwMode="auto">
          <a:xfrm>
            <a:off x="900113" y="3789363"/>
            <a:ext cx="6264275" cy="25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用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等值演算法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             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    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((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    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1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      </a:t>
            </a:r>
            <a:r>
              <a:rPr lang="zh-CN" altLang="en-US">
                <a:latin typeface="Times New Roman" panose="02020603050405020304" pitchFamily="18" charset="0"/>
              </a:rPr>
              <a:t>由定理</a:t>
            </a:r>
            <a:r>
              <a:rPr lang="en-US" altLang="zh-CN">
                <a:latin typeface="Times New Roman" panose="02020603050405020304" pitchFamily="18" charset="0"/>
              </a:rPr>
              <a:t>3.1</a:t>
            </a:r>
            <a:r>
              <a:rPr lang="zh-CN" altLang="en-US">
                <a:latin typeface="Times New Roman" panose="02020603050405020304" pitchFamily="18" charset="0"/>
              </a:rPr>
              <a:t>可知推理正确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/>
      <p:bldP spid="208901" grpId="0"/>
      <p:bldP spid="20890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F9E2064-C148-48C4-99E1-D428F0224561}" type="slidenum">
              <a:rPr lang="en-US" altLang="zh-CN" sz="1400" b="0"/>
              <a:t>12</a:t>
            </a:fld>
            <a:endParaRPr lang="en-US" altLang="zh-CN" sz="1400" b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主析取范式法</a:t>
            </a:r>
            <a:r>
              <a:rPr lang="en-US" altLang="zh-CN">
                <a:latin typeface="Times New Roman" panose="02020603050405020304" pitchFamily="18" charset="0"/>
              </a:rPr>
              <a:t>_</a:t>
            </a:r>
            <a:r>
              <a:rPr lang="zh-CN" altLang="en-US"/>
              <a:t>推理实例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2638425"/>
            <a:ext cx="3095625" cy="574675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zh-CN" altLang="en-US">
                <a:latin typeface="Times New Roman" panose="02020603050405020304" pitchFamily="18" charset="0"/>
              </a:rPr>
              <a:t>推理的形式结构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212996" name="Rectangle 4"/>
          <p:cNvSpPr>
            <a:spLocks noChangeArrowheads="1"/>
          </p:cNvSpPr>
          <p:nvPr/>
        </p:nvSpPr>
        <p:spPr bwMode="auto">
          <a:xfrm>
            <a:off x="3275013" y="2565400"/>
            <a:ext cx="2087562" cy="63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2997" name="Rectangle 5"/>
          <p:cNvSpPr>
            <a:spLocks noChangeArrowheads="1"/>
          </p:cNvSpPr>
          <p:nvPr/>
        </p:nvSpPr>
        <p:spPr bwMode="auto">
          <a:xfrm>
            <a:off x="395288" y="3079750"/>
            <a:ext cx="7366000" cy="3878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      </a:t>
            </a:r>
            <a:r>
              <a:rPr lang="zh-CN" altLang="en-US">
                <a:latin typeface="Times New Roman" panose="02020603050405020304" pitchFamily="18" charset="0"/>
              </a:rPr>
              <a:t>用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主析取范式法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             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    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    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 ((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    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    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    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      </a:t>
            </a:r>
            <a:r>
              <a:rPr lang="zh-CN" altLang="en-US">
                <a:latin typeface="Times New Roman" panose="02020603050405020304" pitchFamily="18" charset="0"/>
              </a:rPr>
              <a:t>结果不含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故</a:t>
            </a:r>
            <a:r>
              <a:rPr lang="en-US" altLang="zh-CN">
                <a:latin typeface="Times New Roman" panose="02020603050405020304" pitchFamily="18" charset="0"/>
              </a:rPr>
              <a:t>01</a:t>
            </a:r>
            <a:r>
              <a:rPr lang="zh-CN" altLang="en-US">
                <a:latin typeface="Times New Roman" panose="02020603050405020304" pitchFamily="18" charset="0"/>
              </a:rPr>
              <a:t>是成假赋值，所以推理不正确</a:t>
            </a:r>
          </a:p>
        </p:txBody>
      </p:sp>
      <p:sp>
        <p:nvSpPr>
          <p:cNvPr id="23559" name="Rectangle 3"/>
          <p:cNvSpPr txBox="1">
            <a:spLocks noChangeArrowheads="1"/>
          </p:cNvSpPr>
          <p:nvPr/>
        </p:nvSpPr>
        <p:spPr bwMode="auto">
          <a:xfrm>
            <a:off x="395288" y="1196975"/>
            <a:ext cx="8291512" cy="98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zh-CN" altLang="en-US">
                <a:latin typeface="Times New Roman" panose="02020603050405020304" pitchFamily="18" charset="0"/>
              </a:rPr>
              <a:t>判断下面推理是否正确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zh-CN" altLang="en-US">
                <a:latin typeface="Times New Roman" panose="02020603050405020304" pitchFamily="18" charset="0"/>
              </a:rPr>
              <a:t>若今天是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号，则明天是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  <a:r>
              <a:rPr lang="zh-CN" altLang="en-US">
                <a:latin typeface="Times New Roman" panose="02020603050405020304" pitchFamily="18" charset="0"/>
              </a:rPr>
              <a:t>号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明天是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  <a:r>
              <a:rPr lang="zh-CN" altLang="en-US">
                <a:latin typeface="Times New Roman" panose="02020603050405020304" pitchFamily="18" charset="0"/>
              </a:rPr>
              <a:t>号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所以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今天是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号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3560" name="矩形 1"/>
          <p:cNvSpPr>
            <a:spLocks noChangeArrowheads="1"/>
          </p:cNvSpPr>
          <p:nvPr/>
        </p:nvSpPr>
        <p:spPr bwMode="auto">
          <a:xfrm>
            <a:off x="392113" y="2133600"/>
            <a:ext cx="5257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解  设 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zh-CN" altLang="en-US">
                <a:latin typeface="Times New Roman" panose="02020603050405020304" pitchFamily="18" charset="0"/>
              </a:rPr>
              <a:t>：今天是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号，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zh-CN" altLang="en-US">
                <a:latin typeface="Times New Roman" panose="02020603050405020304" pitchFamily="18" charset="0"/>
              </a:rPr>
              <a:t>：明天是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  <a:r>
              <a:rPr lang="zh-CN" altLang="en-US">
                <a:latin typeface="Times New Roman" panose="02020603050405020304" pitchFamily="18" charset="0"/>
              </a:rPr>
              <a:t>号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6" grpId="0"/>
      <p:bldP spid="21299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1DE38AF-A845-4A2B-B486-E125A8F54FB3}" type="slidenum">
              <a:rPr lang="en-US" altLang="zh-CN" sz="1400" b="0"/>
              <a:t>13</a:t>
            </a:fld>
            <a:endParaRPr lang="en-US" altLang="zh-CN" sz="1400" b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推理定律</a:t>
            </a:r>
            <a:r>
              <a:rPr lang="en-US" altLang="zh-CN">
                <a:latin typeface="宋体" panose="02010600030101010101" pitchFamily="2" charset="-122"/>
              </a:rPr>
              <a:t> — </a:t>
            </a:r>
            <a:r>
              <a:rPr lang="zh-CN" altLang="en-US"/>
              <a:t>重言蕴涵式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712200" cy="5327650"/>
          </a:xfrm>
        </p:spPr>
        <p:txBody>
          <a:bodyPr/>
          <a:lstStyle/>
          <a:p>
            <a:pPr marL="990600" indent="-990600" eaLnBrk="1" hangingPunct="1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[1].</a:t>
            </a:r>
            <a:r>
              <a:rPr lang="en-US" altLang="zh-CN" i="1">
                <a:latin typeface="Times New Roman" panose="02020603050405020304" pitchFamily="18" charset="0"/>
              </a:rPr>
              <a:t>   A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                                                   </a:t>
            </a:r>
            <a:r>
              <a:rPr lang="zh-CN" altLang="en-US">
                <a:latin typeface="Times New Roman" panose="02020603050405020304" pitchFamily="18" charset="0"/>
              </a:rPr>
              <a:t>附加律 </a:t>
            </a:r>
          </a:p>
          <a:p>
            <a:pPr marL="990600" indent="-990600" eaLnBrk="1" hangingPunct="1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[2]. 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                                                  </a:t>
            </a:r>
            <a:r>
              <a:rPr lang="zh-CN" altLang="en-US">
                <a:latin typeface="Times New Roman" panose="02020603050405020304" pitchFamily="18" charset="0"/>
              </a:rPr>
              <a:t>化简律</a:t>
            </a:r>
          </a:p>
          <a:p>
            <a:pPr marL="990600" indent="-990600" eaLnBrk="1" hangingPunct="1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[3]. 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                                           </a:t>
            </a:r>
            <a:r>
              <a:rPr lang="zh-CN" altLang="en-US">
                <a:latin typeface="Times New Roman" panose="02020603050405020304" pitchFamily="18" charset="0"/>
              </a:rPr>
              <a:t>假言推理</a:t>
            </a:r>
          </a:p>
          <a:p>
            <a:pPr marL="990600" indent="-990600" eaLnBrk="1" hangingPunct="1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[4]. 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                                      </a:t>
            </a:r>
            <a:r>
              <a:rPr lang="zh-CN" altLang="en-US">
                <a:latin typeface="Times New Roman" panose="02020603050405020304" pitchFamily="18" charset="0"/>
              </a:rPr>
              <a:t>拒取式    </a:t>
            </a:r>
          </a:p>
          <a:p>
            <a:pPr marL="990600" indent="-990600" eaLnBrk="1" hangingPunct="1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[5]. 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                                          </a:t>
            </a:r>
            <a:r>
              <a:rPr lang="zh-CN" altLang="en-US">
                <a:latin typeface="Times New Roman" panose="02020603050405020304" pitchFamily="18" charset="0"/>
              </a:rPr>
              <a:t>析取三段论</a:t>
            </a:r>
          </a:p>
          <a:p>
            <a:pPr marL="990600" indent="-990600" eaLnBrk="1" hangingPunct="1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[6]. 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                          </a:t>
            </a:r>
            <a:r>
              <a:rPr lang="zh-CN" altLang="en-US">
                <a:latin typeface="Times New Roman" panose="02020603050405020304" pitchFamily="18" charset="0"/>
              </a:rPr>
              <a:t>假言三段论</a:t>
            </a:r>
          </a:p>
          <a:p>
            <a:pPr marL="990600" indent="-990600" eaLnBrk="1" hangingPunct="1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[7]. 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                         </a:t>
            </a:r>
            <a:r>
              <a:rPr lang="zh-CN" altLang="en-US">
                <a:latin typeface="Times New Roman" panose="02020603050405020304" pitchFamily="18" charset="0"/>
              </a:rPr>
              <a:t>等价三段论</a:t>
            </a:r>
          </a:p>
          <a:p>
            <a:pPr marL="990600" indent="-990600" eaLnBrk="1" hangingPunct="1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[8]. 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D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D</a:t>
            </a:r>
            <a:r>
              <a:rPr lang="en-US" altLang="zh-CN">
                <a:latin typeface="Times New Roman" panose="02020603050405020304" pitchFamily="18" charset="0"/>
              </a:rPr>
              <a:t>)              </a:t>
            </a:r>
            <a:r>
              <a:rPr lang="zh-CN" altLang="en-US">
                <a:latin typeface="Times New Roman" panose="02020603050405020304" pitchFamily="18" charset="0"/>
              </a:rPr>
              <a:t>构造性二难</a:t>
            </a:r>
          </a:p>
          <a:p>
            <a:pPr marL="990600" indent="-990600" eaLnBrk="1" hangingPunct="1">
              <a:spcBef>
                <a:spcPct val="10000"/>
              </a:spcBef>
            </a:pPr>
            <a:r>
              <a:rPr lang="zh-CN" altLang="en-US">
                <a:latin typeface="Times New Roman" panose="02020603050405020304" pitchFamily="18" charset="0"/>
              </a:rPr>
              <a:t>        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              </a:t>
            </a:r>
            <a:r>
              <a:rPr lang="en-US" altLang="zh-CN">
                <a:latin typeface="Times New Roman" panose="02020603050405020304" pitchFamily="18" charset="0"/>
              </a:rPr>
              <a:t>           </a:t>
            </a:r>
            <a:r>
              <a:rPr lang="zh-CN" altLang="en-US">
                <a:latin typeface="Times New Roman" panose="02020603050405020304" pitchFamily="18" charset="0"/>
              </a:rPr>
              <a:t>构造性二难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特殊形式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  <a:p>
            <a:pPr marL="990600" indent="-990600" eaLnBrk="1" hangingPunct="1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[9]. 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D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(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</a:rPr>
              <a:t>D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   </a:t>
            </a:r>
            <a:r>
              <a:rPr lang="zh-CN" altLang="en-US">
                <a:latin typeface="Times New Roman" panose="02020603050405020304" pitchFamily="18" charset="0"/>
              </a:rPr>
              <a:t>破坏性二难</a:t>
            </a:r>
          </a:p>
          <a:p>
            <a:pPr marL="990600" indent="-990600" eaLnBrk="1" hangingPunct="1">
              <a:spcBef>
                <a:spcPct val="10000"/>
              </a:spcBef>
            </a:pPr>
            <a:endParaRPr lang="zh-CN" altLang="en-US">
              <a:latin typeface="Times New Roman" panose="02020603050405020304" pitchFamily="18" charset="0"/>
            </a:endParaRPr>
          </a:p>
          <a:p>
            <a:pPr marL="990600" indent="-990600" eaLnBrk="1" hangingPunct="1">
              <a:spcBef>
                <a:spcPct val="10000"/>
              </a:spcBef>
            </a:pPr>
            <a:r>
              <a:rPr lang="zh-CN" altLang="en-US">
                <a:latin typeface="Times New Roman" panose="02020603050405020304" pitchFamily="18" charset="0"/>
              </a:rPr>
              <a:t>每个等值式可产生两个推理定律</a:t>
            </a:r>
          </a:p>
          <a:p>
            <a:pPr marL="990600" indent="-990600" eaLnBrk="1" hangingPunct="1">
              <a:spcBef>
                <a:spcPct val="10000"/>
              </a:spcBef>
            </a:pPr>
            <a:r>
              <a:rPr lang="zh-CN" altLang="en-US">
                <a:latin typeface="Times New Roman" panose="02020603050405020304" pitchFamily="18" charset="0"/>
              </a:rPr>
              <a:t>如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由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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可产生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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和 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FDD7BB80-7D3A-44D1-8D13-3C9C6863EC49}" type="slidenum">
              <a:rPr lang="zh-CN" altLang="en-US" sz="1400" b="0"/>
              <a:t>14</a:t>
            </a:fld>
            <a:endParaRPr lang="en-US" altLang="zh-CN" sz="1400" b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推理定律（续）</a:t>
            </a:r>
          </a:p>
        </p:txBody>
      </p:sp>
      <p:sp>
        <p:nvSpPr>
          <p:cNvPr id="551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[1].</a:t>
            </a:r>
            <a:r>
              <a:rPr lang="zh-CN" altLang="en-US" dirty="0"/>
              <a:t>附加律：	</a:t>
            </a:r>
            <a:r>
              <a:rPr lang="en-US" altLang="zh-CN" i="1" dirty="0">
                <a:latin typeface="Times New Roman" panose="02020603050405020304" pitchFamily="18" charset="0"/>
              </a:rPr>
              <a:t> 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例如：</a:t>
            </a:r>
          </a:p>
          <a:p>
            <a:pPr lvl="1" eaLnBrk="1" hangingPunct="1"/>
            <a:r>
              <a:rPr lang="zh-CN" altLang="en-US" dirty="0">
                <a:solidFill>
                  <a:srgbClr val="0000FF"/>
                </a:solidFill>
              </a:rPr>
              <a:t>由 “我正学习（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 </a:t>
            </a:r>
            <a:r>
              <a:rPr lang="zh-CN" altLang="en-US" dirty="0">
                <a:solidFill>
                  <a:srgbClr val="0000FF"/>
                </a:solidFill>
              </a:rPr>
              <a:t>）”，</a:t>
            </a:r>
            <a:endParaRPr lang="en-US" altLang="zh-CN" dirty="0">
              <a:solidFill>
                <a:srgbClr val="0000FF"/>
              </a:solidFill>
            </a:endParaRPr>
          </a:p>
          <a:p>
            <a:pPr marL="457200" lvl="1" indent="0" eaLnBrk="1" hangingPunct="1">
              <a:buNone/>
            </a:pPr>
            <a:r>
              <a:rPr lang="zh-CN" altLang="en-US" dirty="0">
                <a:solidFill>
                  <a:srgbClr val="0000FF"/>
                </a:solidFill>
              </a:rPr>
              <a:t>          能得出结论 </a:t>
            </a:r>
            <a:r>
              <a:rPr lang="en-US" altLang="zh-CN" dirty="0">
                <a:solidFill>
                  <a:srgbClr val="0000FF"/>
                </a:solidFill>
              </a:rPr>
              <a:t>“</a:t>
            </a:r>
            <a:r>
              <a:rPr lang="zh-CN" altLang="en-US" dirty="0">
                <a:solidFill>
                  <a:srgbClr val="0000FF"/>
                </a:solidFill>
              </a:rPr>
              <a:t>我正在学习（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 </a:t>
            </a:r>
            <a:r>
              <a:rPr lang="zh-CN" altLang="en-US" dirty="0">
                <a:solidFill>
                  <a:srgbClr val="0000FF"/>
                </a:solidFill>
              </a:rPr>
              <a:t>）或听音乐（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 </a:t>
            </a:r>
            <a:r>
              <a:rPr lang="zh-CN" altLang="en-US" dirty="0">
                <a:solidFill>
                  <a:srgbClr val="0000FF"/>
                </a:solidFill>
              </a:rPr>
              <a:t>）”</a:t>
            </a:r>
            <a:r>
              <a:rPr lang="zh-CN" altLang="en-US" dirty="0"/>
              <a:t> 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en-US" altLang="zh-CN" dirty="0"/>
              <a:t>                                                                 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前真后必真</a:t>
            </a:r>
          </a:p>
          <a:p>
            <a:pPr eaLnBrk="1" hangingPunct="1"/>
            <a:r>
              <a:rPr lang="zh-CN" altLang="en-US" dirty="0"/>
              <a:t>但是</a:t>
            </a:r>
          </a:p>
          <a:p>
            <a:pPr lvl="1" eaLnBrk="1" hangingPunct="1"/>
            <a:r>
              <a:rPr lang="zh-CN" altLang="en-US" dirty="0">
                <a:solidFill>
                  <a:srgbClr val="0000FF"/>
                </a:solidFill>
              </a:rPr>
              <a:t>由 “我正在学习（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 </a:t>
            </a:r>
            <a:r>
              <a:rPr lang="zh-CN" altLang="en-US" dirty="0">
                <a:solidFill>
                  <a:srgbClr val="0000FF"/>
                </a:solidFill>
              </a:rPr>
              <a:t>）或听音乐（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 </a:t>
            </a:r>
            <a:r>
              <a:rPr lang="zh-CN" altLang="en-US" dirty="0">
                <a:solidFill>
                  <a:srgbClr val="0000FF"/>
                </a:solidFill>
              </a:rPr>
              <a:t>）”，</a:t>
            </a:r>
            <a:endParaRPr lang="en-US" altLang="zh-CN" dirty="0">
              <a:solidFill>
                <a:srgbClr val="0000FF"/>
              </a:solidFill>
            </a:endParaRPr>
          </a:p>
          <a:p>
            <a:pPr marL="457200" lvl="1" indent="0" eaLnBrk="1" hangingPunct="1">
              <a:buNone/>
            </a:pPr>
            <a:r>
              <a:rPr lang="en-US" altLang="zh-CN" dirty="0">
                <a:solidFill>
                  <a:srgbClr val="0000FF"/>
                </a:solidFill>
              </a:rPr>
              <a:t>           </a:t>
            </a:r>
            <a:r>
              <a:rPr lang="zh-CN" altLang="en-US" dirty="0">
                <a:solidFill>
                  <a:srgbClr val="0000FF"/>
                </a:solidFill>
              </a:rPr>
              <a:t>不能得出结论 </a:t>
            </a:r>
            <a:r>
              <a:rPr lang="en-US" altLang="zh-CN" dirty="0">
                <a:solidFill>
                  <a:srgbClr val="0000FF"/>
                </a:solidFill>
              </a:rPr>
              <a:t>“</a:t>
            </a:r>
            <a:r>
              <a:rPr lang="zh-CN" altLang="en-US" dirty="0">
                <a:solidFill>
                  <a:srgbClr val="0000FF"/>
                </a:solidFill>
              </a:rPr>
              <a:t>我正学习（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 </a:t>
            </a:r>
            <a:r>
              <a:rPr lang="zh-CN" altLang="en-US" dirty="0">
                <a:solidFill>
                  <a:srgbClr val="0000FF"/>
                </a:solidFill>
              </a:rPr>
              <a:t>）”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前真后未必真</a:t>
            </a:r>
            <a:r>
              <a:rPr lang="zh-CN" altLang="en-US" dirty="0"/>
              <a:t> </a:t>
            </a:r>
            <a:endParaRPr lang="en-US" altLang="zh-CN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C46BDDA6-BEC3-468A-BE79-D9EED53EC18B}" type="slidenum">
              <a:rPr lang="zh-CN" altLang="en-US" sz="1400" b="0"/>
              <a:t>15</a:t>
            </a:fld>
            <a:endParaRPr lang="en-US" altLang="zh-CN" sz="1400" b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推理定律（续）</a:t>
            </a:r>
          </a:p>
        </p:txBody>
      </p:sp>
      <p:sp>
        <p:nvSpPr>
          <p:cNvPr id="552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522413"/>
            <a:ext cx="8137276" cy="4694237"/>
          </a:xfrm>
        </p:spPr>
        <p:txBody>
          <a:bodyPr/>
          <a:lstStyle/>
          <a:p>
            <a:pPr eaLnBrk="1" hangingPunct="1"/>
            <a:r>
              <a:rPr lang="en-US" altLang="zh-CN" dirty="0"/>
              <a:t>[2].</a:t>
            </a:r>
            <a:r>
              <a:rPr lang="zh-CN" altLang="en-US" dirty="0"/>
              <a:t>化简律：	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</a:p>
          <a:p>
            <a:pPr eaLnBrk="1" hangingPunct="1"/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/>
              <a:t>例如：</a:t>
            </a:r>
          </a:p>
          <a:p>
            <a:pPr lvl="1" eaLnBrk="1" hangingPunct="1"/>
            <a:r>
              <a:rPr lang="zh-CN" altLang="en-US" dirty="0">
                <a:solidFill>
                  <a:srgbClr val="0000FF"/>
                </a:solidFill>
              </a:rPr>
              <a:t>由 “我正边学习（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 </a:t>
            </a:r>
            <a:r>
              <a:rPr lang="zh-CN" altLang="en-US" dirty="0">
                <a:solidFill>
                  <a:srgbClr val="0000FF"/>
                </a:solidFill>
              </a:rPr>
              <a:t>）边听音乐（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 </a:t>
            </a:r>
            <a:r>
              <a:rPr lang="zh-CN" altLang="en-US" dirty="0">
                <a:solidFill>
                  <a:srgbClr val="0000FF"/>
                </a:solidFill>
              </a:rPr>
              <a:t>）”，</a:t>
            </a:r>
            <a:endParaRPr lang="en-US" altLang="zh-CN" dirty="0">
              <a:solidFill>
                <a:srgbClr val="0000FF"/>
              </a:solidFill>
            </a:endParaRPr>
          </a:p>
          <a:p>
            <a:pPr marL="457200" lvl="1" indent="0" eaLnBrk="1" hangingPunct="1">
              <a:buNone/>
            </a:pPr>
            <a:r>
              <a:rPr lang="en-US" altLang="zh-CN" dirty="0">
                <a:solidFill>
                  <a:srgbClr val="0000FF"/>
                </a:solidFill>
              </a:rPr>
              <a:t>            </a:t>
            </a:r>
            <a:r>
              <a:rPr lang="zh-CN" altLang="en-US" dirty="0">
                <a:solidFill>
                  <a:srgbClr val="0000FF"/>
                </a:solidFill>
              </a:rPr>
              <a:t>能得出结论“我正学习（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 </a:t>
            </a:r>
            <a:r>
              <a:rPr lang="zh-CN" altLang="en-US" dirty="0">
                <a:solidFill>
                  <a:srgbClr val="0000FF"/>
                </a:solidFill>
              </a:rPr>
              <a:t>）”</a:t>
            </a:r>
            <a:r>
              <a:rPr lang="zh-CN" altLang="en-US" dirty="0"/>
              <a:t>         </a:t>
            </a:r>
            <a:r>
              <a:rPr lang="zh-CN" altLang="en-US" dirty="0">
                <a:solidFill>
                  <a:srgbClr val="FF0000"/>
                </a:solidFill>
              </a:rPr>
              <a:t>前真后必真</a:t>
            </a:r>
          </a:p>
          <a:p>
            <a:pPr eaLnBrk="1" hangingPunct="1"/>
            <a:r>
              <a:rPr lang="zh-CN" altLang="en-US" dirty="0"/>
              <a:t>但是</a:t>
            </a:r>
          </a:p>
          <a:p>
            <a:pPr lvl="1" eaLnBrk="1" hangingPunct="1"/>
            <a:r>
              <a:rPr lang="zh-CN" altLang="en-US" dirty="0">
                <a:solidFill>
                  <a:srgbClr val="0000FF"/>
                </a:solidFill>
              </a:rPr>
              <a:t>由 “我正学习（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 </a:t>
            </a:r>
            <a:r>
              <a:rPr lang="zh-CN" altLang="en-US" dirty="0">
                <a:solidFill>
                  <a:srgbClr val="0000FF"/>
                </a:solidFill>
              </a:rPr>
              <a:t>）”，</a:t>
            </a:r>
            <a:endParaRPr lang="en-US" altLang="zh-CN" dirty="0">
              <a:solidFill>
                <a:srgbClr val="0000FF"/>
              </a:solidFill>
            </a:endParaRPr>
          </a:p>
          <a:p>
            <a:pPr marL="457200" lvl="1" indent="0" eaLnBrk="1" hangingPunct="1">
              <a:buNone/>
            </a:pPr>
            <a:r>
              <a:rPr lang="en-US" altLang="zh-CN" dirty="0">
                <a:solidFill>
                  <a:srgbClr val="0000FF"/>
                </a:solidFill>
              </a:rPr>
              <a:t>           </a:t>
            </a:r>
            <a:r>
              <a:rPr lang="zh-CN" altLang="en-US" dirty="0">
                <a:solidFill>
                  <a:srgbClr val="0000FF"/>
                </a:solidFill>
              </a:rPr>
              <a:t>不能得出结论 “我正边学习（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 </a:t>
            </a:r>
            <a:r>
              <a:rPr lang="zh-CN" altLang="en-US" dirty="0">
                <a:solidFill>
                  <a:srgbClr val="0000FF"/>
                </a:solidFill>
              </a:rPr>
              <a:t>）边听音乐（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 </a:t>
            </a:r>
            <a:r>
              <a:rPr lang="zh-CN" altLang="en-US" dirty="0">
                <a:solidFill>
                  <a:srgbClr val="0000FF"/>
                </a:solidFill>
              </a:rPr>
              <a:t>）”</a:t>
            </a:r>
            <a:r>
              <a:rPr lang="zh-CN" altLang="en-US" dirty="0"/>
              <a:t>              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                                                                  </a:t>
            </a:r>
            <a:r>
              <a:rPr lang="zh-CN" altLang="en-US" dirty="0">
                <a:solidFill>
                  <a:srgbClr val="FF0000"/>
                </a:solidFill>
              </a:rPr>
              <a:t>前真后未必真</a:t>
            </a:r>
            <a:r>
              <a:rPr lang="zh-CN" altLang="en-US" dirty="0"/>
              <a:t> </a:t>
            </a:r>
            <a:endParaRPr lang="en-US" altLang="zh-CN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F64D9083-6C2C-421D-B66E-7F68B748F421}" type="slidenum">
              <a:rPr lang="zh-CN" altLang="en-US" sz="1400" b="0"/>
              <a:t>16</a:t>
            </a:fld>
            <a:endParaRPr lang="en-US" altLang="zh-CN" sz="1400" b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推理定律（续）</a:t>
            </a:r>
          </a:p>
        </p:txBody>
      </p:sp>
      <p:sp>
        <p:nvSpPr>
          <p:cNvPr id="553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[3].</a:t>
            </a:r>
            <a:r>
              <a:rPr lang="zh-CN" altLang="en-US"/>
              <a:t>假言推理：	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例如：</a:t>
            </a:r>
          </a:p>
          <a:p>
            <a:pPr lvl="1" eaLnBrk="1" hangingPunct="1"/>
            <a:r>
              <a:rPr lang="zh-CN" altLang="en-US">
                <a:solidFill>
                  <a:srgbClr val="0000FF"/>
                </a:solidFill>
              </a:rPr>
              <a:t>如果天下雨地就是湿的</a:t>
            </a:r>
            <a:r>
              <a:rPr lang="en-US" altLang="zh-CN">
                <a:solidFill>
                  <a:srgbClr val="0000FF"/>
                </a:solidFill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>
                <a:solidFill>
                  <a:srgbClr val="0000FF"/>
                </a:solidFill>
              </a:rPr>
              <a:t>) </a:t>
            </a:r>
            <a:r>
              <a:rPr lang="zh-CN" altLang="en-US">
                <a:solidFill>
                  <a:srgbClr val="0000FF"/>
                </a:solidFill>
              </a:rPr>
              <a:t>，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   现在天下雨</a:t>
            </a:r>
            <a:r>
              <a:rPr lang="en-US" altLang="zh-CN">
                <a:solidFill>
                  <a:srgbClr val="0000FF"/>
                </a:solidFill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>
                <a:solidFill>
                  <a:srgbClr val="0000FF"/>
                </a:solidFill>
              </a:rPr>
              <a:t>)</a:t>
            </a:r>
            <a:r>
              <a:rPr lang="zh-CN" altLang="en-US">
                <a:solidFill>
                  <a:srgbClr val="0000FF"/>
                </a:solidFill>
              </a:rPr>
              <a:t> ，所以地是湿的</a:t>
            </a:r>
            <a:r>
              <a:rPr lang="en-US" altLang="zh-CN">
                <a:solidFill>
                  <a:srgbClr val="0000FF"/>
                </a:solidFill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>
                <a:solidFill>
                  <a:srgbClr val="0000FF"/>
                </a:solidFill>
              </a:rPr>
              <a:t>)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0212EDAE-1C9C-4325-8FB2-F979EE5CEFEF}" type="slidenum">
              <a:rPr lang="zh-CN" altLang="en-US" sz="1400" b="0"/>
              <a:t>17</a:t>
            </a:fld>
            <a:endParaRPr lang="en-US" altLang="zh-CN" sz="1400" b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推理定律（续）</a:t>
            </a:r>
          </a:p>
        </p:txBody>
      </p:sp>
      <p:sp>
        <p:nvSpPr>
          <p:cNvPr id="555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[4]. </a:t>
            </a:r>
            <a:r>
              <a:rPr lang="zh-CN" altLang="en-US" dirty="0"/>
              <a:t>拒取式：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/>
              <a:t>	</a:t>
            </a:r>
          </a:p>
          <a:p>
            <a:pPr lvl="1" eaLnBrk="1" hangingPunct="1"/>
            <a:r>
              <a:rPr lang="zh-CN" altLang="en-US" dirty="0"/>
              <a:t>就是通常所使用的反证法，即若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dirty="0"/>
              <a:t>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dirty="0"/>
              <a:t>，但如果已经有了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dirty="0"/>
              <a:t>的否定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dirty="0"/>
              <a:t>)</a:t>
            </a:r>
            <a:r>
              <a:rPr lang="zh-CN" altLang="en-US" dirty="0"/>
              <a:t>作为前提，那么就有理由相信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dirty="0"/>
              <a:t>是成立的。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例如：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zh-CN" altLang="en-US" dirty="0">
                <a:solidFill>
                  <a:srgbClr val="0000FF"/>
                </a:solidFill>
              </a:rPr>
              <a:t>如果天下雨地就是湿的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	但现在地没有湿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，所以天没有下雨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。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11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785154AB-C2A0-4598-827A-FA4F70B960AC}" type="slidenum">
              <a:rPr lang="zh-CN" altLang="en-US" sz="1400" b="0"/>
              <a:t>18</a:t>
            </a:fld>
            <a:endParaRPr lang="en-US" altLang="zh-CN" sz="1400" b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推理定律（续）</a:t>
            </a:r>
          </a:p>
        </p:txBody>
      </p:sp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zh-CN" altLang="en-US" dirty="0"/>
              <a:t>对于拒取式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/>
              <a:t>容易犯的两个错误：</a:t>
            </a:r>
          </a:p>
          <a:p>
            <a:pPr eaLnBrk="1" hangingPunct="1">
              <a:defRPr/>
            </a:pP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肯定后件 （推出前件为真）</a:t>
            </a:r>
          </a:p>
          <a:p>
            <a:pPr lvl="1" eaLnBrk="1" hangingPunct="1">
              <a:defRPr/>
            </a:pPr>
            <a:r>
              <a:rPr lang="zh-CN" altLang="en-US" dirty="0"/>
              <a:t>例如，</a:t>
            </a:r>
            <a:r>
              <a:rPr lang="zh-CN" altLang="en-US" dirty="0">
                <a:solidFill>
                  <a:srgbClr val="0000FF"/>
                </a:solidFill>
              </a:rPr>
              <a:t>如果天下雨地就是湿的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，现在地是湿的（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00FF"/>
                </a:solidFill>
              </a:rPr>
              <a:t>），所以天下雨了（</a:t>
            </a:r>
            <a:r>
              <a:rPr lang="en-US" altLang="zh-CN" sz="2400" i="1" dirty="0">
                <a:latin typeface="Times New Roman" panose="02020603050405020304" pitchFamily="18" charset="0"/>
              </a:rPr>
              <a:t> A </a:t>
            </a:r>
            <a:r>
              <a:rPr lang="zh-CN" altLang="en-US" dirty="0">
                <a:solidFill>
                  <a:srgbClr val="0000FF"/>
                </a:solidFill>
              </a:rPr>
              <a:t>）。                 </a:t>
            </a:r>
            <a:r>
              <a:rPr lang="zh-CN" altLang="en-US" dirty="0">
                <a:solidFill>
                  <a:srgbClr val="FF0000"/>
                </a:solidFill>
              </a:rPr>
              <a:t>（可能是洒水车导致的）</a:t>
            </a:r>
          </a:p>
          <a:p>
            <a:pPr eaLnBrk="1" hangingPunct="1">
              <a:defRPr/>
            </a:pP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否定前件 （推出后件为假）</a:t>
            </a:r>
          </a:p>
          <a:p>
            <a:pPr lvl="1" eaLnBrk="1" hangingPunct="1">
              <a:defRPr/>
            </a:pPr>
            <a:r>
              <a:rPr lang="zh-CN" altLang="en-US" dirty="0"/>
              <a:t>例如，</a:t>
            </a:r>
            <a:r>
              <a:rPr lang="zh-CN" altLang="en-US" dirty="0">
                <a:solidFill>
                  <a:srgbClr val="0000FF"/>
                </a:solidFill>
              </a:rPr>
              <a:t>如果天下雨地就是湿的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，现在天没下雨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 ，所以地不是湿的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 。             </a:t>
            </a:r>
            <a:endParaRPr lang="en-US" altLang="zh-CN" dirty="0">
              <a:solidFill>
                <a:srgbClr val="0000FF"/>
              </a:solidFill>
            </a:endParaRPr>
          </a:p>
          <a:p>
            <a:pPr marL="457200" lvl="1" indent="0" eaLnBrk="1" hangingPunct="1">
              <a:buFontTx/>
              <a:buNone/>
              <a:defRPr/>
            </a:pPr>
            <a:r>
              <a:rPr lang="zh-CN" altLang="en-US" dirty="0">
                <a:solidFill>
                  <a:srgbClr val="FF0000"/>
                </a:solidFill>
              </a:rPr>
              <a:t>（地可以是湿的，可能是洒水车导致的）</a:t>
            </a:r>
            <a:r>
              <a:rPr lang="zh-CN" altLang="en-US" dirty="0"/>
              <a:t>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035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976C7558-6157-4CFD-95D3-43BE16D64680}" type="slidenum">
              <a:rPr lang="zh-CN" altLang="en-US" sz="1400" b="0"/>
              <a:t>19</a:t>
            </a:fld>
            <a:endParaRPr lang="en-US" altLang="zh-CN" sz="1400" b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推理定律（续）</a:t>
            </a:r>
          </a:p>
        </p:txBody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[5].</a:t>
            </a:r>
            <a:r>
              <a:rPr lang="zh-CN" altLang="en-US" dirty="0"/>
              <a:t>析取三段论：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析取三段论本质上与拒取式一致，但在逻辑上通常称为选言推理，或者更通俗地称为排除法 </a:t>
            </a:r>
            <a:endParaRPr lang="en-US" altLang="zh-CN" dirty="0"/>
          </a:p>
          <a:p>
            <a:pPr marL="457200" lvl="1" indent="0" eaLnBrk="1" hangingPunct="1">
              <a:buFontTx/>
              <a:buNone/>
              <a:defRPr/>
            </a:pP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0000FF"/>
                </a:solidFill>
              </a:rPr>
              <a:t>例如，小李或者是</a:t>
            </a:r>
            <a:r>
              <a:rPr lang="en-US" altLang="zh-CN" dirty="0">
                <a:solidFill>
                  <a:srgbClr val="0000FF"/>
                </a:solidFill>
              </a:rPr>
              <a:t>100</a:t>
            </a:r>
            <a:r>
              <a:rPr lang="zh-CN" altLang="en-US" dirty="0">
                <a:solidFill>
                  <a:srgbClr val="0000FF"/>
                </a:solidFill>
              </a:rPr>
              <a:t>米冠军或者是</a:t>
            </a:r>
            <a:r>
              <a:rPr lang="en-US" altLang="zh-CN" dirty="0">
                <a:solidFill>
                  <a:srgbClr val="0000FF"/>
                </a:solidFill>
              </a:rPr>
              <a:t>400</a:t>
            </a:r>
            <a:r>
              <a:rPr lang="zh-CN" altLang="en-US" dirty="0">
                <a:solidFill>
                  <a:srgbClr val="0000FF"/>
                </a:solidFill>
              </a:rPr>
              <a:t>米冠军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 ，</a:t>
            </a:r>
            <a:endParaRPr lang="en-US" altLang="zh-CN" dirty="0">
              <a:solidFill>
                <a:srgbClr val="0000FF"/>
              </a:solidFill>
            </a:endParaRPr>
          </a:p>
          <a:p>
            <a:pPr marL="457200" lvl="1" indent="0" eaLnBrk="1" hangingPunct="1">
              <a:buNone/>
              <a:defRPr/>
            </a:pPr>
            <a:r>
              <a:rPr lang="en-US" altLang="zh-CN" dirty="0">
                <a:solidFill>
                  <a:srgbClr val="0000FF"/>
                </a:solidFill>
              </a:rPr>
              <a:t>               </a:t>
            </a:r>
            <a:r>
              <a:rPr lang="zh-CN" altLang="en-US" dirty="0">
                <a:solidFill>
                  <a:srgbClr val="0000FF"/>
                </a:solidFill>
              </a:rPr>
              <a:t>小李不是</a:t>
            </a:r>
            <a:r>
              <a:rPr lang="en-US" altLang="zh-CN" dirty="0">
                <a:solidFill>
                  <a:srgbClr val="0000FF"/>
                </a:solidFill>
              </a:rPr>
              <a:t>400</a:t>
            </a:r>
            <a:r>
              <a:rPr lang="zh-CN" altLang="en-US" dirty="0">
                <a:solidFill>
                  <a:srgbClr val="0000FF"/>
                </a:solidFill>
              </a:rPr>
              <a:t>米冠军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  <a:endParaRPr lang="en-US" altLang="zh-CN" dirty="0">
              <a:solidFill>
                <a:srgbClr val="0000FF"/>
              </a:solidFill>
            </a:endParaRPr>
          </a:p>
          <a:p>
            <a:pPr marL="457200" lvl="1" indent="0" eaLnBrk="1" hangingPunct="1">
              <a:buNone/>
              <a:defRPr/>
            </a:pPr>
            <a:r>
              <a:rPr lang="en-US" altLang="zh-CN" dirty="0">
                <a:solidFill>
                  <a:srgbClr val="0000FF"/>
                </a:solidFill>
              </a:rPr>
              <a:t>               </a:t>
            </a:r>
            <a:r>
              <a:rPr lang="zh-CN" altLang="en-US" dirty="0">
                <a:solidFill>
                  <a:srgbClr val="0000FF"/>
                </a:solidFill>
              </a:rPr>
              <a:t>所以，小李是</a:t>
            </a:r>
            <a:r>
              <a:rPr lang="en-US" altLang="zh-CN" dirty="0">
                <a:solidFill>
                  <a:srgbClr val="0000FF"/>
                </a:solidFill>
              </a:rPr>
              <a:t>100</a:t>
            </a:r>
            <a:r>
              <a:rPr lang="zh-CN" altLang="en-US" dirty="0">
                <a:solidFill>
                  <a:srgbClr val="0000FF"/>
                </a:solidFill>
              </a:rPr>
              <a:t>米冠军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。</a:t>
            </a:r>
            <a:endParaRPr lang="en-US" altLang="zh-CN" dirty="0">
              <a:solidFill>
                <a:srgbClr val="0000FF"/>
              </a:solidFill>
            </a:endParaRPr>
          </a:p>
          <a:p>
            <a:pPr marL="457200" lvl="1" indent="0" eaLnBrk="1" hangingPunct="1">
              <a:buFontTx/>
              <a:buNone/>
              <a:defRPr/>
            </a:pPr>
            <a:endParaRPr lang="zh-CN" altLang="en-US" dirty="0">
              <a:solidFill>
                <a:srgbClr val="0000FF"/>
              </a:solidFill>
            </a:endParaRPr>
          </a:p>
          <a:p>
            <a:pPr lvl="1" eaLnBrk="1" hangingPunct="1">
              <a:defRPr/>
            </a:pPr>
            <a:r>
              <a:rPr lang="zh-CN" altLang="en-US" dirty="0"/>
              <a:t>实际上这里假定前提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/>
              <a:t>已罗列了所有可能情况，因为这只是一种推理模式，因此这种假定是合理的，具有一般性。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724904B3-AF7C-4C3F-B0CA-DC98BD7D3225}" type="slidenum">
              <a:rPr lang="zh-CN" altLang="en-US" sz="1400" b="0"/>
              <a:t>20</a:t>
            </a:fld>
            <a:endParaRPr lang="en-US" altLang="zh-CN" sz="1400" b="0" dirty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推理定律（续）</a:t>
            </a:r>
          </a:p>
        </p:txBody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[6].</a:t>
            </a:r>
            <a:r>
              <a:rPr lang="zh-CN" altLang="en-US" dirty="0"/>
              <a:t>假言三段论：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表明推理的传递性，也是常用的一种三段论 </a:t>
            </a:r>
            <a:endParaRPr lang="en-US" altLang="zh-CN" dirty="0"/>
          </a:p>
          <a:p>
            <a:pPr marL="457200" lvl="1" indent="0" eaLnBrk="1" hangingPunct="1">
              <a:buFontTx/>
              <a:buNone/>
              <a:defRPr/>
            </a:pP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0000FF"/>
                </a:solidFill>
              </a:rPr>
              <a:t>例如，如果天下雨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，路就会很难走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  <a:endParaRPr lang="en-US" altLang="zh-CN" dirty="0">
              <a:solidFill>
                <a:srgbClr val="0000FF"/>
              </a:solidFill>
            </a:endParaRPr>
          </a:p>
          <a:p>
            <a:pPr marL="457200" lvl="1" indent="0" eaLnBrk="1" hangingPunct="1">
              <a:buNone/>
              <a:defRPr/>
            </a:pPr>
            <a:r>
              <a:rPr lang="zh-CN" altLang="en-US" dirty="0">
                <a:solidFill>
                  <a:srgbClr val="0000FF"/>
                </a:solidFill>
              </a:rPr>
              <a:t>               路很难走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FF"/>
                </a:solidFill>
              </a:rPr>
              <a:t>) </a:t>
            </a:r>
            <a:r>
              <a:rPr lang="zh-CN" altLang="en-US" dirty="0">
                <a:solidFill>
                  <a:srgbClr val="0000FF"/>
                </a:solidFill>
              </a:rPr>
              <a:t>，我上学就会迟到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  <a:endParaRPr lang="en-US" altLang="zh-CN" dirty="0">
              <a:solidFill>
                <a:srgbClr val="0000FF"/>
              </a:solidFill>
            </a:endParaRPr>
          </a:p>
          <a:p>
            <a:pPr marL="457200" lvl="1" indent="0" eaLnBrk="1" hangingPunct="1">
              <a:buNone/>
              <a:defRPr/>
            </a:pPr>
            <a:r>
              <a:rPr lang="zh-CN" altLang="en-US" dirty="0">
                <a:solidFill>
                  <a:srgbClr val="0000FF"/>
                </a:solidFill>
              </a:rPr>
              <a:t>               所以，如果天下雨，我上学就会迟到。</a:t>
            </a:r>
            <a:r>
              <a:rPr lang="zh-CN" altLang="en-US" dirty="0"/>
              <a:t>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8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1451C56F-CB44-484C-9C82-6B7FC666EF64}" type="slidenum">
              <a:rPr lang="zh-CN" altLang="en-US" sz="1400" b="0"/>
              <a:t>21</a:t>
            </a:fld>
            <a:endParaRPr lang="en-US" altLang="zh-CN" sz="1400" b="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推理定律（续）</a:t>
            </a:r>
          </a:p>
        </p:txBody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0768"/>
            <a:ext cx="8075240" cy="45259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[7].</a:t>
            </a:r>
            <a:r>
              <a:rPr lang="zh-CN" altLang="en-US" dirty="0"/>
              <a:t>等价三段论：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endParaRPr lang="en-US" altLang="zh-CN" dirty="0"/>
          </a:p>
          <a:p>
            <a:pPr marL="457200" lvl="1" indent="0" eaLnBrk="1" hangingPunct="1">
              <a:buFontTx/>
              <a:buNone/>
              <a:defRPr/>
            </a:pP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由命题公式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3333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3333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, …, 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solidFill>
                  <a:srgbClr val="3333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推出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的推理正确当且仅当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为重言式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。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为重言式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当且仅当</a:t>
            </a:r>
            <a:endParaRPr lang="en-US" altLang="zh-CN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marL="457200" lvl="1" indent="0" eaLnBrk="1" hangingPunct="1">
              <a:buNone/>
              <a:defRPr/>
            </a:pP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A</a:t>
            </a:r>
            <a:r>
              <a:rPr lang="en-US" altLang="zh-CN" b="1" baseline="-25000" dirty="0">
                <a:solidFill>
                  <a:srgbClr val="3333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3333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srgbClr val="3333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dirty="0" err="1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solidFill>
                  <a:srgbClr val="3333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无成假赋值。</a:t>
            </a:r>
            <a:endParaRPr lang="en-US" altLang="zh-CN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marL="457200" lvl="1" indent="0" eaLnBrk="1" hangingPunct="1">
              <a:buNone/>
              <a:defRPr/>
            </a:pPr>
            <a:r>
              <a:rPr lang="zh-CN" altLang="en-US" dirty="0">
                <a:solidFill>
                  <a:srgbClr val="3333FF"/>
                </a:solidFill>
              </a:rPr>
              <a:t>因此，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由命题公式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3333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3333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, …, 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solidFill>
                  <a:srgbClr val="3333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推出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的推理正确当且仅当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 A</a:t>
            </a:r>
            <a:r>
              <a:rPr lang="en-US" altLang="zh-CN" b="1" baseline="-25000" dirty="0">
                <a:solidFill>
                  <a:srgbClr val="3333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3333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srgbClr val="3333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dirty="0" err="1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solidFill>
                  <a:srgbClr val="3333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无成假赋值。</a:t>
            </a:r>
            <a:endParaRPr lang="en-US" altLang="zh-CN" dirty="0">
              <a:solidFill>
                <a:srgbClr val="3333FF"/>
              </a:solidFill>
            </a:endParaRPr>
          </a:p>
          <a:p>
            <a:pPr lvl="1" eaLnBrk="1" hangingPunct="1">
              <a:defRPr/>
            </a:pPr>
            <a:endParaRPr lang="en-US" altLang="zh-CN" dirty="0">
              <a:solidFill>
                <a:srgbClr val="0000FF"/>
              </a:solidFill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0000FF"/>
                </a:solidFill>
              </a:rPr>
              <a:t>例如，</a:t>
            </a:r>
            <a:r>
              <a:rPr lang="zh-CN" altLang="en-US" dirty="0">
                <a:solidFill>
                  <a:srgbClr val="C00000"/>
                </a:solidFill>
              </a:rPr>
              <a:t>央视直播比赛（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B 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r>
              <a:rPr lang="zh-CN" altLang="en-US" dirty="0">
                <a:solidFill>
                  <a:srgbClr val="0000FF"/>
                </a:solidFill>
              </a:rPr>
              <a:t>当且仅当比赛是决赛（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FF"/>
                </a:solidFill>
              </a:rPr>
              <a:t>）。</a:t>
            </a:r>
            <a:endParaRPr lang="en-US" altLang="zh-CN" dirty="0">
              <a:solidFill>
                <a:srgbClr val="0000FF"/>
              </a:solidFill>
            </a:endParaRPr>
          </a:p>
          <a:p>
            <a:pPr marL="457200" lvl="1" indent="0" eaLnBrk="1" hangingPunct="1">
              <a:buNone/>
              <a:defRPr/>
            </a:pPr>
            <a:r>
              <a:rPr lang="zh-CN" altLang="en-US" dirty="0">
                <a:solidFill>
                  <a:srgbClr val="0000FF"/>
                </a:solidFill>
              </a:rPr>
              <a:t>               我看电视（</a:t>
            </a:r>
            <a:r>
              <a:rPr lang="en-US" altLang="zh-CN" i="1" dirty="0">
                <a:latin typeface="Times New Roman" panose="02020603050405020304" pitchFamily="18" charset="0"/>
              </a:rPr>
              <a:t> C </a:t>
            </a:r>
            <a:r>
              <a:rPr lang="zh-CN" altLang="en-US" dirty="0">
                <a:solidFill>
                  <a:srgbClr val="0000FF"/>
                </a:solidFill>
              </a:rPr>
              <a:t>）当且仅当</a:t>
            </a:r>
            <a:r>
              <a:rPr lang="zh-CN" altLang="en-US" dirty="0">
                <a:solidFill>
                  <a:srgbClr val="C00000"/>
                </a:solidFill>
              </a:rPr>
              <a:t>央视直播比赛（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B 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r>
              <a:rPr lang="zh-CN" altLang="en-US" dirty="0">
                <a:solidFill>
                  <a:srgbClr val="0000FF"/>
                </a:solidFill>
              </a:rPr>
              <a:t>。</a:t>
            </a:r>
            <a:endParaRPr lang="en-US" altLang="zh-CN" dirty="0">
              <a:solidFill>
                <a:srgbClr val="0000FF"/>
              </a:solidFill>
            </a:endParaRPr>
          </a:p>
          <a:p>
            <a:pPr marL="457200" lvl="1" indent="0" eaLnBrk="1" hangingPunct="1">
              <a:buNone/>
              <a:defRPr/>
            </a:pPr>
            <a:r>
              <a:rPr lang="zh-CN" altLang="en-US" dirty="0">
                <a:solidFill>
                  <a:srgbClr val="0000FF"/>
                </a:solidFill>
              </a:rPr>
              <a:t>               因此，我看电视（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FF"/>
                </a:solidFill>
              </a:rPr>
              <a:t>）当且仅当比赛是决赛（</a:t>
            </a:r>
            <a:r>
              <a:rPr lang="en-US" altLang="zh-CN" i="1" dirty="0">
                <a:latin typeface="Times New Roman" panose="02020603050405020304" pitchFamily="18" charset="0"/>
              </a:rPr>
              <a:t> C </a:t>
            </a:r>
            <a:r>
              <a:rPr lang="zh-CN" altLang="en-US" dirty="0">
                <a:solidFill>
                  <a:srgbClr val="0000FF"/>
                </a:solidFill>
              </a:rPr>
              <a:t>）。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zh-CN" altLang="en-US" dirty="0"/>
              <a:t>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8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E4A2F7AB-9E8E-48FB-AA1E-E9E3DC5819D3}" type="slidenum">
              <a:rPr lang="zh-CN" altLang="en-US" sz="1400" b="0"/>
              <a:t>22</a:t>
            </a:fld>
            <a:endParaRPr lang="en-US" altLang="zh-CN" sz="1400" b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推理定律（续）</a:t>
            </a:r>
          </a:p>
        </p:txBody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3700" y="1335088"/>
            <a:ext cx="8229600" cy="5522912"/>
          </a:xfrm>
        </p:spPr>
        <p:txBody>
          <a:bodyPr/>
          <a:lstStyle/>
          <a:p>
            <a:pPr eaLnBrk="1" hangingPunct="1"/>
            <a:r>
              <a:rPr lang="en-US" altLang="zh-CN" dirty="0"/>
              <a:t>[8]. </a:t>
            </a:r>
            <a:r>
              <a:rPr lang="zh-CN" altLang="en-US" dirty="0"/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)              </a:t>
            </a:r>
            <a:r>
              <a:rPr lang="zh-CN" altLang="en-US" dirty="0">
                <a:latin typeface="Times New Roman" panose="02020603050405020304" pitchFamily="18" charset="0"/>
              </a:rPr>
              <a:t>构造性二难</a:t>
            </a:r>
          </a:p>
          <a:p>
            <a:pPr eaLnBrk="1" hangingPunct="1"/>
            <a:r>
              <a:rPr lang="zh-CN" altLang="en-US" dirty="0"/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       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              </a:t>
            </a: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</a:rPr>
              <a:t>构造性二难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特殊形式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zh-CN" altLang="en-US" dirty="0"/>
              <a:t>   </a:t>
            </a:r>
          </a:p>
          <a:p>
            <a:pPr lvl="1" eaLnBrk="1" hangingPunct="1"/>
            <a:r>
              <a:rPr lang="zh-CN" altLang="en-US" dirty="0">
                <a:solidFill>
                  <a:srgbClr val="0000FF"/>
                </a:solidFill>
              </a:rPr>
              <a:t>例如，如果派小王参加比赛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我们就可得到第一名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，如果派小张参加比赛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就可得到第三名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，我们要么派小王去比赛，要么派小张去比赛，所以我们不是得到第一名就是得到第三名。 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东方朔饮酒 </a:t>
            </a:r>
            <a:endParaRPr lang="en-US" altLang="zh-CN" dirty="0"/>
          </a:p>
          <a:p>
            <a:pPr lvl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zh-CN" altLang="en-US" dirty="0">
                <a:solidFill>
                  <a:srgbClr val="0000FF"/>
                </a:solidFill>
              </a:rPr>
              <a:t>如果这酒真能使人不死（</a:t>
            </a:r>
            <a:r>
              <a:rPr lang="en-US" altLang="zh-CN" i="1" dirty="0">
                <a:latin typeface="Times New Roman" panose="02020603050405020304" pitchFamily="18" charset="0"/>
              </a:rPr>
              <a:t> A </a:t>
            </a:r>
            <a:r>
              <a:rPr lang="zh-CN" altLang="en-US" dirty="0">
                <a:solidFill>
                  <a:srgbClr val="0000FF"/>
                </a:solidFill>
              </a:rPr>
              <a:t>），                                     </a:t>
            </a:r>
            <a:endParaRPr lang="en-US" altLang="zh-CN" dirty="0">
              <a:solidFill>
                <a:srgbClr val="0000FF"/>
              </a:solidFill>
            </a:endParaRPr>
          </a:p>
          <a:p>
            <a:pPr lvl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   </a:t>
            </a:r>
            <a:r>
              <a:rPr lang="zh-CN" altLang="en-US" dirty="0">
                <a:solidFill>
                  <a:srgbClr val="0000FF"/>
                </a:solidFill>
              </a:rPr>
              <a:t>那么你就杀不死我（</a:t>
            </a:r>
            <a:r>
              <a:rPr lang="en-US" altLang="zh-CN" i="1" dirty="0">
                <a:latin typeface="Times New Roman" panose="02020603050405020304" pitchFamily="18" charset="0"/>
              </a:rPr>
              <a:t> B </a:t>
            </a:r>
            <a:r>
              <a:rPr lang="zh-CN" altLang="en-US" dirty="0">
                <a:solidFill>
                  <a:srgbClr val="0000FF"/>
                </a:solidFill>
              </a:rPr>
              <a:t>）； </a:t>
            </a:r>
          </a:p>
          <a:p>
            <a:pPr lvl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   如果这酒不能使人不死 （</a:t>
            </a:r>
            <a:r>
              <a:rPr lang="en-US" altLang="zh-CN" i="1" dirty="0">
                <a:latin typeface="Times New Roman" panose="02020603050405020304" pitchFamily="18" charset="0"/>
              </a:rPr>
              <a:t> C </a:t>
            </a:r>
            <a:r>
              <a:rPr lang="zh-CN" altLang="en-US" dirty="0">
                <a:solidFill>
                  <a:srgbClr val="0000FF"/>
                </a:solidFill>
              </a:rPr>
              <a:t>）（</a:t>
            </a:r>
            <a:r>
              <a:rPr lang="zh-CN" altLang="en-US" dirty="0"/>
              <a:t>你能杀得死我</a:t>
            </a:r>
            <a:r>
              <a:rPr lang="zh-CN" altLang="en-US" dirty="0">
                <a:solidFill>
                  <a:srgbClr val="0000FF"/>
                </a:solidFill>
              </a:rPr>
              <a:t> ），</a:t>
            </a:r>
            <a:endParaRPr lang="en-US" altLang="zh-CN" dirty="0">
              <a:solidFill>
                <a:srgbClr val="0000FF"/>
              </a:solidFill>
            </a:endParaRPr>
          </a:p>
          <a:p>
            <a:pPr lvl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   </a:t>
            </a:r>
            <a:r>
              <a:rPr lang="zh-CN" altLang="en-US" dirty="0">
                <a:solidFill>
                  <a:srgbClr val="0000FF"/>
                </a:solidFill>
              </a:rPr>
              <a:t>那么不必杀我 （</a:t>
            </a:r>
            <a:r>
              <a:rPr lang="en-US" altLang="zh-CN" i="1" dirty="0">
                <a:latin typeface="Times New Roman" panose="02020603050405020304" pitchFamily="18" charset="0"/>
              </a:rPr>
              <a:t> D</a:t>
            </a:r>
            <a:r>
              <a:rPr lang="zh-CN" altLang="en-US" dirty="0">
                <a:solidFill>
                  <a:srgbClr val="0000FF"/>
                </a:solidFill>
              </a:rPr>
              <a:t> ）（</a:t>
            </a:r>
            <a:r>
              <a:rPr lang="zh-CN" altLang="en-US" dirty="0"/>
              <a:t>它没有什么用处</a:t>
            </a:r>
            <a:r>
              <a:rPr lang="zh-CN" altLang="en-US" dirty="0">
                <a:solidFill>
                  <a:srgbClr val="0000FF"/>
                </a:solidFill>
              </a:rPr>
              <a:t> ） ；</a:t>
            </a:r>
          </a:p>
          <a:p>
            <a:pPr lvl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   这酒或者能使人不死，或者不能使人不死；</a:t>
            </a:r>
          </a:p>
          <a:p>
            <a:pPr lvl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   所以你或者杀不死我，或者不必杀我。 </a:t>
            </a:r>
          </a:p>
          <a:p>
            <a:pPr lvl="1" eaLnBrk="1" hangingPunct="1"/>
            <a:endParaRPr lang="zh-CN" altLang="en-US" dirty="0">
              <a:solidFill>
                <a:srgbClr val="0000FF"/>
              </a:solidFill>
            </a:endParaRPr>
          </a:p>
        </p:txBody>
      </p:sp>
      <p:pic>
        <p:nvPicPr>
          <p:cNvPr id="2" name="图片 1" descr="imagesCA1RNFHF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8757" y="5915818"/>
            <a:ext cx="657225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107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18909734-E782-41B9-98C4-E393327E93FD}" type="slidenum">
              <a:rPr lang="zh-CN" altLang="en-US" sz="1400" b="0"/>
              <a:t>23</a:t>
            </a:fld>
            <a:endParaRPr lang="en-US" altLang="zh-CN" sz="1400" b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推理定律（续）</a:t>
            </a:r>
          </a:p>
        </p:txBody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93863"/>
            <a:ext cx="7593012" cy="4694237"/>
          </a:xfrm>
        </p:spPr>
        <p:txBody>
          <a:bodyPr/>
          <a:lstStyle/>
          <a:p>
            <a:pPr eaLnBrk="1" hangingPunct="1"/>
            <a:endParaRPr lang="zh-CN" altLang="en-US"/>
          </a:p>
          <a:p>
            <a:pPr lvl="1" eaLnBrk="1" hangingPunct="1"/>
            <a:r>
              <a:rPr lang="zh-CN" altLang="zh-CN" sz="2400" b="1">
                <a:ea typeface="宋体" panose="02010600030101010101" pitchFamily="2" charset="-122"/>
              </a:rPr>
              <a:t>纪晓岚买书</a:t>
            </a:r>
            <a:endParaRPr lang="en-US" altLang="zh-CN" sz="2400" b="1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>
                <a:solidFill>
                  <a:srgbClr val="0000FF"/>
                </a:solidFill>
              </a:rPr>
              <a:t>如果是好书（</a:t>
            </a:r>
            <a:r>
              <a:rPr lang="en-US" altLang="zh-CN" b="1" i="1">
                <a:latin typeface="Times New Roman" panose="02020603050405020304" pitchFamily="18" charset="0"/>
              </a:rPr>
              <a:t> A </a:t>
            </a:r>
            <a:r>
              <a:rPr lang="zh-CN" altLang="en-US">
                <a:solidFill>
                  <a:srgbClr val="0000FF"/>
                </a:solidFill>
              </a:rPr>
              <a:t>）（</a:t>
            </a:r>
            <a:r>
              <a:rPr lang="zh-CN" altLang="en-US">
                <a:solidFill>
                  <a:srgbClr val="00B050"/>
                </a:solidFill>
              </a:rPr>
              <a:t>看后背过</a:t>
            </a:r>
            <a:r>
              <a:rPr lang="zh-CN" altLang="en-US">
                <a:solidFill>
                  <a:srgbClr val="0000FF"/>
                </a:solidFill>
              </a:rPr>
              <a:t>），那么我不买（</a:t>
            </a:r>
            <a:r>
              <a:rPr lang="en-US" altLang="zh-CN" b="1" i="1">
                <a:latin typeface="Times New Roman" panose="02020603050405020304" pitchFamily="18" charset="0"/>
              </a:rPr>
              <a:t> B </a:t>
            </a:r>
            <a:r>
              <a:rPr lang="zh-CN" altLang="en-US">
                <a:solidFill>
                  <a:srgbClr val="0000FF"/>
                </a:solidFill>
              </a:rPr>
              <a:t>）。 </a:t>
            </a:r>
            <a:endParaRPr lang="en-US" altLang="zh-CN">
              <a:solidFill>
                <a:srgbClr val="0000FF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FF"/>
                </a:solidFill>
              </a:rPr>
              <a:t>	</a:t>
            </a:r>
            <a:r>
              <a:rPr lang="zh-CN" altLang="en-US">
                <a:solidFill>
                  <a:srgbClr val="0000FF"/>
                </a:solidFill>
              </a:rPr>
              <a:t>如果不是好书（</a:t>
            </a:r>
            <a:r>
              <a:rPr lang="en-US" altLang="zh-CN" b="1" i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>
                <a:latin typeface="Times New Roman" panose="02020603050405020304" pitchFamily="18" charset="0"/>
              </a:rPr>
              <a:t>A </a:t>
            </a:r>
            <a:r>
              <a:rPr lang="zh-CN" altLang="en-US">
                <a:solidFill>
                  <a:srgbClr val="0000FF"/>
                </a:solidFill>
              </a:rPr>
              <a:t>），那么我不买（</a:t>
            </a:r>
            <a:r>
              <a:rPr lang="en-US" altLang="zh-CN" b="1" i="1">
                <a:latin typeface="Times New Roman" panose="02020603050405020304" pitchFamily="18" charset="0"/>
              </a:rPr>
              <a:t> B </a:t>
            </a:r>
            <a:r>
              <a:rPr lang="zh-CN" altLang="en-US">
                <a:solidFill>
                  <a:srgbClr val="0000FF"/>
                </a:solidFill>
              </a:rPr>
              <a:t>）。                      </a:t>
            </a:r>
            <a:endParaRPr lang="en-US" altLang="zh-CN">
              <a:solidFill>
                <a:srgbClr val="0000FF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FF"/>
                </a:solidFill>
              </a:rPr>
              <a:t>	</a:t>
            </a:r>
            <a:r>
              <a:rPr lang="zh-CN" altLang="en-US">
                <a:solidFill>
                  <a:srgbClr val="0000FF"/>
                </a:solidFill>
              </a:rPr>
              <a:t>或者是好书，或者不是好书。                       </a:t>
            </a:r>
            <a:endParaRPr lang="en-US" altLang="zh-CN">
              <a:solidFill>
                <a:srgbClr val="0000FF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FF"/>
                </a:solidFill>
              </a:rPr>
              <a:t>    </a:t>
            </a:r>
            <a:r>
              <a:rPr lang="zh-CN" altLang="en-US">
                <a:solidFill>
                  <a:srgbClr val="0000FF"/>
                </a:solidFill>
              </a:rPr>
              <a:t>因此，我不买。</a:t>
            </a:r>
          </a:p>
        </p:txBody>
      </p:sp>
      <p:sp>
        <p:nvSpPr>
          <p:cNvPr id="37893" name="矩形 1"/>
          <p:cNvSpPr>
            <a:spLocks noChangeArrowheads="1"/>
          </p:cNvSpPr>
          <p:nvPr/>
        </p:nvSpPr>
        <p:spPr bwMode="auto">
          <a:xfrm>
            <a:off x="609600" y="1217613"/>
            <a:ext cx="81359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              </a:t>
            </a:r>
            <a:r>
              <a:rPr lang="en-US" altLang="zh-CN">
                <a:latin typeface="Times New Roman" panose="02020603050405020304" pitchFamily="18" charset="0"/>
              </a:rPr>
              <a:t>        </a:t>
            </a:r>
            <a:r>
              <a:rPr lang="zh-CN" altLang="en-US">
                <a:latin typeface="Times New Roman" panose="02020603050405020304" pitchFamily="18" charset="0"/>
              </a:rPr>
              <a:t>构造性二难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特殊形式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endParaRPr lang="zh-CN" altLang="en-US"/>
          </a:p>
        </p:txBody>
      </p:sp>
      <p:pic>
        <p:nvPicPr>
          <p:cNvPr id="2" name="图片 1" descr="imagesCA1RNFHF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187" y="5915818"/>
            <a:ext cx="657225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FBCE7374-F3B8-402E-9CDA-AFE30A92E302}" type="slidenum">
              <a:rPr lang="zh-CN" altLang="en-US" sz="1400" b="0"/>
              <a:t>24</a:t>
            </a:fld>
            <a:endParaRPr lang="en-US" altLang="zh-CN" sz="1400" b="0" dirty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推理定律（续）</a:t>
            </a:r>
          </a:p>
        </p:txBody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990600" indent="-990600" eaLnBrk="1" hangingPunct="1">
              <a:spcBef>
                <a:spcPct val="10000"/>
              </a:spcBef>
              <a:defRPr/>
            </a:pPr>
            <a:r>
              <a:rPr lang="en-US" altLang="zh-CN" dirty="0"/>
              <a:t>[9].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(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   </a:t>
            </a:r>
            <a:r>
              <a:rPr lang="zh-CN" altLang="en-US" dirty="0">
                <a:latin typeface="Times New Roman" panose="02020603050405020304" pitchFamily="18" charset="0"/>
              </a:rPr>
              <a:t>破坏性二难</a:t>
            </a:r>
          </a:p>
          <a:p>
            <a:pPr eaLnBrk="1" hangingPunct="1">
              <a:defRPr/>
            </a:pPr>
            <a:r>
              <a:rPr lang="zh-CN" altLang="en-US" dirty="0"/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zh-CN" altLang="en-US" dirty="0"/>
              <a:t>   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0000FF"/>
                </a:solidFill>
              </a:rPr>
              <a:t>例如，明天是周一（</a:t>
            </a:r>
            <a:r>
              <a:rPr lang="en-US" altLang="zh-CN" i="1" dirty="0">
                <a:latin typeface="Times New Roman" panose="02020603050405020304" pitchFamily="18" charset="0"/>
              </a:rPr>
              <a:t> A </a:t>
            </a:r>
            <a:r>
              <a:rPr lang="zh-CN" altLang="en-US" dirty="0">
                <a:solidFill>
                  <a:srgbClr val="0000FF"/>
                </a:solidFill>
              </a:rPr>
              <a:t>），小明就要上学（</a:t>
            </a:r>
            <a:r>
              <a:rPr lang="en-US" altLang="zh-CN" i="1" dirty="0">
                <a:latin typeface="Times New Roman" panose="02020603050405020304" pitchFamily="18" charset="0"/>
              </a:rPr>
              <a:t> B </a:t>
            </a:r>
            <a:r>
              <a:rPr lang="zh-CN" altLang="en-US" dirty="0">
                <a:solidFill>
                  <a:srgbClr val="0000FF"/>
                </a:solidFill>
              </a:rPr>
              <a:t>），</a:t>
            </a:r>
            <a:endParaRPr lang="en-US" altLang="zh-CN" dirty="0">
              <a:solidFill>
                <a:srgbClr val="0000FF"/>
              </a:solidFill>
            </a:endParaRPr>
          </a:p>
          <a:p>
            <a:pPr marL="457200" lvl="1" indent="0" eaLnBrk="1" hangingPunct="1">
              <a:buNone/>
              <a:defRPr/>
            </a:pPr>
            <a:r>
              <a:rPr lang="en-US" altLang="zh-CN" dirty="0">
                <a:solidFill>
                  <a:srgbClr val="0000FF"/>
                </a:solidFill>
              </a:rPr>
              <a:t>               </a:t>
            </a:r>
            <a:r>
              <a:rPr lang="zh-CN" altLang="en-US" dirty="0">
                <a:solidFill>
                  <a:srgbClr val="0000FF"/>
                </a:solidFill>
              </a:rPr>
              <a:t>明天是周末（</a:t>
            </a:r>
            <a:r>
              <a:rPr lang="en-US" altLang="zh-CN" i="1" dirty="0">
                <a:latin typeface="Times New Roman" panose="02020603050405020304" pitchFamily="18" charset="0"/>
              </a:rPr>
              <a:t> C </a:t>
            </a:r>
            <a:r>
              <a:rPr lang="zh-CN" altLang="en-US" dirty="0">
                <a:solidFill>
                  <a:srgbClr val="0000FF"/>
                </a:solidFill>
              </a:rPr>
              <a:t>），小明就要去游泳（</a:t>
            </a:r>
            <a:r>
              <a:rPr lang="en-US" altLang="zh-CN" i="1" dirty="0">
                <a:latin typeface="Times New Roman" panose="02020603050405020304" pitchFamily="18" charset="0"/>
              </a:rPr>
              <a:t> D </a:t>
            </a:r>
            <a:r>
              <a:rPr lang="zh-CN" altLang="en-US" dirty="0">
                <a:solidFill>
                  <a:srgbClr val="0000FF"/>
                </a:solidFill>
              </a:rPr>
              <a:t>），</a:t>
            </a:r>
            <a:endParaRPr lang="en-US" altLang="zh-CN" dirty="0">
              <a:solidFill>
                <a:srgbClr val="0000FF"/>
              </a:solidFill>
            </a:endParaRPr>
          </a:p>
          <a:p>
            <a:pPr marL="457200" lvl="1" indent="0" eaLnBrk="1" hangingPunct="1">
              <a:buNone/>
              <a:defRPr/>
            </a:pPr>
            <a:r>
              <a:rPr lang="zh-CN" altLang="en-US" dirty="0">
                <a:solidFill>
                  <a:srgbClr val="0000FF"/>
                </a:solidFill>
              </a:rPr>
              <a:t>   小明没有去上学（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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solidFill>
                  <a:srgbClr val="0000FF"/>
                </a:solidFill>
              </a:rPr>
              <a:t>）或者小明没有去游泳（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</a:t>
            </a:r>
            <a:r>
              <a:rPr lang="en-US" altLang="zh-CN" i="1" dirty="0">
                <a:latin typeface="Times New Roman" panose="02020603050405020304" pitchFamily="18" charset="0"/>
              </a:rPr>
              <a:t>D </a:t>
            </a:r>
            <a:r>
              <a:rPr lang="zh-CN" altLang="en-US" dirty="0">
                <a:solidFill>
                  <a:srgbClr val="0000FF"/>
                </a:solidFill>
              </a:rPr>
              <a:t>），</a:t>
            </a:r>
            <a:endParaRPr lang="en-US" altLang="zh-CN" dirty="0">
              <a:solidFill>
                <a:srgbClr val="0000FF"/>
              </a:solidFill>
            </a:endParaRPr>
          </a:p>
          <a:p>
            <a:pPr marL="457200" lvl="1" indent="0" eaLnBrk="1" hangingPunct="1">
              <a:buNone/>
              <a:defRPr/>
            </a:pPr>
            <a:r>
              <a:rPr lang="zh-CN" altLang="en-US" dirty="0">
                <a:solidFill>
                  <a:srgbClr val="0000FF"/>
                </a:solidFill>
              </a:rPr>
              <a:t>   所以明天不是周一（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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solidFill>
                  <a:srgbClr val="0000FF"/>
                </a:solidFill>
              </a:rPr>
              <a:t>）或者明天不是周末（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</a:t>
            </a:r>
            <a:r>
              <a:rPr lang="en-US" altLang="zh-CN" i="1" dirty="0">
                <a:latin typeface="Times New Roman" panose="02020603050405020304" pitchFamily="18" charset="0"/>
              </a:rPr>
              <a:t>C </a:t>
            </a:r>
            <a:r>
              <a:rPr lang="zh-CN" altLang="en-US" dirty="0">
                <a:solidFill>
                  <a:srgbClr val="0000FF"/>
                </a:solidFill>
              </a:rPr>
              <a:t>）。 </a:t>
            </a:r>
          </a:p>
        </p:txBody>
      </p:sp>
      <p:sp>
        <p:nvSpPr>
          <p:cNvPr id="39941" name="Rectangle 4"/>
          <p:cNvSpPr>
            <a:spLocks noChangeArrowheads="1"/>
          </p:cNvSpPr>
          <p:nvPr/>
        </p:nvSpPr>
        <p:spPr bwMode="auto">
          <a:xfrm>
            <a:off x="8578850" y="6308725"/>
            <a:ext cx="5651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FontTx/>
              <a:buNone/>
            </a:pPr>
            <a:r>
              <a:rPr lang="en-US" altLang="en-US" b="0"/>
              <a:t>☆</a:t>
            </a:r>
            <a:endParaRPr lang="zh-CN" altLang="en-US" b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107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DE4F60F-1DD2-4818-A663-4EB3C1627F3D}" type="slidenum">
              <a:rPr lang="en-US" altLang="zh-CN" sz="1400" b="0"/>
              <a:t>25</a:t>
            </a:fld>
            <a:endParaRPr lang="en-US" altLang="zh-CN" sz="1400" b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4924425"/>
          </a:xfrm>
        </p:spPr>
        <p:txBody>
          <a:bodyPr/>
          <a:lstStyle/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endParaRPr lang="en-US" altLang="zh-CN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推理的正确与错误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推理的形式结构（</a:t>
            </a:r>
            <a:r>
              <a:rPr lang="en-US" altLang="zh-CN"/>
              <a:t>3</a:t>
            </a:r>
            <a:r>
              <a:rPr lang="zh-CN" altLang="en-US"/>
              <a:t>个）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判断推理正确的方法（</a:t>
            </a:r>
            <a:r>
              <a:rPr lang="en-US" altLang="zh-CN"/>
              <a:t>3</a:t>
            </a:r>
            <a:r>
              <a:rPr lang="zh-CN" altLang="en-US"/>
              <a:t>个）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推理定律（</a:t>
            </a:r>
            <a:r>
              <a:rPr lang="en-US" altLang="zh-CN"/>
              <a:t>9</a:t>
            </a:r>
            <a:r>
              <a:rPr lang="zh-CN" altLang="en-US"/>
              <a:t>个）</a:t>
            </a:r>
          </a:p>
          <a:p>
            <a:pPr marL="361950" indent="-361950" eaLnBrk="1" hangingPunct="1">
              <a:buFont typeface="Wingdings" panose="05000000000000000000" pitchFamily="2" charset="2"/>
              <a:buChar char="l"/>
            </a:pP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61950" indent="-361950" eaLnBrk="1" hangingPunct="1">
              <a:buClr>
                <a:srgbClr val="FF9900"/>
              </a:buClr>
            </a:pPr>
            <a:r>
              <a:rPr lang="en-US" altLang="zh-CN"/>
              <a:t>3.1</a:t>
            </a:r>
            <a:r>
              <a:rPr lang="zh-CN" altLang="en-US"/>
              <a:t>推理的形式结构（回顾）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8EFE5F1-420F-4009-A99F-9DEBDB493B64}" type="slidenum">
              <a:rPr lang="en-US" altLang="zh-CN" sz="1400" b="0"/>
              <a:t>26</a:t>
            </a:fld>
            <a:endParaRPr lang="en-US" altLang="zh-CN" sz="1400" b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4924425"/>
          </a:xfrm>
        </p:spPr>
        <p:txBody>
          <a:bodyPr/>
          <a:lstStyle/>
          <a:p>
            <a:pPr marL="361950" indent="-361950" eaLnBrk="1" hangingPunct="1"/>
            <a:r>
              <a:rPr lang="zh-CN" altLang="en-US"/>
              <a:t>主要内容</a:t>
            </a:r>
          </a:p>
          <a:p>
            <a:pPr marL="361950" indent="-361950" eaLnBrk="1" hangingPunct="1">
              <a:buClr>
                <a:srgbClr val="FF9900"/>
              </a:buClr>
            </a:pPr>
            <a:r>
              <a:rPr lang="en-US" altLang="zh-CN"/>
              <a:t>3.1</a:t>
            </a:r>
            <a:r>
              <a:rPr lang="zh-CN" altLang="en-US"/>
              <a:t>推理的形式结构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推理的正确与错误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推理的形式结构（</a:t>
            </a:r>
            <a:r>
              <a:rPr lang="en-US" altLang="zh-CN"/>
              <a:t>3</a:t>
            </a:r>
            <a:r>
              <a:rPr lang="zh-CN" altLang="en-US"/>
              <a:t>个）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判断推理正确的方法（</a:t>
            </a:r>
            <a:r>
              <a:rPr lang="en-US" altLang="zh-CN"/>
              <a:t>3</a:t>
            </a:r>
            <a:r>
              <a:rPr lang="zh-CN" altLang="en-US"/>
              <a:t>个）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推理定律（</a:t>
            </a:r>
            <a:r>
              <a:rPr lang="en-US" altLang="zh-CN"/>
              <a:t>9</a:t>
            </a:r>
            <a:r>
              <a:rPr lang="zh-CN" altLang="en-US"/>
              <a:t>个）</a:t>
            </a:r>
          </a:p>
          <a:p>
            <a:pPr marL="361950" indent="-361950" eaLnBrk="1" hangingPunct="1">
              <a:spcBef>
                <a:spcPct val="60000"/>
              </a:spcBef>
              <a:buClr>
                <a:srgbClr val="FF9900"/>
              </a:buClr>
            </a:pPr>
            <a:r>
              <a:rPr lang="en-US" altLang="zh-CN">
                <a:solidFill>
                  <a:srgbClr val="FF0000"/>
                </a:solidFill>
              </a:rPr>
              <a:t>3.2</a:t>
            </a:r>
            <a:r>
              <a:rPr lang="zh-CN" altLang="en-US">
                <a:solidFill>
                  <a:srgbClr val="FF0000"/>
                </a:solidFill>
              </a:rPr>
              <a:t>自然推理系统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形式系统的定义与分类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自然推理系统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在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中构造证明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直接证明法、附加前提证明法、归谬法</a:t>
            </a:r>
          </a:p>
          <a:p>
            <a:pPr marL="361950" indent="-361950" eaLnBrk="1" hangingPunct="1">
              <a:buFont typeface="Wingdings" panose="05000000000000000000" pitchFamily="2" charset="2"/>
              <a:buChar char="l"/>
            </a:pP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第三章 命题逻辑的推理理论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A94D6C-31CC-467A-8DE3-30FA50E392FB}" type="slidenum">
              <a:rPr lang="en-US" altLang="zh-CN" sz="1400" b="0"/>
              <a:t>27</a:t>
            </a:fld>
            <a:endParaRPr lang="en-US" altLang="zh-CN" sz="1400" b="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3.2  </a:t>
            </a:r>
            <a:r>
              <a:rPr lang="zh-CN" altLang="en-US">
                <a:latin typeface="Times New Roman" panose="02020603050405020304" pitchFamily="18" charset="0"/>
              </a:rPr>
              <a:t>自然推理系统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43000"/>
            <a:ext cx="8229600" cy="5310188"/>
          </a:xfrm>
        </p:spPr>
        <p:txBody>
          <a:bodyPr/>
          <a:lstStyle/>
          <a:p>
            <a:pPr marL="609600" indent="-609600"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3.2</a:t>
            </a:r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</a:rPr>
              <a:t>一个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形式系统 </a:t>
            </a:r>
            <a:r>
              <a:rPr lang="en-US" altLang="zh-CN" i="1">
                <a:latin typeface="Times New Roman" panose="02020603050405020304" pitchFamily="18" charset="0"/>
              </a:rPr>
              <a:t>I </a:t>
            </a:r>
            <a:r>
              <a:rPr lang="zh-CN" altLang="en-US">
                <a:latin typeface="Times New Roman" panose="02020603050405020304" pitchFamily="18" charset="0"/>
              </a:rPr>
              <a:t>由下面四个部分组成：</a:t>
            </a:r>
          </a:p>
          <a:p>
            <a:pPr marL="609600" indent="-609600" eaLnBrk="1" hangingPunct="1"/>
            <a:r>
              <a:rPr lang="zh-CN" altLang="en-US">
                <a:latin typeface="Times New Roman" panose="02020603050405020304" pitchFamily="18" charset="0"/>
              </a:rPr>
              <a:t>  </a:t>
            </a:r>
            <a:r>
              <a:rPr lang="en-US" altLang="zh-CN">
                <a:latin typeface="Times New Roman" panose="02020603050405020304" pitchFamily="18" charset="0"/>
              </a:rPr>
              <a:t>(1)  </a:t>
            </a:r>
            <a:r>
              <a:rPr lang="zh-CN" altLang="en-US">
                <a:latin typeface="Times New Roman" panose="02020603050405020304" pitchFamily="18" charset="0"/>
              </a:rPr>
              <a:t>非空的字母表，记作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.  </a:t>
            </a:r>
          </a:p>
          <a:p>
            <a:pPr marL="609600" indent="-609600" eaLnBrk="1" hangingPunct="1"/>
            <a:r>
              <a:rPr lang="en-US" altLang="zh-CN">
                <a:latin typeface="Times New Roman" panose="02020603050405020304" pitchFamily="18" charset="0"/>
              </a:rPr>
              <a:t>  (2)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zh-CN" altLang="en-US">
                <a:latin typeface="Times New Roman" panose="02020603050405020304" pitchFamily="18" charset="0"/>
              </a:rPr>
              <a:t>中符号构造的合式公式集，记作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.</a:t>
            </a:r>
          </a:p>
          <a:p>
            <a:pPr marL="609600" indent="-609600" eaLnBrk="1" hangingPunct="1"/>
            <a:r>
              <a:rPr lang="en-US" altLang="zh-CN">
                <a:latin typeface="Times New Roman" panose="02020603050405020304" pitchFamily="18" charset="0"/>
              </a:rPr>
              <a:t>  (3) 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zh-CN" altLang="en-US">
                <a:latin typeface="Times New Roman" panose="02020603050405020304" pitchFamily="18" charset="0"/>
              </a:rPr>
              <a:t>中一些特殊的公式组成的公理集，记作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.</a:t>
            </a:r>
          </a:p>
          <a:p>
            <a:pPr marL="609600" indent="-609600" eaLnBrk="1" hangingPunct="1"/>
            <a:r>
              <a:rPr lang="en-US" altLang="zh-CN">
                <a:latin typeface="Times New Roman" panose="02020603050405020304" pitchFamily="18" charset="0"/>
              </a:rPr>
              <a:t>  (4)  </a:t>
            </a:r>
            <a:r>
              <a:rPr lang="zh-CN" altLang="en-US">
                <a:latin typeface="Times New Roman" panose="02020603050405020304" pitchFamily="18" charset="0"/>
              </a:rPr>
              <a:t>推理规则集，记作 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.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</a:p>
          <a:p>
            <a:pPr marL="609600" indent="-609600" eaLnBrk="1" hangingPunct="1"/>
            <a:r>
              <a:rPr lang="zh-CN" altLang="en-US">
                <a:latin typeface="Times New Roman" panose="02020603050405020304" pitchFamily="18" charset="0"/>
              </a:rPr>
              <a:t>记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=&lt;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),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),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)&gt;, </a:t>
            </a:r>
          </a:p>
          <a:p>
            <a:pPr marL="609600" indent="-609600" eaLnBrk="1" hangingPunct="1"/>
            <a:r>
              <a:rPr lang="zh-CN" altLang="en-US">
                <a:latin typeface="Times New Roman" panose="02020603050405020304" pitchFamily="18" charset="0"/>
              </a:rPr>
              <a:t>其中</a:t>
            </a:r>
            <a:r>
              <a:rPr lang="en-US" altLang="zh-CN">
                <a:latin typeface="Times New Roman" panose="02020603050405020304" pitchFamily="18" charset="0"/>
              </a:rPr>
              <a:t>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),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)&gt;</a:t>
            </a:r>
            <a:r>
              <a:rPr lang="zh-CN" altLang="en-US">
                <a:latin typeface="Times New Roman" panose="02020603050405020304" pitchFamily="18" charset="0"/>
              </a:rPr>
              <a:t>是 </a:t>
            </a:r>
            <a:r>
              <a:rPr lang="en-US" altLang="zh-CN" i="1">
                <a:latin typeface="Times New Roman" panose="02020603050405020304" pitchFamily="18" charset="0"/>
              </a:rPr>
              <a:t>I </a:t>
            </a:r>
            <a:r>
              <a:rPr lang="zh-CN" altLang="en-US">
                <a:latin typeface="Times New Roman" panose="02020603050405020304" pitchFamily="18" charset="0"/>
              </a:rPr>
              <a:t>的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形式语言系统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</a:p>
          <a:p>
            <a:pPr marL="609600" indent="-609600" eaLnBrk="1" hangingPunct="1"/>
            <a:r>
              <a:rPr lang="en-US" altLang="zh-CN">
                <a:latin typeface="Times New Roman" panose="02020603050405020304" pitchFamily="18" charset="0"/>
              </a:rPr>
              <a:t>        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),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)&gt; </a:t>
            </a:r>
            <a:r>
              <a:rPr lang="zh-CN" altLang="en-US">
                <a:latin typeface="Times New Roman" panose="02020603050405020304" pitchFamily="18" charset="0"/>
              </a:rPr>
              <a:t>是 </a:t>
            </a:r>
            <a:r>
              <a:rPr lang="en-US" altLang="zh-CN" i="1">
                <a:latin typeface="Times New Roman" panose="02020603050405020304" pitchFamily="18" charset="0"/>
              </a:rPr>
              <a:t>I </a:t>
            </a:r>
            <a:r>
              <a:rPr lang="zh-CN" altLang="en-US">
                <a:latin typeface="Times New Roman" panose="02020603050405020304" pitchFamily="18" charset="0"/>
              </a:rPr>
              <a:t>的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形式演算系统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pPr marL="609600" indent="-609600" eaLnBrk="1" hangingPunct="1"/>
            <a:endParaRPr lang="en-US" altLang="zh-CN">
              <a:latin typeface="Times New Roman" panose="02020603050405020304" pitchFamily="18" charset="0"/>
            </a:endParaRPr>
          </a:p>
          <a:p>
            <a:pPr marL="609600" indent="-609600" eaLnBrk="1" hangingPunct="1"/>
            <a:r>
              <a:rPr lang="zh-CN" altLang="en-US">
                <a:latin typeface="Times New Roman" panose="02020603050405020304" pitchFamily="18" charset="0"/>
              </a:rPr>
              <a:t>一般形式系统分为两类：</a:t>
            </a:r>
            <a:endParaRPr lang="en-US" altLang="zh-CN">
              <a:latin typeface="Times New Roman" panose="02020603050405020304" pitchFamily="18" charset="0"/>
            </a:endParaRPr>
          </a:p>
          <a:p>
            <a:pPr marL="609600" indent="-609600" eaLnBrk="1" hangingPunct="1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自然推理系统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  <a:r>
              <a:rPr lang="zh-CN" altLang="en-US">
                <a:latin typeface="Times New Roman" panose="02020603050405020304" pitchFamily="18" charset="0"/>
              </a:rPr>
              <a:t>无公理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即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)=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</a:p>
          <a:p>
            <a:pPr marL="609600" indent="-609600" eaLnBrk="1" hangingPunct="1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公理推理系统  </a:t>
            </a:r>
            <a:r>
              <a:rPr lang="zh-CN" altLang="en-US">
                <a:latin typeface="Times New Roman" panose="02020603050405020304" pitchFamily="18" charset="0"/>
              </a:rPr>
              <a:t>推出的结论是系统中的重言式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称作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358AA3-9237-41E0-AFFB-7B1D772A7E53}" type="slidenum">
              <a:rPr lang="en-US" altLang="zh-CN" sz="1400" b="0"/>
              <a:t>28</a:t>
            </a:fld>
            <a:endParaRPr lang="en-US" altLang="zh-CN" sz="1400" b="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自然推理系统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4525963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3.3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自然推理系统 </a:t>
            </a:r>
            <a:r>
              <a:rPr lang="en-US" altLang="zh-CN" i="1" dirty="0">
                <a:latin typeface="Times New Roman" panose="02020603050405020304" pitchFamily="18" charset="0"/>
              </a:rPr>
              <a:t>P </a:t>
            </a:r>
            <a:r>
              <a:rPr lang="zh-CN" altLang="en-US" dirty="0">
                <a:latin typeface="Times New Roman" panose="02020603050405020304" pitchFamily="18" charset="0"/>
              </a:rPr>
              <a:t>定义</a:t>
            </a:r>
            <a:r>
              <a:rPr lang="zh-CN" altLang="en-US" dirty="0"/>
              <a:t>如下</a:t>
            </a:r>
            <a:r>
              <a:rPr lang="en-US" altLang="zh-CN" dirty="0"/>
              <a:t>:</a:t>
            </a:r>
          </a:p>
          <a:p>
            <a:pPr marL="609600" indent="-609600" eaLnBrk="1" hangingPunct="1"/>
            <a:r>
              <a:rPr lang="en-US" altLang="zh-CN" dirty="0">
                <a:latin typeface="Times New Roman" panose="02020603050405020304" pitchFamily="18" charset="0"/>
              </a:rPr>
              <a:t>1.</a:t>
            </a:r>
            <a:r>
              <a:rPr lang="en-US" altLang="zh-CN" dirty="0"/>
              <a:t> </a:t>
            </a:r>
            <a:r>
              <a:rPr lang="zh-CN" altLang="en-US" dirty="0"/>
              <a:t>字母表</a:t>
            </a:r>
          </a:p>
          <a:p>
            <a:pPr marL="609600" indent="-609600" eaLnBrk="1" hangingPunct="1"/>
            <a:r>
              <a:rPr lang="zh-CN" altLang="en-US" dirty="0"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zh-CN" altLang="en-US" dirty="0">
                <a:latin typeface="Times New Roman" panose="02020603050405020304" pitchFamily="18" charset="0"/>
              </a:rPr>
              <a:t>命题变项符号：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  … 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…</a:t>
            </a:r>
          </a:p>
          <a:p>
            <a:pPr marL="609600" indent="-609600" eaLnBrk="1" hangingPunct="1"/>
            <a:r>
              <a:rPr lang="en-US" altLang="zh-CN" dirty="0">
                <a:latin typeface="Times New Roman" panose="02020603050405020304" pitchFamily="18" charset="0"/>
              </a:rPr>
              <a:t>  (2)  </a:t>
            </a:r>
            <a:r>
              <a:rPr lang="zh-CN" altLang="en-US" dirty="0">
                <a:latin typeface="Times New Roman" panose="02020603050405020304" pitchFamily="18" charset="0"/>
              </a:rPr>
              <a:t>联结词符号：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609600" indent="-609600" eaLnBrk="1" hangingPunct="1"/>
            <a:r>
              <a:rPr lang="en-US" altLang="zh-CN" dirty="0">
                <a:latin typeface="Times New Roman" panose="02020603050405020304" pitchFamily="18" charset="0"/>
              </a:rPr>
              <a:t>  (3)  </a:t>
            </a:r>
            <a:r>
              <a:rPr lang="zh-CN" altLang="en-US" dirty="0">
                <a:latin typeface="Times New Roman" panose="02020603050405020304" pitchFamily="18" charset="0"/>
              </a:rPr>
              <a:t>括号与逗号：</a:t>
            </a:r>
            <a:r>
              <a:rPr lang="en-US" altLang="zh-CN" dirty="0">
                <a:latin typeface="Times New Roman" panose="02020603050405020304" pitchFamily="18" charset="0"/>
              </a:rPr>
              <a:t>(  ) 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 marL="609600" indent="-609600" eaLnBrk="1" hangingPunct="1"/>
            <a:r>
              <a:rPr lang="en-US" altLang="zh-CN" dirty="0">
                <a:latin typeface="Times New Roman" panose="02020603050405020304" pitchFamily="18" charset="0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</a:rPr>
              <a:t>合式公式（同定义</a:t>
            </a:r>
            <a:r>
              <a:rPr lang="en-US" altLang="zh-CN" dirty="0">
                <a:latin typeface="Times New Roman" panose="02020603050405020304" pitchFamily="18" charset="0"/>
              </a:rPr>
              <a:t>1.6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</a:p>
          <a:p>
            <a:pPr marL="609600" indent="-609600" eaLnBrk="1" hangingPunct="1"/>
            <a:r>
              <a:rPr lang="en-US" altLang="zh-CN" dirty="0">
                <a:latin typeface="Times New Roman" panose="02020603050405020304" pitchFamily="18" charset="0"/>
              </a:rPr>
              <a:t>3.</a:t>
            </a:r>
            <a:r>
              <a:rPr lang="en-US" altLang="zh-CN" dirty="0"/>
              <a:t> </a:t>
            </a:r>
            <a:r>
              <a:rPr lang="zh-CN" altLang="en-US" dirty="0"/>
              <a:t>推理规则</a:t>
            </a:r>
          </a:p>
          <a:p>
            <a:pPr marL="609600" indent="-609600" eaLnBrk="1" hangingPunct="1"/>
            <a:r>
              <a:rPr lang="zh-CN" altLang="en-US" dirty="0"/>
              <a:t>  </a:t>
            </a:r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zh-CN" altLang="en-US" dirty="0">
                <a:latin typeface="Times New Roman" panose="02020603050405020304" pitchFamily="18" charset="0"/>
              </a:rPr>
              <a:t>前提引入规则</a:t>
            </a:r>
          </a:p>
          <a:p>
            <a:pPr marL="609600" indent="-609600" eaLnBrk="1" hangingPunct="1"/>
            <a:r>
              <a:rPr lang="zh-CN" altLang="en-US" dirty="0"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</a:rPr>
              <a:t>(2)  </a:t>
            </a:r>
            <a:r>
              <a:rPr lang="zh-CN" altLang="en-US" dirty="0">
                <a:latin typeface="Times New Roman" panose="02020603050405020304" pitchFamily="18" charset="0"/>
              </a:rPr>
              <a:t>结论引入规则</a:t>
            </a:r>
          </a:p>
          <a:p>
            <a:pPr marL="609600" indent="-609600" eaLnBrk="1" hangingPunct="1"/>
            <a:r>
              <a:rPr lang="zh-CN" altLang="en-US" dirty="0"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</a:rPr>
              <a:t>(3)  </a:t>
            </a:r>
            <a:r>
              <a:rPr lang="zh-CN" altLang="en-US" dirty="0">
                <a:latin typeface="Times New Roman" panose="02020603050405020304" pitchFamily="18" charset="0"/>
              </a:rPr>
              <a:t>置换规则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EE7BE56-1E37-495C-9934-2B7B15CF07B7}" type="slidenum">
              <a:rPr lang="en-US" altLang="zh-CN" sz="1400" b="0"/>
              <a:t>29</a:t>
            </a:fld>
            <a:endParaRPr lang="en-US" altLang="zh-CN" sz="1400" b="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推理规则</a:t>
            </a:r>
            <a:endParaRPr lang="zh-CN" altLang="en-US" b="0"/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052513"/>
            <a:ext cx="2952750" cy="5589587"/>
          </a:xfrm>
        </p:spPr>
        <p:txBody>
          <a:bodyPr/>
          <a:lstStyle/>
          <a:p>
            <a:pPr marL="457200" indent="-457200" eaLnBrk="1" hangingPunct="1"/>
            <a:r>
              <a:rPr lang="en-US" altLang="zh-CN">
                <a:latin typeface="Times New Roman" panose="02020603050405020304" pitchFamily="18" charset="0"/>
              </a:rPr>
              <a:t>(4) </a:t>
            </a:r>
            <a:r>
              <a:rPr lang="zh-CN" altLang="en-US">
                <a:latin typeface="Times New Roman" panose="02020603050405020304" pitchFamily="18" charset="0"/>
              </a:rPr>
              <a:t>假言推理规则</a:t>
            </a: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 </a:t>
            </a:r>
          </a:p>
          <a:p>
            <a:pPr marL="457200" indent="-457200" eaLnBrk="1" hangingPunct="1"/>
            <a:endParaRPr lang="zh-CN" altLang="en-US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eaLnBrk="1" hangingPunct="1"/>
            <a:endParaRPr lang="zh-CN" altLang="en-US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>
                <a:latin typeface="Times New Roman" panose="02020603050405020304" pitchFamily="18" charset="0"/>
              </a:rPr>
              <a:t>(6) </a:t>
            </a:r>
            <a:r>
              <a:rPr lang="zh-CN" altLang="en-US">
                <a:latin typeface="Times New Roman" panose="02020603050405020304" pitchFamily="18" charset="0"/>
              </a:rPr>
              <a:t>化简规则</a:t>
            </a: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zh-CN" altLang="en-US" u="sng">
                <a:latin typeface="Times New Roman" panose="02020603050405020304" pitchFamily="18" charset="0"/>
              </a:rPr>
              <a:t>   </a:t>
            </a:r>
            <a:endParaRPr lang="zh-CN" altLang="en-US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 </a:t>
            </a:r>
            <a:endParaRPr lang="zh-CN" altLang="en-US" i="1">
              <a:latin typeface="Times New Roman" panose="02020603050405020304" pitchFamily="18" charset="0"/>
            </a:endParaRPr>
          </a:p>
          <a:p>
            <a:pPr marL="457200" indent="-457200" eaLnBrk="1" hangingPunct="1"/>
            <a:endParaRPr lang="zh-CN" altLang="en-US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>
                <a:latin typeface="Times New Roman" panose="02020603050405020304" pitchFamily="18" charset="0"/>
              </a:rPr>
              <a:t>(8) </a:t>
            </a:r>
            <a:r>
              <a:rPr lang="zh-CN" altLang="en-US">
                <a:latin typeface="Times New Roman" panose="02020603050405020304" pitchFamily="18" charset="0"/>
              </a:rPr>
              <a:t>假言三段论规则</a:t>
            </a: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   </a:t>
            </a:r>
            <a:r>
              <a:rPr lang="zh-CN" altLang="en-US" u="sng">
                <a:latin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   </a:t>
            </a:r>
            <a:endParaRPr lang="zh-CN" altLang="en-US" i="1">
              <a:latin typeface="Times New Roman" panose="02020603050405020304" pitchFamily="18" charset="0"/>
            </a:endParaRPr>
          </a:p>
        </p:txBody>
      </p:sp>
      <p:grpSp>
        <p:nvGrpSpPr>
          <p:cNvPr id="50181" name="Group 6"/>
          <p:cNvGrpSpPr/>
          <p:nvPr/>
        </p:nvGrpSpPr>
        <p:grpSpPr bwMode="auto">
          <a:xfrm>
            <a:off x="1404938" y="1484313"/>
            <a:ext cx="1079500" cy="1333500"/>
            <a:chOff x="2880" y="1162"/>
            <a:chExt cx="680" cy="840"/>
          </a:xfrm>
        </p:grpSpPr>
        <p:sp>
          <p:nvSpPr>
            <p:cNvPr id="50198" name="Text Box 4"/>
            <p:cNvSpPr txBox="1">
              <a:spLocks noChangeArrowheads="1"/>
            </p:cNvSpPr>
            <p:nvPr/>
          </p:nvSpPr>
          <p:spPr bwMode="auto">
            <a:xfrm>
              <a:off x="2880" y="1162"/>
              <a:ext cx="680" cy="8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    A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∴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50199" name="Line 5"/>
            <p:cNvSpPr>
              <a:spLocks noChangeShapeType="1"/>
            </p:cNvSpPr>
            <p:nvPr/>
          </p:nvSpPr>
          <p:spPr bwMode="auto">
            <a:xfrm>
              <a:off x="2880" y="1706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2" name="Group 10"/>
          <p:cNvGrpSpPr/>
          <p:nvPr/>
        </p:nvGrpSpPr>
        <p:grpSpPr bwMode="auto">
          <a:xfrm>
            <a:off x="5364163" y="1628775"/>
            <a:ext cx="1152525" cy="895350"/>
            <a:chOff x="2608" y="2046"/>
            <a:chExt cx="726" cy="564"/>
          </a:xfrm>
        </p:grpSpPr>
        <p:sp>
          <p:nvSpPr>
            <p:cNvPr id="50196" name="Text Box 8"/>
            <p:cNvSpPr txBox="1">
              <a:spLocks noChangeArrowheads="1"/>
            </p:cNvSpPr>
            <p:nvPr/>
          </p:nvSpPr>
          <p:spPr bwMode="auto">
            <a:xfrm>
              <a:off x="2608" y="2046"/>
              <a:ext cx="726" cy="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       A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∴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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50197" name="Line 9"/>
            <p:cNvSpPr>
              <a:spLocks noChangeShapeType="1"/>
            </p:cNvSpPr>
            <p:nvPr/>
          </p:nvSpPr>
          <p:spPr bwMode="auto">
            <a:xfrm>
              <a:off x="2654" y="2340"/>
              <a:ext cx="68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3" name="Group 11"/>
          <p:cNvGrpSpPr/>
          <p:nvPr/>
        </p:nvGrpSpPr>
        <p:grpSpPr bwMode="auto">
          <a:xfrm>
            <a:off x="1258888" y="3357563"/>
            <a:ext cx="1152525" cy="895350"/>
            <a:chOff x="2608" y="2046"/>
            <a:chExt cx="726" cy="564"/>
          </a:xfrm>
        </p:grpSpPr>
        <p:sp>
          <p:nvSpPr>
            <p:cNvPr id="50194" name="Text Box 12"/>
            <p:cNvSpPr txBox="1">
              <a:spLocks noChangeArrowheads="1"/>
            </p:cNvSpPr>
            <p:nvPr/>
          </p:nvSpPr>
          <p:spPr bwMode="auto">
            <a:xfrm>
              <a:off x="2608" y="2046"/>
              <a:ext cx="726" cy="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  A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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∴ 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50195" name="Line 13"/>
            <p:cNvSpPr>
              <a:spLocks noChangeShapeType="1"/>
            </p:cNvSpPr>
            <p:nvPr/>
          </p:nvSpPr>
          <p:spPr bwMode="auto">
            <a:xfrm>
              <a:off x="2654" y="2340"/>
              <a:ext cx="68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84" name="Rectangle 14"/>
          <p:cNvSpPr>
            <a:spLocks noChangeArrowheads="1"/>
          </p:cNvSpPr>
          <p:nvPr/>
        </p:nvSpPr>
        <p:spPr bwMode="auto">
          <a:xfrm>
            <a:off x="4572000" y="1079500"/>
            <a:ext cx="2952750" cy="558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763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333500" indent="-4191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7907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47900" indent="-4191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7051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623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6195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767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(5) </a:t>
            </a:r>
            <a:r>
              <a:rPr lang="zh-CN" altLang="en-US" dirty="0">
                <a:latin typeface="Times New Roman" panose="02020603050405020304" pitchFamily="18" charset="0"/>
              </a:rPr>
              <a:t>附加规则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(7) </a:t>
            </a:r>
            <a:r>
              <a:rPr lang="zh-CN" altLang="en-US" dirty="0">
                <a:latin typeface="Times New Roman" panose="02020603050405020304" pitchFamily="18" charset="0"/>
              </a:rPr>
              <a:t>拒取式规则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zh-CN" altLang="en-US" u="sng" dirty="0">
                <a:latin typeface="Times New Roman" panose="02020603050405020304" pitchFamily="18" charset="0"/>
              </a:rPr>
              <a:t>   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(9) </a:t>
            </a:r>
            <a:r>
              <a:rPr lang="zh-CN" altLang="en-US" dirty="0">
                <a:latin typeface="Times New Roman" panose="02020603050405020304" pitchFamily="18" charset="0"/>
              </a:rPr>
              <a:t>析取三段论规则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</a:t>
            </a:r>
            <a:r>
              <a:rPr lang="zh-CN" altLang="en-US" u="sng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grpSp>
        <p:nvGrpSpPr>
          <p:cNvPr id="50185" name="Group 15"/>
          <p:cNvGrpSpPr/>
          <p:nvPr/>
        </p:nvGrpSpPr>
        <p:grpSpPr bwMode="auto">
          <a:xfrm>
            <a:off x="5508625" y="3175000"/>
            <a:ext cx="1079500" cy="1333500"/>
            <a:chOff x="2880" y="1162"/>
            <a:chExt cx="680" cy="840"/>
          </a:xfrm>
        </p:grpSpPr>
        <p:sp>
          <p:nvSpPr>
            <p:cNvPr id="50192" name="Text Box 16"/>
            <p:cNvSpPr txBox="1">
              <a:spLocks noChangeArrowheads="1"/>
            </p:cNvSpPr>
            <p:nvPr/>
          </p:nvSpPr>
          <p:spPr bwMode="auto">
            <a:xfrm>
              <a:off x="2880" y="1162"/>
              <a:ext cx="680" cy="8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  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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∴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50193" name="Line 17"/>
            <p:cNvSpPr>
              <a:spLocks noChangeShapeType="1"/>
            </p:cNvSpPr>
            <p:nvPr/>
          </p:nvSpPr>
          <p:spPr bwMode="auto">
            <a:xfrm>
              <a:off x="2880" y="1706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6" name="Group 27"/>
          <p:cNvGrpSpPr/>
          <p:nvPr/>
        </p:nvGrpSpPr>
        <p:grpSpPr bwMode="auto">
          <a:xfrm>
            <a:off x="1260475" y="4975225"/>
            <a:ext cx="1366838" cy="1333500"/>
            <a:chOff x="885" y="3134"/>
            <a:chExt cx="861" cy="840"/>
          </a:xfrm>
        </p:grpSpPr>
        <p:sp>
          <p:nvSpPr>
            <p:cNvPr id="50190" name="Text Box 25"/>
            <p:cNvSpPr txBox="1">
              <a:spLocks noChangeArrowheads="1"/>
            </p:cNvSpPr>
            <p:nvPr/>
          </p:nvSpPr>
          <p:spPr bwMode="auto">
            <a:xfrm>
              <a:off x="885" y="3134"/>
              <a:ext cx="861" cy="8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   A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   B</a:t>
              </a:r>
              <a:r>
                <a:rPr lang="en-US" altLang="zh-CN">
                  <a:sym typeface="Symbol" panose="05050102010706020507" pitchFamily="18" charset="2"/>
                </a:rPr>
                <a:t>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C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∴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>
                  <a:sym typeface="Symbol" panose="05050102010706020507" pitchFamily="18" charset="2"/>
                </a:rPr>
                <a:t>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C</a:t>
              </a:r>
            </a:p>
          </p:txBody>
        </p:sp>
        <p:sp>
          <p:nvSpPr>
            <p:cNvPr id="50191" name="Line 26"/>
            <p:cNvSpPr>
              <a:spLocks noChangeShapeType="1"/>
            </p:cNvSpPr>
            <p:nvPr/>
          </p:nvSpPr>
          <p:spPr bwMode="auto">
            <a:xfrm flipV="1">
              <a:off x="885" y="3657"/>
              <a:ext cx="770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7" name="Group 31"/>
          <p:cNvGrpSpPr/>
          <p:nvPr/>
        </p:nvGrpSpPr>
        <p:grpSpPr bwMode="auto">
          <a:xfrm>
            <a:off x="5580063" y="5048250"/>
            <a:ext cx="1079500" cy="1333500"/>
            <a:chOff x="2880" y="1162"/>
            <a:chExt cx="680" cy="840"/>
          </a:xfrm>
        </p:grpSpPr>
        <p:sp>
          <p:nvSpPr>
            <p:cNvPr id="50188" name="Text Box 32"/>
            <p:cNvSpPr txBox="1">
              <a:spLocks noChangeArrowheads="1"/>
            </p:cNvSpPr>
            <p:nvPr/>
          </p:nvSpPr>
          <p:spPr bwMode="auto">
            <a:xfrm>
              <a:off x="2880" y="1162"/>
              <a:ext cx="680" cy="8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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  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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∴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50189" name="Line 33"/>
            <p:cNvSpPr>
              <a:spLocks noChangeShapeType="1"/>
            </p:cNvSpPr>
            <p:nvPr/>
          </p:nvSpPr>
          <p:spPr bwMode="auto">
            <a:xfrm>
              <a:off x="2880" y="1706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E57B8EF-8AC6-40A8-93A5-35AEDB7B2681}" type="slidenum">
              <a:rPr lang="en-US" altLang="zh-CN" sz="1400" b="0"/>
              <a:t>30</a:t>
            </a:fld>
            <a:endParaRPr lang="en-US" altLang="zh-CN" sz="1400" b="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推理规则</a:t>
            </a:r>
            <a:endParaRPr lang="zh-CN" altLang="en-US" b="0"/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321175"/>
          </a:xfrm>
        </p:spPr>
        <p:txBody>
          <a:bodyPr/>
          <a:lstStyle/>
          <a:p>
            <a:pPr marL="457200" indent="-457200" eaLnBrk="1" hangingPunct="1"/>
            <a:r>
              <a:rPr lang="en-US" altLang="zh-CN">
                <a:latin typeface="Times New Roman" panose="02020603050405020304" pitchFamily="18" charset="0"/>
              </a:rPr>
              <a:t>(10) </a:t>
            </a:r>
            <a:r>
              <a:rPr lang="zh-CN" altLang="en-US">
                <a:latin typeface="Times New Roman" panose="02020603050405020304" pitchFamily="18" charset="0"/>
              </a:rPr>
              <a:t>构造性二难推理规则      </a:t>
            </a:r>
            <a:r>
              <a:rPr lang="en-US" altLang="zh-CN">
                <a:latin typeface="Times New Roman" panose="02020603050405020304" pitchFamily="18" charset="0"/>
              </a:rPr>
              <a:t>(11)  </a:t>
            </a:r>
            <a:r>
              <a:rPr lang="zh-CN" altLang="en-US">
                <a:latin typeface="Times New Roman" panose="02020603050405020304" pitchFamily="18" charset="0"/>
              </a:rPr>
              <a:t>破坏性二难推理规则</a:t>
            </a: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               </a:t>
            </a: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               </a:t>
            </a: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            </a:t>
            </a:r>
            <a:r>
              <a:rPr lang="zh-CN" altLang="en-US" u="sng">
                <a:latin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            </a:t>
            </a:r>
            <a:endParaRPr lang="zh-CN" altLang="en-US" i="1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>
                <a:latin typeface="Times New Roman" panose="02020603050405020304" pitchFamily="18" charset="0"/>
              </a:rPr>
              <a:t>(12) </a:t>
            </a:r>
            <a:r>
              <a:rPr lang="zh-CN" altLang="en-US">
                <a:latin typeface="Times New Roman" panose="02020603050405020304" pitchFamily="18" charset="0"/>
              </a:rPr>
              <a:t>合取引入规则</a:t>
            </a:r>
          </a:p>
          <a:p>
            <a:pPr marL="457200" indent="-457200" eaLnBrk="1" hangingPunct="1"/>
            <a:r>
              <a:rPr lang="zh-CN" altLang="en-US" i="1">
                <a:latin typeface="Times New Roman" panose="02020603050405020304" pitchFamily="18" charset="0"/>
              </a:rPr>
              <a:t>       </a:t>
            </a:r>
          </a:p>
        </p:txBody>
      </p:sp>
      <p:grpSp>
        <p:nvGrpSpPr>
          <p:cNvPr id="52229" name="Group 8"/>
          <p:cNvGrpSpPr/>
          <p:nvPr/>
        </p:nvGrpSpPr>
        <p:grpSpPr bwMode="auto">
          <a:xfrm>
            <a:off x="1692275" y="1657350"/>
            <a:ext cx="1368425" cy="1771650"/>
            <a:chOff x="3606" y="1207"/>
            <a:chExt cx="862" cy="1116"/>
          </a:xfrm>
        </p:grpSpPr>
        <p:sp>
          <p:nvSpPr>
            <p:cNvPr id="52236" name="Text Box 5"/>
            <p:cNvSpPr txBox="1">
              <a:spLocks noChangeArrowheads="1"/>
            </p:cNvSpPr>
            <p:nvPr/>
          </p:nvSpPr>
          <p:spPr bwMode="auto">
            <a:xfrm>
              <a:off x="3607" y="1207"/>
              <a:ext cx="861" cy="1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   A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   C</a:t>
              </a:r>
              <a:r>
                <a:rPr lang="en-US" altLang="zh-CN">
                  <a:sym typeface="Symbol" panose="05050102010706020507" pitchFamily="18" charset="2"/>
                </a:rPr>
                <a:t>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D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    A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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C 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∴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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D</a:t>
              </a:r>
            </a:p>
          </p:txBody>
        </p:sp>
        <p:sp>
          <p:nvSpPr>
            <p:cNvPr id="52237" name="Line 7"/>
            <p:cNvSpPr>
              <a:spLocks noChangeShapeType="1"/>
            </p:cNvSpPr>
            <p:nvPr/>
          </p:nvSpPr>
          <p:spPr bwMode="auto">
            <a:xfrm>
              <a:off x="3606" y="2069"/>
              <a:ext cx="7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2230" name="Group 13"/>
          <p:cNvGrpSpPr/>
          <p:nvPr/>
        </p:nvGrpSpPr>
        <p:grpSpPr bwMode="auto">
          <a:xfrm>
            <a:off x="5508625" y="1700213"/>
            <a:ext cx="1655763" cy="1771650"/>
            <a:chOff x="3651" y="2223"/>
            <a:chExt cx="1043" cy="1116"/>
          </a:xfrm>
        </p:grpSpPr>
        <p:sp>
          <p:nvSpPr>
            <p:cNvPr id="52234" name="Text Box 10"/>
            <p:cNvSpPr txBox="1">
              <a:spLocks noChangeArrowheads="1"/>
            </p:cNvSpPr>
            <p:nvPr/>
          </p:nvSpPr>
          <p:spPr bwMode="auto">
            <a:xfrm>
              <a:off x="3652" y="2223"/>
              <a:ext cx="1042" cy="1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     A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     C</a:t>
              </a:r>
              <a:r>
                <a:rPr lang="en-US" altLang="zh-CN">
                  <a:sym typeface="Symbol" panose="05050102010706020507" pitchFamily="18" charset="2"/>
                </a:rPr>
                <a:t>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D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  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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D 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∴</a:t>
              </a:r>
              <a:r>
                <a:rPr lang="en-US" altLang="zh-CN">
                  <a:sym typeface="Symbol" panose="05050102010706020507" pitchFamily="18" charset="2"/>
                </a:rPr>
                <a:t>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</a:t>
              </a:r>
              <a:r>
                <a:rPr lang="en-US" altLang="zh-CN">
                  <a:sym typeface="Symbol" panose="05050102010706020507" pitchFamily="18" charset="2"/>
                </a:rPr>
                <a:t>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C</a:t>
              </a:r>
            </a:p>
          </p:txBody>
        </p:sp>
        <p:sp>
          <p:nvSpPr>
            <p:cNvPr id="52235" name="Line 12"/>
            <p:cNvSpPr>
              <a:spLocks noChangeShapeType="1"/>
            </p:cNvSpPr>
            <p:nvPr/>
          </p:nvSpPr>
          <p:spPr bwMode="auto">
            <a:xfrm>
              <a:off x="3651" y="3067"/>
              <a:ext cx="9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2231" name="Group 14"/>
          <p:cNvGrpSpPr/>
          <p:nvPr/>
        </p:nvGrpSpPr>
        <p:grpSpPr bwMode="auto">
          <a:xfrm>
            <a:off x="1549400" y="3860800"/>
            <a:ext cx="1366838" cy="1347788"/>
            <a:chOff x="885" y="3134"/>
            <a:chExt cx="861" cy="849"/>
          </a:xfrm>
        </p:grpSpPr>
        <p:sp>
          <p:nvSpPr>
            <p:cNvPr id="52232" name="Text Box 15"/>
            <p:cNvSpPr txBox="1">
              <a:spLocks noChangeArrowheads="1"/>
            </p:cNvSpPr>
            <p:nvPr/>
          </p:nvSpPr>
          <p:spPr bwMode="auto">
            <a:xfrm>
              <a:off x="885" y="3134"/>
              <a:ext cx="861" cy="8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      A</a:t>
              </a:r>
              <a:endParaRPr lang="en-US" altLang="zh-CN" i="1">
                <a:latin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1" hangingPunct="1">
                <a:buClrTx/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      B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∴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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52233" name="Line 16"/>
            <p:cNvSpPr>
              <a:spLocks noChangeShapeType="1"/>
            </p:cNvSpPr>
            <p:nvPr/>
          </p:nvSpPr>
          <p:spPr bwMode="auto">
            <a:xfrm flipV="1">
              <a:off x="885" y="3657"/>
              <a:ext cx="770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EBF8EEF-8D9C-46C4-901B-8808CE60E3FA}" type="slidenum">
              <a:rPr lang="en-US" altLang="zh-CN" sz="1400" b="0"/>
              <a:t>31</a:t>
            </a:fld>
            <a:endParaRPr lang="en-US" altLang="zh-CN" sz="1400" b="0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在自然推理系统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zh-CN" altLang="en-US"/>
              <a:t>中构造证明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84784"/>
            <a:ext cx="8424863" cy="5184304"/>
          </a:xfrm>
        </p:spPr>
        <p:txBody>
          <a:bodyPr/>
          <a:lstStyle/>
          <a:p>
            <a:pPr marL="1158875" indent="-1158875" defTabSz="898525" eaLnBrk="1" hangingPunct="1"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设前提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 , </a:t>
            </a:r>
            <a:r>
              <a:rPr lang="zh-CN" altLang="en-US" dirty="0">
                <a:latin typeface="Times New Roman" panose="02020603050405020304" pitchFamily="18" charset="0"/>
              </a:rPr>
              <a:t>结论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及公式序列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l  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</a:p>
          <a:p>
            <a:pPr marL="1158875" indent="-1158875" defTabSz="898525" eaLnBrk="1" hangingPunct="1"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如果每一个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  </a:t>
            </a:r>
            <a:r>
              <a:rPr lang="en-US" altLang="zh-CN" dirty="0">
                <a:latin typeface="Times New Roman" panose="02020603050405020304" pitchFamily="18" charset="0"/>
              </a:rPr>
              <a:t>(1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是某个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 (1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marL="1158875" indent="-1158875" defTabSz="898525" eaLnBrk="1" hangingPunct="1">
              <a:defRPr/>
            </a:pPr>
            <a:r>
              <a:rPr lang="en-US" altLang="zh-CN" dirty="0">
                <a:latin typeface="Times New Roman" panose="02020603050405020304" pitchFamily="18" charset="0"/>
              </a:rPr>
              <a:t>                </a:t>
            </a:r>
            <a:r>
              <a:rPr lang="zh-CN" altLang="en-US" dirty="0">
                <a:latin typeface="Times New Roman" panose="02020603050405020304" pitchFamily="18" charset="0"/>
              </a:rPr>
              <a:t>或者可由序列中前面的公式应用推理规则得到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</a:p>
          <a:p>
            <a:pPr marL="1158875" indent="-1158875" defTabSz="898525" eaLnBrk="1" hangingPunct="1">
              <a:defRPr/>
            </a:pPr>
            <a:r>
              <a:rPr lang="en-US" altLang="zh-CN" dirty="0">
                <a:latin typeface="Times New Roman" panose="02020603050405020304" pitchFamily="18" charset="0"/>
              </a:rPr>
              <a:t>         </a:t>
            </a:r>
            <a:r>
              <a:rPr lang="zh-CN" altLang="en-US" dirty="0">
                <a:latin typeface="Times New Roman" panose="02020603050405020304" pitchFamily="18" charset="0"/>
              </a:rPr>
              <a:t>并且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</a:rPr>
              <a:t> =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marL="1158875" indent="-1158875" defTabSz="898525" eaLnBrk="1" hangingPunct="1"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则称这个公式序列是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</a:rPr>
              <a:t>由</a:t>
            </a:r>
            <a:r>
              <a:rPr lang="en-US" altLang="zh-CN" i="1" dirty="0">
                <a:highlight>
                  <a:srgbClr val="FFFF00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highlight>
                  <a:srgbClr val="FFFF00"/>
                </a:highlight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highlight>
                  <a:srgbClr val="FFFF00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highlight>
                  <a:srgbClr val="FFFF00"/>
                </a:highlight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</a:rPr>
              <a:t>,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i="1" dirty="0">
                <a:highlight>
                  <a:srgbClr val="FFFF00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highlight>
                  <a:srgbClr val="FFFF00"/>
                </a:highlight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</a:rPr>
              <a:t>推出</a:t>
            </a:r>
            <a:r>
              <a:rPr lang="en-US" altLang="zh-CN" i="1" dirty="0">
                <a:highlight>
                  <a:srgbClr val="FFFF00"/>
                </a:highlight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证明。</a:t>
            </a:r>
          </a:p>
          <a:p>
            <a:pPr marL="1158875" indent="-1158875" defTabSz="898525" eaLnBrk="1" hangingPunct="1">
              <a:defRPr/>
            </a:pP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075286C-FD64-4CEB-B0A5-B84400CFCB5D}" type="slidenum">
              <a:rPr lang="en-US" altLang="zh-CN" sz="1400" b="0"/>
              <a:t>32</a:t>
            </a:fld>
            <a:endParaRPr lang="en-US" altLang="zh-CN" sz="1400" b="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在自然推理系统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zh-CN" altLang="en-US"/>
              <a:t>中构造证明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229600" cy="5543550"/>
          </a:xfrm>
        </p:spPr>
        <p:txBody>
          <a:bodyPr/>
          <a:lstStyle/>
          <a:p>
            <a:pPr marL="1158875" indent="-1158875" defTabSz="898525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构造下面推理的证明：</a:t>
            </a:r>
          </a:p>
          <a:p>
            <a:pPr marL="1158875" indent="-1158875" defTabSz="898525" eaLnBrk="1" hangingPunct="1"/>
            <a:r>
              <a:rPr lang="zh-CN" altLang="en-US" dirty="0">
                <a:latin typeface="Times New Roman" panose="02020603050405020304" pitchFamily="18" charset="0"/>
              </a:rPr>
              <a:t>    若明天是星期一或星期三，我明天就有课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若我明天有</a:t>
            </a:r>
          </a:p>
          <a:p>
            <a:pPr marL="1158875" indent="-1158875" defTabSz="898525" eaLnBrk="1" hangingPunct="1"/>
            <a:r>
              <a:rPr lang="zh-CN" altLang="en-US" dirty="0">
                <a:latin typeface="Times New Roman" panose="02020603050405020304" pitchFamily="18" charset="0"/>
              </a:rPr>
              <a:t>    课，今天必备课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我今天没备课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所以，明天不是星期一、</a:t>
            </a:r>
          </a:p>
          <a:p>
            <a:pPr marL="1158875" indent="-1158875" defTabSz="898525" eaLnBrk="1" hangingPunct="1"/>
            <a:r>
              <a:rPr lang="zh-CN" altLang="en-US" dirty="0">
                <a:latin typeface="Times New Roman" panose="02020603050405020304" pitchFamily="18" charset="0"/>
              </a:rPr>
              <a:t>    也不是星期三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marL="1158875" indent="-1158875" defTabSz="898525" eaLnBrk="1" hangingPunct="1">
              <a:spcBef>
                <a:spcPct val="5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解   </a:t>
            </a:r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zh-CN" altLang="en-US" dirty="0">
                <a:latin typeface="Times New Roman" panose="02020603050405020304" pitchFamily="18" charset="0"/>
              </a:rPr>
              <a:t>设命题并符号化 </a:t>
            </a:r>
          </a:p>
          <a:p>
            <a:pPr marL="1158875" indent="-1158875" defTabSz="898525" eaLnBrk="1" hangingPunct="1"/>
            <a:r>
              <a:rPr lang="zh-CN" altLang="en-US" dirty="0">
                <a:latin typeface="Times New Roman" panose="02020603050405020304" pitchFamily="18" charset="0"/>
              </a:rPr>
              <a:t>      设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</a:rPr>
              <a:t>：明天是星期一，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</a:rPr>
              <a:t>：明天是星期三，</a:t>
            </a:r>
          </a:p>
          <a:p>
            <a:pPr marL="1158875" indent="-1158875" defTabSz="898525" eaLnBrk="1" hangingPunct="1"/>
            <a:r>
              <a:rPr lang="zh-CN" altLang="en-US" dirty="0">
                <a:latin typeface="Times New Roman" panose="02020603050405020304" pitchFamily="18" charset="0"/>
              </a:rPr>
              <a:t>          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：我明天有课，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：我今天备课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1158875" indent="-1158875" defTabSz="898525" eaLnBrk="1" hangingPunct="1"/>
            <a:r>
              <a:rPr lang="en-US" altLang="zh-CN" dirty="0">
                <a:latin typeface="Times New Roman" panose="02020603050405020304" pitchFamily="18" charset="0"/>
              </a:rPr>
              <a:t>       (2) </a:t>
            </a:r>
            <a:r>
              <a:rPr lang="zh-CN" altLang="en-US" dirty="0">
                <a:latin typeface="Times New Roman" panose="02020603050405020304" pitchFamily="18" charset="0"/>
              </a:rPr>
              <a:t>写出证明的形式结构</a:t>
            </a:r>
          </a:p>
          <a:p>
            <a:pPr marL="1158875" indent="-1158875" defTabSz="898525" eaLnBrk="1" hangingPunct="1"/>
            <a:r>
              <a:rPr lang="zh-CN" altLang="en-US" dirty="0">
                <a:latin typeface="Times New Roman" panose="02020603050405020304" pitchFamily="18" charset="0"/>
              </a:rPr>
              <a:t>       前提：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1158875" indent="-1158875" defTabSz="898525" eaLnBrk="1" hangingPunct="1"/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</a:rPr>
              <a:t>结论：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</a:p>
          <a:p>
            <a:pPr marL="1158875" indent="-1158875" defTabSz="898525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9617B7-8B7C-4E72-9116-F6A020BE361A}" type="slidenum">
              <a:rPr lang="en-US" altLang="zh-CN" sz="1400" b="0"/>
              <a:t>33</a:t>
            </a:fld>
            <a:endParaRPr lang="en-US" altLang="zh-CN" sz="1400" b="0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直接证明法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8563"/>
            <a:ext cx="8229600" cy="4967287"/>
          </a:xfrm>
        </p:spPr>
        <p:txBody>
          <a:bodyPr/>
          <a:lstStyle/>
          <a:p>
            <a:pPr marL="1158875" indent="-1158875" defTabSz="898525" eaLnBrk="1" hangingPunct="1"/>
            <a:endParaRPr lang="en-US" altLang="zh-CN">
              <a:latin typeface="Times New Roman" panose="02020603050405020304" pitchFamily="18" charset="0"/>
            </a:endParaRPr>
          </a:p>
          <a:p>
            <a:pPr marL="1158875" indent="-1158875" defTabSz="898525" eaLnBrk="1" hangingPunct="1"/>
            <a:r>
              <a:rPr lang="zh-CN" altLang="en-US">
                <a:latin typeface="Times New Roman" panose="02020603050405020304" pitchFamily="18" charset="0"/>
              </a:rPr>
              <a:t>       前提：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</a:rPr>
              <a:t>,  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, 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endParaRPr lang="en-US" altLang="zh-CN">
              <a:latin typeface="Times New Roman" panose="02020603050405020304" pitchFamily="18" charset="0"/>
            </a:endParaRPr>
          </a:p>
          <a:p>
            <a:pPr marL="1158875" indent="-1158875" defTabSz="898525" eaLnBrk="1" hangingPunct="1"/>
            <a:r>
              <a:rPr lang="en-US" altLang="zh-CN">
                <a:latin typeface="Times New Roman" panose="02020603050405020304" pitchFamily="18" charset="0"/>
              </a:rPr>
              <a:t>       </a:t>
            </a:r>
            <a:r>
              <a:rPr lang="zh-CN" altLang="en-US">
                <a:latin typeface="Times New Roman" panose="02020603050405020304" pitchFamily="18" charset="0"/>
              </a:rPr>
              <a:t>结论：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</a:p>
          <a:p>
            <a:pPr marL="1158875" indent="-1158875" defTabSz="898525" eaLnBrk="1" hangingPunct="1"/>
            <a:endParaRPr lang="en-US" altLang="zh-CN">
              <a:latin typeface="Times New Roman" panose="02020603050405020304" pitchFamily="18" charset="0"/>
            </a:endParaRPr>
          </a:p>
          <a:p>
            <a:pPr marL="1158875" indent="-1158875" defTabSz="898525" eaLnBrk="1" hangingPunct="1"/>
            <a:r>
              <a:rPr lang="en-US" altLang="zh-CN">
                <a:latin typeface="Times New Roman" panose="02020603050405020304" pitchFamily="18" charset="0"/>
              </a:rPr>
              <a:t>(3) </a:t>
            </a:r>
            <a:r>
              <a:rPr lang="zh-CN" altLang="en-US">
                <a:latin typeface="Times New Roman" panose="02020603050405020304" pitchFamily="18" charset="0"/>
              </a:rPr>
              <a:t>证明</a:t>
            </a:r>
          </a:p>
          <a:p>
            <a:pPr marL="1158875" indent="-1158875" defTabSz="898525" eaLnBrk="1" hangingPunct="1"/>
            <a:r>
              <a:rPr lang="zh-CN" altLang="en-US"/>
              <a:t>     </a:t>
            </a:r>
            <a:r>
              <a:rPr lang="zh-CN" altLang="en-US">
                <a:latin typeface="Times New Roman" panose="02020603050405020304" pitchFamily="18" charset="0"/>
              </a:rPr>
              <a:t>① 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               </a:t>
            </a:r>
            <a:r>
              <a:rPr lang="zh-CN" altLang="en-US">
                <a:latin typeface="Times New Roman" panose="02020603050405020304" pitchFamily="18" charset="0"/>
              </a:rPr>
              <a:t>前提引入</a:t>
            </a:r>
          </a:p>
          <a:p>
            <a:pPr marL="1158875" indent="-1158875" defTabSz="898525" eaLnBrk="1" hangingPunct="1"/>
            <a:r>
              <a:rPr lang="zh-CN" altLang="en-US">
                <a:latin typeface="Times New Roman" panose="02020603050405020304" pitchFamily="18" charset="0"/>
              </a:rPr>
              <a:t>      ②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                  </a:t>
            </a:r>
            <a:r>
              <a:rPr lang="zh-CN" altLang="en-US">
                <a:latin typeface="Times New Roman" panose="02020603050405020304" pitchFamily="18" charset="0"/>
              </a:rPr>
              <a:t>前提引入</a:t>
            </a:r>
          </a:p>
          <a:p>
            <a:pPr marL="1158875" indent="-1158875" defTabSz="898525" eaLnBrk="1" hangingPunct="1"/>
            <a:r>
              <a:rPr lang="zh-CN" altLang="en-US">
                <a:latin typeface="Times New Roman" panose="02020603050405020304" pitchFamily="18" charset="0"/>
              </a:rPr>
              <a:t>      ③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</a:rPr>
              <a:t>                   ①②</a:t>
            </a:r>
            <a:r>
              <a:rPr lang="zh-CN" altLang="en-US">
                <a:latin typeface="Times New Roman" panose="02020603050405020304" pitchFamily="18" charset="0"/>
              </a:rPr>
              <a:t>拒取式</a:t>
            </a:r>
          </a:p>
          <a:p>
            <a:pPr marL="1158875" indent="-1158875" defTabSz="898525" eaLnBrk="1" hangingPunct="1"/>
            <a:r>
              <a:rPr lang="zh-CN" altLang="en-US">
                <a:latin typeface="Times New Roman" panose="02020603050405020304" pitchFamily="18" charset="0"/>
              </a:rPr>
              <a:t>      ④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</a:rPr>
              <a:t>         </a:t>
            </a:r>
            <a:r>
              <a:rPr lang="zh-CN" altLang="en-US">
                <a:latin typeface="Times New Roman" panose="02020603050405020304" pitchFamily="18" charset="0"/>
              </a:rPr>
              <a:t>前提引入</a:t>
            </a:r>
          </a:p>
          <a:p>
            <a:pPr marL="1158875" indent="-1158875" defTabSz="898525" eaLnBrk="1" hangingPunct="1"/>
            <a:r>
              <a:rPr lang="zh-CN" altLang="en-US">
                <a:latin typeface="Times New Roman" panose="02020603050405020304" pitchFamily="18" charset="0"/>
              </a:rPr>
              <a:t>      ⑤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            ③④</a:t>
            </a:r>
            <a:r>
              <a:rPr lang="zh-CN" altLang="en-US">
                <a:latin typeface="Times New Roman" panose="02020603050405020304" pitchFamily="18" charset="0"/>
              </a:rPr>
              <a:t>拒取式 </a:t>
            </a:r>
          </a:p>
          <a:p>
            <a:pPr marL="1158875" indent="-1158875" defTabSz="898525" eaLnBrk="1" hangingPunct="1"/>
            <a:r>
              <a:rPr lang="zh-CN" altLang="en-US">
                <a:latin typeface="Times New Roman" panose="02020603050405020304" pitchFamily="18" charset="0"/>
              </a:rPr>
              <a:t>      ⑥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            ⑤</a:t>
            </a:r>
            <a:r>
              <a:rPr lang="zh-CN" altLang="en-US">
                <a:latin typeface="Times New Roman" panose="02020603050405020304" pitchFamily="18" charset="0"/>
              </a:rPr>
              <a:t>置换</a:t>
            </a:r>
            <a:endParaRPr lang="zh-CN" altLang="en-US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6142EC-9464-4F2C-8106-ACB0C250C87F}" type="slidenum">
              <a:rPr lang="en-US" altLang="zh-CN" sz="1400" b="0"/>
              <a:t>34</a:t>
            </a:fld>
            <a:endParaRPr lang="en-US" altLang="zh-CN" sz="1400" b="0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附加前提证明法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351837" cy="5327650"/>
          </a:xfrm>
        </p:spPr>
        <p:txBody>
          <a:bodyPr/>
          <a:lstStyle/>
          <a:p>
            <a:pPr marL="457200" indent="-457200"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附加前提证明法    </a:t>
            </a:r>
            <a:r>
              <a:rPr lang="zh-CN" altLang="en-US">
                <a:latin typeface="Times New Roman" panose="02020603050405020304" pitchFamily="18" charset="0"/>
              </a:rPr>
              <a:t>适用于结论为蕴涵式</a:t>
            </a: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欲证</a:t>
            </a: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     前提：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 …,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endParaRPr lang="en-US" altLang="zh-CN" baseline="-2500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>
                <a:latin typeface="Times New Roman" panose="02020603050405020304" pitchFamily="18" charset="0"/>
              </a:rPr>
              <a:t>     </a:t>
            </a:r>
            <a:r>
              <a:rPr lang="zh-CN" altLang="en-US">
                <a:latin typeface="Times New Roman" panose="02020603050405020304" pitchFamily="18" charset="0"/>
              </a:rPr>
              <a:t>结论：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等价地证明</a:t>
            </a: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     前提：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 …,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>
                <a:latin typeface="Times New Roman" panose="02020603050405020304" pitchFamily="18" charset="0"/>
              </a:rPr>
              <a:t>     </a:t>
            </a:r>
            <a:r>
              <a:rPr lang="zh-CN" altLang="en-US">
                <a:latin typeface="Times New Roman" panose="02020603050405020304" pitchFamily="18" charset="0"/>
              </a:rPr>
              <a:t>结论：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</a:p>
          <a:p>
            <a:pPr marL="457200" indent="-457200" eaLnBrk="1" hangingPunct="1"/>
            <a:r>
              <a:rPr lang="zh-CN" altLang="en-US"/>
              <a:t>理由：</a:t>
            </a:r>
          </a:p>
          <a:p>
            <a:pPr marL="457200" indent="-457200" eaLnBrk="1" hangingPunct="1"/>
            <a:r>
              <a:rPr lang="zh-CN" altLang="en-US"/>
              <a:t>       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…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(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…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(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…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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…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8BFD4BA-BE20-42E5-9EE3-E0B2D4BE1B48}" type="slidenum">
              <a:rPr lang="en-US" altLang="zh-CN" sz="1400" b="0"/>
              <a:t>35</a:t>
            </a:fld>
            <a:endParaRPr lang="en-US" altLang="zh-CN" sz="1400" b="0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附加前提证明法实例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229600" cy="4525963"/>
          </a:xfrm>
        </p:spPr>
        <p:txBody>
          <a:bodyPr/>
          <a:lstStyle/>
          <a:p>
            <a:pPr eaLnBrk="1" hangingPunct="1">
              <a:tabLst>
                <a:tab pos="365125" algn="l"/>
              </a:tabLst>
            </a:pP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/>
              <a:t>  </a:t>
            </a:r>
            <a:r>
              <a:rPr lang="zh-CN" altLang="en-US"/>
              <a:t>构造下面推理的证明</a:t>
            </a:r>
          </a:p>
          <a:p>
            <a:pPr eaLnBrk="1" hangingPunct="1">
              <a:tabLst>
                <a:tab pos="365125" algn="l"/>
              </a:tabLst>
            </a:pPr>
            <a:r>
              <a:rPr lang="zh-CN" altLang="en-US">
                <a:latin typeface="Times New Roman" panose="02020603050405020304" pitchFamily="18" charset="0"/>
              </a:rPr>
              <a:t>     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是素数或合数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若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是素数，则      是无理数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若     是无理数，则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>
                <a:latin typeface="Times New Roman" panose="02020603050405020304" pitchFamily="18" charset="0"/>
              </a:rPr>
              <a:t>不是素数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所以，如果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>
                <a:latin typeface="Times New Roman" panose="02020603050405020304" pitchFamily="18" charset="0"/>
              </a:rPr>
              <a:t>是素数，则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是合数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50000"/>
              </a:spcBef>
              <a:tabLst>
                <a:tab pos="365125" algn="l"/>
              </a:tabLst>
            </a:pPr>
            <a:r>
              <a:rPr lang="zh-CN" altLang="en-US">
                <a:latin typeface="Times New Roman" panose="02020603050405020304" pitchFamily="18" charset="0"/>
              </a:rPr>
              <a:t>解 用附加前提证明法构造证明</a:t>
            </a:r>
          </a:p>
          <a:p>
            <a:pPr eaLnBrk="1" hangingPunct="1">
              <a:tabLst>
                <a:tab pos="365125" algn="l"/>
              </a:tabLst>
            </a:pPr>
            <a:r>
              <a:rPr lang="zh-CN" altLang="en-US">
                <a:latin typeface="Times New Roman" panose="02020603050405020304" pitchFamily="18" charset="0"/>
              </a:rPr>
              <a:t>     </a:t>
            </a:r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zh-CN" altLang="en-US">
                <a:latin typeface="Times New Roman" panose="02020603050405020304" pitchFamily="18" charset="0"/>
              </a:rPr>
              <a:t>设 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是素数，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是合数，</a:t>
            </a:r>
          </a:p>
          <a:p>
            <a:pPr eaLnBrk="1" hangingPunct="1">
              <a:tabLst>
                <a:tab pos="365125" algn="l"/>
              </a:tabLst>
            </a:pPr>
            <a:r>
              <a:rPr lang="zh-CN" altLang="en-US">
                <a:latin typeface="Times New Roman" panose="02020603050405020304" pitchFamily="18" charset="0"/>
              </a:rPr>
              <a:t>                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zh-CN" altLang="en-US">
                <a:latin typeface="Times New Roman" panose="02020603050405020304" pitchFamily="18" charset="0"/>
              </a:rPr>
              <a:t>：      是无理数，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>
                <a:latin typeface="Times New Roman" panose="02020603050405020304" pitchFamily="18" charset="0"/>
              </a:rPr>
              <a:t>是素数</a:t>
            </a:r>
          </a:p>
          <a:p>
            <a:pPr eaLnBrk="1" hangingPunct="1">
              <a:tabLst>
                <a:tab pos="365125" algn="l"/>
              </a:tabLst>
            </a:pPr>
            <a:r>
              <a:rPr lang="zh-CN" altLang="en-US">
                <a:latin typeface="Times New Roman" panose="02020603050405020304" pitchFamily="18" charset="0"/>
              </a:rPr>
              <a:t>     </a:t>
            </a:r>
            <a:r>
              <a:rPr lang="en-US" altLang="zh-CN">
                <a:latin typeface="Times New Roman" panose="02020603050405020304" pitchFamily="18" charset="0"/>
              </a:rPr>
              <a:t>(2)  </a:t>
            </a:r>
            <a:r>
              <a:rPr lang="zh-CN" altLang="en-US">
                <a:latin typeface="Times New Roman" panose="02020603050405020304" pitchFamily="18" charset="0"/>
              </a:rPr>
              <a:t>推理的形式结构</a:t>
            </a:r>
          </a:p>
          <a:p>
            <a:pPr eaLnBrk="1" hangingPunct="1">
              <a:tabLst>
                <a:tab pos="365125" algn="l"/>
              </a:tabLst>
            </a:pPr>
            <a:r>
              <a:rPr lang="zh-CN" altLang="en-US">
                <a:latin typeface="Times New Roman" panose="02020603050405020304" pitchFamily="18" charset="0"/>
              </a:rPr>
              <a:t>           前提：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,  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</a:rPr>
              <a:t>,  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tabLst>
                <a:tab pos="365125" algn="l"/>
              </a:tabLst>
            </a:pPr>
            <a:r>
              <a:rPr lang="en-US" altLang="zh-CN">
                <a:latin typeface="Times New Roman" panose="02020603050405020304" pitchFamily="18" charset="0"/>
              </a:rPr>
              <a:t>           </a:t>
            </a:r>
            <a:r>
              <a:rPr lang="zh-CN" altLang="en-US">
                <a:latin typeface="Times New Roman" panose="02020603050405020304" pitchFamily="18" charset="0"/>
              </a:rPr>
              <a:t>结论：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62469" name="Object 5"/>
          <p:cNvGraphicFramePr>
            <a:graphicFrameLocks noChangeAspect="1"/>
          </p:cNvGraphicFramePr>
          <p:nvPr/>
        </p:nvGraphicFramePr>
        <p:xfrm>
          <a:off x="4930775" y="1628775"/>
          <a:ext cx="5048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67640" imgH="144780" progId="Equation.3">
                  <p:embed/>
                </p:oleObj>
              </mc:Choice>
              <mc:Fallback>
                <p:oleObj name="公式" r:id="rId3" imgW="167640" imgH="1447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4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775" y="1628775"/>
                        <a:ext cx="504825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980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" name="Object 6"/>
          <p:cNvGraphicFramePr>
            <a:graphicFrameLocks noChangeAspect="1"/>
          </p:cNvGraphicFramePr>
          <p:nvPr/>
        </p:nvGraphicFramePr>
        <p:xfrm>
          <a:off x="7021513" y="1609725"/>
          <a:ext cx="50323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67640" imgH="144780" progId="Equation.3">
                  <p:embed/>
                </p:oleObj>
              </mc:Choice>
              <mc:Fallback>
                <p:oleObj name="公式" r:id="rId5" imgW="167640" imgH="1447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4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513" y="1609725"/>
                        <a:ext cx="50323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980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3" name="Object 7"/>
          <p:cNvGraphicFramePr>
            <a:graphicFrameLocks noChangeAspect="1"/>
          </p:cNvGraphicFramePr>
          <p:nvPr/>
        </p:nvGraphicFramePr>
        <p:xfrm>
          <a:off x="1981200" y="3409950"/>
          <a:ext cx="5032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67640" imgH="144780" progId="Equation.3">
                  <p:embed/>
                </p:oleObj>
              </mc:Choice>
              <mc:Fallback>
                <p:oleObj name="公式" r:id="rId7" imgW="167640" imgH="1447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4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409950"/>
                        <a:ext cx="50323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980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EC00316-176D-4420-BB1F-4BF36EBAEA54}" type="slidenum">
              <a:rPr lang="en-US" altLang="zh-CN" sz="1400" b="0"/>
              <a:t>36</a:t>
            </a:fld>
            <a:endParaRPr lang="en-US" altLang="zh-CN" sz="1400" b="0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附加前提证明法实例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4105275"/>
          </a:xfrm>
        </p:spPr>
        <p:txBody>
          <a:bodyPr/>
          <a:lstStyle/>
          <a:p>
            <a:pPr eaLnBrk="1" hangingPunct="1">
              <a:tabLst>
                <a:tab pos="365125" algn="l"/>
              </a:tabLst>
            </a:pPr>
            <a:r>
              <a:rPr lang="zh-CN" altLang="en-US" dirty="0">
                <a:latin typeface="Times New Roman" panose="02020603050405020304" pitchFamily="18" charset="0"/>
              </a:rPr>
              <a:t>前提：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tabLst>
                <a:tab pos="365125" algn="l"/>
              </a:tabLst>
            </a:pPr>
            <a:r>
              <a:rPr lang="en-US" altLang="zh-CN" dirty="0">
                <a:latin typeface="Times New Roman" panose="02020603050405020304" pitchFamily="18" charset="0"/>
              </a:rPr>
              <a:t>           </a:t>
            </a:r>
            <a:r>
              <a:rPr lang="zh-CN" altLang="en-US" dirty="0">
                <a:latin typeface="Times New Roman" panose="02020603050405020304" pitchFamily="18" charset="0"/>
              </a:rPr>
              <a:t>结论：</a:t>
            </a:r>
            <a:r>
              <a:rPr lang="en-US" altLang="zh-CN" i="1" dirty="0" err="1">
                <a:latin typeface="Times New Roman" panose="02020603050405020304" pitchFamily="18" charset="0"/>
              </a:rPr>
              <a:t>s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tabLst>
                <a:tab pos="365125" algn="l"/>
              </a:tabLst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tabLst>
                <a:tab pos="365125" algn="l"/>
              </a:tabLst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证明</a:t>
            </a:r>
          </a:p>
          <a:p>
            <a:pPr eaLnBrk="1" hangingPunct="1">
              <a:tabLst>
                <a:tab pos="365125" algn="l"/>
              </a:tabLst>
            </a:pPr>
            <a:r>
              <a:rPr lang="zh-CN" altLang="en-US" dirty="0">
                <a:latin typeface="Times New Roman" panose="02020603050405020304" pitchFamily="18" charset="0"/>
              </a:rPr>
              <a:t>         ①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                  </a:t>
            </a:r>
            <a:r>
              <a:rPr lang="zh-CN" altLang="en-US" dirty="0">
                <a:latin typeface="Times New Roman" panose="02020603050405020304" pitchFamily="18" charset="0"/>
              </a:rPr>
              <a:t>附加前提引入</a:t>
            </a:r>
          </a:p>
          <a:p>
            <a:pPr eaLnBrk="1" hangingPunct="1">
              <a:tabLst>
                <a:tab pos="365125" algn="l"/>
              </a:tabLst>
            </a:pPr>
            <a:r>
              <a:rPr lang="zh-CN" altLang="en-US" dirty="0">
                <a:latin typeface="Times New Roman" panose="02020603050405020304" pitchFamily="18" charset="0"/>
              </a:rPr>
              <a:t>         ② 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    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</a:p>
          <a:p>
            <a:pPr eaLnBrk="1" hangingPunct="1">
              <a:tabLst>
                <a:tab pos="365125" algn="l"/>
              </a:tabLst>
            </a:pPr>
            <a:r>
              <a:rPr lang="zh-CN" altLang="en-US" dirty="0">
                <a:latin typeface="Times New Roman" panose="02020603050405020304" pitchFamily="18" charset="0"/>
              </a:rPr>
              <a:t>         ③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  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</a:p>
          <a:p>
            <a:pPr eaLnBrk="1" hangingPunct="1">
              <a:tabLst>
                <a:tab pos="365125" algn="l"/>
              </a:tabLst>
            </a:pPr>
            <a:r>
              <a:rPr lang="zh-CN" altLang="en-US" dirty="0">
                <a:latin typeface="Times New Roman" panose="02020603050405020304" pitchFamily="18" charset="0"/>
              </a:rPr>
              <a:t>         ④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          ②③</a:t>
            </a:r>
            <a:r>
              <a:rPr lang="zh-CN" altLang="en-US" dirty="0">
                <a:latin typeface="Times New Roman" panose="02020603050405020304" pitchFamily="18" charset="0"/>
              </a:rPr>
              <a:t>假言三段论</a:t>
            </a:r>
          </a:p>
          <a:p>
            <a:pPr eaLnBrk="1" hangingPunct="1">
              <a:tabLst>
                <a:tab pos="365125" algn="l"/>
              </a:tabLst>
            </a:pPr>
            <a:r>
              <a:rPr lang="zh-CN" altLang="en-US" dirty="0">
                <a:latin typeface="Times New Roman" panose="02020603050405020304" pitchFamily="18" charset="0"/>
              </a:rPr>
              <a:t>         ⑤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                ①④</a:t>
            </a:r>
            <a:r>
              <a:rPr lang="zh-CN" altLang="en-US" dirty="0">
                <a:latin typeface="Times New Roman" panose="02020603050405020304" pitchFamily="18" charset="0"/>
              </a:rPr>
              <a:t>拒取式</a:t>
            </a:r>
          </a:p>
          <a:p>
            <a:pPr eaLnBrk="1" hangingPunct="1">
              <a:tabLst>
                <a:tab pos="365125" algn="l"/>
              </a:tabLst>
            </a:pPr>
            <a:r>
              <a:rPr lang="zh-CN" altLang="en-US" dirty="0">
                <a:latin typeface="Times New Roman" panose="02020603050405020304" pitchFamily="18" charset="0"/>
              </a:rPr>
              <a:t>         ⑥ 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      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</a:p>
          <a:p>
            <a:pPr eaLnBrk="1" hangingPunct="1">
              <a:tabLst>
                <a:tab pos="365125" algn="l"/>
              </a:tabLst>
            </a:pPr>
            <a:r>
              <a:rPr lang="zh-CN" altLang="en-US" dirty="0">
                <a:latin typeface="Times New Roman" panose="02020603050405020304" pitchFamily="18" charset="0"/>
              </a:rPr>
              <a:t>         ⑦ 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                   ⑤⑥</a:t>
            </a:r>
            <a:r>
              <a:rPr lang="zh-CN" altLang="en-US" dirty="0">
                <a:latin typeface="Times New Roman" panose="02020603050405020304" pitchFamily="18" charset="0"/>
              </a:rPr>
              <a:t>析取三段论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262F37E-22DC-4627-863E-F7FF18EF5C38}" type="slidenum">
              <a:rPr lang="en-US" altLang="zh-CN" sz="1400" b="0"/>
              <a:t>37</a:t>
            </a:fld>
            <a:endParaRPr lang="en-US" altLang="zh-CN" sz="1400" b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归谬法（反证法）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229600" cy="5327650"/>
          </a:xfrm>
        </p:spPr>
        <p:txBody>
          <a:bodyPr/>
          <a:lstStyle/>
          <a:p>
            <a:pPr marL="457200" indent="-457200"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归谬法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反证法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欲证</a:t>
            </a: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    前提：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 … 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  <a:p>
            <a:pPr marL="457200" indent="-457200" eaLnBrk="1" hangingPunct="1"/>
            <a:r>
              <a:rPr lang="en-US" altLang="zh-CN">
                <a:latin typeface="Times New Roman" panose="02020603050405020304" pitchFamily="18" charset="0"/>
              </a:rPr>
              <a:t>    </a:t>
            </a:r>
            <a:r>
              <a:rPr lang="zh-CN" altLang="en-US">
                <a:latin typeface="Times New Roman" panose="02020603050405020304" pitchFamily="18" charset="0"/>
              </a:rPr>
              <a:t>结论：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做法</a:t>
            </a: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     在前提中加入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，推出矛盾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理由</a:t>
            </a:r>
          </a:p>
          <a:p>
            <a:pPr marL="457200" indent="-457200" eaLnBrk="1" hangingPunct="1"/>
            <a:r>
              <a:rPr lang="zh-CN" altLang="en-US">
                <a:latin typeface="Times New Roman" panose="02020603050405020304" pitchFamily="18" charset="0"/>
              </a:rPr>
              <a:t>        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…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>
                <a:latin typeface="Times New Roman" panose="02020603050405020304" pitchFamily="18" charset="0"/>
              </a:rPr>
              <a:t>     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…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endParaRPr lang="en-US" altLang="zh-CN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>
                <a:latin typeface="Times New Roman" panose="02020603050405020304" pitchFamily="18" charset="0"/>
              </a:rPr>
              <a:t>     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…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  <a:p>
            <a:pPr marL="457200" indent="-457200" eaLnBrk="1" hangingPunct="1"/>
            <a:r>
              <a:rPr lang="en-US" altLang="zh-CN">
                <a:latin typeface="Times New Roman" panose="02020603050405020304" pitchFamily="18" charset="0"/>
              </a:rPr>
              <a:t>     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…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0</a:t>
            </a:r>
          </a:p>
          <a:p>
            <a:pPr marL="457200" indent="-457200" eaLnBrk="1" hangingPunct="1"/>
            <a:r>
              <a:rPr lang="en-US" altLang="zh-CN">
                <a:latin typeface="Times New Roman" panose="02020603050405020304" pitchFamily="18" charset="0"/>
              </a:rPr>
              <a:t>     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…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0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5C375EC-9694-4723-BB3E-8B203D2A18A7}" type="slidenum">
              <a:rPr lang="en-US" altLang="zh-CN" sz="1400" b="0"/>
              <a:t>38</a:t>
            </a:fld>
            <a:endParaRPr lang="en-US" altLang="zh-CN" sz="1400" b="0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归谬法实例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981075"/>
            <a:ext cx="8229600" cy="547211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前提：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>
                <a:latin typeface="Times New Roman" panose="02020603050405020304" pitchFamily="18" charset="0"/>
              </a:rPr>
              <a:t>p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  </a:t>
            </a:r>
            <a:r>
              <a:rPr lang="zh-CN" altLang="en-US" dirty="0">
                <a:latin typeface="Times New Roman" panose="02020603050405020304" pitchFamily="18" charset="0"/>
              </a:rPr>
              <a:t>结论：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证明  用归缪法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① 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     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结论否定引入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② 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③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  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④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                         ②③</a:t>
            </a:r>
            <a:r>
              <a:rPr lang="zh-CN" altLang="en-US" dirty="0">
                <a:latin typeface="Times New Roman" panose="02020603050405020304" pitchFamily="18" charset="0"/>
              </a:rPr>
              <a:t>拒取式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⑤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     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⑥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                 ④⑤</a:t>
            </a:r>
            <a:r>
              <a:rPr lang="zh-CN" altLang="en-US" dirty="0">
                <a:latin typeface="Times New Roman" panose="02020603050405020304" pitchFamily="18" charset="0"/>
              </a:rPr>
              <a:t>析取三段论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⑦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                 ⑥</a:t>
            </a:r>
            <a:r>
              <a:rPr lang="zh-CN" altLang="en-US" dirty="0">
                <a:latin typeface="Times New Roman" panose="02020603050405020304" pitchFamily="18" charset="0"/>
              </a:rPr>
              <a:t>置换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⑧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                        ①⑦</a:t>
            </a:r>
            <a:r>
              <a:rPr lang="zh-CN" altLang="en-US" dirty="0">
                <a:latin typeface="Times New Roman" panose="02020603050405020304" pitchFamily="18" charset="0"/>
              </a:rPr>
              <a:t>析取三段论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⑨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     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0" dirty="0">
                <a:latin typeface="Times New Roman" panose="02020603050405020304" pitchFamily="18" charset="0"/>
                <a:sym typeface="Wingdings" panose="05000000000000000000" pitchFamily="2" charset="2"/>
              </a:rPr>
              <a:t>    </a:t>
            </a:r>
            <a:r>
              <a:rPr lang="zh-CN" altLang="en-US" sz="2800" b="0" dirty="0">
                <a:latin typeface="Times New Roman" panose="02020603050405020304" pitchFamily="18" charset="0"/>
                <a:sym typeface="Wingdings" panose="05000000000000000000" pitchFamily="2" charset="2"/>
              </a:rPr>
              <a:t>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                     ⑧⑨</a:t>
            </a:r>
            <a:r>
              <a:rPr lang="zh-CN" altLang="en-US" dirty="0">
                <a:latin typeface="Times New Roman" panose="02020603050405020304" pitchFamily="18" charset="0"/>
              </a:rPr>
              <a:t>合取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课堂练习</a:t>
            </a:r>
          </a:p>
        </p:txBody>
      </p:sp>
      <p:sp>
        <p:nvSpPr>
          <p:cNvPr id="7065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0DCF46E-571A-4452-80F1-A960B4140DC9}" type="slidenum">
              <a:rPr lang="en-US" altLang="zh-CN" sz="1400"/>
              <a:t>39</a:t>
            </a:fld>
            <a:endParaRPr lang="en-US" altLang="zh-CN" sz="140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94519" y="1255713"/>
            <a:ext cx="8113849" cy="2173287"/>
          </a:xfrm>
          <a:prstGeom prst="rect">
            <a:avLst/>
          </a:prstGeom>
          <a:solidFill>
            <a:srgbClr val="ADE2A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FF3300"/>
                </a:solidFill>
              </a:rPr>
              <a:t>前提： </a:t>
            </a:r>
            <a:r>
              <a:rPr lang="en-US" altLang="zh-CN" sz="2800" dirty="0">
                <a:solidFill>
                  <a:srgbClr val="FF3300"/>
                </a:solidFill>
              </a:rPr>
              <a:t>1. </a:t>
            </a:r>
            <a:r>
              <a:rPr lang="zh-CN" altLang="en-US" sz="2800" dirty="0">
                <a:solidFill>
                  <a:srgbClr val="FF3300"/>
                </a:solidFill>
              </a:rPr>
              <a:t>或是天晴</a:t>
            </a:r>
            <a:r>
              <a:rPr lang="en-US" altLang="zh-CN" sz="2800" dirty="0">
                <a:solidFill>
                  <a:srgbClr val="FF3300"/>
                </a:solidFill>
              </a:rPr>
              <a:t>,</a:t>
            </a:r>
            <a:r>
              <a:rPr lang="zh-CN" altLang="en-US" sz="2800" dirty="0">
                <a:solidFill>
                  <a:srgbClr val="FF3300"/>
                </a:solidFill>
              </a:rPr>
              <a:t>或是下雨。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FF3300"/>
                </a:solidFill>
              </a:rPr>
              <a:t>            2</a:t>
            </a:r>
            <a:r>
              <a:rPr lang="en-US" altLang="zh-CN" sz="2800" dirty="0">
                <a:solidFill>
                  <a:srgbClr val="FF3300"/>
                </a:solidFill>
              </a:rPr>
              <a:t>. </a:t>
            </a:r>
            <a:r>
              <a:rPr lang="zh-CN" altLang="en-US" sz="2800" dirty="0">
                <a:solidFill>
                  <a:srgbClr val="FF3300"/>
                </a:solidFill>
              </a:rPr>
              <a:t>若天晴</a:t>
            </a:r>
            <a:r>
              <a:rPr lang="en-US" altLang="zh-CN" sz="2800" dirty="0">
                <a:solidFill>
                  <a:srgbClr val="FF3300"/>
                </a:solidFill>
              </a:rPr>
              <a:t>,</a:t>
            </a:r>
            <a:r>
              <a:rPr lang="zh-CN" altLang="en-US" sz="2800" dirty="0">
                <a:solidFill>
                  <a:srgbClr val="FF3300"/>
                </a:solidFill>
              </a:rPr>
              <a:t>我去看电影</a:t>
            </a:r>
            <a:r>
              <a:rPr lang="zh-CN" altLang="zh-CN" sz="2800" dirty="0">
                <a:solidFill>
                  <a:srgbClr val="FF3300"/>
                </a:solidFill>
              </a:rPr>
              <a:t>。</a:t>
            </a:r>
            <a:endParaRPr lang="zh-CN" altLang="en-US" sz="2800" dirty="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FF3300"/>
                </a:solidFill>
              </a:rPr>
              <a:t>            3</a:t>
            </a:r>
            <a:r>
              <a:rPr lang="en-US" altLang="zh-CN" sz="2800" dirty="0">
                <a:solidFill>
                  <a:srgbClr val="FF3300"/>
                </a:solidFill>
              </a:rPr>
              <a:t>. </a:t>
            </a:r>
            <a:r>
              <a:rPr lang="zh-CN" altLang="zh-CN" sz="2800" dirty="0">
                <a:solidFill>
                  <a:srgbClr val="FF3300"/>
                </a:solidFill>
              </a:rPr>
              <a:t>若我去看电影</a:t>
            </a:r>
            <a:r>
              <a:rPr lang="zh-CN" altLang="en-US" sz="2800" dirty="0">
                <a:solidFill>
                  <a:srgbClr val="FF3300"/>
                </a:solidFill>
              </a:rPr>
              <a:t>，</a:t>
            </a:r>
            <a:r>
              <a:rPr lang="zh-CN" altLang="zh-CN" sz="2800" dirty="0">
                <a:solidFill>
                  <a:srgbClr val="FF3300"/>
                </a:solidFill>
              </a:rPr>
              <a:t>我就</a:t>
            </a:r>
            <a:r>
              <a:rPr lang="zh-CN" altLang="en-US" sz="2800" dirty="0">
                <a:solidFill>
                  <a:srgbClr val="FF3300"/>
                </a:solidFill>
              </a:rPr>
              <a:t>不</a:t>
            </a:r>
            <a:r>
              <a:rPr lang="zh-CN" altLang="zh-CN" sz="2800" dirty="0">
                <a:solidFill>
                  <a:srgbClr val="FF3300"/>
                </a:solidFill>
              </a:rPr>
              <a:t>看书</a:t>
            </a:r>
            <a:r>
              <a:rPr lang="zh-CN" altLang="en-US" sz="2800" dirty="0">
                <a:solidFill>
                  <a:srgbClr val="FF3300"/>
                </a:solidFill>
              </a:rPr>
              <a:t>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FF3300"/>
                </a:solidFill>
              </a:rPr>
              <a:t>结论：若我在看书，则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天在下雨</a:t>
            </a:r>
            <a:r>
              <a:rPr lang="zh-CN" altLang="en-US" sz="2800" dirty="0">
                <a:solidFill>
                  <a:srgbClr val="FF3300"/>
                </a:solidFill>
              </a:rPr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81194" y="3586063"/>
            <a:ext cx="43572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CN" dirty="0">
                <a:solidFill>
                  <a:srgbClr val="0066FF"/>
                </a:solidFill>
              </a:rPr>
              <a:t>: </a:t>
            </a:r>
            <a:r>
              <a:rPr lang="zh-CN" altLang="en-US" dirty="0">
                <a:solidFill>
                  <a:srgbClr val="0066FF"/>
                </a:solidFill>
              </a:rPr>
              <a:t>天晴           </a:t>
            </a:r>
            <a:r>
              <a:rPr lang="en-US" altLang="zh-CN" sz="3200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dirty="0">
                <a:solidFill>
                  <a:srgbClr val="0066FF"/>
                </a:solidFill>
              </a:rPr>
              <a:t>: </a:t>
            </a:r>
            <a:r>
              <a:rPr lang="zh-CN" altLang="en-US" dirty="0">
                <a:solidFill>
                  <a:srgbClr val="0066FF"/>
                </a:solidFill>
              </a:rPr>
              <a:t>下雨 </a:t>
            </a:r>
            <a:endParaRPr lang="en-US" altLang="zh-CN" dirty="0">
              <a:solidFill>
                <a:srgbClr val="0066FF"/>
              </a:solidFill>
            </a:endParaRPr>
          </a:p>
          <a:p>
            <a:r>
              <a:rPr lang="en-US" altLang="zh-CN" sz="3200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66FF"/>
                </a:solidFill>
              </a:rPr>
              <a:t> : </a:t>
            </a:r>
            <a:r>
              <a:rPr lang="zh-CN" altLang="en-US" dirty="0">
                <a:solidFill>
                  <a:srgbClr val="0066FF"/>
                </a:solidFill>
              </a:rPr>
              <a:t>我看电影     </a:t>
            </a:r>
            <a:r>
              <a:rPr lang="en-US" altLang="zh-CN" sz="3200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dirty="0">
                <a:solidFill>
                  <a:srgbClr val="0066FF"/>
                </a:solidFill>
              </a:rPr>
              <a:t>: </a:t>
            </a:r>
            <a:r>
              <a:rPr lang="zh-CN" altLang="en-US" dirty="0">
                <a:solidFill>
                  <a:srgbClr val="0066FF"/>
                </a:solidFill>
              </a:rPr>
              <a:t>我看书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580112" y="1412776"/>
            <a:ext cx="3208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ym typeface="Symbol" panose="05050102010706020507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ym typeface="Symbol" panose="05050102010706020507"/>
              </a:rPr>
              <a:t>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ym typeface="Symbol" panose="05050102010706020507"/>
              </a:rPr>
              <a:t>)(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 err="1">
                <a:sym typeface="Symbol" panose="05050102010706020507"/>
              </a:rPr>
              <a:t>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ym typeface="Symbol" panose="05050102010706020507"/>
              </a:rPr>
              <a:t>) </a:t>
            </a:r>
            <a:endParaRPr lang="zh-CN" altLang="en-US" sz="2800" dirty="0"/>
          </a:p>
        </p:txBody>
      </p:sp>
      <p:sp>
        <p:nvSpPr>
          <p:cNvPr id="10" name="文本框 9"/>
          <p:cNvSpPr txBox="1"/>
          <p:nvPr/>
        </p:nvSpPr>
        <p:spPr>
          <a:xfrm>
            <a:off x="5582681" y="1813908"/>
            <a:ext cx="1133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 err="1">
                <a:sym typeface="Symbol" panose="05050102010706020507"/>
              </a:rPr>
              <a:t>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28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751117" y="2252236"/>
            <a:ext cx="1349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sym typeface="Symbol" panose="05050102010706020507"/>
              </a:rPr>
              <a:t>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ym typeface="Symbol" panose="05050102010706020507"/>
              </a:rPr>
              <a:t> </a:t>
            </a:r>
            <a:endParaRPr lang="zh-CN" altLang="en-US" sz="2800" dirty="0"/>
          </a:p>
        </p:txBody>
      </p:sp>
      <p:sp>
        <p:nvSpPr>
          <p:cNvPr id="14" name="文本框 13"/>
          <p:cNvSpPr txBox="1"/>
          <p:nvPr/>
        </p:nvSpPr>
        <p:spPr>
          <a:xfrm>
            <a:off x="6716553" y="2738260"/>
            <a:ext cx="1349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 err="1">
                <a:sym typeface="Symbol" panose="05050102010706020507"/>
              </a:rPr>
              <a:t>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sz="2800" dirty="0"/>
          </a:p>
        </p:txBody>
      </p:sp>
      <p:sp>
        <p:nvSpPr>
          <p:cNvPr id="13" name="文本框 12"/>
          <p:cNvSpPr txBox="1"/>
          <p:nvPr/>
        </p:nvSpPr>
        <p:spPr>
          <a:xfrm>
            <a:off x="740329" y="5029725"/>
            <a:ext cx="72992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前提：</a:t>
            </a:r>
            <a:r>
              <a:rPr lang="en-US" altLang="zh-CN" b="1" dirty="0">
                <a:sym typeface="Symbol" panose="05050102010706020507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ym typeface="Symbol" panose="05050102010706020507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sym typeface="Symbol" panose="05050102010706020507"/>
              </a:rPr>
              <a:t>)(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sym typeface="Symbol" panose="05050102010706020507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sym typeface="Symbol" panose="05050102010706020507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sym typeface="Symbol" panose="05050102010706020507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ym typeface="Symbol" panose="05050102010706020507"/>
              </a:rPr>
              <a:t>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endParaRPr lang="zh-CN" altLang="en-US" b="1" dirty="0"/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结论：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sym typeface="Symbol" panose="05050102010706020507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内容占位符 48"/>
          <p:cNvSpPr>
            <a:spLocks noGrp="1"/>
          </p:cNvSpPr>
          <p:nvPr>
            <p:ph idx="1"/>
          </p:nvPr>
        </p:nvSpPr>
        <p:spPr>
          <a:xfrm>
            <a:off x="539552" y="1700808"/>
            <a:ext cx="8260034" cy="4104456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1)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/>
              <a:t>                                                                </a:t>
            </a:r>
            <a:r>
              <a:rPr lang="zh-CN" altLang="en-US" sz="2400" dirty="0"/>
              <a:t>附加</a:t>
            </a:r>
            <a:r>
              <a:rPr lang="zh-CN" altLang="en-US" dirty="0"/>
              <a:t>前提引入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2)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 err="1">
                <a:sym typeface="Symbol" panose="05050102010706020507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</a:t>
            </a:r>
            <a:r>
              <a:rPr lang="zh-CN" altLang="en-US" dirty="0"/>
              <a:t>前提引入</a:t>
            </a:r>
            <a:endParaRPr lang="en-US" altLang="zh-CN" sz="2400" dirty="0">
              <a:sym typeface="Symbol" panose="05050102010706020507"/>
            </a:endParaRPr>
          </a:p>
          <a:p>
            <a:pPr>
              <a:buNone/>
            </a:pPr>
            <a:r>
              <a:rPr lang="en-US" altLang="zh-CN" sz="2400" dirty="0">
                <a:sym typeface="Symbol" panose="05050102010706020507"/>
              </a:rPr>
              <a:t>3)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ym typeface="Symbol" panose="05050102010706020507"/>
              </a:rPr>
              <a:t>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                                                             </a:t>
            </a:r>
            <a:r>
              <a:rPr lang="zh-CN" altLang="en-US" dirty="0"/>
              <a:t>前提引入</a:t>
            </a:r>
            <a:endParaRPr lang="en-US" altLang="zh-CN" sz="2400" dirty="0">
              <a:sym typeface="Symbol" panose="05050102010706020507"/>
            </a:endParaRPr>
          </a:p>
          <a:p>
            <a:pPr>
              <a:buNone/>
            </a:pPr>
            <a:r>
              <a:rPr lang="en-US" altLang="zh-CN" sz="2400" dirty="0">
                <a:sym typeface="Symbol" panose="05050102010706020507"/>
              </a:rPr>
              <a:t>4)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ym typeface="Symbol" panose="05050102010706020507"/>
              </a:rPr>
              <a:t>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ym typeface="Symbol" panose="05050102010706020507"/>
              </a:rPr>
              <a:t>                                                        2)3)</a:t>
            </a:r>
            <a:r>
              <a:rPr lang="zh-CN" altLang="en-US" dirty="0"/>
              <a:t>假言三段论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5)</a:t>
            </a:r>
            <a:r>
              <a:rPr lang="en-US" altLang="zh-CN" sz="2400" dirty="0">
                <a:sym typeface="Symbol" panose="05050102010706020507"/>
              </a:rPr>
              <a:t>  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sz="2400" dirty="0">
                <a:sym typeface="Symbol" panose="05050102010706020507"/>
              </a:rPr>
              <a:t>                                                           1)4)</a:t>
            </a:r>
            <a:r>
              <a:rPr lang="zh-CN" altLang="en-US" dirty="0">
                <a:latin typeface="Times New Roman" panose="02020603050405020304" pitchFamily="18" charset="0"/>
              </a:rPr>
              <a:t>拒取式</a:t>
            </a:r>
            <a:endParaRPr lang="en-US" altLang="zh-CN" sz="2400" dirty="0">
              <a:sym typeface="Symbol" panose="05050102010706020507"/>
            </a:endParaRPr>
          </a:p>
          <a:p>
            <a:pPr>
              <a:buNone/>
            </a:pPr>
            <a:r>
              <a:rPr lang="en-US" altLang="zh-CN" sz="2400" dirty="0">
                <a:sym typeface="Symbol" panose="05050102010706020507"/>
              </a:rPr>
              <a:t>6</a:t>
            </a:r>
            <a:r>
              <a:rPr lang="en-US" altLang="zh-CN" dirty="0">
                <a:sym typeface="Symbol" panose="05050102010706020507"/>
              </a:rPr>
              <a:t>) 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ym typeface="Symbol" panose="05050102010706020507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ym typeface="Symbol" panose="05050102010706020507"/>
              </a:rPr>
              <a:t>)(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 err="1">
                <a:sym typeface="Symbol" panose="05050102010706020507"/>
              </a:rPr>
              <a:t>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ym typeface="Symbol" panose="05050102010706020507"/>
              </a:rPr>
              <a:t>)                                          </a:t>
            </a:r>
            <a:r>
              <a:rPr lang="zh-CN" altLang="en-US" dirty="0"/>
              <a:t>前提引入</a:t>
            </a:r>
            <a:endParaRPr lang="en-US" altLang="zh-CN" sz="2400" dirty="0">
              <a:sym typeface="Symbol" panose="05050102010706020507"/>
            </a:endParaRPr>
          </a:p>
          <a:p>
            <a:pPr>
              <a:buNone/>
            </a:pPr>
            <a:r>
              <a:rPr lang="en-US" altLang="zh-CN" sz="2400" dirty="0">
                <a:sym typeface="Symbol" panose="05050102010706020507"/>
              </a:rPr>
              <a:t>7) </a:t>
            </a:r>
            <a:r>
              <a:rPr lang="en-US" altLang="zh-CN" dirty="0">
                <a:sym typeface="Symbol" panose="05050102010706020507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 err="1">
                <a:sym typeface="Symbol" panose="05050102010706020507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ym typeface="Symbol" panose="05050102010706020507"/>
              </a:rPr>
              <a:t>)(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ym typeface="Symbol" panose="05050102010706020507"/>
              </a:rPr>
              <a:t>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ym typeface="Symbol" panose="05050102010706020507"/>
              </a:rPr>
              <a:t>)                                          6</a:t>
            </a:r>
            <a:r>
              <a:rPr lang="en-US" altLang="zh-CN" sz="2400" dirty="0">
                <a:sym typeface="Symbol" panose="05050102010706020507"/>
              </a:rPr>
              <a:t>)</a:t>
            </a:r>
            <a:r>
              <a:rPr lang="zh-CN" altLang="en-US" sz="2400" dirty="0">
                <a:sym typeface="Symbol" panose="05050102010706020507"/>
              </a:rPr>
              <a:t>置换</a:t>
            </a:r>
            <a:endParaRPr lang="en-US" altLang="zh-CN" sz="2400" dirty="0">
              <a:sym typeface="Symbol" panose="05050102010706020507"/>
            </a:endParaRPr>
          </a:p>
          <a:p>
            <a:pPr>
              <a:buNone/>
            </a:pPr>
            <a:r>
              <a:rPr lang="en-US" altLang="zh-CN" sz="2400" dirty="0">
                <a:sym typeface="Symbol" panose="05050102010706020507"/>
              </a:rPr>
              <a:t>8)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 err="1">
                <a:sym typeface="Symbol" panose="05050102010706020507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sym typeface="Symbol" panose="05050102010706020507"/>
              </a:rPr>
              <a:t>                                                            7)</a:t>
            </a:r>
            <a:r>
              <a:rPr lang="zh-CN" altLang="en-US" sz="2400" dirty="0">
                <a:sym typeface="Symbol" panose="05050102010706020507"/>
              </a:rPr>
              <a:t>化简</a:t>
            </a:r>
            <a:endParaRPr lang="en-US" altLang="zh-CN" sz="2400" dirty="0">
              <a:sym typeface="Symbol" panose="05050102010706020507"/>
            </a:endParaRPr>
          </a:p>
          <a:p>
            <a:pPr>
              <a:buNone/>
            </a:pPr>
            <a:r>
              <a:rPr lang="en-US" altLang="zh-CN" sz="2400" dirty="0">
                <a:sym typeface="Symbol" panose="05050102010706020507"/>
              </a:rPr>
              <a:t>9)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sym typeface="Symbol" panose="05050102010706020507"/>
              </a:rPr>
              <a:t>                                                                5</a:t>
            </a:r>
            <a:r>
              <a:rPr lang="en-US" altLang="zh-CN" dirty="0">
                <a:sym typeface="Symbol" panose="05050102010706020507"/>
              </a:rPr>
              <a:t>)</a:t>
            </a:r>
            <a:r>
              <a:rPr lang="en-US" altLang="zh-CN" sz="2400" dirty="0">
                <a:sym typeface="Symbol" panose="05050102010706020507"/>
              </a:rPr>
              <a:t>8)</a:t>
            </a:r>
            <a:r>
              <a:rPr lang="zh-CN" altLang="en-US" dirty="0">
                <a:latin typeface="Times New Roman" panose="02020603050405020304" pitchFamily="18" charset="0"/>
              </a:rPr>
              <a:t>析取三段论</a:t>
            </a:r>
            <a:endParaRPr lang="en-US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2051720" y="116632"/>
            <a:ext cx="72992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前提：</a:t>
            </a:r>
            <a:r>
              <a:rPr lang="en-US" altLang="zh-CN" b="1" dirty="0">
                <a:sym typeface="Symbol" panose="05050102010706020507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ym typeface="Symbol" panose="05050102010706020507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sym typeface="Symbol" panose="05050102010706020507"/>
              </a:rPr>
              <a:t>)(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sym typeface="Symbol" panose="05050102010706020507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sym typeface="Symbol" panose="05050102010706020507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sym typeface="Symbol" panose="05050102010706020507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ym typeface="Symbol" panose="05050102010706020507"/>
              </a:rPr>
              <a:t>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endParaRPr lang="zh-CN" altLang="en-US" b="1" dirty="0"/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结论：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sym typeface="Symbol" panose="05050102010706020507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97902" y="122812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证明  用附加前提法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内容占位符 48"/>
          <p:cNvSpPr>
            <a:spLocks noGrp="1"/>
          </p:cNvSpPr>
          <p:nvPr>
            <p:ph idx="1"/>
          </p:nvPr>
        </p:nvSpPr>
        <p:spPr>
          <a:xfrm>
            <a:off x="422275" y="1592263"/>
            <a:ext cx="6237288" cy="4105275"/>
          </a:xfrm>
          <a:ln>
            <a:solidFill>
              <a:schemeClr val="tx2"/>
            </a:solidFill>
            <a:miter lim="800000"/>
          </a:ln>
        </p:spPr>
        <p:txBody>
          <a:bodyPr/>
          <a:lstStyle/>
          <a:p>
            <a:r>
              <a:rPr lang="en-US" altLang="zh-CN" dirty="0"/>
              <a:t>1) </a:t>
            </a:r>
            <a:r>
              <a:rPr lang="en-US" altLang="zh-CN" i="1" dirty="0">
                <a:cs typeface="Times New Roman" panose="02020603050405020304" pitchFamily="18" charset="0"/>
              </a:rPr>
              <a:t>r</a:t>
            </a:r>
            <a:r>
              <a:rPr lang="en-US" altLang="zh-CN" dirty="0"/>
              <a:t>                                     </a:t>
            </a:r>
            <a:r>
              <a:rPr lang="zh-CN" altLang="en-US" dirty="0"/>
              <a:t>附加前提引入</a:t>
            </a:r>
            <a:endParaRPr lang="en-US" altLang="zh-CN" dirty="0"/>
          </a:p>
          <a:p>
            <a:r>
              <a:rPr lang="en-US" altLang="zh-CN" dirty="0"/>
              <a:t>2) </a:t>
            </a:r>
            <a:r>
              <a:rPr lang="en-US" altLang="zh-CN" i="1" dirty="0" err="1">
                <a:cs typeface="Times New Roman" panose="02020603050405020304" pitchFamily="18" charset="0"/>
              </a:rPr>
              <a:t>p</a:t>
            </a:r>
            <a:r>
              <a:rPr lang="en-US" altLang="zh-CN" dirty="0" err="1"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cs typeface="Times New Roman" panose="02020603050405020304" pitchFamily="18" charset="0"/>
              </a:rPr>
              <a:t>s</a:t>
            </a:r>
            <a:r>
              <a:rPr lang="en-US" altLang="zh-CN" i="1" dirty="0">
                <a:cs typeface="Times New Roman" panose="02020603050405020304" pitchFamily="18" charset="0"/>
              </a:rPr>
              <a:t>                               </a:t>
            </a:r>
            <a:r>
              <a:rPr lang="zh-CN" altLang="en-US" dirty="0"/>
              <a:t>前提引入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3) </a:t>
            </a:r>
            <a:r>
              <a:rPr lang="en-US" altLang="zh-CN" i="1" dirty="0"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ym typeface="Symbol" panose="05050102010706020507" pitchFamily="18" charset="2"/>
              </a:rPr>
              <a:t></a:t>
            </a:r>
            <a:r>
              <a:rPr lang="en-US" altLang="zh-CN" i="1" dirty="0">
                <a:cs typeface="Times New Roman" panose="02020603050405020304" pitchFamily="18" charset="0"/>
              </a:rPr>
              <a:t>r                             </a:t>
            </a:r>
            <a:r>
              <a:rPr lang="zh-CN" altLang="en-US" dirty="0"/>
              <a:t>前提引入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4) </a:t>
            </a:r>
            <a:r>
              <a:rPr lang="en-US" altLang="zh-CN" i="1" dirty="0"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ym typeface="Symbol" panose="05050102010706020507" pitchFamily="18" charset="2"/>
              </a:rPr>
              <a:t></a:t>
            </a:r>
            <a:r>
              <a:rPr lang="en-US" altLang="zh-CN" i="1" dirty="0"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ym typeface="Symbol" panose="05050102010706020507" pitchFamily="18" charset="2"/>
              </a:rPr>
              <a:t>                             2)3)</a:t>
            </a:r>
            <a:r>
              <a:rPr lang="zh-CN" altLang="en-US" dirty="0"/>
              <a:t>假言三段论</a:t>
            </a:r>
            <a:endParaRPr lang="en-US" altLang="zh-CN" dirty="0"/>
          </a:p>
          <a:p>
            <a:r>
              <a:rPr lang="en-US" altLang="zh-CN" dirty="0"/>
              <a:t>5)</a:t>
            </a:r>
            <a:r>
              <a:rPr lang="en-US" altLang="zh-CN" dirty="0">
                <a:sym typeface="Symbol" panose="05050102010706020507" pitchFamily="18" charset="2"/>
              </a:rPr>
              <a:t>  </a:t>
            </a:r>
            <a:r>
              <a:rPr lang="en-US" altLang="zh-CN" i="1" dirty="0">
                <a:cs typeface="Times New Roman" panose="02020603050405020304" pitchFamily="18" charset="0"/>
              </a:rPr>
              <a:t> p</a:t>
            </a:r>
            <a:r>
              <a:rPr lang="en-US" altLang="zh-CN" dirty="0">
                <a:sym typeface="Symbol" panose="05050102010706020507" pitchFamily="18" charset="2"/>
              </a:rPr>
              <a:t>                                1)4)</a:t>
            </a:r>
            <a:r>
              <a:rPr lang="zh-CN" altLang="en-US" dirty="0"/>
              <a:t>拒取式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6) (</a:t>
            </a:r>
            <a:r>
              <a:rPr lang="en-US" altLang="zh-CN" i="1" dirty="0"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ym typeface="Symbol" panose="05050102010706020507" pitchFamily="18" charset="2"/>
              </a:rPr>
              <a:t>)(</a:t>
            </a:r>
            <a:r>
              <a:rPr lang="en-US" altLang="zh-CN" i="1" dirty="0" err="1">
                <a:cs typeface="Times New Roman" panose="02020603050405020304" pitchFamily="18" charset="0"/>
              </a:rPr>
              <a:t>p</a:t>
            </a:r>
            <a:r>
              <a:rPr lang="en-US" altLang="zh-CN" dirty="0" err="1"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ym typeface="Symbol" panose="05050102010706020507" pitchFamily="18" charset="2"/>
              </a:rPr>
              <a:t>)             </a:t>
            </a:r>
            <a:r>
              <a:rPr lang="zh-CN" altLang="en-US" dirty="0"/>
              <a:t>前提引入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7) (</a:t>
            </a:r>
            <a:r>
              <a:rPr lang="en-US" altLang="zh-CN" i="1" dirty="0" err="1">
                <a:cs typeface="Times New Roman" panose="02020603050405020304" pitchFamily="18" charset="0"/>
              </a:rPr>
              <a:t>p</a:t>
            </a:r>
            <a:r>
              <a:rPr lang="en-US" altLang="zh-CN" dirty="0" err="1"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ym typeface="Symbol" panose="05050102010706020507" pitchFamily="18" charset="2"/>
              </a:rPr>
              <a:t>)(</a:t>
            </a:r>
            <a:r>
              <a:rPr lang="en-US" altLang="zh-CN" i="1" dirty="0"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ym typeface="Symbol" panose="05050102010706020507" pitchFamily="18" charset="2"/>
              </a:rPr>
              <a:t>)              6)</a:t>
            </a:r>
            <a:r>
              <a:rPr lang="zh-CN" altLang="en-US" dirty="0">
                <a:sym typeface="Symbol" panose="05050102010706020507" pitchFamily="18" charset="2"/>
              </a:rPr>
              <a:t>置换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8) </a:t>
            </a:r>
            <a:r>
              <a:rPr lang="en-US" altLang="zh-CN" i="1" dirty="0" err="1">
                <a:cs typeface="Times New Roman" panose="02020603050405020304" pitchFamily="18" charset="0"/>
              </a:rPr>
              <a:t>p</a:t>
            </a:r>
            <a:r>
              <a:rPr lang="en-US" altLang="zh-CN" dirty="0" err="1"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ym typeface="Symbol" panose="05050102010706020507" pitchFamily="18" charset="2"/>
              </a:rPr>
              <a:t>                                 7)</a:t>
            </a:r>
            <a:r>
              <a:rPr lang="zh-CN" altLang="en-US" dirty="0">
                <a:sym typeface="Symbol" panose="05050102010706020507" pitchFamily="18" charset="2"/>
              </a:rPr>
              <a:t>化简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9) </a:t>
            </a:r>
            <a:r>
              <a:rPr lang="en-US" altLang="zh-CN" i="1" dirty="0"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ym typeface="Symbol" panose="05050102010706020507" pitchFamily="18" charset="2"/>
              </a:rPr>
              <a:t>                                     5)8)</a:t>
            </a:r>
            <a:r>
              <a:rPr lang="zh-CN" altLang="en-US" dirty="0"/>
              <a:t>析取三段论</a:t>
            </a:r>
            <a:endParaRPr lang="en-US" altLang="zh-CN" dirty="0"/>
          </a:p>
        </p:txBody>
      </p:sp>
      <p:sp>
        <p:nvSpPr>
          <p:cNvPr id="9219" name="文本框 1"/>
          <p:cNvSpPr txBox="1">
            <a:spLocks noChangeArrowheads="1"/>
          </p:cNvSpPr>
          <p:nvPr/>
        </p:nvSpPr>
        <p:spPr bwMode="auto">
          <a:xfrm>
            <a:off x="2051050" y="76200"/>
            <a:ext cx="72993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latin typeface="Times New Roman" panose="02020603050405020304" pitchFamily="18" charset="0"/>
              </a:rPr>
              <a:t>前提：</a:t>
            </a:r>
            <a:r>
              <a:rPr lang="en-US" altLang="zh-CN" b="1">
                <a:sym typeface="Symbol" panose="05050102010706020507" pitchFamily="18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>
                <a:sym typeface="Symbol" panose="05050102010706020507" pitchFamily="18" charset="2"/>
              </a:rPr>
              <a:t>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>
                <a:sym typeface="Symbol" panose="05050102010706020507" pitchFamily="18" charset="2"/>
              </a:rPr>
              <a:t>)(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>
                <a:sym typeface="Symbol" panose="05050102010706020507" pitchFamily="18" charset="2"/>
              </a:rPr>
              <a:t>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>
                <a:sym typeface="Symbol" panose="05050102010706020507" pitchFamily="18" charset="2"/>
              </a:rPr>
              <a:t>)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>
                <a:sym typeface="Symbol" panose="05050102010706020507" pitchFamily="18" charset="2"/>
              </a:rPr>
              <a:t>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>
                <a:sym typeface="Symbol" panose="05050102010706020507" pitchFamily="18" charset="2"/>
              </a:rPr>
              <a:t>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endParaRPr lang="zh-CN" altLang="en-US" b="1"/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结论：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>
                <a:sym typeface="Symbol" panose="05050102010706020507" pitchFamily="18" charset="2"/>
              </a:rPr>
              <a:t>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9220" name="文本框 11"/>
          <p:cNvSpPr txBox="1">
            <a:spLocks noChangeArrowheads="1"/>
          </p:cNvSpPr>
          <p:nvPr/>
        </p:nvSpPr>
        <p:spPr bwMode="auto">
          <a:xfrm>
            <a:off x="385763" y="1095375"/>
            <a:ext cx="457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证明  用附加前提法</a:t>
            </a: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6659563" y="1557338"/>
            <a:ext cx="1728787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</a:pPr>
            <a:r>
              <a:rPr lang="en-US" altLang="zh-CN">
                <a:solidFill>
                  <a:srgbClr val="FF0000"/>
                </a:solidFill>
              </a:rPr>
              <a:t>P</a:t>
            </a:r>
            <a:r>
              <a:rPr lang="zh-CN" altLang="en-US">
                <a:solidFill>
                  <a:srgbClr val="FF0000"/>
                </a:solidFill>
              </a:rPr>
              <a:t>附加</a:t>
            </a:r>
            <a:endParaRPr lang="en-US" altLang="zh-CN">
              <a:solidFill>
                <a:srgbClr val="FF0000"/>
              </a:solidFill>
            </a:endParaRPr>
          </a:p>
          <a:p>
            <a:pPr>
              <a:lnSpc>
                <a:spcPts val="3500"/>
              </a:lnSpc>
            </a:pPr>
            <a:r>
              <a:rPr lang="en-US" altLang="zh-CN">
                <a:solidFill>
                  <a:srgbClr val="FF0000"/>
                </a:solidFill>
              </a:rPr>
              <a:t>P</a:t>
            </a:r>
          </a:p>
          <a:p>
            <a:pPr>
              <a:lnSpc>
                <a:spcPts val="3500"/>
              </a:lnSpc>
            </a:pPr>
            <a:r>
              <a:rPr lang="en-US" altLang="zh-CN">
                <a:solidFill>
                  <a:srgbClr val="FF0000"/>
                </a:solidFill>
              </a:rPr>
              <a:t>P</a:t>
            </a:r>
          </a:p>
          <a:p>
            <a:pPr>
              <a:lnSpc>
                <a:spcPts val="3500"/>
              </a:lnSpc>
            </a:pPr>
            <a:r>
              <a:rPr lang="en-US" altLang="zh-CN">
                <a:solidFill>
                  <a:srgbClr val="FF0000"/>
                </a:solidFill>
              </a:rPr>
              <a:t>T</a:t>
            </a:r>
            <a:r>
              <a:rPr lang="en-US" altLang="zh-CN">
                <a:sym typeface="Symbol" panose="05050102010706020507" pitchFamily="18" charset="2"/>
              </a:rPr>
              <a:t> 2)3)</a:t>
            </a:r>
            <a:endParaRPr lang="en-US" altLang="zh-CN">
              <a:solidFill>
                <a:srgbClr val="FF0000"/>
              </a:solidFill>
            </a:endParaRPr>
          </a:p>
          <a:p>
            <a:pPr>
              <a:lnSpc>
                <a:spcPts val="3500"/>
              </a:lnSpc>
            </a:pPr>
            <a:r>
              <a:rPr lang="en-US" altLang="zh-CN">
                <a:solidFill>
                  <a:srgbClr val="FF0000"/>
                </a:solidFill>
              </a:rPr>
              <a:t>T</a:t>
            </a:r>
            <a:r>
              <a:rPr lang="en-US" altLang="zh-CN">
                <a:sym typeface="Symbol" panose="05050102010706020507" pitchFamily="18" charset="2"/>
              </a:rPr>
              <a:t> 1)4)</a:t>
            </a:r>
            <a:endParaRPr lang="en-US" altLang="zh-CN">
              <a:solidFill>
                <a:srgbClr val="FF0000"/>
              </a:solidFill>
            </a:endParaRPr>
          </a:p>
          <a:p>
            <a:pPr>
              <a:lnSpc>
                <a:spcPts val="3500"/>
              </a:lnSpc>
            </a:pPr>
            <a:r>
              <a:rPr lang="en-US" altLang="zh-CN">
                <a:solidFill>
                  <a:srgbClr val="FF0000"/>
                </a:solidFill>
              </a:rPr>
              <a:t>P</a:t>
            </a:r>
          </a:p>
          <a:p>
            <a:pPr>
              <a:lnSpc>
                <a:spcPts val="3500"/>
              </a:lnSpc>
            </a:pPr>
            <a:r>
              <a:rPr lang="en-US" altLang="zh-CN">
                <a:solidFill>
                  <a:srgbClr val="FF0000"/>
                </a:solidFill>
              </a:rPr>
              <a:t>T</a:t>
            </a:r>
            <a:r>
              <a:rPr lang="en-US" altLang="zh-CN">
                <a:sym typeface="Symbol" panose="05050102010706020507" pitchFamily="18" charset="2"/>
              </a:rPr>
              <a:t> 6)</a:t>
            </a:r>
            <a:endParaRPr lang="en-US" altLang="zh-CN">
              <a:solidFill>
                <a:srgbClr val="FF0000"/>
              </a:solidFill>
            </a:endParaRPr>
          </a:p>
          <a:p>
            <a:pPr>
              <a:lnSpc>
                <a:spcPts val="3500"/>
              </a:lnSpc>
            </a:pPr>
            <a:r>
              <a:rPr lang="en-US" altLang="zh-CN">
                <a:solidFill>
                  <a:srgbClr val="FF0000"/>
                </a:solidFill>
              </a:rPr>
              <a:t>T</a:t>
            </a:r>
            <a:r>
              <a:rPr lang="en-US" altLang="zh-CN">
                <a:sym typeface="Symbol" panose="05050102010706020507" pitchFamily="18" charset="2"/>
              </a:rPr>
              <a:t> 7)</a:t>
            </a:r>
            <a:endParaRPr lang="en-US" altLang="zh-CN">
              <a:solidFill>
                <a:srgbClr val="FF0000"/>
              </a:solidFill>
            </a:endParaRPr>
          </a:p>
          <a:p>
            <a:pPr>
              <a:lnSpc>
                <a:spcPts val="3500"/>
              </a:lnSpc>
            </a:pPr>
            <a:r>
              <a:rPr lang="en-US" altLang="zh-CN">
                <a:solidFill>
                  <a:srgbClr val="FF0000"/>
                </a:solidFill>
              </a:rPr>
              <a:t>T</a:t>
            </a:r>
            <a:r>
              <a:rPr lang="en-US" altLang="zh-CN">
                <a:sym typeface="Symbol" panose="05050102010706020507" pitchFamily="18" charset="2"/>
              </a:rPr>
              <a:t> 5)8)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396875" y="5697538"/>
            <a:ext cx="77866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P </a:t>
            </a:r>
            <a:r>
              <a:rPr lang="zh-CN" altLang="en-US" dirty="0">
                <a:solidFill>
                  <a:srgbClr val="C00000"/>
                </a:solidFill>
              </a:rPr>
              <a:t>规则</a:t>
            </a:r>
            <a:r>
              <a:rPr lang="en-US" altLang="zh-CN" dirty="0">
                <a:solidFill>
                  <a:srgbClr val="0066FF"/>
                </a:solidFill>
              </a:rPr>
              <a:t>:</a:t>
            </a:r>
            <a:r>
              <a:rPr lang="zh-CN" altLang="en-US" dirty="0">
                <a:solidFill>
                  <a:srgbClr val="0066FF"/>
                </a:solidFill>
              </a:rPr>
              <a:t>前提在推导过程中任何时候都可引用、使用。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T </a:t>
            </a:r>
            <a:r>
              <a:rPr lang="zh-CN" altLang="en-US" dirty="0">
                <a:solidFill>
                  <a:srgbClr val="C00000"/>
                </a:solidFill>
              </a:rPr>
              <a:t>规则</a:t>
            </a:r>
            <a:r>
              <a:rPr lang="en-US" altLang="zh-CN" dirty="0">
                <a:solidFill>
                  <a:srgbClr val="0066FF"/>
                </a:solidFill>
              </a:rPr>
              <a:t>:</a:t>
            </a:r>
            <a:r>
              <a:rPr lang="zh-CN" altLang="en-US" dirty="0">
                <a:solidFill>
                  <a:srgbClr val="0066FF"/>
                </a:solidFill>
              </a:rPr>
              <a:t>在推导中</a:t>
            </a:r>
            <a:r>
              <a:rPr lang="en-US" altLang="zh-CN" dirty="0">
                <a:solidFill>
                  <a:srgbClr val="0066FF"/>
                </a:solidFill>
              </a:rPr>
              <a:t>,</a:t>
            </a:r>
            <a:r>
              <a:rPr lang="zh-CN" altLang="en-US" dirty="0">
                <a:solidFill>
                  <a:srgbClr val="0066FF"/>
                </a:solidFill>
              </a:rPr>
              <a:t>若有一个或多个公式重言蕴含着公式 </a:t>
            </a:r>
            <a:r>
              <a:rPr lang="en-US" altLang="zh-CN" dirty="0">
                <a:solidFill>
                  <a:srgbClr val="0066FF"/>
                </a:solidFill>
              </a:rPr>
              <a:t>S, </a:t>
            </a:r>
          </a:p>
          <a:p>
            <a:r>
              <a:rPr lang="en-US" altLang="zh-CN" dirty="0">
                <a:solidFill>
                  <a:srgbClr val="0066FF"/>
                </a:solidFill>
              </a:rPr>
              <a:t>            </a:t>
            </a:r>
            <a:r>
              <a:rPr lang="zh-CN" altLang="en-US" dirty="0">
                <a:solidFill>
                  <a:srgbClr val="0066FF"/>
                </a:solidFill>
              </a:rPr>
              <a:t>则 </a:t>
            </a:r>
            <a:r>
              <a:rPr lang="en-US" altLang="zh-CN" dirty="0">
                <a:solidFill>
                  <a:srgbClr val="0066FF"/>
                </a:solidFill>
              </a:rPr>
              <a:t>S </a:t>
            </a:r>
            <a:r>
              <a:rPr lang="zh-CN" altLang="en-US" dirty="0">
                <a:solidFill>
                  <a:srgbClr val="0066FF"/>
                </a:solidFill>
              </a:rPr>
              <a:t>可引入推导中。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947653-1518-481E-9915-E5815867CABB}" type="slidenum">
              <a:rPr lang="en-US" altLang="zh-CN" sz="1400" b="0"/>
              <a:t>42</a:t>
            </a:fld>
            <a:endParaRPr lang="en-US" altLang="zh-CN" sz="1400" b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4924425"/>
          </a:xfrm>
        </p:spPr>
        <p:txBody>
          <a:bodyPr/>
          <a:lstStyle/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形式系统的定义与分类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自然推理系统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在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zh-CN" altLang="en-US">
                <a:latin typeface="Times New Roman" panose="02020603050405020304" pitchFamily="18" charset="0"/>
              </a:rPr>
              <a:t>中构造证明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</a:p>
          <a:p>
            <a:pPr marL="762000" lvl="1" indent="-361950" eaLnBrk="1" hangingPunct="1">
              <a:buClr>
                <a:srgbClr val="FF99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latin typeface="Times New Roman" panose="02020603050405020304" pitchFamily="18" charset="0"/>
              </a:rPr>
              <a:t>直接证明法</a:t>
            </a:r>
            <a:endParaRPr lang="en-US" altLang="zh-CN">
              <a:latin typeface="Times New Roman" panose="02020603050405020304" pitchFamily="18" charset="0"/>
            </a:endParaRPr>
          </a:p>
          <a:p>
            <a:pPr marL="762000" lvl="1" indent="-361950" eaLnBrk="1" hangingPunct="1">
              <a:buClr>
                <a:srgbClr val="FF99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latin typeface="Times New Roman" panose="02020603050405020304" pitchFamily="18" charset="0"/>
              </a:rPr>
              <a:t>附加前提证明法</a:t>
            </a:r>
            <a:endParaRPr lang="en-US" altLang="zh-CN">
              <a:latin typeface="Times New Roman" panose="02020603050405020304" pitchFamily="18" charset="0"/>
            </a:endParaRPr>
          </a:p>
          <a:p>
            <a:pPr marL="762000" lvl="1" indent="-361950" eaLnBrk="1" hangingPunct="1">
              <a:buClr>
                <a:srgbClr val="FF99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latin typeface="Times New Roman" panose="02020603050405020304" pitchFamily="18" charset="0"/>
              </a:rPr>
              <a:t>归谬法</a:t>
            </a:r>
          </a:p>
          <a:p>
            <a:pPr marL="361950" indent="-361950" eaLnBrk="1" hangingPunct="1">
              <a:buFont typeface="Wingdings" panose="05000000000000000000" pitchFamily="2" charset="2"/>
              <a:buChar char="l"/>
            </a:pP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1684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61950" indent="-361950" eaLnBrk="1" hangingPunct="1">
              <a:spcBef>
                <a:spcPct val="60000"/>
              </a:spcBef>
              <a:buClr>
                <a:srgbClr val="FF9900"/>
              </a:buClr>
            </a:pPr>
            <a:r>
              <a:rPr lang="en-US" altLang="zh-CN"/>
              <a:t>3.2</a:t>
            </a:r>
            <a:r>
              <a:rPr lang="zh-CN" altLang="en-US"/>
              <a:t>自然推理系统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zh-CN" altLang="en-US">
                <a:latin typeface="Times New Roman" panose="02020603050405020304" pitchFamily="18" charset="0"/>
              </a:rPr>
              <a:t>（回顾）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063BE5-3C1B-45CD-AFA3-EF2EE1CC4EC0}" type="slidenum">
              <a:rPr lang="en-US" altLang="zh-CN" sz="1400" b="0"/>
              <a:t>43</a:t>
            </a:fld>
            <a:endParaRPr lang="en-US" altLang="zh-CN" sz="1400" b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4924425"/>
          </a:xfrm>
        </p:spPr>
        <p:txBody>
          <a:bodyPr/>
          <a:lstStyle/>
          <a:p>
            <a:pPr marL="361950" indent="-361950" eaLnBrk="1" hangingPunct="1"/>
            <a:r>
              <a:rPr lang="zh-CN" altLang="en-US"/>
              <a:t>主要内容</a:t>
            </a:r>
          </a:p>
          <a:p>
            <a:pPr marL="361950" indent="-361950" eaLnBrk="1" hangingPunct="1">
              <a:buClr>
                <a:srgbClr val="FF9900"/>
              </a:buClr>
            </a:pPr>
            <a:r>
              <a:rPr lang="en-US" altLang="zh-CN"/>
              <a:t>3.1</a:t>
            </a:r>
            <a:r>
              <a:rPr lang="zh-CN" altLang="en-US"/>
              <a:t>推理的形式结构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推理的正确与错误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推理的形式结构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判断推理正确的方法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推理定律</a:t>
            </a:r>
          </a:p>
          <a:p>
            <a:pPr marL="361950" indent="-361950" eaLnBrk="1" hangingPunct="1">
              <a:spcBef>
                <a:spcPct val="60000"/>
              </a:spcBef>
              <a:buClr>
                <a:srgbClr val="FF9900"/>
              </a:buClr>
            </a:pPr>
            <a:r>
              <a:rPr lang="en-US" altLang="zh-CN"/>
              <a:t>3.2</a:t>
            </a:r>
            <a:r>
              <a:rPr lang="zh-CN" altLang="en-US"/>
              <a:t>自然推理系统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形式系统的定义与分类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自然推理系统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在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zh-CN" altLang="en-US">
                <a:latin typeface="Times New Roman" panose="02020603050405020304" pitchFamily="18" charset="0"/>
              </a:rPr>
              <a:t>中构造证明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zh-CN" altLang="en-US">
                <a:latin typeface="Times New Roman" panose="02020603050405020304" pitchFamily="18" charset="0"/>
              </a:rPr>
              <a:t>直接证明法、附加前提证明法、归谬法</a:t>
            </a:r>
          </a:p>
          <a:p>
            <a:pPr marL="361950" indent="-361950" eaLnBrk="1" hangingPunct="1">
              <a:buFont typeface="Wingdings" panose="05000000000000000000" pitchFamily="2" charset="2"/>
              <a:buChar char="l"/>
            </a:pP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06588" y="260350"/>
            <a:ext cx="6553200" cy="40481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第三章 命题逻辑的推理理论（回顾）</a:t>
            </a:r>
          </a:p>
        </p:txBody>
      </p:sp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A251E1-3F86-420D-AEE9-E7B4EF34134E}" type="slidenum">
              <a:rPr lang="en-US" altLang="zh-CN" sz="1400" b="0"/>
              <a:t>44</a:t>
            </a:fld>
            <a:endParaRPr lang="en-US" altLang="zh-CN" sz="1400" b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4924425"/>
          </a:xfrm>
        </p:spPr>
        <p:txBody>
          <a:bodyPr/>
          <a:lstStyle/>
          <a:p>
            <a:pPr marL="361950" indent="-361950" eaLnBrk="1" hangingPunct="1"/>
            <a:r>
              <a:rPr lang="zh-CN" altLang="en-US"/>
              <a:t>主要内容：</a:t>
            </a:r>
            <a:endParaRPr lang="en-US" altLang="zh-CN"/>
          </a:p>
          <a:p>
            <a:pPr marL="361950" indent="-361950" eaLnBrk="1" hangingPunct="1"/>
            <a:endParaRPr lang="zh-CN" altLang="en-US"/>
          </a:p>
          <a:p>
            <a:pPr marL="361950" indent="-361950" eaLnBrk="1" hangingPunct="1">
              <a:buFont typeface="Wingdings" panose="05000000000000000000" pitchFamily="2" charset="2"/>
              <a:buChar char="l"/>
            </a:pPr>
            <a:r>
              <a:rPr lang="zh-CN" altLang="en-US"/>
              <a:t>第一章</a:t>
            </a:r>
            <a:r>
              <a:rPr lang="en-US" altLang="zh-CN"/>
              <a:t>  </a:t>
            </a:r>
            <a:r>
              <a:rPr lang="zh-CN" altLang="en-US"/>
              <a:t>命题逻辑基本概念</a:t>
            </a:r>
          </a:p>
          <a:p>
            <a:pPr marL="361950" indent="-361950" eaLnBrk="1" hangingPunct="1">
              <a:buFont typeface="Wingdings" panose="05000000000000000000" pitchFamily="2" charset="2"/>
              <a:buChar char="l"/>
            </a:pPr>
            <a:r>
              <a:rPr lang="zh-CN" altLang="en-US"/>
              <a:t>第二章  命题逻辑等值演算</a:t>
            </a:r>
          </a:p>
          <a:p>
            <a:pPr marL="361950" indent="-361950" eaLnBrk="1" hangingPunct="1">
              <a:buFont typeface="Wingdings" panose="05000000000000000000" pitchFamily="2" charset="2"/>
              <a:buChar char="l"/>
            </a:pPr>
            <a:r>
              <a:rPr lang="zh-CN" altLang="en-US"/>
              <a:t>第三章  命题逻辑推理理论</a:t>
            </a:r>
            <a:endParaRPr lang="en-US" altLang="zh-CN"/>
          </a:p>
          <a:p>
            <a:pPr marL="361950" indent="-361950" eaLnBrk="1" hangingPunct="1">
              <a:buFont typeface="Wingdings" panose="05000000000000000000" pitchFamily="2" charset="2"/>
              <a:buChar char="l"/>
            </a:pPr>
            <a:endParaRPr lang="zh-CN" altLang="en-US"/>
          </a:p>
          <a:p>
            <a:pPr marL="361950" indent="-361950" eaLnBrk="1" hangingPunct="1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accent2"/>
                </a:solidFill>
              </a:rPr>
              <a:t>第四章  一阶逻辑（谓词逻辑）基本概念</a:t>
            </a:r>
          </a:p>
          <a:p>
            <a:pPr marL="361950" indent="-361950" eaLnBrk="1" hangingPunct="1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accent2"/>
                </a:solidFill>
              </a:rPr>
              <a:t>第五章  一阶逻辑等值演算与推理</a:t>
            </a:r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3730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latin typeface="宋体" panose="02010600030101010101" pitchFamily="2" charset="-122"/>
              </a:rPr>
              <a:t>第一部分 数理逻辑（前三章回顾）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5332</Words>
  <Application>Microsoft Office PowerPoint</Application>
  <PresentationFormat>全屏显示(4:3)</PresentationFormat>
  <Paragraphs>643</Paragraphs>
  <Slides>44</Slides>
  <Notes>39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4" baseType="lpstr">
      <vt:lpstr>Helvetica Neue</vt:lpstr>
      <vt:lpstr>楷体_GB2312</vt:lpstr>
      <vt:lpstr>宋体</vt:lpstr>
      <vt:lpstr>Arial</vt:lpstr>
      <vt:lpstr>Symbol</vt:lpstr>
      <vt:lpstr>Times New Roman</vt:lpstr>
      <vt:lpstr>Verdana</vt:lpstr>
      <vt:lpstr>Wingdings</vt:lpstr>
      <vt:lpstr>默认设计模板</vt:lpstr>
      <vt:lpstr>公式</vt:lpstr>
      <vt:lpstr>第一部分 数理逻辑</vt:lpstr>
      <vt:lpstr>第三章 命题逻辑的推理理论</vt:lpstr>
      <vt:lpstr>第三章 命题逻辑的推理理论</vt:lpstr>
      <vt:lpstr>3.1  推理的形式结构</vt:lpstr>
      <vt:lpstr>推理的形式结构</vt:lpstr>
      <vt:lpstr>推理的形式结构_实例</vt:lpstr>
      <vt:lpstr>推理的形式结构_实例</vt:lpstr>
      <vt:lpstr>判断推理是否正确的方法</vt:lpstr>
      <vt:lpstr>真值表法</vt:lpstr>
      <vt:lpstr>真值表法_推理实例</vt:lpstr>
      <vt:lpstr>等值演算法_推理实例</vt:lpstr>
      <vt:lpstr>主析取范式法_推理实例</vt:lpstr>
      <vt:lpstr>推理定律 — 重言蕴涵式</vt:lpstr>
      <vt:lpstr>推理定律（续）</vt:lpstr>
      <vt:lpstr>推理定律（续）</vt:lpstr>
      <vt:lpstr>推理定律（续）</vt:lpstr>
      <vt:lpstr>推理定律（续）</vt:lpstr>
      <vt:lpstr>推理定律（续）</vt:lpstr>
      <vt:lpstr>推理定律（续）</vt:lpstr>
      <vt:lpstr>推理定律（续）</vt:lpstr>
      <vt:lpstr>推理定律（续）</vt:lpstr>
      <vt:lpstr>推理定律（续）</vt:lpstr>
      <vt:lpstr>推理定律（续）</vt:lpstr>
      <vt:lpstr>推理定律（续）</vt:lpstr>
      <vt:lpstr>3.1推理的形式结构（回顾）</vt:lpstr>
      <vt:lpstr>第三章 命题逻辑的推理理论</vt:lpstr>
      <vt:lpstr>3.2  自然推理系统P</vt:lpstr>
      <vt:lpstr>自然推理系统P</vt:lpstr>
      <vt:lpstr>推理规则</vt:lpstr>
      <vt:lpstr>推理规则</vt:lpstr>
      <vt:lpstr>在自然推理系统P中构造证明</vt:lpstr>
      <vt:lpstr>在自然推理系统P中构造证明</vt:lpstr>
      <vt:lpstr>直接证明法</vt:lpstr>
      <vt:lpstr>附加前提证明法</vt:lpstr>
      <vt:lpstr>附加前提证明法实例</vt:lpstr>
      <vt:lpstr>附加前提证明法实例</vt:lpstr>
      <vt:lpstr>归谬法（反证法）</vt:lpstr>
      <vt:lpstr>归谬法实例</vt:lpstr>
      <vt:lpstr>课堂练习</vt:lpstr>
      <vt:lpstr>PowerPoint 演示文稿</vt:lpstr>
      <vt:lpstr>PowerPoint 演示文稿</vt:lpstr>
      <vt:lpstr>3.2自然推理系统P（回顾）</vt:lpstr>
      <vt:lpstr>第三章 命题逻辑的推理理论（回顾）</vt:lpstr>
      <vt:lpstr>第一部分 数理逻辑（前三章回顾）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449</cp:revision>
  <dcterms:created xsi:type="dcterms:W3CDTF">2007-11-19T20:33:00Z</dcterms:created>
  <dcterms:modified xsi:type="dcterms:W3CDTF">2025-10-11T01:21:05Z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E805A1A8D3804A688A4A7A28F1D21D52_12</vt:lpwstr>
  </property>
  <property fmtid="{D5CDD505-2E9C-101B-9397-08002B2CF9AE}" pid="3" name="KSOProductBuildVer">
    <vt:lpwstr>2052-12.1.0.22529</vt:lpwstr>
  </property>
</Properties>
</file>