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6"/>
  </p:handoutMasterIdLst>
  <p:sldIdLst>
    <p:sldId id="302" r:id="rId3"/>
    <p:sldId id="298" r:id="rId5"/>
    <p:sldId id="299" r:id="rId6"/>
    <p:sldId id="300" r:id="rId7"/>
    <p:sldId id="301" r:id="rId8"/>
    <p:sldId id="257" r:id="rId9"/>
    <p:sldId id="303" r:id="rId10"/>
    <p:sldId id="304" r:id="rId11"/>
    <p:sldId id="258" r:id="rId12"/>
    <p:sldId id="305" r:id="rId13"/>
    <p:sldId id="259" r:id="rId14"/>
    <p:sldId id="306" r:id="rId15"/>
    <p:sldId id="307" r:id="rId16"/>
    <p:sldId id="260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62" r:id="rId25"/>
    <p:sldId id="316" r:id="rId26"/>
    <p:sldId id="264" r:id="rId27"/>
    <p:sldId id="266" r:id="rId28"/>
    <p:sldId id="291" r:id="rId29"/>
    <p:sldId id="387" r:id="rId30"/>
    <p:sldId id="317" r:id="rId31"/>
    <p:sldId id="318" r:id="rId32"/>
    <p:sldId id="319" r:id="rId33"/>
    <p:sldId id="321" r:id="rId34"/>
    <p:sldId id="322" r:id="rId35"/>
    <p:sldId id="267" r:id="rId36"/>
    <p:sldId id="268" r:id="rId37"/>
    <p:sldId id="269" r:id="rId38"/>
    <p:sldId id="270" r:id="rId39"/>
    <p:sldId id="355" r:id="rId40"/>
    <p:sldId id="356" r:id="rId41"/>
    <p:sldId id="357" r:id="rId42"/>
    <p:sldId id="358" r:id="rId43"/>
    <p:sldId id="353" r:id="rId44"/>
    <p:sldId id="354" r:id="rId45"/>
    <p:sldId id="273" r:id="rId46"/>
    <p:sldId id="294" r:id="rId47"/>
    <p:sldId id="292" r:id="rId48"/>
    <p:sldId id="293" r:id="rId49"/>
    <p:sldId id="376" r:id="rId50"/>
    <p:sldId id="377" r:id="rId51"/>
    <p:sldId id="276" r:id="rId52"/>
    <p:sldId id="277" r:id="rId53"/>
    <p:sldId id="388" r:id="rId54"/>
    <p:sldId id="378" r:id="rId5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j" initials="p" lastIdx="0" clrIdx="0"/>
  <p:cmAuthor id="2" name="jhdfhbjdfkkl" initials="j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A50021"/>
    <a:srgbClr val="FF9900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65" autoAdjust="0"/>
    <p:restoredTop sz="82241" autoAdjust="0"/>
  </p:normalViewPr>
  <p:slideViewPr>
    <p:cSldViewPr showGuides="1">
      <p:cViewPr varScale="1">
        <p:scale>
          <a:sx n="57" d="100"/>
          <a:sy n="57" d="100"/>
        </p:scale>
        <p:origin x="838" y="26"/>
      </p:cViewPr>
      <p:guideLst>
        <p:guide orient="horz" pos="2160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commentAuthors" Target="commentAuthors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E14F3908-D24B-44DE-A77D-665DDE2C0CA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1A46143A-C525-4DA1-9E41-6CCA690E3AE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9%80%BB%E8%BE%91%E5%AD%A6/85559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6CC80E-37EB-4EB0-A26C-A02E911D1540}" type="slidenum">
              <a:rPr lang="en-US" altLang="zh-CN" sz="120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F42E2B-05C0-4576-B557-8EF8D3928642}" type="slidenum">
              <a:rPr lang="zh-CN" altLang="en-US" sz="1200"/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zh-CN" dirty="0"/>
              <a:t>P Q  R   </a:t>
            </a:r>
            <a:r>
              <a:rPr lang="en-US" altLang="zh-CN" i="1" dirty="0"/>
              <a:t>P</a:t>
            </a:r>
            <a:r>
              <a:rPr lang="en-US" altLang="zh-CN" dirty="0"/>
              <a:t>∧</a:t>
            </a:r>
            <a:r>
              <a:rPr lang="en-US" altLang="zh-CN" i="1" dirty="0"/>
              <a:t>Q     </a:t>
            </a:r>
            <a:r>
              <a:rPr lang="en-US" altLang="zh-CN" dirty="0"/>
              <a:t>(</a:t>
            </a:r>
            <a:r>
              <a:rPr lang="en-US" altLang="zh-CN" i="1" dirty="0"/>
              <a:t>P</a:t>
            </a:r>
            <a:r>
              <a:rPr lang="en-US" altLang="zh-CN" dirty="0"/>
              <a:t>∧</a:t>
            </a:r>
            <a:r>
              <a:rPr lang="en-US" altLang="zh-CN" i="1" dirty="0"/>
              <a:t>Q</a:t>
            </a:r>
            <a:r>
              <a:rPr lang="en-US" altLang="zh-CN" dirty="0"/>
              <a:t>)→</a:t>
            </a:r>
            <a:r>
              <a:rPr lang="en-US" altLang="zh-CN" i="1" dirty="0"/>
              <a:t>R</a:t>
            </a:r>
            <a:endParaRPr lang="en-US" altLang="zh-CN" i="1" dirty="0"/>
          </a:p>
          <a:p>
            <a:pPr marL="228600" indent="-228600" eaLnBrk="1" hangingPunct="1"/>
            <a:r>
              <a:rPr lang="en-US" altLang="zh-CN" i="1" dirty="0"/>
              <a:t>0  0  0    0           1</a:t>
            </a:r>
            <a:endParaRPr lang="en-US" altLang="zh-CN" i="1" dirty="0"/>
          </a:p>
          <a:p>
            <a:pPr marL="228600" indent="-228600" eaLnBrk="1" hangingPunct="1"/>
            <a:r>
              <a:rPr lang="en-US" altLang="zh-CN" i="1" dirty="0"/>
              <a:t>0  0  1    0           1</a:t>
            </a:r>
            <a:endParaRPr lang="en-US" altLang="zh-CN" i="1" dirty="0"/>
          </a:p>
          <a:p>
            <a:pPr marL="228600" indent="-228600" eaLnBrk="1" hangingPunct="1"/>
            <a:r>
              <a:rPr lang="en-US" altLang="zh-CN" i="1" dirty="0"/>
              <a:t>0   1  0    0          1</a:t>
            </a:r>
            <a:endParaRPr lang="en-US" altLang="zh-CN" i="1" dirty="0"/>
          </a:p>
          <a:p>
            <a:pPr marL="228600" indent="-228600" eaLnBrk="1" hangingPunct="1"/>
            <a:r>
              <a:rPr lang="en-US" altLang="zh-CN" i="1" dirty="0"/>
              <a:t>0  1   1    0           1</a:t>
            </a:r>
            <a:endParaRPr lang="en-US" altLang="zh-CN" i="1" dirty="0"/>
          </a:p>
          <a:p>
            <a:pPr marL="0" indent="0" eaLnBrk="1" hangingPunct="1">
              <a:buFontTx/>
              <a:buNone/>
            </a:pPr>
            <a:r>
              <a:rPr lang="en-US" altLang="zh-CN" i="1" dirty="0"/>
              <a:t>1  0   0    0           1</a:t>
            </a:r>
            <a:endParaRPr lang="en-US" altLang="zh-CN" i="1" dirty="0"/>
          </a:p>
          <a:p>
            <a:pPr marL="228600" indent="-228600" eaLnBrk="1" hangingPunct="1"/>
            <a:r>
              <a:rPr lang="en-US" altLang="zh-CN" i="1" dirty="0"/>
              <a:t>1  0   1    0           1</a:t>
            </a:r>
            <a:endParaRPr lang="en-US" altLang="zh-CN" i="1" dirty="0"/>
          </a:p>
          <a:p>
            <a:pPr marL="228600" indent="-228600" eaLnBrk="1" hangingPunct="1"/>
            <a:r>
              <a:rPr lang="en-US" altLang="zh-CN" i="1" dirty="0"/>
              <a:t>1 1   0    1            0</a:t>
            </a:r>
            <a:endParaRPr lang="en-US" altLang="zh-CN" i="1" dirty="0"/>
          </a:p>
          <a:p>
            <a:pPr marL="228600" indent="-228600" eaLnBrk="1" hangingPunct="1"/>
            <a:r>
              <a:rPr lang="en-US" altLang="zh-CN" i="1" dirty="0"/>
              <a:t>1  1  1     1           1</a:t>
            </a:r>
            <a:endParaRPr lang="en-US" altLang="zh-CN" i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F8E8E8-A171-472C-BDB3-91F28BBE6F40}" type="slidenum">
              <a:rPr lang="en-US" altLang="zh-CN" sz="1200"/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46F8E1-4386-49BF-9A71-D3C5E4A5656E}" type="slidenum">
              <a:rPr lang="en-US" altLang="zh-CN" sz="1200"/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6143A-C525-4DA1-9E41-6CCA690E3AE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DD85AD-9F21-4EE5-A06D-495FBD47945F}" type="slidenum">
              <a:rPr lang="en-US" altLang="zh-CN" sz="1200"/>
            </a:fld>
            <a:endParaRPr lang="en-US" altLang="zh-CN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zh-CN" dirty="0"/>
              <a:t>这里要特别注意区分谓词常项和谓词变项的区别</a:t>
            </a:r>
            <a:endParaRPr lang="zh-CN" altLang="zh-CN" dirty="0"/>
          </a:p>
          <a:p>
            <a:pPr eaLnBrk="1" hangingPunct="1"/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x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i="1" dirty="0">
                <a:sym typeface="+mn-ea"/>
              </a:rPr>
              <a:t>x</a:t>
            </a:r>
            <a:r>
              <a:rPr lang="zh-CN" altLang="en-US" i="1" dirty="0">
                <a:sym typeface="+mn-ea"/>
              </a:rPr>
              <a:t>是人，也是谓词常项，虽然它含有一个个体项</a:t>
            </a:r>
            <a:r>
              <a:rPr lang="en-US" altLang="zh-CN" i="1" dirty="0">
                <a:sym typeface="+mn-ea"/>
              </a:rPr>
              <a:t>x</a:t>
            </a:r>
            <a:r>
              <a:rPr lang="zh-CN" altLang="en-US" i="1" dirty="0">
                <a:sym typeface="+mn-ea"/>
              </a:rPr>
              <a:t>，它是一元谓词。</a:t>
            </a:r>
            <a:endParaRPr lang="zh-CN" altLang="en-US" i="1" dirty="0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6143A-C525-4DA1-9E41-6CCA690E3AE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6143A-C525-4DA1-9E41-6CCA690E3AE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33221AA-735F-4433-974B-1B0F1DDB3500}" type="slidenum">
              <a:rPr lang="en-US" altLang="zh-CN" sz="1200"/>
            </a:fld>
            <a:endParaRPr lang="en-US" altLang="zh-CN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根</a:t>
            </a:r>
            <a:r>
              <a:rPr lang="en-US" altLang="zh-CN" dirty="0"/>
              <a:t>2</a:t>
            </a:r>
            <a:r>
              <a:rPr lang="zh-CN" altLang="en-US" dirty="0"/>
              <a:t>和根</a:t>
            </a:r>
            <a:r>
              <a:rPr lang="en-US" altLang="zh-CN" dirty="0"/>
              <a:t>3</a:t>
            </a:r>
            <a:r>
              <a:rPr lang="zh-CN" altLang="en-US" dirty="0"/>
              <a:t>都是无理数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A82D7D-A607-43D8-B631-510939BDA61A}" type="slidenum">
              <a:rPr lang="en-US" altLang="zh-CN" sz="1200"/>
            </a:fld>
            <a:endParaRPr lang="en-US" altLang="zh-CN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822663-A480-42ED-958E-D66D644B9833}" type="slidenum">
              <a:rPr lang="en-US" altLang="zh-CN" sz="1200"/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873A6F-34BD-47C1-BAA9-F4ECD98FFB39}" type="slidenum">
              <a:rPr lang="en-US" altLang="zh-CN" sz="1200"/>
            </a:fld>
            <a:endParaRPr lang="en-US" altLang="zh-CN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eaLnBrk="1" hangingPunct="1"/>
            <a:r>
              <a:rPr lang="zh-CN" altLang="en-US" dirty="0">
                <a:latin typeface="Times New Roman" panose="02020603050405020304" pitchFamily="18" charset="0"/>
              </a:rPr>
              <a:t> 回看第二章</a:t>
            </a:r>
            <a:r>
              <a:rPr lang="en-US" altLang="zh-CN" dirty="0">
                <a:latin typeface="Times New Roman" panose="02020603050405020304" pitchFamily="18" charset="0"/>
              </a:rPr>
              <a:t>slide6: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r 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不与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latin typeface="Times New Roman" panose="02020603050405020304" pitchFamily="18" charset="0"/>
              </a:rPr>
              <a:t>等值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B1D8DB-9EEC-4100-94F0-1C14E7AB713C}" type="slidenum">
              <a:rPr lang="en-US" altLang="zh-CN" sz="1200"/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9E63C9-F7AF-4DF8-B770-2D2F75D7F042}" type="slidenum">
              <a:rPr lang="en-US" altLang="zh-CN" sz="1200"/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x ( F(x) y(G(y)H(x,y)) 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）</a:t>
            </a: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FBC09A-4DEE-4C7B-BB1B-B06F2818965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6143A-C525-4DA1-9E41-6CCA690E3AE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FB9957-2DF8-40D9-9D92-0ACF59040BDD}" type="slidenum">
              <a:rPr lang="en-US" altLang="zh-CN" sz="1200"/>
            </a:fld>
            <a:endParaRPr lang="en-US" altLang="zh-CN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3B31EBB-116D-422A-9479-C2C027426737}" type="slidenum">
              <a:rPr lang="en-US" altLang="zh-CN" sz="1200"/>
            </a:fld>
            <a:endParaRPr lang="en-US" altLang="zh-CN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15CE7B-43E2-4CF3-AAB4-35D5F6CE83FA}" type="slidenum">
              <a:rPr lang="en-US" altLang="zh-CN" sz="1200"/>
            </a:fld>
            <a:endParaRPr lang="en-US" altLang="zh-CN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4B26FD-DF78-450B-8F56-AC0A3EB34E9A}" type="slidenum">
              <a:rPr lang="en-US" altLang="zh-CN" sz="1200"/>
            </a:fld>
            <a:endParaRPr lang="en-US" altLang="zh-CN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10A7C3-A62D-4597-9CE8-70893B5DC2EE}" type="slidenum">
              <a:rPr lang="en-US" altLang="zh-CN" sz="1200"/>
            </a:fld>
            <a:endParaRPr lang="en-US" altLang="zh-CN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1FF153-3889-4530-9B36-0F210643FB27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26C7DDF-B3F0-43D6-A5E3-A3875672CC47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3076620-B3AD-4082-A9CD-624633EF8831}" type="slidenum">
              <a:rPr lang="en-US" altLang="zh-CN" sz="1200"/>
            </a:fld>
            <a:endParaRPr lang="en-US" altLang="zh-CN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i="1" dirty="0"/>
              <a:t>L</a:t>
            </a:r>
            <a:r>
              <a:rPr lang="zh-CN" altLang="en-US" dirty="0"/>
              <a:t>是一个非逻辑符集合</a:t>
            </a:r>
            <a:endParaRPr lang="en-US" altLang="zh-CN" dirty="0"/>
          </a:p>
          <a:p>
            <a:pPr eaLnBrk="1" hangingPunct="1"/>
            <a:r>
              <a:rPr lang="zh-CN" altLang="en-US" dirty="0"/>
              <a:t>在解释</a:t>
            </a:r>
            <a:r>
              <a:rPr lang="en-US" altLang="zh-CN" dirty="0"/>
              <a:t>I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部分）和</a:t>
            </a:r>
            <a:r>
              <a:rPr lang="en-US" altLang="zh-CN" dirty="0"/>
              <a:t>I</a:t>
            </a:r>
            <a:r>
              <a:rPr lang="zh-CN" altLang="en-US" dirty="0"/>
              <a:t>下的赋值（</a:t>
            </a:r>
            <a:r>
              <a:rPr lang="en-US" altLang="zh-CN" dirty="0"/>
              <a:t>1</a:t>
            </a:r>
            <a:r>
              <a:rPr lang="zh-CN" altLang="en-US" dirty="0"/>
              <a:t>）后，一个公式得到其在</a:t>
            </a:r>
            <a:r>
              <a:rPr lang="en-US" altLang="zh-CN" dirty="0"/>
              <a:t>I</a:t>
            </a:r>
            <a:r>
              <a:rPr lang="zh-CN" altLang="en-US" dirty="0"/>
              <a:t>下的解释。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2B2BB1-E3C6-4D3A-A08D-DAA6B0C15F02}" type="slidenum">
              <a:rPr lang="en-US" altLang="zh-CN" sz="1200"/>
            </a:fld>
            <a:endParaRPr lang="en-US" altLang="zh-CN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2.</a:t>
            </a:r>
            <a:r>
              <a:rPr lang="zh-CN" altLang="en-US" dirty="0"/>
              <a:t>因为</a:t>
            </a:r>
            <a:r>
              <a:rPr lang="en-US" altLang="zh-CN" dirty="0"/>
              <a:t> 3+3/2=3</a:t>
            </a:r>
            <a:r>
              <a:rPr lang="zh-CN" altLang="en-US" dirty="0"/>
              <a:t>*</a:t>
            </a:r>
            <a:r>
              <a:rPr lang="en-US" altLang="zh-CN" dirty="0"/>
              <a:t>3/2</a:t>
            </a:r>
            <a:r>
              <a:rPr lang="zh-CN" altLang="en-US" dirty="0"/>
              <a:t>，但是</a:t>
            </a:r>
            <a:r>
              <a:rPr lang="en-US" altLang="zh-CN" dirty="0"/>
              <a:t>3</a:t>
            </a:r>
            <a:r>
              <a:rPr lang="zh-CN" altLang="en-US" dirty="0"/>
              <a:t>不等于</a:t>
            </a:r>
            <a:r>
              <a:rPr lang="en-US" altLang="zh-CN" dirty="0"/>
              <a:t>3/2</a:t>
            </a:r>
            <a:endParaRPr lang="en-US" altLang="zh-CN" dirty="0"/>
          </a:p>
          <a:p>
            <a:pPr eaLnBrk="1" hangingPunct="1"/>
            <a:r>
              <a:rPr lang="en-US" altLang="zh-CN" dirty="0"/>
              <a:t>3.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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0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=x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)(1=2)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前件为假，所以为真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CF2BE0-9857-4022-A2D7-F217511EBE0E}" type="slidenum">
              <a:rPr lang="en-US" altLang="zh-CN" sz="1200"/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这里的</a:t>
            </a:r>
            <a:r>
              <a:rPr lang="en-US" altLang="zh-CN" dirty="0"/>
              <a:t>【</a:t>
            </a:r>
            <a:r>
              <a:rPr lang="zh-CN" altLang="en-US" dirty="0"/>
              <a:t>解释</a:t>
            </a:r>
            <a:r>
              <a:rPr lang="en-US" altLang="zh-CN" dirty="0"/>
              <a:t>】</a:t>
            </a:r>
            <a:r>
              <a:rPr lang="zh-CN" altLang="en-US" dirty="0"/>
              <a:t>不包括</a:t>
            </a:r>
            <a:r>
              <a:rPr lang="en-US" altLang="zh-CN" dirty="0"/>
              <a:t>【</a:t>
            </a:r>
            <a:r>
              <a:rPr lang="zh-CN" altLang="en-US" dirty="0"/>
              <a:t>赋值</a:t>
            </a:r>
            <a:r>
              <a:rPr lang="en-US" altLang="zh-CN" dirty="0"/>
              <a:t>】</a:t>
            </a:r>
            <a:endParaRPr lang="en-US" altLang="zh-CN" dirty="0"/>
          </a:p>
          <a:p>
            <a:pPr eaLnBrk="1" hangingPunct="1"/>
            <a:r>
              <a:rPr lang="zh-CN" altLang="en-US" dirty="0"/>
              <a:t>注意：因为自由出现的个体变项在不同的赋值下可能为真也可能为假，真值不确定。</a:t>
            </a:r>
            <a:endParaRPr lang="en-US" altLang="zh-CN" dirty="0"/>
          </a:p>
          <a:p>
            <a:pPr eaLnBrk="1" hangingPunct="1"/>
            <a:r>
              <a:rPr lang="en-US" altLang="zh-CN" dirty="0"/>
              <a:t>1.</a:t>
            </a:r>
            <a:r>
              <a:rPr lang="zh-CN" altLang="en-US" dirty="0"/>
              <a:t>因为</a:t>
            </a:r>
            <a:r>
              <a:rPr lang="en-US" altLang="zh-CN" dirty="0"/>
              <a:t>y</a:t>
            </a:r>
            <a:r>
              <a:rPr lang="zh-CN" altLang="en-US" dirty="0"/>
              <a:t>没有赋值，不确定</a:t>
            </a:r>
            <a:endParaRPr lang="en-US" altLang="zh-CN" dirty="0"/>
          </a:p>
          <a:p>
            <a:pPr eaLnBrk="1" hangingPunct="1"/>
            <a:r>
              <a:rPr lang="en-US" altLang="zh-CN" dirty="0"/>
              <a:t>2.</a:t>
            </a:r>
            <a:r>
              <a:rPr lang="zh-CN" altLang="en-US" dirty="0"/>
              <a:t>由于蕴涵的前件为假，所以为真</a:t>
            </a:r>
            <a:endParaRPr lang="en-US" altLang="zh-CN" dirty="0"/>
          </a:p>
          <a:p>
            <a:pPr eaLnBrk="1" hangingPunct="1"/>
            <a:r>
              <a:rPr lang="zh-CN" altLang="en-US" dirty="0"/>
              <a:t>这里</a:t>
            </a:r>
            <a:r>
              <a:rPr lang="en-US" altLang="zh-CN" dirty="0"/>
              <a:t>y</a:t>
            </a:r>
            <a:r>
              <a:rPr lang="zh-CN" altLang="en-US" dirty="0"/>
              <a:t>也没有赋值，但是因为前件恒为假，不用看后件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FC54C5B-1A30-4611-A3F3-727406633D2A}" type="slidenum">
              <a:rPr lang="en-US" altLang="zh-CN" sz="1200"/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1F1E28-A82E-4089-9161-70354BB5B7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克林，美国数理</a:t>
            </a:r>
            <a:r>
              <a:rPr lang="zh-CN" altLang="en-US">
                <a:hlinkClick r:id="rId3"/>
              </a:rPr>
              <a:t>逻辑学</a:t>
            </a:r>
            <a:r>
              <a:rPr lang="zh-CN" altLang="en-US"/>
              <a:t>家</a:t>
            </a:r>
            <a:endParaRPr lang="zh-CN" altLang="en-US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3029ED-AC07-4A6D-BE84-D24B46302F90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92DD33-66F2-46FB-9292-FF6DF90846FF}" type="slidenum">
              <a:rPr lang="en-US" altLang="zh-CN" sz="1200"/>
            </a:fld>
            <a:endParaRPr lang="en-US" altLang="zh-CN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4ACBCD-E3A1-46BA-996B-6CA9268AF143}" type="slidenum">
              <a:rPr lang="en-US" altLang="zh-CN" sz="1200"/>
            </a:fld>
            <a:endParaRPr lang="en-US" altLang="zh-CN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69F7EE-55E7-408E-83F5-8C405F43911C}" type="slidenum">
              <a:rPr lang="en-US" altLang="zh-CN" sz="1200"/>
            </a:fld>
            <a:endParaRPr lang="en-US" altLang="zh-CN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772DC6-A79E-4001-8535-BBB2E184C3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691424-5C8F-452B-A036-F7812A87B1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9795F-8CD8-4BCE-8FFE-3BE138C772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BD6609-F0D1-4988-9AB2-F76E15EAD7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DF66B-741E-4AEF-841A-57D2975454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88B26-00D6-4815-B211-B839704E59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6B463-CC88-4E34-A894-A05B2BFDBE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65CB33-734F-4E47-AE1F-932C4556C1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96F4CA-23B2-47E4-AEBE-BCBA4DEDEE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51CEAC-3FF6-4C85-92FD-8777F14EF38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B11CD9-5B55-4F83-B72C-665A5672B3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85333F-307A-43EE-B7C1-7C7BD7F8782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B2B72A-02C0-45A8-89E9-94A3AF36C1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2332FD-7EF0-4F64-8D80-90D6F46856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11138"/>
            <a:ext cx="7391400" cy="6842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050925" y="1447800"/>
            <a:ext cx="7026275" cy="46942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D0904A1-3F56-4B5E-BCCC-08E67599FC0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90BC96B4-0261-4385-B967-2E211480686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j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oleObject" Target="../embeddings/oleObject6.bin"/><Relationship Id="rId7" Type="http://schemas.openxmlformats.org/officeDocument/2006/relationships/oleObject" Target="../embeddings/oleObject5.bin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1" Type="http://schemas.openxmlformats.org/officeDocument/2006/relationships/notesSlide" Target="../notesSlides/notesSlide10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7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emf"/><Relationship Id="rId1" Type="http://schemas.openxmlformats.org/officeDocument/2006/relationships/oleObject" Target="../embeddings/oleObject8.bin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0.bin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2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4.wmf"/><Relationship Id="rId18" Type="http://schemas.openxmlformats.org/officeDocument/2006/relationships/notesSlide" Target="../notesSlides/notesSlide27.xml"/><Relationship Id="rId17" Type="http://schemas.openxmlformats.org/officeDocument/2006/relationships/vmlDrawing" Target="../drawings/vmlDrawing6.vml"/><Relationship Id="rId16" Type="http://schemas.openxmlformats.org/officeDocument/2006/relationships/slideLayout" Target="../slideLayouts/slideLayout13.xml"/><Relationship Id="rId15" Type="http://schemas.openxmlformats.org/officeDocument/2006/relationships/oleObject" Target="../embeddings/oleObject22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21.bin"/><Relationship Id="rId12" Type="http://schemas.openxmlformats.org/officeDocument/2006/relationships/oleObject" Target="../embeddings/oleObject20.bin"/><Relationship Id="rId11" Type="http://schemas.openxmlformats.org/officeDocument/2006/relationships/image" Target="../media/image18.wmf"/><Relationship Id="rId10" Type="http://schemas.openxmlformats.org/officeDocument/2006/relationships/oleObject" Target="../embeddings/oleObject19.bin"/><Relationship Id="rId1" Type="http://schemas.openxmlformats.org/officeDocument/2006/relationships/oleObject" Target="../embeddings/oleObject14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23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hyperlink" Target="http://baike.baidu.com/image/566d0fdf66e5cf006327983a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tags" Target="../tags/tag2.xml"/><Relationship Id="rId2" Type="http://schemas.openxmlformats.org/officeDocument/2006/relationships/image" Target="../media/image24.png"/><Relationship Id="rId1" Type="http://schemas.openxmlformats.org/officeDocument/2006/relationships/tags" Target="../tags/tag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3EB5BC-DBBD-472B-9E77-A8FD068B36D9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3730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宋体" panose="02010600030101010101" pitchFamily="2" charset="-122"/>
              </a:rPr>
              <a:t>第一部分 数理逻辑</a:t>
            </a:r>
            <a:endParaRPr lang="zh-CN" altLang="en-US">
              <a:latin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5695"/>
          <a:stretch>
            <a:fillRect/>
          </a:stretch>
        </p:blipFill>
        <p:spPr>
          <a:xfrm>
            <a:off x="457200" y="1197842"/>
            <a:ext cx="8020050" cy="53086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39752" y="4558949"/>
            <a:ext cx="4824536" cy="670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0CBA178B-B1FA-4F35-9E4D-806D33D94EEB}" type="slidenum">
              <a:rPr lang="zh-CN" altLang="en-US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147050" cy="41148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在命题逻辑中，把命题分解到原子命题为止，认为原子命题是不能再分解的，仅仅研究以原子命题为基本单位的复合命题之间的逻辑关系和推理。</a:t>
            </a:r>
            <a:endParaRPr lang="zh-CN" altLang="en-US"/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这样，有些推理用命题逻辑就难以确切地表示出来。例如，著名的苏格拉底三段论。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/>
              <a:t>苏格拉底三段论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58888" y="4157663"/>
            <a:ext cx="5386387" cy="1446212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所有的人都是要死的，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苏格拉底是人，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所以苏格拉底是要死的。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39" grpId="0" build="p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409AF651-2E11-435A-B0A0-3E6BED62E375}" type="slidenum">
              <a:rPr lang="zh-CN" altLang="en-US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85838" y="3321050"/>
            <a:ext cx="7402512" cy="2668588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根据常识，认为这个推理是正确的。但是，若用命题逻辑来表示，设 </a:t>
            </a:r>
            <a:r>
              <a:rPr lang="en-US" altLang="zh-CN" i="1"/>
              <a:t>p</a:t>
            </a:r>
            <a:r>
              <a:rPr lang="en-US" altLang="zh-CN"/>
              <a:t>, </a:t>
            </a:r>
            <a:r>
              <a:rPr lang="en-US" altLang="zh-CN" i="1"/>
              <a:t>q</a:t>
            </a:r>
            <a:r>
              <a:rPr lang="zh-CN" altLang="en-US"/>
              <a:t>和</a:t>
            </a:r>
            <a:r>
              <a:rPr lang="en-US" altLang="zh-CN" i="1"/>
              <a:t>r</a:t>
            </a:r>
            <a:r>
              <a:rPr lang="zh-CN" altLang="en-US"/>
              <a:t>分别表示这三个原子命题，则有</a:t>
            </a:r>
            <a:r>
              <a:rPr lang="en-US" altLang="zh-CN" i="1"/>
              <a:t>p</a:t>
            </a:r>
            <a:r>
              <a:rPr lang="en-US" altLang="zh-CN"/>
              <a:t>, </a:t>
            </a:r>
            <a:r>
              <a:rPr lang="en-US" altLang="zh-CN" i="1"/>
              <a:t>q 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i="1"/>
              <a:t> r</a:t>
            </a:r>
            <a:endParaRPr lang="en-US" altLang="zh-CN" i="1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然而，</a:t>
            </a:r>
            <a:r>
              <a:rPr lang="en-US" altLang="zh-CN"/>
              <a:t>(</a:t>
            </a:r>
            <a:r>
              <a:rPr lang="en-US" altLang="zh-CN" i="1"/>
              <a:t>p</a:t>
            </a:r>
            <a:r>
              <a:rPr lang="en-US" altLang="zh-CN">
                <a:sym typeface="Symbol" panose="05050102010706020507" pitchFamily="18" charset="2"/>
              </a:rPr>
              <a:t> </a:t>
            </a:r>
            <a:r>
              <a:rPr lang="en-US" altLang="zh-CN"/>
              <a:t> </a:t>
            </a:r>
            <a:r>
              <a:rPr lang="en-US" altLang="zh-CN" i="1"/>
              <a:t>q</a:t>
            </a:r>
            <a:r>
              <a:rPr lang="en-US" altLang="zh-CN"/>
              <a:t>)→</a:t>
            </a:r>
            <a:r>
              <a:rPr lang="en-US" altLang="zh-CN" i="1"/>
              <a:t> r</a:t>
            </a:r>
            <a:r>
              <a:rPr lang="zh-CN" altLang="en-US"/>
              <a:t>并不是永真式，故上述推理形式是错误的。</a:t>
            </a:r>
            <a:endParaRPr lang="en-US" altLang="zh-CN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苏格拉底三段论</a:t>
            </a:r>
            <a:endParaRPr lang="zh-CN" altLang="en-US"/>
          </a:p>
        </p:txBody>
      </p:sp>
      <p:sp>
        <p:nvSpPr>
          <p:cNvPr id="680964" name="Rectangle 4"/>
          <p:cNvSpPr>
            <a:spLocks noChangeArrowheads="1"/>
          </p:cNvSpPr>
          <p:nvPr/>
        </p:nvSpPr>
        <p:spPr bwMode="auto">
          <a:xfrm>
            <a:off x="1546225" y="1381125"/>
            <a:ext cx="5386388" cy="1446213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所有的人都是要死的，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苏格拉底是人，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所以苏格拉底是要死的。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2" grpId="0" build="p"/>
      <p:bldP spid="6809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000009-63B9-465B-AEB7-C6916667D532}" type="slidenum">
              <a:rPr lang="zh-CN" altLang="en-US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5059" name="Rectangle 2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228600" indent="-228600" algn="ctr" eaLnBrk="1" fontAlgn="ctr" hangingPunct="1">
              <a:defRPr/>
            </a:pPr>
            <a:r>
              <a:rPr lang="en-US" altLang="zh-CN" dirty="0">
                <a:latin typeface="+mn-lt"/>
              </a:rPr>
              <a:t>(</a:t>
            </a:r>
            <a:r>
              <a:rPr lang="en-US" altLang="zh-CN" i="1" dirty="0">
                <a:latin typeface="+mn-lt"/>
              </a:rPr>
              <a:t>p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 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i="1" dirty="0">
                <a:latin typeface="+mn-lt"/>
              </a:rPr>
              <a:t>q</a:t>
            </a:r>
            <a:r>
              <a:rPr lang="en-US" altLang="zh-CN" dirty="0">
                <a:latin typeface="+mn-lt"/>
              </a:rPr>
              <a:t>)→</a:t>
            </a:r>
            <a:r>
              <a:rPr lang="en-US" altLang="zh-CN" i="1" dirty="0">
                <a:latin typeface="+mn-lt"/>
              </a:rPr>
              <a:t> r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782638" name="Group 302"/>
          <p:cNvGraphicFramePr>
            <a:graphicFrameLocks noGrp="1"/>
          </p:cNvGraphicFramePr>
          <p:nvPr>
            <p:ph idx="1"/>
          </p:nvPr>
        </p:nvGraphicFramePr>
        <p:xfrm>
          <a:off x="1050925" y="1314450"/>
          <a:ext cx="7026275" cy="4964122"/>
        </p:xfrm>
        <a:graphic>
          <a:graphicData uri="http://schemas.openxmlformats.org/drawingml/2006/table">
            <a:tbl>
              <a:tblPr/>
              <a:tblGrid>
                <a:gridCol w="1190625"/>
                <a:gridCol w="1192213"/>
                <a:gridCol w="1190625"/>
                <a:gridCol w="1192212"/>
                <a:gridCol w="2260600"/>
              </a:tblGrid>
              <a:tr h="818970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/>
                        <a:t>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</a:rPr>
                        <a:t>r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/>
                        <a:t>p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US" altLang="zh-CN" sz="2800" b="1" dirty="0"/>
                        <a:t> 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dirty="0"/>
                        <a:t>(</a:t>
                      </a:r>
                      <a:r>
                        <a:rPr lang="en-US" altLang="zh-CN" sz="2800" b="1" i="1" dirty="0"/>
                        <a:t>p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</a:t>
                      </a:r>
                      <a:r>
                        <a:rPr lang="en-US" altLang="zh-CN" sz="2800" b="1" dirty="0"/>
                        <a:t> 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800" b="1" dirty="0"/>
                        <a:t>)→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</a:rPr>
                        <a:t> r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3"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E12F3AE8-F742-49A0-8682-577248AFC937}" type="slidenum">
              <a:rPr lang="zh-CN" altLang="en-US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8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285875"/>
            <a:ext cx="7993062" cy="4646613"/>
          </a:xfrm>
        </p:spPr>
        <p:txBody>
          <a:bodyPr/>
          <a:lstStyle/>
          <a:p>
            <a:pPr algn="just" eaLnBrk="1" hangingPunct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一个推理，得出矛盾的结论，问题在哪里呢</a:t>
            </a:r>
            <a:r>
              <a:rPr lang="en-US" altLang="zh-CN" dirty="0"/>
              <a:t>? </a:t>
            </a:r>
            <a:r>
              <a:rPr lang="zh-CN" altLang="en-US" dirty="0"/>
              <a:t>问题就在于这类推理中，各命题之间的逻辑关系不是体现在原子命题之间，而是体现在构成原子命题的内部成分之间，即体现在命题结构的更深层次上。</a:t>
            </a:r>
            <a:endParaRPr lang="zh-CN" altLang="en-US" dirty="0"/>
          </a:p>
          <a:p>
            <a:pPr algn="just" eaLnBrk="1" hangingPunct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对此，命题逻辑是无能为力的。所以，在研究某些推理时，有必要对原子命题作进一步分析，分析出其中的个体（或客体）词，谓词和量词，研究它们的形式结构的逻辑关系、正确的推理形式和规则，我们将基于谓词分析的逻辑称为一阶逻辑（谓词逻辑）。</a:t>
            </a:r>
            <a:endParaRPr lang="zh-CN" altLang="en-US" dirty="0"/>
          </a:p>
          <a:p>
            <a:pPr marL="457200" indent="-457200" algn="just" eaLnBrk="1" hangingPunct="1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一阶逻辑（谓词逻辑）</a:t>
            </a:r>
            <a:r>
              <a:rPr kumimoji="1" lang="zh-CN" altLang="en-US" sz="2600" dirty="0">
                <a:solidFill>
                  <a:srgbClr val="FF0000"/>
                </a:solidFill>
              </a:rPr>
              <a:t>是命题逻辑的扩充和发展。</a:t>
            </a:r>
            <a:endParaRPr kumimoji="1" lang="zh-CN" altLang="en-US" sz="2600" dirty="0">
              <a:solidFill>
                <a:srgbClr val="FF0000"/>
              </a:solidFill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原因？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8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07D7CD-E0D6-4C83-912B-29B109FE3C2F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4.1</a:t>
            </a:r>
            <a:r>
              <a:rPr lang="zh-CN" altLang="en-US">
                <a:solidFill>
                  <a:srgbClr val="FF0000"/>
                </a:solidFill>
              </a:rPr>
              <a:t>一阶逻辑命题符号化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/>
            <a:r>
              <a:rPr lang="zh-CN" altLang="en-US">
                <a:solidFill>
                  <a:srgbClr val="FF0000"/>
                </a:solidFill>
              </a:rPr>
              <a:t>     个体词、谓词、量词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/>
            <a:r>
              <a:rPr lang="zh-CN" altLang="en-US">
                <a:solidFill>
                  <a:srgbClr val="FF0000"/>
                </a:solidFill>
              </a:rPr>
              <a:t>     一阶逻辑命题符号化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4.2</a:t>
            </a:r>
            <a:r>
              <a:rPr lang="zh-CN" altLang="en-US"/>
              <a:t>一阶逻辑公式及其解释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一阶语言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合式公式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合式公式的解释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永真式、矛盾式、可满足式</a:t>
            </a:r>
            <a:endParaRPr lang="zh-CN" alt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第四章 一阶逻辑基本概念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6E0C23-ACFF-4D81-B285-92CB2D69EBCC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</a:t>
            </a:r>
            <a:r>
              <a:rPr lang="zh-CN" altLang="en-US"/>
              <a:t>一阶逻辑命题符号化</a:t>
            </a:r>
            <a:endParaRPr lang="zh-CN" altLang="en-US"/>
          </a:p>
        </p:txBody>
      </p:sp>
      <p:sp>
        <p:nvSpPr>
          <p:cNvPr id="407555" name="Text Box 3"/>
          <p:cNvSpPr txBox="1">
            <a:spLocks noChangeArrowheads="1"/>
          </p:cNvSpPr>
          <p:nvPr/>
        </p:nvSpPr>
        <p:spPr bwMode="auto">
          <a:xfrm>
            <a:off x="228600" y="1976438"/>
            <a:ext cx="762000" cy="253047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原子命题</a:t>
            </a:r>
            <a:endParaRPr kumimoji="1" lang="zh-CN" altLang="en-US" sz="40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7556" name="Rectangle 4"/>
          <p:cNvSpPr>
            <a:spLocks noChangeArrowheads="1"/>
          </p:cNvSpPr>
          <p:nvPr/>
        </p:nvSpPr>
        <p:spPr bwMode="auto">
          <a:xfrm>
            <a:off x="1600200" y="1585913"/>
            <a:ext cx="1387475" cy="70167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客体</a:t>
            </a:r>
            <a:endParaRPr kumimoji="1" lang="zh-CN" altLang="en-US" sz="40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7557" name="Rectangle 5"/>
          <p:cNvSpPr>
            <a:spLocks noChangeArrowheads="1"/>
          </p:cNvSpPr>
          <p:nvPr/>
        </p:nvSpPr>
        <p:spPr bwMode="auto">
          <a:xfrm>
            <a:off x="1609725" y="4100513"/>
            <a:ext cx="1449388" cy="70167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谓词</a:t>
            </a:r>
            <a:endParaRPr kumimoji="1" lang="zh-CN" altLang="en-US" sz="40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7558" name="Rectangle 6"/>
          <p:cNvSpPr>
            <a:spLocks noChangeArrowheads="1"/>
          </p:cNvSpPr>
          <p:nvPr/>
        </p:nvSpPr>
        <p:spPr bwMode="auto">
          <a:xfrm>
            <a:off x="2971800" y="1400175"/>
            <a:ext cx="61214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不依人们主观而存在的客观实体</a:t>
            </a:r>
            <a:r>
              <a:rPr kumimoji="1" lang="en-US" altLang="zh-CN" sz="3600" b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可以是具体事物或抽象概念</a:t>
            </a:r>
            <a:r>
              <a:rPr kumimoji="1" lang="en-US" altLang="zh-CN" sz="3600" b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通常用</a:t>
            </a:r>
            <a:r>
              <a:rPr kumimoji="1" lang="zh-CN" altLang="en-US" sz="360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小写</a:t>
            </a: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字母表示</a:t>
            </a:r>
            <a:r>
              <a:rPr kumimoji="1" lang="en-US" altLang="zh-CN" sz="3600" b="0"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endParaRPr kumimoji="1" lang="en-US" altLang="zh-CN" sz="3600" b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7559" name="Rectangle 7"/>
          <p:cNvSpPr>
            <a:spLocks noChangeArrowheads="1"/>
          </p:cNvSpPr>
          <p:nvPr/>
        </p:nvSpPr>
        <p:spPr bwMode="auto">
          <a:xfrm>
            <a:off x="3048000" y="3962400"/>
            <a:ext cx="5791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描述客体的性质、特征</a:t>
            </a:r>
            <a:r>
              <a:rPr kumimoji="1" lang="en-US" altLang="zh-CN" sz="3600" b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或客体间的关系的词</a:t>
            </a:r>
            <a:r>
              <a:rPr kumimoji="1" lang="en-US" altLang="zh-CN" sz="3600" b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通常用</a:t>
            </a:r>
            <a:r>
              <a:rPr kumimoji="1" lang="zh-CN" altLang="en-US" sz="360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大写</a:t>
            </a:r>
            <a:r>
              <a:rPr kumimoji="1" lang="zh-CN" altLang="en-US" sz="3600" b="0">
                <a:latin typeface="隶书" panose="02010509060101010101" pitchFamily="49" charset="-122"/>
                <a:ea typeface="隶书" panose="02010509060101010101" pitchFamily="49" charset="-122"/>
              </a:rPr>
              <a:t>字母表示</a:t>
            </a:r>
            <a:r>
              <a:rPr kumimoji="1" lang="en-US" altLang="zh-CN" sz="3600" b="0"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endParaRPr kumimoji="1" lang="en-US" altLang="zh-CN" sz="3600" b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990600" y="2281238"/>
            <a:ext cx="609600" cy="1828800"/>
            <a:chOff x="624" y="960"/>
            <a:chExt cx="384" cy="1152"/>
          </a:xfrm>
        </p:grpSpPr>
        <p:sp>
          <p:nvSpPr>
            <p:cNvPr id="16394" name="Line 9"/>
            <p:cNvSpPr>
              <a:spLocks noChangeShapeType="1"/>
            </p:cNvSpPr>
            <p:nvPr/>
          </p:nvSpPr>
          <p:spPr bwMode="auto">
            <a:xfrm flipH="1">
              <a:off x="624" y="960"/>
              <a:ext cx="384" cy="57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Line 10"/>
            <p:cNvSpPr>
              <a:spLocks noChangeShapeType="1"/>
            </p:cNvSpPr>
            <p:nvPr/>
          </p:nvSpPr>
          <p:spPr bwMode="auto">
            <a:xfrm flipH="1" flipV="1">
              <a:off x="624" y="1536"/>
              <a:ext cx="384" cy="57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4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animBg="1" autoUpdateAnimBg="0"/>
      <p:bldP spid="407556" grpId="0" animBg="1" autoUpdateAnimBg="0"/>
      <p:bldP spid="407557" grpId="0" animBg="1" autoUpdateAnimBg="0"/>
      <p:bldP spid="407558" grpId="0" autoUpdateAnimBg="0"/>
      <p:bldP spid="4075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7D8E25-1777-4561-A9B0-78039CF4301F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在命题逻辑中，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p</a:t>
            </a:r>
            <a:r>
              <a:rPr lang="zh-CN" altLang="en-US"/>
              <a:t>： “张三是个大学生”，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q</a:t>
            </a:r>
            <a:r>
              <a:rPr lang="zh-CN" altLang="en-US"/>
              <a:t>： “李四是个大学生”。</a:t>
            </a:r>
            <a:endParaRPr lang="zh-CN" altLang="en-US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/>
              <a:t>在谓词逻辑中，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A</a:t>
            </a:r>
            <a:r>
              <a:rPr lang="zh-CN" altLang="en-US"/>
              <a:t>： “是个大学生”，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c</a:t>
            </a:r>
            <a:r>
              <a:rPr lang="zh-CN" altLang="en-US"/>
              <a:t>： “张三”，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e</a:t>
            </a:r>
            <a:r>
              <a:rPr lang="zh-CN" altLang="en-US"/>
              <a:t>： “李四”，则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A(c)</a:t>
            </a:r>
            <a:r>
              <a:rPr lang="zh-CN" altLang="en-US"/>
              <a:t>： “张三是个大学生”，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A(e)</a:t>
            </a:r>
            <a:r>
              <a:rPr lang="zh-CN" altLang="en-US"/>
              <a:t>： “李四是个大学生”。</a:t>
            </a:r>
            <a:endParaRPr lang="zh-CN" altLang="en-US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A4E235-AC1A-41FB-A480-89E719204E0A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4.1 </a:t>
            </a:r>
            <a:r>
              <a:rPr lang="zh-CN" altLang="en-US"/>
              <a:t>一阶逻辑命题符号化</a:t>
            </a:r>
            <a:r>
              <a:rPr lang="zh-CN" altLang="en-US" sz="2800"/>
              <a:t> </a:t>
            </a:r>
            <a:endParaRPr lang="zh-CN" altLang="en-US" sz="280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640762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A50021"/>
                </a:solidFill>
              </a:rPr>
              <a:t>个体词</a:t>
            </a:r>
            <a:r>
              <a:rPr lang="en-US" altLang="zh-CN" dirty="0">
                <a:solidFill>
                  <a:srgbClr val="A50021"/>
                </a:solidFill>
              </a:rPr>
              <a:t> </a:t>
            </a:r>
            <a:r>
              <a:rPr lang="en-US" altLang="zh-CN" dirty="0"/>
              <a:t>— </a:t>
            </a:r>
            <a:r>
              <a:rPr lang="zh-CN" altLang="en-US" dirty="0"/>
              <a:t>所研究对象中可以独立存在的具体或抽象的客体</a:t>
            </a:r>
            <a:endParaRPr lang="zh-CN" altLang="en-US" dirty="0"/>
          </a:p>
          <a:p>
            <a:pPr marL="898525" indent="-898525" eaLnBrk="1" hangingPunct="1">
              <a:defRPr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A50021"/>
                </a:solidFill>
              </a:rPr>
              <a:t>个体常项</a:t>
            </a:r>
            <a:r>
              <a:rPr lang="zh-CN" altLang="en-US" dirty="0"/>
              <a:t>：具体的事务，用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zh-CN" altLang="en-US" dirty="0"/>
              <a:t>表示</a:t>
            </a:r>
            <a:endParaRPr lang="zh-CN" altLang="en-US" dirty="0"/>
          </a:p>
          <a:p>
            <a:pPr marL="898525" indent="-898525" eaLnBrk="1" hangingPunct="1">
              <a:defRPr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A50021"/>
                </a:solidFill>
              </a:rPr>
              <a:t>个体变项</a:t>
            </a:r>
            <a:r>
              <a:rPr lang="zh-CN" altLang="en-US" dirty="0"/>
              <a:t>：抽象的事物，用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zh-CN" altLang="en-US" dirty="0"/>
              <a:t>表示</a:t>
            </a:r>
            <a:endParaRPr lang="zh-CN" altLang="en-US" dirty="0"/>
          </a:p>
          <a:p>
            <a:pPr marL="898525" indent="-898525" eaLnBrk="1" hangingPunct="1">
              <a:defRPr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A50021"/>
                </a:solidFill>
              </a:rPr>
              <a:t>个体域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A50021"/>
                </a:solidFill>
              </a:rPr>
              <a:t>论域</a:t>
            </a:r>
            <a:r>
              <a:rPr lang="en-US" altLang="zh-CN" dirty="0"/>
              <a:t>) — </a:t>
            </a:r>
            <a:r>
              <a:rPr lang="zh-CN" altLang="en-US" dirty="0"/>
              <a:t>个体变项的取值范围</a:t>
            </a:r>
            <a:endParaRPr lang="zh-CN" altLang="en-US" dirty="0"/>
          </a:p>
          <a:p>
            <a:pPr marL="898525" indent="-898525" eaLnBrk="1" hangingPunct="1">
              <a:defRPr/>
            </a:pPr>
            <a:r>
              <a:rPr lang="zh-CN" altLang="en-US" dirty="0"/>
              <a:t>         有限个体域，如 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}, {1, 2}</a:t>
            </a:r>
            <a:endParaRPr lang="en-US" altLang="zh-CN" dirty="0"/>
          </a:p>
          <a:p>
            <a:pPr marL="898525" indent="-898525" eaLnBrk="1" hangingPunct="1">
              <a:defRPr/>
            </a:pPr>
            <a:r>
              <a:rPr lang="en-US" altLang="zh-CN" dirty="0"/>
              <a:t>         </a:t>
            </a:r>
            <a:r>
              <a:rPr lang="zh-CN" altLang="en-US" dirty="0"/>
              <a:t>无限个体域，如 </a:t>
            </a:r>
            <a:r>
              <a:rPr lang="en-US" altLang="zh-CN" dirty="0"/>
              <a:t>N, Z, R, …</a:t>
            </a:r>
            <a:endParaRPr lang="en-US" altLang="zh-CN" dirty="0"/>
          </a:p>
          <a:p>
            <a:pPr marL="898525" indent="-898525" eaLnBrk="1" hangingPunct="1">
              <a:defRPr/>
            </a:pPr>
            <a:r>
              <a:rPr lang="en-US" altLang="zh-CN" dirty="0"/>
              <a:t>         </a:t>
            </a:r>
            <a:r>
              <a:rPr lang="zh-CN" altLang="en-US" dirty="0"/>
              <a:t>全总个体域</a:t>
            </a:r>
            <a:r>
              <a:rPr lang="en-US" altLang="zh-CN" dirty="0"/>
              <a:t>——</a:t>
            </a:r>
            <a:r>
              <a:rPr lang="zh-CN" altLang="en-US" dirty="0"/>
              <a:t>由宇宙间一切事物组成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485B55-0094-4FE2-AFE6-7E4908B9F2E4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个体域</a:t>
            </a:r>
            <a:endParaRPr lang="zh-CN" altLang="en-US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设 </a:t>
            </a:r>
            <a:r>
              <a:rPr kumimoji="1" lang="en-US" altLang="zh-CN" i="1" dirty="0"/>
              <a:t>R</a:t>
            </a:r>
            <a:r>
              <a:rPr kumimoji="1" lang="en-US" altLang="zh-CN" dirty="0"/>
              <a:t>(</a:t>
            </a:r>
            <a:r>
              <a:rPr kumimoji="1" lang="en-US" altLang="zh-CN" i="1" dirty="0"/>
              <a:t>x</a:t>
            </a:r>
            <a:r>
              <a:rPr kumimoji="1" lang="en-US" altLang="zh-CN" dirty="0"/>
              <a:t>) </a:t>
            </a:r>
            <a:r>
              <a:rPr kumimoji="1" lang="zh-CN" altLang="en-US" dirty="0"/>
              <a:t>：“ </a:t>
            </a:r>
            <a:r>
              <a:rPr kumimoji="1" lang="en-US" altLang="zh-CN" i="1" dirty="0"/>
              <a:t>x</a:t>
            </a:r>
            <a:r>
              <a:rPr kumimoji="1" lang="en-US" altLang="zh-CN" dirty="0"/>
              <a:t> </a:t>
            </a:r>
            <a:r>
              <a:rPr kumimoji="1" lang="zh-CN" altLang="en-US" dirty="0"/>
              <a:t>是大学生”，</a:t>
            </a:r>
            <a:endParaRPr kumimoji="1" lang="zh-CN" altLang="en-US" dirty="0"/>
          </a:p>
          <a:p>
            <a:pPr eaLnBrk="1" hangingPunct="1"/>
            <a:r>
              <a:rPr kumimoji="1" lang="zh-CN" altLang="en-US" dirty="0"/>
              <a:t>如果 </a:t>
            </a:r>
            <a:r>
              <a:rPr kumimoji="1" lang="en-US" altLang="zh-CN" i="1" dirty="0"/>
              <a:t>x</a:t>
            </a:r>
            <a:r>
              <a:rPr kumimoji="1" lang="en-US" altLang="zh-CN" dirty="0"/>
              <a:t> </a:t>
            </a:r>
            <a:r>
              <a:rPr kumimoji="1" lang="zh-CN" altLang="en-US" dirty="0"/>
              <a:t>的个体域为：</a:t>
            </a:r>
            <a:endParaRPr kumimoji="1" lang="zh-CN" altLang="en-US" dirty="0"/>
          </a:p>
          <a:p>
            <a:pPr lvl="1" eaLnBrk="1" hangingPunct="1"/>
            <a:r>
              <a:rPr kumimoji="1" lang="zh-CN" altLang="en-US" dirty="0"/>
              <a:t>“某大学里的学生”，则 </a:t>
            </a:r>
            <a:r>
              <a:rPr kumimoji="1" lang="en-US" altLang="zh-CN" sz="2400" b="1" i="1" dirty="0">
                <a:latin typeface="+mn-lt"/>
                <a:ea typeface="+mn-ea"/>
              </a:rPr>
              <a:t>R</a:t>
            </a:r>
            <a:r>
              <a:rPr kumimoji="1" lang="en-US" altLang="zh-CN" sz="2400" b="1" dirty="0">
                <a:latin typeface="+mn-lt"/>
                <a:ea typeface="+mn-ea"/>
              </a:rPr>
              <a:t>(</a:t>
            </a:r>
            <a:r>
              <a:rPr kumimoji="1" lang="en-US" altLang="zh-CN" sz="2400" b="1" i="1" dirty="0">
                <a:latin typeface="+mn-lt"/>
                <a:ea typeface="+mn-ea"/>
              </a:rPr>
              <a:t>x</a:t>
            </a:r>
            <a:r>
              <a:rPr kumimoji="1" lang="en-US" altLang="zh-CN" sz="2400" b="1" dirty="0">
                <a:latin typeface="+mn-lt"/>
                <a:ea typeface="+mn-ea"/>
              </a:rPr>
              <a:t>)  </a:t>
            </a:r>
            <a:r>
              <a:rPr kumimoji="1" lang="zh-CN" altLang="en-US" dirty="0"/>
              <a:t>是永真式。</a:t>
            </a:r>
            <a:endParaRPr kumimoji="1" lang="zh-CN" altLang="en-US" dirty="0"/>
          </a:p>
          <a:p>
            <a:pPr lvl="1" eaLnBrk="1" hangingPunct="1"/>
            <a:r>
              <a:rPr kumimoji="1" lang="zh-CN" altLang="en-US" dirty="0"/>
              <a:t>“某单位里的职工”，则 </a:t>
            </a:r>
            <a:r>
              <a:rPr kumimoji="1" lang="en-US" altLang="zh-CN" sz="2400" b="1" i="1" dirty="0">
                <a:latin typeface="+mn-lt"/>
                <a:ea typeface="+mn-ea"/>
              </a:rPr>
              <a:t>R</a:t>
            </a:r>
            <a:r>
              <a:rPr kumimoji="1" lang="en-US" altLang="zh-CN" sz="2400" b="1" dirty="0">
                <a:latin typeface="+mn-lt"/>
                <a:ea typeface="+mn-ea"/>
              </a:rPr>
              <a:t>(</a:t>
            </a:r>
            <a:r>
              <a:rPr kumimoji="1" lang="en-US" altLang="zh-CN" sz="2400" b="1" i="1" dirty="0">
                <a:latin typeface="+mn-lt"/>
                <a:ea typeface="+mn-ea"/>
              </a:rPr>
              <a:t>x</a:t>
            </a:r>
            <a:r>
              <a:rPr kumimoji="1" lang="en-US" altLang="zh-CN" sz="2400" b="1" dirty="0">
                <a:latin typeface="+mn-lt"/>
                <a:ea typeface="+mn-ea"/>
              </a:rPr>
              <a:t>)</a:t>
            </a:r>
            <a:r>
              <a:rPr kumimoji="1" lang="en-US" altLang="zh-CN" dirty="0"/>
              <a:t> </a:t>
            </a:r>
            <a:r>
              <a:rPr kumimoji="1" lang="zh-CN" altLang="en-US" dirty="0"/>
              <a:t>对一些人为真，对另一些人为假。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0E0965-667E-4957-97FC-8A5D7FCB49AE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谓词</a:t>
            </a:r>
            <a:endParaRPr lang="zh-CN" altLang="en-US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975" cy="4924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A50021"/>
                </a:solidFill>
              </a:rPr>
              <a:t>谓词</a:t>
            </a:r>
            <a:r>
              <a:rPr lang="en-US" altLang="zh-CN" dirty="0"/>
              <a:t>——</a:t>
            </a:r>
            <a:r>
              <a:rPr lang="zh-CN" altLang="en-US" dirty="0"/>
              <a:t>表示个体词性质或相互之间关系的词</a:t>
            </a:r>
            <a:endParaRPr lang="zh-CN" altLang="en-US" dirty="0"/>
          </a:p>
          <a:p>
            <a:pPr marL="457200" indent="-457200" eaLnBrk="1" hangingPunct="1">
              <a:defRPr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A50021"/>
                </a:solidFill>
              </a:rPr>
              <a:t>谓词常项</a:t>
            </a:r>
            <a:r>
              <a:rPr lang="zh-CN" altLang="en-US" dirty="0"/>
              <a:t>    如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i="1" dirty="0"/>
              <a:t>a</a:t>
            </a:r>
            <a:r>
              <a:rPr lang="zh-CN" altLang="en-US" dirty="0"/>
              <a:t>是人</a:t>
            </a:r>
            <a:endParaRPr lang="zh-CN" altLang="en-US" dirty="0"/>
          </a:p>
          <a:p>
            <a:pPr marL="457200" indent="-457200" eaLnBrk="1" hangingPunct="1">
              <a:defRPr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A50021"/>
                </a:solidFill>
              </a:rPr>
              <a:t>谓词变项</a:t>
            </a:r>
            <a:r>
              <a:rPr lang="zh-CN" altLang="en-US" dirty="0"/>
              <a:t>    如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i="1" dirty="0"/>
              <a:t>x</a:t>
            </a:r>
            <a:r>
              <a:rPr lang="zh-CN" altLang="en-US" dirty="0"/>
              <a:t>具有性质</a:t>
            </a:r>
            <a:r>
              <a:rPr lang="en-US" altLang="zh-CN" i="1" dirty="0"/>
              <a:t>F</a:t>
            </a:r>
            <a:endParaRPr lang="en-US" altLang="zh-CN" i="1" dirty="0"/>
          </a:p>
          <a:p>
            <a:pPr marL="457200" indent="-457200" eaLnBrk="1" hangingPunct="1">
              <a:buFont typeface="Wingdings" panose="05000000000000000000" pitchFamily="2" charset="2"/>
              <a:buChar char="l"/>
              <a:defRPr/>
            </a:pPr>
            <a:r>
              <a:rPr lang="en-US" altLang="zh-CN" dirty="0"/>
              <a:t> </a:t>
            </a:r>
            <a:r>
              <a:rPr lang="en-US" altLang="zh-CN" i="1" dirty="0"/>
              <a:t>n</a:t>
            </a:r>
            <a:r>
              <a:rPr lang="zh-CN" altLang="en-US" dirty="0"/>
              <a:t>（</a:t>
            </a:r>
            <a:r>
              <a:rPr lang="en-US" altLang="zh-CN" i="1" dirty="0"/>
              <a:t>n </a:t>
            </a:r>
            <a:r>
              <a:rPr lang="en-US" altLang="zh-CN" dirty="0">
                <a:sym typeface="Symbol" panose="05050102010706020507" pitchFamily="18" charset="2"/>
              </a:rPr>
              <a:t> </a:t>
            </a:r>
            <a:r>
              <a:rPr lang="en-US" altLang="zh-CN" dirty="0"/>
              <a:t>1</a:t>
            </a:r>
            <a:r>
              <a:rPr lang="zh-CN" altLang="en-US" dirty="0"/>
              <a:t>）元谓词（含有</a:t>
            </a:r>
            <a:r>
              <a:rPr lang="en-US" altLang="zh-CN" i="1" dirty="0"/>
              <a:t>n</a:t>
            </a:r>
            <a:r>
              <a:rPr lang="zh-CN" altLang="en-US" dirty="0"/>
              <a:t>个个体变项的谓词）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Char char="ü"/>
              <a:defRPr/>
            </a:pPr>
            <a:r>
              <a:rPr lang="zh-CN" altLang="en-US" dirty="0"/>
              <a:t> 一元谓词</a:t>
            </a:r>
            <a:r>
              <a:rPr lang="en-US" altLang="zh-CN" dirty="0"/>
              <a:t>(</a:t>
            </a:r>
            <a:r>
              <a:rPr lang="en-US" altLang="zh-CN" sz="2400" b="1" i="1" dirty="0">
                <a:latin typeface="+mn-lt"/>
                <a:ea typeface="+mn-ea"/>
              </a:rPr>
              <a:t>n </a:t>
            </a:r>
            <a:r>
              <a:rPr lang="en-US" altLang="zh-CN" dirty="0"/>
              <a:t>= </a:t>
            </a:r>
            <a:r>
              <a:rPr lang="en-US" altLang="zh-CN" sz="2400" b="1" dirty="0">
                <a:latin typeface="+mn-lt"/>
                <a:ea typeface="+mn-ea"/>
              </a:rPr>
              <a:t>1</a:t>
            </a:r>
            <a:r>
              <a:rPr lang="en-US" altLang="zh-CN" dirty="0"/>
              <a:t>)——</a:t>
            </a:r>
            <a:r>
              <a:rPr lang="zh-CN" altLang="en-US" dirty="0"/>
              <a:t>表示性质</a:t>
            </a:r>
            <a:endParaRPr lang="zh-CN" altLang="en-US" dirty="0"/>
          </a:p>
          <a:p>
            <a:pPr marL="857250" lvl="1" indent="-457200" eaLnBrk="1" hangingPunct="1">
              <a:buFont typeface="Wingdings" panose="05000000000000000000" pitchFamily="2" charset="2"/>
              <a:buChar char="ü"/>
              <a:defRPr/>
            </a:pPr>
            <a:r>
              <a:rPr lang="zh-CN" altLang="en-US" dirty="0"/>
              <a:t>多元谓词</a:t>
            </a:r>
            <a:r>
              <a:rPr lang="en-US" altLang="zh-CN" dirty="0"/>
              <a:t>(</a:t>
            </a:r>
            <a:r>
              <a:rPr lang="en-US" altLang="zh-CN" sz="2400" b="1" i="1" dirty="0">
                <a:latin typeface="+mn-lt"/>
                <a:ea typeface="+mn-ea"/>
              </a:rPr>
              <a:t>n </a:t>
            </a:r>
            <a:r>
              <a:rPr lang="en-US" altLang="zh-CN" dirty="0"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latin typeface="+mn-lt"/>
                <a:ea typeface="+mn-ea"/>
              </a:rPr>
              <a:t>2</a:t>
            </a:r>
            <a:r>
              <a:rPr lang="en-US" altLang="zh-CN" dirty="0"/>
              <a:t>)——</a:t>
            </a:r>
            <a:r>
              <a:rPr lang="zh-CN" altLang="en-US" dirty="0"/>
              <a:t>表示事物之间的关系</a:t>
            </a:r>
            <a:endParaRPr lang="en-US" altLang="zh-CN" i="1" dirty="0"/>
          </a:p>
          <a:p>
            <a:pPr marL="400050" lvl="1" indent="0" eaLnBrk="1" hangingPunct="1">
              <a:buFontTx/>
              <a:buNone/>
              <a:defRPr/>
            </a:pPr>
            <a:r>
              <a:rPr lang="zh-CN" altLang="en-US" i="1" dirty="0"/>
              <a:t>          </a:t>
            </a:r>
            <a:r>
              <a:rPr lang="zh-CN" altLang="en-US" dirty="0"/>
              <a:t>如</a:t>
            </a:r>
            <a:r>
              <a:rPr lang="en-US" altLang="zh-CN" dirty="0"/>
              <a:t>, </a:t>
            </a:r>
            <a:r>
              <a:rPr lang="en-US" altLang="zh-CN" sz="2400" b="1" i="1" dirty="0">
                <a:latin typeface="+mn-lt"/>
                <a:ea typeface="+mn-ea"/>
              </a:rPr>
              <a:t>L</a:t>
            </a:r>
            <a:r>
              <a:rPr lang="en-US" altLang="zh-CN" dirty="0"/>
              <a:t>(</a:t>
            </a:r>
            <a:r>
              <a:rPr lang="en-US" altLang="zh-CN" sz="2400" b="1" i="1" dirty="0">
                <a:latin typeface="+mn-lt"/>
                <a:ea typeface="+mn-ea"/>
              </a:rPr>
              <a:t>x</a:t>
            </a:r>
            <a:r>
              <a:rPr lang="en-US" altLang="zh-CN" dirty="0"/>
              <a:t>, </a:t>
            </a:r>
            <a:r>
              <a:rPr lang="en-US" altLang="zh-CN" sz="2400" b="1" i="1" dirty="0">
                <a:latin typeface="+mn-lt"/>
                <a:ea typeface="+mn-ea"/>
              </a:rPr>
              <a:t>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sz="2400" b="1" i="1" dirty="0">
                <a:latin typeface="+mn-lt"/>
                <a:ea typeface="+mn-ea"/>
              </a:rPr>
              <a:t>x</a:t>
            </a:r>
            <a:r>
              <a:rPr lang="zh-CN" altLang="en-US" dirty="0"/>
              <a:t>与 </a:t>
            </a:r>
            <a:r>
              <a:rPr lang="en-US" altLang="zh-CN" sz="2400" b="1" i="1" dirty="0">
                <a:latin typeface="+mn-lt"/>
                <a:ea typeface="+mn-ea"/>
              </a:rPr>
              <a:t>y</a:t>
            </a:r>
            <a:r>
              <a:rPr lang="en-US" altLang="zh-CN" i="1" dirty="0"/>
              <a:t> </a:t>
            </a:r>
            <a:r>
              <a:rPr lang="zh-CN" altLang="en-US" dirty="0"/>
              <a:t>有关系 </a:t>
            </a:r>
            <a:r>
              <a:rPr lang="en-US" altLang="zh-CN" sz="2400" b="1" i="1" dirty="0">
                <a:latin typeface="+mn-lt"/>
                <a:ea typeface="+mn-ea"/>
              </a:rPr>
              <a:t>L</a:t>
            </a:r>
            <a:r>
              <a:rPr lang="zh-CN" altLang="en-US" dirty="0"/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L</a:t>
            </a:r>
            <a:r>
              <a:rPr lang="en-US" altLang="zh-CN" dirty="0"/>
              <a:t>(</a:t>
            </a:r>
            <a:r>
              <a:rPr lang="en-US" altLang="zh-CN" sz="2400" b="1" i="1" dirty="0">
                <a:latin typeface="+mn-lt"/>
                <a:ea typeface="+mn-ea"/>
              </a:rPr>
              <a:t>x</a:t>
            </a:r>
            <a:r>
              <a:rPr lang="en-US" altLang="zh-CN" dirty="0"/>
              <a:t>, </a:t>
            </a:r>
            <a:r>
              <a:rPr lang="en-US" altLang="zh-CN" sz="2400" b="1" i="1" dirty="0">
                <a:latin typeface="+mn-lt"/>
                <a:ea typeface="+mn-ea"/>
              </a:rPr>
              <a:t>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sz="2400" b="1" i="1" dirty="0">
                <a:latin typeface="+mn-lt"/>
                <a:ea typeface="+mn-ea"/>
              </a:rPr>
              <a:t>x </a:t>
            </a:r>
            <a:r>
              <a:rPr lang="en-US" altLang="zh-CN" dirty="0">
                <a:sym typeface="Symbol" panose="05050102010706020507" pitchFamily="18" charset="2"/>
              </a:rPr>
              <a:t> </a:t>
            </a:r>
            <a:r>
              <a:rPr lang="en-US" altLang="zh-CN" sz="2400" b="1" i="1" dirty="0">
                <a:latin typeface="+mn-lt"/>
                <a:ea typeface="+mn-ea"/>
              </a:rPr>
              <a:t>y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dirty="0"/>
              <a:t> 0</a:t>
            </a:r>
            <a:r>
              <a:rPr lang="zh-CN" altLang="en-US" dirty="0"/>
              <a:t>元谓词</a:t>
            </a:r>
            <a:r>
              <a:rPr lang="en-US" altLang="zh-CN" dirty="0"/>
              <a:t>——</a:t>
            </a:r>
            <a:r>
              <a:rPr lang="zh-CN" altLang="en-US" dirty="0"/>
              <a:t>不含个体变项的谓词</a:t>
            </a:r>
            <a:r>
              <a:rPr lang="en-US" altLang="zh-CN" dirty="0"/>
              <a:t>, </a:t>
            </a:r>
            <a:r>
              <a:rPr lang="zh-CN" altLang="en-US" dirty="0"/>
              <a:t>即命题常项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A13EA3-3C59-40DC-8630-7EABE99DF3C6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一元谓词</a:t>
            </a:r>
            <a:endParaRPr lang="zh-CN" altLang="en-US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通常一元谓词表达了客体的性质。</a:t>
            </a:r>
            <a:endParaRPr lang="zh-CN" altLang="en-US" dirty="0"/>
          </a:p>
          <a:p>
            <a:pPr eaLnBrk="1" hangingPunct="1"/>
            <a:r>
              <a:rPr lang="en-US" altLang="zh-CN" dirty="0"/>
              <a:t>	</a:t>
            </a:r>
            <a:r>
              <a:rPr lang="zh-CN" altLang="en-US" dirty="0"/>
              <a:t>如 </a:t>
            </a:r>
            <a:r>
              <a:rPr lang="en-US" altLang="zh-CN" dirty="0"/>
              <a:t>A(</a:t>
            </a:r>
            <a:r>
              <a:rPr lang="en-US" altLang="zh-CN" i="1" dirty="0"/>
              <a:t>x</a:t>
            </a:r>
            <a:r>
              <a:rPr lang="en-US" altLang="zh-CN" dirty="0"/>
              <a:t>) </a:t>
            </a:r>
            <a:r>
              <a:rPr lang="zh-CN" altLang="en-US" dirty="0"/>
              <a:t>表示</a:t>
            </a:r>
            <a:r>
              <a:rPr lang="en-US" altLang="zh-CN" i="1" dirty="0"/>
              <a:t>x</a:t>
            </a:r>
            <a:r>
              <a:rPr lang="zh-CN" altLang="en-US" dirty="0"/>
              <a:t>具有性质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/>
              <a:t>张三是大学生。</a:t>
            </a:r>
            <a:endParaRPr lang="zh-CN" altLang="en-US" sz="2400" dirty="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/>
              <a:t>李四聪明。</a:t>
            </a:r>
            <a:endParaRPr lang="zh-CN" altLang="en-US" sz="2400" dirty="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/>
              <a:t>王五学习很好。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zh-CN" sz="2400" dirty="0"/>
              <a:t>7</a:t>
            </a:r>
            <a:r>
              <a:rPr lang="zh-CN" altLang="en-US" sz="2400" dirty="0"/>
              <a:t>是素数。 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zh-CN" sz="2400" dirty="0"/>
              <a:t>…… </a:t>
            </a:r>
            <a:endParaRPr lang="en-US" altLang="zh-CN" sz="24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0853F3-8E0F-4007-8786-C01786E17E05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多元谓词</a:t>
            </a:r>
            <a:endParaRPr lang="zh-CN" altLang="en-US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通常多元谓词表达了客体之间的关系。</a:t>
            </a:r>
            <a:endParaRPr lang="en-US" altLang="zh-CN" dirty="0"/>
          </a:p>
          <a:p>
            <a:pPr marL="0" indent="0" eaLnBrk="1" hangingPunct="1">
              <a:lnSpc>
                <a:spcPct val="80000"/>
              </a:lnSpc>
              <a:defRPr/>
            </a:pPr>
            <a:r>
              <a:rPr lang="zh-CN" altLang="en-US" dirty="0"/>
              <a:t>如 </a:t>
            </a:r>
            <a:r>
              <a:rPr lang="en-US" altLang="zh-CN" dirty="0"/>
              <a:t>P(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 x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 </a:t>
            </a:r>
            <a:r>
              <a:rPr lang="en-US" altLang="zh-CN" dirty="0"/>
              <a:t>… , </a:t>
            </a:r>
            <a:r>
              <a:rPr lang="en-US" altLang="zh-CN" i="1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zh-CN" altLang="en-US" dirty="0"/>
              <a:t>表示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 x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 </a:t>
            </a:r>
            <a:r>
              <a:rPr lang="en-US" altLang="zh-CN" dirty="0"/>
              <a:t>… , </a:t>
            </a:r>
            <a:r>
              <a:rPr lang="en-US" altLang="zh-CN" i="1" dirty="0" err="1"/>
              <a:t>x</a:t>
            </a:r>
            <a:r>
              <a:rPr lang="en-US" altLang="zh-CN" baseline="-25000" dirty="0" err="1"/>
              <a:t>n</a:t>
            </a:r>
            <a:r>
              <a:rPr lang="zh-CN" altLang="en-US" dirty="0"/>
              <a:t>具有关系</a:t>
            </a:r>
            <a:r>
              <a:rPr lang="en-US" altLang="zh-CN" dirty="0"/>
              <a:t>P :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b="1" i="1" dirty="0">
                <a:latin typeface="+mn-lt"/>
              </a:rPr>
              <a:t>B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, </a:t>
            </a:r>
            <a:r>
              <a:rPr lang="en-US" altLang="zh-CN" b="1" i="1" dirty="0">
                <a:latin typeface="+mn-lt"/>
              </a:rPr>
              <a:t>y</a:t>
            </a:r>
            <a:r>
              <a:rPr lang="en-US" altLang="zh-CN" b="1" dirty="0">
                <a:latin typeface="+mn-lt"/>
              </a:rPr>
              <a:t>) </a:t>
            </a:r>
            <a:r>
              <a:rPr lang="zh-CN" altLang="en-US" dirty="0"/>
              <a:t>可以表示：</a:t>
            </a:r>
            <a:endParaRPr lang="zh-CN" altLang="en-US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CN" b="1" i="1" dirty="0">
                <a:latin typeface="+mn-lt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小于 </a:t>
            </a:r>
            <a:r>
              <a:rPr lang="en-US" altLang="zh-CN" b="1" i="1" dirty="0">
                <a:latin typeface="+mn-lt"/>
              </a:rPr>
              <a:t>y</a:t>
            </a:r>
            <a:r>
              <a:rPr lang="en-US" altLang="zh-CN" dirty="0"/>
              <a:t>.</a:t>
            </a:r>
            <a:endParaRPr lang="en-US" altLang="zh-CN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zh-CN" altLang="en-US" dirty="0"/>
              <a:t>地球绕着太阳转</a:t>
            </a:r>
            <a:r>
              <a:rPr lang="en-US" altLang="zh-CN" dirty="0"/>
              <a:t>. 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张明和张华是兄弟</a:t>
            </a:r>
            <a:r>
              <a:rPr lang="en-US" altLang="zh-CN" dirty="0"/>
              <a:t>. </a:t>
            </a:r>
            <a:endParaRPr lang="en-US" altLang="zh-CN" dirty="0"/>
          </a:p>
          <a:p>
            <a:pPr lvl="2" eaLnBrk="1" hangingPunct="1">
              <a:defRPr/>
            </a:pPr>
            <a:r>
              <a:rPr lang="en-US" altLang="zh-CN" dirty="0"/>
              <a:t>…… 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b="1" i="1" dirty="0"/>
              <a:t>L</a:t>
            </a:r>
            <a:r>
              <a:rPr lang="en-US" altLang="zh-CN" b="1" dirty="0"/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/>
              <a:t>, </a:t>
            </a:r>
            <a:r>
              <a:rPr lang="en-US" altLang="zh-CN" b="1" i="1" dirty="0">
                <a:latin typeface="+mn-lt"/>
              </a:rPr>
              <a:t>y</a:t>
            </a:r>
            <a:r>
              <a:rPr lang="en-US" altLang="zh-CN" b="1" dirty="0"/>
              <a:t>, </a:t>
            </a:r>
            <a:r>
              <a:rPr lang="en-US" altLang="zh-CN" b="1" i="1" dirty="0">
                <a:latin typeface="+mn-lt"/>
              </a:rPr>
              <a:t>z</a:t>
            </a:r>
            <a:r>
              <a:rPr lang="en-US" altLang="zh-CN" b="1" dirty="0"/>
              <a:t>) </a:t>
            </a:r>
            <a:r>
              <a:rPr lang="zh-CN" altLang="en-US" dirty="0"/>
              <a:t>可以表示</a:t>
            </a:r>
            <a:r>
              <a:rPr lang="en-US" altLang="zh-CN" dirty="0"/>
              <a:t>: </a:t>
            </a:r>
            <a:endParaRPr lang="en-US" altLang="zh-CN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CN" b="1" i="1" dirty="0">
                <a:latin typeface="+mn-lt"/>
              </a:rPr>
              <a:t>x</a:t>
            </a:r>
            <a:r>
              <a:rPr lang="zh-CN" altLang="en-US" dirty="0">
                <a:latin typeface="+mn-lt"/>
              </a:rPr>
              <a:t>在</a:t>
            </a:r>
            <a:r>
              <a:rPr lang="zh-CN" altLang="en-US" i="1" dirty="0">
                <a:latin typeface="+mn-lt"/>
              </a:rPr>
              <a:t> </a:t>
            </a:r>
            <a:r>
              <a:rPr lang="en-US" altLang="zh-CN" b="1" i="1" dirty="0">
                <a:latin typeface="+mn-lt"/>
              </a:rPr>
              <a:t>y</a:t>
            </a:r>
            <a:r>
              <a:rPr lang="en-US" altLang="zh-CN" i="1" dirty="0">
                <a:latin typeface="+mn-lt"/>
              </a:rPr>
              <a:t> </a:t>
            </a:r>
            <a:r>
              <a:rPr lang="zh-CN" altLang="en-US" dirty="0">
                <a:latin typeface="+mn-lt"/>
              </a:rPr>
              <a:t>和</a:t>
            </a:r>
            <a:r>
              <a:rPr lang="zh-CN" altLang="en-US" i="1" dirty="0">
                <a:latin typeface="+mn-lt"/>
              </a:rPr>
              <a:t> </a:t>
            </a:r>
            <a:r>
              <a:rPr lang="en-US" altLang="zh-CN" b="1" i="1" dirty="0">
                <a:latin typeface="+mn-lt"/>
              </a:rPr>
              <a:t>z</a:t>
            </a:r>
            <a:r>
              <a:rPr lang="en-US" altLang="zh-CN" i="1" dirty="0">
                <a:latin typeface="+mn-lt"/>
              </a:rPr>
              <a:t> </a:t>
            </a:r>
            <a:r>
              <a:rPr lang="zh-CN" altLang="en-US" dirty="0">
                <a:latin typeface="+mn-lt"/>
              </a:rPr>
              <a:t>之间</a:t>
            </a:r>
            <a:r>
              <a:rPr lang="en-US" altLang="zh-CN" i="1" dirty="0">
                <a:latin typeface="+mn-lt"/>
              </a:rPr>
              <a:t>.</a:t>
            </a:r>
            <a:endParaRPr lang="en-US" altLang="zh-CN" i="1" dirty="0">
              <a:latin typeface="+mn-lt"/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CN" b="1" i="1" dirty="0">
                <a:latin typeface="+mn-lt"/>
              </a:rPr>
              <a:t>x</a:t>
            </a:r>
            <a:r>
              <a:rPr lang="en-US" altLang="zh-CN" dirty="0"/>
              <a:t> + </a:t>
            </a:r>
            <a:r>
              <a:rPr lang="en-US" altLang="zh-CN" b="1" i="1" dirty="0">
                <a:latin typeface="+mn-lt"/>
              </a:rPr>
              <a:t>y</a:t>
            </a:r>
            <a:r>
              <a:rPr lang="en-US" altLang="zh-CN" dirty="0"/>
              <a:t> = </a:t>
            </a:r>
            <a:r>
              <a:rPr lang="en-US" altLang="zh-CN" b="1" i="1" dirty="0">
                <a:latin typeface="+mn-lt"/>
              </a:rPr>
              <a:t>z</a:t>
            </a:r>
            <a:r>
              <a:rPr lang="en-US" altLang="zh-CN" dirty="0"/>
              <a:t>.   </a:t>
            </a:r>
            <a:endParaRPr lang="en-US" altLang="zh-CN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CN" dirty="0"/>
              <a:t>…… </a:t>
            </a:r>
            <a:endParaRPr lang="en-US" altLang="zh-CN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楷体_GB2312" panose="02010609030101010101" pitchFamily="49" charset="-122"/>
              </a:rPr>
              <a:t>在多元谓词表示式中</a:t>
            </a:r>
            <a:r>
              <a:rPr lang="en-US" altLang="zh-CN" dirty="0">
                <a:latin typeface="楷体_GB2312" panose="02010609030101010101" pitchFamily="49" charset="-122"/>
              </a:rPr>
              <a:t>,</a:t>
            </a:r>
            <a:r>
              <a:rPr lang="zh-CN" altLang="en-US" dirty="0">
                <a:latin typeface="楷体_GB2312" panose="02010609030101010101" pitchFamily="49" charset="-122"/>
              </a:rPr>
              <a:t>客体名称字母出现的次序与事先约定有关</a:t>
            </a:r>
            <a:r>
              <a:rPr lang="en-US" altLang="zh-CN" dirty="0">
                <a:latin typeface="楷体_GB2312" panose="02010609030101010101" pitchFamily="49" charset="-122"/>
              </a:rPr>
              <a:t>.</a:t>
            </a:r>
            <a:endParaRPr lang="en-US" altLang="zh-CN" dirty="0">
              <a:latin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4"/>
          <p:cNvGrpSpPr/>
          <p:nvPr/>
        </p:nvGrpSpPr>
        <p:grpSpPr bwMode="auto">
          <a:xfrm>
            <a:off x="390525" y="2644775"/>
            <a:ext cx="8208963" cy="1790700"/>
            <a:chOff x="158" y="2797"/>
            <a:chExt cx="5171" cy="1128"/>
          </a:xfrm>
        </p:grpSpPr>
        <p:sp>
          <p:nvSpPr>
            <p:cNvPr id="25616" name="Text Box 25"/>
            <p:cNvSpPr txBox="1">
              <a:spLocks noChangeArrowheads="1"/>
            </p:cNvSpPr>
            <p:nvPr/>
          </p:nvSpPr>
          <p:spPr bwMode="auto">
            <a:xfrm>
              <a:off x="158" y="2797"/>
              <a:ext cx="5171" cy="1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zh-CN" altLang="en-US"/>
                <a:t>解：在命题逻辑中：</a:t>
              </a:r>
              <a:endParaRPr lang="zh-CN" altLang="en-US"/>
            </a:p>
            <a:p>
              <a:pPr eaLnBrk="1" hangingPunct="1">
                <a:buClrTx/>
                <a:buFontTx/>
                <a:buNone/>
              </a:pPr>
              <a:r>
                <a:rPr lang="zh-CN" altLang="en-US"/>
                <a:t>   </a:t>
              </a:r>
              <a:r>
                <a:rPr lang="en-US" altLang="zh-CN"/>
                <a:t>(1)  </a:t>
              </a:r>
              <a:r>
                <a:rPr lang="en-US" altLang="zh-CN" i="1"/>
                <a:t>p</a:t>
              </a:r>
              <a:r>
                <a:rPr lang="en-US" altLang="zh-CN"/>
                <a:t>,  </a:t>
              </a:r>
              <a:r>
                <a:rPr lang="en-US" altLang="zh-CN" i="1"/>
                <a:t> p</a:t>
              </a:r>
              <a:r>
                <a:rPr lang="zh-CN" altLang="en-US"/>
                <a:t>为墨西哥位于南美洲（</a:t>
              </a:r>
              <a:r>
                <a:rPr lang="zh-CN" altLang="en-US">
                  <a:solidFill>
                    <a:srgbClr val="C00000"/>
                  </a:solidFill>
                </a:rPr>
                <a:t>真命题</a:t>
              </a:r>
              <a:r>
                <a:rPr lang="zh-CN" altLang="en-US"/>
                <a:t>）</a:t>
              </a:r>
              <a:endParaRPr lang="zh-CN" altLang="en-US"/>
            </a:p>
            <a:p>
              <a:pPr eaLnBrk="1" hangingPunct="1">
                <a:buClrTx/>
                <a:buFontTx/>
                <a:buNone/>
              </a:pPr>
              <a:r>
                <a:rPr lang="zh-CN" altLang="en-US"/>
                <a:t>   </a:t>
              </a:r>
              <a:r>
                <a:rPr lang="en-US" altLang="zh-CN"/>
                <a:t>(2)  </a:t>
              </a:r>
              <a:r>
                <a:rPr lang="en-US" altLang="zh-CN" i="1"/>
                <a:t>p</a:t>
              </a:r>
              <a:r>
                <a:rPr lang="en-US" altLang="zh-CN"/>
                <a:t>→</a:t>
              </a:r>
              <a:r>
                <a:rPr lang="en-US" altLang="zh-CN" i="1"/>
                <a:t>q</a:t>
              </a:r>
              <a:r>
                <a:rPr lang="en-US" altLang="zh-CN"/>
                <a:t>,  </a:t>
              </a:r>
              <a:r>
                <a:rPr lang="zh-CN" altLang="en-US"/>
                <a:t>其中</a:t>
              </a:r>
              <a:r>
                <a:rPr lang="en-US" altLang="zh-CN"/>
                <a:t>, </a:t>
              </a:r>
              <a:r>
                <a:rPr lang="en-US" altLang="zh-CN" i="1"/>
                <a:t>p</a:t>
              </a:r>
              <a:r>
                <a:rPr lang="zh-CN" altLang="en-US"/>
                <a:t>：  是无理数，</a:t>
              </a:r>
              <a:r>
                <a:rPr lang="en-US" altLang="zh-CN" i="1"/>
                <a:t>q</a:t>
              </a:r>
              <a:r>
                <a:rPr lang="zh-CN" altLang="en-US"/>
                <a:t>：    是有理数</a:t>
              </a:r>
              <a:r>
                <a:rPr lang="en-US" altLang="zh-CN"/>
                <a:t>. </a:t>
              </a:r>
              <a:r>
                <a:rPr lang="zh-CN" altLang="en-US"/>
                <a:t>（</a:t>
              </a:r>
              <a:r>
                <a:rPr lang="zh-CN" altLang="en-US">
                  <a:solidFill>
                    <a:srgbClr val="C00000"/>
                  </a:solidFill>
                </a:rPr>
                <a:t>假命题</a:t>
              </a:r>
              <a:r>
                <a:rPr lang="zh-CN" altLang="en-US"/>
                <a:t>）</a:t>
              </a:r>
              <a:endParaRPr lang="zh-CN" altLang="en-US"/>
            </a:p>
            <a:p>
              <a:pPr eaLnBrk="1" hangingPunct="1">
                <a:buClrTx/>
                <a:buFontTx/>
                <a:buNone/>
              </a:pPr>
              <a:r>
                <a:rPr lang="zh-CN" altLang="en-US"/>
                <a:t>   </a:t>
              </a:r>
              <a:r>
                <a:rPr lang="en-US" altLang="zh-CN"/>
                <a:t>(3)  </a:t>
              </a:r>
              <a:r>
                <a:rPr lang="en-US" altLang="zh-CN" i="1"/>
                <a:t>p</a:t>
              </a:r>
              <a:r>
                <a:rPr lang="en-US" altLang="zh-CN">
                  <a:sym typeface="Symbol" panose="05050102010706020507" pitchFamily="18" charset="2"/>
                </a:rPr>
                <a:t></a:t>
              </a:r>
              <a:r>
                <a:rPr lang="en-US" altLang="zh-CN" i="1"/>
                <a:t>q</a:t>
              </a:r>
              <a:r>
                <a:rPr lang="en-US" altLang="zh-CN"/>
                <a:t>,  </a:t>
              </a:r>
              <a:r>
                <a:rPr lang="zh-CN" altLang="en-US"/>
                <a:t>其中，</a:t>
              </a:r>
              <a:r>
                <a:rPr lang="en-US" altLang="zh-CN" i="1"/>
                <a:t>p</a:t>
              </a:r>
              <a:r>
                <a:rPr lang="zh-CN" altLang="en-US"/>
                <a:t>：</a:t>
              </a:r>
              <a:r>
                <a:rPr lang="en-US" altLang="zh-CN"/>
                <a:t>2&gt;3</a:t>
              </a:r>
              <a:r>
                <a:rPr lang="zh-CN" altLang="en-US"/>
                <a:t>，</a:t>
              </a:r>
              <a:r>
                <a:rPr lang="en-US" altLang="zh-CN" i="1"/>
                <a:t>q</a:t>
              </a:r>
              <a:r>
                <a:rPr lang="zh-CN" altLang="en-US"/>
                <a:t>：</a:t>
              </a:r>
              <a:r>
                <a:rPr lang="en-US" altLang="zh-CN"/>
                <a:t>3&lt;4.  </a:t>
              </a:r>
              <a:r>
                <a:rPr lang="zh-CN" altLang="en-US"/>
                <a:t>（</a:t>
              </a:r>
              <a:r>
                <a:rPr lang="zh-CN" altLang="en-US">
                  <a:solidFill>
                    <a:srgbClr val="C00000"/>
                  </a:solidFill>
                </a:rPr>
                <a:t>真命题</a:t>
              </a:r>
              <a:r>
                <a:rPr lang="zh-CN" altLang="en-US"/>
                <a:t>）       </a:t>
              </a:r>
              <a:endParaRPr lang="zh-CN" altLang="en-US" b="0"/>
            </a:p>
          </p:txBody>
        </p:sp>
        <p:graphicFrame>
          <p:nvGraphicFramePr>
            <p:cNvPr id="25617" name="Object 26"/>
            <p:cNvGraphicFramePr>
              <a:graphicFrameLocks noChangeAspect="1"/>
            </p:cNvGraphicFramePr>
            <p:nvPr/>
          </p:nvGraphicFramePr>
          <p:xfrm>
            <a:off x="3225" y="3392"/>
            <a:ext cx="29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Microsoft 公式 3.0" r:id="rId1" imgW="228600" imgH="228600" progId="Equation.3">
                    <p:embed/>
                  </p:oleObj>
                </mc:Choice>
                <mc:Fallback>
                  <p:oleObj name="Microsoft 公式 3.0" r:id="rId1" imgW="228600" imgH="2286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3392"/>
                          <a:ext cx="29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03" name="Object 4"/>
          <p:cNvGraphicFramePr/>
          <p:nvPr/>
        </p:nvGraphicFramePr>
        <p:xfrm>
          <a:off x="3095625" y="3544888"/>
          <a:ext cx="3603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Microsoft 公式 3.0" r:id="rId3" imgW="241300" imgH="215900" progId="Equation.3">
                  <p:embed/>
                </p:oleObj>
              </mc:Choice>
              <mc:Fallback>
                <p:oleObj name="Microsoft 公式 3.0" r:id="rId3" imgW="241300" imgH="2159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3544888"/>
                        <a:ext cx="3603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4" name="Group 28"/>
          <p:cNvGrpSpPr/>
          <p:nvPr/>
        </p:nvGrpSpPr>
        <p:grpSpPr bwMode="auto">
          <a:xfrm>
            <a:off x="250825" y="909638"/>
            <a:ext cx="7921625" cy="1771650"/>
            <a:chOff x="249" y="731"/>
            <a:chExt cx="4990" cy="1116"/>
          </a:xfrm>
        </p:grpSpPr>
        <p:sp>
          <p:nvSpPr>
            <p:cNvPr id="25612" name="Text Box 13"/>
            <p:cNvSpPr txBox="1">
              <a:spLocks noChangeArrowheads="1"/>
            </p:cNvSpPr>
            <p:nvPr/>
          </p:nvSpPr>
          <p:spPr bwMode="auto">
            <a:xfrm>
              <a:off x="249" y="731"/>
              <a:ext cx="4990" cy="1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zh-CN" altLang="en-US">
                  <a:solidFill>
                    <a:srgbClr val="A50021"/>
                  </a:solidFill>
                </a:rPr>
                <a:t>例</a:t>
              </a:r>
              <a:r>
                <a:rPr lang="en-US" altLang="zh-CN">
                  <a:solidFill>
                    <a:srgbClr val="A50021"/>
                  </a:solidFill>
                </a:rPr>
                <a:t>1</a:t>
              </a:r>
              <a:r>
                <a:rPr lang="en-US" altLang="zh-CN"/>
                <a:t>  </a:t>
              </a:r>
              <a:r>
                <a:rPr lang="zh-CN" altLang="en-US"/>
                <a:t>用</a:t>
              </a:r>
              <a:r>
                <a:rPr lang="en-US" altLang="zh-CN"/>
                <a:t>0</a:t>
              </a:r>
              <a:r>
                <a:rPr lang="zh-CN" altLang="en-US"/>
                <a:t>元谓词将命题符号化</a:t>
              </a:r>
              <a:endParaRPr lang="zh-CN" altLang="en-US"/>
            </a:p>
            <a:p>
              <a:pPr eaLnBrk="1" hangingPunct="1">
                <a:buClrTx/>
                <a:buFontTx/>
                <a:buNone/>
              </a:pPr>
              <a:r>
                <a:rPr lang="zh-CN" altLang="en-US"/>
                <a:t>  </a:t>
              </a:r>
              <a:r>
                <a:rPr lang="en-US" altLang="zh-CN"/>
                <a:t>(1) </a:t>
              </a:r>
              <a:r>
                <a:rPr lang="zh-CN" altLang="en-US"/>
                <a:t>墨西哥位于南美洲</a:t>
              </a:r>
              <a:endParaRPr lang="zh-CN" altLang="en-US"/>
            </a:p>
            <a:p>
              <a:pPr eaLnBrk="1" hangingPunct="1">
                <a:buClrTx/>
                <a:buFontTx/>
                <a:buNone/>
              </a:pPr>
              <a:r>
                <a:rPr lang="zh-CN" altLang="en-US"/>
                <a:t>  </a:t>
              </a:r>
              <a:r>
                <a:rPr lang="en-US" altLang="zh-CN"/>
                <a:t>(2)       </a:t>
              </a:r>
              <a:r>
                <a:rPr lang="zh-CN" altLang="en-US"/>
                <a:t>是无理数仅当       是有理数</a:t>
              </a:r>
              <a:endParaRPr lang="zh-CN" altLang="en-US"/>
            </a:p>
            <a:p>
              <a:pPr eaLnBrk="1" hangingPunct="1">
                <a:buClrTx/>
                <a:buFontTx/>
                <a:buNone/>
              </a:pPr>
              <a:r>
                <a:rPr lang="zh-CN" altLang="en-US"/>
                <a:t>  </a:t>
              </a:r>
              <a:r>
                <a:rPr lang="en-US" altLang="zh-CN"/>
                <a:t>(3) </a:t>
              </a:r>
              <a:r>
                <a:rPr lang="zh-CN" altLang="en-US"/>
                <a:t>如果</a:t>
              </a:r>
              <a:r>
                <a:rPr lang="en-US" altLang="zh-CN"/>
                <a:t>2&gt;3</a:t>
              </a:r>
              <a:r>
                <a:rPr lang="zh-CN" altLang="en-US"/>
                <a:t>，则</a:t>
              </a:r>
              <a:r>
                <a:rPr lang="en-US" altLang="zh-CN"/>
                <a:t>3&lt;4</a:t>
              </a:r>
              <a:endParaRPr lang="en-US" altLang="zh-CN" b="0"/>
            </a:p>
          </p:txBody>
        </p:sp>
        <p:grpSp>
          <p:nvGrpSpPr>
            <p:cNvPr id="25613" name="Group 22"/>
            <p:cNvGrpSpPr/>
            <p:nvPr/>
          </p:nvGrpSpPr>
          <p:grpSpPr bwMode="auto">
            <a:xfrm>
              <a:off x="657" y="1275"/>
              <a:ext cx="1770" cy="318"/>
              <a:chOff x="657" y="1275"/>
              <a:chExt cx="1770" cy="318"/>
            </a:xfrm>
          </p:grpSpPr>
          <p:graphicFrame>
            <p:nvGraphicFramePr>
              <p:cNvPr id="25614" name="Object 16"/>
              <p:cNvGraphicFramePr/>
              <p:nvPr/>
            </p:nvGraphicFramePr>
            <p:xfrm>
              <a:off x="657" y="1275"/>
              <a:ext cx="227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Microsoft 公式 3.0" r:id="rId5" imgW="241300" imgH="215900" progId="Equation.3">
                      <p:embed/>
                    </p:oleObj>
                  </mc:Choice>
                  <mc:Fallback>
                    <p:oleObj name="Microsoft 公式 3.0" r:id="rId5" imgW="241300" imgH="215900" progId="Equation.3">
                      <p:embed/>
                      <p:pic>
                        <p:nvPicPr>
                          <p:cNvPr id="0" name="Object 1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7" y="1275"/>
                            <a:ext cx="227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5" name="Object 20"/>
              <p:cNvGraphicFramePr>
                <a:graphicFrameLocks noChangeAspect="1"/>
              </p:cNvGraphicFramePr>
              <p:nvPr/>
            </p:nvGraphicFramePr>
            <p:xfrm>
              <a:off x="2155" y="1321"/>
              <a:ext cx="272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Microsoft 公式 3.0" r:id="rId6" imgW="228600" imgH="228600" progId="Equation.3">
                      <p:embed/>
                    </p:oleObj>
                  </mc:Choice>
                  <mc:Fallback>
                    <p:oleObj name="Microsoft 公式 3.0" r:id="rId6" imgW="228600" imgH="2286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55" y="1321"/>
                            <a:ext cx="272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605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29F64B-8E4A-4DBA-90CA-20B14AD6DFB3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grpSp>
        <p:nvGrpSpPr>
          <p:cNvPr id="17" name="Group 11"/>
          <p:cNvGrpSpPr/>
          <p:nvPr/>
        </p:nvGrpSpPr>
        <p:grpSpPr bwMode="auto">
          <a:xfrm>
            <a:off x="395288" y="4475163"/>
            <a:ext cx="8353425" cy="2382837"/>
            <a:chOff x="295" y="1117"/>
            <a:chExt cx="5262" cy="1501"/>
          </a:xfrm>
        </p:grpSpPr>
        <p:sp>
          <p:nvSpPr>
            <p:cNvPr id="25609" name="Rectangle 9"/>
            <p:cNvSpPr>
              <a:spLocks noChangeArrowheads="1"/>
            </p:cNvSpPr>
            <p:nvPr/>
          </p:nvSpPr>
          <p:spPr bwMode="auto">
            <a:xfrm>
              <a:off x="295" y="1117"/>
              <a:ext cx="5262" cy="1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3000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66FF"/>
                  </a:solidFill>
                </a:rPr>
                <a:t>在一阶逻辑中：</a:t>
              </a:r>
              <a:endParaRPr lang="zh-CN" altLang="en-US">
                <a:solidFill>
                  <a:srgbClr val="0066FF"/>
                </a:solidFill>
              </a:endParaRPr>
            </a:p>
            <a:p>
              <a:pPr eaLnBrk="1" hangingPunct="1">
                <a:spcBef>
                  <a:spcPct val="3000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66FF"/>
                  </a:solidFill>
                </a:rPr>
                <a:t>   </a:t>
              </a:r>
              <a:r>
                <a:rPr lang="en-US" altLang="zh-CN">
                  <a:solidFill>
                    <a:srgbClr val="0066FF"/>
                  </a:solidFill>
                </a:rPr>
                <a:t>(1)  </a:t>
              </a:r>
              <a:r>
                <a:rPr lang="en-US" altLang="zh-CN" i="1">
                  <a:solidFill>
                    <a:srgbClr val="0066FF"/>
                  </a:solidFill>
                </a:rPr>
                <a:t>F</a:t>
              </a:r>
              <a:r>
                <a:rPr lang="en-US" altLang="zh-CN">
                  <a:solidFill>
                    <a:srgbClr val="0066FF"/>
                  </a:solidFill>
                </a:rPr>
                <a:t>(</a:t>
              </a:r>
              <a:r>
                <a:rPr lang="en-US" altLang="zh-CN" i="1">
                  <a:solidFill>
                    <a:srgbClr val="0066FF"/>
                  </a:solidFill>
                </a:rPr>
                <a:t>a</a:t>
              </a:r>
              <a:r>
                <a:rPr lang="en-US" altLang="zh-CN">
                  <a:solidFill>
                    <a:srgbClr val="0066FF"/>
                  </a:solidFill>
                </a:rPr>
                <a:t>)</a:t>
              </a:r>
              <a:r>
                <a:rPr lang="zh-CN" altLang="en-US">
                  <a:solidFill>
                    <a:srgbClr val="0066FF"/>
                  </a:solidFill>
                </a:rPr>
                <a:t>，其中，</a:t>
              </a:r>
              <a:r>
                <a:rPr lang="en-US" altLang="zh-CN" i="1">
                  <a:solidFill>
                    <a:srgbClr val="0066FF"/>
                  </a:solidFill>
                </a:rPr>
                <a:t>a</a:t>
              </a:r>
              <a:r>
                <a:rPr lang="zh-CN" altLang="en-US">
                  <a:solidFill>
                    <a:srgbClr val="0066FF"/>
                  </a:solidFill>
                </a:rPr>
                <a:t>：墨西哥，</a:t>
              </a:r>
              <a:r>
                <a:rPr lang="en-US" altLang="zh-CN" i="1">
                  <a:solidFill>
                    <a:srgbClr val="0066FF"/>
                  </a:solidFill>
                </a:rPr>
                <a:t>F</a:t>
              </a:r>
              <a:r>
                <a:rPr lang="en-US" altLang="zh-CN">
                  <a:solidFill>
                    <a:srgbClr val="0066FF"/>
                  </a:solidFill>
                </a:rPr>
                <a:t>(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en-US" altLang="zh-CN">
                  <a:solidFill>
                    <a:srgbClr val="0066FF"/>
                  </a:solidFill>
                </a:rPr>
                <a:t>)</a:t>
              </a:r>
              <a:r>
                <a:rPr lang="zh-CN" altLang="en-US">
                  <a:solidFill>
                    <a:srgbClr val="0066FF"/>
                  </a:solidFill>
                </a:rPr>
                <a:t>：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zh-CN" altLang="en-US">
                  <a:solidFill>
                    <a:srgbClr val="0066FF"/>
                  </a:solidFill>
                </a:rPr>
                <a:t>位于南美洲</a:t>
              </a:r>
              <a:r>
                <a:rPr lang="en-US" altLang="zh-CN">
                  <a:solidFill>
                    <a:srgbClr val="0066FF"/>
                  </a:solidFill>
                </a:rPr>
                <a:t>.</a:t>
              </a:r>
              <a:endParaRPr lang="en-US" altLang="zh-CN">
                <a:solidFill>
                  <a:srgbClr val="0066FF"/>
                </a:solidFill>
              </a:endParaRPr>
            </a:p>
            <a:p>
              <a:pPr eaLnBrk="1" hangingPunct="1">
                <a:spcBef>
                  <a:spcPct val="3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0066FF"/>
                  </a:solidFill>
                </a:rPr>
                <a:t>   (2)  </a:t>
              </a:r>
              <a:r>
                <a:rPr lang="en-US" altLang="zh-CN" i="1">
                  <a:solidFill>
                    <a:srgbClr val="0066FF"/>
                  </a:solidFill>
                </a:rPr>
                <a:t>F</a:t>
              </a:r>
              <a:r>
                <a:rPr lang="en-US" altLang="zh-CN">
                  <a:solidFill>
                    <a:srgbClr val="0066FF"/>
                  </a:solidFill>
                </a:rPr>
                <a:t>(     )</a:t>
              </a:r>
              <a:r>
                <a:rPr lang="en-US" altLang="zh-CN">
                  <a:solidFill>
                    <a:srgbClr val="0066FF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solidFill>
                    <a:srgbClr val="0066FF"/>
                  </a:solidFill>
                  <a:sym typeface="Symbol" panose="05050102010706020507" pitchFamily="18" charset="2"/>
                </a:rPr>
                <a:t>G</a:t>
              </a:r>
              <a:r>
                <a:rPr lang="en-US" altLang="zh-CN">
                  <a:solidFill>
                    <a:srgbClr val="0066FF"/>
                  </a:solidFill>
                  <a:sym typeface="Symbol" panose="05050102010706020507" pitchFamily="18" charset="2"/>
                </a:rPr>
                <a:t>(     )</a:t>
              </a:r>
              <a:r>
                <a:rPr lang="en-US" altLang="zh-CN">
                  <a:solidFill>
                    <a:srgbClr val="0066FF"/>
                  </a:solidFill>
                </a:rPr>
                <a:t>,  </a:t>
              </a:r>
              <a:endParaRPr lang="en-US" altLang="zh-CN">
                <a:solidFill>
                  <a:srgbClr val="0066FF"/>
                </a:solidFill>
              </a:endParaRPr>
            </a:p>
            <a:p>
              <a:pPr eaLnBrk="1" hangingPunct="1">
                <a:spcBef>
                  <a:spcPct val="3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0066FF"/>
                  </a:solidFill>
                </a:rPr>
                <a:t>         </a:t>
              </a:r>
              <a:r>
                <a:rPr lang="zh-CN" altLang="en-US">
                  <a:solidFill>
                    <a:srgbClr val="0066FF"/>
                  </a:solidFill>
                </a:rPr>
                <a:t>其中，</a:t>
              </a:r>
              <a:r>
                <a:rPr lang="en-US" altLang="zh-CN" i="1">
                  <a:solidFill>
                    <a:srgbClr val="0066FF"/>
                  </a:solidFill>
                </a:rPr>
                <a:t>F</a:t>
              </a:r>
              <a:r>
                <a:rPr lang="en-US" altLang="zh-CN">
                  <a:solidFill>
                    <a:srgbClr val="0066FF"/>
                  </a:solidFill>
                </a:rPr>
                <a:t>(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en-US" altLang="zh-CN">
                  <a:solidFill>
                    <a:srgbClr val="0066FF"/>
                  </a:solidFill>
                </a:rPr>
                <a:t>)</a:t>
              </a:r>
              <a:r>
                <a:rPr lang="zh-CN" altLang="en-US">
                  <a:solidFill>
                    <a:srgbClr val="0066FF"/>
                  </a:solidFill>
                </a:rPr>
                <a:t>：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zh-CN" altLang="en-US">
                  <a:solidFill>
                    <a:srgbClr val="0066FF"/>
                  </a:solidFill>
                </a:rPr>
                <a:t>是无理数，</a:t>
              </a:r>
              <a:r>
                <a:rPr lang="en-US" altLang="zh-CN" i="1">
                  <a:solidFill>
                    <a:srgbClr val="0066FF"/>
                  </a:solidFill>
                </a:rPr>
                <a:t>G</a:t>
              </a:r>
              <a:r>
                <a:rPr lang="en-US" altLang="zh-CN">
                  <a:solidFill>
                    <a:srgbClr val="0066FF"/>
                  </a:solidFill>
                </a:rPr>
                <a:t>(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en-US" altLang="zh-CN">
                  <a:solidFill>
                    <a:srgbClr val="0066FF"/>
                  </a:solidFill>
                </a:rPr>
                <a:t>)</a:t>
              </a:r>
              <a:r>
                <a:rPr lang="zh-CN" altLang="en-US">
                  <a:solidFill>
                    <a:srgbClr val="0066FF"/>
                  </a:solidFill>
                </a:rPr>
                <a:t>：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zh-CN" altLang="en-US">
                  <a:solidFill>
                    <a:srgbClr val="0066FF"/>
                  </a:solidFill>
                </a:rPr>
                <a:t>是有理数</a:t>
              </a:r>
              <a:endParaRPr lang="zh-CN" altLang="en-US">
                <a:solidFill>
                  <a:srgbClr val="0066FF"/>
                </a:solidFill>
              </a:endParaRPr>
            </a:p>
            <a:p>
              <a:pPr eaLnBrk="1" hangingPunct="1">
                <a:spcBef>
                  <a:spcPct val="30000"/>
                </a:spcBef>
                <a:buClrTx/>
                <a:buFontTx/>
                <a:buNone/>
              </a:pPr>
              <a:r>
                <a:rPr lang="zh-CN" altLang="en-US">
                  <a:solidFill>
                    <a:srgbClr val="0066FF"/>
                  </a:solidFill>
                </a:rPr>
                <a:t>   </a:t>
              </a:r>
              <a:r>
                <a:rPr lang="en-US" altLang="zh-CN">
                  <a:solidFill>
                    <a:srgbClr val="0066FF"/>
                  </a:solidFill>
                </a:rPr>
                <a:t>(3) </a:t>
              </a:r>
              <a:r>
                <a:rPr lang="en-US" altLang="zh-CN" i="1">
                  <a:solidFill>
                    <a:srgbClr val="0066FF"/>
                  </a:solidFill>
                </a:rPr>
                <a:t>F</a:t>
              </a:r>
              <a:r>
                <a:rPr lang="en-US" altLang="zh-CN">
                  <a:solidFill>
                    <a:srgbClr val="0066FF"/>
                  </a:solidFill>
                </a:rPr>
                <a:t>(2, 3)</a:t>
              </a:r>
              <a:r>
                <a:rPr lang="en-US" altLang="zh-CN">
                  <a:solidFill>
                    <a:srgbClr val="0066FF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zh-CN" i="1">
                  <a:solidFill>
                    <a:srgbClr val="0066FF"/>
                  </a:solidFill>
                </a:rPr>
                <a:t>G</a:t>
              </a:r>
              <a:r>
                <a:rPr lang="en-US" altLang="zh-CN">
                  <a:solidFill>
                    <a:srgbClr val="0066FF"/>
                  </a:solidFill>
                </a:rPr>
                <a:t>(3, 4)</a:t>
              </a:r>
              <a:r>
                <a:rPr lang="zh-CN" altLang="en-US">
                  <a:solidFill>
                    <a:srgbClr val="0066FF"/>
                  </a:solidFill>
                </a:rPr>
                <a:t>，其中，</a:t>
              </a:r>
              <a:r>
                <a:rPr lang="en-US" altLang="zh-CN" i="1">
                  <a:solidFill>
                    <a:srgbClr val="0066FF"/>
                  </a:solidFill>
                </a:rPr>
                <a:t>F</a:t>
              </a:r>
              <a:r>
                <a:rPr lang="en-US" altLang="zh-CN">
                  <a:solidFill>
                    <a:srgbClr val="0066FF"/>
                  </a:solidFill>
                </a:rPr>
                <a:t>(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en-US" altLang="zh-CN">
                  <a:solidFill>
                    <a:srgbClr val="0066FF"/>
                  </a:solidFill>
                </a:rPr>
                <a:t>, </a:t>
              </a:r>
              <a:r>
                <a:rPr lang="en-US" altLang="zh-CN" i="1">
                  <a:solidFill>
                    <a:srgbClr val="0066FF"/>
                  </a:solidFill>
                </a:rPr>
                <a:t>y</a:t>
              </a:r>
              <a:r>
                <a:rPr lang="en-US" altLang="zh-CN">
                  <a:solidFill>
                    <a:srgbClr val="0066FF"/>
                  </a:solidFill>
                </a:rPr>
                <a:t>)</a:t>
              </a:r>
              <a:r>
                <a:rPr lang="zh-CN" altLang="en-US">
                  <a:solidFill>
                    <a:srgbClr val="0066FF"/>
                  </a:solidFill>
                </a:rPr>
                <a:t>：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en-US" altLang="zh-CN">
                  <a:solidFill>
                    <a:srgbClr val="0066FF"/>
                  </a:solidFill>
                </a:rPr>
                <a:t>&gt;</a:t>
              </a:r>
              <a:r>
                <a:rPr lang="en-US" altLang="zh-CN" i="1">
                  <a:solidFill>
                    <a:srgbClr val="0066FF"/>
                  </a:solidFill>
                </a:rPr>
                <a:t>y</a:t>
              </a:r>
              <a:r>
                <a:rPr lang="zh-CN" altLang="en-US">
                  <a:solidFill>
                    <a:srgbClr val="0066FF"/>
                  </a:solidFill>
                </a:rPr>
                <a:t>，</a:t>
              </a:r>
              <a:r>
                <a:rPr lang="en-US" altLang="zh-CN" i="1">
                  <a:solidFill>
                    <a:srgbClr val="0066FF"/>
                  </a:solidFill>
                </a:rPr>
                <a:t>G</a:t>
              </a:r>
              <a:r>
                <a:rPr lang="en-US" altLang="zh-CN">
                  <a:solidFill>
                    <a:srgbClr val="0066FF"/>
                  </a:solidFill>
                </a:rPr>
                <a:t>(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en-US" altLang="zh-CN">
                  <a:solidFill>
                    <a:srgbClr val="0066FF"/>
                  </a:solidFill>
                </a:rPr>
                <a:t>, </a:t>
              </a:r>
              <a:r>
                <a:rPr lang="en-US" altLang="zh-CN" i="1">
                  <a:solidFill>
                    <a:srgbClr val="0066FF"/>
                  </a:solidFill>
                </a:rPr>
                <a:t>y</a:t>
              </a:r>
              <a:r>
                <a:rPr lang="en-US" altLang="zh-CN">
                  <a:solidFill>
                    <a:srgbClr val="0066FF"/>
                  </a:solidFill>
                </a:rPr>
                <a:t>)</a:t>
              </a:r>
              <a:r>
                <a:rPr lang="zh-CN" altLang="en-US">
                  <a:solidFill>
                    <a:srgbClr val="0066FF"/>
                  </a:solidFill>
                </a:rPr>
                <a:t>：</a:t>
              </a:r>
              <a:r>
                <a:rPr lang="en-US" altLang="zh-CN" i="1">
                  <a:solidFill>
                    <a:srgbClr val="0066FF"/>
                  </a:solidFill>
                </a:rPr>
                <a:t>x</a:t>
              </a:r>
              <a:r>
                <a:rPr lang="en-US" altLang="zh-CN">
                  <a:solidFill>
                    <a:srgbClr val="0066FF"/>
                  </a:solidFill>
                </a:rPr>
                <a:t>&lt;</a:t>
              </a:r>
              <a:r>
                <a:rPr lang="en-US" altLang="zh-CN" i="1">
                  <a:solidFill>
                    <a:srgbClr val="0066FF"/>
                  </a:solidFill>
                </a:rPr>
                <a:t>y</a:t>
              </a:r>
              <a:endParaRPr lang="en-US" altLang="zh-CN" i="1">
                <a:solidFill>
                  <a:srgbClr val="0066FF"/>
                </a:solidFill>
              </a:endParaRPr>
            </a:p>
          </p:txBody>
        </p:sp>
        <p:graphicFrame>
          <p:nvGraphicFramePr>
            <p:cNvPr id="25610" name="Object 5"/>
            <p:cNvGraphicFramePr/>
            <p:nvPr/>
          </p:nvGraphicFramePr>
          <p:xfrm>
            <a:off x="975" y="1752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Microsoft 公式 3.0" r:id="rId7" imgW="241300" imgH="215900" progId="Equation.3">
                    <p:embed/>
                  </p:oleObj>
                </mc:Choice>
                <mc:Fallback>
                  <p:oleObj name="Microsoft 公式 3.0" r:id="rId7" imgW="241300" imgH="215900" progId="Equation.3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752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1" name="Object 7"/>
            <p:cNvGraphicFramePr>
              <a:graphicFrameLocks noChangeAspect="1"/>
            </p:cNvGraphicFramePr>
            <p:nvPr/>
          </p:nvGraphicFramePr>
          <p:xfrm>
            <a:off x="1655" y="1752"/>
            <a:ext cx="294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Microsoft 公式 3.0" r:id="rId8" imgW="228600" imgH="228600" progId="Equation.3">
                    <p:embed/>
                  </p:oleObj>
                </mc:Choice>
                <mc:Fallback>
                  <p:oleObj name="Microsoft 公式 3.0" r:id="rId8" imgW="2286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1752"/>
                          <a:ext cx="294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34908D-4FE9-47A2-BA89-FB248963B925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量词</a:t>
            </a:r>
            <a:endParaRPr lang="zh-CN" altLang="en-US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975" cy="5399087"/>
          </a:xfrm>
        </p:spPr>
        <p:txBody>
          <a:bodyPr/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例如：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表示</a:t>
            </a:r>
            <a:r>
              <a:rPr lang="en-US" altLang="zh-CN" i="1"/>
              <a:t>x</a:t>
            </a:r>
            <a:r>
              <a:rPr lang="zh-CN" altLang="en-US"/>
              <a:t>是大学生，</a:t>
            </a:r>
            <a:r>
              <a:rPr lang="en-US" altLang="zh-CN" i="1"/>
              <a:t>x</a:t>
            </a:r>
            <a:r>
              <a:rPr lang="zh-CN" altLang="en-US"/>
              <a:t>的个体域为“某单位里的职工”</a:t>
            </a:r>
            <a:endParaRPr lang="zh-CN" altLang="en-US"/>
          </a:p>
          <a:p>
            <a:pPr marL="876300" lvl="1" indent="-405130" eaLnBrk="1" hangingPunct="1">
              <a:lnSpc>
                <a:spcPct val="120000"/>
              </a:lnSpc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/>
              <a:t>：某单位</a:t>
            </a:r>
            <a:r>
              <a:rPr lang="zh-CN" altLang="en-US">
                <a:solidFill>
                  <a:srgbClr val="FF0000"/>
                </a:solidFill>
              </a:rPr>
              <a:t>所有的</a:t>
            </a:r>
            <a:r>
              <a:rPr lang="zh-CN" altLang="en-US"/>
              <a:t>职工都是大学生？</a:t>
            </a:r>
            <a:endParaRPr lang="zh-CN" altLang="en-US"/>
          </a:p>
          <a:p>
            <a:pPr marL="876300" lvl="1" indent="-405130" eaLnBrk="1" hangingPunct="1">
              <a:lnSpc>
                <a:spcPct val="120000"/>
              </a:lnSpc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/>
              <a:t>：某单位</a:t>
            </a:r>
            <a:r>
              <a:rPr lang="zh-CN" altLang="en-US">
                <a:solidFill>
                  <a:srgbClr val="FF0000"/>
                </a:solidFill>
              </a:rPr>
              <a:t>有一些</a:t>
            </a:r>
            <a:r>
              <a:rPr lang="zh-CN" altLang="en-US"/>
              <a:t>职工是大学生？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为了避免理解上的歧义，还需要引入用以刻划“所有的”、“有一些”等表示不同数量的词，即量词</a:t>
            </a:r>
            <a:r>
              <a:rPr lang="en-US" altLang="zh-CN"/>
              <a:t>(</a:t>
            </a:r>
            <a:r>
              <a:rPr lang="zh-CN" altLang="en-US"/>
              <a:t>表示数量的词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D06768-EFBF-4B25-9F6F-8D5390602B6A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全称量词</a:t>
            </a:r>
            <a:endParaRPr lang="zh-CN" altLang="en-US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25538"/>
            <a:ext cx="8362950" cy="1908175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A50021"/>
                </a:solidFill>
              </a:rPr>
              <a:t>全称量词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>
                <a:sym typeface="Symbol" panose="05050102010706020507" pitchFamily="18" charset="2"/>
              </a:rPr>
              <a:t>: </a:t>
            </a:r>
            <a:r>
              <a:rPr lang="zh-CN" altLang="en-US" dirty="0">
                <a:sym typeface="Symbol" panose="05050102010706020507" pitchFamily="18" charset="2"/>
              </a:rPr>
              <a:t>表达</a:t>
            </a:r>
            <a:r>
              <a:rPr lang="zh-CN" altLang="en-US" dirty="0"/>
              <a:t>“对所有的”，“每一个”，“对任一个”，“任意的”，“凡”，“都”等。</a:t>
            </a:r>
            <a:endParaRPr lang="zh-CN" altLang="en-US" dirty="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+mn-lt"/>
              </a:rPr>
              <a:t> </a:t>
            </a:r>
            <a:r>
              <a:rPr lang="zh-CN" altLang="en-US" sz="2400" b="1" dirty="0">
                <a:latin typeface="+mn-lt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+mn-lt"/>
              </a:rPr>
              <a:t>x</a:t>
            </a:r>
            <a:r>
              <a:rPr lang="en-US" altLang="zh-CN" sz="2400" dirty="0">
                <a:latin typeface="+mn-lt"/>
              </a:rPr>
              <a:t> </a:t>
            </a:r>
            <a:r>
              <a:rPr lang="en-US" altLang="zh-CN" sz="2400" dirty="0"/>
              <a:t>: </a:t>
            </a:r>
            <a:r>
              <a:rPr lang="zh-CN" altLang="en-US" sz="2400" dirty="0"/>
              <a:t>对个体域中所有的</a:t>
            </a:r>
            <a:r>
              <a:rPr lang="en-US" altLang="zh-CN" sz="2400" i="1" dirty="0">
                <a:latin typeface="+mn-lt"/>
              </a:rPr>
              <a:t>x</a:t>
            </a:r>
            <a:endParaRPr lang="en-US" altLang="zh-CN" sz="2400" i="1" dirty="0">
              <a:latin typeface="+mn-lt"/>
            </a:endParaRPr>
          </a:p>
          <a:p>
            <a:pPr eaLnBrk="1" hangingPunct="1">
              <a:spcBef>
                <a:spcPct val="10000"/>
              </a:spcBef>
              <a:defRPr/>
            </a:pPr>
            <a:r>
              <a:rPr lang="en-US" altLang="zh-CN" dirty="0"/>
              <a:t>      </a:t>
            </a:r>
            <a:r>
              <a:rPr lang="zh-CN" altLang="en-US" dirty="0"/>
              <a:t>如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en-US" dirty="0"/>
              <a:t>表示个体域中所有的</a:t>
            </a:r>
            <a:r>
              <a:rPr lang="en-US" altLang="zh-CN" i="1" dirty="0"/>
              <a:t>x</a:t>
            </a:r>
            <a:r>
              <a:rPr lang="zh-CN" altLang="en-US" dirty="0"/>
              <a:t>具有性质</a:t>
            </a:r>
            <a:r>
              <a:rPr lang="en-US" altLang="zh-CN" i="1" dirty="0"/>
              <a:t>F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827088" y="3690938"/>
            <a:ext cx="7959725" cy="1347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AutoNum type="arabicParenR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所有的</a:t>
            </a:r>
            <a:r>
              <a:rPr kumimoji="1" lang="zh-CN" altLang="en-US" sz="2400" b="1" dirty="0">
                <a:latin typeface="+mn-ea"/>
                <a:ea typeface="+mn-ea"/>
              </a:rPr>
              <a:t>人都是要呼吸的，个体域为人。</a:t>
            </a:r>
            <a:endParaRPr kumimoji="1" lang="zh-CN" altLang="en-US" sz="2400" b="1" dirty="0">
              <a:latin typeface="+mn-ea"/>
              <a:ea typeface="+mn-ea"/>
            </a:endParaRPr>
          </a:p>
          <a:p>
            <a:pPr eaLnBrk="1" hangingPunct="1">
              <a:spcBef>
                <a:spcPct val="20000"/>
              </a:spcBef>
              <a:buFontTx/>
              <a:buAutoNum type="arabicParenR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每个</a:t>
            </a:r>
            <a:r>
              <a:rPr kumimoji="1" lang="zh-CN" altLang="en-US" sz="2400" b="1" dirty="0">
                <a:latin typeface="+mn-ea"/>
                <a:ea typeface="+mn-ea"/>
              </a:rPr>
              <a:t>学生都要参加考试，个体域为学生。</a:t>
            </a:r>
            <a:endParaRPr kumimoji="1" lang="zh-CN" altLang="en-US" sz="2400" b="1" dirty="0">
              <a:latin typeface="+mn-ea"/>
              <a:ea typeface="+mn-ea"/>
            </a:endParaRPr>
          </a:p>
          <a:p>
            <a:pPr eaLnBrk="1" hangingPunct="1">
              <a:spcBef>
                <a:spcPct val="20000"/>
              </a:spcBef>
              <a:buFontTx/>
              <a:buAutoNum type="arabicParenR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所有的人</a:t>
            </a:r>
            <a:r>
              <a:rPr kumimoji="1" lang="zh-CN" altLang="en-US" sz="2400" b="1" dirty="0">
                <a:latin typeface="+mn-ea"/>
                <a:ea typeface="+mn-ea"/>
              </a:rPr>
              <a:t>都要呼吸，并且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每个</a:t>
            </a:r>
            <a:r>
              <a:rPr kumimoji="1" lang="zh-CN" altLang="en-US" sz="2400" b="1" dirty="0">
                <a:latin typeface="+mn-ea"/>
                <a:ea typeface="+mn-ea"/>
              </a:rPr>
              <a:t>学生都要考试。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448519" name="Text Box 7"/>
          <p:cNvSpPr txBox="1">
            <a:spLocks noChangeArrowheads="1"/>
          </p:cNvSpPr>
          <p:nvPr/>
        </p:nvSpPr>
        <p:spPr bwMode="auto">
          <a:xfrm>
            <a:off x="579438" y="3049588"/>
            <a:ext cx="885825" cy="5857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3200" b="1">
                <a:solidFill>
                  <a:srgbClr val="FFFFFF"/>
                </a:solidFill>
                <a:latin typeface="+mn-ea"/>
                <a:ea typeface="+mn-ea"/>
              </a:rPr>
              <a:t>例</a:t>
            </a:r>
            <a:endParaRPr kumimoji="1" lang="zh-CN" altLang="en-US" sz="3200" b="1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8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8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8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6" grpId="0" advAuto="0" autoUpdateAnimBg="0" build="p"/>
      <p:bldP spid="44851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3A34DF-59B1-491B-A4BE-3DE3370D0F4D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25538"/>
            <a:ext cx="8253412" cy="4894262"/>
          </a:xfrm>
        </p:spPr>
        <p:txBody>
          <a:bodyPr/>
          <a:lstStyle/>
          <a:p>
            <a:pPr marL="571500" indent="-571500" eaLnBrk="1" hangingPunct="1">
              <a:defRPr/>
            </a:pP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  <a:r>
              <a:rPr kumimoji="1" lang="zh-CN" altLang="en-US" dirty="0">
                <a:solidFill>
                  <a:srgbClr val="FF0000"/>
                </a:solidFill>
              </a:rPr>
              <a:t>所有的</a:t>
            </a:r>
            <a:r>
              <a:rPr kumimoji="1" lang="zh-CN" altLang="en-US" dirty="0"/>
              <a:t>人都是要呼吸的，个体域为人。</a:t>
            </a:r>
            <a:endParaRPr kumimoji="1" lang="zh-CN" altLang="en-US" dirty="0"/>
          </a:p>
          <a:p>
            <a:pPr marL="471805" lvl="1" indent="0" eaLnBrk="1" hangingPunct="1">
              <a:buFontTx/>
              <a:buNone/>
              <a:defRPr/>
            </a:pPr>
            <a:r>
              <a:rPr lang="zh-CN" altLang="en-US" dirty="0">
                <a:latin typeface="+mn-lt"/>
              </a:rPr>
              <a:t>设</a:t>
            </a:r>
            <a:r>
              <a:rPr kumimoji="1" lang="en-US" altLang="zh-CN" b="1" i="1" dirty="0">
                <a:latin typeface="+mn-lt"/>
              </a:rPr>
              <a:t>H</a:t>
            </a:r>
            <a:r>
              <a:rPr kumimoji="1" lang="en-US" altLang="zh-CN" b="1" dirty="0">
                <a:latin typeface="+mn-lt"/>
              </a:rPr>
              <a:t>(</a:t>
            </a:r>
            <a:r>
              <a:rPr kumimoji="1" lang="en-US" altLang="zh-CN" b="1" i="1" dirty="0">
                <a:latin typeface="+mn-lt"/>
              </a:rPr>
              <a:t>x</a:t>
            </a:r>
            <a:r>
              <a:rPr kumimoji="1" lang="en-US" altLang="zh-CN" b="1" dirty="0">
                <a:latin typeface="+mn-lt"/>
              </a:rPr>
              <a:t>): </a:t>
            </a:r>
            <a:r>
              <a:rPr kumimoji="1" lang="en-US" altLang="zh-CN" b="1" i="1" dirty="0">
                <a:latin typeface="+mn-lt"/>
              </a:rPr>
              <a:t>x</a:t>
            </a:r>
            <a:r>
              <a:rPr kumimoji="1" lang="zh-CN" altLang="en-US" dirty="0">
                <a:latin typeface="+mn-lt"/>
              </a:rPr>
              <a:t>要呼吸</a:t>
            </a:r>
            <a:endParaRPr kumimoji="1" lang="zh-CN" altLang="en-US" dirty="0">
              <a:latin typeface="+mn-lt"/>
            </a:endParaRPr>
          </a:p>
          <a:p>
            <a:pPr marL="471805" lvl="1" indent="0" eaLnBrk="1" hangingPunct="1">
              <a:buFontTx/>
              <a:buNone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b="1" i="1" dirty="0" err="1">
                <a:latin typeface="+mn-lt"/>
              </a:rPr>
              <a:t>xH</a:t>
            </a:r>
            <a:r>
              <a:rPr kumimoji="1" lang="en-US" altLang="zh-CN" b="1" dirty="0">
                <a:latin typeface="+mn-lt"/>
              </a:rPr>
              <a:t>(</a:t>
            </a:r>
            <a:r>
              <a:rPr kumimoji="1" lang="en-US" altLang="zh-CN" b="1" i="1" dirty="0">
                <a:latin typeface="+mn-lt"/>
              </a:rPr>
              <a:t>x</a:t>
            </a:r>
            <a:r>
              <a:rPr kumimoji="1" lang="en-US" altLang="zh-CN" b="1" dirty="0">
                <a:latin typeface="+mn-lt"/>
              </a:rPr>
              <a:t>)</a:t>
            </a:r>
            <a:endParaRPr kumimoji="1" lang="en-US" altLang="zh-CN" b="1" dirty="0">
              <a:latin typeface="+mn-lt"/>
            </a:endParaRPr>
          </a:p>
          <a:p>
            <a:pPr marL="471805" lvl="1" indent="0" eaLnBrk="1" hangingPunct="1">
              <a:buFontTx/>
              <a:buNone/>
              <a:defRPr/>
            </a:pPr>
            <a:endParaRPr kumimoji="1" lang="en-US" altLang="zh-CN" b="1" dirty="0">
              <a:latin typeface="+mn-lt"/>
            </a:endParaRPr>
          </a:p>
          <a:p>
            <a:pPr marL="571500" indent="-571500" eaLnBrk="1" hangingPunct="1">
              <a:defRPr/>
            </a:pP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  <a:r>
              <a:rPr kumimoji="1" lang="zh-CN" altLang="en-US" dirty="0">
                <a:solidFill>
                  <a:srgbClr val="FF0000"/>
                </a:solidFill>
              </a:rPr>
              <a:t>每个</a:t>
            </a:r>
            <a:r>
              <a:rPr kumimoji="1" lang="zh-CN" altLang="en-US" dirty="0"/>
              <a:t>学生都要参加考试，个体域为学生。</a:t>
            </a:r>
            <a:endParaRPr kumimoji="1" lang="zh-CN" altLang="en-US" dirty="0"/>
          </a:p>
          <a:p>
            <a:pPr marL="571500" indent="-571500" eaLnBrk="1" hangingPunct="1">
              <a:defRPr/>
            </a:pPr>
            <a:r>
              <a:rPr lang="en-US" altLang="zh-CN" dirty="0"/>
              <a:t>      </a:t>
            </a:r>
            <a:r>
              <a:rPr lang="zh-CN" altLang="en-US" dirty="0"/>
              <a:t>设</a:t>
            </a:r>
            <a:r>
              <a:rPr kumimoji="1" lang="en-US" altLang="zh-CN" i="1" dirty="0"/>
              <a:t>Q</a:t>
            </a:r>
            <a:r>
              <a:rPr kumimoji="1" lang="en-US" altLang="zh-CN" dirty="0"/>
              <a:t>(</a:t>
            </a:r>
            <a:r>
              <a:rPr kumimoji="1" lang="en-US" altLang="zh-CN" sz="2200" i="1" dirty="0">
                <a:ea typeface="华文中宋" panose="02010600040101010101" pitchFamily="2" charset="-122"/>
              </a:rPr>
              <a:t>y</a:t>
            </a:r>
            <a:r>
              <a:rPr kumimoji="1" lang="en-US" altLang="zh-CN" dirty="0"/>
              <a:t>):</a:t>
            </a:r>
            <a:r>
              <a:rPr kumimoji="1" lang="en-US" altLang="zh-CN" sz="2200" i="1" dirty="0">
                <a:ea typeface="华文中宋" panose="02010600040101010101" pitchFamily="2" charset="-122"/>
              </a:rPr>
              <a:t> y</a:t>
            </a:r>
            <a:r>
              <a:rPr kumimoji="1" lang="zh-CN" altLang="en-US" dirty="0"/>
              <a:t>要考试</a:t>
            </a:r>
            <a:endParaRPr kumimoji="1" lang="zh-CN" altLang="en-US" dirty="0"/>
          </a:p>
          <a:p>
            <a:pPr marL="471805" lvl="1" indent="0" eaLnBrk="1" hangingPunct="1">
              <a:buFontTx/>
              <a:buNone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b="1" i="1" dirty="0" err="1">
                <a:latin typeface="+mn-lt"/>
              </a:rPr>
              <a:t>yQ</a:t>
            </a:r>
            <a:r>
              <a:rPr kumimoji="1" lang="en-US" altLang="zh-CN" b="1" dirty="0">
                <a:latin typeface="+mn-lt"/>
              </a:rPr>
              <a:t>(</a:t>
            </a:r>
            <a:r>
              <a:rPr kumimoji="1" lang="en-US" altLang="zh-CN" b="1" i="1" dirty="0">
                <a:latin typeface="+mn-lt"/>
              </a:rPr>
              <a:t>y</a:t>
            </a:r>
            <a:r>
              <a:rPr kumimoji="1" lang="en-US" altLang="zh-CN" b="1" dirty="0">
                <a:latin typeface="+mn-lt"/>
              </a:rPr>
              <a:t>)</a:t>
            </a:r>
            <a:endParaRPr kumimoji="1" lang="en-US" altLang="zh-CN" b="1" dirty="0">
              <a:latin typeface="+mn-lt"/>
            </a:endParaRPr>
          </a:p>
          <a:p>
            <a:pPr marL="471805" lvl="1" indent="0" eaLnBrk="1" hangingPunct="1">
              <a:buFontTx/>
              <a:buNone/>
              <a:defRPr/>
            </a:pPr>
            <a:endParaRPr kumimoji="1" lang="en-US" altLang="zh-CN" b="1" dirty="0">
              <a:latin typeface="+mn-lt"/>
            </a:endParaRPr>
          </a:p>
          <a:p>
            <a:pPr marL="571500" indent="-571500" eaLnBrk="1" hangingPunct="1">
              <a:defRPr/>
            </a:pP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r>
              <a:rPr kumimoji="1" lang="zh-CN" altLang="en-US" dirty="0">
                <a:solidFill>
                  <a:srgbClr val="FF0000"/>
                </a:solidFill>
              </a:rPr>
              <a:t>所有的</a:t>
            </a:r>
            <a:r>
              <a:rPr kumimoji="1" lang="zh-CN" altLang="en-US" dirty="0"/>
              <a:t>人都要呼吸，并且</a:t>
            </a:r>
            <a:r>
              <a:rPr kumimoji="1" lang="zh-CN" altLang="en-US" dirty="0">
                <a:solidFill>
                  <a:srgbClr val="FF0000"/>
                </a:solidFill>
              </a:rPr>
              <a:t>每个</a:t>
            </a:r>
            <a:r>
              <a:rPr kumimoji="1" lang="zh-CN" altLang="en-US" dirty="0"/>
              <a:t>学生都要考试。</a:t>
            </a:r>
            <a:endParaRPr kumimoji="1" lang="zh-CN" altLang="en-US" dirty="0"/>
          </a:p>
          <a:p>
            <a:pPr marL="471805" lvl="1" indent="0" eaLnBrk="1" hangingPunct="1">
              <a:buFontTx/>
              <a:buNone/>
              <a:defRPr/>
            </a:pPr>
            <a:endParaRPr kumimoji="1" lang="en-US" altLang="zh-CN" b="1" dirty="0">
              <a:latin typeface="+mn-lt"/>
              <a:sym typeface="Symbol" panose="05050102010706020507" pitchFamily="18" charset="2"/>
            </a:endParaRPr>
          </a:p>
          <a:p>
            <a:pPr marL="471805" lvl="1" indent="0" eaLnBrk="1" hangingPunct="1">
              <a:buFontTx/>
              <a:buNone/>
              <a:defRPr/>
            </a:pPr>
            <a:r>
              <a:rPr kumimoji="1" lang="zh-CN" altLang="en-US" sz="2400" b="1" dirty="0">
                <a:latin typeface="+mn-lt"/>
                <a:sym typeface="Symbol" panose="05050102010706020507" pitchFamily="18" charset="2"/>
              </a:rPr>
              <a:t></a:t>
            </a:r>
            <a:r>
              <a:rPr kumimoji="1" lang="en-US" altLang="zh-CN" sz="2400" b="1" i="1" dirty="0" err="1">
                <a:latin typeface="+mn-lt"/>
              </a:rPr>
              <a:t>xH</a:t>
            </a:r>
            <a:r>
              <a:rPr kumimoji="1" lang="en-US" altLang="zh-CN" sz="2400" b="1" dirty="0">
                <a:latin typeface="+mn-lt"/>
              </a:rPr>
              <a:t>(</a:t>
            </a:r>
            <a:r>
              <a:rPr kumimoji="1" lang="en-US" altLang="zh-CN" sz="2400" b="1" i="1" dirty="0">
                <a:latin typeface="+mn-lt"/>
              </a:rPr>
              <a:t>x</a:t>
            </a:r>
            <a:r>
              <a:rPr kumimoji="1" lang="en-US" altLang="zh-CN" sz="2400" b="1" dirty="0">
                <a:latin typeface="+mn-lt"/>
              </a:rPr>
              <a:t>)</a:t>
            </a:r>
            <a:r>
              <a:rPr kumimoji="1" lang="en-US" altLang="zh-CN" sz="2400" b="1" dirty="0">
                <a:latin typeface="+mn-lt"/>
                <a:sym typeface="Symbol" panose="05050102010706020507" pitchFamily="18" charset="2"/>
              </a:rPr>
              <a:t></a:t>
            </a:r>
            <a:r>
              <a:rPr kumimoji="1" lang="en-US" altLang="zh-CN" sz="2400" b="1" i="1" dirty="0" err="1">
                <a:latin typeface="+mn-lt"/>
              </a:rPr>
              <a:t>y</a:t>
            </a:r>
            <a:r>
              <a:rPr kumimoji="1" lang="en-US" altLang="zh-CN" sz="2400" b="1" dirty="0" err="1">
                <a:latin typeface="+mn-lt"/>
              </a:rPr>
              <a:t>Q</a:t>
            </a:r>
            <a:r>
              <a:rPr kumimoji="1" lang="en-US" altLang="zh-CN" sz="2400" b="1" dirty="0">
                <a:latin typeface="+mn-lt"/>
              </a:rPr>
              <a:t>(</a:t>
            </a:r>
            <a:r>
              <a:rPr kumimoji="1" lang="en-US" altLang="zh-CN" sz="2400" b="1" i="1" dirty="0">
                <a:latin typeface="+mn-lt"/>
              </a:rPr>
              <a:t>y</a:t>
            </a:r>
            <a:r>
              <a:rPr kumimoji="1" lang="en-US" altLang="zh-CN" sz="2400" b="1" dirty="0">
                <a:latin typeface="+mn-lt"/>
              </a:rPr>
              <a:t>)</a:t>
            </a:r>
            <a:endParaRPr kumimoji="1" lang="en-US" altLang="en-US" sz="24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4" name="图形 3" descr="帮助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1054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412AF6-BDCD-4513-A4B3-A0C3FB499BA6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特性谓词</a:t>
            </a:r>
            <a:endParaRPr lang="zh-CN" altLang="en-US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zh-CN"/>
              <a:t>为了方便我们通常使用全总个体域，对于每一个客体变元的变化范围，通常用</a:t>
            </a:r>
            <a:r>
              <a:rPr lang="zh-CN" altLang="zh-CN">
                <a:solidFill>
                  <a:srgbClr val="FF0000"/>
                </a:solidFill>
              </a:rPr>
              <a:t>特性谓词</a:t>
            </a:r>
            <a:r>
              <a:rPr lang="zh-CN" altLang="zh-CN"/>
              <a:t>加以限制。除非特别说明，否则将采用全总个体域。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对于 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zh-CN" altLang="en-US">
                <a:sym typeface="MT Symbol" pitchFamily="82" charset="2"/>
              </a:rPr>
              <a:t> ，表示客体变化范围的特性谓词</a:t>
            </a:r>
            <a:r>
              <a:rPr lang="zh-CN" altLang="en-US"/>
              <a:t>通常作为蕴含的前件。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3E0B18-B8B4-461A-AE94-1BE6FC6D2E17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25538"/>
            <a:ext cx="8108950" cy="1871662"/>
          </a:xfrm>
        </p:spPr>
        <p:txBody>
          <a:bodyPr/>
          <a:lstStyle/>
          <a:p>
            <a:pPr marL="571500" indent="-571500" eaLnBrk="1" hangingPunct="1"/>
            <a:r>
              <a:rPr lang="zh-CN" altLang="en-US"/>
              <a:t>符号化下列命题：</a:t>
            </a:r>
            <a:endParaRPr lang="zh-CN" altLang="en-US"/>
          </a:p>
          <a:p>
            <a:pPr marL="571500" indent="-571500" eaLnBrk="1" hangingPunct="1"/>
            <a:r>
              <a:rPr kumimoji="1" lang="en-US" altLang="zh-CN"/>
              <a:t>1</a:t>
            </a:r>
            <a:r>
              <a:rPr kumimoji="1" lang="zh-CN" altLang="en-US"/>
              <a:t>）所有的人都是要呼吸的。</a:t>
            </a:r>
            <a:endParaRPr kumimoji="1" lang="zh-CN" altLang="en-US"/>
          </a:p>
          <a:p>
            <a:pPr marL="571500" indent="-571500" eaLnBrk="1" hangingPunct="1"/>
            <a:r>
              <a:rPr kumimoji="1" lang="en-US" altLang="zh-CN"/>
              <a:t>2</a:t>
            </a:r>
            <a:r>
              <a:rPr kumimoji="1" lang="zh-CN" altLang="en-US"/>
              <a:t>）每个学生都要参加考试。</a:t>
            </a:r>
            <a:endParaRPr kumimoji="1" lang="zh-CN" altLang="en-US"/>
          </a:p>
          <a:p>
            <a:pPr marL="571500" indent="-571500" eaLnBrk="1" hangingPunct="1"/>
            <a:r>
              <a:rPr kumimoji="1" lang="en-US" altLang="zh-CN"/>
              <a:t>3</a:t>
            </a:r>
            <a:r>
              <a:rPr kumimoji="1" lang="zh-CN" altLang="en-US"/>
              <a:t>）所有的人都要呼吸，并且每个学生都要考试。</a:t>
            </a:r>
            <a:endParaRPr kumimoji="1" lang="zh-CN" altLang="en-US"/>
          </a:p>
        </p:txBody>
      </p:sp>
      <p:sp>
        <p:nvSpPr>
          <p:cNvPr id="455684" name="Rectangle 4"/>
          <p:cNvSpPr>
            <a:spLocks noChangeArrowheads="1"/>
          </p:cNvSpPr>
          <p:nvPr/>
        </p:nvSpPr>
        <p:spPr bwMode="auto">
          <a:xfrm>
            <a:off x="1281113" y="3562350"/>
            <a:ext cx="3267075" cy="1570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ea typeface="楷体_GB2312" panose="02010609030101010101" pitchFamily="49" charset="-122"/>
              </a:rPr>
              <a:t>(1)</a:t>
            </a:r>
            <a:endParaRPr kumimoji="1" lang="en-US" altLang="zh-CN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M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):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zh-CN" altLang="en-US">
                <a:ea typeface="楷体_GB2312" panose="02010609030101010101" pitchFamily="49" charset="-122"/>
              </a:rPr>
              <a:t>是人</a:t>
            </a:r>
            <a:endParaRPr kumimoji="1" lang="zh-CN" altLang="en-US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i="1">
                <a:ea typeface="楷体_GB2312" panose="02010609030101010101" pitchFamily="49" charset="-122"/>
              </a:rPr>
              <a:t>H</a:t>
            </a:r>
            <a:r>
              <a:rPr kumimoji="1" lang="en-US" altLang="zh-CN"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):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zh-CN" altLang="en-US">
                <a:ea typeface="楷体_GB2312" panose="02010609030101010101" pitchFamily="49" charset="-122"/>
              </a:rPr>
              <a:t>要呼吸</a:t>
            </a:r>
            <a:endParaRPr kumimoji="1" lang="zh-CN" altLang="en-US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M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)</a:t>
            </a:r>
            <a:r>
              <a:rPr kumimoji="1" lang="en-US" altLang="zh-CN">
                <a:ea typeface="楷体_GB2312" panose="02010609030101010101" pitchFamily="49" charset="-122"/>
              </a:rPr>
              <a:t> </a:t>
            </a:r>
            <a:r>
              <a:rPr kumimoji="1" lang="en-US" altLang="zh-CN">
                <a:latin typeface="宋体" panose="02010600030101010101" pitchFamily="2" charset="-122"/>
              </a:rPr>
              <a:t>→</a:t>
            </a:r>
            <a:r>
              <a:rPr kumimoji="1" lang="en-US" altLang="zh-CN">
                <a:ea typeface="楷体_GB2312" panose="02010609030101010101" pitchFamily="49" charset="-122"/>
              </a:rPr>
              <a:t> </a:t>
            </a:r>
            <a:r>
              <a:rPr kumimoji="1" lang="en-US" altLang="zh-CN" i="1">
                <a:ea typeface="楷体_GB2312" panose="02010609030101010101" pitchFamily="49" charset="-122"/>
              </a:rPr>
              <a:t>H</a:t>
            </a:r>
            <a:r>
              <a:rPr kumimoji="1" lang="en-US" altLang="zh-CN"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))</a:t>
            </a:r>
            <a:endParaRPr kumimoji="1" lang="en-US" altLang="zh-CN">
              <a:ea typeface="楷体_GB2312" panose="02010609030101010101" pitchFamily="49" charset="-122"/>
            </a:endParaRPr>
          </a:p>
        </p:txBody>
      </p:sp>
      <p:sp>
        <p:nvSpPr>
          <p:cNvPr id="455685" name="Text Box 5"/>
          <p:cNvSpPr txBox="1">
            <a:spLocks noChangeArrowheads="1"/>
          </p:cNvSpPr>
          <p:nvPr/>
        </p:nvSpPr>
        <p:spPr bwMode="auto">
          <a:xfrm>
            <a:off x="249238" y="2932113"/>
            <a:ext cx="1066800" cy="5842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anose="02010609030101010101" pitchFamily="49" charset="-122"/>
              </a:rPr>
              <a:t>解</a:t>
            </a:r>
            <a:endParaRPr kumimoji="1" lang="zh-CN" altLang="en-US" sz="3200">
              <a:solidFill>
                <a:srgbClr val="FFFFFF"/>
              </a:solidFill>
              <a:ea typeface="楷体_GB2312" panose="02010609030101010101" pitchFamily="49" charset="-122"/>
            </a:endParaRPr>
          </a:p>
        </p:txBody>
      </p:sp>
      <p:sp>
        <p:nvSpPr>
          <p:cNvPr id="455686" name="Rectangle 6"/>
          <p:cNvSpPr>
            <a:spLocks noChangeArrowheads="1"/>
          </p:cNvSpPr>
          <p:nvPr/>
        </p:nvSpPr>
        <p:spPr bwMode="auto">
          <a:xfrm>
            <a:off x="5132388" y="3608388"/>
            <a:ext cx="3268662" cy="156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ea typeface="楷体_GB2312" panose="02010609030101010101" pitchFamily="49" charset="-122"/>
              </a:rPr>
              <a:t>(2)</a:t>
            </a:r>
            <a:endParaRPr kumimoji="1" lang="en-US" altLang="zh-CN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P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)</a:t>
            </a:r>
            <a:r>
              <a:rPr kumimoji="1" lang="en-US" altLang="zh-CN">
                <a:ea typeface="楷体_GB2312" panose="02010609030101010101" pitchFamily="49" charset="-122"/>
              </a:rPr>
              <a:t>: 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 </a:t>
            </a:r>
            <a:r>
              <a:rPr kumimoji="1" lang="zh-CN" altLang="en-US">
                <a:ea typeface="楷体_GB2312" panose="02010609030101010101" pitchFamily="49" charset="-122"/>
              </a:rPr>
              <a:t>是学生</a:t>
            </a:r>
            <a:endParaRPr kumimoji="1" lang="zh-CN" altLang="en-US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i="1">
                <a:ea typeface="楷体_GB2312" panose="02010609030101010101" pitchFamily="49" charset="-122"/>
              </a:rPr>
              <a:t>Q</a:t>
            </a:r>
            <a:r>
              <a:rPr kumimoji="1" lang="en-US" altLang="zh-CN"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): 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 </a:t>
            </a:r>
            <a:r>
              <a:rPr kumimoji="1" lang="zh-CN" altLang="en-US">
                <a:ea typeface="楷体_GB2312" panose="02010609030101010101" pitchFamily="49" charset="-122"/>
              </a:rPr>
              <a:t>要参加考试</a:t>
            </a:r>
            <a:endParaRPr kumimoji="1" lang="zh-CN" altLang="en-US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 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P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)</a:t>
            </a:r>
            <a:r>
              <a:rPr kumimoji="1" lang="en-US" altLang="zh-CN">
                <a:ea typeface="楷体_GB2312" panose="02010609030101010101" pitchFamily="49" charset="-122"/>
              </a:rPr>
              <a:t> </a:t>
            </a:r>
            <a:r>
              <a:rPr kumimoji="1" lang="en-US" altLang="zh-CN">
                <a:latin typeface="宋体" panose="02010600030101010101" pitchFamily="2" charset="-122"/>
              </a:rPr>
              <a:t>→</a:t>
            </a:r>
            <a:r>
              <a:rPr kumimoji="1" lang="en-US" altLang="zh-CN">
                <a:ea typeface="楷体_GB2312" panose="02010609030101010101" pitchFamily="49" charset="-122"/>
              </a:rPr>
              <a:t> </a:t>
            </a:r>
            <a:r>
              <a:rPr kumimoji="1" lang="en-US" altLang="zh-CN" i="1">
                <a:ea typeface="楷体_GB2312" panose="02010609030101010101" pitchFamily="49" charset="-122"/>
              </a:rPr>
              <a:t>Q</a:t>
            </a:r>
            <a:r>
              <a:rPr kumimoji="1" lang="en-US" altLang="zh-CN"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))</a:t>
            </a:r>
            <a:endParaRPr kumimoji="1" lang="en-US" altLang="zh-CN">
              <a:ea typeface="楷体_GB2312" panose="02010609030101010101" pitchFamily="49" charset="-122"/>
            </a:endParaRPr>
          </a:p>
        </p:txBody>
      </p:sp>
      <p:sp>
        <p:nvSpPr>
          <p:cNvPr id="455687" name="Rectangle 7"/>
          <p:cNvSpPr>
            <a:spLocks noChangeArrowheads="1"/>
          </p:cNvSpPr>
          <p:nvPr/>
        </p:nvSpPr>
        <p:spPr bwMode="auto">
          <a:xfrm>
            <a:off x="1346200" y="5132388"/>
            <a:ext cx="6767513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ea typeface="楷体_GB2312" panose="02010609030101010101" pitchFamily="49" charset="-122"/>
              </a:rPr>
              <a:t>(3)</a:t>
            </a:r>
            <a:endParaRPr kumimoji="1" lang="en-US" altLang="zh-CN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i="1">
                <a:solidFill>
                  <a:srgbClr val="000000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solidFill>
                  <a:srgbClr val="000000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M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)</a:t>
            </a:r>
            <a:r>
              <a:rPr kumimoji="1"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→</a:t>
            </a:r>
            <a:r>
              <a:rPr kumimoji="1" lang="en-US" altLang="zh-CN" i="1">
                <a:solidFill>
                  <a:srgbClr val="000000"/>
                </a:solidFill>
                <a:ea typeface="楷体_GB2312" panose="02010609030101010101" pitchFamily="49" charset="-122"/>
              </a:rPr>
              <a:t>H</a:t>
            </a:r>
            <a:r>
              <a:rPr kumimoji="1" lang="en-US" altLang="zh-CN">
                <a:solidFill>
                  <a:srgbClr val="000000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solidFill>
                  <a:srgbClr val="000000"/>
                </a:solidFill>
                <a:ea typeface="楷体_GB2312" panose="02010609030101010101" pitchFamily="49" charset="-122"/>
              </a:rPr>
              <a:t>))</a:t>
            </a:r>
            <a:r>
              <a:rPr kumimoji="1" lang="en-US" altLang="zh-CN">
                <a:solidFill>
                  <a:srgbClr val="00000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</a:t>
            </a:r>
            <a:r>
              <a:rPr kumimoji="1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i="1">
                <a:solidFill>
                  <a:srgbClr val="000000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P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ea typeface="楷体_GB2312" panose="02010609030101010101" pitchFamily="49" charset="-122"/>
              </a:rPr>
              <a:t>)</a:t>
            </a:r>
            <a:r>
              <a:rPr kumimoji="1" lang="en-US" altLang="zh-CN">
                <a:latin typeface="宋体" panose="02010600030101010101" pitchFamily="2" charset="-122"/>
              </a:rPr>
              <a:t>→</a:t>
            </a:r>
            <a:r>
              <a:rPr kumimoji="1" lang="en-US" altLang="zh-CN" i="1">
                <a:solidFill>
                  <a:srgbClr val="000000"/>
                </a:solidFill>
                <a:ea typeface="楷体_GB2312" panose="02010609030101010101" pitchFamily="49" charset="-122"/>
              </a:rPr>
              <a:t>Q</a:t>
            </a:r>
            <a:r>
              <a:rPr kumimoji="1" lang="en-US" altLang="zh-CN">
                <a:ea typeface="楷体_GB2312" panose="02010609030101010101" pitchFamily="49" charset="-122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ea typeface="楷体_GB2312" panose="02010609030101010101" pitchFamily="49" charset="-122"/>
              </a:rPr>
              <a:t>x</a:t>
            </a:r>
            <a:r>
              <a:rPr kumimoji="1" lang="en-US" altLang="zh-CN">
                <a:ea typeface="楷体_GB2312" panose="02010609030101010101" pitchFamily="49" charset="-122"/>
              </a:rPr>
              <a:t>))</a:t>
            </a:r>
            <a:endParaRPr kumimoji="1" lang="en-US" altLang="zh-CN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56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5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5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5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5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56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5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5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5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5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56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5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5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4" grpId="0" animBg="1" autoUpdateAnimBg="0" build="p"/>
      <p:bldP spid="455685" grpId="0" animBg="1" autoUpdateAnimBg="0"/>
      <p:bldP spid="455686" grpId="0" animBg="1" autoUpdateAnimBg="0" build="p"/>
      <p:bldP spid="455687" grpId="0" animBg="1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873EA9-3147-4FE5-AC79-5915C4E1856F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存在量词</a:t>
            </a:r>
            <a:endParaRPr lang="zh-CN" altLang="en-US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68425"/>
            <a:ext cx="8229600" cy="4525963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A50021"/>
                </a:solidFill>
              </a:rPr>
              <a:t>存在量词</a:t>
            </a:r>
            <a:r>
              <a:rPr lang="zh-CN" altLang="en-US">
                <a:solidFill>
                  <a:srgbClr val="A50021"/>
                </a:solidFill>
                <a:sym typeface="Symbol" panose="05050102010706020507" pitchFamily="18" charset="2"/>
              </a:rPr>
              <a:t></a:t>
            </a:r>
            <a:r>
              <a:rPr lang="en-US" altLang="zh-CN">
                <a:sym typeface="Symbol" panose="05050102010706020507" pitchFamily="18" charset="2"/>
              </a:rPr>
              <a:t>: </a:t>
            </a:r>
            <a:r>
              <a:rPr lang="zh-CN" altLang="en-US">
                <a:sym typeface="Symbol" panose="05050102010706020507" pitchFamily="18" charset="2"/>
              </a:rPr>
              <a:t>表达“存在”，</a:t>
            </a:r>
            <a:r>
              <a:rPr lang="en-US" altLang="zh-CN">
                <a:sym typeface="Symbol" panose="05050102010706020507" pitchFamily="18" charset="2"/>
              </a:rPr>
              <a:t>,”</a:t>
            </a:r>
            <a:r>
              <a:rPr lang="zh-CN" altLang="en-US">
                <a:sym typeface="Symbol" panose="05050102010706020507" pitchFamily="18" charset="2"/>
              </a:rPr>
              <a:t>有的”，“ 有一个”，“至少有一个”，“有 一些”等。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sym typeface="Symbol" panose="05050102010706020507" pitchFamily="18" charset="2"/>
              </a:rPr>
              <a:t>       </a:t>
            </a:r>
            <a:r>
              <a:rPr lang="en-US" altLang="zh-CN" i="1"/>
              <a:t>x</a:t>
            </a:r>
            <a:r>
              <a:rPr lang="en-US" altLang="zh-CN"/>
              <a:t> : </a:t>
            </a:r>
            <a:r>
              <a:rPr lang="zh-CN" altLang="en-US"/>
              <a:t>个体域中有一个</a:t>
            </a:r>
            <a:r>
              <a:rPr lang="en-US" altLang="zh-CN" i="1"/>
              <a:t>x</a:t>
            </a:r>
            <a:r>
              <a:rPr lang="en-US" altLang="zh-CN"/>
              <a:t> </a:t>
            </a:r>
            <a:endParaRPr lang="en-US" altLang="zh-CN"/>
          </a:p>
          <a:p>
            <a:pPr eaLnBrk="1" hangingPunct="1">
              <a:spcBef>
                <a:spcPct val="10000"/>
              </a:spcBef>
            </a:pPr>
            <a:r>
              <a:rPr lang="en-US" altLang="zh-CN"/>
              <a:t>      </a:t>
            </a:r>
            <a:r>
              <a:rPr lang="zh-CN" altLang="en-US"/>
              <a:t>如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xF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表示个体域中有一个</a:t>
            </a:r>
            <a:r>
              <a:rPr lang="en-US" altLang="zh-CN" i="1"/>
              <a:t>x</a:t>
            </a:r>
            <a:r>
              <a:rPr lang="zh-CN" altLang="en-US"/>
              <a:t>具有性质</a:t>
            </a:r>
            <a:r>
              <a:rPr lang="en-US" altLang="zh-CN" i="1"/>
              <a:t>F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449546" name="Rectangle 10"/>
          <p:cNvSpPr>
            <a:spLocks noChangeArrowheads="1"/>
          </p:cNvSpPr>
          <p:nvPr/>
        </p:nvSpPr>
        <p:spPr bwMode="auto">
          <a:xfrm>
            <a:off x="644525" y="4086225"/>
            <a:ext cx="3711575" cy="1643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AutoNum type="arabicParenR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有些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人是聪明的，个体域为人。</a:t>
            </a:r>
            <a:endParaRPr kumimoji="1"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20000"/>
              </a:spcBef>
              <a:buFontTx/>
              <a:buAutoNum type="arabicParenR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有些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学生早饭吃面包，个体域为学生。</a:t>
            </a:r>
            <a:endParaRPr kumimoji="1"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49547" name="Text Box 11"/>
          <p:cNvSpPr txBox="1">
            <a:spLocks noChangeArrowheads="1"/>
          </p:cNvSpPr>
          <p:nvPr/>
        </p:nvSpPr>
        <p:spPr bwMode="auto">
          <a:xfrm>
            <a:off x="796925" y="3367088"/>
            <a:ext cx="1066800" cy="5842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anose="02010609030101010101" pitchFamily="49" charset="-122"/>
              </a:rPr>
              <a:t>例</a:t>
            </a:r>
            <a:endParaRPr kumimoji="1" lang="zh-CN" altLang="en-US" sz="3200">
              <a:solidFill>
                <a:srgbClr val="FFFFFF"/>
              </a:solidFill>
              <a:ea typeface="楷体_GB2312" panose="02010609030101010101" pitchFamily="49" charset="-122"/>
            </a:endParaRPr>
          </a:p>
        </p:txBody>
      </p:sp>
      <p:sp>
        <p:nvSpPr>
          <p:cNvPr id="449548" name="Rectangle 12"/>
          <p:cNvSpPr>
            <a:spLocks noChangeArrowheads="1"/>
          </p:cNvSpPr>
          <p:nvPr/>
        </p:nvSpPr>
        <p:spPr bwMode="auto">
          <a:xfrm>
            <a:off x="5076825" y="4090988"/>
            <a:ext cx="381635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/>
              <a:t>1) </a:t>
            </a:r>
            <a:r>
              <a:rPr kumimoji="1" lang="en-US" altLang="zh-CN" i="1"/>
              <a:t>R</a:t>
            </a:r>
            <a:r>
              <a:rPr kumimoji="1" lang="en-US" altLang="zh-CN"/>
              <a:t>(</a:t>
            </a:r>
            <a:r>
              <a:rPr kumimoji="1" lang="en-US" altLang="zh-CN" i="1"/>
              <a:t>x</a:t>
            </a:r>
            <a:r>
              <a:rPr kumimoji="1" lang="en-US" altLang="zh-CN"/>
              <a:t>): </a:t>
            </a:r>
            <a:r>
              <a:rPr kumimoji="1" lang="en-US" altLang="zh-CN" i="1"/>
              <a:t>x</a:t>
            </a:r>
            <a:r>
              <a:rPr kumimoji="1" lang="en-US" altLang="zh-CN"/>
              <a:t> </a:t>
            </a:r>
            <a:r>
              <a:rPr kumimoji="1" lang="zh-CN" altLang="en-US"/>
              <a:t>是聪明的</a:t>
            </a:r>
            <a:r>
              <a:rPr kumimoji="1" lang="en-US" altLang="zh-CN"/>
              <a:t>.</a:t>
            </a:r>
            <a:endParaRPr kumimoji="1" lang="en-US" altLang="zh-CN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ym typeface="Symbol" panose="05050102010706020507" pitchFamily="18" charset="2"/>
              </a:rPr>
              <a:t></a:t>
            </a:r>
            <a:r>
              <a:rPr kumimoji="1" lang="en-US" altLang="zh-CN" i="1">
                <a:sym typeface="MT Symbol" pitchFamily="82" charset="2"/>
              </a:rPr>
              <a:t>xR</a:t>
            </a:r>
            <a:r>
              <a:rPr kumimoji="1" lang="en-US" altLang="zh-CN">
                <a:sym typeface="MT Symbol" pitchFamily="82" charset="2"/>
              </a:rPr>
              <a:t>(</a:t>
            </a:r>
            <a:r>
              <a:rPr kumimoji="1" lang="en-US" altLang="zh-CN" i="1">
                <a:sym typeface="MT Symbol" pitchFamily="82" charset="2"/>
              </a:rPr>
              <a:t>x</a:t>
            </a:r>
            <a:r>
              <a:rPr kumimoji="1" lang="en-US" altLang="zh-CN">
                <a:sym typeface="MT Symbol" pitchFamily="82" charset="2"/>
              </a:rPr>
              <a:t>)</a:t>
            </a:r>
            <a:endParaRPr kumimoji="1" lang="en-US" altLang="zh-CN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ym typeface="MT Symbol" pitchFamily="82" charset="2"/>
              </a:rPr>
              <a:t>2) </a:t>
            </a:r>
            <a:r>
              <a:rPr kumimoji="1" lang="en-US" altLang="zh-CN" i="1"/>
              <a:t>E</a:t>
            </a:r>
            <a:r>
              <a:rPr kumimoji="1" lang="en-US" altLang="zh-CN"/>
              <a:t>(</a:t>
            </a:r>
            <a:r>
              <a:rPr kumimoji="1" lang="en-US" altLang="zh-CN" i="1"/>
              <a:t>y</a:t>
            </a:r>
            <a:r>
              <a:rPr kumimoji="1" lang="en-US" altLang="zh-CN"/>
              <a:t>): </a:t>
            </a:r>
            <a:r>
              <a:rPr kumimoji="1" lang="en-US" altLang="zh-CN" i="1"/>
              <a:t>y</a:t>
            </a:r>
            <a:r>
              <a:rPr kumimoji="1" lang="en-US" altLang="zh-CN"/>
              <a:t> </a:t>
            </a:r>
            <a:r>
              <a:rPr kumimoji="1" lang="zh-CN" altLang="en-US"/>
              <a:t>早饭吃面包</a:t>
            </a:r>
            <a:r>
              <a:rPr kumimoji="1" lang="en-US" altLang="zh-CN"/>
              <a:t>.</a:t>
            </a:r>
            <a:endParaRPr kumimoji="1" lang="en-US" altLang="zh-CN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ym typeface="Symbol" panose="05050102010706020507" pitchFamily="18" charset="2"/>
              </a:rPr>
              <a:t></a:t>
            </a:r>
            <a:r>
              <a:rPr kumimoji="1" lang="en-US" altLang="zh-CN" i="1">
                <a:sym typeface="MT Symbol" pitchFamily="82" charset="2"/>
              </a:rPr>
              <a:t>yE</a:t>
            </a:r>
            <a:r>
              <a:rPr kumimoji="1" lang="en-US" altLang="zh-CN">
                <a:sym typeface="MT Symbol" pitchFamily="82" charset="2"/>
              </a:rPr>
              <a:t>(</a:t>
            </a:r>
            <a:r>
              <a:rPr kumimoji="1" lang="en-US" altLang="zh-CN" i="1">
                <a:sym typeface="MT Symbol" pitchFamily="82" charset="2"/>
              </a:rPr>
              <a:t>y</a:t>
            </a:r>
            <a:r>
              <a:rPr kumimoji="1" lang="en-US" altLang="zh-CN">
                <a:sym typeface="MT Symbol" pitchFamily="82" charset="2"/>
              </a:rPr>
              <a:t>)</a:t>
            </a:r>
            <a:endParaRPr kumimoji="1" lang="en-US" altLang="zh-CN">
              <a:sym typeface="MT Symbol" pitchFamily="82" charset="2"/>
            </a:endParaRPr>
          </a:p>
        </p:txBody>
      </p:sp>
      <p:sp>
        <p:nvSpPr>
          <p:cNvPr id="449549" name="Text Box 13"/>
          <p:cNvSpPr txBox="1">
            <a:spLocks noChangeArrowheads="1"/>
          </p:cNvSpPr>
          <p:nvPr/>
        </p:nvSpPr>
        <p:spPr bwMode="auto">
          <a:xfrm>
            <a:off x="4284663" y="3357563"/>
            <a:ext cx="1066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000">
                <a:ea typeface="楷体_GB2312" panose="02010609030101010101" pitchFamily="49" charset="-122"/>
              </a:rPr>
              <a:t>解：</a:t>
            </a:r>
            <a:endParaRPr kumimoji="1" lang="zh-CN" altLang="en-US" sz="300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9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9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9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9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9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9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6" grpId="0" advAuto="0" autoUpdateAnimBg="0" build="p"/>
      <p:bldP spid="449547" grpId="0" animBg="1" autoUpdateAnimBg="0"/>
      <p:bldP spid="449548" grpId="0" build="p"/>
      <p:bldP spid="4495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73CEF2-C8C5-406F-95A3-05C99BFA5E77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全总个体域</a:t>
            </a:r>
            <a:endParaRPr lang="zh-CN" altLang="en-US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0688" y="1701800"/>
            <a:ext cx="8229600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对于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zh-CN" altLang="en-US"/>
              <a:t> ，表示客体变化范围的特性谓词通常作为合取项。</a:t>
            </a:r>
            <a:endParaRPr lang="zh-CN" altLang="en-US"/>
          </a:p>
          <a:p>
            <a:pPr eaLnBrk="1" hangingPunct="1"/>
            <a:endParaRPr lang="en-US" altLang="zh-CN"/>
          </a:p>
        </p:txBody>
      </p:sp>
      <p:sp>
        <p:nvSpPr>
          <p:cNvPr id="456708" name="Rectangle 4"/>
          <p:cNvSpPr>
            <a:spLocks noChangeArrowheads="1"/>
          </p:cNvSpPr>
          <p:nvPr/>
        </p:nvSpPr>
        <p:spPr bwMode="auto">
          <a:xfrm>
            <a:off x="644525" y="3078163"/>
            <a:ext cx="3711575" cy="1347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符号化下列命题：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2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1)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有些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人是聪明的。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2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2)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有些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学生早饭吃面包。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56709" name="Text Box 5"/>
          <p:cNvSpPr txBox="1">
            <a:spLocks noChangeArrowheads="1"/>
          </p:cNvSpPr>
          <p:nvPr/>
        </p:nvSpPr>
        <p:spPr bwMode="auto">
          <a:xfrm>
            <a:off x="796925" y="2359025"/>
            <a:ext cx="1066800" cy="5842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anose="02010609030101010101" pitchFamily="49" charset="-122"/>
              </a:rPr>
              <a:t>例</a:t>
            </a:r>
            <a:endParaRPr kumimoji="1" lang="zh-CN" altLang="en-US" sz="3200">
              <a:solidFill>
                <a:srgbClr val="FFFFFF"/>
              </a:solidFill>
              <a:ea typeface="楷体_GB2312" panose="02010609030101010101" pitchFamily="49" charset="-122"/>
            </a:endParaRPr>
          </a:p>
        </p:txBody>
      </p:sp>
      <p:sp>
        <p:nvSpPr>
          <p:cNvPr id="456710" name="Rectangle 6"/>
          <p:cNvSpPr>
            <a:spLocks noChangeArrowheads="1"/>
          </p:cNvSpPr>
          <p:nvPr/>
        </p:nvSpPr>
        <p:spPr bwMode="auto">
          <a:xfrm>
            <a:off x="4859338" y="2997200"/>
            <a:ext cx="38163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/>
              <a:t>1) </a:t>
            </a:r>
            <a:r>
              <a:rPr kumimoji="1" lang="en-US" altLang="zh-CN" i="1">
                <a:solidFill>
                  <a:srgbClr val="0066FF"/>
                </a:solidFill>
              </a:rPr>
              <a:t>M</a:t>
            </a:r>
            <a:r>
              <a:rPr kumimoji="1" lang="en-US" altLang="zh-CN">
                <a:solidFill>
                  <a:srgbClr val="0066FF"/>
                </a:solidFill>
              </a:rPr>
              <a:t>(</a:t>
            </a:r>
            <a:r>
              <a:rPr kumimoji="1" lang="en-US" altLang="zh-CN" i="1">
                <a:solidFill>
                  <a:srgbClr val="0066FF"/>
                </a:solidFill>
              </a:rPr>
              <a:t>x</a:t>
            </a:r>
            <a:r>
              <a:rPr kumimoji="1" lang="en-US" altLang="zh-CN">
                <a:solidFill>
                  <a:srgbClr val="0066FF"/>
                </a:solidFill>
              </a:rPr>
              <a:t>)</a:t>
            </a:r>
            <a:r>
              <a:rPr kumimoji="1" lang="en-US" altLang="zh-CN"/>
              <a:t>: </a:t>
            </a:r>
            <a:r>
              <a:rPr kumimoji="1" lang="en-US" altLang="zh-CN" i="1"/>
              <a:t>x</a:t>
            </a:r>
            <a:r>
              <a:rPr kumimoji="1" lang="zh-CN" altLang="en-US"/>
              <a:t>是人</a:t>
            </a:r>
            <a:r>
              <a:rPr kumimoji="1" lang="en-US" altLang="zh-CN"/>
              <a:t>.</a:t>
            </a:r>
            <a:endParaRPr kumimoji="1" lang="en-US" altLang="zh-CN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/>
              <a:t>    </a:t>
            </a:r>
            <a:r>
              <a:rPr kumimoji="1" lang="en-US" altLang="zh-CN" i="1"/>
              <a:t>R</a:t>
            </a:r>
            <a:r>
              <a:rPr kumimoji="1" lang="en-US" altLang="zh-CN"/>
              <a:t>(</a:t>
            </a:r>
            <a:r>
              <a:rPr kumimoji="1" lang="en-US" altLang="zh-CN" i="1"/>
              <a:t>x</a:t>
            </a:r>
            <a:r>
              <a:rPr kumimoji="1" lang="en-US" altLang="zh-CN"/>
              <a:t>): </a:t>
            </a:r>
            <a:r>
              <a:rPr kumimoji="1" lang="en-US" altLang="zh-CN" i="1"/>
              <a:t>x</a:t>
            </a:r>
            <a:r>
              <a:rPr kumimoji="1" lang="en-US" altLang="zh-CN"/>
              <a:t> </a:t>
            </a:r>
            <a:r>
              <a:rPr kumimoji="1" lang="zh-CN" altLang="en-US"/>
              <a:t>是聪明的</a:t>
            </a:r>
            <a:r>
              <a:rPr kumimoji="1" lang="en-US" altLang="zh-CN"/>
              <a:t>.</a:t>
            </a:r>
            <a:endParaRPr kumimoji="1" lang="en-US" altLang="zh-CN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ym typeface="Symbol" panose="05050102010706020507" pitchFamily="18" charset="2"/>
              </a:rPr>
              <a:t></a:t>
            </a:r>
            <a:r>
              <a:rPr kumimoji="1" lang="en-US" altLang="zh-CN" i="1">
                <a:sym typeface="MT Symbol" pitchFamily="82" charset="2"/>
              </a:rPr>
              <a:t>x</a:t>
            </a:r>
            <a:r>
              <a:rPr kumimoji="1" lang="en-US" altLang="zh-CN">
                <a:sym typeface="MT Symbol" pitchFamily="82" charset="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sym typeface="MT Symbol" pitchFamily="82" charset="2"/>
              </a:rPr>
              <a:t>M</a:t>
            </a:r>
            <a:r>
              <a:rPr kumimoji="1" lang="en-US" altLang="zh-CN">
                <a:solidFill>
                  <a:srgbClr val="0066FF"/>
                </a:solidFill>
                <a:sym typeface="MT Symbol" pitchFamily="82" charset="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sym typeface="MT Symbol" pitchFamily="82" charset="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sym typeface="MT Symbol" pitchFamily="82" charset="2"/>
              </a:rPr>
              <a:t>)</a:t>
            </a:r>
            <a:r>
              <a:rPr kumimoji="1" lang="en-US" altLang="zh-CN">
                <a:solidFill>
                  <a:srgbClr val="000000"/>
                </a:solidFill>
                <a:sym typeface="MT Symbol" pitchFamily="82" charset="2"/>
              </a:rPr>
              <a:t> </a:t>
            </a:r>
            <a:r>
              <a:rPr kumimoji="1" lang="en-US" altLang="zh-CN">
                <a:solidFill>
                  <a:srgbClr val="00000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</a:t>
            </a:r>
            <a:r>
              <a:rPr kumimoji="1" lang="en-US" altLang="zh-CN">
                <a:solidFill>
                  <a:srgbClr val="000000"/>
                </a:solidFill>
                <a:sym typeface="MT Symbol" pitchFamily="82" charset="2"/>
              </a:rPr>
              <a:t> </a:t>
            </a:r>
            <a:r>
              <a:rPr kumimoji="1" lang="en-US" altLang="zh-CN" i="1">
                <a:sym typeface="MT Symbol" pitchFamily="82" charset="2"/>
              </a:rPr>
              <a:t>R</a:t>
            </a:r>
            <a:r>
              <a:rPr kumimoji="1" lang="en-US" altLang="zh-CN">
                <a:solidFill>
                  <a:srgbClr val="000000"/>
                </a:solidFill>
                <a:sym typeface="MT Symbol" pitchFamily="82" charset="2"/>
              </a:rPr>
              <a:t>(</a:t>
            </a:r>
            <a:r>
              <a:rPr kumimoji="1" lang="en-US" altLang="zh-CN" i="1">
                <a:sym typeface="MT Symbol" pitchFamily="82" charset="2"/>
              </a:rPr>
              <a:t>x</a:t>
            </a:r>
            <a:r>
              <a:rPr kumimoji="1" lang="en-US" altLang="zh-CN">
                <a:solidFill>
                  <a:srgbClr val="000000"/>
                </a:solidFill>
                <a:sym typeface="MT Symbol" pitchFamily="82" charset="2"/>
              </a:rPr>
              <a:t>))</a:t>
            </a:r>
            <a:endParaRPr kumimoji="1" lang="en-US" altLang="zh-CN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ym typeface="MT Symbol" pitchFamily="82" charset="2"/>
              </a:rPr>
              <a:t>2) </a:t>
            </a:r>
            <a:r>
              <a:rPr kumimoji="1" lang="en-US" altLang="zh-CN" i="1">
                <a:solidFill>
                  <a:srgbClr val="0066FF"/>
                </a:solidFill>
                <a:sym typeface="MT Symbol" pitchFamily="82" charset="2"/>
              </a:rPr>
              <a:t>S</a:t>
            </a:r>
            <a:r>
              <a:rPr kumimoji="1" lang="en-US" altLang="zh-CN">
                <a:solidFill>
                  <a:srgbClr val="0066FF"/>
                </a:solidFill>
                <a:sym typeface="MT Symbol" pitchFamily="82" charset="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sym typeface="MT Symbol" pitchFamily="82" charset="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sym typeface="MT Symbol" pitchFamily="82" charset="2"/>
              </a:rPr>
              <a:t>)</a:t>
            </a:r>
            <a:r>
              <a:rPr kumimoji="1" lang="en-US" altLang="zh-CN">
                <a:sym typeface="MT Symbol" pitchFamily="82" charset="2"/>
              </a:rPr>
              <a:t>: </a:t>
            </a:r>
            <a:r>
              <a:rPr kumimoji="1" lang="en-US" altLang="zh-CN" i="1">
                <a:sym typeface="MT Symbol" pitchFamily="82" charset="2"/>
              </a:rPr>
              <a:t>x</a:t>
            </a:r>
            <a:r>
              <a:rPr kumimoji="1" lang="zh-CN" altLang="en-US">
                <a:sym typeface="MT Symbol" pitchFamily="82" charset="2"/>
              </a:rPr>
              <a:t>是学生</a:t>
            </a:r>
            <a:r>
              <a:rPr kumimoji="1" lang="en-US" altLang="zh-CN">
                <a:sym typeface="MT Symbol" pitchFamily="82" charset="2"/>
              </a:rPr>
              <a:t>.</a:t>
            </a:r>
            <a:endParaRPr kumimoji="1" lang="en-US" altLang="zh-CN">
              <a:sym typeface="MT Symbol" pitchFamily="8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ym typeface="MT Symbol" pitchFamily="82" charset="2"/>
              </a:rPr>
              <a:t>    </a:t>
            </a:r>
            <a:r>
              <a:rPr kumimoji="1" lang="en-US" altLang="zh-CN" i="1"/>
              <a:t>E</a:t>
            </a:r>
            <a:r>
              <a:rPr kumimoji="1" lang="en-US" altLang="zh-CN"/>
              <a:t>(</a:t>
            </a:r>
            <a:r>
              <a:rPr kumimoji="1" lang="en-US" altLang="zh-CN" i="1"/>
              <a:t>x</a:t>
            </a:r>
            <a:r>
              <a:rPr kumimoji="1" lang="en-US" altLang="zh-CN"/>
              <a:t>): </a:t>
            </a:r>
            <a:r>
              <a:rPr kumimoji="1" lang="en-US" altLang="zh-CN" i="1"/>
              <a:t>x</a:t>
            </a:r>
            <a:r>
              <a:rPr kumimoji="1" lang="zh-CN" altLang="en-US"/>
              <a:t>早饭吃面包</a:t>
            </a:r>
            <a:r>
              <a:rPr kumimoji="1" lang="en-US" altLang="zh-CN"/>
              <a:t>.</a:t>
            </a:r>
            <a:endParaRPr kumimoji="1" lang="en-US" altLang="zh-CN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ym typeface="Symbol" panose="05050102010706020507" pitchFamily="18" charset="2"/>
              </a:rPr>
              <a:t></a:t>
            </a:r>
            <a:r>
              <a:rPr kumimoji="1" lang="en-US" altLang="zh-CN" i="1">
                <a:sym typeface="MT Symbol" pitchFamily="82" charset="2"/>
              </a:rPr>
              <a:t>x</a:t>
            </a:r>
            <a:r>
              <a:rPr kumimoji="1" lang="en-US" altLang="zh-CN">
                <a:sym typeface="MT Symbol" pitchFamily="82" charset="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sym typeface="MT Symbol" pitchFamily="82" charset="2"/>
              </a:rPr>
              <a:t>S</a:t>
            </a:r>
            <a:r>
              <a:rPr kumimoji="1" lang="en-US" altLang="zh-CN">
                <a:solidFill>
                  <a:srgbClr val="0066FF"/>
                </a:solidFill>
                <a:sym typeface="MT Symbol" pitchFamily="82" charset="2"/>
              </a:rPr>
              <a:t>(</a:t>
            </a:r>
            <a:r>
              <a:rPr kumimoji="1" lang="en-US" altLang="zh-CN" i="1">
                <a:solidFill>
                  <a:srgbClr val="0066FF"/>
                </a:solidFill>
                <a:sym typeface="MT Symbol" pitchFamily="82" charset="2"/>
              </a:rPr>
              <a:t>x</a:t>
            </a:r>
            <a:r>
              <a:rPr kumimoji="1" lang="en-US" altLang="zh-CN">
                <a:solidFill>
                  <a:srgbClr val="0066FF"/>
                </a:solidFill>
                <a:sym typeface="MT Symbol" pitchFamily="82" charset="2"/>
              </a:rPr>
              <a:t>) </a:t>
            </a:r>
            <a:r>
              <a:rPr kumimoji="1" lang="en-US" altLang="zh-CN">
                <a:solidFill>
                  <a:srgbClr val="00000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</a:t>
            </a:r>
            <a:r>
              <a:rPr kumimoji="1" lang="en-US" altLang="zh-CN">
                <a:solidFill>
                  <a:srgbClr val="000000"/>
                </a:solidFill>
                <a:sym typeface="MT Symbol" pitchFamily="82" charset="2"/>
              </a:rPr>
              <a:t> </a:t>
            </a:r>
            <a:r>
              <a:rPr kumimoji="1" lang="en-US" altLang="zh-CN" i="1">
                <a:sym typeface="MT Symbol" pitchFamily="82" charset="2"/>
              </a:rPr>
              <a:t>E</a:t>
            </a:r>
            <a:r>
              <a:rPr kumimoji="1" lang="en-US" altLang="zh-CN">
                <a:solidFill>
                  <a:srgbClr val="000000"/>
                </a:solidFill>
                <a:sym typeface="MT Symbol" pitchFamily="82" charset="2"/>
              </a:rPr>
              <a:t>(</a:t>
            </a:r>
            <a:r>
              <a:rPr kumimoji="1" lang="en-US" altLang="zh-CN" i="1">
                <a:sym typeface="MT Symbol" pitchFamily="82" charset="2"/>
              </a:rPr>
              <a:t>x</a:t>
            </a:r>
            <a:r>
              <a:rPr kumimoji="1" lang="en-US" altLang="zh-CN">
                <a:solidFill>
                  <a:srgbClr val="000000"/>
                </a:solidFill>
                <a:sym typeface="MT Symbol" pitchFamily="82" charset="2"/>
              </a:rPr>
              <a:t>))</a:t>
            </a:r>
            <a:endParaRPr kumimoji="1" lang="en-US" altLang="zh-CN">
              <a:solidFill>
                <a:srgbClr val="000000"/>
              </a:solidFill>
              <a:sym typeface="MT Symbol" pitchFamily="82" charset="2"/>
            </a:endParaRPr>
          </a:p>
        </p:txBody>
      </p:sp>
      <p:sp>
        <p:nvSpPr>
          <p:cNvPr id="456711" name="Text Box 7"/>
          <p:cNvSpPr txBox="1">
            <a:spLocks noChangeArrowheads="1"/>
          </p:cNvSpPr>
          <p:nvPr/>
        </p:nvSpPr>
        <p:spPr bwMode="auto">
          <a:xfrm>
            <a:off x="4284663" y="2349500"/>
            <a:ext cx="1066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000">
                <a:ea typeface="楷体_GB2312" panose="02010609030101010101" pitchFamily="49" charset="-122"/>
              </a:rPr>
              <a:t>解：</a:t>
            </a:r>
            <a:endParaRPr kumimoji="1" lang="zh-CN" altLang="en-US" sz="300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6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6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6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6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6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6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6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56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6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6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567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8" grpId="0" advAuto="0" autoUpdateAnimBg="0" build="p"/>
      <p:bldP spid="456709" grpId="0" animBg="1" autoUpdateAnimBg="0"/>
      <p:bldP spid="456710" grpId="0" build="p"/>
      <p:bldP spid="4567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9DB5C0-08C5-4677-BCD5-9F7CAA9BEF27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  <a:r>
              <a:rPr lang="en-US" altLang="zh-CN" b="0">
                <a:latin typeface="Times New Roman" panose="02020603050405020304" pitchFamily="18" charset="0"/>
              </a:rPr>
              <a:t>2</a:t>
            </a:r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052513"/>
            <a:ext cx="8207375" cy="2376487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zh-CN" altLang="en-US">
                <a:solidFill>
                  <a:srgbClr val="A50021"/>
                </a:solidFill>
              </a:rPr>
              <a:t>例 </a:t>
            </a:r>
            <a:r>
              <a:rPr lang="en-US" altLang="zh-CN">
                <a:solidFill>
                  <a:srgbClr val="A50021"/>
                </a:solidFill>
              </a:rPr>
              <a:t>2</a:t>
            </a:r>
            <a:r>
              <a:rPr lang="en-US" altLang="zh-CN"/>
              <a:t>  </a:t>
            </a:r>
            <a:r>
              <a:rPr lang="zh-CN" altLang="en-US"/>
              <a:t>在一阶逻辑中将下面命题符号化</a:t>
            </a:r>
            <a:endParaRPr lang="zh-CN" altLang="en-US"/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/>
              <a:t> </a:t>
            </a:r>
            <a:r>
              <a:rPr lang="en-US" altLang="zh-CN"/>
              <a:t>(1)  </a:t>
            </a:r>
            <a:r>
              <a:rPr lang="zh-CN" altLang="en-US"/>
              <a:t>人都爱美</a:t>
            </a:r>
            <a:endParaRPr lang="zh-CN" altLang="en-US"/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/>
              <a:t> </a:t>
            </a:r>
            <a:r>
              <a:rPr lang="en-US" altLang="zh-CN"/>
              <a:t>(2)  </a:t>
            </a:r>
            <a:r>
              <a:rPr lang="zh-CN" altLang="en-US"/>
              <a:t>有人用左手写字</a:t>
            </a:r>
            <a:endParaRPr lang="zh-CN" altLang="en-US"/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/>
              <a:t>个体域分别为</a:t>
            </a:r>
            <a:endParaRPr lang="zh-CN" altLang="en-US"/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/>
              <a:t>  </a:t>
            </a:r>
            <a:r>
              <a:rPr lang="en-US" altLang="zh-CN"/>
              <a:t>(a)  </a:t>
            </a:r>
            <a:r>
              <a:rPr lang="en-US" altLang="zh-CN" i="1"/>
              <a:t>D</a:t>
            </a:r>
            <a:r>
              <a:rPr lang="zh-CN" altLang="en-US"/>
              <a:t>为人类集合</a:t>
            </a:r>
            <a:endParaRPr lang="zh-CN" altLang="en-US"/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/>
              <a:t>  </a:t>
            </a:r>
            <a:r>
              <a:rPr lang="en-US" altLang="zh-CN"/>
              <a:t>(b)  </a:t>
            </a:r>
            <a:r>
              <a:rPr lang="en-US" altLang="zh-CN" i="1"/>
              <a:t>D</a:t>
            </a:r>
            <a:r>
              <a:rPr lang="zh-CN" altLang="en-US"/>
              <a:t>为全总个体域</a:t>
            </a:r>
            <a:endParaRPr lang="zh-CN" altLang="en-US"/>
          </a:p>
        </p:txBody>
      </p:sp>
      <p:sp>
        <p:nvSpPr>
          <p:cNvPr id="276484" name="Rectangle 4"/>
          <p:cNvSpPr>
            <a:spLocks noChangeArrowheads="1"/>
          </p:cNvSpPr>
          <p:nvPr/>
        </p:nvSpPr>
        <p:spPr bwMode="auto">
          <a:xfrm>
            <a:off x="323850" y="3500438"/>
            <a:ext cx="6119813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解 </a:t>
            </a:r>
            <a:r>
              <a:rPr lang="en-US" altLang="zh-CN"/>
              <a:t>(a)    (1)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), 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zh-CN" altLang="en-US"/>
              <a:t>爱美</a:t>
            </a:r>
            <a:endParaRPr lang="zh-CN" altLang="en-US"/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1331913" y="4006850"/>
            <a:ext cx="6119812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(2)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xG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), 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zh-CN" altLang="en-US"/>
              <a:t>用左手写字                                      </a:t>
            </a:r>
            <a:endParaRPr lang="zh-CN" altLang="en-US"/>
          </a:p>
          <a:p>
            <a:pPr eaLnBrk="1" hangingPunct="1"/>
            <a:r>
              <a:rPr lang="zh-CN" altLang="en-US"/>
              <a:t>       </a:t>
            </a:r>
            <a:endParaRPr lang="zh-CN" altLang="en-US"/>
          </a:p>
        </p:txBody>
      </p:sp>
      <p:sp>
        <p:nvSpPr>
          <p:cNvPr id="276488" name="Rectangle 8"/>
          <p:cNvSpPr>
            <a:spLocks noChangeArrowheads="1"/>
          </p:cNvSpPr>
          <p:nvPr/>
        </p:nvSpPr>
        <p:spPr bwMode="auto">
          <a:xfrm>
            <a:off x="755650" y="4437063"/>
            <a:ext cx="6119813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(b) 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zh-CN" altLang="en-US"/>
              <a:t>为人，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zh-CN" altLang="en-US"/>
              <a:t>爱美                                      </a:t>
            </a:r>
            <a:endParaRPr lang="zh-CN" altLang="en-US"/>
          </a:p>
          <a:p>
            <a:pPr eaLnBrk="1" hangingPunct="1"/>
            <a:r>
              <a:rPr lang="zh-CN" altLang="en-US"/>
              <a:t>       </a:t>
            </a:r>
            <a:endParaRPr lang="zh-CN" altLang="en-US"/>
          </a:p>
        </p:txBody>
      </p:sp>
      <p:sp>
        <p:nvSpPr>
          <p:cNvPr id="276489" name="Rectangle 9"/>
          <p:cNvSpPr>
            <a:spLocks noChangeArrowheads="1"/>
          </p:cNvSpPr>
          <p:nvPr/>
        </p:nvSpPr>
        <p:spPr bwMode="auto">
          <a:xfrm>
            <a:off x="1258888" y="4941888"/>
            <a:ext cx="417512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(1)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))                         </a:t>
            </a:r>
            <a:endParaRPr lang="en-US" altLang="zh-CN"/>
          </a:p>
          <a:p>
            <a:pPr eaLnBrk="1" hangingPunct="1"/>
            <a:r>
              <a:rPr lang="en-US" altLang="zh-CN"/>
              <a:t>       </a:t>
            </a:r>
            <a:endParaRPr lang="en-US" altLang="zh-CN"/>
          </a:p>
        </p:txBody>
      </p:sp>
      <p:sp>
        <p:nvSpPr>
          <p:cNvPr id="276490" name="Rectangle 10"/>
          <p:cNvSpPr>
            <a:spLocks noChangeArrowheads="1"/>
          </p:cNvSpPr>
          <p:nvPr/>
        </p:nvSpPr>
        <p:spPr bwMode="auto">
          <a:xfrm>
            <a:off x="1331913" y="5373688"/>
            <a:ext cx="360045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(2)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))</a:t>
            </a:r>
            <a:endParaRPr lang="en-US" altLang="zh-CN"/>
          </a:p>
        </p:txBody>
      </p:sp>
      <p:sp>
        <p:nvSpPr>
          <p:cNvPr id="276491" name="Rectangle 11"/>
          <p:cNvSpPr>
            <a:spLocks noChangeArrowheads="1"/>
          </p:cNvSpPr>
          <p:nvPr/>
        </p:nvSpPr>
        <p:spPr bwMode="auto">
          <a:xfrm>
            <a:off x="5381625" y="4551363"/>
            <a:ext cx="341947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      </a:t>
            </a:r>
            <a:r>
              <a:rPr lang="zh-CN" altLang="en-US">
                <a:solidFill>
                  <a:srgbClr val="FF0000"/>
                </a:solidFill>
              </a:rPr>
              <a:t>注意：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	1. </a:t>
            </a:r>
            <a:r>
              <a:rPr lang="zh-CN" altLang="en-US">
                <a:solidFill>
                  <a:srgbClr val="FF0000"/>
                </a:solidFill>
              </a:rPr>
              <a:t>引入特性谓词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>
                <a:solidFill>
                  <a:srgbClr val="FF0000"/>
                </a:solidFill>
              </a:rPr>
              <a:t>    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      2. (1),(2)</a:t>
            </a:r>
            <a:r>
              <a:rPr lang="zh-CN" altLang="en-US">
                <a:solidFill>
                  <a:srgbClr val="FF0000"/>
                </a:solidFill>
              </a:rPr>
              <a:t>是一阶逻辑中两个“基本”公式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/>
      <p:bldP spid="276487" grpId="0"/>
      <p:bldP spid="276488" grpId="0"/>
      <p:bldP spid="276489" grpId="0" bldLvl="0" animBg="1"/>
      <p:bldP spid="276490" grpId="0" bldLvl="0" animBg="1"/>
      <p:bldP spid="27649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1FA28A1F-2577-4DEF-A4E6-139DD50E3056}" type="slidenum">
              <a:rPr lang="zh-CN" altLang="en-US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使用特性谓词常犯错误</a:t>
            </a:r>
            <a:endParaRPr lang="zh-CN" altLang="en-US"/>
          </a:p>
        </p:txBody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5200" y="1246188"/>
            <a:ext cx="7335838" cy="992187"/>
          </a:xfrm>
        </p:spPr>
        <p:txBody>
          <a:bodyPr/>
          <a:lstStyle/>
          <a:p>
            <a:pPr eaLnBrk="1" hangingPunct="1"/>
            <a:r>
              <a:rPr lang="zh-CN" altLang="en-US"/>
              <a:t>对于全称量词 </a:t>
            </a:r>
            <a:r>
              <a:rPr lang="zh-CN" altLang="en-US">
                <a:sym typeface="Symbol" panose="05050102010706020507" pitchFamily="18" charset="2"/>
              </a:rPr>
              <a:t>，</a:t>
            </a:r>
            <a:r>
              <a:rPr lang="en-US" altLang="zh-CN"/>
              <a:t> </a:t>
            </a:r>
            <a:r>
              <a:rPr lang="zh-CN" altLang="en-US"/>
              <a:t>用 </a:t>
            </a:r>
            <a:r>
              <a:rPr kumimoji="1" lang="zh-CN" altLang="en-US">
                <a:solidFill>
                  <a:srgbClr val="FF0000"/>
                </a:solidFill>
              </a:rPr>
              <a:t>∧</a:t>
            </a:r>
            <a:r>
              <a:rPr lang="zh-CN" altLang="en-US"/>
              <a:t> 代替 </a:t>
            </a:r>
            <a:r>
              <a:rPr lang="en-US" altLang="zh-CN">
                <a:solidFill>
                  <a:srgbClr val="FF0000"/>
                </a:solidFill>
              </a:rPr>
              <a:t>→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95301" name="Rectangle 5"/>
          <p:cNvSpPr>
            <a:spLocks noChangeArrowheads="1"/>
          </p:cNvSpPr>
          <p:nvPr/>
        </p:nvSpPr>
        <p:spPr bwMode="auto">
          <a:xfrm>
            <a:off x="2468563" y="1719263"/>
            <a:ext cx="5613400" cy="1382712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</a:rPr>
              <a:t>对于：</a:t>
            </a:r>
            <a:r>
              <a:rPr kumimoji="1" lang="zh-CN" altLang="en-US" sz="2800">
                <a:solidFill>
                  <a:srgbClr val="0000FF"/>
                </a:solidFill>
                <a:ea typeface="楷体_GB2312" panose="02010609030101010101" pitchFamily="49" charset="-122"/>
              </a:rPr>
              <a:t>所有的人都是要呼吸的</a:t>
            </a:r>
            <a:endParaRPr kumimoji="1" lang="en-US" altLang="zh-CN" sz="2800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</a:rPr>
              <a:t>设：</a:t>
            </a:r>
            <a:r>
              <a:rPr kumimoji="1" lang="en-US" altLang="zh-CN" sz="2800">
                <a:ea typeface="楷体_GB2312" panose="02010609030101010101" pitchFamily="49" charset="-122"/>
              </a:rPr>
              <a:t>M(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): 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zh-CN" altLang="en-US" sz="2800">
                <a:ea typeface="楷体_GB2312" panose="02010609030101010101" pitchFamily="49" charset="-122"/>
              </a:rPr>
              <a:t>是人</a:t>
            </a:r>
            <a:r>
              <a:rPr kumimoji="1" lang="en-US" altLang="zh-CN" sz="2800">
                <a:ea typeface="楷体_GB2312" panose="02010609030101010101" pitchFamily="49" charset="-122"/>
              </a:rPr>
              <a:t>  P(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): 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zh-CN" altLang="en-US" sz="2800">
                <a:ea typeface="楷体_GB2312" panose="02010609030101010101" pitchFamily="49" charset="-122"/>
              </a:rPr>
              <a:t>要呼吸</a:t>
            </a:r>
            <a:endParaRPr kumimoji="1" lang="zh-CN" altLang="en-US" sz="2800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  <a:sym typeface="MT Symbol" pitchFamily="82" charset="2"/>
              </a:rPr>
              <a:t>则</a:t>
            </a:r>
            <a:r>
              <a:rPr kumimoji="1" lang="en-US" altLang="zh-CN" sz="2800">
                <a:latin typeface="宋体" panose="02010600030101010101" pitchFamily="2" charset="-122"/>
                <a:sym typeface="MT Symbol" pitchFamily="82" charset="2"/>
              </a:rPr>
              <a:t>(</a:t>
            </a:r>
            <a:r>
              <a:rPr kumimoji="1"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 (M(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 </a:t>
            </a:r>
            <a:r>
              <a:rPr kumimoji="1"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∧</a:t>
            </a:r>
            <a:r>
              <a:rPr kumimoji="1" lang="en-US" altLang="zh-CN" sz="2800">
                <a:ea typeface="楷体_GB2312" panose="02010609030101010101" pitchFamily="49" charset="-122"/>
              </a:rPr>
              <a:t> P(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))</a:t>
            </a:r>
            <a:endParaRPr kumimoji="1" lang="en-US" altLang="zh-CN" sz="2800">
              <a:ea typeface="楷体_GB2312" panose="02010609030101010101" pitchFamily="49" charset="-122"/>
            </a:endParaRPr>
          </a:p>
        </p:txBody>
      </p:sp>
      <p:sp>
        <p:nvSpPr>
          <p:cNvPr id="695306" name="Text Box 10"/>
          <p:cNvSpPr txBox="1">
            <a:spLocks noChangeArrowheads="1"/>
          </p:cNvSpPr>
          <p:nvPr/>
        </p:nvSpPr>
        <p:spPr bwMode="auto">
          <a:xfrm>
            <a:off x="1276350" y="1708150"/>
            <a:ext cx="1177925" cy="10668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50000">
                <a:schemeClr val="hlink">
                  <a:gamma/>
                  <a:shade val="46275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错误之一</a:t>
            </a:r>
            <a:endParaRPr kumimoji="1" lang="en-US" altLang="zh-CN" sz="3200" b="1">
              <a:solidFill>
                <a:schemeClr val="bg1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695307" name="Rectangle 11"/>
          <p:cNvSpPr>
            <a:spLocks noChangeArrowheads="1"/>
          </p:cNvSpPr>
          <p:nvPr/>
        </p:nvSpPr>
        <p:spPr bwMode="auto">
          <a:xfrm>
            <a:off x="1309688" y="3084513"/>
            <a:ext cx="6762750" cy="528637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</a:rPr>
              <a:t>翻译为：</a:t>
            </a:r>
            <a:r>
              <a:rPr kumimoji="1" lang="zh-CN" altLang="en-US" sz="2800">
                <a:solidFill>
                  <a:srgbClr val="FF0000"/>
                </a:solidFill>
                <a:ea typeface="楷体_GB2312" panose="02010609030101010101" pitchFamily="49" charset="-122"/>
              </a:rPr>
              <a:t>宇宙万物都是人并且都要呼吸</a:t>
            </a:r>
            <a:endParaRPr kumimoji="1" lang="en-US" altLang="zh-CN" sz="3200">
              <a:solidFill>
                <a:srgbClr val="FF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695308" name="Rectangle 12"/>
          <p:cNvSpPr>
            <a:spLocks noChangeArrowheads="1"/>
          </p:cNvSpPr>
          <p:nvPr/>
        </p:nvSpPr>
        <p:spPr bwMode="auto">
          <a:xfrm>
            <a:off x="6029325" y="2405063"/>
            <a:ext cx="7937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  <a:endParaRPr lang="zh-CN" altLang="en-US" sz="4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95309" name="Rectangle 13"/>
          <p:cNvSpPr>
            <a:spLocks noChangeArrowheads="1"/>
          </p:cNvSpPr>
          <p:nvPr/>
        </p:nvSpPr>
        <p:spPr bwMode="auto">
          <a:xfrm>
            <a:off x="958850" y="3919538"/>
            <a:ext cx="7335838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28600" indent="-228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2800">
                <a:latin typeface="Arial" panose="020B0604020202020204" pitchFamily="34" charset="0"/>
              </a:rPr>
              <a:t>对于存在量词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zh-CN" altLang="en-US" sz="2800">
                <a:latin typeface="Arial" panose="020B0604020202020204" pitchFamily="34" charset="0"/>
              </a:rPr>
              <a:t> </a:t>
            </a:r>
            <a:r>
              <a:rPr lang="zh-CN" altLang="en-US" sz="2800"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>
                <a:latin typeface="Arial" panose="020B0604020202020204" pitchFamily="34" charset="0"/>
              </a:rPr>
              <a:t> </a:t>
            </a:r>
            <a:r>
              <a:rPr lang="zh-CN" altLang="en-US" sz="2800">
                <a:latin typeface="Arial" panose="020B0604020202020204" pitchFamily="34" charset="0"/>
              </a:rPr>
              <a:t>用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→</a:t>
            </a:r>
            <a:r>
              <a:rPr lang="zh-CN" altLang="en-US" sz="2800">
                <a:latin typeface="Arial" panose="020B0604020202020204" pitchFamily="34" charset="0"/>
              </a:rPr>
              <a:t>代替 </a:t>
            </a:r>
            <a:r>
              <a:rPr kumimoji="1"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∧</a:t>
            </a:r>
            <a:endParaRPr kumimoji="1" lang="zh-CN" altLang="en-US" sz="2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95311" name="Rectangle 15"/>
          <p:cNvSpPr>
            <a:spLocks noChangeArrowheads="1"/>
          </p:cNvSpPr>
          <p:nvPr/>
        </p:nvSpPr>
        <p:spPr bwMode="auto">
          <a:xfrm>
            <a:off x="2468563" y="4505325"/>
            <a:ext cx="5499100" cy="1382713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</a:rPr>
              <a:t>对于：</a:t>
            </a:r>
            <a:r>
              <a:rPr kumimoji="1" lang="zh-CN" altLang="en-US" sz="2800">
                <a:solidFill>
                  <a:srgbClr val="0000FF"/>
                </a:solidFill>
                <a:ea typeface="楷体_GB2312" panose="02010609030101010101" pitchFamily="49" charset="-122"/>
              </a:rPr>
              <a:t>有一些人是聪明的</a:t>
            </a:r>
            <a:endParaRPr kumimoji="1" lang="en-US" altLang="zh-CN" sz="2800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</a:rPr>
              <a:t>设：</a:t>
            </a:r>
            <a:r>
              <a:rPr kumimoji="1" lang="en-US" altLang="zh-CN" sz="2800">
                <a:ea typeface="楷体_GB2312" panose="02010609030101010101" pitchFamily="49" charset="-122"/>
              </a:rPr>
              <a:t>M(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): 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zh-CN" altLang="en-US" sz="2800">
                <a:ea typeface="楷体_GB2312" panose="02010609030101010101" pitchFamily="49" charset="-122"/>
              </a:rPr>
              <a:t>是人</a:t>
            </a:r>
            <a:r>
              <a:rPr kumimoji="1" lang="en-US" altLang="zh-CN" sz="2800">
                <a:ea typeface="楷体_GB2312" panose="02010609030101010101" pitchFamily="49" charset="-122"/>
              </a:rPr>
              <a:t>     Q(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): 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zh-CN" altLang="en-US" sz="2800">
                <a:ea typeface="楷体_GB2312" panose="02010609030101010101" pitchFamily="49" charset="-122"/>
              </a:rPr>
              <a:t>聪明</a:t>
            </a:r>
            <a:endParaRPr kumimoji="1" lang="zh-CN" altLang="en-US" sz="2800"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  <a:sym typeface="MT Symbol" pitchFamily="82" charset="2"/>
              </a:rPr>
              <a:t>则    </a:t>
            </a:r>
            <a:r>
              <a:rPr kumimoji="1" lang="en-US" altLang="zh-CN" sz="2800">
                <a:ea typeface="楷体_GB2312" panose="02010609030101010101" pitchFamily="49" charset="-122"/>
                <a:sym typeface="MT Symbol" pitchFamily="82" charset="2"/>
              </a:rPr>
              <a:t>(</a:t>
            </a:r>
            <a:r>
              <a:rPr kumimoji="1" lang="zh-CN" altLang="en-US" sz="2800">
                <a:ea typeface="楷体_GB2312" panose="02010609030101010101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800">
                <a:ea typeface="楷体_GB2312" panose="02010609030101010101" pitchFamily="49" charset="-122"/>
                <a:sym typeface="MT Symbol" pitchFamily="82" charset="2"/>
              </a:rPr>
              <a:t> 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 (M(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→</a:t>
            </a:r>
            <a:r>
              <a:rPr kumimoji="1" lang="en-US" altLang="zh-CN" sz="2800">
                <a:ea typeface="楷体_GB2312" panose="02010609030101010101" pitchFamily="49" charset="-122"/>
              </a:rPr>
              <a:t> Q(</a:t>
            </a:r>
            <a:r>
              <a:rPr kumimoji="1" lang="en-US" altLang="zh-CN" sz="2800" i="1">
                <a:ea typeface="楷体_GB2312" panose="02010609030101010101" pitchFamily="49" charset="-122"/>
              </a:rPr>
              <a:t>x</a:t>
            </a:r>
            <a:r>
              <a:rPr kumimoji="1" lang="en-US" altLang="zh-CN" sz="2800">
                <a:ea typeface="楷体_GB2312" panose="02010609030101010101" pitchFamily="49" charset="-122"/>
              </a:rPr>
              <a:t>))</a:t>
            </a:r>
            <a:endParaRPr kumimoji="1" lang="en-US" altLang="zh-CN" sz="2800">
              <a:ea typeface="楷体_GB2312" panose="02010609030101010101" pitchFamily="49" charset="-122"/>
            </a:endParaRPr>
          </a:p>
        </p:txBody>
      </p:sp>
      <p:sp>
        <p:nvSpPr>
          <p:cNvPr id="695312" name="Text Box 16"/>
          <p:cNvSpPr txBox="1">
            <a:spLocks noChangeArrowheads="1"/>
          </p:cNvSpPr>
          <p:nvPr/>
        </p:nvSpPr>
        <p:spPr bwMode="auto">
          <a:xfrm>
            <a:off x="1276350" y="4494213"/>
            <a:ext cx="1177925" cy="10668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50000">
                <a:schemeClr val="hlink">
                  <a:gamma/>
                  <a:shade val="46275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错误之二</a:t>
            </a:r>
            <a:endParaRPr kumimoji="1" lang="zh-CN" altLang="en-US" sz="3200" b="1">
              <a:solidFill>
                <a:schemeClr val="bg1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695313" name="Rectangle 17"/>
          <p:cNvSpPr>
            <a:spLocks noChangeArrowheads="1"/>
          </p:cNvSpPr>
          <p:nvPr/>
        </p:nvSpPr>
        <p:spPr bwMode="auto">
          <a:xfrm>
            <a:off x="1208088" y="5878513"/>
            <a:ext cx="6762750" cy="955675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ea typeface="楷体_GB2312" panose="02010609030101010101" pitchFamily="49" charset="-122"/>
              </a:rPr>
              <a:t>翻译为：</a:t>
            </a:r>
            <a:r>
              <a:rPr kumimoji="1" lang="zh-CN" altLang="en-US" sz="2800">
                <a:solidFill>
                  <a:srgbClr val="FF0000"/>
                </a:solidFill>
                <a:ea typeface="楷体_GB2312" panose="02010609030101010101" pitchFamily="49" charset="-122"/>
              </a:rPr>
              <a:t>在宇宙中存在这样的个体，如果它是人，则它是聪明的。</a:t>
            </a:r>
            <a:endParaRPr kumimoji="1" lang="en-US" altLang="zh-CN" sz="3200">
              <a:solidFill>
                <a:srgbClr val="FF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695314" name="Rectangle 18"/>
          <p:cNvSpPr>
            <a:spLocks noChangeArrowheads="1"/>
          </p:cNvSpPr>
          <p:nvPr/>
        </p:nvSpPr>
        <p:spPr bwMode="auto">
          <a:xfrm>
            <a:off x="6443663" y="5214938"/>
            <a:ext cx="7937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  <a:endParaRPr lang="zh-CN" altLang="en-US" sz="4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953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9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9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5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953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5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95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95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953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95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95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95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953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95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95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95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299" grpId="0" build="p"/>
      <p:bldP spid="695301" grpId="0" animBg="1" autoUpdateAnimBg="0" build="p"/>
      <p:bldP spid="695306" grpId="0" animBg="1"/>
      <p:bldP spid="695307" grpId="0" animBg="1" autoUpdateAnimBg="0" build="p"/>
      <p:bldP spid="695308" grpId="0"/>
      <p:bldP spid="695309" grpId="0" build="p"/>
      <p:bldP spid="695311" grpId="0" animBg="1" autoUpdateAnimBg="0" build="p"/>
      <p:bldP spid="695312" grpId="0" animBg="1"/>
      <p:bldP spid="695313" grpId="0" animBg="1" autoUpdateAnimBg="0" build="p"/>
      <p:bldP spid="6953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DF34AB7-0B41-4993-A4F2-3380650CFE1E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  <a:r>
              <a:rPr lang="en-US" altLang="zh-CN" b="0">
                <a:latin typeface="Times New Roman" panose="02020603050405020304" pitchFamily="18" charset="0"/>
              </a:rPr>
              <a:t>3</a:t>
            </a:r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229600" cy="1368425"/>
          </a:xfrm>
        </p:spPr>
        <p:txBody>
          <a:bodyPr/>
          <a:lstStyle/>
          <a:p>
            <a:pPr marL="457200" indent="-457200"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3</a:t>
            </a:r>
            <a:r>
              <a:rPr lang="en-US" altLang="zh-CN"/>
              <a:t>  </a:t>
            </a:r>
            <a:r>
              <a:rPr lang="zh-CN" altLang="en-US"/>
              <a:t>在一阶逻辑中将下面命题符号化</a:t>
            </a:r>
            <a:endParaRPr lang="zh-CN" altLang="en-US"/>
          </a:p>
          <a:p>
            <a:pPr marL="457200" indent="-457200" eaLnBrk="1" hangingPunct="1"/>
            <a:r>
              <a:rPr lang="zh-CN" altLang="en-US"/>
              <a:t>  </a:t>
            </a:r>
            <a:r>
              <a:rPr lang="en-US" altLang="zh-CN"/>
              <a:t>(1) </a:t>
            </a:r>
            <a:r>
              <a:rPr lang="zh-CN" altLang="en-US"/>
              <a:t>正数都大于负数</a:t>
            </a:r>
            <a:endParaRPr lang="zh-CN" altLang="en-US"/>
          </a:p>
          <a:p>
            <a:pPr marL="457200" indent="-457200" eaLnBrk="1" hangingPunct="1"/>
            <a:r>
              <a:rPr lang="zh-CN" altLang="en-US"/>
              <a:t>  </a:t>
            </a:r>
            <a:r>
              <a:rPr lang="en-US" altLang="zh-CN"/>
              <a:t>(2) </a:t>
            </a:r>
            <a:r>
              <a:rPr lang="zh-CN" altLang="en-US"/>
              <a:t>有的无理数大于有的有理数</a:t>
            </a:r>
            <a:endParaRPr lang="zh-CN" altLang="en-US"/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323850" y="2492375"/>
            <a:ext cx="8229600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解 </a:t>
            </a:r>
            <a:r>
              <a:rPr lang="zh-CN" altLang="en-US">
                <a:solidFill>
                  <a:srgbClr val="FF0000"/>
                </a:solidFill>
              </a:rPr>
              <a:t>注意：题目中没给个体域，一律用全总个体域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   </a:t>
            </a:r>
            <a:r>
              <a:rPr lang="en-US" altLang="zh-CN"/>
              <a:t>(1) </a:t>
            </a:r>
            <a:r>
              <a:rPr lang="zh-CN" altLang="en-US"/>
              <a:t>令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zh-CN" altLang="en-US"/>
              <a:t>为正数，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y</a:t>
            </a:r>
            <a:r>
              <a:rPr lang="zh-CN" altLang="en-US"/>
              <a:t>为负数</a:t>
            </a:r>
            <a:r>
              <a:rPr lang="en-US" altLang="zh-CN"/>
              <a:t>,    </a:t>
            </a:r>
            <a:r>
              <a:rPr lang="en-US" altLang="zh-CN" i="1"/>
              <a:t>L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en-US" altLang="zh-CN"/>
              <a:t>&gt;</a:t>
            </a:r>
            <a:r>
              <a:rPr lang="en-US" altLang="zh-CN" i="1"/>
              <a:t>y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280581" name="Rectangle 5"/>
          <p:cNvSpPr>
            <a:spLocks noChangeArrowheads="1"/>
          </p:cNvSpPr>
          <p:nvPr/>
        </p:nvSpPr>
        <p:spPr bwMode="auto">
          <a:xfrm>
            <a:off x="971550" y="3500438"/>
            <a:ext cx="6553200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</a:t>
            </a:r>
            <a:r>
              <a:rPr lang="en-US" altLang="zh-CN" i="1" dirty="0"/>
              <a:t>x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</a:t>
            </a:r>
            <a:r>
              <a:rPr lang="en-US" altLang="zh-CN" i="1" dirty="0"/>
              <a:t>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endParaRPr lang="en-US" altLang="zh-CN" dirty="0"/>
          </a:p>
          <a:p>
            <a:pPr eaLnBrk="1" hangingPunct="1"/>
            <a:r>
              <a:rPr lang="zh-CN" altLang="en-US" dirty="0"/>
              <a:t>或者  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</a:rPr>
              <a:t>L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280582" name="Rectangle 6"/>
          <p:cNvSpPr>
            <a:spLocks noChangeArrowheads="1"/>
          </p:cNvSpPr>
          <p:nvPr/>
        </p:nvSpPr>
        <p:spPr bwMode="auto">
          <a:xfrm>
            <a:off x="303213" y="4510088"/>
            <a:ext cx="82296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  (2) </a:t>
            </a:r>
            <a:r>
              <a:rPr lang="zh-CN" altLang="en-US"/>
              <a:t>令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zh-CN" altLang="en-US"/>
              <a:t>是无理数，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y</a:t>
            </a:r>
            <a:r>
              <a:rPr lang="zh-CN" altLang="en-US"/>
              <a:t>是有理数，</a:t>
            </a:r>
            <a:r>
              <a:rPr lang="en-US" altLang="zh-CN" i="1"/>
              <a:t>L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：</a:t>
            </a:r>
            <a:r>
              <a:rPr lang="en-US" altLang="zh-CN" i="1"/>
              <a:t>x</a:t>
            </a:r>
            <a:r>
              <a:rPr lang="en-US" altLang="zh-CN"/>
              <a:t>&gt;</a:t>
            </a:r>
            <a:r>
              <a:rPr lang="en-US" altLang="zh-CN" i="1"/>
              <a:t>y</a:t>
            </a:r>
            <a:r>
              <a:rPr lang="en-US" altLang="zh-CN"/>
              <a:t> 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280583" name="Rectangle 7"/>
          <p:cNvSpPr>
            <a:spLocks noChangeArrowheads="1"/>
          </p:cNvSpPr>
          <p:nvPr/>
        </p:nvSpPr>
        <p:spPr bwMode="auto">
          <a:xfrm>
            <a:off x="1042988" y="5084763"/>
            <a:ext cx="5400675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</a:t>
            </a:r>
            <a:r>
              <a:rPr lang="en-US" altLang="zh-CN" i="1" dirty="0"/>
              <a:t>x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</a:t>
            </a:r>
            <a:r>
              <a:rPr lang="en-US" altLang="zh-CN" i="1" dirty="0"/>
              <a:t>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或者   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</a:rPr>
              <a:t>L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0" grpId="0"/>
      <p:bldP spid="280581" grpId="0" bldLvl="0" animBg="1"/>
      <p:bldP spid="280582" grpId="0"/>
      <p:bldP spid="28058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7BA3BE-F0E4-418D-94C0-3B31A44C04D2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1512887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4 </a:t>
            </a:r>
            <a:r>
              <a:rPr lang="zh-CN" altLang="en-US"/>
              <a:t>在一阶逻辑中将下面命题符号化</a:t>
            </a:r>
            <a:endParaRPr lang="zh-CN" altLang="en-US"/>
          </a:p>
          <a:p>
            <a:pPr eaLnBrk="1" hangingPunct="1"/>
            <a:r>
              <a:rPr lang="zh-CN" altLang="en-US"/>
              <a:t>  </a:t>
            </a:r>
            <a:r>
              <a:rPr lang="en-US" altLang="zh-CN"/>
              <a:t>(1) </a:t>
            </a:r>
            <a:r>
              <a:rPr lang="zh-CN" altLang="en-US"/>
              <a:t>没有不呼吸的人</a:t>
            </a:r>
            <a:endParaRPr lang="zh-CN" altLang="en-US"/>
          </a:p>
          <a:p>
            <a:pPr eaLnBrk="1" hangingPunct="1"/>
            <a:r>
              <a:rPr lang="zh-CN" altLang="en-US"/>
              <a:t>  </a:t>
            </a:r>
            <a:r>
              <a:rPr lang="en-US" altLang="zh-CN"/>
              <a:t>(2) </a:t>
            </a:r>
            <a:r>
              <a:rPr lang="zh-CN" altLang="en-US"/>
              <a:t>不是所有的人都喜欢吃糖</a:t>
            </a:r>
            <a:endParaRPr lang="zh-CN" altLang="en-US" i="1"/>
          </a:p>
        </p:txBody>
      </p:sp>
      <p:sp>
        <p:nvSpPr>
          <p:cNvPr id="284676" name="Text Box 4"/>
          <p:cNvSpPr txBox="1">
            <a:spLocks noChangeArrowheads="1"/>
          </p:cNvSpPr>
          <p:nvPr/>
        </p:nvSpPr>
        <p:spPr bwMode="auto">
          <a:xfrm>
            <a:off x="466725" y="2708275"/>
            <a:ext cx="518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解 </a:t>
            </a:r>
            <a:r>
              <a:rPr lang="en-US" altLang="zh-CN"/>
              <a:t>(1) 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 </a:t>
            </a:r>
            <a:r>
              <a:rPr lang="en-US" altLang="zh-CN" i="1"/>
              <a:t>x</a:t>
            </a:r>
            <a:r>
              <a:rPr lang="zh-CN" altLang="en-US"/>
              <a:t>是人</a:t>
            </a:r>
            <a:r>
              <a:rPr lang="en-US" altLang="zh-CN"/>
              <a:t>,  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 </a:t>
            </a:r>
            <a:r>
              <a:rPr lang="en-US" altLang="zh-CN" i="1"/>
              <a:t>x</a:t>
            </a:r>
            <a:r>
              <a:rPr lang="zh-CN" altLang="en-US"/>
              <a:t>呼吸</a:t>
            </a:r>
            <a:endParaRPr lang="zh-CN" altLang="en-US"/>
          </a:p>
        </p:txBody>
      </p:sp>
      <p:sp>
        <p:nvSpPr>
          <p:cNvPr id="284677" name="Text Box 5"/>
          <p:cNvSpPr txBox="1">
            <a:spLocks noChangeArrowheads="1"/>
          </p:cNvSpPr>
          <p:nvPr/>
        </p:nvSpPr>
        <p:spPr bwMode="auto">
          <a:xfrm>
            <a:off x="1331913" y="3187700"/>
            <a:ext cx="3887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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)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endParaRPr lang="en-US" altLang="zh-CN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sp>
        <p:nvSpPr>
          <p:cNvPr id="284678" name="Text Box 6"/>
          <p:cNvSpPr txBox="1">
            <a:spLocks noChangeArrowheads="1"/>
          </p:cNvSpPr>
          <p:nvPr/>
        </p:nvSpPr>
        <p:spPr bwMode="auto">
          <a:xfrm>
            <a:off x="1331913" y="3692525"/>
            <a:ext cx="3887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sp>
        <p:nvSpPr>
          <p:cNvPr id="284679" name="Text Box 7"/>
          <p:cNvSpPr txBox="1">
            <a:spLocks noChangeArrowheads="1"/>
          </p:cNvSpPr>
          <p:nvPr/>
        </p:nvSpPr>
        <p:spPr bwMode="auto">
          <a:xfrm>
            <a:off x="828675" y="4267200"/>
            <a:ext cx="547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(2) 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 </a:t>
            </a:r>
            <a:r>
              <a:rPr lang="en-US" altLang="zh-CN" i="1"/>
              <a:t>x</a:t>
            </a:r>
            <a:r>
              <a:rPr lang="zh-CN" altLang="en-US"/>
              <a:t>是人</a:t>
            </a:r>
            <a:r>
              <a:rPr lang="en-US" altLang="zh-CN"/>
              <a:t>,  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 </a:t>
            </a:r>
            <a:r>
              <a:rPr lang="en-US" altLang="zh-CN" i="1"/>
              <a:t>x</a:t>
            </a:r>
            <a:r>
              <a:rPr lang="zh-CN" altLang="en-US"/>
              <a:t>喜欢吃糖</a:t>
            </a:r>
            <a:endParaRPr lang="zh-CN" altLang="en-US"/>
          </a:p>
        </p:txBody>
      </p:sp>
      <p:sp>
        <p:nvSpPr>
          <p:cNvPr id="284680" name="Text Box 8"/>
          <p:cNvSpPr txBox="1">
            <a:spLocks noChangeArrowheads="1"/>
          </p:cNvSpPr>
          <p:nvPr/>
        </p:nvSpPr>
        <p:spPr bwMode="auto">
          <a:xfrm>
            <a:off x="1331913" y="5229225"/>
            <a:ext cx="3887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)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sp>
        <p:nvSpPr>
          <p:cNvPr id="284681" name="Text Box 9"/>
          <p:cNvSpPr txBox="1">
            <a:spLocks noChangeArrowheads="1"/>
          </p:cNvSpPr>
          <p:nvPr/>
        </p:nvSpPr>
        <p:spPr bwMode="auto">
          <a:xfrm>
            <a:off x="1331913" y="4724400"/>
            <a:ext cx="3887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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)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endParaRPr lang="en-US" altLang="zh-CN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6" grpId="0"/>
      <p:bldP spid="284677" grpId="0" bldLvl="0" animBg="1"/>
      <p:bldP spid="284678" grpId="0" bldLvl="0" animBg="1"/>
      <p:bldP spid="284679" grpId="0"/>
      <p:bldP spid="284680" grpId="0" bldLvl="0" animBg="1"/>
      <p:bldP spid="28468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DACBEF-BA9D-44BF-80B3-94C1ACE29422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1512887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5_1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zh-CN" altLang="en-US">
                <a:solidFill>
                  <a:srgbClr val="FF0000"/>
                </a:solidFill>
              </a:rPr>
              <a:t>个体域为实数域</a:t>
            </a:r>
            <a:r>
              <a:rPr lang="en-US" altLang="zh-CN"/>
              <a:t>, </a:t>
            </a:r>
            <a:r>
              <a:rPr lang="zh-CN" altLang="en-US"/>
              <a:t>将下面命题符号化</a:t>
            </a:r>
            <a:endParaRPr lang="zh-CN" altLang="en-US"/>
          </a:p>
          <a:p>
            <a:pPr eaLnBrk="1" hangingPunct="1"/>
            <a:r>
              <a:rPr lang="zh-CN" altLang="en-US"/>
              <a:t>  </a:t>
            </a:r>
            <a:r>
              <a:rPr lang="en-US" altLang="zh-CN"/>
              <a:t>(1)  </a:t>
            </a:r>
            <a:r>
              <a:rPr lang="zh-CN" altLang="en-US"/>
              <a:t>对每一个数</a:t>
            </a:r>
            <a:r>
              <a:rPr lang="en-US" altLang="zh-CN" i="1"/>
              <a:t>x</a:t>
            </a:r>
            <a:r>
              <a:rPr lang="zh-CN" altLang="en-US"/>
              <a:t>都存在一个数</a:t>
            </a:r>
            <a:r>
              <a:rPr lang="en-US" altLang="zh-CN" i="1"/>
              <a:t>y</a:t>
            </a:r>
            <a:r>
              <a:rPr lang="zh-CN" altLang="en-US"/>
              <a:t>使得</a:t>
            </a:r>
            <a:r>
              <a:rPr lang="en-US" altLang="zh-CN" i="1"/>
              <a:t>x</a:t>
            </a:r>
            <a:r>
              <a:rPr lang="en-US" altLang="zh-CN"/>
              <a:t>&lt;</a:t>
            </a:r>
            <a:r>
              <a:rPr lang="en-US" altLang="zh-CN" i="1"/>
              <a:t>y</a:t>
            </a:r>
            <a:endParaRPr lang="en-US" altLang="zh-CN" i="1"/>
          </a:p>
          <a:p>
            <a:pPr eaLnBrk="1" hangingPunct="1"/>
            <a:r>
              <a:rPr lang="en-US" altLang="zh-CN"/>
              <a:t>  (2)  </a:t>
            </a:r>
            <a:r>
              <a:rPr lang="zh-CN" altLang="en-US"/>
              <a:t>存在一个数</a:t>
            </a:r>
            <a:r>
              <a:rPr lang="en-US" altLang="zh-CN" i="1"/>
              <a:t>x</a:t>
            </a:r>
            <a:r>
              <a:rPr lang="zh-CN" altLang="en-US"/>
              <a:t>使得对每一个数</a:t>
            </a:r>
            <a:r>
              <a:rPr lang="en-US" altLang="zh-CN" i="1"/>
              <a:t>y</a:t>
            </a:r>
            <a:r>
              <a:rPr lang="zh-CN" altLang="en-US"/>
              <a:t>都有</a:t>
            </a:r>
            <a:r>
              <a:rPr lang="en-US" altLang="zh-CN" i="1"/>
              <a:t>x</a:t>
            </a:r>
            <a:r>
              <a:rPr lang="en-US" altLang="zh-CN"/>
              <a:t>&lt;</a:t>
            </a:r>
            <a:r>
              <a:rPr lang="en-US" altLang="zh-CN" i="1"/>
              <a:t>y</a:t>
            </a:r>
            <a:endParaRPr lang="en-US" altLang="zh-CN" i="1"/>
          </a:p>
        </p:txBody>
      </p:sp>
      <p:sp>
        <p:nvSpPr>
          <p:cNvPr id="351236" name="Text Box 4"/>
          <p:cNvSpPr txBox="1">
            <a:spLocks noChangeArrowheads="1"/>
          </p:cNvSpPr>
          <p:nvPr/>
        </p:nvSpPr>
        <p:spPr bwMode="auto">
          <a:xfrm>
            <a:off x="466725" y="2708275"/>
            <a:ext cx="518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解   设  </a:t>
            </a:r>
            <a:r>
              <a:rPr lang="en-US" altLang="zh-CN" i="1"/>
              <a:t>L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): </a:t>
            </a:r>
            <a:r>
              <a:rPr lang="en-US" altLang="zh-CN" i="1"/>
              <a:t>x</a:t>
            </a:r>
            <a:r>
              <a:rPr lang="en-US" altLang="zh-CN"/>
              <a:t>&lt;</a:t>
            </a:r>
            <a:r>
              <a:rPr lang="en-US" altLang="zh-CN" i="1"/>
              <a:t>y</a:t>
            </a:r>
            <a:endParaRPr lang="en-US" altLang="zh-CN"/>
          </a:p>
        </p:txBody>
      </p:sp>
      <p:sp>
        <p:nvSpPr>
          <p:cNvPr id="351237" name="Text Box 5"/>
          <p:cNvSpPr txBox="1">
            <a:spLocks noChangeArrowheads="1"/>
          </p:cNvSpPr>
          <p:nvPr/>
        </p:nvSpPr>
        <p:spPr bwMode="auto">
          <a:xfrm>
            <a:off x="611188" y="3187700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(1)    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>
                <a:sym typeface="Symbol" panose="05050102010706020507" pitchFamily="18" charset="2"/>
              </a:rPr>
              <a:t>yL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y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endParaRPr lang="en-US" altLang="zh-CN"/>
          </a:p>
        </p:txBody>
      </p:sp>
      <p:sp>
        <p:nvSpPr>
          <p:cNvPr id="351240" name="Text Box 8"/>
          <p:cNvSpPr txBox="1">
            <a:spLocks noChangeArrowheads="1"/>
          </p:cNvSpPr>
          <p:nvPr/>
        </p:nvSpPr>
        <p:spPr bwMode="auto">
          <a:xfrm>
            <a:off x="684213" y="4652963"/>
            <a:ext cx="5400675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注意</a:t>
            </a:r>
            <a:r>
              <a:rPr lang="en-US" altLang="zh-CN">
                <a:sym typeface="Symbol" panose="05050102010706020507" pitchFamily="18" charset="2"/>
              </a:rPr>
              <a:t>: </a:t>
            </a:r>
            <a:r>
              <a:rPr lang="zh-CN" altLang="en-US">
                <a:sym typeface="Symbol" panose="05050102010706020507" pitchFamily="18" charset="2"/>
              </a:rPr>
              <a:t>与不能随意交换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显然</a:t>
            </a:r>
            <a:r>
              <a:rPr lang="en-US" altLang="zh-CN"/>
              <a:t>(1)</a:t>
            </a:r>
            <a:r>
              <a:rPr lang="zh-CN" altLang="en-US"/>
              <a:t>是真命题</a:t>
            </a:r>
            <a:r>
              <a:rPr lang="en-US" altLang="zh-CN"/>
              <a:t>, (2)</a:t>
            </a:r>
            <a:r>
              <a:rPr lang="zh-CN" altLang="en-US"/>
              <a:t>是假命题</a:t>
            </a:r>
            <a:endParaRPr lang="zh-CN" altLang="en-US"/>
          </a:p>
        </p:txBody>
      </p:sp>
      <p:sp>
        <p:nvSpPr>
          <p:cNvPr id="351243" name="Text Box 11"/>
          <p:cNvSpPr txBox="1">
            <a:spLocks noChangeArrowheads="1"/>
          </p:cNvSpPr>
          <p:nvPr/>
        </p:nvSpPr>
        <p:spPr bwMode="auto">
          <a:xfrm>
            <a:off x="611188" y="3763963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(2)    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>
                <a:sym typeface="Symbol" panose="05050102010706020507" pitchFamily="18" charset="2"/>
              </a:rPr>
              <a:t>yL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y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6" grpId="0"/>
      <p:bldP spid="351237" grpId="0"/>
      <p:bldP spid="351240" grpId="0"/>
      <p:bldP spid="3512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739FC8-EDE0-4768-BD90-DDFA3137912D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24175"/>
            <a:ext cx="8229600" cy="3201988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解 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R(</a:t>
            </a:r>
            <a:r>
              <a:rPr lang="en-US" altLang="zh-CN" i="1" dirty="0"/>
              <a:t>x</a:t>
            </a:r>
            <a:r>
              <a:rPr lang="en-US" altLang="zh-CN" dirty="0"/>
              <a:t>):</a:t>
            </a:r>
            <a:r>
              <a:rPr lang="en-US" altLang="zh-CN" i="1" dirty="0"/>
              <a:t>x</a:t>
            </a:r>
            <a:r>
              <a:rPr lang="zh-CN" altLang="en-US" dirty="0"/>
              <a:t>是数； 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): </a:t>
            </a:r>
            <a:r>
              <a:rPr lang="en-US" altLang="zh-CN" i="1" dirty="0"/>
              <a:t>x</a:t>
            </a:r>
            <a:r>
              <a:rPr lang="en-US" altLang="zh-CN" dirty="0"/>
              <a:t>&lt;</a:t>
            </a:r>
            <a:r>
              <a:rPr lang="en-US" altLang="zh-CN" i="1" dirty="0"/>
              <a:t>y</a:t>
            </a:r>
            <a:endParaRPr lang="en-US" altLang="zh-CN" i="1" dirty="0"/>
          </a:p>
          <a:p>
            <a:pPr marL="914400" lvl="1" indent="-457200" eaLnBrk="1" hangingPunct="1">
              <a:buFontTx/>
              <a:buAutoNum type="arabicParenBoth"/>
              <a:defRPr/>
            </a:pP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)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)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L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rgbClr val="00B050"/>
              </a:solidFill>
              <a:latin typeface="+mn-lt"/>
              <a:sym typeface="Symbol" panose="05050102010706020507" pitchFamily="18" charset="2"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或，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)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)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L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/>
              <a:sym typeface="Symbol" panose="05050102010706020507" pitchFamily="18" charset="2"/>
            </a:endParaRPr>
          </a:p>
          <a:p>
            <a:pPr marL="914400" lvl="1" indent="-457200" eaLnBrk="1" hangingPunct="1">
              <a:buFontTx/>
              <a:buAutoNum type="arabicParenBoth"/>
              <a:defRPr/>
            </a:pPr>
            <a:endParaRPr lang="en-US" altLang="zh-CN" sz="2400" b="1" dirty="0">
              <a:latin typeface="+mn-lt"/>
            </a:endParaRPr>
          </a:p>
          <a:p>
            <a:pPr marL="914400" lvl="1" indent="-457200" eaLnBrk="1" hangingPunct="1">
              <a:buFontTx/>
              <a:buAutoNum type="arabicParenBoth" startAt="2"/>
              <a:defRPr/>
            </a:pP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)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)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L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latin typeface="+mn-lt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/>
                <a:sym typeface="Symbol" panose="05050102010706020507" pitchFamily="18" charset="2"/>
              </a:rPr>
              <a:t>)</a:t>
            </a:r>
            <a:endParaRPr lang="en-US" altLang="zh-CN" sz="2400" b="1" dirty="0">
              <a:latin typeface="+mn-lt"/>
              <a:sym typeface="Symbol" panose="05050102010706020507" pitchFamily="18" charset="2"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或，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)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)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L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/>
              <a:sym typeface="Symbol" panose="05050102010706020507" pitchFamily="18" charset="2"/>
            </a:endParaRPr>
          </a:p>
          <a:p>
            <a:pPr marL="914400" lvl="1" indent="-457200" eaLnBrk="1" hangingPunct="1">
              <a:buFontTx/>
              <a:buAutoNum type="arabicParenBoth" startAt="2"/>
              <a:defRPr/>
            </a:pPr>
            <a:endParaRPr lang="en-US" altLang="zh-CN" sz="2400" b="1" dirty="0">
              <a:latin typeface="+mn-lt"/>
              <a:sym typeface="Symbol" panose="05050102010706020507" pitchFamily="18" charset="2"/>
            </a:endParaRPr>
          </a:p>
          <a:p>
            <a:pPr marL="457200" lvl="1" indent="0" eaLnBrk="1" hangingPunct="1">
              <a:buFontTx/>
              <a:buNone/>
              <a:defRPr/>
            </a:pPr>
            <a:endParaRPr lang="en-US" altLang="zh-CN" sz="2400" b="1" dirty="0">
              <a:latin typeface="+mn-lt"/>
            </a:endParaRPr>
          </a:p>
        </p:txBody>
      </p:sp>
      <p:sp>
        <p:nvSpPr>
          <p:cNvPr id="45061" name="Rectangle 3"/>
          <p:cNvSpPr txBox="1">
            <a:spLocks noChangeArrowheads="1"/>
          </p:cNvSpPr>
          <p:nvPr/>
        </p:nvSpPr>
        <p:spPr bwMode="auto">
          <a:xfrm>
            <a:off x="457200" y="1268413"/>
            <a:ext cx="8229600" cy="151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5_2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zh-CN" altLang="en-US">
                <a:solidFill>
                  <a:srgbClr val="FF0000"/>
                </a:solidFill>
              </a:rPr>
              <a:t>个体域为全总个体域</a:t>
            </a:r>
            <a:r>
              <a:rPr lang="en-US" altLang="zh-CN"/>
              <a:t>, </a:t>
            </a:r>
            <a:r>
              <a:rPr lang="zh-CN" altLang="en-US"/>
              <a:t>将下面命题符号化</a:t>
            </a:r>
            <a:endParaRPr lang="zh-CN" altLang="en-US"/>
          </a:p>
          <a:p>
            <a:pPr eaLnBrk="1" hangingPunct="1"/>
            <a:r>
              <a:rPr lang="zh-CN" altLang="en-US"/>
              <a:t>  </a:t>
            </a:r>
            <a:r>
              <a:rPr lang="en-US" altLang="zh-CN"/>
              <a:t>(1)  </a:t>
            </a:r>
            <a:r>
              <a:rPr lang="zh-CN" altLang="en-US"/>
              <a:t>对每一个数</a:t>
            </a:r>
            <a:r>
              <a:rPr lang="en-US" altLang="zh-CN" i="1"/>
              <a:t>x</a:t>
            </a:r>
            <a:r>
              <a:rPr lang="zh-CN" altLang="en-US"/>
              <a:t>都存在一个数</a:t>
            </a:r>
            <a:r>
              <a:rPr lang="en-US" altLang="zh-CN" i="1"/>
              <a:t>y</a:t>
            </a:r>
            <a:r>
              <a:rPr lang="zh-CN" altLang="en-US"/>
              <a:t>使得</a:t>
            </a:r>
            <a:r>
              <a:rPr lang="en-US" altLang="zh-CN" i="1"/>
              <a:t>x</a:t>
            </a:r>
            <a:r>
              <a:rPr lang="en-US" altLang="zh-CN"/>
              <a:t>&lt;</a:t>
            </a:r>
            <a:r>
              <a:rPr lang="en-US" altLang="zh-CN" i="1"/>
              <a:t>y</a:t>
            </a:r>
            <a:endParaRPr lang="en-US" altLang="zh-CN" i="1"/>
          </a:p>
          <a:p>
            <a:pPr eaLnBrk="1" hangingPunct="1"/>
            <a:r>
              <a:rPr lang="en-US" altLang="zh-CN"/>
              <a:t>  (2)  </a:t>
            </a:r>
            <a:r>
              <a:rPr lang="zh-CN" altLang="en-US"/>
              <a:t>存在一个数</a:t>
            </a:r>
            <a:r>
              <a:rPr lang="en-US" altLang="zh-CN" i="1"/>
              <a:t>x</a:t>
            </a:r>
            <a:r>
              <a:rPr lang="zh-CN" altLang="en-US"/>
              <a:t>使得对每一个数</a:t>
            </a:r>
            <a:r>
              <a:rPr lang="en-US" altLang="zh-CN" i="1"/>
              <a:t>y</a:t>
            </a:r>
            <a:r>
              <a:rPr lang="zh-CN" altLang="en-US"/>
              <a:t>都有</a:t>
            </a:r>
            <a:r>
              <a:rPr lang="en-US" altLang="zh-CN" i="1"/>
              <a:t>x</a:t>
            </a:r>
            <a:r>
              <a:rPr lang="en-US" altLang="zh-CN"/>
              <a:t>&lt;</a:t>
            </a:r>
            <a:r>
              <a:rPr lang="en-US" altLang="zh-CN" i="1"/>
              <a:t>y</a:t>
            </a:r>
            <a:endParaRPr lang="en-US" altLang="zh-CN" i="1"/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786B57-AB36-4F9E-B745-491174A1D336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符号化下列命题：</a:t>
            </a:r>
            <a:endParaRPr lang="zh-CN" altLang="en-US"/>
          </a:p>
          <a:p>
            <a:pPr eaLnBrk="1" hangingPunct="1"/>
            <a:r>
              <a:rPr lang="en-US" altLang="zh-CN"/>
              <a:t>(1)</a:t>
            </a:r>
            <a:r>
              <a:rPr lang="zh-CN" altLang="en-US"/>
              <a:t>所有的人都长着黑头发。</a:t>
            </a:r>
            <a:endParaRPr lang="zh-CN" altLang="en-US"/>
          </a:p>
          <a:p>
            <a:pPr eaLnBrk="1" hangingPunct="1"/>
            <a:r>
              <a:rPr lang="en-US" altLang="zh-CN"/>
              <a:t>(2)</a:t>
            </a:r>
            <a:r>
              <a:rPr lang="zh-CN" altLang="en-US"/>
              <a:t>有的人登上过月球。 </a:t>
            </a:r>
            <a:endParaRPr lang="zh-CN" altLang="en-US"/>
          </a:p>
          <a:p>
            <a:pPr eaLnBrk="1" hangingPunct="1"/>
            <a:r>
              <a:rPr lang="en-US" altLang="zh-CN"/>
              <a:t>(3)</a:t>
            </a:r>
            <a:r>
              <a:rPr lang="zh-CN" altLang="en-US"/>
              <a:t>没有人登上过木星。</a:t>
            </a:r>
            <a:endParaRPr lang="zh-CN" altLang="en-US"/>
          </a:p>
          <a:p>
            <a:pPr eaLnBrk="1" hangingPunct="1"/>
            <a:r>
              <a:rPr lang="en-US" altLang="zh-CN"/>
              <a:t>(4)</a:t>
            </a:r>
            <a:r>
              <a:rPr lang="zh-CN" altLang="en-US"/>
              <a:t>在美国留学的学生未必都是亚洲人。</a:t>
            </a:r>
            <a:endParaRPr lang="zh-CN" altLang="en-US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解：设</a:t>
            </a:r>
            <a:r>
              <a:rPr lang="en-US" altLang="zh-CN"/>
              <a:t>M(x): x</a:t>
            </a:r>
            <a:r>
              <a:rPr lang="zh-CN" altLang="en-US"/>
              <a:t>是人。</a:t>
            </a:r>
            <a:endParaRPr lang="zh-CN" altLang="en-US"/>
          </a:p>
          <a:p>
            <a:pPr eaLnBrk="1" hangingPunct="1"/>
            <a:endParaRPr lang="en-US" altLang="zh-CN"/>
          </a:p>
        </p:txBody>
      </p:sp>
      <p:sp>
        <p:nvSpPr>
          <p:cNvPr id="461828" name="Rectangle 4"/>
          <p:cNvSpPr>
            <a:spLocks noChangeArrowheads="1"/>
          </p:cNvSpPr>
          <p:nvPr/>
        </p:nvSpPr>
        <p:spPr bwMode="auto">
          <a:xfrm>
            <a:off x="5508625" y="1373188"/>
            <a:ext cx="3527425" cy="82994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(1) 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): 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长着黑头发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      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M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 → 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))</a:t>
            </a:r>
            <a:endParaRPr kumimoji="1" lang="en-US" altLang="zh-CN">
              <a:solidFill>
                <a:srgbClr val="FF0000"/>
              </a:solidFill>
            </a:endParaRPr>
          </a:p>
        </p:txBody>
      </p:sp>
      <p:sp>
        <p:nvSpPr>
          <p:cNvPr id="461829" name="Rectangle 5"/>
          <p:cNvSpPr>
            <a:spLocks noChangeArrowheads="1"/>
          </p:cNvSpPr>
          <p:nvPr/>
        </p:nvSpPr>
        <p:spPr bwMode="auto">
          <a:xfrm>
            <a:off x="5508625" y="2203450"/>
            <a:ext cx="3527425" cy="82994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(2)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):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 x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登上过月球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      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M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 dirty="0">
                <a:solidFill>
                  <a:srgbClr val="FF0000"/>
                </a:solidFill>
              </a:rPr>
              <a:t>) </a:t>
            </a:r>
            <a:r>
              <a:rPr kumimoji="1"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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>
                <a:solidFill>
                  <a:srgbClr val="FF0000"/>
                </a:solidFill>
              </a:rPr>
              <a:t>G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 dirty="0">
                <a:solidFill>
                  <a:srgbClr val="FF0000"/>
                </a:solidFill>
              </a:rPr>
              <a:t>))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  <p:sp>
        <p:nvSpPr>
          <p:cNvPr id="461830" name="Rectangle 6"/>
          <p:cNvSpPr>
            <a:spLocks noChangeArrowheads="1"/>
          </p:cNvSpPr>
          <p:nvPr/>
        </p:nvSpPr>
        <p:spPr bwMode="auto">
          <a:xfrm>
            <a:off x="420688" y="4513263"/>
            <a:ext cx="7488237" cy="119888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(3) 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): 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登上过木星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    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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M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 </a:t>
            </a:r>
            <a:r>
              <a:rPr kumimoji="1"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</a:t>
            </a:r>
            <a:r>
              <a:rPr kumimoji="1" lang="en-US" altLang="zh-CN">
                <a:solidFill>
                  <a:srgbClr val="FF0000"/>
                </a:solidFill>
              </a:rPr>
              <a:t> </a:t>
            </a:r>
            <a:r>
              <a:rPr lang="en-US" altLang="zh-CN" i="1">
                <a:solidFill>
                  <a:srgbClr val="FF0000"/>
                </a:solidFill>
              </a:rPr>
              <a:t>H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))</a:t>
            </a:r>
            <a:endParaRPr kumimoji="1" lang="en-US" altLang="zh-CN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0000"/>
                </a:solidFill>
              </a:rPr>
              <a:t> 或 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M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 → </a:t>
            </a:r>
            <a:r>
              <a:rPr lang="en-US" altLang="zh-CN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FF0000"/>
                </a:solidFill>
              </a:rPr>
              <a:t>H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))</a:t>
            </a:r>
            <a:endParaRPr kumimoji="1" lang="en-US" altLang="zh-CN">
              <a:solidFill>
                <a:srgbClr val="FF0000"/>
              </a:solidFill>
            </a:endParaRPr>
          </a:p>
        </p:txBody>
      </p:sp>
      <p:sp>
        <p:nvSpPr>
          <p:cNvPr id="461831" name="Rectangle 7"/>
          <p:cNvSpPr>
            <a:spLocks noChangeArrowheads="1"/>
          </p:cNvSpPr>
          <p:nvPr/>
        </p:nvSpPr>
        <p:spPr bwMode="auto">
          <a:xfrm>
            <a:off x="4346575" y="4521200"/>
            <a:ext cx="4340225" cy="156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(4) 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): 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在美国留学的学生；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         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): 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是亚洲人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  <a:endParaRPr lang="en-US" altLang="zh-CN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       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 → </a:t>
            </a:r>
            <a:r>
              <a:rPr lang="en-US" altLang="zh-CN" i="1">
                <a:solidFill>
                  <a:srgbClr val="FF0000"/>
                </a:solidFill>
              </a:rPr>
              <a:t>G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))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altLang="zh-CN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0000"/>
                </a:solidFill>
              </a:rPr>
              <a:t>   或  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 </a:t>
            </a:r>
            <a:r>
              <a:rPr kumimoji="1"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</a:t>
            </a:r>
            <a:r>
              <a:rPr kumimoji="1" lang="en-US" altLang="zh-CN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FF0000"/>
                </a:solidFill>
              </a:rPr>
              <a:t>G</a:t>
            </a:r>
            <a:r>
              <a:rPr kumimoji="1"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x</a:t>
            </a:r>
            <a:r>
              <a:rPr kumimoji="1" lang="en-US" altLang="zh-CN">
                <a:solidFill>
                  <a:srgbClr val="FF0000"/>
                </a:solidFill>
              </a:rPr>
              <a:t>))</a:t>
            </a:r>
            <a:endParaRPr kumimoji="1"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8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1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18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1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18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1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1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1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18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1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18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18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18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8" grpId="0" animBg="1" autoUpdateAnimBg="0" build="p"/>
      <p:bldP spid="461829" grpId="0" animBg="1" autoUpdateAnimBg="0" build="p"/>
      <p:bldP spid="461830" grpId="0" animBg="1" autoUpdateAnimBg="0" build="p"/>
      <p:bldP spid="461831" grpId="0" animBg="1" autoUpdateAnimBg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408738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B9D592-966F-4A3E-881B-9D6982BE3D8E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1001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符号化下列命题：</a:t>
            </a:r>
            <a:endParaRPr lang="zh-CN" altLang="en-US" dirty="0"/>
          </a:p>
          <a:p>
            <a:pPr eaLnBrk="1" hangingPunct="1"/>
            <a:r>
              <a:rPr lang="en-US" altLang="zh-CN" dirty="0"/>
              <a:t>(1)</a:t>
            </a:r>
            <a:r>
              <a:rPr lang="zh-CN" altLang="en-US" dirty="0"/>
              <a:t>兔子比乌龟跑得快。</a:t>
            </a:r>
            <a:endParaRPr lang="zh-CN" altLang="en-US" dirty="0"/>
          </a:p>
          <a:p>
            <a:pPr eaLnBrk="1" hangingPunct="1"/>
            <a:r>
              <a:rPr lang="en-US" altLang="zh-CN" dirty="0"/>
              <a:t>(2)</a:t>
            </a:r>
            <a:r>
              <a:rPr lang="zh-CN" altLang="en-US" dirty="0"/>
              <a:t>并不是所有的兔子都比乌龟跑得快。 </a:t>
            </a:r>
            <a:endParaRPr lang="zh-CN" altLang="en-US" dirty="0"/>
          </a:p>
          <a:p>
            <a:pPr eaLnBrk="1" hangingPunct="1"/>
            <a:r>
              <a:rPr lang="en-US" altLang="zh-CN" dirty="0"/>
              <a:t>(3)</a:t>
            </a:r>
            <a:r>
              <a:rPr lang="zh-CN" altLang="en-US" dirty="0"/>
              <a:t>不存在跑得同样快的两只兔子。 </a:t>
            </a:r>
            <a:endParaRPr lang="zh-CN" altLang="en-US" dirty="0"/>
          </a:p>
          <a:p>
            <a:pPr eaLnBrk="1" hangingPunct="1"/>
            <a:r>
              <a:rPr lang="en-US" altLang="zh-CN" dirty="0"/>
              <a:t>(4)</a:t>
            </a:r>
            <a:r>
              <a:rPr lang="zh-CN" altLang="en-US" dirty="0"/>
              <a:t>有的兔子比所有的乌龟跑得快。</a:t>
            </a:r>
            <a:endParaRPr lang="zh-CN" altLang="en-US" dirty="0"/>
          </a:p>
          <a:p>
            <a:pPr eaLnBrk="1" hangingPunct="1"/>
            <a:r>
              <a:rPr lang="en-US" altLang="zh-CN" dirty="0"/>
              <a:t>(5)</a:t>
            </a:r>
            <a:r>
              <a:rPr lang="zh-CN" altLang="en-US" dirty="0"/>
              <a:t>所有兔子都比某些乌龟跑得快。 </a:t>
            </a:r>
            <a:endParaRPr lang="zh-CN" altLang="en-US" dirty="0"/>
          </a:p>
          <a:p>
            <a:pPr eaLnBrk="1" hangingPunct="1"/>
            <a:r>
              <a:rPr lang="zh-CN" altLang="en-US" dirty="0"/>
              <a:t>解：设</a:t>
            </a:r>
            <a:r>
              <a:rPr lang="en-US" altLang="zh-CN" dirty="0"/>
              <a:t>F(x): x</a:t>
            </a:r>
            <a:r>
              <a:rPr lang="zh-CN" altLang="en-US" dirty="0"/>
              <a:t>是兔子，</a:t>
            </a:r>
            <a:r>
              <a:rPr lang="en-US" altLang="zh-CN" dirty="0"/>
              <a:t>G(y): y</a:t>
            </a:r>
            <a:r>
              <a:rPr lang="zh-CN" altLang="en-US" dirty="0"/>
              <a:t>是乌龟，</a:t>
            </a:r>
            <a:r>
              <a:rPr lang="en-US" altLang="zh-CN" dirty="0"/>
              <a:t>H(</a:t>
            </a:r>
            <a:r>
              <a:rPr lang="en-US" altLang="zh-CN" dirty="0" err="1"/>
              <a:t>x,y</a:t>
            </a:r>
            <a:r>
              <a:rPr lang="en-US" altLang="zh-CN" dirty="0"/>
              <a:t>): x</a:t>
            </a:r>
            <a:r>
              <a:rPr lang="zh-CN" altLang="en-US" dirty="0"/>
              <a:t>比</a:t>
            </a:r>
            <a:r>
              <a:rPr lang="en-US" altLang="zh-CN" dirty="0"/>
              <a:t>y</a:t>
            </a:r>
            <a:r>
              <a:rPr lang="zh-CN" altLang="en-US" dirty="0"/>
              <a:t>跑得快，</a:t>
            </a:r>
            <a:r>
              <a:rPr lang="en-US" altLang="zh-CN" dirty="0"/>
              <a:t>L(</a:t>
            </a:r>
            <a:r>
              <a:rPr lang="en-US" altLang="zh-CN" dirty="0" err="1"/>
              <a:t>x,y</a:t>
            </a:r>
            <a:r>
              <a:rPr lang="en-US" altLang="zh-CN" dirty="0"/>
              <a:t>):x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跑得一样快。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463880" name="Rectangle 8"/>
          <p:cNvSpPr>
            <a:spLocks noChangeArrowheads="1"/>
          </p:cNvSpPr>
          <p:nvPr/>
        </p:nvSpPr>
        <p:spPr bwMode="auto">
          <a:xfrm>
            <a:off x="508000" y="4562475"/>
            <a:ext cx="8224838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(1) 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)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0066FF"/>
                </a:solidFill>
                <a:sym typeface="Symbol" panose="05050102010706020507" pitchFamily="18" charset="2"/>
              </a:rPr>
              <a:t>或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)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(x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,y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))</a:t>
            </a:r>
            <a:endParaRPr kumimoji="1"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</p:txBody>
      </p:sp>
      <p:sp>
        <p:nvSpPr>
          <p:cNvPr id="463882" name="Rectangle 10"/>
          <p:cNvSpPr>
            <a:spLocks noChangeArrowheads="1"/>
          </p:cNvSpPr>
          <p:nvPr/>
        </p:nvSpPr>
        <p:spPr bwMode="auto">
          <a:xfrm>
            <a:off x="503238" y="5005388"/>
            <a:ext cx="8461375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(2) 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)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0066FF"/>
                </a:solidFill>
                <a:sym typeface="Symbol" panose="05050102010706020507" pitchFamily="18" charset="2"/>
              </a:rPr>
              <a:t>或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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)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))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</p:txBody>
      </p:sp>
      <p:sp>
        <p:nvSpPr>
          <p:cNvPr id="463883" name="Rectangle 11"/>
          <p:cNvSpPr>
            <a:spLocks noChangeArrowheads="1"/>
          </p:cNvSpPr>
          <p:nvPr/>
        </p:nvSpPr>
        <p:spPr bwMode="auto">
          <a:xfrm>
            <a:off x="503238" y="5448300"/>
            <a:ext cx="8137525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(3) </a:t>
            </a:r>
            <a:r>
              <a:rPr lang="en-US" altLang="zh-CN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)</a:t>
            </a:r>
            <a:r>
              <a:rPr lang="en-US" altLang="zh-CN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L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0066FF"/>
                </a:solidFill>
                <a:sym typeface="Symbol" panose="05050102010706020507" pitchFamily="18" charset="2"/>
              </a:rPr>
              <a:t>或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</a:t>
            </a:r>
            <a:r>
              <a:rPr lang="en-US" altLang="zh-CN">
                <a:solidFill>
                  <a:srgbClr val="0066FF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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y(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F(x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)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66FF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L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))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</p:txBody>
      </p:sp>
      <p:sp>
        <p:nvSpPr>
          <p:cNvPr id="463881" name="Rectangle 9"/>
          <p:cNvSpPr>
            <a:spLocks noChangeArrowheads="1"/>
          </p:cNvSpPr>
          <p:nvPr/>
        </p:nvSpPr>
        <p:spPr bwMode="auto">
          <a:xfrm>
            <a:off x="468313" y="5870575"/>
            <a:ext cx="80645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(4) 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)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0066FF"/>
                </a:solidFill>
                <a:sym typeface="Symbol" panose="05050102010706020507" pitchFamily="18" charset="2"/>
              </a:rPr>
              <a:t>或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)(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)))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</p:txBody>
      </p:sp>
      <p:sp>
        <p:nvSpPr>
          <p:cNvPr id="463884" name="Rectangle 12"/>
          <p:cNvSpPr>
            <a:spLocks noChangeArrowheads="1"/>
          </p:cNvSpPr>
          <p:nvPr/>
        </p:nvSpPr>
        <p:spPr bwMode="auto">
          <a:xfrm>
            <a:off x="468313" y="6335713"/>
            <a:ext cx="80645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(5) 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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或</a:t>
            </a:r>
            <a:r>
              <a:rPr lang="en-US" altLang="zh-CN" dirty="0">
                <a:solidFill>
                  <a:srgbClr val="0066FF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))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80" grpId="0" bldLvl="0" animBg="1" autoUpdateAnimBg="0"/>
      <p:bldP spid="463882" grpId="0" bldLvl="0" animBg="1" autoUpdateAnimBg="0"/>
      <p:bldP spid="463883" grpId="0" bldLvl="0" animBg="1" autoUpdateAnimBg="0"/>
      <p:bldP spid="463881" grpId="0" bldLvl="0" animBg="1" autoUpdateAnimBg="0"/>
      <p:bldP spid="463884" grpId="0" bldLvl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6575" y="3540125"/>
            <a:ext cx="8229600" cy="233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lang="zh-CN" altLang="en-US" sz="2200" dirty="0">
                <a:sym typeface="Symbol" panose="05050102010706020507" pitchFamily="18" charset="2"/>
              </a:rPr>
              <a:t></a:t>
            </a:r>
            <a:r>
              <a:rPr lang="en-US" altLang="zh-CN" sz="2200" i="1" dirty="0" err="1"/>
              <a:t>x</a:t>
            </a:r>
            <a:r>
              <a:rPr lang="en-US" altLang="zh-CN" sz="2200" dirty="0" err="1">
                <a:sym typeface="Symbol" panose="05050102010706020507" pitchFamily="18" charset="2"/>
              </a:rPr>
              <a:t></a:t>
            </a:r>
            <a:r>
              <a:rPr lang="en-US" altLang="zh-CN" sz="2200" i="1" dirty="0" err="1"/>
              <a:t>yG</a:t>
            </a:r>
            <a:r>
              <a:rPr lang="en-US" altLang="zh-CN" sz="2200" dirty="0"/>
              <a:t>(</a:t>
            </a:r>
            <a:r>
              <a:rPr lang="en-US" altLang="zh-CN" sz="2200" i="1" dirty="0" err="1"/>
              <a:t>x</a:t>
            </a:r>
            <a:r>
              <a:rPr lang="en-US" altLang="zh-CN" sz="2200" dirty="0" err="1"/>
              <a:t>,</a:t>
            </a:r>
            <a:r>
              <a:rPr lang="en-US" altLang="zh-CN" sz="2200" i="1" dirty="0" err="1"/>
              <a:t>y</a:t>
            </a:r>
            <a:r>
              <a:rPr lang="en-US" altLang="zh-CN" sz="2200" dirty="0"/>
              <a:t>)</a:t>
            </a:r>
            <a:r>
              <a:rPr lang="zh-CN" altLang="en-US" sz="2200" dirty="0"/>
              <a:t>：所有的</a:t>
            </a:r>
            <a:r>
              <a:rPr lang="en-US" altLang="zh-CN" sz="2200" i="1" dirty="0"/>
              <a:t>x</a:t>
            </a:r>
            <a:r>
              <a:rPr lang="zh-CN" altLang="en-US" sz="2200" dirty="0"/>
              <a:t>和所有的</a:t>
            </a:r>
            <a:r>
              <a:rPr lang="en-US" altLang="zh-CN" sz="2200" i="1" dirty="0"/>
              <a:t>y</a:t>
            </a:r>
            <a:r>
              <a:rPr lang="zh-CN" altLang="en-US" sz="2200" dirty="0"/>
              <a:t>都能配成一对。</a:t>
            </a:r>
            <a:endParaRPr lang="en-US" altLang="zh-CN" sz="2200" dirty="0"/>
          </a:p>
          <a:p>
            <a:pPr eaLnBrk="1" hangingPunct="1">
              <a:spcBef>
                <a:spcPct val="100000"/>
              </a:spcBef>
            </a:pPr>
            <a:r>
              <a:rPr lang="zh-CN" altLang="en-US" sz="2200" dirty="0">
                <a:sym typeface="Symbol" panose="05050102010706020507" pitchFamily="18" charset="2"/>
              </a:rPr>
              <a:t></a:t>
            </a:r>
            <a:r>
              <a:rPr lang="en-US" altLang="zh-CN" sz="2200" i="1" dirty="0" err="1"/>
              <a:t>x</a:t>
            </a:r>
            <a:r>
              <a:rPr lang="en-US" altLang="zh-CN" sz="2200" dirty="0" err="1">
                <a:sym typeface="Symbol" panose="05050102010706020507" pitchFamily="18" charset="2"/>
              </a:rPr>
              <a:t></a:t>
            </a:r>
            <a:r>
              <a:rPr lang="en-US" altLang="zh-CN" sz="2200" i="1" dirty="0" err="1"/>
              <a:t>yG</a:t>
            </a:r>
            <a:r>
              <a:rPr lang="en-US" altLang="zh-CN" sz="2200" dirty="0"/>
              <a:t>(</a:t>
            </a:r>
            <a:r>
              <a:rPr lang="en-US" altLang="zh-CN" sz="2200" i="1" dirty="0" err="1"/>
              <a:t>x</a:t>
            </a:r>
            <a:r>
              <a:rPr lang="en-US" altLang="zh-CN" sz="2200" dirty="0" err="1"/>
              <a:t>,</a:t>
            </a:r>
            <a:r>
              <a:rPr lang="en-US" altLang="zh-CN" sz="2200" i="1" dirty="0" err="1"/>
              <a:t>y</a:t>
            </a:r>
            <a:r>
              <a:rPr lang="en-US" altLang="zh-CN" sz="2200" dirty="0"/>
              <a:t>)</a:t>
            </a:r>
            <a:r>
              <a:rPr lang="zh-CN" altLang="en-US" sz="2200" dirty="0"/>
              <a:t>：存在一个</a:t>
            </a:r>
            <a:r>
              <a:rPr lang="en-US" altLang="zh-CN" sz="2200" i="1" dirty="0"/>
              <a:t>x</a:t>
            </a:r>
            <a:r>
              <a:rPr lang="zh-CN" altLang="en-US" sz="2200" dirty="0"/>
              <a:t>与某个</a:t>
            </a:r>
            <a:r>
              <a:rPr lang="en-US" altLang="zh-CN" sz="2200" i="1" dirty="0"/>
              <a:t>y</a:t>
            </a:r>
            <a:r>
              <a:rPr lang="zh-CN" altLang="en-US" sz="2200" dirty="0"/>
              <a:t>能配成一对。</a:t>
            </a:r>
            <a:endParaRPr lang="en-US" altLang="zh-CN" sz="22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</a:pPr>
            <a:r>
              <a:rPr lang="en-US" altLang="zh-CN" sz="2200" dirty="0">
                <a:sym typeface="Symbol" panose="05050102010706020507" pitchFamily="18" charset="2"/>
              </a:rPr>
              <a:t></a:t>
            </a:r>
            <a:r>
              <a:rPr lang="en-US" altLang="zh-CN" sz="2200" i="1" dirty="0" err="1"/>
              <a:t>x</a:t>
            </a:r>
            <a:r>
              <a:rPr lang="en-US" altLang="zh-CN" sz="2200" dirty="0" err="1">
                <a:sym typeface="Symbol" panose="05050102010706020507" pitchFamily="18" charset="2"/>
              </a:rPr>
              <a:t></a:t>
            </a:r>
            <a:r>
              <a:rPr lang="en-US" altLang="zh-CN" sz="2200" i="1" dirty="0" err="1"/>
              <a:t>yG</a:t>
            </a:r>
            <a:r>
              <a:rPr lang="en-US" altLang="zh-CN" sz="2200" dirty="0"/>
              <a:t>(</a:t>
            </a:r>
            <a:r>
              <a:rPr lang="en-US" altLang="zh-CN" sz="2200" i="1" dirty="0" err="1"/>
              <a:t>x</a:t>
            </a:r>
            <a:r>
              <a:rPr lang="en-US" altLang="zh-CN" sz="2200" dirty="0" err="1"/>
              <a:t>,</a:t>
            </a:r>
            <a:r>
              <a:rPr lang="en-US" altLang="zh-CN" sz="2200" i="1" dirty="0" err="1"/>
              <a:t>y</a:t>
            </a:r>
            <a:r>
              <a:rPr lang="en-US" altLang="zh-CN" sz="2200" dirty="0"/>
              <a:t>)</a:t>
            </a:r>
            <a:r>
              <a:rPr lang="zh-CN" altLang="en-US" sz="2200" dirty="0"/>
              <a:t>：对于每一个</a:t>
            </a:r>
            <a:r>
              <a:rPr lang="en-US" altLang="zh-CN" sz="2200" i="1" dirty="0"/>
              <a:t>x</a:t>
            </a:r>
            <a:r>
              <a:rPr lang="zh-CN" altLang="en-US" sz="2200" dirty="0"/>
              <a:t>，都存在一个</a:t>
            </a:r>
            <a:r>
              <a:rPr lang="en-US" altLang="zh-CN" sz="2200" i="1" dirty="0"/>
              <a:t>y</a:t>
            </a:r>
            <a:r>
              <a:rPr lang="zh-CN" altLang="en-US" sz="2200" dirty="0"/>
              <a:t>，</a:t>
            </a:r>
            <a:r>
              <a:rPr lang="en-US" altLang="zh-CN" sz="2200" i="1" dirty="0"/>
              <a:t>x</a:t>
            </a:r>
            <a:r>
              <a:rPr lang="zh-CN" altLang="en-US" sz="2200" dirty="0"/>
              <a:t>与</a:t>
            </a:r>
            <a:r>
              <a:rPr lang="en-US" altLang="zh-CN" sz="2200" i="1" dirty="0"/>
              <a:t>y</a:t>
            </a:r>
            <a:r>
              <a:rPr lang="zh-CN" altLang="en-US" sz="2200" dirty="0"/>
              <a:t>能配成一对。</a:t>
            </a:r>
            <a:endParaRPr lang="en-US" altLang="zh-CN" sz="2200" dirty="0"/>
          </a:p>
          <a:p>
            <a:pPr eaLnBrk="1" hangingPunct="1">
              <a:spcBef>
                <a:spcPct val="100000"/>
              </a:spcBef>
            </a:pPr>
            <a:r>
              <a:rPr lang="zh-CN" altLang="en-US" sz="2200" dirty="0">
                <a:sym typeface="Symbol" panose="05050102010706020507" pitchFamily="18" charset="2"/>
              </a:rPr>
              <a:t></a:t>
            </a:r>
            <a:r>
              <a:rPr lang="en-US" altLang="zh-CN" sz="2200" dirty="0" err="1">
                <a:sym typeface="Symbol" panose="05050102010706020507" pitchFamily="18" charset="2"/>
              </a:rPr>
              <a:t>y</a:t>
            </a:r>
            <a:r>
              <a:rPr lang="en-US" altLang="zh-CN" sz="2200" i="1" dirty="0" err="1"/>
              <a:t>xG</a:t>
            </a:r>
            <a:r>
              <a:rPr lang="en-US" altLang="zh-CN" sz="2200" dirty="0"/>
              <a:t>(</a:t>
            </a:r>
            <a:r>
              <a:rPr lang="en-US" altLang="zh-CN" sz="2200" i="1" dirty="0" err="1"/>
              <a:t>x</a:t>
            </a:r>
            <a:r>
              <a:rPr lang="en-US" altLang="zh-CN" sz="2200" dirty="0" err="1"/>
              <a:t>,</a:t>
            </a:r>
            <a:r>
              <a:rPr lang="en-US" altLang="zh-CN" sz="2200" i="1" dirty="0" err="1"/>
              <a:t>y</a:t>
            </a:r>
            <a:r>
              <a:rPr lang="en-US" altLang="zh-CN" sz="2200" dirty="0"/>
              <a:t>)</a:t>
            </a:r>
            <a:r>
              <a:rPr lang="zh-CN" altLang="en-US" sz="2200" dirty="0"/>
              <a:t>：存在一个</a:t>
            </a:r>
            <a:r>
              <a:rPr lang="en-US" altLang="zh-CN" sz="2200" i="1" dirty="0"/>
              <a:t>y</a:t>
            </a:r>
            <a:r>
              <a:rPr lang="zh-CN" altLang="en-US" sz="2200" dirty="0"/>
              <a:t>，对于每一个</a:t>
            </a:r>
            <a:r>
              <a:rPr lang="en-US" altLang="zh-CN" sz="2200" i="1" dirty="0"/>
              <a:t>x</a:t>
            </a:r>
            <a:r>
              <a:rPr lang="zh-CN" altLang="en-US" sz="2200" dirty="0"/>
              <a:t>，</a:t>
            </a:r>
            <a:r>
              <a:rPr lang="en-US" altLang="zh-CN" sz="2200" i="1" dirty="0"/>
              <a:t>x</a:t>
            </a:r>
            <a:r>
              <a:rPr lang="zh-CN" altLang="en-US" sz="2200" dirty="0"/>
              <a:t>与</a:t>
            </a:r>
            <a:r>
              <a:rPr lang="en-US" altLang="zh-CN" sz="2200" i="1" dirty="0"/>
              <a:t>y</a:t>
            </a:r>
            <a:r>
              <a:rPr lang="zh-CN" altLang="en-US" sz="2200" dirty="0"/>
              <a:t>能配成一对。</a:t>
            </a:r>
            <a:endParaRPr lang="zh-CN" altLang="en-US" sz="2200" dirty="0"/>
          </a:p>
        </p:txBody>
      </p:sp>
      <p:sp>
        <p:nvSpPr>
          <p:cNvPr id="4915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087502-465A-4469-9F6C-E808D5455677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多个量词的使用</a:t>
            </a:r>
            <a:endParaRPr lang="zh-CN" altLang="en-US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25538"/>
            <a:ext cx="8181975" cy="2590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多个量词出现时，量词对变元的约束通常与量词的次序有关，量词的次序不能随意颠倒。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对于命题中的多个量词，约定从左到右的次序读出。</a:t>
            </a:r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例如：设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): 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/>
              <a:t>能配成一对搭档，</a:t>
            </a:r>
            <a:r>
              <a:rPr lang="zh-CN" altLang="en-US" dirty="0">
                <a:solidFill>
                  <a:srgbClr val="0066FF"/>
                </a:solidFill>
              </a:rPr>
              <a:t>个体域为人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A808AE-C8B8-48AF-A56A-52BC5CFF0BF0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8563"/>
            <a:ext cx="8074025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一元谓词</a:t>
            </a:r>
            <a:r>
              <a:rPr lang="zh-CN" altLang="en-US"/>
              <a:t>用以描述</a:t>
            </a:r>
            <a:r>
              <a:rPr lang="zh-CN" altLang="en-US">
                <a:solidFill>
                  <a:srgbClr val="0000FF"/>
                </a:solidFill>
              </a:rPr>
              <a:t>某一个个体的某种特性</a:t>
            </a:r>
            <a:r>
              <a:rPr lang="zh-CN" altLang="en-US"/>
              <a:t>，而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元谓词</a:t>
            </a:r>
            <a:r>
              <a:rPr lang="zh-CN" altLang="en-US"/>
              <a:t>则用以描述</a:t>
            </a:r>
            <a:r>
              <a:rPr lang="en-US" altLang="zh-CN" i="1">
                <a:solidFill>
                  <a:srgbClr val="0000FF"/>
                </a:solidFill>
              </a:rPr>
              <a:t>n</a:t>
            </a:r>
            <a:r>
              <a:rPr lang="zh-CN" altLang="en-US">
                <a:solidFill>
                  <a:srgbClr val="0000FF"/>
                </a:solidFill>
              </a:rPr>
              <a:t>个个体之间的关系</a:t>
            </a:r>
            <a:r>
              <a:rPr lang="zh-CN" altLang="en-US"/>
              <a:t>；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根据命题的实际意义，选用全称量词或存在量词。</a:t>
            </a:r>
            <a:r>
              <a:rPr lang="zh-CN" altLang="en-US">
                <a:solidFill>
                  <a:srgbClr val="FF0000"/>
                </a:solidFill>
              </a:rPr>
              <a:t>全称量词加入</a:t>
            </a:r>
            <a:r>
              <a:rPr lang="zh-CN" altLang="en-US"/>
              <a:t>时，其刻划个体域的特性谓词将以</a:t>
            </a:r>
            <a:r>
              <a:rPr lang="zh-CN" altLang="en-US">
                <a:solidFill>
                  <a:srgbClr val="0000FF"/>
                </a:solidFill>
              </a:rPr>
              <a:t>蕴涵的前件</a:t>
            </a:r>
            <a:r>
              <a:rPr lang="zh-CN" altLang="en-US"/>
              <a:t>加入，</a:t>
            </a:r>
            <a:r>
              <a:rPr lang="zh-CN" altLang="en-US">
                <a:solidFill>
                  <a:srgbClr val="FF0000"/>
                </a:solidFill>
              </a:rPr>
              <a:t>存在量词加入</a:t>
            </a:r>
            <a:r>
              <a:rPr lang="zh-CN" altLang="en-US"/>
              <a:t>时，其刻划个体域的特性谓词将以</a:t>
            </a:r>
            <a:r>
              <a:rPr lang="zh-CN" altLang="en-US">
                <a:solidFill>
                  <a:srgbClr val="0000FF"/>
                </a:solidFill>
              </a:rPr>
              <a:t>合取项</a:t>
            </a:r>
            <a:r>
              <a:rPr lang="zh-CN" altLang="en-US"/>
              <a:t>加入；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有些命题在进行符号化时，由于语言叙述不同，可能翻译不同，但它们表示的意思是相同的，即</a:t>
            </a:r>
            <a:r>
              <a:rPr lang="zh-CN" altLang="en-US">
                <a:solidFill>
                  <a:srgbClr val="0000FF"/>
                </a:solidFill>
              </a:rPr>
              <a:t>句子符号化形式可不止一种</a:t>
            </a:r>
            <a:r>
              <a:rPr lang="en-US" altLang="zh-CN">
                <a:solidFill>
                  <a:srgbClr val="0000FF"/>
                </a:solidFill>
              </a:rPr>
              <a:t>.</a:t>
            </a:r>
            <a:endParaRPr lang="en-US" altLang="zh-CN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/>
              <a:t>如有多个量词，则读的顺序按</a:t>
            </a:r>
            <a:r>
              <a:rPr lang="zh-CN" altLang="en-US">
                <a:solidFill>
                  <a:srgbClr val="FF0000"/>
                </a:solidFill>
              </a:rPr>
              <a:t>从左到右</a:t>
            </a:r>
            <a:r>
              <a:rPr lang="zh-CN" altLang="en-US"/>
              <a:t>的顺序；另外，量词对变元的约束，往往与量词的次序有关，不同的</a:t>
            </a:r>
            <a:r>
              <a:rPr lang="zh-CN" altLang="en-US">
                <a:solidFill>
                  <a:srgbClr val="FF0000"/>
                </a:solidFill>
              </a:rPr>
              <a:t>量词次序</a:t>
            </a:r>
            <a:r>
              <a:rPr lang="zh-CN" altLang="en-US"/>
              <a:t>，可以产生不同的真值，此时对多个量词同时出现时，不能随意颠倒它们的顺序，颠倒后会改变原有的含义。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Char char="l"/>
            </a:pPr>
            <a:endParaRPr lang="zh-CN" altLang="en-US"/>
          </a:p>
          <a:p>
            <a:pPr eaLnBrk="1" hangingPunct="1">
              <a:buFont typeface="Wingdings" panose="05000000000000000000" pitchFamily="2" charset="2"/>
              <a:buChar char="l"/>
            </a:pPr>
            <a:endParaRPr lang="zh-CN" altLang="en-US"/>
          </a:p>
          <a:p>
            <a:pPr eaLnBrk="1" hangingPunct="1">
              <a:buFont typeface="Wingdings" panose="05000000000000000000" pitchFamily="2" charset="2"/>
              <a:buChar char="l"/>
            </a:pPr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58845C-08BB-4C44-9C0C-0A0918F2A4F4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4.1</a:t>
            </a:r>
            <a:r>
              <a:rPr lang="zh-CN" altLang="en-US"/>
              <a:t>一阶逻辑命题符号化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个体词、谓词、量词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一阶逻辑命题符号化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4.2</a:t>
            </a:r>
            <a:r>
              <a:rPr lang="zh-CN" altLang="en-US">
                <a:solidFill>
                  <a:srgbClr val="FF0000"/>
                </a:solidFill>
              </a:rPr>
              <a:t>一阶逻辑公式及其解释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/>
            <a:r>
              <a:rPr lang="zh-CN" altLang="en-US">
                <a:solidFill>
                  <a:srgbClr val="FF0000"/>
                </a:solidFill>
              </a:rPr>
              <a:t>     一阶语言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/>
            <a:r>
              <a:rPr lang="zh-CN" altLang="en-US">
                <a:solidFill>
                  <a:srgbClr val="FF0000"/>
                </a:solidFill>
              </a:rPr>
              <a:t>     合式公式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/>
            <a:r>
              <a:rPr lang="zh-CN" altLang="en-US">
                <a:solidFill>
                  <a:srgbClr val="FF0000"/>
                </a:solidFill>
              </a:rPr>
              <a:t>     合式公式的解释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/>
            <a:r>
              <a:rPr lang="zh-CN" altLang="en-US">
                <a:solidFill>
                  <a:srgbClr val="FF0000"/>
                </a:solidFill>
              </a:rPr>
              <a:t>     永真式、矛盾式、可满足式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第四章 一阶逻辑基本概念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EA4A8A-4FCD-4AF9-9DC3-AC9506B1857A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4.2 </a:t>
            </a:r>
            <a:r>
              <a:rPr lang="zh-CN" altLang="en-US"/>
              <a:t>一阶逻辑公式及解释</a:t>
            </a:r>
            <a:endParaRPr lang="zh-CN" altLang="en-US"/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39850"/>
            <a:ext cx="8229600" cy="47529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4.1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L</a:t>
            </a:r>
            <a:r>
              <a:rPr lang="zh-CN" altLang="en-US" dirty="0"/>
              <a:t>是一个非逻辑符集合</a:t>
            </a:r>
            <a:r>
              <a:rPr lang="en-US" altLang="zh-CN" dirty="0"/>
              <a:t>, </a:t>
            </a:r>
            <a:r>
              <a:rPr lang="zh-CN" altLang="en-US" dirty="0"/>
              <a:t>由</a:t>
            </a:r>
            <a:r>
              <a:rPr lang="en-US" altLang="zh-CN" i="1" dirty="0"/>
              <a:t>L</a:t>
            </a:r>
            <a:r>
              <a:rPr lang="zh-CN" altLang="en-US" dirty="0"/>
              <a:t>生成的</a:t>
            </a:r>
            <a:r>
              <a:rPr lang="zh-CN" altLang="en-US" dirty="0">
                <a:solidFill>
                  <a:srgbClr val="A50021"/>
                </a:solidFill>
              </a:rPr>
              <a:t>一阶语言</a:t>
            </a:r>
            <a:r>
              <a:rPr lang="en-US" altLang="zh-CN" dirty="0">
                <a:solidFill>
                  <a:srgbClr val="C0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字母表</a:t>
            </a:r>
            <a:r>
              <a:rPr lang="zh-CN" altLang="en-US" dirty="0"/>
              <a:t>包括下述符号：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zh-CN" altLang="en-US" dirty="0"/>
              <a:t>非逻辑符号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zh-CN" altLang="en-US" dirty="0"/>
              <a:t>   </a:t>
            </a:r>
            <a:r>
              <a:rPr lang="en-US" altLang="zh-CN" dirty="0"/>
              <a:t>(1) </a:t>
            </a:r>
            <a:r>
              <a:rPr lang="zh-CN" altLang="en-US" dirty="0"/>
              <a:t>个体常项符号：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, …,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i</a:t>
            </a:r>
            <a:r>
              <a:rPr lang="en-US" altLang="zh-CN" dirty="0"/>
              <a:t>, …, </a:t>
            </a:r>
            <a:r>
              <a:rPr lang="en-US" altLang="zh-CN" i="1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1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CN" dirty="0"/>
              <a:t>   (2) </a:t>
            </a:r>
            <a:r>
              <a:rPr lang="zh-CN" altLang="en-US" dirty="0"/>
              <a:t>函数符号：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h</a:t>
            </a:r>
            <a:r>
              <a:rPr lang="en-US" altLang="zh-CN" dirty="0"/>
              <a:t>, …,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 err="1"/>
              <a:t>g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i</a:t>
            </a:r>
            <a:r>
              <a:rPr lang="en-US" altLang="zh-CN" dirty="0"/>
              <a:t>, …, </a:t>
            </a:r>
            <a:r>
              <a:rPr lang="en-US" altLang="zh-CN" i="1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1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CN" dirty="0"/>
              <a:t>   (3) </a:t>
            </a:r>
            <a:r>
              <a:rPr lang="zh-CN" altLang="en-US" dirty="0"/>
              <a:t>谓词符号：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H</a:t>
            </a:r>
            <a:r>
              <a:rPr lang="en-US" altLang="zh-CN" dirty="0"/>
              <a:t>, …,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i</a:t>
            </a:r>
            <a:r>
              <a:rPr lang="en-US" altLang="zh-CN" dirty="0"/>
              <a:t>, …, </a:t>
            </a:r>
            <a:r>
              <a:rPr lang="en-US" altLang="zh-CN" i="1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1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zh-CN" altLang="en-US" dirty="0"/>
              <a:t>逻辑符号   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zh-CN" altLang="en-US" dirty="0"/>
              <a:t>   </a:t>
            </a:r>
            <a:r>
              <a:rPr lang="en-US" altLang="zh-CN" dirty="0"/>
              <a:t>(4) </a:t>
            </a:r>
            <a:r>
              <a:rPr lang="zh-CN" altLang="en-US" dirty="0"/>
              <a:t>个体变项符号：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, …,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i="1" baseline="-25000" dirty="0"/>
              <a:t>i</a:t>
            </a:r>
            <a:r>
              <a:rPr lang="en-US" altLang="zh-CN" dirty="0"/>
              <a:t>, …, </a:t>
            </a:r>
            <a:r>
              <a:rPr lang="en-US" altLang="zh-CN" i="1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1 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CN" dirty="0"/>
              <a:t>   (5) </a:t>
            </a:r>
            <a:r>
              <a:rPr lang="zh-CN" altLang="en-US" dirty="0"/>
              <a:t>量词符号：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CN" dirty="0"/>
              <a:t>   (6) </a:t>
            </a:r>
            <a:r>
              <a:rPr lang="zh-CN" altLang="en-US" dirty="0"/>
              <a:t>联结词符号：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 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CN" dirty="0"/>
              <a:t>   (7) </a:t>
            </a:r>
            <a:r>
              <a:rPr lang="zh-CN" altLang="en-US" dirty="0"/>
              <a:t>括号与逗号：</a:t>
            </a:r>
            <a:r>
              <a:rPr lang="en-US" altLang="zh-CN" dirty="0"/>
              <a:t>(, ), </a:t>
            </a:r>
            <a:r>
              <a:rPr lang="zh-CN" altLang="en-US" dirty="0"/>
              <a:t>，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6BD037-392B-463E-A864-81A0E66CB76E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一阶语言</a:t>
            </a:r>
            <a:r>
              <a:rPr lang="en-US" altLang="zh-CN">
                <a:solidFill>
                  <a:srgbClr val="C0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i="1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zh-CN" altLang="en-US">
                <a:latin typeface="Lucida Sans Unicode" panose="020B0602030504020204" pitchFamily="34" charset="0"/>
                <a:cs typeface="Lucida Sans Unicode" panose="020B0602030504020204" pitchFamily="34" charset="0"/>
              </a:rPr>
              <a:t>的项与原子公式</a:t>
            </a:r>
            <a:endParaRPr lang="zh-CN" altLang="en-US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137525" cy="2808288"/>
          </a:xfrm>
        </p:spPr>
        <p:txBody>
          <a:bodyPr/>
          <a:lstStyle/>
          <a:p>
            <a:pPr marL="1082675" indent="-1082675"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4.2</a:t>
            </a:r>
            <a:r>
              <a:rPr lang="en-US" altLang="zh-CN"/>
              <a:t>  </a:t>
            </a:r>
            <a:r>
              <a:rPr lang="zh-CN" altLang="en-US">
                <a:sym typeface="+mn-ea"/>
              </a:rPr>
              <a:t>一阶语言</a:t>
            </a:r>
            <a:r>
              <a:rPr lang="en-US" altLang="zh-CN">
                <a:solidFill>
                  <a:srgbClr val="C00000"/>
                </a:solidFill>
                <a:latin typeface="Palace Script MT" panose="030303020206070C0B05" pitchFamily="66" charset="0"/>
                <a:sym typeface="+mn-ea"/>
              </a:rPr>
              <a:t>L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项</a:t>
            </a:r>
            <a:r>
              <a:rPr lang="zh-CN" altLang="en-US"/>
              <a:t>的定义如下：</a:t>
            </a:r>
            <a:endParaRPr lang="zh-CN" altLang="en-US"/>
          </a:p>
          <a:p>
            <a:pPr marL="1082675" indent="-1082675" eaLnBrk="1" hangingPunct="1"/>
            <a:r>
              <a:rPr lang="en-US" altLang="zh-CN"/>
              <a:t>(1) </a:t>
            </a:r>
            <a:r>
              <a:rPr lang="zh-CN" altLang="en-US"/>
              <a:t>个体常项和个体变项是项</a:t>
            </a:r>
            <a:r>
              <a:rPr lang="en-US" altLang="zh-CN"/>
              <a:t>.</a:t>
            </a:r>
            <a:endParaRPr lang="en-US" altLang="zh-CN"/>
          </a:p>
          <a:p>
            <a:pPr marL="1082675" indent="-1082675" eaLnBrk="1" hangingPunct="1"/>
            <a:r>
              <a:rPr lang="en-US" altLang="zh-CN"/>
              <a:t>(2) </a:t>
            </a:r>
            <a:r>
              <a:rPr lang="zh-CN" altLang="en-US"/>
              <a:t>若</a:t>
            </a:r>
            <a:r>
              <a:rPr lang="zh-CN" altLang="en-US" i="1">
                <a:sym typeface="Symbol" panose="05050102010706020507" pitchFamily="18" charset="2"/>
              </a:rPr>
              <a:t>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</a:t>
            </a:r>
            <a:r>
              <a:rPr lang="zh-CN" altLang="en-US"/>
              <a:t>是任意的</a:t>
            </a:r>
            <a:r>
              <a:rPr lang="en-US" altLang="zh-CN" i="1"/>
              <a:t>n</a:t>
            </a:r>
            <a:r>
              <a:rPr lang="zh-CN" altLang="en-US"/>
              <a:t>元函数，</a:t>
            </a:r>
            <a:r>
              <a:rPr lang="en-US" altLang="zh-CN" i="1"/>
              <a:t>t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t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t</a:t>
            </a:r>
            <a:r>
              <a:rPr lang="en-US" altLang="zh-CN" i="1" baseline="-25000"/>
              <a:t>n</a:t>
            </a:r>
            <a:r>
              <a:rPr lang="zh-CN" altLang="en-US"/>
              <a:t>是任意的</a:t>
            </a:r>
            <a:endParaRPr lang="zh-CN" altLang="en-US"/>
          </a:p>
          <a:p>
            <a:pPr marL="1082675" indent="-1082675" eaLnBrk="1" hangingPunct="1"/>
            <a:r>
              <a:rPr lang="zh-CN" altLang="en-US"/>
              <a:t>       </a:t>
            </a:r>
            <a:r>
              <a:rPr lang="en-US" altLang="zh-CN" i="1"/>
              <a:t>n</a:t>
            </a:r>
            <a:r>
              <a:rPr lang="zh-CN" altLang="en-US"/>
              <a:t>个项，则</a:t>
            </a:r>
            <a:r>
              <a:rPr lang="zh-CN" altLang="en-US" i="1">
                <a:sym typeface="Symbol" panose="05050102010706020507" pitchFamily="18" charset="2"/>
              </a:rPr>
              <a:t></a:t>
            </a:r>
            <a:r>
              <a:rPr lang="en-US" altLang="zh-CN"/>
              <a:t>(</a:t>
            </a:r>
            <a:r>
              <a:rPr lang="en-US" altLang="zh-CN" i="1"/>
              <a:t>t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t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t</a:t>
            </a:r>
            <a:r>
              <a:rPr lang="en-US" altLang="zh-CN" i="1" baseline="-25000"/>
              <a:t>n</a:t>
            </a:r>
            <a:r>
              <a:rPr lang="en-US" altLang="zh-CN"/>
              <a:t>) </a:t>
            </a:r>
            <a:r>
              <a:rPr lang="zh-CN" altLang="en-US"/>
              <a:t>是项</a:t>
            </a:r>
            <a:r>
              <a:rPr lang="en-US" altLang="zh-CN"/>
              <a:t>.</a:t>
            </a:r>
            <a:endParaRPr lang="en-US" altLang="zh-CN"/>
          </a:p>
          <a:p>
            <a:pPr marL="1082675" indent="-1082675" eaLnBrk="1" hangingPunct="1"/>
            <a:r>
              <a:rPr lang="en-US" altLang="zh-CN"/>
              <a:t>(3) </a:t>
            </a:r>
            <a:r>
              <a:rPr lang="zh-CN" altLang="en-US"/>
              <a:t>所有的项都是有限次使用</a:t>
            </a:r>
            <a:r>
              <a:rPr lang="en-US" altLang="zh-CN"/>
              <a:t>(1),(2)</a:t>
            </a:r>
            <a:r>
              <a:rPr lang="zh-CN" altLang="en-US"/>
              <a:t>得到的 </a:t>
            </a:r>
            <a:endParaRPr lang="zh-CN" altLang="en-US"/>
          </a:p>
          <a:p>
            <a:pPr marL="1082675" indent="-1082675" eaLnBrk="1" hangingPunct="1">
              <a:spcBef>
                <a:spcPct val="55000"/>
              </a:spcBef>
            </a:pPr>
            <a:r>
              <a:rPr lang="zh-CN" altLang="en-US"/>
              <a:t>     如</a:t>
            </a:r>
            <a:r>
              <a:rPr lang="en-US" altLang="zh-CN"/>
              <a:t>, 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/>
              <a:t>+</a:t>
            </a:r>
            <a:r>
              <a:rPr lang="en-US" altLang="zh-CN" i="1"/>
              <a:t>y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),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等都是项  </a:t>
            </a:r>
            <a:endParaRPr lang="zh-CN" altLang="en-US"/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323850" y="4364038"/>
            <a:ext cx="8229600" cy="172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082675" indent="-10826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5768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35585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2954655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552825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4010025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467225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924425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381625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4.3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</a:t>
            </a:r>
            <a:r>
              <a:rPr lang="zh-CN" altLang="en-US"/>
              <a:t>是</a:t>
            </a:r>
            <a:r>
              <a:rPr lang="en-US" altLang="zh-CN">
                <a:solidFill>
                  <a:srgbClr val="C0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i="1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zh-CN" altLang="en-US"/>
              <a:t>的任意</a:t>
            </a:r>
            <a:r>
              <a:rPr lang="en-US" altLang="zh-CN" i="1"/>
              <a:t>n</a:t>
            </a:r>
            <a:r>
              <a:rPr lang="zh-CN" altLang="en-US"/>
              <a:t>元谓词，</a:t>
            </a:r>
            <a:r>
              <a:rPr lang="en-US" altLang="zh-CN" i="1"/>
              <a:t>t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t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t</a:t>
            </a:r>
            <a:r>
              <a:rPr lang="en-US" altLang="zh-CN" i="1" baseline="-25000"/>
              <a:t>n</a:t>
            </a:r>
            <a:r>
              <a:rPr lang="en-US" altLang="zh-CN" i="1"/>
              <a:t>  </a:t>
            </a:r>
            <a:endParaRPr lang="en-US" altLang="zh-CN" i="1"/>
          </a:p>
          <a:p>
            <a:pPr eaLnBrk="1" hangingPunct="1"/>
            <a:r>
              <a:rPr lang="zh-CN" altLang="en-US"/>
              <a:t>是</a:t>
            </a:r>
            <a:r>
              <a:rPr lang="en-US" altLang="zh-CN">
                <a:solidFill>
                  <a:srgbClr val="C0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i="1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zh-CN" altLang="en-US"/>
              <a:t>的任意</a:t>
            </a:r>
            <a:r>
              <a:rPr lang="en-US" altLang="zh-CN" i="1"/>
              <a:t>n</a:t>
            </a:r>
            <a:r>
              <a:rPr lang="zh-CN" altLang="en-US"/>
              <a:t>个项，则称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t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t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t</a:t>
            </a:r>
            <a:r>
              <a:rPr lang="en-US" altLang="zh-CN" i="1" baseline="-25000"/>
              <a:t>n</a:t>
            </a:r>
            <a:r>
              <a:rPr lang="en-US" altLang="zh-CN"/>
              <a:t>)</a:t>
            </a:r>
            <a:r>
              <a:rPr lang="zh-CN" altLang="en-US"/>
              <a:t>是</a:t>
            </a:r>
            <a:r>
              <a:rPr lang="en-US" altLang="zh-CN">
                <a:solidFill>
                  <a:srgbClr val="C0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i="1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原子公式</a:t>
            </a:r>
            <a:r>
              <a:rPr lang="en-US" altLang="zh-CN"/>
              <a:t>. </a:t>
            </a:r>
            <a:endParaRPr lang="en-US" altLang="zh-CN"/>
          </a:p>
          <a:p>
            <a:pPr eaLnBrk="1" hangingPunct="1">
              <a:spcBef>
                <a:spcPct val="60000"/>
              </a:spcBef>
            </a:pPr>
            <a:r>
              <a:rPr lang="en-US" altLang="zh-CN"/>
              <a:t>     </a:t>
            </a:r>
            <a:r>
              <a:rPr lang="zh-CN" altLang="en-US"/>
              <a:t>如，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/>
              <a:t>),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baseline="-25000"/>
              <a:t>2</a:t>
            </a:r>
            <a:r>
              <a:rPr lang="en-US" altLang="zh-CN"/>
              <a:t>),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baseline="-25000"/>
              <a:t>4</a:t>
            </a:r>
            <a:r>
              <a:rPr lang="en-US" altLang="zh-CN"/>
              <a:t>))</a:t>
            </a:r>
            <a:r>
              <a:rPr lang="zh-CN" altLang="en-US"/>
              <a:t>等均为原子公式</a:t>
            </a: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8905A2-4C88-40ED-BA67-3CA4CC818DFD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229600" cy="4824412"/>
          </a:xfrm>
        </p:spPr>
        <p:txBody>
          <a:bodyPr/>
          <a:lstStyle/>
          <a:p>
            <a:pPr marL="1158875" indent="-1158875" eaLnBrk="1" hangingPunct="1"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4.4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C0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合式公式</a:t>
            </a:r>
            <a:r>
              <a:rPr lang="zh-CN" altLang="en-US" dirty="0"/>
              <a:t>定义如下：</a:t>
            </a:r>
            <a:endParaRPr lang="zh-CN" altLang="en-US" dirty="0"/>
          </a:p>
          <a:p>
            <a:pPr marL="1158875" indent="-1158875" eaLnBrk="1" hangingPunct="1">
              <a:defRPr/>
            </a:pPr>
            <a:r>
              <a:rPr lang="zh-CN" altLang="en-US" dirty="0"/>
              <a:t> </a:t>
            </a:r>
            <a:r>
              <a:rPr lang="en-US" altLang="zh-CN" dirty="0"/>
              <a:t>(1) </a:t>
            </a:r>
            <a:r>
              <a:rPr lang="zh-CN" altLang="en-US" dirty="0"/>
              <a:t>原子公式是合式公式</a:t>
            </a:r>
            <a:r>
              <a:rPr lang="en-US" altLang="zh-CN" dirty="0"/>
              <a:t>. </a:t>
            </a:r>
            <a:endParaRPr lang="en-US" altLang="zh-CN" dirty="0"/>
          </a:p>
          <a:p>
            <a:pPr marL="1158875" indent="-1158875" eaLnBrk="1" hangingPunct="1">
              <a:defRPr/>
            </a:pPr>
            <a:r>
              <a:rPr lang="en-US" altLang="zh-CN" dirty="0"/>
              <a:t> (2) </a:t>
            </a: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zh-CN" altLang="en-US" dirty="0"/>
              <a:t>是合式公式，则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zh-CN" altLang="en-US" dirty="0"/>
              <a:t>也是合式公式</a:t>
            </a:r>
            <a:endParaRPr lang="zh-CN" altLang="en-US" dirty="0"/>
          </a:p>
          <a:p>
            <a:pPr marL="1158875" indent="-1158875" eaLnBrk="1" hangingPunct="1">
              <a:defRPr/>
            </a:pPr>
            <a:r>
              <a:rPr lang="zh-CN" altLang="en-US" dirty="0"/>
              <a:t> </a:t>
            </a:r>
            <a:r>
              <a:rPr lang="en-US" altLang="zh-CN" dirty="0"/>
              <a:t>(3) </a:t>
            </a: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zh-CN" altLang="en-US" dirty="0"/>
              <a:t>是合式公式，则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i="1" dirty="0"/>
              <a:t>B</a:t>
            </a:r>
            <a:r>
              <a:rPr lang="en-US" altLang="zh-CN" dirty="0"/>
              <a:t>),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i="1" dirty="0"/>
              <a:t>B</a:t>
            </a:r>
            <a:r>
              <a:rPr lang="en-US" altLang="zh-CN" dirty="0"/>
              <a:t>),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B</a:t>
            </a:r>
            <a:r>
              <a:rPr lang="en-US" altLang="zh-CN" dirty="0"/>
              <a:t>),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zh-CN" altLang="en-US" dirty="0"/>
              <a:t>也是</a:t>
            </a:r>
            <a:endParaRPr lang="zh-CN" altLang="en-US" dirty="0"/>
          </a:p>
          <a:p>
            <a:pPr marL="1158875" indent="-1158875" eaLnBrk="1" hangingPunct="1">
              <a:defRPr/>
            </a:pPr>
            <a:r>
              <a:rPr lang="zh-CN" altLang="en-US" dirty="0"/>
              <a:t>       合式公式</a:t>
            </a:r>
            <a:endParaRPr lang="zh-CN" altLang="en-US" dirty="0"/>
          </a:p>
          <a:p>
            <a:pPr marL="1158875" indent="-1158875" eaLnBrk="1" hangingPunct="1">
              <a:defRPr/>
            </a:pPr>
            <a:r>
              <a:rPr lang="zh-CN" altLang="en-US" dirty="0"/>
              <a:t> </a:t>
            </a:r>
            <a:r>
              <a:rPr lang="en-US" altLang="zh-CN" dirty="0"/>
              <a:t>(4) </a:t>
            </a: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zh-CN" altLang="en-US" dirty="0"/>
              <a:t>是合式公式，则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xA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 err="1"/>
              <a:t>xA</a:t>
            </a:r>
            <a:r>
              <a:rPr lang="zh-CN" altLang="en-US" dirty="0"/>
              <a:t>也是合式公式</a:t>
            </a:r>
            <a:endParaRPr lang="zh-CN" altLang="en-US" dirty="0"/>
          </a:p>
          <a:p>
            <a:pPr marL="1158875" indent="-1158875" eaLnBrk="1" hangingPunct="1">
              <a:defRPr/>
            </a:pPr>
            <a:r>
              <a:rPr lang="zh-CN" altLang="en-US" dirty="0"/>
              <a:t> </a:t>
            </a:r>
            <a:r>
              <a:rPr lang="en-US" altLang="zh-CN" dirty="0"/>
              <a:t>(5) </a:t>
            </a:r>
            <a:r>
              <a:rPr lang="zh-CN" altLang="en-US" dirty="0"/>
              <a:t>只有有限次地应用</a:t>
            </a:r>
            <a:r>
              <a:rPr lang="en-US" altLang="zh-CN" dirty="0"/>
              <a:t>(1)—(4)</a:t>
            </a:r>
            <a:r>
              <a:rPr lang="zh-CN" altLang="en-US" dirty="0"/>
              <a:t>形成的符号串才是合式公式</a:t>
            </a:r>
            <a:r>
              <a:rPr lang="en-US" altLang="zh-CN" dirty="0"/>
              <a:t>.</a:t>
            </a:r>
            <a:endParaRPr lang="en-US" altLang="zh-CN" dirty="0"/>
          </a:p>
          <a:p>
            <a:pPr marL="1158875" indent="-1158875" eaLnBrk="1" hangingPunct="1">
              <a:defRPr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合式公式简称</a:t>
            </a:r>
            <a:r>
              <a:rPr lang="zh-CN" altLang="en-US" dirty="0">
                <a:solidFill>
                  <a:srgbClr val="A50021"/>
                </a:solidFill>
              </a:rPr>
              <a:t>公式</a:t>
            </a:r>
            <a:endParaRPr lang="zh-CN" altLang="en-US" dirty="0">
              <a:solidFill>
                <a:srgbClr val="A50021"/>
              </a:solidFill>
            </a:endParaRPr>
          </a:p>
          <a:p>
            <a:pPr marL="1158875" indent="-1158875" eaLnBrk="1" hangingPunct="1">
              <a:spcBef>
                <a:spcPct val="70000"/>
              </a:spcBef>
              <a:defRPr/>
            </a:pPr>
            <a:r>
              <a:rPr lang="zh-CN" altLang="en-US" dirty="0"/>
              <a:t>    如</a:t>
            </a:r>
            <a:r>
              <a:rPr lang="en-US" altLang="zh-CN" dirty="0"/>
              <a:t>, 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), 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),  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))</a:t>
            </a:r>
            <a:endParaRPr lang="en-US" altLang="zh-CN" dirty="0">
              <a:sym typeface="Symbol" panose="05050102010706020507" pitchFamily="18" charset="2"/>
            </a:endParaRPr>
          </a:p>
          <a:p>
            <a:pPr marL="1158875" indent="-1158875" eaLnBrk="1" hangingPunct="1">
              <a:defRPr/>
            </a:pPr>
            <a:r>
              <a:rPr lang="en-US" altLang="zh-CN" dirty="0">
                <a:sym typeface="Symbol" panose="05050102010706020507" pitchFamily="18" charset="2"/>
              </a:rPr>
              <a:t>         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sym typeface="Symbol" panose="05050102010706020507" pitchFamily="18" charset="2"/>
              </a:rPr>
              <a:t>L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))</a:t>
            </a:r>
            <a:r>
              <a:rPr lang="zh-CN" altLang="en-US" dirty="0">
                <a:sym typeface="Symbol" panose="05050102010706020507" pitchFamily="18" charset="2"/>
              </a:rPr>
              <a:t>等都是合式公式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一阶语言</a:t>
            </a:r>
            <a:r>
              <a:rPr lang="en-US" altLang="zh-CN">
                <a:solidFill>
                  <a:srgbClr val="C0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i="1"/>
              <a:t> </a:t>
            </a:r>
            <a:r>
              <a:rPr lang="zh-CN" altLang="en-US"/>
              <a:t>的公式</a:t>
            </a: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C8F37D-393B-423E-AF7A-A2CBB51EF408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变元的约束</a:t>
            </a:r>
            <a:endParaRPr lang="zh-CN" altLang="en-US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24863" cy="4967287"/>
          </a:xfrm>
        </p:spPr>
        <p:txBody>
          <a:bodyPr/>
          <a:lstStyle/>
          <a:p>
            <a:pPr marL="625475" indent="-625475"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4.5</a:t>
            </a:r>
            <a:r>
              <a:rPr lang="en-US" altLang="zh-CN"/>
              <a:t>  </a:t>
            </a:r>
            <a:endParaRPr lang="en-US" altLang="zh-CN"/>
          </a:p>
          <a:p>
            <a:pPr marL="625475" indent="-625475" eaLnBrk="1" hangingPunct="1"/>
            <a:r>
              <a:rPr lang="zh-CN" altLang="en-US"/>
              <a:t>     在公式 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xA </a:t>
            </a:r>
            <a:r>
              <a:rPr lang="zh-CN" altLang="en-US"/>
              <a:t>和 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 i="1"/>
              <a:t>xA </a:t>
            </a:r>
            <a:r>
              <a:rPr lang="zh-CN" altLang="en-US"/>
              <a:t>中，称</a:t>
            </a:r>
            <a:r>
              <a:rPr lang="en-US" altLang="zh-CN" i="1"/>
              <a:t>x</a:t>
            </a:r>
            <a:r>
              <a:rPr lang="zh-CN" altLang="en-US"/>
              <a:t>为</a:t>
            </a:r>
            <a:r>
              <a:rPr lang="zh-CN" altLang="en-US">
                <a:solidFill>
                  <a:srgbClr val="A50021"/>
                </a:solidFill>
              </a:rPr>
              <a:t>指导变元</a:t>
            </a:r>
            <a:r>
              <a:rPr lang="zh-CN" altLang="en-US"/>
              <a:t>，</a:t>
            </a:r>
            <a:endParaRPr lang="en-US" altLang="zh-CN"/>
          </a:p>
          <a:p>
            <a:pPr marL="625475" indent="-625475" eaLnBrk="1" hangingPunct="1"/>
            <a:r>
              <a:rPr lang="en-US" altLang="zh-CN" i="1"/>
              <a:t>     A</a:t>
            </a:r>
            <a:r>
              <a:rPr lang="zh-CN" altLang="en-US"/>
              <a:t>为相应量词的</a:t>
            </a:r>
            <a:r>
              <a:rPr lang="zh-CN" altLang="en-US">
                <a:solidFill>
                  <a:srgbClr val="A50021"/>
                </a:solidFill>
              </a:rPr>
              <a:t>辖域</a:t>
            </a:r>
            <a:r>
              <a:rPr lang="en-US" altLang="zh-CN"/>
              <a:t>.</a:t>
            </a:r>
            <a:endParaRPr lang="en-US" altLang="zh-CN"/>
          </a:p>
          <a:p>
            <a:pPr marL="625475" indent="-625475" eaLnBrk="1" hangingPunct="1"/>
            <a:r>
              <a:rPr lang="zh-CN" altLang="en-US"/>
              <a:t>    在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zh-CN" altLang="en-US"/>
              <a:t>和 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 i="1"/>
              <a:t>x</a:t>
            </a:r>
            <a:r>
              <a:rPr lang="zh-CN" altLang="en-US"/>
              <a:t>的辖域中，</a:t>
            </a:r>
            <a:r>
              <a:rPr lang="en-US" altLang="zh-CN" i="1"/>
              <a:t>x</a:t>
            </a:r>
            <a:r>
              <a:rPr lang="zh-CN" altLang="en-US"/>
              <a:t>的所有出现都称为</a:t>
            </a:r>
            <a:r>
              <a:rPr lang="zh-CN" altLang="en-US">
                <a:solidFill>
                  <a:srgbClr val="A50021"/>
                </a:solidFill>
              </a:rPr>
              <a:t>约束出现</a:t>
            </a:r>
            <a:r>
              <a:rPr lang="zh-CN" altLang="en-US"/>
              <a:t>，</a:t>
            </a:r>
            <a:endParaRPr lang="en-US" altLang="zh-CN"/>
          </a:p>
          <a:p>
            <a:pPr marL="625475" indent="-625475" eaLnBrk="1" hangingPunct="1"/>
            <a:r>
              <a:rPr lang="en-US" altLang="zh-CN" i="1"/>
              <a:t>     A</a:t>
            </a:r>
            <a:r>
              <a:rPr lang="zh-CN" altLang="en-US"/>
              <a:t>中不是约束出现的其他变项均称为是</a:t>
            </a:r>
            <a:r>
              <a:rPr lang="zh-CN" altLang="en-US">
                <a:solidFill>
                  <a:srgbClr val="A50021"/>
                </a:solidFill>
              </a:rPr>
              <a:t>自由出现</a:t>
            </a:r>
            <a:r>
              <a:rPr lang="en-US" altLang="zh-CN"/>
              <a:t>. </a:t>
            </a:r>
            <a:endParaRPr lang="en-US" altLang="zh-CN"/>
          </a:p>
          <a:p>
            <a:pPr marL="625475" indent="-625475" eaLnBrk="1" hangingPunct="1"/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07D974-C17C-4815-8D5E-0EE7FB63DD15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graphicFrame>
        <p:nvGraphicFramePr>
          <p:cNvPr id="472067" name="Object 3"/>
          <p:cNvGraphicFramePr>
            <a:graphicFrameLocks noChangeAspect="1"/>
          </p:cNvGraphicFramePr>
          <p:nvPr/>
        </p:nvGraphicFramePr>
        <p:xfrm>
          <a:off x="914400" y="1066800"/>
          <a:ext cx="522446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149350" imgH="173990" progId="Equation.3">
                  <p:embed/>
                </p:oleObj>
              </mc:Choice>
              <mc:Fallback>
                <p:oleObj name="公式" r:id="rId1" imgW="1149350" imgH="1739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066800"/>
                        <a:ext cx="5224463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68" name="Line 4"/>
          <p:cNvSpPr>
            <a:spLocks noChangeShapeType="1"/>
          </p:cNvSpPr>
          <p:nvPr/>
        </p:nvSpPr>
        <p:spPr bwMode="auto">
          <a:xfrm>
            <a:off x="2362200" y="1981200"/>
            <a:ext cx="3657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5"/>
          <p:cNvGrpSpPr/>
          <p:nvPr/>
        </p:nvGrpSpPr>
        <p:grpSpPr bwMode="auto">
          <a:xfrm>
            <a:off x="3429000" y="1752600"/>
            <a:ext cx="4995863" cy="3924300"/>
            <a:chOff x="2160" y="1104"/>
            <a:chExt cx="3147" cy="2472"/>
          </a:xfrm>
        </p:grpSpPr>
        <p:sp>
          <p:nvSpPr>
            <p:cNvPr id="61449" name="Line 6"/>
            <p:cNvSpPr>
              <a:spLocks noChangeShapeType="1"/>
            </p:cNvSpPr>
            <p:nvPr/>
          </p:nvSpPr>
          <p:spPr bwMode="auto">
            <a:xfrm>
              <a:off x="2160" y="1104"/>
              <a:ext cx="1296" cy="129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AutoShape 7"/>
            <p:cNvSpPr/>
            <p:nvPr/>
          </p:nvSpPr>
          <p:spPr bwMode="auto">
            <a:xfrm>
              <a:off x="3516" y="3024"/>
              <a:ext cx="1791" cy="552"/>
            </a:xfrm>
            <a:prstGeom prst="borderCallout2">
              <a:avLst>
                <a:gd name="adj1" fmla="val 13042"/>
                <a:gd name="adj2" fmla="val -2681"/>
                <a:gd name="adj3" fmla="val 13042"/>
                <a:gd name="adj4" fmla="val -3014"/>
                <a:gd name="adj5" fmla="val -348912"/>
                <a:gd name="adj6" fmla="val -3407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4000" b="0">
                  <a:solidFill>
                    <a:srgbClr val="000000"/>
                  </a:solidFill>
                  <a:ea typeface="楷体_GB2312" panose="02010609030101010101" pitchFamily="49" charset="-122"/>
                </a:rPr>
                <a:t>约束出现</a:t>
              </a:r>
              <a:endParaRPr kumimoji="1" lang="zh-CN" altLang="en-US" sz="4000" b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472072" name="AutoShape 8"/>
          <p:cNvSpPr/>
          <p:nvPr/>
        </p:nvSpPr>
        <p:spPr bwMode="auto">
          <a:xfrm>
            <a:off x="3282950" y="4876800"/>
            <a:ext cx="1593850" cy="838200"/>
          </a:xfrm>
          <a:prstGeom prst="borderCallout1">
            <a:avLst>
              <a:gd name="adj1" fmla="val 13634"/>
              <a:gd name="adj2" fmla="val -4782"/>
              <a:gd name="adj3" fmla="val -338259"/>
              <a:gd name="adj4" fmla="val -4782"/>
            </a:avLst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 b="0">
                <a:solidFill>
                  <a:srgbClr val="000000"/>
                </a:solidFill>
                <a:ea typeface="楷体_GB2312" panose="02010609030101010101" pitchFamily="49" charset="-122"/>
              </a:rPr>
              <a:t>辖域</a:t>
            </a:r>
            <a:endParaRPr kumimoji="1" lang="zh-CN" altLang="en-US" sz="4000" b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2073" name="AutoShape 9"/>
          <p:cNvSpPr/>
          <p:nvPr/>
        </p:nvSpPr>
        <p:spPr bwMode="auto">
          <a:xfrm>
            <a:off x="1066800" y="3276600"/>
            <a:ext cx="838200" cy="2438400"/>
          </a:xfrm>
          <a:prstGeom prst="borderCallout1">
            <a:avLst>
              <a:gd name="adj1" fmla="val 4690"/>
              <a:gd name="adj2" fmla="val 109093"/>
              <a:gd name="adj3" fmla="val -59699"/>
              <a:gd name="adj4" fmla="val 126894"/>
            </a:avLst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 b="0">
                <a:solidFill>
                  <a:srgbClr val="000000"/>
                </a:solidFill>
                <a:ea typeface="楷体_GB2312" panose="02010609030101010101" pitchFamily="49" charset="-122"/>
              </a:rPr>
              <a:t>指导变元</a:t>
            </a:r>
            <a:endParaRPr kumimoji="1" lang="zh-CN" altLang="en-US" sz="4000" b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72" grpId="0" animBg="1" autoUpdateAnimBg="0"/>
      <p:bldP spid="472073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1B1AC4-7F83-4B3F-BC70-51E4D61A1604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grpSp>
        <p:nvGrpSpPr>
          <p:cNvPr id="2" name="Group 2"/>
          <p:cNvGrpSpPr/>
          <p:nvPr/>
        </p:nvGrpSpPr>
        <p:grpSpPr bwMode="auto">
          <a:xfrm>
            <a:off x="0" y="1125538"/>
            <a:ext cx="9144000" cy="1066800"/>
            <a:chOff x="0" y="576"/>
            <a:chExt cx="5760" cy="672"/>
          </a:xfrm>
        </p:grpSpPr>
        <p:sp>
          <p:nvSpPr>
            <p:cNvPr id="62478" name="Rectangle 3"/>
            <p:cNvSpPr>
              <a:spLocks noChangeArrowheads="1"/>
            </p:cNvSpPr>
            <p:nvPr/>
          </p:nvSpPr>
          <p:spPr bwMode="auto">
            <a:xfrm>
              <a:off x="0" y="576"/>
              <a:ext cx="5760" cy="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7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62479" name="Object 4"/>
            <p:cNvGraphicFramePr>
              <a:graphicFrameLocks noChangeAspect="1"/>
            </p:cNvGraphicFramePr>
            <p:nvPr/>
          </p:nvGraphicFramePr>
          <p:xfrm>
            <a:off x="567" y="615"/>
            <a:ext cx="3983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1393190" imgH="173990" progId="Equation.DSMT4">
                    <p:embed/>
                  </p:oleObj>
                </mc:Choice>
                <mc:Fallback>
                  <p:oleObj name="Equation" r:id="rId1" imgW="1393190" imgH="17399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615"/>
                          <a:ext cx="3983" cy="55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46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grpSp>
        <p:nvGrpSpPr>
          <p:cNvPr id="4" name="Group 6"/>
          <p:cNvGrpSpPr/>
          <p:nvPr/>
        </p:nvGrpSpPr>
        <p:grpSpPr bwMode="auto">
          <a:xfrm>
            <a:off x="0" y="1125538"/>
            <a:ext cx="9144000" cy="1066800"/>
            <a:chOff x="0" y="576"/>
            <a:chExt cx="5760" cy="672"/>
          </a:xfrm>
        </p:grpSpPr>
        <p:sp>
          <p:nvSpPr>
            <p:cNvPr id="62476" name="Rectangle 7"/>
            <p:cNvSpPr>
              <a:spLocks noChangeArrowheads="1"/>
            </p:cNvSpPr>
            <p:nvPr/>
          </p:nvSpPr>
          <p:spPr bwMode="auto">
            <a:xfrm>
              <a:off x="0" y="576"/>
              <a:ext cx="5760" cy="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7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62477" name="Object 8"/>
            <p:cNvGraphicFramePr>
              <a:graphicFrameLocks noChangeAspect="1"/>
            </p:cNvGraphicFramePr>
            <p:nvPr/>
          </p:nvGraphicFramePr>
          <p:xfrm>
            <a:off x="624" y="624"/>
            <a:ext cx="3982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3" imgW="1393190" imgH="173990" progId="Equation.DSMT4">
                    <p:embed/>
                  </p:oleObj>
                </mc:Choice>
                <mc:Fallback>
                  <p:oleObj name="Equation" r:id="rId3" imgW="1393190" imgH="17399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624"/>
                          <a:ext cx="3982" cy="55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3097" name="Line 9"/>
          <p:cNvSpPr>
            <a:spLocks noChangeShapeType="1"/>
          </p:cNvSpPr>
          <p:nvPr/>
        </p:nvSpPr>
        <p:spPr bwMode="auto">
          <a:xfrm>
            <a:off x="2286000" y="2039938"/>
            <a:ext cx="510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8" name="Line 10"/>
          <p:cNvSpPr>
            <a:spLocks noChangeShapeType="1"/>
          </p:cNvSpPr>
          <p:nvPr/>
        </p:nvSpPr>
        <p:spPr bwMode="auto">
          <a:xfrm>
            <a:off x="5410200" y="2192338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9" name="AutoShape 11"/>
          <p:cNvSpPr/>
          <p:nvPr/>
        </p:nvSpPr>
        <p:spPr bwMode="auto">
          <a:xfrm>
            <a:off x="685800" y="2954338"/>
            <a:ext cx="914400" cy="2520950"/>
          </a:xfrm>
          <a:prstGeom prst="borderCallout1">
            <a:avLst>
              <a:gd name="adj1" fmla="val 4532"/>
              <a:gd name="adj2" fmla="val 108333"/>
              <a:gd name="adj3" fmla="val -42005"/>
              <a:gd name="adj4" fmla="val 160069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000000"/>
                </a:solidFill>
                <a:ea typeface="楷体_GB2312" panose="02010609030101010101" pitchFamily="49" charset="-122"/>
              </a:rPr>
              <a:t>指导变元</a:t>
            </a:r>
            <a:endParaRPr kumimoji="1" lang="zh-CN" altLang="en-US" sz="36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3100" name="AutoShape 12"/>
          <p:cNvSpPr/>
          <p:nvPr/>
        </p:nvSpPr>
        <p:spPr bwMode="auto">
          <a:xfrm>
            <a:off x="3124200" y="2997200"/>
            <a:ext cx="914400" cy="2471738"/>
          </a:xfrm>
          <a:prstGeom prst="borderCallout1">
            <a:avLst>
              <a:gd name="adj1" fmla="val 4625"/>
              <a:gd name="adj2" fmla="val 108333"/>
              <a:gd name="adj3" fmla="val -39884"/>
              <a:gd name="adj4" fmla="val 108856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kumimoji="1" lang="en-US" altLang="zh-CN" sz="3600">
              <a:solidFill>
                <a:srgbClr val="000000"/>
              </a:solidFill>
              <a:ea typeface="楷体_GB2312" panose="02010609030101010101" pitchFamily="49" charset="-122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000000"/>
                </a:solidFill>
                <a:ea typeface="楷体_GB2312" panose="02010609030101010101" pitchFamily="49" charset="-122"/>
              </a:rPr>
              <a:t>辖 </a:t>
            </a:r>
            <a:endParaRPr kumimoji="1" lang="zh-CN" altLang="en-US" sz="3600">
              <a:solidFill>
                <a:srgbClr val="000000"/>
              </a:solidFill>
              <a:ea typeface="楷体_GB2312" panose="02010609030101010101" pitchFamily="49" charset="-122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000000"/>
                </a:solidFill>
                <a:ea typeface="楷体_GB2312" panose="02010609030101010101" pitchFamily="49" charset="-122"/>
              </a:rPr>
              <a:t>   域</a:t>
            </a:r>
            <a:endParaRPr kumimoji="1" lang="zh-CN" altLang="en-US" sz="36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3101" name="AutoShape 13"/>
          <p:cNvSpPr/>
          <p:nvPr/>
        </p:nvSpPr>
        <p:spPr bwMode="auto">
          <a:xfrm>
            <a:off x="5334000" y="2954338"/>
            <a:ext cx="914400" cy="2520950"/>
          </a:xfrm>
          <a:prstGeom prst="borderCallout1">
            <a:avLst>
              <a:gd name="adj1" fmla="val 4532"/>
              <a:gd name="adj2" fmla="val -8333"/>
              <a:gd name="adj3" fmla="val -44523"/>
              <a:gd name="adj4" fmla="val -26218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000000"/>
                </a:solidFill>
                <a:ea typeface="楷体_GB2312" panose="02010609030101010101" pitchFamily="49" charset="-122"/>
              </a:rPr>
              <a:t>指导变元</a:t>
            </a:r>
            <a:endParaRPr kumimoji="1" lang="zh-CN" altLang="en-US" sz="36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3102" name="AutoShape 14"/>
          <p:cNvSpPr/>
          <p:nvPr/>
        </p:nvSpPr>
        <p:spPr bwMode="auto">
          <a:xfrm>
            <a:off x="6526213" y="2992438"/>
            <a:ext cx="914400" cy="2471737"/>
          </a:xfrm>
          <a:prstGeom prst="borderCallout1">
            <a:avLst>
              <a:gd name="adj1" fmla="val 4625"/>
              <a:gd name="adj2" fmla="val -8333"/>
              <a:gd name="adj3" fmla="val -33847"/>
              <a:gd name="adj4" fmla="val -22398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kumimoji="1" lang="en-US" altLang="zh-CN" sz="3600">
              <a:solidFill>
                <a:srgbClr val="000000"/>
              </a:solidFill>
              <a:ea typeface="楷体_GB2312" panose="02010609030101010101" pitchFamily="49" charset="-122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000000"/>
                </a:solidFill>
                <a:ea typeface="楷体_GB2312" panose="02010609030101010101" pitchFamily="49" charset="-122"/>
              </a:rPr>
              <a:t>辖 </a:t>
            </a:r>
            <a:endParaRPr kumimoji="1" lang="zh-CN" altLang="en-US" sz="3600">
              <a:solidFill>
                <a:srgbClr val="000000"/>
              </a:solidFill>
              <a:ea typeface="楷体_GB2312" panose="02010609030101010101" pitchFamily="49" charset="-122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000000"/>
                </a:solidFill>
                <a:ea typeface="楷体_GB2312" panose="02010609030101010101" pitchFamily="49" charset="-122"/>
              </a:rPr>
              <a:t>   域</a:t>
            </a:r>
            <a:endParaRPr kumimoji="1" lang="zh-CN" altLang="en-US" sz="36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3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3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9" grpId="0" animBg="1" autoUpdateAnimBg="0"/>
      <p:bldP spid="473100" grpId="0" animBg="1" autoUpdateAnimBg="0"/>
      <p:bldP spid="473101" grpId="0" animBg="1" autoUpdateAnimBg="0"/>
      <p:bldP spid="473102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A17969-B89A-48CF-A294-E8350F61D5F1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0" y="1125538"/>
            <a:ext cx="9144000" cy="1066800"/>
            <a:chOff x="0" y="576"/>
            <a:chExt cx="5760" cy="672"/>
          </a:xfrm>
        </p:grpSpPr>
        <p:sp>
          <p:nvSpPr>
            <p:cNvPr id="63505" name="Rectangle 4"/>
            <p:cNvSpPr>
              <a:spLocks noChangeArrowheads="1"/>
            </p:cNvSpPr>
            <p:nvPr/>
          </p:nvSpPr>
          <p:spPr bwMode="auto">
            <a:xfrm>
              <a:off x="0" y="576"/>
              <a:ext cx="5760" cy="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7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63506" name="Object 5"/>
            <p:cNvGraphicFramePr>
              <a:graphicFrameLocks noChangeAspect="1"/>
            </p:cNvGraphicFramePr>
            <p:nvPr/>
          </p:nvGraphicFramePr>
          <p:xfrm>
            <a:off x="32" y="576"/>
            <a:ext cx="5610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2203450" imgH="173990" progId="Equation.DSMT4">
                    <p:embed/>
                  </p:oleObj>
                </mc:Choice>
                <mc:Fallback>
                  <p:oleObj name="Equation" r:id="rId1" imgW="2203450" imgH="17399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" y="576"/>
                          <a:ext cx="5610" cy="55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"/>
          <p:cNvGrpSpPr/>
          <p:nvPr/>
        </p:nvGrpSpPr>
        <p:grpSpPr bwMode="auto">
          <a:xfrm>
            <a:off x="0" y="1227138"/>
            <a:ext cx="9144000" cy="1066800"/>
            <a:chOff x="336" y="1056"/>
            <a:chExt cx="5760" cy="672"/>
          </a:xfrm>
        </p:grpSpPr>
        <p:sp>
          <p:nvSpPr>
            <p:cNvPr id="63503" name="Rectangle 7"/>
            <p:cNvSpPr>
              <a:spLocks noChangeArrowheads="1"/>
            </p:cNvSpPr>
            <p:nvPr/>
          </p:nvSpPr>
          <p:spPr bwMode="auto">
            <a:xfrm>
              <a:off x="336" y="1056"/>
              <a:ext cx="5760" cy="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7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63504" name="Object 8"/>
            <p:cNvGraphicFramePr>
              <a:graphicFrameLocks noChangeAspect="1"/>
            </p:cNvGraphicFramePr>
            <p:nvPr/>
          </p:nvGraphicFramePr>
          <p:xfrm>
            <a:off x="336" y="1056"/>
            <a:ext cx="5610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3" imgW="2203450" imgH="173990" progId="Equation.DSMT4">
                    <p:embed/>
                  </p:oleObj>
                </mc:Choice>
                <mc:Fallback>
                  <p:oleObj name="Equation" r:id="rId3" imgW="2203450" imgH="17399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056"/>
                          <a:ext cx="5610" cy="55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4121" name="AutoShape 9"/>
          <p:cNvSpPr/>
          <p:nvPr/>
        </p:nvSpPr>
        <p:spPr bwMode="auto">
          <a:xfrm>
            <a:off x="5334000" y="3030538"/>
            <a:ext cx="762000" cy="2311400"/>
          </a:xfrm>
          <a:prstGeom prst="borderCallout1">
            <a:avLst>
              <a:gd name="adj1" fmla="val 4944"/>
              <a:gd name="adj2" fmla="val 110000"/>
              <a:gd name="adj3" fmla="val -50963"/>
              <a:gd name="adj4" fmla="val 250000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0">
                <a:solidFill>
                  <a:srgbClr val="000000"/>
                </a:solidFill>
                <a:ea typeface="楷体_GB2312" panose="02010609030101010101" pitchFamily="49" charset="-122"/>
              </a:rPr>
              <a:t>指导变元</a:t>
            </a:r>
            <a:endParaRPr kumimoji="1" lang="zh-CN" altLang="en-US" sz="3600" b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4122" name="AutoShape 10"/>
          <p:cNvSpPr/>
          <p:nvPr/>
        </p:nvSpPr>
        <p:spPr bwMode="auto">
          <a:xfrm>
            <a:off x="6400800" y="4021138"/>
            <a:ext cx="762000" cy="1277937"/>
          </a:xfrm>
          <a:prstGeom prst="borderCallout1">
            <a:avLst>
              <a:gd name="adj1" fmla="val 8944"/>
              <a:gd name="adj2" fmla="val 110000"/>
              <a:gd name="adj3" fmla="val -151056"/>
              <a:gd name="adj4" fmla="val 159167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0">
                <a:solidFill>
                  <a:srgbClr val="000000"/>
                </a:solidFill>
                <a:ea typeface="楷体_GB2312" panose="02010609030101010101" pitchFamily="49" charset="-122"/>
              </a:rPr>
              <a:t>辖域</a:t>
            </a:r>
            <a:endParaRPr kumimoji="1" lang="zh-CN" altLang="en-US" sz="3600" b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4123" name="AutoShape 11"/>
          <p:cNvSpPr/>
          <p:nvPr/>
        </p:nvSpPr>
        <p:spPr bwMode="auto">
          <a:xfrm>
            <a:off x="1524000" y="3944938"/>
            <a:ext cx="914400" cy="1277937"/>
          </a:xfrm>
          <a:prstGeom prst="borderCallout1">
            <a:avLst>
              <a:gd name="adj1" fmla="val 8944"/>
              <a:gd name="adj2" fmla="val 108333"/>
              <a:gd name="adj3" fmla="val -148074"/>
              <a:gd name="adj4" fmla="val 258509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0">
                <a:solidFill>
                  <a:srgbClr val="000000"/>
                </a:solidFill>
                <a:ea typeface="楷体_GB2312" panose="02010609030101010101" pitchFamily="49" charset="-122"/>
              </a:rPr>
              <a:t>辖域</a:t>
            </a:r>
            <a:endParaRPr kumimoji="1" lang="zh-CN" altLang="en-US" sz="3600" b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6" name="Group 12"/>
          <p:cNvGrpSpPr/>
          <p:nvPr/>
        </p:nvGrpSpPr>
        <p:grpSpPr bwMode="auto">
          <a:xfrm>
            <a:off x="304800" y="1854200"/>
            <a:ext cx="1666875" cy="3335338"/>
            <a:chOff x="192" y="1035"/>
            <a:chExt cx="1050" cy="2101"/>
          </a:xfrm>
        </p:grpSpPr>
        <p:sp>
          <p:nvSpPr>
            <p:cNvPr id="63501" name="AutoShape 13"/>
            <p:cNvSpPr/>
            <p:nvPr/>
          </p:nvSpPr>
          <p:spPr bwMode="auto">
            <a:xfrm>
              <a:off x="192" y="1680"/>
              <a:ext cx="576" cy="1456"/>
            </a:xfrm>
            <a:prstGeom prst="borderCallout1">
              <a:avLst>
                <a:gd name="adj1" fmla="val 4944"/>
                <a:gd name="adj2" fmla="val 108333"/>
                <a:gd name="adj3" fmla="val -46843"/>
                <a:gd name="adj4" fmla="val 120139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3600" b="0">
                  <a:solidFill>
                    <a:srgbClr val="000000"/>
                  </a:solidFill>
                  <a:ea typeface="楷体_GB2312" panose="02010609030101010101" pitchFamily="49" charset="-122"/>
                </a:rPr>
                <a:t>指导变元</a:t>
              </a:r>
              <a:endParaRPr kumimoji="1" lang="zh-CN" altLang="en-US" sz="3600" b="0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3502" name="Line 14"/>
            <p:cNvSpPr>
              <a:spLocks noChangeShapeType="1"/>
            </p:cNvSpPr>
            <p:nvPr/>
          </p:nvSpPr>
          <p:spPr bwMode="auto">
            <a:xfrm flipV="1">
              <a:off x="810" y="1035"/>
              <a:ext cx="432" cy="72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4127" name="AutoShape 15"/>
          <p:cNvSpPr/>
          <p:nvPr/>
        </p:nvSpPr>
        <p:spPr bwMode="auto">
          <a:xfrm>
            <a:off x="7696200" y="2954338"/>
            <a:ext cx="762000" cy="2362200"/>
          </a:xfrm>
          <a:prstGeom prst="borderCallout2">
            <a:avLst>
              <a:gd name="adj1" fmla="val 4838"/>
              <a:gd name="adj2" fmla="val 110000"/>
              <a:gd name="adj3" fmla="val 4838"/>
              <a:gd name="adj4" fmla="val 110625"/>
              <a:gd name="adj5" fmla="val -47579"/>
              <a:gd name="adj6" fmla="val 111250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0">
                <a:solidFill>
                  <a:srgbClr val="000000"/>
                </a:solidFill>
                <a:ea typeface="楷体_GB2312" panose="02010609030101010101" pitchFamily="49" charset="-122"/>
              </a:rPr>
              <a:t>自由出现</a:t>
            </a:r>
            <a:endParaRPr kumimoji="1" lang="zh-CN" altLang="en-US" sz="3600" b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4128" name="Line 16"/>
          <p:cNvSpPr>
            <a:spLocks noChangeShapeType="1"/>
          </p:cNvSpPr>
          <p:nvPr/>
        </p:nvSpPr>
        <p:spPr bwMode="auto">
          <a:xfrm>
            <a:off x="7407275" y="1963738"/>
            <a:ext cx="1508125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4129" name="Line 17"/>
          <p:cNvSpPr>
            <a:spLocks noChangeShapeType="1"/>
          </p:cNvSpPr>
          <p:nvPr/>
        </p:nvSpPr>
        <p:spPr bwMode="auto">
          <a:xfrm>
            <a:off x="2438400" y="2039938"/>
            <a:ext cx="3886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7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21" grpId="0" animBg="1" autoUpdateAnimBg="0"/>
      <p:bldP spid="474122" grpId="0" animBg="1" autoUpdateAnimBg="0"/>
      <p:bldP spid="474123" grpId="0" animBg="1" autoUpdateAnimBg="0"/>
      <p:bldP spid="474127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184512-1AC1-495D-9255-40D10CBB2762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0" y="1125538"/>
            <a:ext cx="9144000" cy="1066800"/>
            <a:chOff x="0" y="576"/>
            <a:chExt cx="5760" cy="672"/>
          </a:xfrm>
        </p:grpSpPr>
        <p:sp>
          <p:nvSpPr>
            <p:cNvPr id="65557" name="Rectangle 4"/>
            <p:cNvSpPr>
              <a:spLocks noChangeArrowheads="1"/>
            </p:cNvSpPr>
            <p:nvPr/>
          </p:nvSpPr>
          <p:spPr bwMode="auto">
            <a:xfrm>
              <a:off x="0" y="576"/>
              <a:ext cx="5760" cy="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7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65558" name="Object 5"/>
            <p:cNvGraphicFramePr>
              <a:graphicFrameLocks noChangeAspect="1"/>
            </p:cNvGraphicFramePr>
            <p:nvPr/>
          </p:nvGraphicFramePr>
          <p:xfrm>
            <a:off x="5" y="672"/>
            <a:ext cx="5678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2577465" imgH="173990" progId="Equation.DSMT4">
                    <p:embed/>
                  </p:oleObj>
                </mc:Choice>
                <mc:Fallback>
                  <p:oleObj name="Equation" r:id="rId1" imgW="2577465" imgH="17399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" y="672"/>
                          <a:ext cx="5678" cy="4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5142" name="AutoShape 6"/>
          <p:cNvSpPr/>
          <p:nvPr/>
        </p:nvSpPr>
        <p:spPr bwMode="auto">
          <a:xfrm>
            <a:off x="381000" y="3995738"/>
            <a:ext cx="914400" cy="2159000"/>
          </a:xfrm>
          <a:prstGeom prst="borderCallout3">
            <a:avLst>
              <a:gd name="adj1" fmla="val 5296"/>
              <a:gd name="adj2" fmla="val -8333"/>
              <a:gd name="adj3" fmla="val 5296"/>
              <a:gd name="adj4" fmla="val -8333"/>
              <a:gd name="adj5" fmla="val -46912"/>
              <a:gd name="adj6" fmla="val -8333"/>
              <a:gd name="adj7" fmla="val -100296"/>
              <a:gd name="adj8" fmla="val 56250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000000"/>
                </a:solidFill>
                <a:ea typeface="楷体_GB2312" panose="02010609030101010101" pitchFamily="49" charset="-122"/>
              </a:rPr>
              <a:t>指导变元</a:t>
            </a:r>
            <a:endParaRPr kumimoji="1" lang="zh-CN" altLang="en-US" sz="32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4" name="Group 7"/>
          <p:cNvGrpSpPr/>
          <p:nvPr/>
        </p:nvGrpSpPr>
        <p:grpSpPr bwMode="auto">
          <a:xfrm>
            <a:off x="0" y="1125538"/>
            <a:ext cx="9144000" cy="1066800"/>
            <a:chOff x="192" y="0"/>
            <a:chExt cx="5760" cy="672"/>
          </a:xfrm>
        </p:grpSpPr>
        <p:sp>
          <p:nvSpPr>
            <p:cNvPr id="65555" name="Rectangle 8"/>
            <p:cNvSpPr>
              <a:spLocks noChangeArrowheads="1"/>
            </p:cNvSpPr>
            <p:nvPr/>
          </p:nvSpPr>
          <p:spPr bwMode="auto">
            <a:xfrm>
              <a:off x="192" y="0"/>
              <a:ext cx="5760" cy="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7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65556" name="Object 9"/>
            <p:cNvGraphicFramePr>
              <a:graphicFrameLocks noChangeAspect="1"/>
            </p:cNvGraphicFramePr>
            <p:nvPr/>
          </p:nvGraphicFramePr>
          <p:xfrm>
            <a:off x="192" y="144"/>
            <a:ext cx="5678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3" imgW="2577465" imgH="173990" progId="Equation.DSMT4">
                    <p:embed/>
                  </p:oleObj>
                </mc:Choice>
                <mc:Fallback>
                  <p:oleObj name="Equation" r:id="rId3" imgW="2577465" imgH="17399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144"/>
                          <a:ext cx="5678" cy="4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5146" name="Line 10"/>
          <p:cNvSpPr>
            <a:spLocks noChangeShapeType="1"/>
          </p:cNvSpPr>
          <p:nvPr/>
        </p:nvSpPr>
        <p:spPr bwMode="auto">
          <a:xfrm>
            <a:off x="1143000" y="2116138"/>
            <a:ext cx="5943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5147" name="AutoShape 11"/>
          <p:cNvSpPr/>
          <p:nvPr/>
        </p:nvSpPr>
        <p:spPr bwMode="auto">
          <a:xfrm>
            <a:off x="1600200" y="4808538"/>
            <a:ext cx="914400" cy="1346200"/>
          </a:xfrm>
          <a:prstGeom prst="borderCallout1">
            <a:avLst>
              <a:gd name="adj1" fmla="val 8491"/>
              <a:gd name="adj2" fmla="val -8333"/>
              <a:gd name="adj3" fmla="val -185495"/>
              <a:gd name="adj4" fmla="val -9722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000000"/>
                </a:solidFill>
                <a:ea typeface="楷体_GB2312" panose="02010609030101010101" pitchFamily="49" charset="-122"/>
              </a:rPr>
              <a:t>辖域</a:t>
            </a:r>
            <a:endParaRPr kumimoji="1" lang="zh-CN" altLang="en-US" sz="32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5148" name="Line 12"/>
          <p:cNvSpPr>
            <a:spLocks noChangeShapeType="1"/>
          </p:cNvSpPr>
          <p:nvPr/>
        </p:nvSpPr>
        <p:spPr bwMode="auto">
          <a:xfrm>
            <a:off x="3124200" y="1963738"/>
            <a:ext cx="12192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5149" name="AutoShape 13"/>
          <p:cNvSpPr/>
          <p:nvPr/>
        </p:nvSpPr>
        <p:spPr bwMode="auto">
          <a:xfrm>
            <a:off x="4038600" y="4964113"/>
            <a:ext cx="914400" cy="1190625"/>
          </a:xfrm>
          <a:prstGeom prst="borderCallout1">
            <a:avLst>
              <a:gd name="adj1" fmla="val 9602"/>
              <a:gd name="adj2" fmla="val -8333"/>
              <a:gd name="adj3" fmla="val -250801"/>
              <a:gd name="adj4" fmla="val -32639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000000"/>
                </a:solidFill>
                <a:ea typeface="楷体_GB2312" panose="02010609030101010101" pitchFamily="49" charset="-122"/>
              </a:rPr>
              <a:t>辖域</a:t>
            </a:r>
            <a:endParaRPr kumimoji="1" lang="zh-CN" altLang="en-US" sz="32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5150" name="Line 14"/>
          <p:cNvSpPr>
            <a:spLocks noChangeShapeType="1"/>
          </p:cNvSpPr>
          <p:nvPr/>
        </p:nvSpPr>
        <p:spPr bwMode="auto">
          <a:xfrm>
            <a:off x="5638800" y="1963738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5151" name="AutoShape 15"/>
          <p:cNvSpPr/>
          <p:nvPr/>
        </p:nvSpPr>
        <p:spPr bwMode="auto">
          <a:xfrm>
            <a:off x="7010400" y="5013325"/>
            <a:ext cx="914400" cy="1141413"/>
          </a:xfrm>
          <a:prstGeom prst="borderCallout1">
            <a:avLst>
              <a:gd name="adj1" fmla="val 10014"/>
              <a:gd name="adj2" fmla="val -8333"/>
              <a:gd name="adj3" fmla="val -266343"/>
              <a:gd name="adj4" fmla="val -84722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000000"/>
                </a:solidFill>
                <a:ea typeface="楷体_GB2312" panose="02010609030101010101" pitchFamily="49" charset="-122"/>
              </a:rPr>
              <a:t>辖域</a:t>
            </a:r>
            <a:endParaRPr kumimoji="1" lang="zh-CN" altLang="en-US" sz="32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5152" name="AutoShape 16"/>
          <p:cNvSpPr/>
          <p:nvPr/>
        </p:nvSpPr>
        <p:spPr bwMode="auto">
          <a:xfrm>
            <a:off x="2895600" y="3995738"/>
            <a:ext cx="914400" cy="2159000"/>
          </a:xfrm>
          <a:prstGeom prst="borderCallout3">
            <a:avLst>
              <a:gd name="adj1" fmla="val 5296"/>
              <a:gd name="adj2" fmla="val -8333"/>
              <a:gd name="adj3" fmla="val 5296"/>
              <a:gd name="adj4" fmla="val -28995"/>
              <a:gd name="adj5" fmla="val -41986"/>
              <a:gd name="adj6" fmla="val -28995"/>
              <a:gd name="adj7" fmla="val -101616"/>
              <a:gd name="adj8" fmla="val 7639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000000"/>
                </a:solidFill>
                <a:ea typeface="楷体_GB2312" panose="02010609030101010101" pitchFamily="49" charset="-122"/>
              </a:rPr>
              <a:t>指导变元</a:t>
            </a:r>
            <a:endParaRPr kumimoji="1" lang="zh-CN" altLang="en-US" sz="32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475153" name="AutoShape 17"/>
          <p:cNvSpPr/>
          <p:nvPr/>
        </p:nvSpPr>
        <p:spPr bwMode="auto">
          <a:xfrm>
            <a:off x="5715000" y="3992563"/>
            <a:ext cx="914400" cy="2159000"/>
          </a:xfrm>
          <a:prstGeom prst="borderCallout3">
            <a:avLst>
              <a:gd name="adj1" fmla="val 5296"/>
              <a:gd name="adj2" fmla="val -8333"/>
              <a:gd name="adj3" fmla="val 5296"/>
              <a:gd name="adj4" fmla="val -40278"/>
              <a:gd name="adj5" fmla="val -36838"/>
              <a:gd name="adj6" fmla="val -40278"/>
              <a:gd name="adj7" fmla="val -97796"/>
              <a:gd name="adj8" fmla="val -21704"/>
            </a:avLst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000000"/>
                </a:solidFill>
                <a:ea typeface="楷体_GB2312" panose="02010609030101010101" pitchFamily="49" charset="-122"/>
              </a:rPr>
              <a:t>指导变元</a:t>
            </a:r>
            <a:endParaRPr kumimoji="1" lang="zh-CN" altLang="en-US" sz="320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6" name="Group 18"/>
          <p:cNvGrpSpPr/>
          <p:nvPr/>
        </p:nvGrpSpPr>
        <p:grpSpPr bwMode="auto">
          <a:xfrm>
            <a:off x="4114800" y="1811338"/>
            <a:ext cx="4876800" cy="4368800"/>
            <a:chOff x="2592" y="1056"/>
            <a:chExt cx="3072" cy="2752"/>
          </a:xfrm>
        </p:grpSpPr>
        <p:sp>
          <p:nvSpPr>
            <p:cNvPr id="65552" name="AutoShape 19"/>
            <p:cNvSpPr/>
            <p:nvPr/>
          </p:nvSpPr>
          <p:spPr bwMode="auto">
            <a:xfrm>
              <a:off x="5088" y="2448"/>
              <a:ext cx="576" cy="1360"/>
            </a:xfrm>
            <a:prstGeom prst="borderCallout3">
              <a:avLst>
                <a:gd name="adj1" fmla="val 5296"/>
                <a:gd name="adj2" fmla="val -8333"/>
                <a:gd name="adj3" fmla="val 5296"/>
                <a:gd name="adj4" fmla="val -34375"/>
                <a:gd name="adj5" fmla="val -35366"/>
                <a:gd name="adj6" fmla="val -34375"/>
                <a:gd name="adj7" fmla="val -101102"/>
                <a:gd name="adj8" fmla="val 57986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3200">
                  <a:solidFill>
                    <a:srgbClr val="000000"/>
                  </a:solidFill>
                  <a:ea typeface="楷体_GB2312" panose="02010609030101010101" pitchFamily="49" charset="-122"/>
                </a:rPr>
                <a:t>自由出现</a:t>
              </a:r>
              <a:endParaRPr kumimoji="1" lang="zh-CN" altLang="en-US" sz="3200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65553" name="Line 20"/>
            <p:cNvSpPr>
              <a:spLocks noChangeShapeType="1"/>
            </p:cNvSpPr>
            <p:nvPr/>
          </p:nvSpPr>
          <p:spPr bwMode="auto">
            <a:xfrm flipV="1">
              <a:off x="4896" y="1056"/>
              <a:ext cx="288" cy="91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4" name="Line 21"/>
            <p:cNvSpPr>
              <a:spLocks noChangeShapeType="1"/>
            </p:cNvSpPr>
            <p:nvPr/>
          </p:nvSpPr>
          <p:spPr bwMode="auto">
            <a:xfrm flipH="1" flipV="1">
              <a:off x="2592" y="1056"/>
              <a:ext cx="2304" cy="91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7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5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5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7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2" grpId="0" animBg="1" autoUpdateAnimBg="0"/>
      <p:bldP spid="475147" grpId="0" animBg="1" autoUpdateAnimBg="0"/>
      <p:bldP spid="475149" grpId="0" animBg="1" autoUpdateAnimBg="0"/>
      <p:bldP spid="475151" grpId="0" animBg="1" autoUpdateAnimBg="0"/>
      <p:bldP spid="475152" grpId="0" animBg="1" autoUpdateAnimBg="0"/>
      <p:bldP spid="475153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12B8C5-4012-4A65-B1B5-A0363FACF610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450" y="1268413"/>
            <a:ext cx="8178800" cy="4525962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ym typeface="Symbol" panose="05050102010706020507" pitchFamily="18" charset="2"/>
              </a:rPr>
              <a:t>指出下列各公式中的指导变元，各量词的辖域，自由出现以及约束出现的个体变元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defRPr/>
            </a:pPr>
            <a:r>
              <a:rPr lang="en-US" altLang="zh-CN" sz="2800" dirty="0"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ym typeface="Symbol" panose="05050102010706020507" pitchFamily="18" charset="2"/>
              </a:rPr>
              <a:t>）</a:t>
            </a:r>
            <a:r>
              <a:rPr lang="en-US" altLang="zh-CN" sz="2800" i="1" dirty="0"/>
              <a:t>x</a:t>
            </a:r>
            <a:r>
              <a:rPr lang="en-US" altLang="zh-CN" sz="2800" dirty="0"/>
              <a:t>(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i="1" dirty="0"/>
              <a:t>G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z</a:t>
            </a:r>
            <a:r>
              <a:rPr lang="en-US" altLang="zh-CN" sz="2800" dirty="0"/>
              <a:t>))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ym typeface="Symbol" panose="05050102010706020507" pitchFamily="18" charset="2"/>
              </a:rPr>
              <a:t>）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sym typeface="Symbol" panose="05050102010706020507" pitchFamily="18" charset="2"/>
              </a:rPr>
              <a:t>)</a:t>
            </a:r>
            <a:r>
              <a:rPr lang="en-US" altLang="zh-CN" sz="2800" i="1" dirty="0"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sym typeface="Symbol" panose="05050102010706020507" pitchFamily="18" charset="2"/>
              </a:rPr>
              <a:t>)</a:t>
            </a:r>
            <a:r>
              <a:rPr lang="en-US" altLang="zh-CN" sz="2800" i="1" dirty="0">
                <a:sym typeface="Symbol" panose="05050102010706020507" pitchFamily="18" charset="2"/>
              </a:rPr>
              <a:t>H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sym typeface="Symbol" panose="05050102010706020507" pitchFamily="18" charset="2"/>
              </a:rPr>
              <a:t>)))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defRPr/>
            </a:pP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解：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/>
              <a:t>x</a:t>
            </a:r>
            <a:r>
              <a:rPr lang="en-US" altLang="zh-CN" sz="2800" dirty="0"/>
              <a:t>(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i="1" dirty="0"/>
              <a:t>G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z</a:t>
            </a:r>
            <a:r>
              <a:rPr lang="en-US" altLang="zh-CN" sz="2800" dirty="0"/>
              <a:t>))</a:t>
            </a:r>
            <a:endParaRPr lang="en-US" altLang="zh-CN" sz="2800" dirty="0"/>
          </a:p>
          <a:p>
            <a:pPr eaLnBrk="1" hangingPunct="1">
              <a:defRPr/>
            </a:pPr>
            <a:endParaRPr lang="en-US" altLang="zh-CN" sz="2800" dirty="0"/>
          </a:p>
          <a:p>
            <a:pPr marL="625475" indent="-625475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i="1" dirty="0"/>
              <a:t>x</a:t>
            </a:r>
            <a:r>
              <a:rPr lang="zh-CN" altLang="en-US" dirty="0"/>
              <a:t>为指导变元，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))</a:t>
            </a:r>
            <a:r>
              <a:rPr lang="zh-CN" altLang="en-US" dirty="0"/>
              <a:t>为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 </a:t>
            </a:r>
            <a:r>
              <a:rPr lang="zh-CN" altLang="en-US" dirty="0"/>
              <a:t>的辖域，</a:t>
            </a:r>
            <a:endParaRPr lang="en-US" altLang="zh-CN" dirty="0"/>
          </a:p>
          <a:p>
            <a:pPr marL="625475" indent="-625475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i="1" dirty="0"/>
              <a:t>x</a:t>
            </a:r>
            <a:r>
              <a:rPr lang="zh-CN" altLang="en-US" dirty="0"/>
              <a:t>的两次出现均为约束出现，</a:t>
            </a:r>
            <a:endParaRPr lang="en-US" altLang="zh-CN" dirty="0"/>
          </a:p>
          <a:p>
            <a:pPr marL="625475" indent="-625475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i="1" dirty="0"/>
              <a:t>y</a:t>
            </a:r>
            <a:r>
              <a:rPr lang="zh-CN" altLang="en-US" dirty="0"/>
              <a:t>与 </a:t>
            </a:r>
            <a:r>
              <a:rPr lang="en-US" altLang="zh-CN" i="1" dirty="0"/>
              <a:t>z </a:t>
            </a:r>
            <a:r>
              <a:rPr lang="zh-CN" altLang="en-US" dirty="0"/>
              <a:t>均为自由出现</a:t>
            </a:r>
            <a:endParaRPr lang="zh-CN" altLang="en-US" dirty="0"/>
          </a:p>
          <a:p>
            <a:pPr lvl="1" eaLnBrk="1" hangingPunct="1">
              <a:defRPr/>
            </a:pPr>
            <a:endParaRPr lang="zh-CN" altLang="en-US" sz="2800" dirty="0"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F77393-68E0-4C93-A66B-18BBF21DC757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832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ym typeface="Symbol" panose="05050102010706020507" pitchFamily="18" charset="2"/>
              </a:rPr>
              <a:t>）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sym typeface="Symbol" panose="05050102010706020507" pitchFamily="18" charset="2"/>
              </a:rPr>
              <a:t>)</a:t>
            </a:r>
            <a:r>
              <a:rPr lang="en-US" altLang="zh-CN" sz="2800" i="1" dirty="0"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sym typeface="Symbol" panose="05050102010706020507" pitchFamily="18" charset="2"/>
              </a:rPr>
              <a:t>)</a:t>
            </a:r>
            <a:r>
              <a:rPr lang="en-US" altLang="zh-CN" sz="2800" i="1" dirty="0">
                <a:sym typeface="Symbol" panose="05050102010706020507" pitchFamily="18" charset="2"/>
              </a:rPr>
              <a:t>H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sym typeface="Symbol" panose="05050102010706020507" pitchFamily="18" charset="2"/>
              </a:rPr>
              <a:t>)))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defRPr/>
            </a:pPr>
            <a:endParaRPr lang="en-US" altLang="zh-CN" dirty="0">
              <a:sym typeface="Symbol" panose="05050102010706020507" pitchFamily="18" charset="2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中的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是指导变元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辖域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z</a:t>
            </a:r>
            <a:r>
              <a:rPr lang="en-US" altLang="zh-CN" dirty="0">
                <a:sym typeface="Symbol" panose="05050102010706020507" pitchFamily="18" charset="2"/>
              </a:rPr>
              <a:t>)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z</a:t>
            </a:r>
            <a:r>
              <a:rPr lang="en-US" altLang="zh-CN" dirty="0">
                <a:sym typeface="Symbol" panose="05050102010706020507" pitchFamily="18" charset="2"/>
              </a:rPr>
              <a:t>)))</a:t>
            </a:r>
            <a:endParaRPr lang="en-US" altLang="zh-CN" dirty="0">
              <a:sym typeface="Symbol" panose="05050102010706020507" pitchFamily="18" charset="2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中的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是指导变元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辖域为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z</a:t>
            </a:r>
            <a:r>
              <a:rPr lang="en-US" altLang="zh-CN" dirty="0">
                <a:sym typeface="Symbol" panose="05050102010706020507" pitchFamily="18" charset="2"/>
              </a:rPr>
              <a:t>))</a:t>
            </a:r>
            <a:endParaRPr lang="en-US" altLang="zh-CN" dirty="0">
              <a:sym typeface="Symbol" panose="05050102010706020507" pitchFamily="18" charset="2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次出现都是约束出现</a:t>
            </a:r>
            <a:endParaRPr lang="en-US" altLang="zh-CN" dirty="0">
              <a:sym typeface="Symbol" panose="05050102010706020507" pitchFamily="18" charset="2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的第一次出现是自由出现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后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次是约束出现</a:t>
            </a:r>
            <a:endParaRPr lang="en-US" altLang="zh-CN" dirty="0">
              <a:sym typeface="Symbol" panose="05050102010706020507" pitchFamily="18" charset="2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i="1" dirty="0">
                <a:sym typeface="Symbol" panose="05050102010706020507" pitchFamily="18" charset="2"/>
              </a:rPr>
              <a:t>z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次出现都是自由出现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zh-CN" altLang="en-US" sz="2400" dirty="0"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Lucida Sans Unicode" panose="020B0602030504020204" pitchFamily="34" charset="0"/>
                <a:cs typeface="Lucida Sans Unicode" panose="020B0602030504020204" pitchFamily="34" charset="0"/>
              </a:rPr>
              <a:t>公式的解释</a:t>
            </a:r>
            <a:endParaRPr lang="zh-CN" altLang="en-US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96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sp>
        <p:nvSpPr>
          <p:cNvPr id="69636" name="Rectangle 7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sp>
        <p:nvSpPr>
          <p:cNvPr id="6963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grpSp>
        <p:nvGrpSpPr>
          <p:cNvPr id="63495" name="Group 22"/>
          <p:cNvGrpSpPr/>
          <p:nvPr/>
        </p:nvGrpSpPr>
        <p:grpSpPr bwMode="auto">
          <a:xfrm>
            <a:off x="250825" y="1128713"/>
            <a:ext cx="8713788" cy="4005263"/>
            <a:chOff x="158" y="711"/>
            <a:chExt cx="5489" cy="2523"/>
          </a:xfrm>
        </p:grpSpPr>
        <p:graphicFrame>
          <p:nvGraphicFramePr>
            <p:cNvPr id="69644" name="Object 16"/>
            <p:cNvGraphicFramePr>
              <a:graphicFrameLocks noChangeAspect="1"/>
            </p:cNvGraphicFramePr>
            <p:nvPr/>
          </p:nvGraphicFramePr>
          <p:xfrm>
            <a:off x="839" y="2659"/>
            <a:ext cx="21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公式" r:id="rId1" imgW="165100" imgH="203200" progId="Equation.3">
                    <p:embed/>
                  </p:oleObj>
                </mc:Choice>
                <mc:Fallback>
                  <p:oleObj name="公式" r:id="rId1" imgW="165100" imgH="2032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2659"/>
                          <a:ext cx="215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5" name="Object 4"/>
            <p:cNvGraphicFramePr>
              <a:graphicFrameLocks noChangeAspect="1"/>
            </p:cNvGraphicFramePr>
            <p:nvPr/>
          </p:nvGraphicFramePr>
          <p:xfrm>
            <a:off x="4468" y="1253"/>
            <a:ext cx="16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3" imgW="127000" imgH="215265" progId="Equation.3">
                    <p:embed/>
                  </p:oleObj>
                </mc:Choice>
                <mc:Fallback>
                  <p:oleObj name="公式" r:id="rId3" imgW="127000" imgH="21526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1253"/>
                          <a:ext cx="16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6" name="Object 6"/>
            <p:cNvGraphicFramePr>
              <a:graphicFrameLocks noChangeAspect="1"/>
            </p:cNvGraphicFramePr>
            <p:nvPr/>
          </p:nvGraphicFramePr>
          <p:xfrm>
            <a:off x="2064" y="2066"/>
            <a:ext cx="217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5" imgW="165100" imgH="241300" progId="Equation.3">
                    <p:embed/>
                  </p:oleObj>
                </mc:Choice>
                <mc:Fallback>
                  <p:oleObj name="公式" r:id="rId5" imgW="1651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066"/>
                          <a:ext cx="217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7" name="Object 8"/>
            <p:cNvGraphicFramePr>
              <a:graphicFrameLocks noChangeAspect="1"/>
            </p:cNvGraphicFramePr>
            <p:nvPr/>
          </p:nvGraphicFramePr>
          <p:xfrm>
            <a:off x="5148" y="2361"/>
            <a:ext cx="20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7" imgW="165100" imgH="203200" progId="Equation.3">
                    <p:embed/>
                  </p:oleObj>
                </mc:Choice>
                <mc:Fallback>
                  <p:oleObj name="公式" r:id="rId7" imgW="165100" imgH="203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2361"/>
                          <a:ext cx="209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8" name="Text Box 15"/>
            <p:cNvSpPr txBox="1">
              <a:spLocks noChangeArrowheads="1"/>
            </p:cNvSpPr>
            <p:nvPr/>
          </p:nvSpPr>
          <p:spPr bwMode="auto">
            <a:xfrm>
              <a:off x="158" y="711"/>
              <a:ext cx="5489" cy="2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zh-CN" altLang="en-US" dirty="0">
                  <a:solidFill>
                    <a:srgbClr val="A50021"/>
                  </a:solidFill>
                </a:rPr>
                <a:t>定义</a:t>
              </a:r>
              <a:r>
                <a:rPr lang="en-US" altLang="zh-CN" dirty="0">
                  <a:solidFill>
                    <a:srgbClr val="A50021"/>
                  </a:solidFill>
                </a:rPr>
                <a:t>4.7</a:t>
              </a:r>
              <a:r>
                <a:rPr lang="en-US" altLang="zh-CN" dirty="0">
                  <a:solidFill>
                    <a:srgbClr val="000000"/>
                  </a:solidFill>
                </a:rPr>
                <a:t> </a:t>
              </a:r>
              <a:r>
                <a:rPr lang="zh-CN" altLang="en-US" dirty="0">
                  <a:solidFill>
                    <a:srgbClr val="000000"/>
                  </a:solidFill>
                </a:rPr>
                <a:t>设</a:t>
              </a:r>
              <a:r>
                <a:rPr lang="en-US" altLang="zh-CN" dirty="0">
                  <a:solidFill>
                    <a:srgbClr val="C00000"/>
                  </a:solidFill>
                  <a:latin typeface="Palace Script MT" panose="030303020206070C0B05" pitchFamily="66" charset="0"/>
                </a:rPr>
                <a:t>L</a:t>
              </a:r>
              <a:r>
                <a:rPr lang="en-US" altLang="zh-CN" i="1" dirty="0">
                  <a:solidFill>
                    <a:srgbClr val="C00000"/>
                  </a:solidFill>
                </a:rPr>
                <a:t> </a:t>
              </a:r>
              <a:r>
                <a:rPr lang="zh-CN" altLang="en-US" dirty="0">
                  <a:solidFill>
                    <a:srgbClr val="000000"/>
                  </a:solidFill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</a:rPr>
                <a:t>L</a:t>
              </a:r>
              <a:r>
                <a:rPr lang="zh-CN" altLang="en-US" dirty="0">
                  <a:solidFill>
                    <a:srgbClr val="000000"/>
                  </a:solidFill>
                </a:rPr>
                <a:t>生成的一阶语言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en-US" altLang="zh-CN" dirty="0">
                  <a:solidFill>
                    <a:srgbClr val="C00000"/>
                  </a:solidFill>
                  <a:latin typeface="Palace Script MT" panose="030303020206070C0B05" pitchFamily="66" charset="0"/>
                </a:rPr>
                <a:t>L</a:t>
              </a:r>
              <a:r>
                <a:rPr lang="en-US" altLang="zh-CN" dirty="0">
                  <a:solidFill>
                    <a:srgbClr val="000000"/>
                  </a:solidFill>
                  <a:latin typeface="Palace Script MT" panose="030303020206070C0B05" pitchFamily="66" charset="0"/>
                </a:rPr>
                <a:t> </a:t>
              </a:r>
              <a:r>
                <a:rPr lang="zh-CN" altLang="en-US" dirty="0">
                  <a:solidFill>
                    <a:srgbClr val="000000"/>
                  </a:solidFill>
                </a:rPr>
                <a:t>的</a:t>
              </a:r>
              <a:r>
                <a:rPr lang="zh-CN" altLang="en-US" dirty="0">
                  <a:solidFill>
                    <a:srgbClr val="A50021"/>
                  </a:solidFill>
                </a:rPr>
                <a:t>解释</a:t>
              </a:r>
              <a:r>
                <a:rPr lang="en-US" altLang="zh-CN" i="1" dirty="0">
                  <a:solidFill>
                    <a:srgbClr val="000000"/>
                  </a:solidFill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</a:rPr>
                <a:t>4</a:t>
              </a:r>
              <a:r>
                <a:rPr lang="zh-CN" altLang="en-US" dirty="0">
                  <a:solidFill>
                    <a:srgbClr val="000000"/>
                  </a:solidFill>
                </a:rPr>
                <a:t>部分组成：</a:t>
              </a:r>
              <a:endParaRPr lang="zh-CN" altLang="en-US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zh-CN" altLang="en-US" dirty="0">
                  <a:solidFill>
                    <a:srgbClr val="000000"/>
                  </a:solidFill>
                </a:rPr>
                <a:t>   </a:t>
              </a:r>
              <a:r>
                <a:rPr lang="en-US" altLang="zh-CN" dirty="0">
                  <a:solidFill>
                    <a:srgbClr val="000000"/>
                  </a:solidFill>
                </a:rPr>
                <a:t>(a) </a:t>
              </a:r>
              <a:r>
                <a:rPr lang="zh-CN" altLang="en-US" dirty="0">
                  <a:solidFill>
                    <a:srgbClr val="000000"/>
                  </a:solidFill>
                </a:rPr>
                <a:t>非空个体域 </a:t>
              </a:r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i="1" baseline="-25000" dirty="0">
                  <a:solidFill>
                    <a:srgbClr val="000000"/>
                  </a:solidFill>
                </a:rPr>
                <a:t>I </a:t>
              </a:r>
              <a:r>
                <a:rPr lang="en-US" altLang="zh-CN" i="1" dirty="0">
                  <a:solidFill>
                    <a:srgbClr val="000000"/>
                  </a:solidFill>
                </a:rPr>
                <a:t>.</a:t>
              </a:r>
              <a:endParaRPr lang="en-US" altLang="zh-CN" i="1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dirty="0">
                  <a:solidFill>
                    <a:srgbClr val="000000"/>
                  </a:solidFill>
                </a:rPr>
                <a:t>   (b)</a:t>
              </a:r>
              <a:r>
                <a:rPr lang="en-US" altLang="zh-CN" i="1" dirty="0">
                  <a:solidFill>
                    <a:srgbClr val="000000"/>
                  </a:solidFill>
                </a:rPr>
                <a:t> </a:t>
              </a:r>
              <a:r>
                <a:rPr lang="zh-CN" altLang="en-US" dirty="0">
                  <a:solidFill>
                    <a:srgbClr val="000000"/>
                  </a:solidFill>
                </a:rPr>
                <a:t>对每一个个体常项符号</a:t>
              </a:r>
              <a:r>
                <a:rPr lang="en-US" altLang="zh-CN" i="1" dirty="0" err="1">
                  <a:solidFill>
                    <a:srgbClr val="000000"/>
                  </a:solidFill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sym typeface="Symbol" panose="05050102010706020507" pitchFamily="18" charset="2"/>
                </a:rPr>
                <a:t></a:t>
              </a:r>
              <a:r>
                <a:rPr lang="en-US" altLang="zh-CN" i="1" dirty="0" err="1">
                  <a:solidFill>
                    <a:srgbClr val="000000"/>
                  </a:solidFill>
                  <a:sym typeface="Symbol" panose="05050102010706020507" pitchFamily="18" charset="2"/>
                </a:rPr>
                <a:t>L</a:t>
              </a:r>
              <a:r>
                <a:rPr lang="en-US" altLang="zh-CN" dirty="0">
                  <a:solidFill>
                    <a:srgbClr val="000000"/>
                  </a:solidFill>
                  <a:sym typeface="Symbol" panose="05050102010706020507" pitchFamily="18" charset="2"/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有一个    </a:t>
              </a:r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i="1" baseline="-25000" dirty="0">
                  <a:solidFill>
                    <a:srgbClr val="000000"/>
                  </a:solidFill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</a:rPr>
                <a:t>称</a:t>
              </a:r>
              <a:r>
                <a:rPr lang="zh-CN" altLang="en-US" i="1" dirty="0">
                  <a:solidFill>
                    <a:srgbClr val="000000"/>
                  </a:solidFill>
                </a:rPr>
                <a:t>     </a:t>
              </a:r>
              <a:r>
                <a:rPr lang="zh-CN" altLang="en-US" dirty="0">
                  <a:solidFill>
                    <a:srgbClr val="000000"/>
                  </a:solidFill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</a:rPr>
                <a:t>I     </a:t>
              </a:r>
              <a:endParaRPr lang="en-US" altLang="zh-CN" i="1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i="1" dirty="0">
                  <a:solidFill>
                    <a:srgbClr val="000000"/>
                  </a:solidFill>
                </a:rPr>
                <a:t>         </a:t>
              </a:r>
              <a:r>
                <a:rPr lang="zh-CN" altLang="en-US" dirty="0">
                  <a:solidFill>
                    <a:srgbClr val="000000"/>
                  </a:solidFill>
                </a:rPr>
                <a:t>中的解释</a:t>
              </a:r>
              <a:r>
                <a:rPr lang="en-US" altLang="zh-CN" dirty="0">
                  <a:solidFill>
                    <a:srgbClr val="000000"/>
                  </a:solidFill>
                </a:rPr>
                <a:t>.</a:t>
              </a:r>
              <a:endParaRPr lang="en-US" altLang="zh-CN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dirty="0">
                  <a:solidFill>
                    <a:srgbClr val="000000"/>
                  </a:solidFill>
                </a:rPr>
                <a:t>   (c) </a:t>
              </a:r>
              <a:r>
                <a:rPr lang="zh-CN" alt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对每一个</a:t>
              </a:r>
              <a:r>
                <a:rPr lang="en-US" altLang="zh-CN" i="1" dirty="0">
                  <a:solidFill>
                    <a:srgbClr val="000000"/>
                  </a:solidFill>
                </a:rPr>
                <a:t>n</a:t>
              </a:r>
              <a:r>
                <a:rPr lang="zh-CN" altLang="en-US" dirty="0">
                  <a:solidFill>
                    <a:srgbClr val="000000"/>
                  </a:solidFill>
                </a:rPr>
                <a:t>元函数符号</a:t>
              </a:r>
              <a:r>
                <a:rPr lang="en-US" altLang="zh-CN" i="1" dirty="0" err="1">
                  <a:solidFill>
                    <a:srgbClr val="000000"/>
                  </a:solidFill>
                </a:rPr>
                <a:t>f</a:t>
              </a:r>
              <a:r>
                <a:rPr lang="en-US" altLang="zh-CN" dirty="0" err="1">
                  <a:solidFill>
                    <a:srgbClr val="000000"/>
                  </a:solidFill>
                  <a:sym typeface="Symbol" panose="05050102010706020507" pitchFamily="18" charset="2"/>
                </a:rPr>
                <a:t></a:t>
              </a:r>
              <a:r>
                <a:rPr lang="en-US" altLang="zh-CN" i="1" dirty="0" err="1">
                  <a:solidFill>
                    <a:srgbClr val="000000"/>
                  </a:solidFill>
                  <a:sym typeface="Symbol" panose="05050102010706020507" pitchFamily="18" charset="2"/>
                </a:rPr>
                <a:t>L</a:t>
              </a:r>
              <a:r>
                <a:rPr lang="en-US" altLang="zh-CN" dirty="0">
                  <a:solidFill>
                    <a:srgbClr val="000000"/>
                  </a:solidFill>
                  <a:sym typeface="Symbol" panose="05050102010706020507" pitchFamily="18" charset="2"/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有一个</a:t>
              </a:r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i="1" baseline="-25000" dirty="0">
                  <a:solidFill>
                    <a:srgbClr val="000000"/>
                  </a:solidFill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</a:rPr>
                <a:t>上的</a:t>
              </a:r>
              <a:r>
                <a:rPr lang="en-US" altLang="zh-CN" i="1" dirty="0">
                  <a:solidFill>
                    <a:srgbClr val="000000"/>
                  </a:solidFill>
                </a:rPr>
                <a:t>n</a:t>
              </a:r>
              <a:r>
                <a:rPr lang="zh-CN" altLang="en-US" dirty="0">
                  <a:solidFill>
                    <a:srgbClr val="000000"/>
                  </a:solidFill>
                </a:rPr>
                <a:t>元函数               </a:t>
              </a:r>
              <a:endParaRPr lang="zh-CN" altLang="en-US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zh-CN" altLang="en-US" dirty="0">
                  <a:solidFill>
                    <a:srgbClr val="000000"/>
                  </a:solidFill>
                </a:rPr>
                <a:t>                                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</a:rPr>
                <a:t>称</a:t>
              </a:r>
              <a:r>
                <a:rPr lang="zh-CN" altLang="en-US" i="1" dirty="0">
                  <a:solidFill>
                    <a:srgbClr val="000000"/>
                  </a:solidFill>
                </a:rPr>
                <a:t>     </a:t>
              </a:r>
              <a:r>
                <a:rPr lang="zh-CN" altLang="en-US" dirty="0">
                  <a:solidFill>
                    <a:srgbClr val="000000"/>
                  </a:solidFill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</a:rPr>
                <a:t>f</a:t>
              </a:r>
              <a:r>
                <a:rPr lang="zh-CN" altLang="en-US" dirty="0">
                  <a:solidFill>
                    <a:srgbClr val="000000"/>
                  </a:solidFill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</a:rPr>
                <a:t>中的解释</a:t>
              </a:r>
              <a:r>
                <a:rPr lang="en-US" altLang="zh-CN" dirty="0">
                  <a:solidFill>
                    <a:srgbClr val="000000"/>
                  </a:solidFill>
                </a:rPr>
                <a:t>.</a:t>
              </a:r>
              <a:endParaRPr lang="en-US" altLang="zh-CN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b="0" dirty="0"/>
                <a:t>   </a:t>
              </a:r>
              <a:r>
                <a:rPr lang="en-US" altLang="zh-CN" dirty="0"/>
                <a:t>(d)</a:t>
              </a:r>
              <a:r>
                <a:rPr lang="en-US" altLang="zh-CN" b="0" dirty="0"/>
                <a:t> </a:t>
              </a:r>
              <a:r>
                <a:rPr lang="zh-CN" altLang="en-US" dirty="0">
                  <a:solidFill>
                    <a:srgbClr val="000000"/>
                  </a:solidFill>
                </a:rPr>
                <a:t>对每一个</a:t>
              </a:r>
              <a:r>
                <a:rPr lang="en-US" altLang="zh-CN" i="1" dirty="0">
                  <a:solidFill>
                    <a:srgbClr val="000000"/>
                  </a:solidFill>
                </a:rPr>
                <a:t>n</a:t>
              </a:r>
              <a:r>
                <a:rPr lang="zh-CN" altLang="en-US" dirty="0">
                  <a:solidFill>
                    <a:srgbClr val="000000"/>
                  </a:solidFill>
                </a:rPr>
                <a:t>元谓词符号</a:t>
              </a:r>
              <a:r>
                <a:rPr lang="en-US" altLang="zh-CN" i="1" dirty="0">
                  <a:solidFill>
                    <a:srgbClr val="000000"/>
                  </a:solidFill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sym typeface="Symbol" panose="05050102010706020507" pitchFamily="18" charset="2"/>
                </a:rPr>
                <a:t></a:t>
              </a:r>
              <a:r>
                <a:rPr lang="en-US" altLang="zh-CN" i="1" dirty="0">
                  <a:solidFill>
                    <a:srgbClr val="000000"/>
                  </a:solidFill>
                  <a:sym typeface="Symbol" panose="05050102010706020507" pitchFamily="18" charset="2"/>
                </a:rPr>
                <a:t>L</a:t>
              </a:r>
              <a:r>
                <a:rPr lang="en-US" altLang="zh-CN" dirty="0">
                  <a:solidFill>
                    <a:srgbClr val="000000"/>
                  </a:solidFill>
                  <a:sym typeface="Symbol" panose="05050102010706020507" pitchFamily="18" charset="2"/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有一个</a:t>
              </a:r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i="1" baseline="-25000" dirty="0">
                  <a:solidFill>
                    <a:srgbClr val="000000"/>
                  </a:solidFill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</a:rPr>
                <a:t>上的</a:t>
              </a:r>
              <a:r>
                <a:rPr lang="en-US" altLang="zh-CN" i="1" dirty="0">
                  <a:solidFill>
                    <a:srgbClr val="000000"/>
                  </a:solidFill>
                </a:rPr>
                <a:t>n</a:t>
              </a:r>
              <a:r>
                <a:rPr lang="zh-CN" altLang="en-US" dirty="0">
                  <a:solidFill>
                    <a:srgbClr val="000000"/>
                  </a:solidFill>
                </a:rPr>
                <a:t>元谓词常项   </a:t>
              </a:r>
              <a:r>
                <a:rPr lang="en-US" altLang="zh-CN" dirty="0">
                  <a:solidFill>
                    <a:srgbClr val="000000"/>
                  </a:solidFill>
                </a:rPr>
                <a:t>,</a:t>
              </a:r>
              <a:endParaRPr lang="en-US" altLang="zh-CN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dirty="0">
                  <a:solidFill>
                    <a:srgbClr val="000000"/>
                  </a:solidFill>
                </a:rPr>
                <a:t>         </a:t>
              </a:r>
              <a:r>
                <a:rPr lang="zh-CN" altLang="en-US" dirty="0">
                  <a:solidFill>
                    <a:srgbClr val="000000"/>
                  </a:solidFill>
                </a:rPr>
                <a:t>称</a:t>
              </a:r>
              <a:r>
                <a:rPr lang="zh-CN" altLang="en-US" i="1" dirty="0">
                  <a:solidFill>
                    <a:srgbClr val="000000"/>
                  </a:solidFill>
                </a:rPr>
                <a:t>     </a:t>
              </a:r>
              <a:r>
                <a:rPr lang="zh-CN" altLang="en-US" dirty="0">
                  <a:solidFill>
                    <a:srgbClr val="000000"/>
                  </a:solidFill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</a:rPr>
                <a:t>F</a:t>
              </a:r>
              <a:r>
                <a:rPr lang="zh-CN" altLang="en-US" dirty="0">
                  <a:solidFill>
                    <a:srgbClr val="000000"/>
                  </a:solidFill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</a:rPr>
                <a:t>中的解释</a:t>
              </a:r>
              <a:r>
                <a:rPr lang="en-US" altLang="zh-CN" dirty="0">
                  <a:solidFill>
                    <a:srgbClr val="000000"/>
                  </a:solidFill>
                </a:rPr>
                <a:t>.</a:t>
              </a:r>
              <a:endParaRPr lang="en-US" altLang="zh-CN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i="1" dirty="0"/>
                <a:t>   </a:t>
              </a:r>
              <a:r>
                <a:rPr lang="en-US" altLang="zh-CN" i="1" dirty="0">
                  <a:solidFill>
                    <a:srgbClr val="0066FF"/>
                  </a:solidFill>
                </a:rPr>
                <a:t>I</a:t>
              </a:r>
              <a:r>
                <a:rPr lang="zh-CN" altLang="en-US" dirty="0">
                  <a:solidFill>
                    <a:srgbClr val="0066FF"/>
                  </a:solidFill>
                </a:rPr>
                <a:t>下的赋值</a:t>
              </a:r>
              <a:r>
                <a:rPr lang="zh-CN" altLang="en-US" dirty="0">
                  <a:solidFill>
                    <a:srgbClr val="0066FF"/>
                  </a:solidFill>
                  <a:sym typeface="Symbol" panose="05050102010706020507" pitchFamily="18" charset="2"/>
                </a:rPr>
                <a:t></a:t>
              </a:r>
              <a:r>
                <a:rPr lang="en-US" altLang="zh-CN" dirty="0">
                  <a:solidFill>
                    <a:srgbClr val="0066FF"/>
                  </a:solidFill>
                  <a:sym typeface="Symbol" panose="05050102010706020507" pitchFamily="18" charset="2"/>
                </a:rPr>
                <a:t>: </a:t>
              </a:r>
              <a:r>
                <a:rPr lang="zh-CN" altLang="en-US" dirty="0">
                  <a:solidFill>
                    <a:srgbClr val="0066FF"/>
                  </a:solidFill>
                  <a:sym typeface="Symbol" panose="05050102010706020507" pitchFamily="18" charset="2"/>
                </a:rPr>
                <a:t>对每个个体变项符号</a:t>
              </a:r>
              <a:r>
                <a:rPr lang="en-US" altLang="zh-CN" i="1" dirty="0">
                  <a:solidFill>
                    <a:srgbClr val="0066FF"/>
                  </a:solidFill>
                  <a:sym typeface="Symbol" panose="05050102010706020507" pitchFamily="18" charset="2"/>
                </a:rPr>
                <a:t>x</a:t>
              </a:r>
              <a:r>
                <a:rPr lang="zh-CN" altLang="en-US" dirty="0">
                  <a:solidFill>
                    <a:srgbClr val="0066FF"/>
                  </a:solidFill>
                  <a:sym typeface="Symbol" panose="05050102010706020507" pitchFamily="18" charset="2"/>
                </a:rPr>
                <a:t>指定</a:t>
              </a:r>
              <a:r>
                <a:rPr lang="en-US" altLang="zh-CN" i="1" dirty="0">
                  <a:solidFill>
                    <a:srgbClr val="0066FF"/>
                  </a:solidFill>
                </a:rPr>
                <a:t>D</a:t>
              </a:r>
              <a:r>
                <a:rPr lang="en-US" altLang="zh-CN" i="1" baseline="-25000" dirty="0">
                  <a:solidFill>
                    <a:srgbClr val="0066FF"/>
                  </a:solidFill>
                </a:rPr>
                <a:t>I</a:t>
              </a:r>
              <a:r>
                <a:rPr lang="zh-CN" altLang="en-US" dirty="0">
                  <a:solidFill>
                    <a:srgbClr val="0066FF"/>
                  </a:solidFill>
                  <a:sym typeface="Symbol" panose="05050102010706020507" pitchFamily="18" charset="2"/>
                </a:rPr>
                <a:t>中的一个值</a:t>
              </a:r>
              <a:r>
                <a:rPr lang="en-US" altLang="zh-CN" dirty="0">
                  <a:solidFill>
                    <a:srgbClr val="0066FF"/>
                  </a:solidFill>
                  <a:sym typeface="Symbol" panose="05050102010706020507" pitchFamily="18" charset="2"/>
                </a:rPr>
                <a:t>(</a:t>
              </a:r>
              <a:r>
                <a:rPr lang="en-US" altLang="zh-CN" i="1" dirty="0">
                  <a:solidFill>
                    <a:srgbClr val="0066FF"/>
                  </a:solidFill>
                  <a:sym typeface="Symbol" panose="05050102010706020507" pitchFamily="18" charset="2"/>
                </a:rPr>
                <a:t>x</a:t>
              </a:r>
              <a:r>
                <a:rPr lang="en-US" altLang="zh-CN" dirty="0">
                  <a:solidFill>
                    <a:srgbClr val="0066FF"/>
                  </a:solidFill>
                  <a:sym typeface="Symbol" panose="05050102010706020507" pitchFamily="18" charset="2"/>
                </a:rPr>
                <a:t>)</a:t>
              </a:r>
              <a:r>
                <a:rPr lang="zh-CN" altLang="en-US" dirty="0">
                  <a:solidFill>
                    <a:srgbClr val="0066FF"/>
                  </a:solidFill>
                  <a:sym typeface="Symbol" panose="05050102010706020507" pitchFamily="18" charset="2"/>
                </a:rPr>
                <a:t> </a:t>
              </a:r>
              <a:r>
                <a:rPr lang="en-US" altLang="zh-CN" dirty="0">
                  <a:solidFill>
                    <a:srgbClr val="0066FF"/>
                  </a:solidFill>
                  <a:sym typeface="Symbol" panose="05050102010706020507" pitchFamily="18" charset="2"/>
                </a:rPr>
                <a:t>.</a:t>
              </a:r>
              <a:endParaRPr lang="en-US" altLang="zh-CN" b="0" dirty="0">
                <a:solidFill>
                  <a:srgbClr val="0066FF"/>
                </a:solidFill>
              </a:endParaRPr>
            </a:p>
          </p:txBody>
        </p:sp>
        <p:graphicFrame>
          <p:nvGraphicFramePr>
            <p:cNvPr id="69649" name="Object 18"/>
            <p:cNvGraphicFramePr>
              <a:graphicFrameLocks noChangeAspect="1"/>
            </p:cNvGraphicFramePr>
            <p:nvPr/>
          </p:nvGraphicFramePr>
          <p:xfrm>
            <a:off x="3651" y="1253"/>
            <a:ext cx="167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9" imgW="127000" imgH="215265" progId="Equation.3">
                    <p:embed/>
                  </p:oleObj>
                </mc:Choice>
                <mc:Fallback>
                  <p:oleObj name="公式" r:id="rId9" imgW="127000" imgH="21526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253"/>
                          <a:ext cx="167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50" name="Object 20"/>
            <p:cNvGraphicFramePr>
              <a:graphicFrameLocks noChangeAspect="1"/>
            </p:cNvGraphicFramePr>
            <p:nvPr/>
          </p:nvGraphicFramePr>
          <p:xfrm>
            <a:off x="612" y="2069"/>
            <a:ext cx="1101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公式" r:id="rId10" imgW="838200" imgH="241300" progId="Equation.3">
                    <p:embed/>
                  </p:oleObj>
                </mc:Choice>
                <mc:Fallback>
                  <p:oleObj name="公式" r:id="rId10" imgW="838200" imgH="2413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069"/>
                          <a:ext cx="1101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496" name="Group 31"/>
          <p:cNvGrpSpPr/>
          <p:nvPr/>
        </p:nvGrpSpPr>
        <p:grpSpPr bwMode="auto">
          <a:xfrm>
            <a:off x="468313" y="5118100"/>
            <a:ext cx="8208962" cy="1643063"/>
            <a:chOff x="315" y="2933"/>
            <a:chExt cx="5171" cy="1035"/>
          </a:xfrm>
        </p:grpSpPr>
        <p:sp>
          <p:nvSpPr>
            <p:cNvPr id="69640" name="Text Box 28"/>
            <p:cNvSpPr txBox="1">
              <a:spLocks noChangeArrowheads="1"/>
            </p:cNvSpPr>
            <p:nvPr/>
          </p:nvSpPr>
          <p:spPr bwMode="auto">
            <a:xfrm>
              <a:off x="315" y="2933"/>
              <a:ext cx="5171" cy="10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dirty="0">
                  <a:solidFill>
                    <a:srgbClr val="000000"/>
                  </a:solidFill>
                </a:rPr>
                <a:t>     </a:t>
              </a:r>
              <a:r>
                <a:rPr lang="zh-CN" altLang="en-US" dirty="0">
                  <a:solidFill>
                    <a:srgbClr val="000000"/>
                  </a:solidFill>
                </a:rPr>
                <a:t>设公式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</a:rPr>
                <a:t>取个体域</a:t>
              </a:r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i="1" baseline="-25000" dirty="0">
                  <a:solidFill>
                    <a:srgbClr val="000000"/>
                  </a:solidFill>
                </a:rPr>
                <a:t>I </a:t>
              </a:r>
              <a:r>
                <a:rPr lang="en-US" altLang="zh-CN" i="1" dirty="0">
                  <a:solidFill>
                    <a:srgbClr val="000000"/>
                  </a:solidFill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</a:rPr>
                <a:t>把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</a:rPr>
                <a:t>中的个体常项符号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</a:rPr>
                <a:t>、函数符</a:t>
              </a:r>
              <a:endParaRPr lang="zh-CN" altLang="en-US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zh-CN" altLang="en-US" dirty="0">
                  <a:solidFill>
                    <a:srgbClr val="000000"/>
                  </a:solidFill>
                </a:rPr>
                <a:t>号</a:t>
              </a:r>
              <a:r>
                <a:rPr lang="en-US" altLang="zh-CN" i="1" dirty="0">
                  <a:solidFill>
                    <a:srgbClr val="000000"/>
                  </a:solidFill>
                </a:rPr>
                <a:t>f</a:t>
              </a:r>
              <a:r>
                <a:rPr lang="zh-CN" altLang="en-US" dirty="0">
                  <a:solidFill>
                    <a:srgbClr val="000000"/>
                  </a:solidFill>
                </a:rPr>
                <a:t>、谓词符号</a:t>
              </a:r>
              <a:r>
                <a:rPr lang="en-US" altLang="zh-CN" i="1" dirty="0">
                  <a:solidFill>
                    <a:srgbClr val="000000"/>
                  </a:solidFill>
                </a:rPr>
                <a:t>F</a:t>
              </a:r>
              <a:r>
                <a:rPr lang="zh-CN" altLang="en-US" dirty="0">
                  <a:solidFill>
                    <a:srgbClr val="000000"/>
                  </a:solidFill>
                </a:rPr>
                <a:t>分别替换成它们在</a:t>
              </a:r>
              <a:r>
                <a:rPr lang="en-US" altLang="zh-CN" i="1" dirty="0">
                  <a:solidFill>
                    <a:srgbClr val="000000"/>
                  </a:solidFill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</a:rPr>
                <a:t>中的解释   、    、    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zh-CN" altLang="en-US" dirty="0">
                  <a:solidFill>
                    <a:srgbClr val="0066FF"/>
                  </a:solidFill>
                </a:rPr>
                <a:t>且将</a:t>
              </a:r>
              <a:r>
                <a:rPr lang="en-US" altLang="zh-CN" i="1" dirty="0">
                  <a:solidFill>
                    <a:srgbClr val="0066FF"/>
                  </a:solidFill>
                </a:rPr>
                <a:t>A</a:t>
              </a:r>
              <a:r>
                <a:rPr lang="zh-CN" altLang="en-US" dirty="0">
                  <a:solidFill>
                    <a:srgbClr val="0066FF"/>
                  </a:solidFill>
                </a:rPr>
                <a:t>中自由出现的</a:t>
              </a:r>
              <a:r>
                <a:rPr lang="zh-CN" altLang="en-US" dirty="0">
                  <a:solidFill>
                    <a:srgbClr val="0066FF"/>
                  </a:solidFill>
                  <a:sym typeface="Symbol" panose="05050102010706020507" pitchFamily="18" charset="2"/>
                </a:rPr>
                <a:t>个体变项符号</a:t>
              </a:r>
              <a:r>
                <a:rPr lang="en-US" altLang="zh-CN" i="1" dirty="0">
                  <a:solidFill>
                    <a:srgbClr val="0066FF"/>
                  </a:solidFill>
                  <a:sym typeface="Symbol" panose="05050102010706020507" pitchFamily="18" charset="2"/>
                </a:rPr>
                <a:t>x</a:t>
              </a:r>
              <a:r>
                <a:rPr lang="zh-CN" altLang="en-US" dirty="0">
                  <a:solidFill>
                    <a:srgbClr val="0066FF"/>
                  </a:solidFill>
                </a:rPr>
                <a:t>替换成</a:t>
              </a:r>
              <a:r>
                <a:rPr lang="zh-CN" altLang="en-US" dirty="0">
                  <a:solidFill>
                    <a:srgbClr val="0066FF"/>
                  </a:solidFill>
                  <a:sym typeface="Symbol" panose="05050102010706020507" pitchFamily="18" charset="2"/>
                </a:rPr>
                <a:t></a:t>
              </a:r>
              <a:r>
                <a:rPr lang="en-US" altLang="zh-CN" dirty="0">
                  <a:solidFill>
                    <a:srgbClr val="0066FF"/>
                  </a:solidFill>
                  <a:sym typeface="Symbol" panose="05050102010706020507" pitchFamily="18" charset="2"/>
                </a:rPr>
                <a:t>(</a:t>
              </a:r>
              <a:r>
                <a:rPr lang="en-US" altLang="zh-CN" i="1" dirty="0">
                  <a:solidFill>
                    <a:srgbClr val="0066FF"/>
                  </a:solidFill>
                  <a:sym typeface="Symbol" panose="05050102010706020507" pitchFamily="18" charset="2"/>
                </a:rPr>
                <a:t>x</a:t>
              </a:r>
              <a:r>
                <a:rPr lang="en-US" altLang="zh-CN" dirty="0">
                  <a:solidFill>
                    <a:srgbClr val="0066FF"/>
                  </a:solidFill>
                  <a:sym typeface="Symbol" panose="05050102010706020507" pitchFamily="18" charset="2"/>
                </a:rPr>
                <a:t>) </a:t>
              </a:r>
              <a:r>
                <a:rPr lang="zh-CN" altLang="en-US" dirty="0">
                  <a:solidFill>
                    <a:srgbClr val="000000"/>
                  </a:solidFill>
                </a:rPr>
                <a:t>，则称所得到的公式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sym typeface="Symbol" panose="05050102010706020507" pitchFamily="18" charset="2"/>
                </a:rPr>
                <a:t>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  <a:sym typeface="Symbol" panose="05050102010706020507" pitchFamily="18" charset="2"/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sym typeface="Symbol" panose="05050102010706020507" pitchFamily="18" charset="2"/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下的</a:t>
              </a:r>
              <a:r>
                <a:rPr lang="zh-CN" altLang="en-US" dirty="0">
                  <a:solidFill>
                    <a:srgbClr val="A50021"/>
                  </a:solidFill>
                  <a:sym typeface="Symbol" panose="05050102010706020507" pitchFamily="18" charset="2"/>
                </a:rPr>
                <a:t>解释</a:t>
              </a:r>
              <a:r>
                <a:rPr lang="en-US" altLang="zh-CN" dirty="0">
                  <a:solidFill>
                    <a:srgbClr val="000000"/>
                  </a:solidFill>
                  <a:sym typeface="Symbol" panose="05050102010706020507" pitchFamily="18" charset="2"/>
                </a:rPr>
                <a:t>, 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sym typeface="Symbol" panose="05050102010706020507" pitchFamily="18" charset="2"/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sym typeface="Symbol" panose="05050102010706020507" pitchFamily="18" charset="2"/>
                </a:rPr>
                <a:t>I</a:t>
              </a:r>
              <a:r>
                <a:rPr lang="zh-CN" altLang="en-US" dirty="0">
                  <a:solidFill>
                    <a:srgbClr val="000000"/>
                  </a:solidFill>
                  <a:sym typeface="Symbol" panose="05050102010706020507" pitchFamily="18" charset="2"/>
                </a:rPr>
                <a:t>下</a:t>
              </a:r>
              <a:r>
                <a:rPr lang="zh-CN" altLang="en-US" dirty="0">
                  <a:solidFill>
                    <a:srgbClr val="A50021"/>
                  </a:solidFill>
                  <a:sym typeface="Symbol" panose="05050102010706020507" pitchFamily="18" charset="2"/>
                </a:rPr>
                <a:t>被解释成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sym typeface="Symbol" panose="05050102010706020507" pitchFamily="18" charset="2"/>
                </a:rPr>
                <a:t>.</a:t>
              </a:r>
              <a:endParaRPr lang="en-US" altLang="zh-CN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69641" name="Object 25"/>
            <p:cNvGraphicFramePr>
              <a:graphicFrameLocks noChangeAspect="1"/>
            </p:cNvGraphicFramePr>
            <p:nvPr/>
          </p:nvGraphicFramePr>
          <p:xfrm>
            <a:off x="4125" y="3229"/>
            <a:ext cx="16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公式" r:id="rId12" imgW="127000" imgH="215265" progId="Equation.3">
                    <p:embed/>
                  </p:oleObj>
                </mc:Choice>
                <mc:Fallback>
                  <p:oleObj name="公式" r:id="rId12" imgW="127000" imgH="21526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5" y="3229"/>
                          <a:ext cx="16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2" name="Object 26"/>
            <p:cNvGraphicFramePr>
              <a:graphicFrameLocks noChangeAspect="1"/>
            </p:cNvGraphicFramePr>
            <p:nvPr/>
          </p:nvGraphicFramePr>
          <p:xfrm>
            <a:off x="4443" y="3225"/>
            <a:ext cx="217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公式" r:id="rId13" imgW="165100" imgH="241300" progId="Equation.3">
                    <p:embed/>
                  </p:oleObj>
                </mc:Choice>
                <mc:Fallback>
                  <p:oleObj name="公式" r:id="rId13" imgW="165100" imgH="2413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3" y="3225"/>
                          <a:ext cx="217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3" name="Object 27"/>
            <p:cNvGraphicFramePr>
              <a:graphicFrameLocks noChangeAspect="1"/>
            </p:cNvGraphicFramePr>
            <p:nvPr/>
          </p:nvGraphicFramePr>
          <p:xfrm>
            <a:off x="4805" y="3229"/>
            <a:ext cx="209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公式" r:id="rId15" imgW="165100" imgH="203200" progId="Equation.3">
                    <p:embed/>
                  </p:oleObj>
                </mc:Choice>
                <mc:Fallback>
                  <p:oleObj name="公式" r:id="rId15" imgW="165100" imgH="2032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5" y="3229"/>
                          <a:ext cx="209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82DDAF-0EDD-470A-A2D8-804A5DC7DC6A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Lucida Sans Unicode" panose="020B0602030504020204" pitchFamily="34" charset="0"/>
                <a:cs typeface="Lucida Sans Unicode" panose="020B0602030504020204" pitchFamily="34" charset="0"/>
              </a:rPr>
              <a:t>实例</a:t>
            </a:r>
            <a:endParaRPr lang="zh-CN" altLang="en-US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sp>
        <p:nvSpPr>
          <p:cNvPr id="7168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grpSp>
        <p:nvGrpSpPr>
          <p:cNvPr id="71687" name="Group 20"/>
          <p:cNvGrpSpPr/>
          <p:nvPr/>
        </p:nvGrpSpPr>
        <p:grpSpPr bwMode="auto">
          <a:xfrm>
            <a:off x="323850" y="1125538"/>
            <a:ext cx="8569325" cy="3121025"/>
            <a:chOff x="158" y="709"/>
            <a:chExt cx="5398" cy="1966"/>
          </a:xfrm>
        </p:grpSpPr>
        <p:graphicFrame>
          <p:nvGraphicFramePr>
            <p:cNvPr id="71693" name="Object 7"/>
            <p:cNvGraphicFramePr>
              <a:graphicFrameLocks noChangeAspect="1"/>
            </p:cNvGraphicFramePr>
            <p:nvPr/>
          </p:nvGraphicFramePr>
          <p:xfrm>
            <a:off x="657" y="1842"/>
            <a:ext cx="11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公式" r:id="rId1" imgW="965200" imgH="241300" progId="Equation.3">
                    <p:embed/>
                  </p:oleObj>
                </mc:Choice>
                <mc:Fallback>
                  <p:oleObj name="公式" r:id="rId1" imgW="965200" imgH="2413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842"/>
                          <a:ext cx="11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94" name="Object 8"/>
            <p:cNvGraphicFramePr>
              <a:graphicFrameLocks noChangeAspect="1"/>
            </p:cNvGraphicFramePr>
            <p:nvPr/>
          </p:nvGraphicFramePr>
          <p:xfrm>
            <a:off x="657" y="1253"/>
            <a:ext cx="46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3" imgW="355600" imgH="215900" progId="Equation.3">
                    <p:embed/>
                  </p:oleObj>
                </mc:Choice>
                <mc:Fallback>
                  <p:oleObj name="公式" r:id="rId3" imgW="3556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253"/>
                          <a:ext cx="46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95" name="Object 9"/>
            <p:cNvGraphicFramePr>
              <a:graphicFrameLocks noChangeAspect="1"/>
            </p:cNvGraphicFramePr>
            <p:nvPr/>
          </p:nvGraphicFramePr>
          <p:xfrm>
            <a:off x="612" y="1525"/>
            <a:ext cx="258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5" imgW="2095500" imgH="241300" progId="Equation.3">
                    <p:embed/>
                  </p:oleObj>
                </mc:Choice>
                <mc:Fallback>
                  <p:oleObj name="公式" r:id="rId5" imgW="20955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525"/>
                          <a:ext cx="2586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696" name="Text Box 11"/>
            <p:cNvSpPr txBox="1">
              <a:spLocks noChangeArrowheads="1"/>
            </p:cNvSpPr>
            <p:nvPr/>
          </p:nvSpPr>
          <p:spPr bwMode="auto">
            <a:xfrm>
              <a:off x="158" y="709"/>
              <a:ext cx="5398" cy="1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zh-CN" altLang="en-US" dirty="0">
                  <a:solidFill>
                    <a:srgbClr val="A50021"/>
                  </a:solidFill>
                </a:rPr>
                <a:t>例</a:t>
              </a:r>
              <a:r>
                <a:rPr lang="en-US" altLang="zh-CN" dirty="0">
                  <a:solidFill>
                    <a:srgbClr val="A50021"/>
                  </a:solidFill>
                </a:rPr>
                <a:t>6</a:t>
              </a:r>
              <a:r>
                <a:rPr lang="en-US" altLang="zh-CN" dirty="0">
                  <a:solidFill>
                    <a:srgbClr val="000000"/>
                  </a:solidFill>
                </a:rPr>
                <a:t> </a:t>
              </a:r>
              <a:r>
                <a:rPr lang="zh-CN" altLang="en-US" dirty="0">
                  <a:solidFill>
                    <a:srgbClr val="000000"/>
                  </a:solidFill>
                </a:rPr>
                <a:t>给定解释 </a:t>
              </a:r>
              <a:r>
                <a:rPr lang="en-US" altLang="zh-CN" i="1" dirty="0">
                  <a:solidFill>
                    <a:srgbClr val="000000"/>
                  </a:solidFill>
                </a:rPr>
                <a:t>I</a:t>
              </a:r>
              <a:r>
                <a:rPr lang="zh-CN" altLang="en-US" dirty="0"/>
                <a:t>和</a:t>
              </a:r>
              <a:r>
                <a:rPr lang="en-US" altLang="zh-CN" i="1" dirty="0"/>
                <a:t>I</a:t>
              </a:r>
              <a:r>
                <a:rPr lang="zh-CN" altLang="en-US" dirty="0"/>
                <a:t>下赋值</a:t>
              </a:r>
              <a:r>
                <a:rPr lang="zh-CN" altLang="en-US" dirty="0">
                  <a:solidFill>
                    <a:srgbClr val="0066FF"/>
                  </a:solidFill>
                  <a:latin typeface="+mn-lt"/>
                  <a:sym typeface="Symbol" panose="05050102010706020507" pitchFamily="18" charset="2"/>
                </a:rPr>
                <a:t></a:t>
              </a:r>
              <a:r>
                <a:rPr lang="zh-CN" altLang="en-US" dirty="0">
                  <a:solidFill>
                    <a:srgbClr val="000000"/>
                  </a:solidFill>
                </a:rPr>
                <a:t>如下：</a:t>
              </a:r>
              <a:endParaRPr lang="zh-CN" altLang="en-US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zh-CN" altLang="en-US" dirty="0">
                  <a:solidFill>
                    <a:srgbClr val="000000"/>
                  </a:solidFill>
                </a:rPr>
                <a:t>   </a:t>
              </a:r>
              <a:r>
                <a:rPr lang="en-US" altLang="zh-CN" dirty="0">
                  <a:solidFill>
                    <a:srgbClr val="000000"/>
                  </a:solidFill>
                </a:rPr>
                <a:t>(a) </a:t>
              </a:r>
              <a:r>
                <a:rPr lang="zh-CN" altLang="en-US" dirty="0">
                  <a:solidFill>
                    <a:srgbClr val="000000"/>
                  </a:solidFill>
                </a:rPr>
                <a:t>个体域 </a:t>
              </a:r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</a:rPr>
                <a:t>=R</a:t>
              </a:r>
              <a:endParaRPr lang="en-US" altLang="zh-CN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dirty="0">
                  <a:solidFill>
                    <a:srgbClr val="000000"/>
                  </a:solidFill>
                </a:rPr>
                <a:t>   (b)</a:t>
              </a:r>
              <a:endParaRPr lang="en-US" altLang="zh-CN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dirty="0">
                  <a:solidFill>
                    <a:srgbClr val="000000"/>
                  </a:solidFill>
                </a:rPr>
                <a:t>   (c)</a:t>
              </a:r>
              <a:endParaRPr lang="en-US" altLang="zh-CN" dirty="0">
                <a:solidFill>
                  <a:srgbClr val="000000"/>
                </a:solidFill>
              </a:endParaRPr>
            </a:p>
            <a:p>
              <a:pPr eaLnBrk="1" hangingPunct="1">
                <a:buClrTx/>
                <a:buFontTx/>
                <a:buNone/>
              </a:pPr>
              <a:r>
                <a:rPr lang="en-US" altLang="zh-CN" b="0" dirty="0"/>
                <a:t>   </a:t>
              </a:r>
              <a:r>
                <a:rPr lang="en-US" altLang="zh-CN" dirty="0"/>
                <a:t>(d)            </a:t>
              </a:r>
              <a:endParaRPr lang="en-US" altLang="zh-CN" dirty="0"/>
            </a:p>
            <a:p>
              <a:pPr eaLnBrk="1" hangingPunct="1">
                <a:buClrTx/>
                <a:buFontTx/>
                <a:buNone/>
              </a:pPr>
              <a:r>
                <a:rPr lang="zh-CN" altLang="en-US" dirty="0"/>
                <a:t>写出在给定的解释</a:t>
              </a:r>
              <a:r>
                <a:rPr lang="en-US" altLang="zh-CN" i="1" dirty="0"/>
                <a:t>I</a:t>
              </a:r>
              <a:r>
                <a:rPr lang="zh-CN" altLang="en-US" dirty="0"/>
                <a:t>和</a:t>
              </a:r>
              <a:r>
                <a:rPr lang="en-US" altLang="zh-CN" i="1" dirty="0"/>
                <a:t>I</a:t>
              </a:r>
              <a:r>
                <a:rPr lang="zh-CN" altLang="en-US" dirty="0"/>
                <a:t>下赋值</a:t>
              </a:r>
              <a:r>
                <a:rPr lang="zh-CN" altLang="en-US" dirty="0">
                  <a:solidFill>
                    <a:srgbClr val="0066FF"/>
                  </a:solidFill>
                  <a:latin typeface="+mn-lt"/>
                  <a:sym typeface="Symbol" panose="05050102010706020507" pitchFamily="18" charset="2"/>
                </a:rPr>
                <a:t></a:t>
              </a:r>
              <a:r>
                <a:rPr lang="zh-CN" altLang="en-US" dirty="0"/>
                <a:t>的下列公式的真值</a:t>
              </a:r>
              <a:r>
                <a:rPr lang="en-US" altLang="zh-CN" dirty="0"/>
                <a:t>.</a:t>
              </a:r>
              <a:endParaRPr lang="en-US" altLang="zh-CN" dirty="0"/>
            </a:p>
            <a:p>
              <a:pPr eaLnBrk="1" hangingPunct="1">
                <a:buClrTx/>
                <a:buFontTx/>
                <a:buNone/>
              </a:pPr>
              <a:r>
                <a:rPr lang="en-US" altLang="zh-CN" dirty="0"/>
                <a:t>   (1) </a:t>
              </a:r>
              <a:r>
                <a:rPr lang="en-US" altLang="zh-CN" dirty="0">
                  <a:sym typeface="Symbol" panose="05050102010706020507" pitchFamily="18" charset="2"/>
                </a:rPr>
                <a:t></a:t>
              </a:r>
              <a:r>
                <a:rPr lang="en-US" altLang="zh-CN" i="1" dirty="0" err="1">
                  <a:sym typeface="Symbol" panose="05050102010706020507" pitchFamily="18" charset="2"/>
                </a:rPr>
                <a:t>xF</a:t>
              </a:r>
              <a:r>
                <a:rPr lang="en-US" altLang="zh-CN" dirty="0">
                  <a:sym typeface="Symbol" panose="05050102010706020507" pitchFamily="18" charset="2"/>
                </a:rPr>
                <a:t>(</a:t>
              </a:r>
              <a:r>
                <a:rPr lang="en-US" altLang="zh-CN" i="1" dirty="0">
                  <a:sym typeface="Symbol" panose="05050102010706020507" pitchFamily="18" charset="2"/>
                </a:rPr>
                <a:t>f</a:t>
              </a:r>
              <a:r>
                <a:rPr lang="en-US" altLang="zh-CN" dirty="0">
                  <a:sym typeface="Symbol" panose="05050102010706020507" pitchFamily="18" charset="2"/>
                </a:rPr>
                <a:t>(</a:t>
              </a:r>
              <a:r>
                <a:rPr lang="en-US" altLang="zh-CN" i="1" dirty="0" err="1">
                  <a:sym typeface="Symbol" panose="05050102010706020507" pitchFamily="18" charset="2"/>
                </a:rPr>
                <a:t>x</a:t>
              </a:r>
              <a:r>
                <a:rPr lang="en-US" altLang="zh-CN" dirty="0" err="1">
                  <a:sym typeface="Symbol" panose="05050102010706020507" pitchFamily="18" charset="2"/>
                </a:rPr>
                <a:t>,</a:t>
              </a:r>
              <a:r>
                <a:rPr lang="en-US" altLang="zh-CN" i="1" dirty="0" err="1">
                  <a:sym typeface="Symbol" panose="05050102010706020507" pitchFamily="18" charset="2"/>
                </a:rPr>
                <a:t>a</a:t>
              </a:r>
              <a:r>
                <a:rPr lang="en-US" altLang="zh-CN" dirty="0">
                  <a:sym typeface="Symbol" panose="05050102010706020507" pitchFamily="18" charset="2"/>
                </a:rPr>
                <a:t>),</a:t>
              </a:r>
              <a:r>
                <a:rPr lang="en-US" altLang="zh-CN" i="1" dirty="0">
                  <a:sym typeface="Symbol" panose="05050102010706020507" pitchFamily="18" charset="2"/>
                </a:rPr>
                <a:t>g</a:t>
              </a:r>
              <a:r>
                <a:rPr lang="en-US" altLang="zh-CN" dirty="0">
                  <a:sym typeface="Symbol" panose="05050102010706020507" pitchFamily="18" charset="2"/>
                </a:rPr>
                <a:t>(</a:t>
              </a:r>
              <a:r>
                <a:rPr lang="en-US" altLang="zh-CN" i="1" dirty="0" err="1">
                  <a:sym typeface="Symbol" panose="05050102010706020507" pitchFamily="18" charset="2"/>
                </a:rPr>
                <a:t>x</a:t>
              </a:r>
              <a:r>
                <a:rPr lang="en-US" altLang="zh-CN" dirty="0" err="1">
                  <a:sym typeface="Symbol" panose="05050102010706020507" pitchFamily="18" charset="2"/>
                </a:rPr>
                <a:t>,</a:t>
              </a:r>
              <a:r>
                <a:rPr lang="en-US" altLang="zh-CN" i="1" dirty="0" err="1">
                  <a:sym typeface="Symbol" panose="05050102010706020507" pitchFamily="18" charset="2"/>
                </a:rPr>
                <a:t>a</a:t>
              </a:r>
              <a:r>
                <a:rPr lang="en-US" altLang="zh-CN" dirty="0">
                  <a:sym typeface="Symbol" panose="05050102010706020507" pitchFamily="18" charset="2"/>
                </a:rPr>
                <a:t>))</a:t>
              </a:r>
              <a:endParaRPr lang="en-US" altLang="zh-CN" dirty="0">
                <a:sym typeface="Symbol" panose="05050102010706020507" pitchFamily="18" charset="2"/>
              </a:endParaRPr>
            </a:p>
          </p:txBody>
        </p:sp>
      </p:grpSp>
      <p:sp>
        <p:nvSpPr>
          <p:cNvPr id="359442" name="Text Box 18"/>
          <p:cNvSpPr txBox="1">
            <a:spLocks noChangeArrowheads="1"/>
          </p:cNvSpPr>
          <p:nvPr/>
        </p:nvSpPr>
        <p:spPr bwMode="auto">
          <a:xfrm>
            <a:off x="611188" y="4221163"/>
            <a:ext cx="590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+0=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0)                      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真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59445" name="Text Box 21"/>
          <p:cNvSpPr txBox="1">
            <a:spLocks noChangeArrowheads="1"/>
          </p:cNvSpPr>
          <p:nvPr/>
        </p:nvSpPr>
        <p:spPr bwMode="auto">
          <a:xfrm>
            <a:off x="539750" y="4652963"/>
            <a:ext cx="590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(2)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))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))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359446" name="Text Box 22"/>
          <p:cNvSpPr txBox="1">
            <a:spLocks noChangeArrowheads="1"/>
          </p:cNvSpPr>
          <p:nvPr/>
        </p:nvSpPr>
        <p:spPr bwMode="auto">
          <a:xfrm>
            <a:off x="971550" y="5157788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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       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假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51920" y="2924176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  <a:latin typeface="+mn-lt"/>
              </a:rPr>
              <a:t>(e)</a:t>
            </a:r>
            <a:r>
              <a:rPr lang="en-US" altLang="zh-CN" dirty="0">
                <a:solidFill>
                  <a:srgbClr val="0066FF"/>
                </a:solidFill>
                <a:latin typeface="+mn-lt"/>
              </a:rPr>
              <a:t> </a:t>
            </a:r>
            <a:r>
              <a:rPr lang="zh-CN" altLang="en-US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 </a:t>
            </a:r>
            <a:r>
              <a:rPr lang="en-US" altLang="zh-CN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+mn-lt"/>
              </a:rPr>
              <a:t> =</a:t>
            </a:r>
            <a:r>
              <a:rPr lang="en-US" altLang="zh-CN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+mn-lt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,</a:t>
            </a:r>
            <a:r>
              <a:rPr lang="zh-CN" altLang="en-US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 </a:t>
            </a:r>
            <a:r>
              <a:rPr lang="en-US" altLang="zh-CN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+mn-lt"/>
              </a:rPr>
              <a:t> =</a:t>
            </a:r>
            <a:r>
              <a:rPr lang="en-US" altLang="zh-CN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+mn-lt"/>
              </a:rPr>
              <a:t>2</a:t>
            </a:r>
            <a:endParaRPr lang="zh-CN" altLang="en-US" dirty="0">
              <a:solidFill>
                <a:srgbClr val="0066FF"/>
              </a:solidFill>
              <a:latin typeface="+mn-lt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545306" y="5750222"/>
            <a:ext cx="4890790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(3)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xF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 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     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0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=x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)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(1=2)            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真</a:t>
            </a:r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42" grpId="0"/>
      <p:bldP spid="359445" grpId="0"/>
      <p:bldP spid="359446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BED95D-1C65-499C-B8ED-921C2858A1FE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封闭的公式</a:t>
            </a:r>
            <a:endParaRPr lang="zh-CN" altLang="en-US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323850" y="1341438"/>
            <a:ext cx="8435975" cy="46799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A50021"/>
                </a:solidFill>
                <a:latin typeface="+mn-lt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+mn-lt"/>
              </a:rPr>
              <a:t>4.6</a:t>
            </a:r>
            <a:r>
              <a:rPr lang="en-US" altLang="zh-CN" dirty="0">
                <a:latin typeface="+mn-lt"/>
              </a:rPr>
              <a:t>  </a:t>
            </a:r>
            <a:r>
              <a:rPr lang="zh-CN" altLang="en-US" dirty="0">
                <a:latin typeface="+mn-lt"/>
              </a:rPr>
              <a:t>若公式</a:t>
            </a:r>
            <a:r>
              <a:rPr lang="en-US" altLang="zh-CN" i="1" dirty="0">
                <a:latin typeface="+mn-lt"/>
              </a:rPr>
              <a:t>A</a:t>
            </a:r>
            <a:r>
              <a:rPr lang="zh-CN" altLang="en-US" dirty="0">
                <a:latin typeface="+mn-lt"/>
              </a:rPr>
              <a:t>中不含自由出现的个体变项，则称</a:t>
            </a:r>
            <a:r>
              <a:rPr lang="en-US" altLang="zh-CN" i="1" dirty="0">
                <a:latin typeface="+mn-lt"/>
              </a:rPr>
              <a:t>A</a:t>
            </a:r>
            <a:r>
              <a:rPr lang="zh-CN" altLang="en-US" dirty="0">
                <a:latin typeface="+mn-lt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+mn-lt"/>
              </a:rPr>
              <a:t>封闭</a:t>
            </a:r>
            <a:endParaRPr lang="zh-CN" altLang="en-US" dirty="0">
              <a:solidFill>
                <a:srgbClr val="A50021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A50021"/>
                </a:solidFill>
                <a:latin typeface="+mn-lt"/>
              </a:rPr>
              <a:t>的公式</a:t>
            </a:r>
            <a:r>
              <a:rPr lang="zh-CN" altLang="en-US" dirty="0">
                <a:latin typeface="+mn-lt"/>
              </a:rPr>
              <a:t>，简称</a:t>
            </a:r>
            <a:r>
              <a:rPr lang="zh-CN" altLang="en-US" dirty="0">
                <a:solidFill>
                  <a:srgbClr val="A50021"/>
                </a:solidFill>
                <a:latin typeface="+mn-lt"/>
              </a:rPr>
              <a:t>闭式</a:t>
            </a:r>
            <a:r>
              <a:rPr lang="en-US" altLang="zh-CN" dirty="0">
                <a:latin typeface="+mn-lt"/>
              </a:rPr>
              <a:t>.</a:t>
            </a:r>
            <a:endParaRPr lang="en-US" altLang="zh-CN" dirty="0">
              <a:latin typeface="+mn-lt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latin typeface="+mn-lt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+mn-lt"/>
              </a:rPr>
              <a:t>例如，</a:t>
            </a:r>
            <a:r>
              <a:rPr lang="zh-CN" altLang="en-US" dirty="0">
                <a:latin typeface="+mn-lt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+mn-lt"/>
              </a:rPr>
              <a:t>x</a:t>
            </a:r>
            <a:r>
              <a:rPr lang="en-US" altLang="zh-CN" dirty="0" err="1">
                <a:latin typeface="+mn-lt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+mn-lt"/>
              </a:rPr>
              <a:t>y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i="1" dirty="0">
                <a:latin typeface="+mn-lt"/>
              </a:rPr>
              <a:t>F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i="1" dirty="0">
                <a:latin typeface="+mn-lt"/>
              </a:rPr>
              <a:t>x</a:t>
            </a:r>
            <a:r>
              <a:rPr lang="en-US" altLang="zh-CN" dirty="0">
                <a:latin typeface="+mn-lt"/>
              </a:rPr>
              <a:t>)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+mn-lt"/>
              </a:rPr>
              <a:t>G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i="1" dirty="0">
                <a:latin typeface="+mn-lt"/>
              </a:rPr>
              <a:t>y</a:t>
            </a:r>
            <a:r>
              <a:rPr lang="en-US" altLang="zh-CN" dirty="0">
                <a:latin typeface="+mn-lt"/>
              </a:rPr>
              <a:t>)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+mn-lt"/>
              </a:rPr>
              <a:t>H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i="1" dirty="0" err="1">
                <a:latin typeface="+mn-lt"/>
              </a:rPr>
              <a:t>x</a:t>
            </a:r>
            <a:r>
              <a:rPr lang="en-US" altLang="zh-CN" dirty="0" err="1">
                <a:latin typeface="+mn-lt"/>
              </a:rPr>
              <a:t>,</a:t>
            </a:r>
            <a:r>
              <a:rPr lang="en-US" altLang="zh-CN" i="1" dirty="0" err="1">
                <a:latin typeface="+mn-lt"/>
              </a:rPr>
              <a:t>y</a:t>
            </a:r>
            <a:r>
              <a:rPr lang="en-US" altLang="zh-CN" dirty="0">
                <a:latin typeface="+mn-lt"/>
              </a:rPr>
              <a:t>)) </a:t>
            </a:r>
            <a:r>
              <a:rPr lang="zh-CN" altLang="en-US" dirty="0">
                <a:latin typeface="+mn-lt"/>
              </a:rPr>
              <a:t>为闭式，</a:t>
            </a:r>
            <a:endParaRPr lang="zh-CN" altLang="en-US" dirty="0">
              <a:latin typeface="+mn-lt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+mn-lt"/>
              </a:rPr>
              <a:t>而        </a:t>
            </a:r>
            <a:r>
              <a:rPr lang="zh-CN" altLang="en-US" dirty="0">
                <a:latin typeface="+mn-lt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+mn-lt"/>
              </a:rPr>
              <a:t>x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i="1" dirty="0">
                <a:latin typeface="+mn-lt"/>
              </a:rPr>
              <a:t>F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i="1" dirty="0">
                <a:latin typeface="+mn-lt"/>
              </a:rPr>
              <a:t>x</a:t>
            </a:r>
            <a:r>
              <a:rPr lang="en-US" altLang="zh-CN" dirty="0">
                <a:latin typeface="+mn-lt"/>
              </a:rPr>
              <a:t>)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+mn-lt"/>
              </a:rPr>
              <a:t>G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i="1" dirty="0" err="1">
                <a:latin typeface="+mn-lt"/>
              </a:rPr>
              <a:t>x</a:t>
            </a:r>
            <a:r>
              <a:rPr lang="en-US" altLang="zh-CN" dirty="0" err="1">
                <a:latin typeface="+mn-lt"/>
              </a:rPr>
              <a:t>,</a:t>
            </a:r>
            <a:r>
              <a:rPr lang="en-US" altLang="zh-CN" i="1" dirty="0" err="1">
                <a:latin typeface="+mn-lt"/>
              </a:rPr>
              <a:t>y</a:t>
            </a:r>
            <a:r>
              <a:rPr lang="en-US" altLang="zh-CN" dirty="0">
                <a:latin typeface="+mn-lt"/>
              </a:rPr>
              <a:t>)) </a:t>
            </a:r>
            <a:r>
              <a:rPr lang="zh-CN" altLang="en-US" dirty="0">
                <a:latin typeface="+mn-lt"/>
              </a:rPr>
              <a:t>不是闭式  </a:t>
            </a:r>
            <a:endParaRPr lang="en-US" altLang="zh-CN" dirty="0">
              <a:latin typeface="+mn-lt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latin typeface="+mn-lt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A50021"/>
                </a:solidFill>
                <a:latin typeface="+mn-lt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+mn-lt"/>
              </a:rPr>
              <a:t>4.1</a:t>
            </a:r>
            <a:r>
              <a:rPr lang="en-US" altLang="zh-CN" dirty="0">
                <a:latin typeface="+mn-lt"/>
              </a:rPr>
              <a:t>  </a:t>
            </a:r>
            <a:r>
              <a:rPr lang="zh-CN" altLang="en-US" dirty="0">
                <a:latin typeface="+mn-lt"/>
              </a:rPr>
              <a:t>闭式在任何解释下都是命题</a:t>
            </a:r>
            <a:endParaRPr lang="zh-CN" altLang="en-US" dirty="0">
              <a:latin typeface="+mn-lt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+mn-lt"/>
              </a:rPr>
              <a:t>注意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不是闭式的公式在解释下可能是命题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也可能不是命题</a:t>
            </a:r>
            <a:endParaRPr lang="en-US" altLang="zh-CN" dirty="0">
              <a:solidFill>
                <a:srgbClr val="FF0000"/>
              </a:solidFill>
              <a:latin typeface="+mn-lt"/>
            </a:endParaRPr>
          </a:p>
          <a:p>
            <a:pPr eaLnBrk="1" hangingPunct="1">
              <a:defRPr/>
            </a:pPr>
            <a:endParaRPr lang="en-US" altLang="zh-CN" dirty="0">
              <a:latin typeface="+mn-lt"/>
            </a:endParaRPr>
          </a:p>
          <a:p>
            <a:pPr eaLnBrk="1" hangingPunct="1">
              <a:defRPr/>
            </a:pPr>
            <a:r>
              <a:rPr lang="zh-CN" altLang="en-US" dirty="0">
                <a:latin typeface="+mn-lt"/>
              </a:rPr>
              <a:t>例如： </a:t>
            </a:r>
            <a:r>
              <a:rPr lang="zh-CN" altLang="en-US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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=0)</a:t>
            </a:r>
            <a:r>
              <a:rPr lang="zh-CN" altLang="en-US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不是命题</a:t>
            </a:r>
            <a:endParaRPr lang="zh-CN" altLang="en-US" dirty="0">
              <a:solidFill>
                <a:srgbClr val="000000"/>
              </a:solidFill>
              <a:latin typeface="+mn-lt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       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0=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)(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是真命题</a:t>
            </a:r>
            <a:endParaRPr lang="zh-CN" altLang="en-US" sz="2400" dirty="0">
              <a:solidFill>
                <a:srgbClr val="000000"/>
              </a:solidFill>
              <a:latin typeface="+mn-lt"/>
              <a:sym typeface="Symbol" panose="05050102010706020507" pitchFamily="18" charset="2"/>
            </a:endParaRPr>
          </a:p>
          <a:p>
            <a:pPr eaLnBrk="1" hangingPunct="1">
              <a:defRPr/>
            </a:pPr>
            <a:r>
              <a:rPr lang="en-US" altLang="zh-CN" dirty="0">
                <a:latin typeface="+mn-lt"/>
              </a:rPr>
              <a:t> </a:t>
            </a:r>
            <a:endParaRPr lang="en-US" altLang="zh-CN" dirty="0">
              <a:latin typeface="+mn-lt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6DC5B2-56D3-4382-A5AB-73AC395FB842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公式的类型</a:t>
            </a:r>
            <a:endParaRPr lang="zh-CN" altLang="en-US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29600" cy="4895850"/>
          </a:xfrm>
        </p:spPr>
        <p:txBody>
          <a:bodyPr/>
          <a:lstStyle/>
          <a:p>
            <a:pPr eaLnBrk="1" hangingPunct="1"/>
            <a:endParaRPr lang="en-US" altLang="zh-CN" dirty="0">
              <a:solidFill>
                <a:srgbClr val="A50021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4.8 </a:t>
            </a:r>
            <a:r>
              <a:rPr lang="zh-CN" altLang="en-US" dirty="0"/>
              <a:t>若公式</a:t>
            </a:r>
            <a:r>
              <a:rPr lang="en-US" altLang="zh-CN" i="1" dirty="0"/>
              <a:t>A</a:t>
            </a:r>
            <a:r>
              <a:rPr lang="zh-CN" altLang="en-US" dirty="0"/>
              <a:t>在</a:t>
            </a:r>
            <a:r>
              <a:rPr lang="zh-CN" altLang="en-US"/>
              <a:t>任何解释和该</a:t>
            </a:r>
            <a:r>
              <a:rPr lang="zh-CN" altLang="en-US" dirty="0"/>
              <a:t>解释的任何赋值下均为真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永真式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A50021"/>
                </a:solidFill>
              </a:rPr>
              <a:t>逻辑有效式</a:t>
            </a:r>
            <a:r>
              <a:rPr lang="en-US" altLang="zh-CN" dirty="0"/>
              <a:t>). </a:t>
            </a: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zh-CN" altLang="en-US" dirty="0"/>
              <a:t>在任何解释和该解释的任何赋值下均为假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矛盾式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A50021"/>
                </a:solidFill>
              </a:rPr>
              <a:t>永假式</a:t>
            </a:r>
            <a:r>
              <a:rPr lang="en-US" altLang="zh-CN" dirty="0"/>
              <a:t>). </a:t>
            </a:r>
            <a:r>
              <a:rPr lang="zh-CN" altLang="en-US" dirty="0"/>
              <a:t>若至少有一个解释和该解释下的一个赋值使</a:t>
            </a:r>
            <a:r>
              <a:rPr lang="en-US" altLang="zh-CN" i="1" dirty="0"/>
              <a:t>A</a:t>
            </a:r>
            <a:r>
              <a:rPr lang="zh-CN" altLang="en-US" dirty="0"/>
              <a:t>为真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可满足式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>
              <a:spcBef>
                <a:spcPct val="55000"/>
              </a:spcBef>
            </a:pPr>
            <a:endParaRPr lang="en-US" altLang="zh-CN" dirty="0"/>
          </a:p>
          <a:p>
            <a:pPr eaLnBrk="1" hangingPunct="1">
              <a:spcBef>
                <a:spcPct val="55000"/>
              </a:spcBef>
            </a:pPr>
            <a:r>
              <a:rPr lang="zh-CN" altLang="en-US" dirty="0"/>
              <a:t>几点说明：</a:t>
            </a:r>
            <a:endParaRPr lang="zh-CN" altLang="en-US" dirty="0"/>
          </a:p>
          <a:p>
            <a:pPr eaLnBrk="1" hangingPunct="1"/>
            <a:r>
              <a:rPr lang="zh-CN" altLang="en-US" dirty="0"/>
              <a:t>     永真式为可满足式，但反之不真 </a:t>
            </a:r>
            <a:endParaRPr lang="zh-CN" altLang="en-US" dirty="0"/>
          </a:p>
          <a:p>
            <a:pPr eaLnBrk="1" hangingPunct="1"/>
            <a:r>
              <a:rPr lang="zh-CN" altLang="en-US" dirty="0"/>
              <a:t>     判断公式是否是可满足的</a:t>
            </a:r>
            <a:r>
              <a:rPr lang="en-US" altLang="zh-CN" dirty="0"/>
              <a:t>(</a:t>
            </a:r>
            <a:r>
              <a:rPr lang="zh-CN" altLang="en-US" dirty="0"/>
              <a:t>永真式</a:t>
            </a:r>
            <a:r>
              <a:rPr lang="en-US" altLang="zh-CN" dirty="0"/>
              <a:t>, </a:t>
            </a:r>
            <a:r>
              <a:rPr lang="zh-CN" altLang="en-US" dirty="0"/>
              <a:t>矛盾式</a:t>
            </a:r>
            <a:r>
              <a:rPr lang="en-US" altLang="zh-CN" dirty="0"/>
              <a:t>)</a:t>
            </a:r>
            <a:r>
              <a:rPr lang="zh-CN" altLang="en-US" dirty="0"/>
              <a:t>是不可判定的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058B8C-41E2-4E30-B9C0-CBAC46519DB9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一阶逻辑的判定问题</a:t>
            </a:r>
            <a:endParaRPr lang="zh-CN" altLang="en-US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若说一阶逻辑是</a:t>
            </a:r>
            <a:r>
              <a:rPr lang="zh-CN" altLang="en-US">
                <a:solidFill>
                  <a:srgbClr val="CC3300"/>
                </a:solidFill>
              </a:rPr>
              <a:t>可判定</a:t>
            </a:r>
            <a:r>
              <a:rPr lang="zh-CN" altLang="en-US"/>
              <a:t>的，就要求给出一个</a:t>
            </a:r>
            <a:r>
              <a:rPr lang="zh-CN" altLang="en-US">
                <a:solidFill>
                  <a:srgbClr val="0000FF"/>
                </a:solidFill>
              </a:rPr>
              <a:t>能行的方法</a:t>
            </a:r>
            <a:r>
              <a:rPr lang="zh-CN" altLang="en-US"/>
              <a:t>，使得对</a:t>
            </a:r>
            <a:r>
              <a:rPr lang="zh-CN" altLang="en-US">
                <a:solidFill>
                  <a:srgbClr val="0000FF"/>
                </a:solidFill>
              </a:rPr>
              <a:t>任一公式都能判断是否是有效的</a:t>
            </a:r>
            <a:r>
              <a:rPr lang="zh-CN" altLang="en-US"/>
              <a:t>。所谓</a:t>
            </a:r>
            <a:r>
              <a:rPr lang="zh-CN" altLang="en-US">
                <a:solidFill>
                  <a:srgbClr val="FF0000"/>
                </a:solidFill>
              </a:rPr>
              <a:t>能行的方法</a:t>
            </a:r>
            <a:r>
              <a:rPr lang="zh-CN" altLang="en-US"/>
              <a:t>，乃是</a:t>
            </a:r>
            <a:r>
              <a:rPr lang="zh-CN" altLang="en-US">
                <a:solidFill>
                  <a:srgbClr val="0000FF"/>
                </a:solidFill>
              </a:rPr>
              <a:t>一个机械方法</a:t>
            </a:r>
            <a:r>
              <a:rPr lang="zh-CN" altLang="en-US"/>
              <a:t>，可一步一步做下去，并在</a:t>
            </a:r>
            <a:r>
              <a:rPr lang="zh-CN" altLang="en-US">
                <a:solidFill>
                  <a:srgbClr val="0000FF"/>
                </a:solidFill>
              </a:rPr>
              <a:t>有穷步</a:t>
            </a:r>
            <a:r>
              <a:rPr lang="zh-CN" altLang="en-US"/>
              <a:t>内实现判断。</a:t>
            </a:r>
            <a:endParaRPr lang="zh-CN" altLang="en-US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由于一阶逻辑中的永真</a:t>
            </a:r>
            <a:r>
              <a:rPr lang="en-US" altLang="zh-CN"/>
              <a:t>(</a:t>
            </a:r>
            <a:r>
              <a:rPr lang="zh-CN" altLang="en-US"/>
              <a:t>永假</a:t>
            </a:r>
            <a:r>
              <a:rPr lang="en-US" altLang="zh-CN"/>
              <a:t>)</a:t>
            </a:r>
            <a:r>
              <a:rPr lang="zh-CN" altLang="en-US"/>
              <a:t>公式，要求所有解释</a:t>
            </a:r>
            <a:r>
              <a:rPr lang="en-US" altLang="zh-CN" i="1"/>
              <a:t>I</a:t>
            </a:r>
            <a:r>
              <a:rPr lang="zh-CN" altLang="en-US"/>
              <a:t>都满足</a:t>
            </a:r>
            <a:r>
              <a:rPr lang="en-US" altLang="zh-CN"/>
              <a:t>(</a:t>
            </a:r>
            <a:r>
              <a:rPr lang="zh-CN" altLang="en-US"/>
              <a:t>弄假</a:t>
            </a:r>
            <a:r>
              <a:rPr lang="en-US" altLang="zh-CN"/>
              <a:t>)</a:t>
            </a:r>
            <a:r>
              <a:rPr lang="zh-CN" altLang="en-US"/>
              <a:t>该公式。而解释</a:t>
            </a:r>
            <a:r>
              <a:rPr lang="en-US" altLang="zh-CN" i="1"/>
              <a:t>I</a:t>
            </a:r>
            <a:r>
              <a:rPr lang="zh-CN" altLang="en-US"/>
              <a:t>依赖于一个非空集合</a:t>
            </a:r>
            <a:r>
              <a:rPr lang="en-US" altLang="zh-CN" i="1"/>
              <a:t>D</a:t>
            </a:r>
            <a:r>
              <a:rPr lang="zh-CN" altLang="en-US"/>
              <a:t>。由于集合</a:t>
            </a:r>
            <a:r>
              <a:rPr lang="en-US" altLang="zh-CN" i="1"/>
              <a:t>D</a:t>
            </a:r>
            <a:r>
              <a:rPr lang="zh-CN" altLang="en-US"/>
              <a:t>可以是无穷集合，而集合</a:t>
            </a:r>
            <a:r>
              <a:rPr lang="en-US" altLang="zh-CN" i="1"/>
              <a:t>D</a:t>
            </a:r>
            <a:r>
              <a:rPr lang="zh-CN" altLang="en-US"/>
              <a:t>的 “数目”也可能是无穷多个，因此，所谓公式的 “所有”解释，实际上是无法考虑的。</a:t>
            </a: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E6CCB4-B081-48F4-BF87-2942DAC4C485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一阶逻辑的判定问题</a:t>
            </a:r>
            <a:endParaRPr lang="zh-CN" altLang="en-US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1775" y="1772816"/>
            <a:ext cx="5795963" cy="424698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由于一阶公式的复杂性和解释的多样性，至今还没有一个可行的算法判定任意公式的类型。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早在</a:t>
            </a:r>
            <a:r>
              <a:rPr lang="en-US" altLang="zh-CN" dirty="0"/>
              <a:t>1936</a:t>
            </a:r>
            <a:r>
              <a:rPr lang="zh-CN" altLang="en-US" dirty="0"/>
              <a:t>年，</a:t>
            </a:r>
            <a:r>
              <a:rPr lang="en-US" altLang="zh-CN" i="1" dirty="0" err="1"/>
              <a:t>Churen</a:t>
            </a:r>
            <a:r>
              <a:rPr lang="zh-CN" altLang="en-US" dirty="0"/>
              <a:t>和</a:t>
            </a:r>
            <a:r>
              <a:rPr lang="en-US" altLang="zh-CN" i="1" dirty="0"/>
              <a:t>Turing</a:t>
            </a:r>
            <a:r>
              <a:rPr lang="zh-CN" altLang="en-US" dirty="0"/>
              <a:t>各自独立地证明了：</a:t>
            </a:r>
            <a:r>
              <a:rPr lang="zh-CN" altLang="en-US" dirty="0">
                <a:solidFill>
                  <a:srgbClr val="FF0000"/>
                </a:solidFill>
              </a:rPr>
              <a:t>对于一阶逻辑，其判定问题是不可解的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79877" name="Picture 4" descr="566d0fdf66e5cf006327983a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1"/>
          <a:stretch>
            <a:fillRect/>
          </a:stretch>
        </p:blipFill>
        <p:spPr bwMode="auto">
          <a:xfrm>
            <a:off x="611188" y="1125538"/>
            <a:ext cx="208915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8" name="Rectangle 5"/>
          <p:cNvSpPr>
            <a:spLocks noChangeArrowheads="1"/>
          </p:cNvSpPr>
          <p:nvPr/>
        </p:nvSpPr>
        <p:spPr bwMode="auto">
          <a:xfrm>
            <a:off x="468313" y="4114800"/>
            <a:ext cx="23669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Verdana" panose="020B0604030504040204" pitchFamily="34" charset="0"/>
              </a:rPr>
              <a:t>Alan Mathison Turing</a:t>
            </a:r>
            <a:r>
              <a:rPr lang="en-US" altLang="zh-CN" sz="1400">
                <a:latin typeface="Verdana" panose="020B0604030504040204" pitchFamily="34" charset="0"/>
              </a:rPr>
              <a:t> </a:t>
            </a:r>
            <a:endParaRPr lang="en-US" altLang="zh-CN" sz="140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>
                <a:latin typeface="Verdana" panose="020B0604030504040204" pitchFamily="34" charset="0"/>
              </a:rPr>
              <a:t>1912.6.23</a:t>
            </a:r>
            <a:r>
              <a:rPr lang="en-US" altLang="zh-CN" sz="1400">
                <a:latin typeface="Arial" panose="020B0604020202020204" pitchFamily="34" charset="0"/>
              </a:rPr>
              <a:t>—</a:t>
            </a:r>
            <a:r>
              <a:rPr lang="en-US" altLang="zh-CN" sz="1400">
                <a:latin typeface="Verdana" panose="020B0604030504040204" pitchFamily="34" charset="0"/>
              </a:rPr>
              <a:t>1954.6.7 </a:t>
            </a:r>
            <a:endParaRPr lang="en-US" altLang="zh-CN" sz="14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428A84-8EA6-4C1F-84C3-E00720D2DDBF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代换实例</a:t>
            </a:r>
            <a:endParaRPr lang="zh-CN" altLang="en-US"/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pPr marL="6350" indent="22225" eaLnBrk="1" hangingPunct="1">
              <a:lnSpc>
                <a:spcPct val="120000"/>
              </a:lnSpc>
            </a:pPr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4.9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 i="1"/>
              <a:t>A</a:t>
            </a:r>
            <a:r>
              <a:rPr lang="en-US" altLang="zh-CN" baseline="-25000"/>
              <a:t>0</a:t>
            </a:r>
            <a:r>
              <a:rPr lang="zh-CN" altLang="en-US"/>
              <a:t>是含命题变项 </a:t>
            </a:r>
            <a:r>
              <a:rPr lang="en-US" altLang="zh-CN" i="1"/>
              <a:t>p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p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p</a:t>
            </a:r>
            <a:r>
              <a:rPr lang="en-US" altLang="zh-CN" i="1" baseline="-25000"/>
              <a:t>n</a:t>
            </a:r>
            <a:r>
              <a:rPr lang="zh-CN" altLang="en-US"/>
              <a:t>的命题公式，</a:t>
            </a:r>
            <a:r>
              <a:rPr lang="en-US" altLang="zh-CN" i="1"/>
              <a:t>A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个谓词公式，用</a:t>
            </a:r>
            <a:r>
              <a:rPr lang="en-US" altLang="zh-CN" i="1"/>
              <a:t>A</a:t>
            </a:r>
            <a:r>
              <a:rPr lang="en-US" altLang="zh-CN" i="1" baseline="-25000"/>
              <a:t>i</a:t>
            </a:r>
            <a:r>
              <a:rPr lang="en-US" altLang="zh-CN" baseline="-25000"/>
              <a:t> </a:t>
            </a:r>
            <a:r>
              <a:rPr lang="en-US" altLang="zh-CN"/>
              <a:t>(1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 i="1"/>
              <a:t>i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 i="1"/>
              <a:t>n</a:t>
            </a:r>
            <a:r>
              <a:rPr lang="en-US" altLang="zh-CN"/>
              <a:t>) </a:t>
            </a:r>
            <a:r>
              <a:rPr lang="zh-CN" altLang="en-US"/>
              <a:t>处处代替</a:t>
            </a:r>
            <a:r>
              <a:rPr lang="en-US" altLang="zh-CN" i="1"/>
              <a:t>A</a:t>
            </a:r>
            <a:r>
              <a:rPr lang="en-US" altLang="zh-CN" baseline="-25000"/>
              <a:t>0</a:t>
            </a:r>
            <a:r>
              <a:rPr lang="zh-CN" altLang="en-US"/>
              <a:t>中的</a:t>
            </a:r>
            <a:r>
              <a:rPr lang="en-US" altLang="zh-CN" i="1"/>
              <a:t>p</a:t>
            </a:r>
            <a:r>
              <a:rPr lang="en-US" altLang="zh-CN" i="1" baseline="-25000"/>
              <a:t>i</a:t>
            </a:r>
            <a:r>
              <a:rPr lang="zh-CN" altLang="en-US"/>
              <a:t>，所得公式</a:t>
            </a:r>
            <a:r>
              <a:rPr lang="en-US" altLang="zh-CN" i="1"/>
              <a:t>A</a:t>
            </a:r>
            <a:r>
              <a:rPr lang="zh-CN" altLang="en-US"/>
              <a:t>称为</a:t>
            </a:r>
            <a:r>
              <a:rPr lang="en-US" altLang="zh-CN" i="1"/>
              <a:t>A</a:t>
            </a:r>
            <a:r>
              <a:rPr lang="en-US" altLang="zh-CN" baseline="-25000"/>
              <a:t>0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代换实例</a:t>
            </a:r>
            <a:r>
              <a:rPr lang="en-US" altLang="zh-CN"/>
              <a:t>.</a:t>
            </a:r>
            <a:endParaRPr lang="en-US" altLang="zh-CN"/>
          </a:p>
          <a:p>
            <a:pPr marL="6350" indent="22225" eaLnBrk="1" hangingPunct="1">
              <a:spcBef>
                <a:spcPct val="75000"/>
              </a:spcBef>
            </a:pPr>
            <a:r>
              <a:rPr lang="zh-CN" altLang="en-US">
                <a:solidFill>
                  <a:srgbClr val="0066FF"/>
                </a:solidFill>
              </a:rPr>
              <a:t>例如， 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0066FF"/>
                </a:solidFill>
              </a:rPr>
              <a:t>G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),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0066FF"/>
                </a:solidFill>
              </a:rPr>
              <a:t>xF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</a:t>
            </a:r>
            <a:r>
              <a:rPr lang="en-US" altLang="zh-CN" i="1">
                <a:solidFill>
                  <a:srgbClr val="0066FF"/>
                </a:solidFill>
              </a:rPr>
              <a:t>yG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zh-CN" altLang="en-US">
                <a:solidFill>
                  <a:srgbClr val="0066FF"/>
                </a:solidFill>
              </a:rPr>
              <a:t>等都是</a:t>
            </a:r>
            <a:r>
              <a:rPr lang="en-US" altLang="zh-CN" i="1">
                <a:solidFill>
                  <a:srgbClr val="0066FF"/>
                </a:solidFill>
              </a:rPr>
              <a:t>p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0066FF"/>
                </a:solidFill>
              </a:rPr>
              <a:t>q</a:t>
            </a:r>
            <a:r>
              <a:rPr lang="zh-CN" altLang="en-US">
                <a:solidFill>
                  <a:srgbClr val="0066FF"/>
                </a:solidFill>
              </a:rPr>
              <a:t>的代换实例</a:t>
            </a:r>
            <a:r>
              <a:rPr lang="en-US" altLang="zh-CN">
                <a:solidFill>
                  <a:srgbClr val="0066FF"/>
                </a:solidFill>
              </a:rPr>
              <a:t>.</a:t>
            </a:r>
            <a:endParaRPr lang="en-US" altLang="zh-CN">
              <a:solidFill>
                <a:srgbClr val="0066FF"/>
              </a:solidFill>
            </a:endParaRPr>
          </a:p>
          <a:p>
            <a:pPr marL="6350" indent="22225" eaLnBrk="1" hangingPunct="1">
              <a:lnSpc>
                <a:spcPct val="120000"/>
              </a:lnSpc>
              <a:spcBef>
                <a:spcPct val="70000"/>
              </a:spcBef>
            </a:pPr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4.2</a:t>
            </a:r>
            <a:r>
              <a:rPr lang="en-US" altLang="zh-CN"/>
              <a:t> </a:t>
            </a:r>
            <a:r>
              <a:rPr lang="zh-CN" altLang="en-US"/>
              <a:t>重言式的代换实例都是永真式，矛盾式的代换实例都是矛盾式</a:t>
            </a:r>
            <a:r>
              <a:rPr lang="en-US" altLang="zh-CN"/>
              <a:t>. </a:t>
            </a:r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D4EC96-0B9E-4647-8E3B-E213A0EAB816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1150937"/>
          </a:xfrm>
        </p:spPr>
        <p:txBody>
          <a:bodyPr/>
          <a:lstStyle/>
          <a:p>
            <a:pPr marL="441325" indent="-441325"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7</a:t>
            </a:r>
            <a:r>
              <a:rPr lang="en-US" altLang="zh-CN"/>
              <a:t>  </a:t>
            </a:r>
            <a:r>
              <a:rPr lang="zh-CN" altLang="en-US"/>
              <a:t>判断下列公式中，哪些是永真式，哪些是矛盾式？</a:t>
            </a:r>
            <a:endParaRPr lang="zh-CN" altLang="en-US"/>
          </a:p>
          <a:p>
            <a:pPr marL="441325" indent="-441325" eaLnBrk="1" hangingPunct="1"/>
            <a:r>
              <a:rPr lang="zh-CN" altLang="en-US"/>
              <a:t>  </a:t>
            </a:r>
            <a:r>
              <a:rPr lang="en-US" altLang="zh-CN"/>
              <a:t>(1)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yG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</a:t>
            </a:r>
            <a:r>
              <a:rPr lang="en-US" altLang="zh-CN" i="1"/>
              <a:t>xF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))</a:t>
            </a:r>
            <a:endParaRPr lang="en-US" altLang="zh-CN"/>
          </a:p>
        </p:txBody>
      </p:sp>
      <p:sp>
        <p:nvSpPr>
          <p:cNvPr id="307204" name="Rectangle 4"/>
          <p:cNvSpPr>
            <a:spLocks noChangeArrowheads="1"/>
          </p:cNvSpPr>
          <p:nvPr/>
        </p:nvSpPr>
        <p:spPr bwMode="auto">
          <a:xfrm>
            <a:off x="971550" y="1916113"/>
            <a:ext cx="67691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885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065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81483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225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79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36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941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51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重言式 </a:t>
            </a:r>
            <a:r>
              <a:rPr lang="en-US" altLang="zh-CN" i="1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(</a:t>
            </a:r>
            <a:r>
              <a:rPr lang="en-US" altLang="zh-CN" i="1" dirty="0" err="1"/>
              <a:t>q</a:t>
            </a:r>
            <a:r>
              <a:rPr lang="en-US" altLang="zh-CN" dirty="0" err="1">
                <a:sym typeface="Symbol" panose="05050102010706020507" pitchFamily="18" charset="2"/>
              </a:rPr>
              <a:t></a:t>
            </a:r>
            <a:r>
              <a:rPr lang="en-US" altLang="zh-CN" i="1" dirty="0" err="1"/>
              <a:t>p</a:t>
            </a:r>
            <a:r>
              <a:rPr lang="en-US" altLang="zh-CN" dirty="0"/>
              <a:t>) </a:t>
            </a:r>
            <a:r>
              <a:rPr lang="zh-CN" altLang="en-US" dirty="0"/>
              <a:t>的代换实例，故为永真式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sp>
        <p:nvSpPr>
          <p:cNvPr id="307205" name="Rectangle 5"/>
          <p:cNvSpPr>
            <a:spLocks noChangeArrowheads="1"/>
          </p:cNvSpPr>
          <p:nvPr/>
        </p:nvSpPr>
        <p:spPr bwMode="auto">
          <a:xfrm>
            <a:off x="612775" y="2349500"/>
            <a:ext cx="5688013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885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065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81483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225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79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36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941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51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(2) 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</a:t>
            </a:r>
            <a:r>
              <a:rPr lang="en-US" altLang="zh-CN" i="1"/>
              <a:t>yG</a:t>
            </a:r>
            <a:r>
              <a:rPr lang="en-US" altLang="zh-CN"/>
              <a:t>(</a:t>
            </a:r>
            <a:r>
              <a:rPr lang="en-US" altLang="zh-CN" i="1"/>
              <a:t>y</a:t>
            </a:r>
            <a:r>
              <a:rPr lang="en-US" altLang="zh-CN"/>
              <a:t>))</a:t>
            </a:r>
            <a:r>
              <a:rPr lang="en-US" altLang="zh-CN">
                <a:sym typeface="Symbol" panose="05050102010706020507" pitchFamily="18" charset="2"/>
              </a:rPr>
              <a:t></a:t>
            </a:r>
            <a:r>
              <a:rPr lang="en-US" altLang="zh-CN" i="1"/>
              <a:t>yG</a:t>
            </a:r>
            <a:r>
              <a:rPr lang="en-US" altLang="zh-CN"/>
              <a:t>(</a:t>
            </a:r>
            <a:r>
              <a:rPr lang="en-US" altLang="zh-CN" i="1"/>
              <a:t>y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07206" name="Rectangle 6"/>
          <p:cNvSpPr>
            <a:spLocks noChangeArrowheads="1"/>
          </p:cNvSpPr>
          <p:nvPr/>
        </p:nvSpPr>
        <p:spPr bwMode="auto">
          <a:xfrm>
            <a:off x="971550" y="2781300"/>
            <a:ext cx="684053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885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065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81483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225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79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36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941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51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矛盾式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(</a:t>
            </a:r>
            <a:r>
              <a:rPr lang="en-US" altLang="zh-CN" i="1" dirty="0" err="1"/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</a:t>
            </a:r>
            <a:r>
              <a:rPr lang="en-US" altLang="zh-CN" i="1" dirty="0" err="1"/>
              <a:t>q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i="1" dirty="0"/>
              <a:t>q </a:t>
            </a:r>
            <a:r>
              <a:rPr lang="zh-CN" altLang="en-US" dirty="0"/>
              <a:t>的代换实例，故为永假式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sp>
        <p:nvSpPr>
          <p:cNvPr id="307207" name="Rectangle 7"/>
          <p:cNvSpPr>
            <a:spLocks noChangeArrowheads="1"/>
          </p:cNvSpPr>
          <p:nvPr/>
        </p:nvSpPr>
        <p:spPr bwMode="auto">
          <a:xfrm>
            <a:off x="612775" y="3213100"/>
            <a:ext cx="4679950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885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065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81483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225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79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36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941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51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(3)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))</a:t>
            </a:r>
            <a:endParaRPr lang="en-US" altLang="zh-CN"/>
          </a:p>
        </p:txBody>
      </p:sp>
      <p:sp>
        <p:nvSpPr>
          <p:cNvPr id="307209" name="Rectangle 9"/>
          <p:cNvSpPr>
            <a:spLocks noChangeArrowheads="1"/>
          </p:cNvSpPr>
          <p:nvPr/>
        </p:nvSpPr>
        <p:spPr bwMode="auto">
          <a:xfrm>
            <a:off x="1022350" y="3716338"/>
            <a:ext cx="7294563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885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065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81483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225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79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36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941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51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解释</a:t>
            </a:r>
            <a:r>
              <a:rPr lang="en-US" altLang="zh-CN" i="1"/>
              <a:t>I</a:t>
            </a:r>
            <a:r>
              <a:rPr lang="en-US" altLang="zh-CN" baseline="-25000"/>
              <a:t>1</a:t>
            </a:r>
            <a:r>
              <a:rPr lang="en-US" altLang="zh-CN"/>
              <a:t>: </a:t>
            </a:r>
            <a:r>
              <a:rPr lang="zh-CN" altLang="en-US"/>
              <a:t>个体域</a:t>
            </a:r>
            <a:r>
              <a:rPr lang="en-US" altLang="zh-CN"/>
              <a:t>N,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</a:t>
            </a:r>
            <a:r>
              <a:rPr lang="en-US" altLang="zh-CN" i="1"/>
              <a:t>x</a:t>
            </a:r>
            <a:r>
              <a:rPr lang="en-US" altLang="zh-CN"/>
              <a:t>&gt;5, 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 </a:t>
            </a:r>
            <a:r>
              <a:rPr lang="en-US" altLang="zh-CN" i="1"/>
              <a:t>x</a:t>
            </a:r>
            <a:r>
              <a:rPr lang="en-US" altLang="zh-CN"/>
              <a:t>&gt;4,    </a:t>
            </a:r>
            <a:r>
              <a:rPr lang="zh-CN" altLang="en-US">
                <a:solidFill>
                  <a:srgbClr val="FF0000"/>
                </a:solidFill>
              </a:rPr>
              <a:t>真</a:t>
            </a:r>
            <a:r>
              <a:rPr lang="zh-CN" altLang="en-US"/>
              <a:t> </a:t>
            </a:r>
            <a:endParaRPr lang="zh-CN" altLang="en-US"/>
          </a:p>
          <a:p>
            <a:pPr eaLnBrk="1" hangingPunct="1"/>
            <a:r>
              <a:rPr lang="zh-CN" altLang="en-US"/>
              <a:t>解释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r>
              <a:rPr lang="en-US" altLang="zh-CN"/>
              <a:t>: </a:t>
            </a:r>
            <a:r>
              <a:rPr lang="zh-CN" altLang="en-US"/>
              <a:t>个体域</a:t>
            </a:r>
            <a:r>
              <a:rPr lang="en-US" altLang="zh-CN"/>
              <a:t>N,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</a:t>
            </a:r>
            <a:r>
              <a:rPr lang="en-US" altLang="zh-CN" i="1"/>
              <a:t>x</a:t>
            </a:r>
            <a:r>
              <a:rPr lang="en-US" altLang="zh-CN"/>
              <a:t>&lt;5, </a:t>
            </a:r>
            <a:r>
              <a:rPr lang="en-US" altLang="zh-CN" i="1"/>
              <a:t>G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):</a:t>
            </a:r>
            <a:r>
              <a:rPr lang="en-US" altLang="zh-CN" i="1"/>
              <a:t>x</a:t>
            </a:r>
            <a:r>
              <a:rPr lang="en-US" altLang="zh-CN"/>
              <a:t>&lt;4,      </a:t>
            </a:r>
            <a:r>
              <a:rPr lang="zh-CN" altLang="en-US">
                <a:solidFill>
                  <a:srgbClr val="FF0000"/>
                </a:solidFill>
              </a:rPr>
              <a:t>假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结论</a:t>
            </a:r>
            <a:r>
              <a:rPr lang="en-US" altLang="zh-CN"/>
              <a:t>: </a:t>
            </a:r>
            <a:r>
              <a:rPr lang="zh-CN" altLang="en-US"/>
              <a:t>非永真式的可满足式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188" y="5084763"/>
            <a:ext cx="7200900" cy="1995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+mn-lt"/>
              </a:rPr>
              <a:t>(4) </a:t>
            </a:r>
            <a:r>
              <a:rPr lang="en-US" altLang="zh-CN" b="1" dirty="0">
                <a:latin typeface="+mn-lt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F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)</a:t>
            </a:r>
            <a:r>
              <a:rPr lang="en-US" altLang="zh-CN" b="1" dirty="0">
                <a:latin typeface="+mn-lt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+mn-lt"/>
              </a:rPr>
              <a:t>G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))</a:t>
            </a:r>
            <a:endParaRPr lang="en-US" altLang="zh-CN" b="1" dirty="0">
              <a:solidFill>
                <a:schemeClr val="accent2"/>
              </a:solidFill>
              <a:latin typeface="+mn-lt"/>
            </a:endParaRPr>
          </a:p>
          <a:p>
            <a:pPr lvl="1" eaLnBrk="1" hangingPunct="1">
              <a:spcBef>
                <a:spcPct val="5000"/>
              </a:spcBef>
              <a:defRPr/>
            </a:pPr>
            <a:r>
              <a:rPr lang="zh-CN" altLang="en-US" b="1" dirty="0">
                <a:latin typeface="+mn-lt"/>
              </a:rPr>
              <a:t>解释</a:t>
            </a:r>
            <a:r>
              <a:rPr lang="en-US" altLang="zh-CN" b="1" i="1" dirty="0">
                <a:latin typeface="+mn-lt"/>
              </a:rPr>
              <a:t>I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: </a:t>
            </a:r>
            <a:r>
              <a:rPr lang="en-US" altLang="zh-CN" b="1" i="1" dirty="0">
                <a:latin typeface="+mn-lt"/>
              </a:rPr>
              <a:t>D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=N,  </a:t>
            </a:r>
            <a:r>
              <a:rPr lang="en-US" altLang="zh-CN" b="1" i="1" dirty="0">
                <a:latin typeface="+mn-lt"/>
              </a:rPr>
              <a:t>F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):</a:t>
            </a:r>
            <a:r>
              <a:rPr lang="en-US" altLang="zh-CN" b="1" i="1" dirty="0">
                <a:latin typeface="+mn-lt"/>
              </a:rPr>
              <a:t>x</a:t>
            </a:r>
            <a:r>
              <a:rPr lang="zh-CN" altLang="en-US" b="1" dirty="0">
                <a:latin typeface="+mn-lt"/>
              </a:rPr>
              <a:t>是偶数</a:t>
            </a:r>
            <a:r>
              <a:rPr lang="en-US" altLang="zh-CN" b="1" dirty="0">
                <a:latin typeface="+mn-lt"/>
              </a:rPr>
              <a:t>,  </a:t>
            </a:r>
            <a:r>
              <a:rPr lang="en-US" altLang="zh-CN" b="1" i="1" dirty="0">
                <a:latin typeface="+mn-lt"/>
              </a:rPr>
              <a:t>G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): </a:t>
            </a:r>
            <a:r>
              <a:rPr lang="en-US" altLang="zh-CN" b="1" i="1" dirty="0">
                <a:latin typeface="+mn-lt"/>
              </a:rPr>
              <a:t>x</a:t>
            </a:r>
            <a:r>
              <a:rPr lang="zh-CN" altLang="en-US" b="1" dirty="0">
                <a:latin typeface="+mn-lt"/>
              </a:rPr>
              <a:t>是素数</a:t>
            </a:r>
            <a:r>
              <a:rPr lang="en-US" altLang="zh-CN" b="1" dirty="0">
                <a:latin typeface="+mn-lt"/>
              </a:rPr>
              <a:t>,  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真</a:t>
            </a:r>
            <a:endParaRPr lang="zh-CN" altLang="en-US" b="1" dirty="0">
              <a:solidFill>
                <a:srgbClr val="FF0000"/>
              </a:solidFill>
              <a:latin typeface="+mn-lt"/>
            </a:endParaRPr>
          </a:p>
          <a:p>
            <a:pPr lvl="1" eaLnBrk="1" hangingPunct="1">
              <a:spcBef>
                <a:spcPct val="5000"/>
              </a:spcBef>
              <a:defRPr/>
            </a:pPr>
            <a:r>
              <a:rPr lang="zh-CN" altLang="en-US" b="1" dirty="0">
                <a:latin typeface="+mn-lt"/>
              </a:rPr>
              <a:t>解释</a:t>
            </a:r>
            <a:r>
              <a:rPr lang="en-US" altLang="zh-CN" b="1" i="1" dirty="0">
                <a:latin typeface="+mn-lt"/>
              </a:rPr>
              <a:t>I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:</a:t>
            </a:r>
            <a:r>
              <a:rPr lang="en-US" altLang="zh-CN" b="1" i="1" dirty="0">
                <a:latin typeface="+mn-lt"/>
              </a:rPr>
              <a:t>D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=N,  </a:t>
            </a:r>
            <a:r>
              <a:rPr lang="en-US" altLang="zh-CN" b="1" i="1" dirty="0">
                <a:latin typeface="+mn-lt"/>
              </a:rPr>
              <a:t>F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):</a:t>
            </a:r>
            <a:r>
              <a:rPr lang="en-US" altLang="zh-CN" b="1" i="1" dirty="0">
                <a:latin typeface="+mn-lt"/>
              </a:rPr>
              <a:t>x</a:t>
            </a:r>
            <a:r>
              <a:rPr lang="zh-CN" altLang="en-US" b="1" dirty="0">
                <a:latin typeface="+mn-lt"/>
              </a:rPr>
              <a:t>是偶数</a:t>
            </a:r>
            <a:r>
              <a:rPr lang="en-US" altLang="zh-CN" b="1" dirty="0">
                <a:latin typeface="+mn-lt"/>
              </a:rPr>
              <a:t>,  </a:t>
            </a:r>
            <a:r>
              <a:rPr lang="en-US" altLang="zh-CN" b="1" i="1" dirty="0">
                <a:latin typeface="+mn-lt"/>
              </a:rPr>
              <a:t>G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): </a:t>
            </a:r>
            <a:r>
              <a:rPr lang="en-US" altLang="zh-CN" b="1" i="1" dirty="0">
                <a:latin typeface="+mn-lt"/>
              </a:rPr>
              <a:t>x</a:t>
            </a:r>
            <a:r>
              <a:rPr lang="zh-CN" altLang="en-US" b="1" dirty="0">
                <a:latin typeface="+mn-lt"/>
              </a:rPr>
              <a:t>是奇数</a:t>
            </a:r>
            <a:r>
              <a:rPr lang="en-US" altLang="zh-CN" b="1" dirty="0">
                <a:latin typeface="+mn-lt"/>
              </a:rPr>
              <a:t>,   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假</a:t>
            </a:r>
            <a:endParaRPr lang="zh-CN" altLang="en-US" b="1" dirty="0">
              <a:solidFill>
                <a:srgbClr val="FF0000"/>
              </a:solidFill>
              <a:latin typeface="+mn-lt"/>
            </a:endParaRPr>
          </a:p>
          <a:p>
            <a:pPr lvl="1" eaLnBrk="1" hangingPunct="1">
              <a:spcBef>
                <a:spcPct val="5000"/>
              </a:spcBef>
              <a:defRPr/>
            </a:pPr>
            <a:r>
              <a:rPr lang="zh-CN" altLang="en-US" b="1" dirty="0">
                <a:latin typeface="+mn-lt"/>
              </a:rPr>
              <a:t>结论</a:t>
            </a:r>
            <a:r>
              <a:rPr lang="en-US" altLang="zh-CN" b="1" dirty="0">
                <a:latin typeface="+mn-lt"/>
              </a:rPr>
              <a:t>: </a:t>
            </a:r>
            <a:r>
              <a:rPr lang="zh-CN" altLang="en-US" b="1" dirty="0">
                <a:latin typeface="+mn-lt"/>
              </a:rPr>
              <a:t>非永真式的可满足式</a:t>
            </a:r>
            <a:endParaRPr lang="zh-CN" altLang="en-US" b="1" dirty="0">
              <a:latin typeface="+mn-lt"/>
            </a:endParaRPr>
          </a:p>
          <a:p>
            <a:pPr>
              <a:defRPr/>
            </a:pPr>
            <a:endParaRPr lang="zh-CN" altLang="en-US" b="1" dirty="0"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/>
      <p:bldP spid="307205" grpId="0"/>
      <p:bldP spid="307206" grpId="0"/>
      <p:bldP spid="307207" grpId="0"/>
      <p:bldP spid="30720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PT世界-36-1"/>
          <p:cNvSpPr/>
          <p:nvPr>
            <p:custDataLst>
              <p:tags r:id="rId1"/>
            </p:custDataLst>
          </p:nvPr>
        </p:nvSpPr>
        <p:spPr>
          <a:xfrm>
            <a:off x="550545" y="3284855"/>
            <a:ext cx="8236585" cy="3279775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127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zh-CN" altLang="en-US" sz="105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思源黑体 CN Bold" panose="020B08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50875" y="3296920"/>
                <a:ext cx="8155305" cy="32048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>
                  <a:lnSpc>
                    <a:spcPct val="150000"/>
                  </a:lnSpc>
                  <a:buClrTx/>
                  <a:buSzTx/>
                  <a:buFont typeface="+mj-ea"/>
                </a:pPr>
                <a:r>
                  <a:rPr lang="zh-CN" altLang="en-US" sz="2000" b="1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解：</a:t>
                </a:r>
                <a:endParaRPr lang="zh-CN" altLang="en-US" sz="2000" b="1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Font typeface="+mj-ea"/>
                </a:pP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(1)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这是闭式，只需考虑解释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为任意一个解释，个体域为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若在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下后件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𝑥𝐹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为假，则对所有的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为假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于是，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𝑥𝐹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为假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从而公式为真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的任意性，得证公式是永真式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en-US" altLang="zh-CN" sz="1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Font typeface="+mj-ea"/>
                </a:pP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(2)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𝑰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为任意一个解释，</a:t>
                </a:r>
                <a14:m>
                  <m:oMath xmlns:m="http://schemas.openxmlformats.org/officeDocument/2006/math">
                    <m:r>
                      <a:rPr lang="en-US" altLang="zh-CN" sz="1400" b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𝛔</m:t>
                    </m:r>
                    <m:r>
                      <a:rPr lang="en-US" altLang="zh-CN" sz="1400" b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𝑰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下的任意一个赋值，个体域为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𝑫</m:t>
                    </m:r>
                  </m:oMath>
                </a14:m>
                <a:r>
                  <a:rPr lang="en-US" altLang="zh-CN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若在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σ</m:t>
                    </m:r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下前件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 ∀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𝑥𝐹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为真，即对所有的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为真，那么后件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))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也为真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从而，公式为真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得证公式是永真式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zh-CN" altLang="en-US" sz="1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Font typeface="+mj-ea"/>
                </a:pPr>
                <a:r>
                  <a:rPr lang="en-US" altLang="zh-CN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(3) </a:t>
                </a:r>
                <a:r>
                  <a:rPr lang="zh-CN" altLang="en-US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可类似</a:t>
                </a:r>
                <a:r>
                  <a:rPr lang="en-US" altLang="zh-CN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en-US" altLang="zh-CN" sz="1400" dirty="0">
                  <a:solidFill>
                    <a:srgbClr val="0066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Font typeface="+mj-ea"/>
                </a:pP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(4) </a:t>
                </a:r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𝑰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为任意一个解释，</a:t>
                </a:r>
                <a14:m>
                  <m:oMath xmlns:m="http://schemas.openxmlformats.org/officeDocument/2006/math">
                    <m:r>
                      <a:rPr lang="en-US" altLang="zh-CN" sz="1400" b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𝛔</m:t>
                    </m:r>
                    <m:r>
                      <a:rPr lang="en-US" altLang="zh-CN" sz="1400" b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𝑰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下的任意一个赋值，个体域为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𝑫</m:t>
                    </m:r>
                  </m:oMath>
                </a14:m>
                <a:r>
                  <a:rPr lang="en-US" altLang="zh-CN" sz="14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若在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σ</m:t>
                    </m:r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下前件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为真，即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))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为真，则后件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 ∃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𝑥𝐹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14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σ</m:t>
                    </m:r>
                    <m:r>
                      <a:rPr lang="en-US" altLang="zh-CN" sz="14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下也为真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从而，公式为真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得证公式是永真式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zh-CN" altLang="en-US" sz="1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Font typeface="+mj-ea"/>
                </a:pPr>
                <a:r>
                  <a:rPr lang="en-US" altLang="zh-CN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(5) </a:t>
                </a:r>
                <a:r>
                  <a:rPr lang="zh-CN" altLang="en-US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可类似</a:t>
                </a:r>
                <a:r>
                  <a:rPr lang="en-US" altLang="zh-CN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(4)</a:t>
                </a:r>
                <a:r>
                  <a:rPr lang="zh-CN" altLang="en-US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1400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.</a:t>
                </a:r>
                <a:endParaRPr lang="en-US" altLang="zh-CN" sz="1400" dirty="0">
                  <a:solidFill>
                    <a:srgbClr val="0066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75" y="3296920"/>
                <a:ext cx="8155305" cy="32048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496253" y="1415891"/>
            <a:ext cx="8236268" cy="1464926"/>
            <a:chOff x="415" y="1848"/>
            <a:chExt cx="6417" cy="8256"/>
          </a:xfrm>
        </p:grpSpPr>
        <p:sp>
          <p:nvSpPr>
            <p:cNvPr id="9" name="PPT世界-36-1"/>
            <p:cNvSpPr/>
            <p:nvPr>
              <p:custDataLst>
                <p:tags r:id="rId3"/>
              </p:custDataLst>
            </p:nvPr>
          </p:nvSpPr>
          <p:spPr>
            <a:xfrm>
              <a:off x="415" y="1848"/>
              <a:ext cx="6417" cy="8256"/>
            </a:xfrm>
            <a:prstGeom prst="roundRect">
              <a:avLst>
                <a:gd name="adj" fmla="val 8208"/>
              </a:avLst>
            </a:prstGeom>
            <a:solidFill>
              <a:srgbClr val="FFFFFF"/>
            </a:solidFill>
            <a:ln w="1270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/>
            <a:p>
              <a:pPr algn="ctr"/>
              <a:endParaRPr lang="zh-CN" altLang="en-US" sz="105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思源黑体 CN Bold" panose="020B0800000000000000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561" y="2904"/>
                  <a:ext cx="4642" cy="647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  <a:buClrTx/>
                    <a:buSzTx/>
                    <a:buFont typeface="+mj-ea"/>
                  </a:pPr>
                  <a:r>
                    <a:rPr lang="zh-CN" altLang="en-US" sz="16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证明下列公式是永真式</a:t>
                  </a:r>
                  <a:r>
                    <a:rPr lang="en-US" altLang="zh-CN" sz="16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.                          </a:t>
                  </a:r>
                  <a:r>
                    <a:rPr lang="en-US" altLang="zh-CN" sz="1600" b="1" dirty="0">
                      <a:solidFill>
                        <a:srgbClr val="0066FF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  <a:sym typeface="+mn-ea"/>
                    </a:rPr>
                    <a:t>(3)</a:t>
                  </a:r>
                  <a:r>
                    <a:rPr lang="en-US" altLang="zh-CN" sz="1600" b="1" dirty="0">
                      <a:solidFill>
                        <a:srgbClr val="0066FF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∀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𝒙𝑭</m:t>
                      </m:r>
                      <m:d>
                        <m:dPr>
                          <m:ctrlPr>
                            <a:rPr lang="en-US" altLang="zh-CN" sz="1600" b="1" i="1">
                              <a:solidFill>
                                <a:srgbClr val="0066FF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solidFill>
                                <a:srgbClr val="0066FF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1600" b="1" i="1">
                              <a:solidFill>
                                <a:srgbClr val="0066FF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solidFill>
                                <a:srgbClr val="0066FF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𝒄</m:t>
                          </m:r>
                        </m:e>
                      </m:d>
                    </m:oMath>
                  </a14:m>
                  <a:endParaRPr lang="en-US" altLang="zh-CN" sz="1600" b="1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  <a:p>
                  <a:pPr algn="l">
                    <a:lnSpc>
                      <a:spcPct val="150000"/>
                    </a:lnSpc>
                    <a:buClrTx/>
                    <a:buSzTx/>
                    <a:buFont typeface="+mj-ea"/>
                  </a:pPr>
                  <a:r>
                    <a:rPr lang="en-US" altLang="zh-CN" sz="16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(1) 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∀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𝒙𝑭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)→∃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𝒙𝑭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r>
                    <a:rPr lang="en-US" altLang="zh-CN" sz="16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                              </a:t>
                  </a:r>
                  <a:r>
                    <a:rPr lang="en-US" altLang="zh-CN" sz="16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  <a:sym typeface="+mn-ea"/>
                    </a:rPr>
                    <a:t>(4) 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𝒚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)→∃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𝒙𝑭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endParaRPr lang="en-US" altLang="zh-CN" sz="16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  <a:p>
                  <a:pPr algn="l">
                    <a:lnSpc>
                      <a:spcPct val="150000"/>
                    </a:lnSpc>
                    <a:buClrTx/>
                    <a:buSzTx/>
                    <a:buFont typeface="+mj-ea"/>
                  </a:pPr>
                  <a:r>
                    <a:rPr lang="en-US" altLang="zh-CN" sz="16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(2) 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∀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𝒙𝑭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)→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𝒚</m:t>
                      </m:r>
                      <m:r>
                        <a:rPr lang="en-US" altLang="zh-CN" sz="1600" b="1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r>
                    <a:rPr lang="en-US" altLang="zh-CN" sz="16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                                   </a:t>
                  </a:r>
                  <a:r>
                    <a:rPr lang="en-US" altLang="zh-CN" sz="1600" b="1" dirty="0">
                      <a:solidFill>
                        <a:srgbClr val="0066FF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  <a:sym typeface="+mn-ea"/>
                    </a:rPr>
                    <a:t>(5)</a:t>
                  </a:r>
                  <a14:m>
                    <m:oMath xmlns:m="http://schemas.openxmlformats.org/officeDocument/2006/math">
                      <m:r>
                        <a:rPr lang="en-US" altLang="zh-CN" sz="1600" b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 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𝑭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)→∃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𝒙𝑭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1600" b="1" i="1">
                          <a:solidFill>
                            <a:srgbClr val="0066FF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endParaRPr lang="en-US" altLang="zh-CN" sz="1600" b="1" i="1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" y="2904"/>
                  <a:ext cx="4642" cy="647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文本框 5"/>
          <p:cNvSpPr txBox="1"/>
          <p:nvPr/>
        </p:nvSpPr>
        <p:spPr>
          <a:xfrm>
            <a:off x="496570" y="1052830"/>
            <a:ext cx="8648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A50021"/>
                </a:solidFill>
                <a:sym typeface="+mn-ea"/>
              </a:rPr>
              <a:t>例</a:t>
            </a:r>
            <a:r>
              <a:rPr lang="en-US" altLang="zh-CN">
                <a:solidFill>
                  <a:srgbClr val="A50021"/>
                </a:solidFill>
                <a:sym typeface="+mn-ea"/>
              </a:rPr>
              <a:t>8</a:t>
            </a:r>
            <a:endParaRPr lang="en-US" altLang="zh-CN">
              <a:solidFill>
                <a:srgbClr val="A50021"/>
              </a:solidFill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7D084F-ECB0-4015-A1CA-25687CA981A3}" type="slidenum">
              <a:rPr lang="en-US" altLang="zh-CN" sz="1400" b="0">
                <a:latin typeface="Arial" panose="020B0604020202020204" pitchFamily="34" charset="0"/>
              </a:rPr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4.1</a:t>
            </a:r>
            <a:r>
              <a:rPr lang="zh-CN" altLang="en-US"/>
              <a:t>一阶逻辑命题符号化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个体词、谓词、量词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一阶逻辑命题符号化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4.2</a:t>
            </a:r>
            <a:r>
              <a:rPr lang="zh-CN" altLang="en-US"/>
              <a:t>一阶逻辑公式及其解释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一阶语言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合式公式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合式公式的解释 </a:t>
            </a:r>
            <a:endParaRPr lang="zh-CN" altLang="en-US"/>
          </a:p>
          <a:p>
            <a:pPr marL="361950" indent="-361950" eaLnBrk="1" hangingPunct="1"/>
            <a:r>
              <a:rPr lang="zh-CN" altLang="en-US"/>
              <a:t>     永真式、矛盾式、可满足式</a:t>
            </a:r>
            <a:endParaRPr lang="zh-CN" altLang="en-US"/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第四章 一阶逻辑基本概念（回顾）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540,&quot;left&quot;:245.3368503937008,&quot;top&quot;:0,&quot;width&quot;:714.6632283464567}"/>
</p:tagLst>
</file>

<file path=ppt/tags/tag2.xml><?xml version="1.0" encoding="utf-8"?>
<p:tagLst xmlns:p="http://schemas.openxmlformats.org/presentationml/2006/main">
  <p:tag name="KSO_WM_DIAGRAM_VIRTUALLY_FRAME" val="{&quot;height&quot;:540,&quot;left&quot;:245.3368503937008,&quot;top&quot;:0,&quot;width&quot;:714.6632283464567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9865</Words>
  <Application>WPS 演示</Application>
  <PresentationFormat>全屏显示(4:3)</PresentationFormat>
  <Paragraphs>871</Paragraphs>
  <Slides>52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25</vt:i4>
      </vt:variant>
      <vt:variant>
        <vt:lpstr>幻灯片标题</vt:lpstr>
      </vt:variant>
      <vt:variant>
        <vt:i4>52</vt:i4>
      </vt:variant>
    </vt:vector>
  </HeadingPairs>
  <TitlesOfParts>
    <vt:vector size="101" baseType="lpstr">
      <vt:lpstr>Arial</vt:lpstr>
      <vt:lpstr>宋体</vt:lpstr>
      <vt:lpstr>Wingdings</vt:lpstr>
      <vt:lpstr>华文中宋</vt:lpstr>
      <vt:lpstr>Times New Roman</vt:lpstr>
      <vt:lpstr>Symbol</vt:lpstr>
      <vt:lpstr>Verdana</vt:lpstr>
      <vt:lpstr>隶书</vt:lpstr>
      <vt:lpstr>微软雅黑</vt:lpstr>
      <vt:lpstr>Arial Unicode MS</vt:lpstr>
      <vt:lpstr>楷体_GB2312</vt:lpstr>
      <vt:lpstr>新宋体</vt:lpstr>
      <vt:lpstr>Times New Roman</vt:lpstr>
      <vt:lpstr>MT Symbol</vt:lpstr>
      <vt:lpstr>Symbol</vt:lpstr>
      <vt:lpstr>Palace Script MT</vt:lpstr>
      <vt:lpstr>Mongolian Baiti</vt:lpstr>
      <vt:lpstr>Lucida Sans Unicode</vt:lpstr>
      <vt:lpstr>思源黑体 CN Bold</vt:lpstr>
      <vt:lpstr>Cambria Math</vt:lpstr>
      <vt:lpstr>MS Mincho</vt:lpstr>
      <vt:lpstr>Docktrin</vt:lpstr>
      <vt:lpstr>黑体</vt:lpstr>
      <vt:lpstr>默认设计模板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第一部分 数理逻辑</vt:lpstr>
      <vt:lpstr>苏格拉底三段论</vt:lpstr>
      <vt:lpstr>苏格拉底三段论</vt:lpstr>
      <vt:lpstr>(p  q)→ r</vt:lpstr>
      <vt:lpstr>原因？</vt:lpstr>
      <vt:lpstr>第四章 一阶逻辑基本概念</vt:lpstr>
      <vt:lpstr>4.1一阶逻辑命题符号化</vt:lpstr>
      <vt:lpstr>实例</vt:lpstr>
      <vt:lpstr>4.1 一阶逻辑命题符号化 </vt:lpstr>
      <vt:lpstr>个体域</vt:lpstr>
      <vt:lpstr>谓词</vt:lpstr>
      <vt:lpstr>一元谓词</vt:lpstr>
      <vt:lpstr>多元谓词</vt:lpstr>
      <vt:lpstr>实例1</vt:lpstr>
      <vt:lpstr>量词</vt:lpstr>
      <vt:lpstr>全称量词</vt:lpstr>
      <vt:lpstr>实例</vt:lpstr>
      <vt:lpstr>特性谓词</vt:lpstr>
      <vt:lpstr>实例</vt:lpstr>
      <vt:lpstr>存在量词</vt:lpstr>
      <vt:lpstr>全总个体域</vt:lpstr>
      <vt:lpstr>实例2</vt:lpstr>
      <vt:lpstr>使用特性谓词常犯错误</vt:lpstr>
      <vt:lpstr>实例3</vt:lpstr>
      <vt:lpstr>实例4</vt:lpstr>
      <vt:lpstr>实例5</vt:lpstr>
      <vt:lpstr>实例（续）</vt:lpstr>
      <vt:lpstr>练习</vt:lpstr>
      <vt:lpstr>练习</vt:lpstr>
      <vt:lpstr>多个量词的使用</vt:lpstr>
      <vt:lpstr>小结</vt:lpstr>
      <vt:lpstr>第四章 一阶逻辑基本概念</vt:lpstr>
      <vt:lpstr>4.2 一阶逻辑公式及解释</vt:lpstr>
      <vt:lpstr>一阶语言L 的项与原子公式</vt:lpstr>
      <vt:lpstr>一阶语言L 的公式</vt:lpstr>
      <vt:lpstr>变元的约束</vt:lpstr>
      <vt:lpstr>实例</vt:lpstr>
      <vt:lpstr>实例</vt:lpstr>
      <vt:lpstr>实例</vt:lpstr>
      <vt:lpstr>实例</vt:lpstr>
      <vt:lpstr>实例</vt:lpstr>
      <vt:lpstr>实例</vt:lpstr>
      <vt:lpstr>公式的解释</vt:lpstr>
      <vt:lpstr>实例</vt:lpstr>
      <vt:lpstr>封闭的公式</vt:lpstr>
      <vt:lpstr>公式的类型</vt:lpstr>
      <vt:lpstr>一阶逻辑的判定问题</vt:lpstr>
      <vt:lpstr>一阶逻辑的判定问题</vt:lpstr>
      <vt:lpstr>代换实例</vt:lpstr>
      <vt:lpstr>实例</vt:lpstr>
      <vt:lpstr>PowerPoint 演示文稿</vt:lpstr>
      <vt:lpstr>第四章 一阶逻辑基本概念（回顾）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Youyou</cp:lastModifiedBy>
  <cp:revision>520</cp:revision>
  <dcterms:created xsi:type="dcterms:W3CDTF">2007-11-19T20:33:00Z</dcterms:created>
  <dcterms:modified xsi:type="dcterms:W3CDTF">2025-10-14T00:19:38Z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95E828F2AE794CF2B09C7FE89EB49535_12</vt:lpwstr>
  </property>
  <property fmtid="{D5CDD505-2E9C-101B-9397-08002B2CF9AE}" pid="3" name="KSOProductBuildVer">
    <vt:lpwstr>2052-12.1.0.22529</vt:lpwstr>
  </property>
</Properties>
</file>