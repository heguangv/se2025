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257" r:id="rId2"/>
    <p:sldId id="368" r:id="rId3"/>
    <p:sldId id="259" r:id="rId4"/>
    <p:sldId id="358" r:id="rId5"/>
    <p:sldId id="260" r:id="rId6"/>
    <p:sldId id="262" r:id="rId7"/>
    <p:sldId id="263" r:id="rId8"/>
    <p:sldId id="371" r:id="rId9"/>
    <p:sldId id="266" r:id="rId10"/>
    <p:sldId id="267" r:id="rId11"/>
    <p:sldId id="374" r:id="rId12"/>
    <p:sldId id="381" r:id="rId13"/>
    <p:sldId id="268" r:id="rId14"/>
    <p:sldId id="269" r:id="rId15"/>
    <p:sldId id="366" r:id="rId16"/>
    <p:sldId id="367" r:id="rId17"/>
    <p:sldId id="270" r:id="rId18"/>
    <p:sldId id="380" r:id="rId19"/>
    <p:sldId id="271" r:id="rId20"/>
    <p:sldId id="364" r:id="rId21"/>
    <p:sldId id="272" r:id="rId22"/>
    <p:sldId id="370" r:id="rId23"/>
    <p:sldId id="378" r:id="rId24"/>
    <p:sldId id="375" r:id="rId25"/>
    <p:sldId id="273" r:id="rId26"/>
    <p:sldId id="387" r:id="rId27"/>
    <p:sldId id="376" r:id="rId28"/>
    <p:sldId id="363" r:id="rId29"/>
    <p:sldId id="372" r:id="rId30"/>
    <p:sldId id="379" r:id="rId31"/>
    <p:sldId id="388" r:id="rId32"/>
    <p:sldId id="389" r:id="rId33"/>
    <p:sldId id="369" r:id="rId34"/>
    <p:sldId id="275" r:id="rId35"/>
    <p:sldId id="276" r:id="rId36"/>
    <p:sldId id="277" r:id="rId37"/>
    <p:sldId id="278" r:id="rId38"/>
    <p:sldId id="279" r:id="rId39"/>
    <p:sldId id="361" r:id="rId40"/>
    <p:sldId id="280" r:id="rId41"/>
    <p:sldId id="281" r:id="rId42"/>
    <p:sldId id="282" r:id="rId43"/>
    <p:sldId id="283" r:id="rId44"/>
    <p:sldId id="284" r:id="rId45"/>
    <p:sldId id="285" r:id="rId46"/>
    <p:sldId id="362" r:id="rId47"/>
    <p:sldId id="258" r:id="rId48"/>
    <p:sldId id="329" r:id="rId49"/>
    <p:sldId id="330" r:id="rId50"/>
    <p:sldId id="331" r:id="rId51"/>
    <p:sldId id="333" r:id="rId52"/>
    <p:sldId id="334" r:id="rId53"/>
    <p:sldId id="360" r:id="rId54"/>
    <p:sldId id="391" r:id="rId55"/>
    <p:sldId id="382" r:id="rId56"/>
    <p:sldId id="383" r:id="rId57"/>
    <p:sldId id="359" r:id="rId58"/>
    <p:sldId id="335" r:id="rId59"/>
    <p:sldId id="336" r:id="rId60"/>
    <p:sldId id="337" r:id="rId61"/>
    <p:sldId id="339" r:id="rId62"/>
    <p:sldId id="340" r:id="rId63"/>
    <p:sldId id="341" r:id="rId64"/>
    <p:sldId id="392" r:id="rId65"/>
    <p:sldId id="365" r:id="rId66"/>
    <p:sldId id="343" r:id="rId67"/>
    <p:sldId id="344" r:id="rId68"/>
    <p:sldId id="346" r:id="rId69"/>
    <p:sldId id="349" r:id="rId70"/>
    <p:sldId id="350" r:id="rId71"/>
    <p:sldId id="351" r:id="rId72"/>
    <p:sldId id="352" r:id="rId73"/>
    <p:sldId id="353" r:id="rId74"/>
    <p:sldId id="355" r:id="rId75"/>
    <p:sldId id="356" r:id="rId76"/>
    <p:sldId id="384" r:id="rId77"/>
    <p:sldId id="357" r:id="rId78"/>
    <p:sldId id="385" r:id="rId79"/>
    <p:sldId id="390" r:id="rId80"/>
    <p:sldId id="386" r:id="rId8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8000"/>
    <a:srgbClr val="006600"/>
    <a:srgbClr val="A50021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65" autoAdjust="0"/>
    <p:restoredTop sz="73001" autoAdjust="0"/>
  </p:normalViewPr>
  <p:slideViewPr>
    <p:cSldViewPr showGuides="1">
      <p:cViewPr varScale="1">
        <p:scale>
          <a:sx n="51" d="100"/>
          <a:sy n="51" d="100"/>
        </p:scale>
        <p:origin x="582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9A0E49-2AAA-4FC2-98C7-2C6DCC4DCB7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8E41438-2BA5-41F4-97EA-D5F5255A152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4F7FAC1-502D-43FC-B417-01D5443452BE}" type="slidenum">
              <a:rPr lang="en-US" altLang="zh-CN" sz="1200" smtClean="0"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6A6183-16DE-4FFF-AD65-DB36BDB92567}" type="slidenum">
              <a:rPr lang="en-US" altLang="zh-CN" sz="1200" smtClean="0"/>
              <a:t>2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7BA4FB-F4E1-4358-A313-F3D2ED6FB7F8}" type="slidenum">
              <a:rPr lang="en-US" altLang="zh-CN" sz="1200" smtClean="0"/>
              <a:t>3</a:t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344E75-48EF-40F5-952B-B7D437451EE7}" type="slidenum">
              <a:rPr lang="en-US" altLang="zh-CN" sz="1200" smtClean="0"/>
              <a:t>4</a:t>
            </a:fld>
            <a:endParaRPr lang="en-US" altLang="zh-CN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可以多对一</a:t>
            </a:r>
            <a:endParaRPr lang="en-US" altLang="zh-CN" dirty="0"/>
          </a:p>
          <a:p>
            <a:pPr eaLnBrk="1" hangingPunct="1"/>
            <a:r>
              <a:rPr lang="zh-CN" altLang="en-US" dirty="0"/>
              <a:t>不可以一对多</a:t>
            </a:r>
          </a:p>
          <a:p>
            <a:pPr eaLnBrk="1" hangingPunct="1"/>
            <a:r>
              <a:rPr lang="en-US" altLang="zh-CN" dirty="0"/>
              <a:t>a function is a rule that assigns to each element in the domain an element in  the range.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6235CD-6952-43D8-92B0-981D6F64F2D4}" type="slidenum">
              <a:rPr lang="en-US" altLang="zh-CN" sz="1200" smtClean="0"/>
              <a:t>5</a:t>
            </a:fld>
            <a:endParaRPr lang="en-US" altLang="zh-CN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671C59-5B97-4AA7-8EE9-8A6EF1724358}" type="slidenum">
              <a:rPr lang="en-US" altLang="zh-CN" sz="1200" smtClean="0"/>
              <a:t>6</a:t>
            </a:fld>
            <a:endParaRPr lang="en-US" altLang="zh-CN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9426C4-D169-4CAF-B04E-0D0A443105C2}" type="slidenum">
              <a:rPr lang="en-US" altLang="zh-CN" sz="1200" smtClean="0"/>
              <a:t>7</a:t>
            </a:fld>
            <a:endParaRPr lang="en-US" altLang="zh-CN" sz="120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B</a:t>
            </a:r>
            <a:r>
              <a:rPr lang="en-US" altLang="zh-CN" dirty="0"/>
              <a:t>|=6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</a:p>
          <a:p>
            <a:pPr marL="716280" indent="-716280" eaLnBrk="1" hangingPunct="1"/>
            <a:r>
              <a:rPr lang="en-US" altLang="zh-CN" i="1" dirty="0">
                <a:solidFill>
                  <a:srgbClr val="A50021"/>
                </a:solidFill>
              </a:rPr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B</a:t>
            </a:r>
            <a:r>
              <a:rPr lang="zh-CN" altLang="en-US" dirty="0"/>
              <a:t>的任何子集</a:t>
            </a:r>
            <a:r>
              <a:rPr lang="en-US" altLang="zh-CN" dirty="0"/>
              <a:t>(</a:t>
            </a:r>
            <a:r>
              <a:rPr lang="zh-CN" altLang="en-US" dirty="0"/>
              <a:t>共</a:t>
            </a:r>
            <a:r>
              <a:rPr lang="en-US" altLang="zh-CN" dirty="0"/>
              <a:t>2</a:t>
            </a:r>
            <a:r>
              <a:rPr lang="en-US" altLang="zh-CN" baseline="30000" dirty="0"/>
              <a:t>6</a:t>
            </a:r>
            <a:r>
              <a:rPr lang="en-US" altLang="zh-CN" dirty="0"/>
              <a:t>=64)</a:t>
            </a:r>
            <a:r>
              <a:rPr lang="zh-CN" altLang="en-US" dirty="0"/>
              <a:t>所定义的二元关系叫做</a:t>
            </a:r>
            <a:r>
              <a:rPr lang="zh-CN" altLang="en-US" dirty="0">
                <a:solidFill>
                  <a:srgbClr val="A50021"/>
                </a:solidFill>
              </a:rPr>
              <a:t>从</a:t>
            </a:r>
            <a:r>
              <a:rPr lang="en-US" altLang="zh-CN" i="1" dirty="0">
                <a:solidFill>
                  <a:srgbClr val="A50021"/>
                </a:solidFill>
              </a:rPr>
              <a:t>A</a:t>
            </a:r>
            <a:r>
              <a:rPr lang="zh-CN" altLang="en-US" dirty="0">
                <a:solidFill>
                  <a:srgbClr val="A50021"/>
                </a:solidFill>
              </a:rPr>
              <a:t>到</a:t>
            </a:r>
            <a:r>
              <a:rPr lang="en-US" altLang="zh-CN" i="1" dirty="0">
                <a:solidFill>
                  <a:srgbClr val="A50021"/>
                </a:solidFill>
              </a:rPr>
              <a:t>B</a:t>
            </a:r>
            <a:r>
              <a:rPr lang="zh-CN" altLang="en-US" dirty="0">
                <a:solidFill>
                  <a:srgbClr val="A50021"/>
                </a:solidFill>
              </a:rPr>
              <a:t>的二元关系</a:t>
            </a:r>
            <a:endParaRPr lang="en-US" altLang="zh-CN" dirty="0">
              <a:solidFill>
                <a:srgbClr val="A50021"/>
              </a:solidFill>
            </a:endParaRPr>
          </a:p>
          <a:p>
            <a:pPr marL="716280" indent="-716280"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定义域是空集的函数称为空函数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dirty="0">
                <a:sym typeface="Symbol" panose="05050102010706020507" pitchFamily="18" charset="2"/>
              </a:rPr>
              <a:t>（存在唯一的一个从空集到</a:t>
            </a:r>
            <a:r>
              <a:rPr lang="en-US" altLang="zh-CN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的</a:t>
            </a:r>
            <a:r>
              <a:rPr lang="zh-CN" altLang="en-US" dirty="0"/>
              <a:t>空函数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dirty="0">
                <a:sym typeface="Symbol" panose="05050102010706020507" pitchFamily="18" charset="2"/>
              </a:rPr>
              <a:t>）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不存在从</a:t>
            </a: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到空集的函数（或者说，函数的值域不能为空）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CABBF5-C47E-4D43-8DD9-B9840A4EDB10}" type="slidenum">
              <a:rPr lang="en-US" altLang="zh-CN" sz="1200" smtClean="0"/>
              <a:t>8</a:t>
            </a:fld>
            <a:endParaRPr lang="en-US" altLang="zh-CN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特别注意：完全原像的定义，不能写成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），因为普通函数不一定有逆</a:t>
            </a:r>
            <a:endParaRPr lang="en-US" altLang="zh-CN" dirty="0"/>
          </a:p>
          <a:p>
            <a:pPr eaLnBrk="1" hangingPunct="1"/>
            <a:r>
              <a:rPr lang="zh-CN" altLang="en-US" dirty="0"/>
              <a:t>左书课后习题有类似的证明题</a:t>
            </a:r>
            <a:endParaRPr lang="en-US" altLang="zh-CN" dirty="0"/>
          </a:p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f</a:t>
            </a:r>
            <a:r>
              <a:rPr lang="zh-CN" altLang="en-US" dirty="0"/>
              <a:t>是入射时，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))=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r>
              <a:rPr lang="zh-CN" altLang="en-US" dirty="0"/>
              <a:t>当</a:t>
            </a:r>
            <a:r>
              <a:rPr lang="en-US" altLang="zh-CN" dirty="0"/>
              <a:t>f</a:t>
            </a:r>
            <a:r>
              <a:rPr lang="zh-CN" altLang="en-US" dirty="0"/>
              <a:t>是满射时，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382192-C5AB-474A-9EAA-AF149BFF76F0}" type="slidenum">
              <a:rPr lang="en-US" altLang="zh-CN" sz="1200" smtClean="0"/>
              <a:t>9</a:t>
            </a:fld>
            <a:endParaRPr lang="en-US" altLang="zh-CN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A892B5-18E9-412C-97D6-4AECBDAB60E3}" type="slidenum">
              <a:rPr lang="en-US" altLang="zh-CN" sz="1200" smtClean="0"/>
              <a:t>10</a:t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A892B5-18E9-412C-97D6-4AECBDAB60E3}" type="slidenum">
              <a:rPr lang="en-US" altLang="zh-CN" sz="1200" smtClean="0"/>
              <a:t>11</a:t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有了单射和满射的知识，那么思考此问题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E41438-2BA5-41F4-97EA-D5F5255A152E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5CDE98-0295-4225-85EE-40611032B94E}" type="slidenum">
              <a:rPr lang="en-US" altLang="zh-CN" sz="1200" smtClean="0"/>
              <a:t>13</a:t>
            </a:fld>
            <a:endParaRPr lang="en-US" altLang="zh-CN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F2A32C-A43C-4147-AB62-C361A46BE9F1}" type="slidenum">
              <a:rPr lang="en-US" altLang="zh-CN" sz="1200" smtClean="0"/>
              <a:t>14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1" i="1" dirty="0">
                <a:latin typeface="Times New Roman" panose="02020603050405020304" pitchFamily="18" charset="0"/>
              </a:rPr>
              <a:t>双射函数不唯一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)≈{0,1}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FACE80-27BF-4785-97CF-F5E18F17B908}" type="slidenum">
              <a:rPr lang="en-US" altLang="zh-CN" sz="1200" smtClean="0"/>
              <a:t>15</a:t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基于无穷的思想来理解</a:t>
            </a:r>
            <a:endParaRPr lang="en-US" altLang="zh-CN" dirty="0"/>
          </a:p>
          <a:p>
            <a:pPr eaLnBrk="1" hangingPunct="1"/>
            <a:r>
              <a:rPr lang="zh-CN" altLang="en-US" dirty="0"/>
              <a:t>伽利略的不等长的两个线段上可以一一对应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FACE80-27BF-4785-97CF-F5E18F17B908}" type="slidenum">
              <a:rPr lang="en-US" altLang="zh-CN" sz="1200" smtClean="0"/>
              <a:t>16</a:t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基于无穷的思想来理解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整数和自然数一样多</a:t>
            </a:r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FACE80-27BF-4785-97CF-F5E18F17B908}" type="slidenum">
              <a:rPr lang="en-US" altLang="zh-CN" sz="1200" smtClean="0"/>
              <a:t>17</a:t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基于无穷的思想来理解</a:t>
            </a:r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正整数集合 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{1, 2, 3, 4, ⋯⋯} 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和平方数集合 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{1, 4, 9, 16, ⋯⋯} 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哪个大呢？一方面，正整数集合里包含了所有的平方数，前者显然比后者大；可另一方面，每个正整数平方之后都唯一地对应了一个平方数，两个集合大小应该相等才对。伽利略比较早地使用了一一对应的思想，可惜没有沿着这个思路更进一步思考下去。最后他得出的结论就是，无穷是无法比较大小的。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近代科学的开拓者伽利略注意到：两个不等长的线段上的点也可以构成一一对应；正整数与它们的平方可以构成一一对应，这说明无穷大有不同的“数量级”，但是伽利略认为这是不可能的。换句话说，他认为，所有无穷大量都一样，不能比较大小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康托解决了，无穷的大小是可以比较的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建立了集合论（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set theory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），并系统地研究了集合（尤其是无穷集合）的大小，只不过这个大小不是简单地叫做“大小”了，而是叫势（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cardinality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）。如果两个集合间的元素能建立起一一对应的关系，我们就说它们等势，这也是我们比较集合大小的方式</a:t>
            </a: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希尔伯特旅馆有无限个房间，并且每个房间都住了客人。一天来了一个新客人，旅馆老板说：“虽然我们已经客满，但你还是能住进来的。我让 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号房间的客人搬到 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号房间搬到 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3 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号房间⋯⋯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号房间搬到 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n+1 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号房间，你就可以住进 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号房间了。”又一天，来了无限个客人，老板又说：“不用担心，大家仍然都能住进来。我让 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号房间的客人搬到 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号房间，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号搬到 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4 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3 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号搬到 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6 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号⋯⋯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号搬到 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2n 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号，然后你们排好队，依次住进奇数号的房间吧。”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E41438-2BA5-41F4-97EA-D5F5255A152E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FE3E07-ECAB-4391-BA9F-86C3FE8F3081}" type="slidenum">
              <a:rPr lang="en-US" altLang="zh-CN" sz="1200" smtClean="0"/>
              <a:t>19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集合</a:t>
            </a:r>
            <a:r>
              <a:rPr lang="en-US" altLang="zh-CN" i="1" dirty="0"/>
              <a:t>A</a:t>
            </a:r>
            <a:r>
              <a:rPr lang="zh-CN" altLang="en-US" dirty="0"/>
              <a:t>和</a:t>
            </a:r>
            <a:r>
              <a:rPr lang="en-US" altLang="zh-CN" i="1" dirty="0"/>
              <a:t>A</a:t>
            </a:r>
            <a:r>
              <a:rPr lang="zh-CN" altLang="en-US" dirty="0"/>
              <a:t>上的偏序关系≼一起叫做</a:t>
            </a:r>
            <a:r>
              <a:rPr lang="zh-CN" altLang="en-US" dirty="0">
                <a:solidFill>
                  <a:srgbClr val="A50021"/>
                </a:solidFill>
              </a:rPr>
              <a:t>偏序集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,≼&gt;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C48C93-49ED-4643-964C-936BF9B8A9B1}" type="slidenum">
              <a:rPr lang="en-US" altLang="zh-CN" sz="1200" smtClean="0"/>
              <a:t>20</a:t>
            </a:fld>
            <a:endParaRPr lang="en-US" altLang="zh-CN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盖住集合</a:t>
            </a:r>
            <a:r>
              <a:rPr lang="en-US" altLang="zh-CN" dirty="0"/>
              <a:t>{&lt;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,</a:t>
            </a:r>
            <a:r>
              <a:rPr lang="en-US" altLang="zh-CN" dirty="0">
                <a:latin typeface="Times New Roman" panose="02020603050405020304" pitchFamily="18" charset="0"/>
              </a:rPr>
              <a:t>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}&gt;,</a:t>
            </a:r>
            <a:r>
              <a:rPr lang="en-US" altLang="zh-CN" dirty="0"/>
              <a:t> &lt;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,</a:t>
            </a:r>
            <a:r>
              <a:rPr lang="en-US" altLang="zh-CN" dirty="0">
                <a:latin typeface="Times New Roman" panose="02020603050405020304" pitchFamily="18" charset="0"/>
              </a:rPr>
              <a:t> 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}&gt;,</a:t>
            </a:r>
            <a:r>
              <a:rPr lang="en-US" altLang="zh-CN" dirty="0"/>
              <a:t> &lt;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}&gt;,</a:t>
            </a:r>
            <a:r>
              <a:rPr lang="en-US" altLang="zh-CN" dirty="0"/>
              <a:t> &lt;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}, 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}&gt;……)</a:t>
            </a:r>
            <a:endParaRPr lang="zh-CN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7C56CE-D789-47D5-9F36-657E17B288CB}" type="slidenum">
              <a:rPr lang="en-US" altLang="zh-CN" sz="1200" smtClean="0"/>
              <a:t>21</a:t>
            </a:fld>
            <a:endParaRPr lang="en-US" altLang="zh-CN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一个子集可以用其特征函数表示，</a:t>
            </a:r>
            <a:endParaRPr lang="en-US" altLang="zh-CN" dirty="0"/>
          </a:p>
          <a:p>
            <a:pPr eaLnBrk="1" hangingPunct="1"/>
            <a:r>
              <a:rPr lang="zh-CN" altLang="en-US" dirty="0"/>
              <a:t>对于原集合中的任意元素，检查它是否在这个当前子集中，若在，则为</a:t>
            </a:r>
            <a:r>
              <a:rPr lang="en-US" altLang="zh-CN" dirty="0"/>
              <a:t>1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F2A32C-A43C-4147-AB62-C361A46BE9F1}" type="slidenum">
              <a:rPr lang="en-US" altLang="zh-CN" sz="1200" smtClean="0"/>
              <a:t>22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3}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{0</a:t>
            </a:r>
            <a:r>
              <a:rPr lang="zh-CN" altLang="en-US" dirty="0"/>
              <a:t>，</a:t>
            </a:r>
            <a:r>
              <a:rPr lang="en-US" altLang="zh-CN" dirty="0"/>
              <a:t>1}</a:t>
            </a:r>
            <a:r>
              <a:rPr lang="zh-CN" altLang="en-US" dirty="0"/>
              <a:t>共有</a:t>
            </a:r>
            <a:r>
              <a:rPr lang="en-US" altLang="zh-CN" dirty="0"/>
              <a:t>6</a:t>
            </a:r>
            <a:r>
              <a:rPr lang="zh-CN" altLang="en-US" dirty="0"/>
              <a:t>个不同的有序对，则其幂集中元素的个数是</a:t>
            </a:r>
            <a:r>
              <a:rPr lang="en-US" altLang="zh-CN" dirty="0"/>
              <a:t>2</a:t>
            </a:r>
            <a:r>
              <a:rPr lang="en-US" altLang="zh-CN" baseline="30000" dirty="0"/>
              <a:t>6</a:t>
            </a:r>
            <a:r>
              <a:rPr lang="en-US" altLang="zh-CN" dirty="0"/>
              <a:t>=64</a:t>
            </a:r>
            <a:r>
              <a:rPr lang="zh-CN" altLang="en-US" dirty="0"/>
              <a:t>个</a:t>
            </a:r>
            <a:endParaRPr lang="en-US" altLang="zh-CN" dirty="0"/>
          </a:p>
          <a:p>
            <a:pPr eaLnBrk="1" hangingPunct="1"/>
            <a:r>
              <a:rPr lang="zh-CN" altLang="en-US" dirty="0"/>
              <a:t>即：从</a:t>
            </a:r>
            <a:r>
              <a:rPr lang="en-US" altLang="zh-CN" dirty="0"/>
              <a:t>{1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3}</a:t>
            </a:r>
            <a:r>
              <a:rPr lang="zh-CN" altLang="en-US" dirty="0"/>
              <a:t>到</a:t>
            </a:r>
            <a:r>
              <a:rPr lang="en-US" altLang="zh-CN" dirty="0"/>
              <a:t>{0</a:t>
            </a:r>
            <a:r>
              <a:rPr lang="zh-CN" altLang="en-US" dirty="0"/>
              <a:t>，</a:t>
            </a:r>
            <a:r>
              <a:rPr lang="en-US" altLang="zh-CN" dirty="0"/>
              <a:t>1}</a:t>
            </a:r>
            <a:r>
              <a:rPr lang="zh-CN" altLang="en-US" dirty="0"/>
              <a:t>有</a:t>
            </a:r>
            <a:r>
              <a:rPr lang="en-US" altLang="zh-CN" dirty="0"/>
              <a:t>64</a:t>
            </a:r>
            <a:r>
              <a:rPr lang="zh-CN" altLang="en-US" dirty="0"/>
              <a:t>个不同的关系，这些关系中有</a:t>
            </a:r>
            <a:r>
              <a:rPr lang="en-US" altLang="zh-CN" dirty="0"/>
              <a:t>8</a:t>
            </a:r>
            <a:r>
              <a:rPr lang="zh-CN" altLang="en-US" dirty="0"/>
              <a:t>个函数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前面构造的双射函数是：</a:t>
            </a:r>
            <a:endParaRPr lang="en-US" altLang="zh-CN" dirty="0"/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({1})=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({2})=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f</a:t>
            </a:r>
            <a:r>
              <a:rPr lang="en-US" altLang="zh-CN" dirty="0">
                <a:latin typeface="Times New Roman" panose="02020603050405020304" pitchFamily="18" charset="0"/>
              </a:rPr>
              <a:t>({1,2})=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({1,3})=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({2,3})=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({1,2,3})=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endParaRPr lang="en-US" altLang="zh-CN" dirty="0"/>
          </a:p>
          <a:p>
            <a:pPr eaLnBrk="1" hangingPunct="1"/>
            <a:r>
              <a:rPr lang="zh-CN" altLang="en-US" dirty="0"/>
              <a:t>在此，可以从特征函数的角度构造双射函数</a:t>
            </a:r>
            <a:endParaRPr lang="en-US" altLang="zh-CN" dirty="0"/>
          </a:p>
          <a:p>
            <a:pPr eaLnBrk="1" hangingPunct="1"/>
            <a:r>
              <a:rPr lang="zh-CN" altLang="en-US" dirty="0"/>
              <a:t>一个子集可以用其特征函数表示，</a:t>
            </a:r>
            <a:endParaRPr lang="en-US" altLang="zh-CN" dirty="0"/>
          </a:p>
          <a:p>
            <a:pPr eaLnBrk="1" hangingPunct="1"/>
            <a:r>
              <a:rPr lang="zh-CN" altLang="en-US" dirty="0"/>
              <a:t>对于原集合中的任意元素，检查它是否在这个当前子集中，若在，则为</a:t>
            </a:r>
            <a:r>
              <a:rPr lang="en-US" altLang="zh-CN" dirty="0"/>
              <a:t>1</a:t>
            </a:r>
            <a:r>
              <a:rPr lang="zh-CN" altLang="en-US" dirty="0"/>
              <a:t>，否则为</a:t>
            </a:r>
            <a:r>
              <a:rPr lang="en-US" altLang="zh-CN" dirty="0"/>
              <a:t>0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此题考查的是偏序，特征函数的结合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={&lt;1,0&gt;,&lt;2,0&gt;,&lt;3,0&gt;}, </a:t>
            </a:r>
          </a:p>
          <a:p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={&lt;1,1&gt;,&lt;2,0&gt;,&lt;3,0&gt;},  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={&lt;1,0&gt;,&lt;2,1&gt;,&lt;3,0&gt;},  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={&lt;1,0&gt;,&lt;2,0&gt;,&lt;3,1&gt;},</a:t>
            </a:r>
            <a:br>
              <a:rPr lang="en-US" altLang="zh-CN" dirty="0">
                <a:latin typeface="Times New Roman" panose="02020603050405020304" pitchFamily="18" charset="0"/>
                <a:sym typeface="+mn-ea"/>
              </a:rPr>
            </a:b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4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={&lt;1,1&gt;,&lt;2,1&gt;,&lt;3,0&gt;},  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={&lt;1,1&gt;,&lt;2,0&gt;,&lt;3,1&gt;},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6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={&lt;1,0&gt;,&lt;2,1&gt;,&lt;3,1&gt;},  </a:t>
            </a:r>
          </a:p>
          <a:p>
            <a:r>
              <a:rPr lang="en-US" altLang="zh-CN" dirty="0">
                <a:latin typeface="Times New Roman" panose="02020603050405020304" pitchFamily="18" charset="0"/>
                <a:sym typeface="+mn-ea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  <a:sym typeface="+mn-ea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  <a:sym typeface="+mn-ea"/>
              </a:rPr>
              <a:t>7</a:t>
            </a:r>
            <a:r>
              <a:rPr lang="en-US" altLang="zh-CN" dirty="0">
                <a:latin typeface="Times New Roman" panose="02020603050405020304" pitchFamily="18" charset="0"/>
                <a:sym typeface="+mn-ea"/>
              </a:rPr>
              <a:t>={&lt;1,1&gt;,&lt;2,1&gt;,&lt;3,1&gt;}.</a:t>
            </a:r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071011-06B1-4617-9DB3-E9CE57410B98}" type="slidenum">
              <a:rPr lang="en-US" altLang="zh-CN" sz="1200" smtClean="0"/>
              <a:t>23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7C56CE-D789-47D5-9F36-657E17B288CB}" type="slidenum">
              <a:rPr lang="en-US" altLang="zh-CN" sz="1200" smtClean="0"/>
              <a:t>24</a:t>
            </a:fld>
            <a:endParaRPr lang="en-US" altLang="zh-CN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C48C93-49ED-4643-964C-936BF9B8A9B1}" type="slidenum">
              <a:rPr lang="en-US" altLang="zh-CN" sz="1200" smtClean="0"/>
              <a:t>25</a:t>
            </a:fld>
            <a:endParaRPr lang="en-US" altLang="zh-CN" sz="120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134</a:t>
            </a:r>
            <a:r>
              <a:rPr lang="zh-CN" altLang="en-US" dirty="0"/>
              <a:t>正确</a:t>
            </a:r>
            <a:endParaRPr lang="en-US" altLang="zh-CN" dirty="0"/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zh-CN" altLang="en-US" dirty="0"/>
              <a:t>关于恒等关系和全域关系的商集为：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 dirty="0"/>
              <a:t>            </a:t>
            </a:r>
            <a:r>
              <a:rPr lang="zh-CN" altLang="en-US" i="1" dirty="0"/>
              <a:t> </a:t>
            </a:r>
            <a:r>
              <a:rPr lang="en-US" altLang="zh-CN" i="1" dirty="0"/>
              <a:t>A/I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{{1}, {2}, …, {8}}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zh-CN" dirty="0"/>
              <a:t>           </a:t>
            </a:r>
            <a:r>
              <a:rPr lang="zh-CN" altLang="en-US" dirty="0"/>
              <a:t> </a:t>
            </a:r>
            <a:r>
              <a:rPr lang="en-US" altLang="zh-CN" i="1" dirty="0"/>
              <a:t>A/E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{{1,2,…,8}}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全域关系</a:t>
            </a:r>
            <a:r>
              <a:rPr lang="zh-CN" altLang="en-US" dirty="0"/>
              <a:t> 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} = 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A  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恒等关系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}</a:t>
            </a:r>
          </a:p>
          <a:p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071011-06B1-4617-9DB3-E9CE57410B98}" type="slidenum">
              <a:rPr lang="en-US" altLang="zh-CN" sz="1200" smtClean="0"/>
              <a:t>26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等价关系</a:t>
            </a:r>
            <a:r>
              <a:rPr lang="en-US" altLang="zh-CN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把</a:t>
            </a:r>
            <a:r>
              <a:rPr lang="en-US" altLang="zh-CN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划分为</a:t>
            </a:r>
            <a:r>
              <a:rPr lang="en-US" altLang="zh-CN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和非</a:t>
            </a:r>
            <a:r>
              <a:rPr lang="en-US" altLang="zh-CN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fr-FR" altLang="zh-CN" sz="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fr-FR" altLang="zh-CN" sz="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fr-FR" altLang="zh-CN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g(N)=</a:t>
            </a:r>
            <a:r>
              <a:rPr lang="en-US" altLang="zh-CN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{g(0),g(1)……}=</a:t>
            </a:r>
            <a:r>
              <a:rPr lang="fr-FR" altLang="zh-CN" sz="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{N}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考查了：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等价关系，自然映射</a:t>
            </a:r>
            <a:endParaRPr lang="en-US" altLang="zh-CN" sz="1200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Times New Roman" panose="02020603050405020304" pitchFamily="18" charset="0"/>
              </a:rPr>
              <a:t>函数值与像的区别：函数值 </a:t>
            </a:r>
            <a:r>
              <a:rPr lang="en-US" altLang="zh-CN" sz="1200" i="1" dirty="0">
                <a:latin typeface="Times New Roman" panose="02020603050405020304" pitchFamily="18" charset="0"/>
              </a:rPr>
              <a:t>f</a:t>
            </a:r>
            <a:r>
              <a:rPr lang="en-US" altLang="zh-CN" sz="1200" dirty="0">
                <a:latin typeface="Times New Roman" panose="02020603050405020304" pitchFamily="18" charset="0"/>
              </a:rPr>
              <a:t>(</a:t>
            </a:r>
            <a:r>
              <a:rPr lang="en-US" altLang="zh-CN" sz="1200" i="1" dirty="0">
                <a:latin typeface="Times New Roman" panose="02020603050405020304" pitchFamily="18" charset="0"/>
              </a:rPr>
              <a:t>x</a:t>
            </a:r>
            <a:r>
              <a:rPr lang="en-US" altLang="zh-CN" sz="1200" dirty="0">
                <a:latin typeface="Times New Roman" panose="02020603050405020304" pitchFamily="18" charset="0"/>
              </a:rPr>
              <a:t>)∈</a:t>
            </a:r>
            <a:r>
              <a:rPr lang="en-US" altLang="zh-CN" sz="1200" i="1" dirty="0">
                <a:latin typeface="Times New Roman" panose="02020603050405020304" pitchFamily="18" charset="0"/>
              </a:rPr>
              <a:t>B</a:t>
            </a:r>
            <a:r>
              <a:rPr lang="en-US" altLang="zh-CN" sz="1200" dirty="0">
                <a:latin typeface="Times New Roman" panose="02020603050405020304" pitchFamily="18" charset="0"/>
              </a:rPr>
              <a:t>, </a:t>
            </a:r>
            <a:r>
              <a:rPr lang="zh-CN" altLang="en-US" sz="1200" dirty="0">
                <a:latin typeface="Times New Roman" panose="02020603050405020304" pitchFamily="18" charset="0"/>
              </a:rPr>
              <a:t>像</a:t>
            </a:r>
            <a:r>
              <a:rPr lang="en-US" altLang="zh-CN" sz="12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200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12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200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12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12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i="1" dirty="0">
                <a:solidFill>
                  <a:srgbClr val="0066FF"/>
                </a:solidFill>
                <a:latin typeface="Times New Roman" panose="02020603050405020304" pitchFamily="18" charset="0"/>
              </a:rPr>
              <a:t>习题课件上的有类似的题</a:t>
            </a:r>
            <a:endParaRPr lang="en-US" altLang="zh-CN" sz="1200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071011-06B1-4617-9DB3-E9CE57410B98}" type="slidenum">
              <a:rPr lang="en-US" altLang="zh-CN" sz="1200" smtClean="0"/>
              <a:t>27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7BA4FB-F4E1-4358-A313-F3D2ED6FB7F8}" type="slidenum">
              <a:rPr lang="en-US" altLang="zh-CN" sz="1200" smtClean="0"/>
              <a:t>28</a:t>
            </a:fld>
            <a:endParaRPr lang="en-US" altLang="zh-CN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表面上在考查等价关系，函数集合，幂集的概念，实际上在深入考察函数的定义：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为二元关系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都存在唯一的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∈ran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使 </a:t>
            </a:r>
            <a:r>
              <a:rPr lang="en-US" altLang="zh-CN" i="1" dirty="0" err="1">
                <a:latin typeface="Times New Roman" panose="02020603050405020304" pitchFamily="18" charset="0"/>
              </a:rPr>
              <a:t>xFy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成立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函数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i="1" dirty="0">
                <a:latin typeface="Times New Roman" panose="02020603050405020304" pitchFamily="18" charset="0"/>
              </a:rPr>
              <a:t>对于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…} </a:t>
            </a:r>
          </a:p>
          <a:p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不可以为空，可以是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的全部非空子集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（也就是说，函数的值域不能为空，除了空，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的所有子集都可以作为值域）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（可以用值域的定义来理解）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E41438-2BA5-41F4-97EA-D5F5255A152E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7.20 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上的偏序关系</a:t>
            </a:r>
            <a:r>
              <a:rPr lang="en-US" altLang="zh-CN" dirty="0"/>
              <a:t>, </a:t>
            </a:r>
          </a:p>
          <a:p>
            <a:pPr eaLnBrk="1" hangingPunct="1"/>
            <a:r>
              <a:rPr lang="en-US" altLang="zh-CN" dirty="0"/>
              <a:t>(1)</a:t>
            </a:r>
            <a:r>
              <a:rPr lang="en-US" altLang="zh-CN" b="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i="1" dirty="0"/>
              <a:t>x </a:t>
            </a:r>
            <a:r>
              <a:rPr lang="en-US" altLang="zh-CN" dirty="0"/>
              <a:t>≺ </a:t>
            </a:r>
            <a:r>
              <a:rPr lang="en-US" altLang="zh-CN" i="1" dirty="0"/>
              <a:t>y </a:t>
            </a:r>
            <a:r>
              <a:rPr lang="zh-CN" altLang="en-US" dirty="0">
                <a:sym typeface="Symbol" panose="05050102010706020507" pitchFamily="18" charset="2"/>
              </a:rPr>
              <a:t></a:t>
            </a:r>
            <a:r>
              <a:rPr lang="zh-CN" altLang="en-US" dirty="0"/>
              <a:t>  </a:t>
            </a:r>
            <a:r>
              <a:rPr lang="en-US" altLang="zh-CN" i="1" dirty="0"/>
              <a:t>x </a:t>
            </a:r>
            <a:r>
              <a:rPr lang="en-US" altLang="zh-CN" dirty="0"/>
              <a:t>≼ </a:t>
            </a:r>
            <a:r>
              <a:rPr lang="en-US" altLang="zh-CN" i="1" dirty="0"/>
              <a:t>y</a:t>
            </a:r>
            <a:r>
              <a:rPr lang="en-US" altLang="zh-CN" dirty="0"/>
              <a:t>∧</a:t>
            </a:r>
            <a:r>
              <a:rPr lang="en-US" altLang="zh-CN" i="1" dirty="0"/>
              <a:t> x</a:t>
            </a:r>
            <a:r>
              <a:rPr lang="zh-CN" altLang="en-US" dirty="0">
                <a:sym typeface="Symbol" panose="05050102010706020507" pitchFamily="18" charset="2"/>
              </a:rPr>
              <a:t></a:t>
            </a:r>
            <a:r>
              <a:rPr lang="en-US" altLang="zh-CN" i="1" dirty="0"/>
              <a:t>y</a:t>
            </a:r>
            <a:endParaRPr lang="en-US" altLang="zh-CN" dirty="0"/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>
                <a:solidFill>
                  <a:srgbClr val="A50021"/>
                </a:solidFill>
              </a:rPr>
              <a:t>可比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</a:t>
            </a:r>
            <a:r>
              <a:rPr lang="zh-CN" altLang="en-US" dirty="0"/>
              <a:t>  </a:t>
            </a:r>
            <a:r>
              <a:rPr lang="en-US" altLang="zh-CN" i="1" dirty="0"/>
              <a:t>x </a:t>
            </a:r>
            <a:r>
              <a:rPr lang="en-US" altLang="zh-CN" dirty="0"/>
              <a:t>≼ </a:t>
            </a:r>
            <a:r>
              <a:rPr lang="en-US" altLang="zh-CN" i="1" dirty="0" err="1"/>
              <a:t>y</a:t>
            </a:r>
            <a:r>
              <a:rPr lang="en-US" altLang="zh-CN" dirty="0" err="1"/>
              <a:t>∨</a:t>
            </a:r>
            <a:r>
              <a:rPr lang="en-US" altLang="zh-CN" i="1" dirty="0" err="1"/>
              <a:t>y</a:t>
            </a:r>
            <a:r>
              <a:rPr lang="en-US" altLang="zh-CN" i="1" dirty="0"/>
              <a:t> </a:t>
            </a:r>
            <a:r>
              <a:rPr lang="en-US" altLang="zh-CN" dirty="0"/>
              <a:t>≼ </a:t>
            </a:r>
            <a:r>
              <a:rPr lang="en-US" altLang="zh-CN" i="1" dirty="0"/>
              <a:t>x </a:t>
            </a:r>
            <a:endParaRPr lang="en-US" altLang="zh-CN" dirty="0"/>
          </a:p>
          <a:p>
            <a:pPr eaLnBrk="1" hangingPunct="1">
              <a:spcBef>
                <a:spcPct val="50000"/>
              </a:spcBef>
            </a:pPr>
            <a:endParaRPr lang="en-US" altLang="zh-CN" dirty="0">
              <a:solidFill>
                <a:srgbClr val="A5002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7.21</a:t>
            </a:r>
            <a:r>
              <a:rPr lang="en-US" altLang="zh-CN" dirty="0"/>
              <a:t> 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上的偏序关系</a:t>
            </a:r>
            <a:r>
              <a:rPr lang="en-US" altLang="zh-CN" dirty="0"/>
              <a:t>,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(1) 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/>
              <a:t>都是可比的，则称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全序</a:t>
            </a:r>
            <a:r>
              <a:rPr lang="zh-CN" altLang="en-US" dirty="0"/>
              <a:t>（或线序）</a:t>
            </a:r>
          </a:p>
          <a:p>
            <a:pPr algn="just"/>
            <a:endParaRPr lang="en-US" altLang="zh-C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简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单例子：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A={1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3}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R={&lt;1,2&gt;,&lt;1,3&gt;}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表示整除关系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就是偏序关系，但是不是全序关系，因为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&lt;2,3&gt;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不在其中</a:t>
            </a:r>
            <a:endParaRPr lang="en-US" altLang="zh-CN" sz="1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1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关系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中的元素对应的两个函数图像，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要都在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的上方（对于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[0,1]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266700" algn="just"/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反例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： （函数图像有交叉）</a:t>
            </a:r>
            <a:endParaRPr lang="en-US" altLang="zh-CN" sz="12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266700" algn="just"/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f(x)=x ,g(x)=-x+1(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都是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中的元素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indent="266700" algn="just"/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但是，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f(x)-g(x)=2x-1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，会有大于等于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，也会有小于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的，故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12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f,g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sz="12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zh-CN" altLang="zh-CN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1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071011-06B1-4617-9DB3-E9CE57410B98}" type="slidenum">
              <a:rPr lang="en-US" altLang="zh-CN" sz="1200" smtClean="0"/>
              <a:t>30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E41438-2BA5-41F4-97EA-D5F5255A152E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E41438-2BA5-41F4-97EA-D5F5255A152E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6A6183-16DE-4FFF-AD65-DB36BDB92567}" type="slidenum">
              <a:rPr lang="en-US" altLang="zh-CN" sz="1200" smtClean="0"/>
              <a:t>33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8C6FB5-823E-46DC-9953-B028549C716D}" type="slidenum">
              <a:rPr lang="en-US" altLang="zh-CN" sz="1200" smtClean="0"/>
              <a:t>34</a:t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54964A-8455-4423-BDDD-8B53520C3BA5}" type="slidenum">
              <a:rPr lang="en-US" altLang="zh-CN" sz="1200" smtClean="0"/>
              <a:t>35</a:t>
            </a:fld>
            <a:endParaRPr lang="en-US" altLang="zh-CN" sz="120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证函数值唯一：由不同的的两个</a:t>
            </a:r>
            <a:r>
              <a:rPr lang="en-US" altLang="zh-CN" dirty="0"/>
              <a:t>y</a:t>
            </a:r>
            <a:r>
              <a:rPr lang="zh-CN" altLang="en-US" dirty="0"/>
              <a:t>，推得它们相等 </a:t>
            </a:r>
            <a:endParaRPr lang="en-US" altLang="zh-CN" dirty="0"/>
          </a:p>
          <a:p>
            <a:pPr eaLnBrk="1" hangingPunct="1"/>
            <a:r>
              <a:rPr lang="zh-CN" altLang="en-US" dirty="0"/>
              <a:t>辖域的扩张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919FC8-52A3-49E5-8D00-613C763E343B}" type="slidenum">
              <a:rPr lang="en-US" altLang="zh-CN" sz="1200" smtClean="0"/>
              <a:t>36</a:t>
            </a:fld>
            <a:endParaRPr lang="en-US" altLang="zh-CN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2A89BCE-10D5-4B20-BC3E-3F815DBB4F9C}" type="slidenum">
              <a:rPr lang="en-US" altLang="zh-CN" sz="1200" smtClean="0"/>
              <a:t>37</a:t>
            </a:fld>
            <a:endParaRPr lang="en-US" altLang="zh-CN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且满足</a:t>
            </a:r>
          </a:p>
          <a:p>
            <a:pPr marL="609600" indent="-609600"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marL="609600" indent="-609600"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>
              <a:defRPr/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B9EE04-0B01-473A-9CBF-929203C1D7C2}" type="slidenum">
              <a:rPr lang="en-US" altLang="zh-CN" sz="1200" smtClean="0"/>
              <a:t>38</a:t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且满足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B9EE04-0B01-473A-9CBF-929203C1D7C2}" type="slidenum">
              <a:rPr lang="en-US" altLang="zh-CN" sz="1200" smtClean="0"/>
              <a:t>39</a:t>
            </a:fld>
            <a:endParaRPr lang="en-US" altLang="zh-CN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且满足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69EC6FD-7EB6-4014-9D32-B955724631AE}" type="slidenum">
              <a:rPr lang="en-US" altLang="zh-CN" sz="1200" smtClean="0"/>
              <a:t>40</a:t>
            </a:fld>
            <a:endParaRPr lang="en-US" altLang="zh-CN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对于单射来讲，函数值要是相等，必不能有不同的</a:t>
            </a:r>
            <a:r>
              <a:rPr lang="en-US" altLang="zh-CN" dirty="0"/>
              <a:t>x</a:t>
            </a:r>
            <a:r>
              <a:rPr lang="zh-CN" altLang="en-US" dirty="0"/>
              <a:t>值，一定是相同的。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CE06C9C-C810-4162-9D38-F1B7932F4050}" type="slidenum">
              <a:rPr lang="en-US" altLang="zh-CN" sz="1200" smtClean="0"/>
              <a:t>41</a:t>
            </a:fld>
            <a:endParaRPr lang="en-US" altLang="zh-CN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同时，第一个例子也可以说明双射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9687B3-9A96-4DAE-BBA5-6A9972C620FA}" type="slidenum">
              <a:rPr lang="en-US" altLang="zh-CN" sz="1200" smtClean="0"/>
              <a:t>42</a:t>
            </a:fld>
            <a:endParaRPr lang="en-US" altLang="zh-CN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395598-8474-43E7-8076-AC42900ECDA9}" type="slidenum">
              <a:rPr lang="en-US" altLang="zh-CN" sz="1200" smtClean="0"/>
              <a:t>43</a:t>
            </a:fld>
            <a:endParaRPr lang="en-US" altLang="zh-CN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BDE091-9CDF-4011-8121-B2F618BE8705}" type="slidenum">
              <a:rPr lang="en-US" altLang="zh-CN" sz="1200" smtClean="0"/>
              <a:t>44</a:t>
            </a:fld>
            <a:endParaRPr lang="en-US" altLang="zh-CN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ct val="55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1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43B4871-B661-467F-BA86-8A46F3FFE69B}" type="slidenum">
              <a:rPr lang="en-US" altLang="zh-CN" sz="1200" smtClean="0"/>
              <a:t>45</a:t>
            </a:fld>
            <a:endParaRPr lang="en-US" altLang="zh-CN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8C6FB5-823E-46DC-9953-B028549C716D}" type="slidenum">
              <a:rPr lang="en-US" altLang="zh-CN" sz="1200" smtClean="0"/>
              <a:t>46</a:t>
            </a:fld>
            <a:endParaRPr lang="en-US" altLang="zh-CN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6A6183-16DE-4FFF-AD65-DB36BDB92567}" type="slidenum">
              <a:rPr lang="en-US" altLang="zh-CN" sz="1200" smtClean="0"/>
              <a:t>47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2A8971-9773-489C-9180-F83D3B3DDDD7}" type="slidenum">
              <a:rPr lang="en-US" altLang="zh-CN" sz="1200" smtClean="0"/>
              <a:t>48</a:t>
            </a:fld>
            <a:endParaRPr lang="en-US" altLang="zh-CN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A19B5D-6088-4B53-B6B2-F030837E7612}" type="slidenum">
              <a:rPr lang="en-US" altLang="zh-CN" sz="1200" smtClean="0"/>
              <a:t>49</a:t>
            </a:fld>
            <a:endParaRPr lang="en-US" altLang="zh-CN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8C5D1A-D83F-4D61-82FC-006C3D64A93E}" type="slidenum">
              <a:rPr lang="en-US" altLang="zh-CN" sz="1200" smtClean="0"/>
              <a:t>50</a:t>
            </a:fld>
            <a:endParaRPr lang="en-US" altLang="zh-CN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&lt;</a:t>
            </a:r>
            <a:r>
              <a:rPr lang="en-US" altLang="zh-CN" dirty="0" err="1"/>
              <a:t>m,n</a:t>
            </a:r>
            <a:r>
              <a:rPr lang="en-US" altLang="zh-CN" dirty="0"/>
              <a:t>&gt;</a:t>
            </a:r>
            <a:r>
              <a:rPr lang="zh-CN" altLang="en-US" dirty="0"/>
              <a:t>点所在斜线下方的平面的所有点数</a:t>
            </a:r>
            <a:r>
              <a:rPr lang="en-US" altLang="zh-CN" dirty="0"/>
              <a:t>+m(</a:t>
            </a:r>
            <a:r>
              <a:rPr lang="zh-CN" altLang="en-US" dirty="0"/>
              <a:t>斜线上的此点之前的点数</a:t>
            </a:r>
            <a:r>
              <a:rPr lang="en-US" altLang="zh-CN" dirty="0"/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&lt;0,0&gt;, &lt;0,1&gt;, &lt;1,0&gt;, &lt;0,2&gt;, &lt;1,1&gt;, &lt;2,0&gt;, &lt;0,3&gt;, …….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  0           1          2          3          4          5          6</a:t>
            </a:r>
            <a:endParaRPr lang="zh-CN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A99413-42E6-4A66-A488-1EDD6EB62880}" type="slidenum">
              <a:rPr lang="en-US" altLang="zh-CN" sz="1200" smtClean="0"/>
              <a:t>51</a:t>
            </a:fld>
            <a:endParaRPr lang="en-US" altLang="zh-CN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有理数就是整数的“比”</a:t>
            </a:r>
            <a:endParaRPr lang="en-US" altLang="zh-CN" dirty="0"/>
          </a:p>
          <a:p>
            <a:pPr eaLnBrk="1" hangingPunct="1"/>
            <a:r>
              <a:rPr lang="zh-CN" altLang="en-US" dirty="0"/>
              <a:t>规定，在计数过程中必须跳过第二次以及以后各次所遇到的同一个有理数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3B9A5-2057-4FDD-8BE2-4029DC8306EF}" type="slidenum">
              <a:rPr lang="en-US" altLang="zh-CN" sz="1200" smtClean="0"/>
              <a:t>52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3B9A5-2057-4FDD-8BE2-4029DC8306EF}" type="slidenum">
              <a:rPr lang="en-US" altLang="zh-CN" sz="1200" smtClean="0"/>
              <a:t>53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左书上的方法</a:t>
            </a:r>
            <a:endParaRPr lang="en-US" altLang="zh-CN" dirty="0"/>
          </a:p>
          <a:p>
            <a:pPr eaLnBrk="1" hangingPunct="1"/>
            <a:r>
              <a:rPr lang="zh-CN" altLang="en-US" dirty="0"/>
              <a:t>闭区间</a:t>
            </a:r>
            <a:r>
              <a:rPr lang="en-US" altLang="zh-CN" dirty="0"/>
              <a:t>[0,1]</a:t>
            </a:r>
            <a:r>
              <a:rPr lang="zh-CN" altLang="en-US" dirty="0"/>
              <a:t>比开区间</a:t>
            </a:r>
            <a:r>
              <a:rPr lang="en-US" altLang="zh-CN" dirty="0"/>
              <a:t>(0,1)</a:t>
            </a:r>
            <a:r>
              <a:rPr lang="zh-CN" altLang="en-US" dirty="0"/>
              <a:t>多了两个端点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</a:p>
          <a:p>
            <a:pPr eaLnBrk="1" hangingPunct="1"/>
            <a:r>
              <a:rPr lang="zh-CN" altLang="en-US" dirty="0"/>
              <a:t>可以用希尔伯特无穷旅馆的方法来解决</a:t>
            </a:r>
            <a:endParaRPr lang="en-US" altLang="zh-CN" dirty="0"/>
          </a:p>
          <a:p>
            <a:pPr eaLnBrk="1" hangingPunct="1"/>
            <a:r>
              <a:rPr lang="zh-CN" altLang="en-US" dirty="0"/>
              <a:t>用一个简单的集合</a:t>
            </a:r>
            <a:r>
              <a:rPr lang="en-US" altLang="zh-CN" dirty="0"/>
              <a:t>A={1/2</a:t>
            </a:r>
            <a:r>
              <a:rPr lang="zh-CN" altLang="en-US" dirty="0"/>
              <a:t>，</a:t>
            </a:r>
            <a:r>
              <a:rPr lang="en-US" altLang="zh-CN" dirty="0"/>
              <a:t>1/3</a:t>
            </a:r>
            <a:r>
              <a:rPr lang="zh-CN" altLang="en-US" dirty="0"/>
              <a:t>，</a:t>
            </a:r>
            <a:r>
              <a:rPr lang="en-US" altLang="zh-CN" dirty="0"/>
              <a:t>1/4,…..}</a:t>
            </a:r>
            <a:r>
              <a:rPr lang="zh-CN" altLang="en-US" dirty="0"/>
              <a:t>表示无限旅馆</a:t>
            </a:r>
            <a:endParaRPr lang="en-US" altLang="zh-CN" dirty="0"/>
          </a:p>
          <a:p>
            <a:pPr eaLnBrk="1" hangingPunct="1"/>
            <a:r>
              <a:rPr lang="zh-CN" altLang="en-US" dirty="0"/>
              <a:t>再取一个</a:t>
            </a:r>
            <a:r>
              <a:rPr lang="en-US" altLang="zh-CN" dirty="0"/>
              <a:t>B</a:t>
            </a:r>
            <a:r>
              <a:rPr lang="zh-CN" altLang="en-US" dirty="0"/>
              <a:t>，把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放入，</a:t>
            </a:r>
            <a:r>
              <a:rPr lang="en-US" altLang="zh-CN" dirty="0"/>
              <a:t>B={0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1/2</a:t>
            </a:r>
            <a:r>
              <a:rPr lang="zh-CN" altLang="en-US" dirty="0"/>
              <a:t>，</a:t>
            </a:r>
            <a:r>
              <a:rPr lang="en-US" altLang="zh-CN" dirty="0"/>
              <a:t>1/3</a:t>
            </a:r>
            <a:r>
              <a:rPr lang="zh-CN" altLang="en-US" dirty="0"/>
              <a:t>，</a:t>
            </a:r>
            <a:r>
              <a:rPr lang="en-US" altLang="zh-CN" dirty="0"/>
              <a:t>1/4,…..}</a:t>
            </a:r>
          </a:p>
          <a:p>
            <a:pPr eaLnBrk="1" hangingPunct="1"/>
            <a:r>
              <a:rPr lang="en-US" altLang="zh-CN" dirty="0"/>
              <a:t>(0,1)-A=[0,1]-B</a:t>
            </a:r>
          </a:p>
          <a:p>
            <a:pPr eaLnBrk="1" hangingPunct="1"/>
            <a:r>
              <a:rPr lang="zh-CN" altLang="en-US" dirty="0"/>
              <a:t>因此，可以说，除了集合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，剩余的元素可以自己对自己</a:t>
            </a:r>
            <a:endParaRPr lang="en-US" altLang="zh-CN" dirty="0"/>
          </a:p>
          <a:p>
            <a:pPr eaLnBrk="1" hangingPunct="1"/>
            <a:r>
              <a:rPr lang="zh-CN" altLang="en-US" dirty="0"/>
              <a:t>故此问题转化为构造从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上的双射函数</a:t>
            </a:r>
            <a:endParaRPr lang="en-US" altLang="zh-CN" dirty="0"/>
          </a:p>
          <a:p>
            <a:pPr eaLnBrk="1" hangingPunct="1"/>
            <a:r>
              <a:rPr lang="en-US" altLang="zh-CN" dirty="0"/>
              <a:t>        1       2       3      4       5…….</a:t>
            </a:r>
          </a:p>
          <a:p>
            <a:pPr eaLnBrk="1" hangingPunct="1"/>
            <a:r>
              <a:rPr lang="en-US" altLang="zh-CN" dirty="0"/>
              <a:t>A={1/2</a:t>
            </a:r>
            <a:r>
              <a:rPr lang="zh-CN" altLang="en-US" dirty="0"/>
              <a:t>，</a:t>
            </a:r>
            <a:r>
              <a:rPr lang="en-US" altLang="zh-CN" dirty="0"/>
              <a:t>1/3</a:t>
            </a:r>
            <a:r>
              <a:rPr lang="zh-CN" altLang="en-US" dirty="0"/>
              <a:t>，</a:t>
            </a:r>
            <a:r>
              <a:rPr lang="en-US" altLang="zh-CN" dirty="0"/>
              <a:t>1/4,    …..                 1/n+2,…..}</a:t>
            </a:r>
          </a:p>
          <a:p>
            <a:pPr eaLnBrk="1" hangingPunct="1"/>
            <a:r>
              <a:rPr lang="en-US" altLang="zh-CN" dirty="0"/>
              <a:t>B={0</a:t>
            </a:r>
            <a:r>
              <a:rPr lang="zh-CN" altLang="en-US" dirty="0"/>
              <a:t>，    </a:t>
            </a:r>
            <a:r>
              <a:rPr lang="en-US" altLang="zh-CN" dirty="0"/>
              <a:t>1</a:t>
            </a:r>
            <a:r>
              <a:rPr lang="zh-CN" altLang="en-US" dirty="0"/>
              <a:t>，   </a:t>
            </a:r>
            <a:r>
              <a:rPr lang="en-US" altLang="zh-CN" dirty="0"/>
              <a:t>1/2</a:t>
            </a:r>
            <a:r>
              <a:rPr lang="zh-CN" altLang="en-US" dirty="0"/>
              <a:t>，</a:t>
            </a:r>
            <a:r>
              <a:rPr lang="en-US" altLang="zh-CN" dirty="0"/>
              <a:t>1/3</a:t>
            </a:r>
            <a:r>
              <a:rPr lang="zh-CN" altLang="en-US" dirty="0"/>
              <a:t>，</a:t>
            </a:r>
            <a:r>
              <a:rPr lang="en-US" altLang="zh-CN" dirty="0"/>
              <a:t>1/4,…..</a:t>
            </a:r>
            <a:r>
              <a:rPr lang="zh-CN" altLang="en-US" dirty="0"/>
              <a:t>，</a:t>
            </a:r>
            <a:r>
              <a:rPr lang="en-US" altLang="zh-CN" dirty="0"/>
              <a:t>1/n,    ……}</a:t>
            </a:r>
          </a:p>
          <a:p>
            <a:pPr eaLnBrk="1" hangingPunct="1"/>
            <a:r>
              <a:rPr lang="zh-CN" altLang="en-US" dirty="0"/>
              <a:t>也就是说，要把</a:t>
            </a:r>
            <a:r>
              <a:rPr lang="en-US" altLang="zh-CN" dirty="0"/>
              <a:t>0,1</a:t>
            </a:r>
            <a:r>
              <a:rPr lang="zh-CN" altLang="en-US" dirty="0"/>
              <a:t>入住到无限旅馆</a:t>
            </a:r>
            <a:r>
              <a:rPr lang="en-US" altLang="zh-CN" dirty="0"/>
              <a:t>A</a:t>
            </a:r>
            <a:r>
              <a:rPr lang="zh-CN" altLang="en-US" dirty="0"/>
              <a:t>中，</a:t>
            </a:r>
            <a:endParaRPr lang="en-US" altLang="zh-CN" dirty="0"/>
          </a:p>
          <a:p>
            <a:pPr eaLnBrk="1" hangingPunct="1"/>
            <a:r>
              <a:rPr lang="zh-CN" altLang="en-US" dirty="0"/>
              <a:t>即：</a:t>
            </a:r>
            <a:r>
              <a:rPr lang="en-US" altLang="zh-CN" dirty="0"/>
              <a:t>1</a:t>
            </a:r>
            <a:r>
              <a:rPr lang="zh-CN" altLang="en-US" dirty="0"/>
              <a:t>号房间的客人</a:t>
            </a:r>
            <a:r>
              <a:rPr lang="en-US" altLang="zh-CN" dirty="0"/>
              <a:t>1/2</a:t>
            </a:r>
            <a:r>
              <a:rPr lang="zh-CN" altLang="en-US" dirty="0"/>
              <a:t>搬到</a:t>
            </a:r>
            <a:r>
              <a:rPr lang="en-US" altLang="zh-CN" dirty="0"/>
              <a:t>3</a:t>
            </a:r>
            <a:r>
              <a:rPr lang="zh-CN" altLang="en-US" dirty="0"/>
              <a:t>号房间，</a:t>
            </a:r>
            <a:r>
              <a:rPr lang="en-US" altLang="zh-CN" dirty="0"/>
              <a:t>2</a:t>
            </a:r>
            <a:r>
              <a:rPr lang="zh-CN" altLang="en-US" dirty="0"/>
              <a:t>号房间的客人</a:t>
            </a:r>
            <a:r>
              <a:rPr lang="en-US" altLang="zh-CN" dirty="0"/>
              <a:t>1/3</a:t>
            </a:r>
            <a:r>
              <a:rPr lang="zh-CN" altLang="en-US" dirty="0"/>
              <a:t>搬到</a:t>
            </a:r>
            <a:r>
              <a:rPr lang="en-US" altLang="zh-CN" dirty="0"/>
              <a:t>4</a:t>
            </a:r>
            <a:r>
              <a:rPr lang="zh-CN" altLang="en-US" dirty="0"/>
              <a:t>号</a:t>
            </a:r>
            <a:r>
              <a:rPr lang="en-US" altLang="zh-CN" dirty="0"/>
              <a:t>,…..</a:t>
            </a:r>
          </a:p>
          <a:p>
            <a:pPr eaLnBrk="1" hangingPunct="1"/>
            <a:r>
              <a:rPr lang="zh-CN" altLang="en-US" dirty="0"/>
              <a:t>然后，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分别入住</a:t>
            </a:r>
            <a:r>
              <a:rPr lang="en-US" altLang="zh-CN" dirty="0"/>
              <a:t>1</a:t>
            </a:r>
            <a:r>
              <a:rPr lang="zh-CN" altLang="en-US" dirty="0"/>
              <a:t>号和</a:t>
            </a:r>
            <a:r>
              <a:rPr lang="en-US" altLang="zh-CN" dirty="0"/>
              <a:t>2</a:t>
            </a:r>
            <a:r>
              <a:rPr lang="zh-CN" altLang="en-US" dirty="0"/>
              <a:t>号房间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3B9A5-2057-4FDD-8BE2-4029DC8306EF}" type="slidenum">
              <a:rPr lang="en-US" altLang="zh-CN" sz="1200" smtClean="0"/>
              <a:t>54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教材</a:t>
            </a:r>
            <a:r>
              <a:rPr lang="en-US" altLang="zh-CN" dirty="0"/>
              <a:t>(</a:t>
            </a:r>
            <a:r>
              <a:rPr lang="zh-CN" altLang="en-US" dirty="0"/>
              <a:t>屈</a:t>
            </a:r>
            <a:r>
              <a:rPr lang="en-US" altLang="zh-CN" dirty="0"/>
              <a:t>)</a:t>
            </a:r>
            <a:r>
              <a:rPr lang="zh-CN" altLang="en-US" dirty="0"/>
              <a:t>上的方法</a:t>
            </a:r>
            <a:endParaRPr lang="en-US" altLang="zh-CN" dirty="0"/>
          </a:p>
          <a:p>
            <a:pPr eaLnBrk="1" hangingPunct="1"/>
            <a:r>
              <a:rPr lang="en-US" altLang="zh-CN" dirty="0"/>
              <a:t>(5)</a:t>
            </a:r>
            <a:r>
              <a:rPr lang="zh-CN" altLang="en-US" dirty="0"/>
              <a:t>为了构造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[0,1]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(0,1)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的双射函数，必须要解决端点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的对应问题，为此，选择一个无限序列：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½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1/4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1/8…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构造一一对应（前三步），然后其余的数是自己对应自己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3B9A5-2057-4FDD-8BE2-4029DC8306EF}" type="slidenum">
              <a:rPr lang="en-US" altLang="zh-CN" sz="1200" smtClean="0"/>
              <a:t>55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两种方法对比，不同之处就在于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集合不同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3B9A5-2057-4FDD-8BE2-4029DC8306EF}" type="slidenum">
              <a:rPr lang="en-US" altLang="zh-CN" sz="1200" smtClean="0"/>
              <a:t>56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3B9A5-2057-4FDD-8BE2-4029DC8306EF}" type="slidenum">
              <a:rPr lang="en-US" altLang="zh-CN" sz="1200" smtClean="0"/>
              <a:t>57</a:t>
            </a:fld>
            <a:endParaRPr lang="en-US" altLang="zh-CN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a=1/4,b=1/2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E78FD9-09BD-4C21-A998-410E12A59E22}" type="slidenum">
              <a:rPr lang="en-US" altLang="zh-CN" sz="1200" smtClean="0"/>
              <a:t>58</a:t>
            </a:fld>
            <a:endParaRPr lang="en-US" altLang="zh-CN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以</a:t>
            </a:r>
            <a:r>
              <a:rPr lang="en-US" altLang="zh-CN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这个实例来理解证明过程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i="1" dirty="0">
                <a:latin typeface="Times New Roman" panose="02020603050405020304" pitchFamily="18" charset="0"/>
              </a:rPr>
              <a:t>表示</a:t>
            </a:r>
            <a:r>
              <a:rPr lang="zh-CN" altLang="zh-CN" dirty="0"/>
              <a:t>从</a:t>
            </a:r>
            <a:r>
              <a:rPr lang="en-US" altLang="zh-CN" i="1" dirty="0"/>
              <a:t>A</a:t>
            </a:r>
            <a:r>
              <a:rPr lang="zh-CN" altLang="zh-CN" dirty="0"/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zh-CN" altLang="zh-CN" dirty="0"/>
              <a:t>的（函数的集合） </a:t>
            </a:r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en-US" altLang="zh-CN" i="1" baseline="30000" dirty="0"/>
              <a:t>A </a:t>
            </a:r>
            <a:r>
              <a:rPr lang="en-US" altLang="zh-CN" dirty="0"/>
              <a:t>= { </a:t>
            </a:r>
            <a:r>
              <a:rPr lang="en-US" altLang="zh-CN" i="1" dirty="0"/>
              <a:t>f</a:t>
            </a:r>
            <a:r>
              <a:rPr lang="en-US" altLang="zh-CN" dirty="0"/>
              <a:t> | </a:t>
            </a:r>
            <a:r>
              <a:rPr lang="en-US" altLang="zh-CN" i="1" dirty="0"/>
              <a:t>f</a:t>
            </a:r>
            <a:r>
              <a:rPr lang="zh-CN" altLang="zh-CN" dirty="0"/>
              <a:t>：</a:t>
            </a:r>
            <a:r>
              <a:rPr lang="en-US" altLang="zh-CN" i="1" dirty="0"/>
              <a:t>A</a:t>
            </a:r>
            <a:r>
              <a:rPr lang="en-US" altLang="zh-CN" dirty="0"/>
              <a:t>→</a:t>
            </a:r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en-US" altLang="zh-CN" i="1" dirty="0"/>
              <a:t> </a:t>
            </a:r>
            <a:r>
              <a:rPr lang="en-US" altLang="zh-CN" dirty="0"/>
              <a:t>}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对于任意的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特征函数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' 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→{0,1}</a:t>
            </a:r>
            <a:r>
              <a:rPr lang="zh-CN" altLang="en-US" dirty="0">
                <a:latin typeface="Times New Roman" panose="02020603050405020304" pitchFamily="18" charset="0"/>
              </a:rPr>
              <a:t>定义为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)=1,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)=0,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‘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这里的</a:t>
            </a:r>
            <a:r>
              <a:rPr lang="en-US" altLang="zh-CN" dirty="0"/>
              <a:t>B,</a:t>
            </a:r>
            <a:r>
              <a:rPr lang="zh-CN" altLang="en-US" dirty="0"/>
              <a:t>可以为空，单元素集，</a:t>
            </a:r>
            <a:r>
              <a:rPr lang="en-US" altLang="zh-CN" dirty="0"/>
              <a:t>……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单射是一对一的，没有多对一，在此，一个子集有唯一一个特征函数对应。</a:t>
            </a:r>
            <a:endParaRPr lang="en-US" altLang="zh-CN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FB3184-00C2-4DA3-B32D-72B68CDAA68B}" type="slidenum">
              <a:rPr lang="en-US" altLang="zh-CN" sz="1200" smtClean="0"/>
              <a:t>59</a:t>
            </a:fld>
            <a:endParaRPr lang="en-US" altLang="zh-CN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集合等势是等价关系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D4A473-FAA5-434B-A12A-08ADEAA115DF}" type="slidenum">
              <a:rPr lang="en-US" altLang="zh-CN" sz="1200" smtClean="0"/>
              <a:t>60</a:t>
            </a:fld>
            <a:endParaRPr lang="en-US" altLang="zh-CN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[0,1] ≈ R</a:t>
            </a:r>
            <a:endParaRPr lang="en-US" altLang="zh-CN" dirty="0">
              <a:solidFill>
                <a:schemeClr val="tx2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  <a:ea typeface="黑体" panose="02010609060101010101" pitchFamily="49" charset="-122"/>
              </a:rPr>
              <a:t>使得</a:t>
            </a:r>
            <a:r>
              <a:rPr lang="en-US" altLang="zh-CN" i="1" dirty="0">
                <a:solidFill>
                  <a:schemeClr val="tx2"/>
                </a:solidFill>
                <a:ea typeface="宋体" panose="02010600030101010101" pitchFamily="2" charset="-122"/>
              </a:rPr>
              <a:t>B</a:t>
            </a:r>
            <a:r>
              <a:rPr lang="zh-CN" altLang="en-US" dirty="0">
                <a:solidFill>
                  <a:schemeClr val="tx2"/>
                </a:solidFill>
                <a:ea typeface="黑体" panose="02010609060101010101" pitchFamily="49" charset="-122"/>
              </a:rPr>
              <a:t>在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A</a:t>
            </a:r>
            <a:r>
              <a:rPr lang="zh-CN" altLang="en-US" dirty="0">
                <a:solidFill>
                  <a:schemeClr val="tx2"/>
                </a:solidFill>
                <a:ea typeface="黑体" panose="02010609060101010101" pitchFamily="49" charset="-122"/>
              </a:rPr>
              <a:t>中不存在原像。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8E131A-6ECA-4FC9-AE31-5351403910E3}" type="slidenum">
              <a:rPr lang="en-US" altLang="zh-CN" sz="1200" smtClean="0"/>
              <a:t>61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8020C0-AEF3-4C49-B79F-BE33BB8E88B8}" type="slidenum">
              <a:rPr lang="en-US" altLang="zh-CN" sz="1200" smtClean="0"/>
              <a:t>62</a:t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g(x)</a:t>
            </a:r>
            <a:r>
              <a:rPr lang="zh-CN" altLang="en-US" dirty="0"/>
              <a:t>的值是一个集合（</a:t>
            </a:r>
            <a:r>
              <a:rPr lang="en-US" altLang="zh-CN" dirty="0"/>
              <a:t>A</a:t>
            </a:r>
            <a:r>
              <a:rPr lang="zh-CN" altLang="en-US" dirty="0"/>
              <a:t>的子集）</a:t>
            </a:r>
            <a:endParaRPr lang="en-US" altLang="zh-CN" dirty="0"/>
          </a:p>
          <a:p>
            <a:pPr eaLnBrk="1" hangingPunct="1"/>
            <a:r>
              <a:rPr lang="zh-CN" altLang="en-US" dirty="0"/>
              <a:t>例：</a:t>
            </a:r>
            <a:endParaRPr lang="en-US" altLang="zh-CN" dirty="0"/>
          </a:p>
          <a:p>
            <a:pPr eaLnBrk="1" hangingPunct="1"/>
            <a:r>
              <a:rPr lang="en-US" altLang="zh-CN" dirty="0"/>
              <a:t>A={1</a:t>
            </a:r>
            <a:r>
              <a:rPr lang="zh-CN" altLang="en-US" dirty="0"/>
              <a:t>，</a:t>
            </a:r>
            <a:r>
              <a:rPr lang="en-US" altLang="zh-CN" dirty="0"/>
              <a:t>2}</a:t>
            </a:r>
            <a:r>
              <a:rPr lang="zh-CN" altLang="en-US" dirty="0"/>
              <a:t>，</a:t>
            </a:r>
            <a:r>
              <a:rPr lang="en-US" altLang="zh-CN" dirty="0"/>
              <a:t>P(A)={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,{1</a:t>
            </a:r>
            <a:r>
              <a:rPr lang="en-US" altLang="zh-CN" dirty="0"/>
              <a:t>},{2},{1,2}}</a:t>
            </a:r>
          </a:p>
          <a:p>
            <a:pPr eaLnBrk="1" hangingPunct="1"/>
            <a:r>
              <a:rPr lang="en-US" altLang="zh-CN" dirty="0"/>
              <a:t>g={&lt;1,{2}&gt;,&lt;2,{1}&gt;}</a:t>
            </a:r>
            <a:r>
              <a:rPr lang="zh-CN" altLang="en-US" dirty="0"/>
              <a:t>，即</a:t>
            </a:r>
            <a:r>
              <a:rPr lang="en-US" altLang="zh-CN" dirty="0"/>
              <a:t>g(1)={2},g(2)={1}</a:t>
            </a:r>
            <a:r>
              <a:rPr lang="zh-CN" altLang="en-US" dirty="0"/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ran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i="0" dirty="0">
                <a:latin typeface="Times New Roman" panose="02020603050405020304" pitchFamily="18" charset="0"/>
              </a:rPr>
              <a:t>={{1}</a:t>
            </a:r>
            <a:r>
              <a:rPr lang="zh-CN" altLang="en-US" i="0" dirty="0">
                <a:latin typeface="Times New Roman" panose="02020603050405020304" pitchFamily="18" charset="0"/>
              </a:rPr>
              <a:t>，</a:t>
            </a:r>
            <a:r>
              <a:rPr lang="en-US" altLang="zh-CN" i="0" dirty="0">
                <a:latin typeface="Times New Roman" panose="02020603050405020304" pitchFamily="18" charset="0"/>
              </a:rPr>
              <a:t>{2}}</a:t>
            </a:r>
            <a:endParaRPr lang="en-US" altLang="zh-CN" i="0" dirty="0"/>
          </a:p>
          <a:p>
            <a:pPr eaLnBrk="1" hangingPunct="1"/>
            <a:r>
              <a:rPr lang="en-US" altLang="zh-CN" dirty="0"/>
              <a:t>B={1,2}</a:t>
            </a:r>
            <a:r>
              <a:rPr lang="en-US" altLang="zh-CN" dirty="0">
                <a:latin typeface="Times New Roman" panose="02020603050405020304" pitchFamily="18" charset="0"/>
              </a:rPr>
              <a:t> ∈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),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i="0" dirty="0">
                <a:latin typeface="Times New Roman" panose="02020603050405020304" pitchFamily="18" charset="0"/>
              </a:rPr>
              <a:t>但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19BC961-DFAE-4E3B-A030-18C245CC4BBA}" type="slidenum">
              <a:rPr lang="en-US" altLang="zh-CN" sz="1200" smtClean="0"/>
              <a:t>63</a:t>
            </a:fld>
            <a:endParaRPr lang="en-US" altLang="zh-CN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可以应用定理</a:t>
            </a:r>
            <a:r>
              <a:rPr lang="en-US" altLang="zh-CN" dirty="0"/>
              <a:t>8.8</a:t>
            </a:r>
            <a:r>
              <a:rPr lang="zh-CN" altLang="en-US" dirty="0"/>
              <a:t>的（</a:t>
            </a:r>
            <a:r>
              <a:rPr lang="en-US" altLang="zh-CN" dirty="0"/>
              <a:t>2</a:t>
            </a:r>
            <a:r>
              <a:rPr lang="zh-CN" altLang="en-US" dirty="0"/>
              <a:t>）证明等势</a:t>
            </a:r>
            <a:endParaRPr lang="en-US" altLang="zh-CN" dirty="0"/>
          </a:p>
          <a:p>
            <a:pPr eaLnBrk="1" hangingPunct="1"/>
            <a:r>
              <a:rPr lang="zh-CN" altLang="en-US" dirty="0"/>
              <a:t>因为有时直接构造双射函数比较困难，</a:t>
            </a:r>
            <a:endParaRPr lang="en-US" altLang="zh-CN" dirty="0"/>
          </a:p>
          <a:p>
            <a:pPr eaLnBrk="1" hangingPunct="1"/>
            <a:r>
              <a:rPr lang="zh-CN" altLang="en-US" dirty="0"/>
              <a:t>可以转而构造两个单射函数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E41438-2BA5-41F4-97EA-D5F5255A152E}" type="slidenum">
              <a:rPr lang="en-US" altLang="zh-CN" smtClean="0"/>
              <a:t>64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后两个前面构造过双射函数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FA16371-684D-4C92-9095-EC27FE077077}" type="slidenum">
              <a:rPr lang="en-US" altLang="zh-CN" smtClean="0"/>
              <a:t>65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48C9D2-B191-4FC8-B983-D321234EE51E}" type="slidenum">
              <a:rPr lang="en-US" altLang="zh-CN" sz="1200" smtClean="0"/>
              <a:t>66</a:t>
            </a:fld>
            <a:endParaRPr lang="en-US" altLang="zh-CN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找到两个单射函数即可</a:t>
            </a:r>
            <a:endParaRPr lang="en-US" altLang="zh-CN" dirty="0"/>
          </a:p>
          <a:p>
            <a:pPr eaLnBrk="1" hangingPunct="1"/>
            <a:r>
              <a:rPr lang="zh-CN" altLang="en-US" dirty="0"/>
              <a:t>不详细讲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F2E334-AEBA-4B11-8E4A-D2885CE5FBAE}" type="slidenum">
              <a:rPr lang="en-US" altLang="zh-CN" sz="1200" smtClean="0"/>
              <a:t>67</a:t>
            </a:fld>
            <a:endParaRPr lang="en-US" altLang="zh-CN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E4CD73-14C3-4846-913F-E18FF00AC619}" type="slidenum">
              <a:rPr lang="en-US" altLang="zh-CN" sz="1200" smtClean="0"/>
              <a:t>68</a:t>
            </a:fld>
            <a:endParaRPr lang="en-US" altLang="zh-CN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2={0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1}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3={0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2}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2&lt;3 23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3</a:t>
            </a: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为了定义有穷集，先给出自然数的集合定义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CA4416-9979-4DD9-8123-55652D2851C9}" type="slidenum">
              <a:rPr lang="en-US" altLang="zh-CN" sz="1200" smtClean="0"/>
              <a:t>69</a:t>
            </a:fld>
            <a:endParaRPr lang="en-US" altLang="zh-CN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都是无穷集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F827CB7-5551-435E-9F72-2C4B4C9B5A3A}" type="slidenum">
              <a:rPr lang="en-US" altLang="zh-CN" sz="1200" smtClean="0"/>
              <a:t>70</a:t>
            </a:fld>
            <a:endParaRPr lang="en-US" altLang="zh-CN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Cardinality</a:t>
            </a:r>
          </a:p>
          <a:p>
            <a:pPr eaLnBrk="1" hangingPunct="1"/>
            <a:r>
              <a:rPr lang="zh-CN" altLang="en-US" dirty="0"/>
              <a:t>没有一个自然数可以作为</a:t>
            </a:r>
            <a:r>
              <a:rPr lang="en-US" altLang="zh-CN" dirty="0"/>
              <a:t>N</a:t>
            </a:r>
            <a:r>
              <a:rPr lang="zh-CN" altLang="en-US" dirty="0"/>
              <a:t>的基数，故用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601DF1-B7F4-41DA-9C57-BB2C21E4EFFA}" type="slidenum">
              <a:rPr lang="en-US" altLang="zh-CN" sz="1200" smtClean="0"/>
              <a:t>71</a:t>
            </a:fld>
            <a:endParaRPr lang="en-US" altLang="zh-CN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为任意集合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)≈{0,1}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endParaRPr lang="zh-CN" altLang="zh-CN" dirty="0"/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≈[0,1)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3AEB391-F49A-485B-9FB8-421F5743ABE9}" type="slidenum">
              <a:rPr lang="en-US" altLang="zh-CN" sz="1200" smtClean="0"/>
              <a:t>72</a:t>
            </a:fld>
            <a:endParaRPr lang="en-US" altLang="zh-CN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5C0E99-2725-440E-A2C2-335A3822693C}" type="slidenum">
              <a:rPr lang="en-US" altLang="zh-CN" sz="1200" smtClean="0"/>
              <a:t>73</a:t>
            </a:fld>
            <a:endParaRPr lang="en-US" altLang="zh-CN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自然数集是可数的且无穷的。</a:t>
            </a: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不可数集一定是无穷集，但是无穷集不一定是不可数集。</a:t>
            </a: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都是无穷集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，但是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是不可数的</a:t>
            </a:r>
            <a:endParaRPr lang="zh-CN" altLang="zh-CN" dirty="0"/>
          </a:p>
          <a:p>
            <a:pPr eaLnBrk="1" hangingPunct="1"/>
            <a:endParaRPr lang="en-US" altLang="zh-CN" sz="1200" i="1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lang="en-US" altLang="zh-CN" sz="120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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{1,2,3}</a:t>
            </a:r>
            <a:r>
              <a:rPr lang="en-US" altLang="zh-CN" dirty="0">
                <a:latin typeface="Times New Roman" panose="02020603050405020304" pitchFamily="18" charset="0"/>
              </a:rPr>
              <a:t> ≈</a:t>
            </a:r>
            <a:r>
              <a:rPr lang="en-US" altLang="zh-CN" sz="120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</a:t>
            </a:r>
          </a:p>
          <a:p>
            <a:pPr eaLnBrk="1" hangingPunct="1"/>
            <a:endParaRPr lang="en-US" altLang="zh-CN" sz="1200" i="1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eaLnBrk="1" hangingPunct="1"/>
            <a:r>
              <a:rPr lang="zh-CN" altLang="en-US" b="1" dirty="0"/>
              <a:t>其他书（比如左）上关于可数集的定义是不同的：</a:t>
            </a:r>
            <a:endParaRPr lang="en-US" altLang="zh-CN" b="1" dirty="0"/>
          </a:p>
          <a:p>
            <a:pPr eaLnBrk="1" hangingPunct="1"/>
            <a:r>
              <a:rPr lang="zh-CN" altLang="en-US" b="1" dirty="0"/>
              <a:t>与自然数集合等势的任意集合称为可数的，可数集合的基数是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</a:p>
          <a:p>
            <a:pPr eaLnBrk="1" hangingPunct="1"/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也就是说，其他书的可数集是单指无穷可数集，对于有穷（限）集不包含在内</a:t>
            </a:r>
            <a:endParaRPr lang="en-US" altLang="zh-CN" b="0" i="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他们把有穷（限）集和可数集称为至多可数集。</a:t>
            </a:r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zh-CN" altLang="zh-CN" b="1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EE1552A-E821-433C-9EA0-21493F272461}" type="slidenum">
              <a:rPr lang="en-US" altLang="zh-CN" sz="1200" smtClean="0"/>
              <a:t>74</a:t>
            </a:fld>
            <a:endParaRPr lang="en-US" altLang="zh-CN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4C3EC1-C4F0-480B-A489-8B2DCCDA6E80}" type="slidenum">
              <a:rPr lang="en-US" altLang="zh-CN" sz="1200" smtClean="0"/>
              <a:t>75</a:t>
            </a:fld>
            <a:endParaRPr lang="en-US" altLang="zh-CN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503F17-B86E-4767-AB50-9DD877DFE282}" type="slidenum">
              <a:rPr lang="en-US" altLang="zh-CN" sz="1200" smtClean="0"/>
              <a:t>77</a:t>
            </a:fld>
            <a:endParaRPr lang="en-US" altLang="zh-CN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card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可数集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可列集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2A8971-9773-489C-9180-F83D3B3DDDD7}" type="slidenum">
              <a:rPr lang="en-US" altLang="zh-CN" sz="1200" smtClean="0"/>
              <a:t>78</a:t>
            </a:fld>
            <a:endParaRPr lang="en-US" altLang="zh-CN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algn="just">
              <a:lnSpc>
                <a:spcPts val="2200"/>
              </a:lnSpc>
            </a:pP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只有第一个选项是正确的</a:t>
            </a:r>
            <a:r>
              <a:rPr lang="fr-FR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</a:p>
          <a:p>
            <a:pPr marL="533400" algn="just">
              <a:lnSpc>
                <a:spcPts val="2200"/>
              </a:lnSpc>
            </a:pPr>
            <a:r>
              <a:rPr lang="fr-FR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fr-FR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fr-FR" altLang="zh-CN" sz="1800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fr-FR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={{</a:t>
            </a:r>
            <a:r>
              <a:rPr lang="fr-FR" altLang="zh-CN" sz="1800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lang="fr-FR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}|</a:t>
            </a:r>
            <a:r>
              <a:rPr lang="fr-FR" altLang="zh-CN" sz="1800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</a:t>
            </a:r>
            <a:r>
              <a:rPr lang="fr-FR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R} 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最大划分</a:t>
            </a:r>
            <a:endParaRPr lang="en-US" altLang="zh-CN" sz="1800" b="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533400" algn="just">
              <a:lnSpc>
                <a:spcPts val="2200"/>
              </a:lnSpc>
            </a:pPr>
            <a:r>
              <a:rPr lang="fr-FR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fr-FR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fr-FR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fr-FR" altLang="zh-CN" sz="1800" i="1" kern="10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={R} 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最小划分</a:t>
            </a:r>
            <a:endParaRPr lang="en-US" altLang="zh-CN" sz="1800" kern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533400" algn="just">
              <a:lnSpc>
                <a:spcPts val="2200"/>
              </a:lnSpc>
            </a:pPr>
            <a:r>
              <a:rPr lang="en-US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的基数应该是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，只有一个元素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fr-FR" altLang="zh-CN" dirty="0">
              <a:latin typeface="Times New Roman" panose="02020603050405020304" pitchFamily="18" charset="0"/>
            </a:endParaRPr>
          </a:p>
        </p:txBody>
      </p:sp>
      <p:sp>
        <p:nvSpPr>
          <p:cNvPr id="2560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071011-06B1-4617-9DB3-E9CE57410B98}" type="slidenum">
              <a:rPr lang="en-US" altLang="zh-CN" sz="1200" smtClean="0"/>
              <a:t>79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6A6183-16DE-4FFF-AD65-DB36BDB92567}" type="slidenum">
              <a:rPr lang="en-US" altLang="zh-CN" sz="1200" smtClean="0"/>
              <a:t>80</a:t>
            </a:fld>
            <a:endParaRPr lang="en-US" altLang="zh-CN" sz="120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DF7FF-F15D-4DCB-9C4B-5E5E5C0FD81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44C76-38A5-42E7-B9D9-FC32FFA0DF5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3E35B-F3C0-4434-8D3B-7C8055C057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283F0-8854-48BE-AB27-497732812F8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1A89F-6DF7-4742-9D3A-EFE0EA38D8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8EAD9-F805-4A88-9CE6-A7924DF4C65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7DEF1-A139-41B0-809F-EA2DE336E4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A765D-1981-4A21-8E39-8B6D8244D1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2BD47-D1C5-43AB-8C4D-0CF5DD64B6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A54F20-E804-47E1-9040-4C7701A2E27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DCDD6-7E31-45E7-AB20-7112CE5BF4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F464814-F084-4BE4-81EE-C68C5930A9F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1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8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10FEDD-EC02-4F42-9B48-18DC2F5E5739}" type="slidenum">
              <a:rPr lang="en-US" altLang="zh-CN" sz="1400" b="0" smtClean="0">
                <a:latin typeface="Arial" panose="020B0604020202020204" pitchFamily="34" charset="0"/>
              </a:rPr>
              <a:t>1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第八章 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2233"/>
          <a:stretch>
            <a:fillRect/>
          </a:stretch>
        </p:blipFill>
        <p:spPr>
          <a:xfrm>
            <a:off x="1331640" y="1124744"/>
            <a:ext cx="6086475" cy="559673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1FAF3B-D8A2-46E0-9982-DED4C8292CDF}" type="slidenum">
              <a:rPr lang="en-US" altLang="zh-CN" sz="1400" b="0" smtClean="0"/>
              <a:t>2</a:t>
            </a:fld>
            <a:endParaRPr lang="en-US" altLang="zh-CN" sz="1400" b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第八章 函数</a:t>
            </a:r>
          </a:p>
        </p:txBody>
      </p:sp>
      <p:sp>
        <p:nvSpPr>
          <p:cNvPr id="4100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>
                <a:solidFill>
                  <a:srgbClr val="FF0000"/>
                </a:solidFill>
              </a:rPr>
              <a:t>8.1 </a:t>
            </a:r>
            <a:r>
              <a:rPr lang="zh-CN" altLang="en-US" dirty="0">
                <a:solidFill>
                  <a:srgbClr val="FF0000"/>
                </a:solidFill>
              </a:rPr>
              <a:t>函数的定义与性质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函数定义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函数性质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8.2 </a:t>
            </a:r>
            <a:r>
              <a:rPr lang="zh-CN" altLang="en-US" dirty="0"/>
              <a:t>函数运算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函数的逆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函数的复合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8.3 </a:t>
            </a:r>
            <a:r>
              <a:rPr lang="zh-CN" altLang="en-US" dirty="0"/>
              <a:t>双射函数与集合的基数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34AC18-DFD1-41AE-9BDE-007B598176DF}" type="slidenum">
              <a:rPr lang="en-US" altLang="zh-CN" sz="1400" b="0" smtClean="0"/>
              <a:t>3</a:t>
            </a:fld>
            <a:endParaRPr lang="en-US" altLang="zh-CN" sz="1400" b="0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</a:rPr>
              <a:t>函数的定义与性质</a:t>
            </a:r>
          </a:p>
        </p:txBody>
      </p:sp>
      <p:sp>
        <p:nvSpPr>
          <p:cNvPr id="6148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主要内容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函数定义与相关概念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函数定义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函数相等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endParaRPr lang="en-US" altLang="zh-CN" baseline="30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函数的像与完全原像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</a:pPr>
            <a:r>
              <a:rPr lang="zh-CN" altLang="en-US" dirty="0">
                <a:latin typeface="Times New Roman" panose="02020603050405020304" pitchFamily="18" charset="0"/>
              </a:rPr>
              <a:t>函数的性质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单射、满射、双射函数的定义与实例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构造双射函数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某些重要的函数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AABE34-61CA-45E6-904F-56D4E4094F71}" type="slidenum">
              <a:rPr lang="en-US" altLang="zh-CN" sz="1400" b="0" smtClean="0"/>
              <a:t>4</a:t>
            </a:fld>
            <a:endParaRPr lang="en-US" altLang="zh-CN" sz="1400" b="0" dirty="0"/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函数定义</a:t>
            </a:r>
          </a:p>
        </p:txBody>
      </p:sp>
      <p:sp>
        <p:nvSpPr>
          <p:cNvPr id="819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38163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为二元关系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都存在唯一的</a:t>
            </a:r>
          </a:p>
          <a:p>
            <a:pPr eaLnBrk="1" hangingPunct="1"/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</a:rPr>
              <a:t>∈ran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使 </a:t>
            </a:r>
            <a:r>
              <a:rPr lang="en-US" altLang="zh-CN" i="1" dirty="0" err="1">
                <a:latin typeface="Times New Roman" panose="02020603050405020304" pitchFamily="18" charset="0"/>
              </a:rPr>
              <a:t>xFy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成立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函数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对于函数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如果有 </a:t>
            </a:r>
            <a:r>
              <a:rPr lang="en-US" altLang="zh-CN" i="1" dirty="0" err="1">
                <a:latin typeface="Times New Roman" panose="02020603050405020304" pitchFamily="18" charset="0"/>
              </a:rPr>
              <a:t>xFy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则记作 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并称 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值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例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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</a:p>
          <a:p>
            <a:pPr eaLnBrk="1" hangingPunct="1"/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  </a:t>
            </a:r>
          </a:p>
          <a:p>
            <a:pPr eaLnBrk="1" hangingPunct="1"/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  F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不是函数  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3429000"/>
            <a:ext cx="1524000" cy="1352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096" y="5499099"/>
            <a:ext cx="1704975" cy="8858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F6FC21A-D64E-68BA-6F84-DB09A9773D51}"/>
              </a:ext>
            </a:extLst>
          </p:cNvPr>
          <p:cNvSpPr txBox="1"/>
          <p:nvPr/>
        </p:nvSpPr>
        <p:spPr>
          <a:xfrm>
            <a:off x="5975987" y="4700883"/>
            <a:ext cx="551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CC0EC3-E866-EE55-0B29-47FDE0532298}"/>
              </a:ext>
            </a:extLst>
          </p:cNvPr>
          <p:cNvSpPr txBox="1"/>
          <p:nvPr/>
        </p:nvSpPr>
        <p:spPr>
          <a:xfrm flipH="1">
            <a:off x="5963735" y="6152293"/>
            <a:ext cx="576064" cy="465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</a:rPr>
              <a:t> F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endParaRPr lang="zh-CN" altLang="en-US" b="1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9C9668-26F2-46D7-B92F-F03B52AA4DA3}" type="slidenum">
              <a:rPr lang="en-US" altLang="zh-CN" sz="1400" b="0" smtClean="0"/>
              <a:t>5</a:t>
            </a:fld>
            <a:endParaRPr lang="en-US" altLang="zh-CN" sz="1400" b="0"/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函数相等</a:t>
            </a:r>
          </a:p>
        </p:txBody>
      </p:sp>
      <p:sp>
        <p:nvSpPr>
          <p:cNvPr id="10244" name="Rectangle 9"/>
          <p:cNvSpPr>
            <a:spLocks noChangeArrowheads="1"/>
          </p:cNvSpPr>
          <p:nvPr/>
        </p:nvSpPr>
        <p:spPr bwMode="auto">
          <a:xfrm>
            <a:off x="323850" y="1268413"/>
            <a:ext cx="8229600" cy="396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为函数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  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∧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如果两个函数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相等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一定满足下面两个条件：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(2)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dirty="0">
                <a:latin typeface="Times New Roman" panose="02020603050405020304" pitchFamily="18" charset="0"/>
              </a:rPr>
              <a:t> 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1)/(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+1),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不相等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因为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773C12A-87E1-4D86-8B1C-F47BE8F47156}" type="slidenum">
              <a:rPr lang="en-US" altLang="zh-CN" sz="1400" b="0" smtClean="0"/>
              <a:t>6</a:t>
            </a:fld>
            <a:endParaRPr lang="en-US" altLang="zh-CN" sz="1400" b="0"/>
          </a:p>
        </p:txBody>
      </p:sp>
      <p:sp>
        <p:nvSpPr>
          <p:cNvPr id="122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</a:p>
        </p:txBody>
      </p:sp>
      <p:sp>
        <p:nvSpPr>
          <p:cNvPr id="1229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35274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8.3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为集合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如果</a:t>
            </a:r>
            <a:endParaRPr lang="zh-CN" altLang="en-US" i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>
                <a:latin typeface="Times New Roman" panose="02020603050405020304" pitchFamily="18" charset="0"/>
              </a:rPr>
              <a:t>                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为函数</a:t>
            </a:r>
            <a:r>
              <a:rPr lang="en-US" altLang="zh-CN">
                <a:latin typeface="Times New Roman" panose="02020603050405020304" pitchFamily="18" charset="0"/>
              </a:rPr>
              <a:t>,  dom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 ran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则称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的函数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记作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endParaRPr lang="en-US" altLang="zh-CN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例 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</a:rPr>
              <a:t>N→N,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)=2</a:t>
            </a:r>
            <a:r>
              <a:rPr lang="en-US" altLang="zh-CN" i="1" baseline="30000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是从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endParaRPr lang="en-US" altLang="zh-CN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       g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</a:rPr>
              <a:t>N→N,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)=2 </a:t>
            </a:r>
            <a:r>
              <a:rPr lang="zh-CN" altLang="en-US">
                <a:latin typeface="Times New Roman" panose="02020603050405020304" pitchFamily="18" charset="0"/>
              </a:rPr>
              <a:t>也是从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92EB4C-25C3-4E7E-9244-A24AC71FEE0F}" type="slidenum">
              <a:rPr lang="en-US" altLang="zh-CN" sz="1400" b="0" smtClean="0"/>
              <a:t>7</a:t>
            </a:fld>
            <a:endParaRPr lang="en-US" altLang="zh-CN" sz="1400" b="0"/>
          </a:p>
        </p:txBody>
      </p:sp>
      <p:sp>
        <p:nvSpPr>
          <p:cNvPr id="143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434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287338" y="1971675"/>
            <a:ext cx="8210550" cy="574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={1,2,3},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}, </a:t>
            </a:r>
            <a:r>
              <a:rPr lang="zh-CN" altLang="en-US">
                <a:latin typeface="Times New Roman" panose="02020603050405020304" pitchFamily="18" charset="0"/>
              </a:rPr>
              <a:t>求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4341" name="Rectangle 9"/>
          <p:cNvSpPr>
            <a:spLocks noChangeArrowheads="1"/>
          </p:cNvSpPr>
          <p:nvPr/>
        </p:nvSpPr>
        <p:spPr bwMode="auto">
          <a:xfrm>
            <a:off x="287338" y="2354263"/>
            <a:ext cx="3997325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解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</a:rPr>
              <a:t>其中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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</a:p>
        </p:txBody>
      </p:sp>
      <p:sp>
        <p:nvSpPr>
          <p:cNvPr id="14342" name="Rectangle 14" descr="白色大理石"/>
          <p:cNvSpPr>
            <a:spLocks noChangeArrowheads="1"/>
          </p:cNvSpPr>
          <p:nvPr/>
        </p:nvSpPr>
        <p:spPr bwMode="auto">
          <a:xfrm>
            <a:off x="4684713" y="3060700"/>
            <a:ext cx="4348162" cy="2308225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一般地，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|</a:t>
            </a:r>
            <a:r>
              <a:rPr lang="en-US" altLang="zh-CN" b="0" i="1">
                <a:latin typeface="Times New Roman" panose="02020603050405020304" pitchFamily="18" charset="0"/>
              </a:rPr>
              <a:t>A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|=</a:t>
            </a:r>
            <a:r>
              <a:rPr kumimoji="1" lang="en-US" altLang="zh-CN" b="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m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, |</a:t>
            </a:r>
            <a:r>
              <a:rPr lang="en-US" altLang="zh-CN" b="0" i="1">
                <a:latin typeface="Times New Roman" panose="02020603050405020304" pitchFamily="18" charset="0"/>
              </a:rPr>
              <a:t>B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|=</a:t>
            </a:r>
            <a:r>
              <a:rPr kumimoji="1" lang="en-US" altLang="zh-CN" b="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n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,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由 </a:t>
            </a:r>
            <a:r>
              <a:rPr lang="en-US" altLang="zh-CN" b="0" i="1">
                <a:latin typeface="Times New Roman" panose="02020603050405020304" pitchFamily="18" charset="0"/>
              </a:rPr>
              <a:t>A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到 </a:t>
            </a:r>
            <a:r>
              <a:rPr lang="en-US" altLang="zh-CN" b="0" i="1">
                <a:latin typeface="Times New Roman" panose="02020603050405020304" pitchFamily="18" charset="0"/>
              </a:rPr>
              <a:t>B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的任意函数的定义域是 </a:t>
            </a:r>
            <a:r>
              <a:rPr lang="en-US" altLang="zh-CN" b="0" i="1">
                <a:latin typeface="Times New Roman" panose="02020603050405020304" pitchFamily="18" charset="0"/>
              </a:rPr>
              <a:t>A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,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在这些函数中每个恰有 </a:t>
            </a:r>
            <a:r>
              <a:rPr kumimoji="1" lang="en-US" altLang="zh-CN" b="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m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个序偶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,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又任何</a:t>
            </a:r>
            <a:r>
              <a:rPr kumimoji="1" lang="en-US" altLang="zh-CN" b="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x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  <a:sym typeface="Symbol" panose="05050102010706020507" pitchFamily="18" charset="2"/>
              </a:rPr>
              <a:t>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lang="en-US" altLang="zh-CN" b="0" i="1">
                <a:latin typeface="Times New Roman" panose="02020603050405020304" pitchFamily="18" charset="0"/>
              </a:rPr>
              <a:t>A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,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可以有 </a:t>
            </a:r>
            <a:r>
              <a:rPr kumimoji="1" lang="en-US" altLang="zh-CN" b="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n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个元素中的任何一个作为它的象，故共有 </a:t>
            </a:r>
            <a:r>
              <a:rPr kumimoji="1" lang="en-US" altLang="zh-CN" b="0" i="1">
                <a:latin typeface="Times New Roman" panose="02020603050405020304" pitchFamily="18" charset="0"/>
                <a:ea typeface="楷体_GB2312" charset="-122"/>
              </a:rPr>
              <a:t>n</a:t>
            </a:r>
            <a:r>
              <a:rPr kumimoji="1" lang="en-US" altLang="zh-CN" b="0" i="1" baseline="30000">
                <a:latin typeface="Times New Roman" panose="02020603050405020304" pitchFamily="18" charset="0"/>
                <a:ea typeface="楷体_GB2312" charset="-122"/>
              </a:rPr>
              <a:t>m</a:t>
            </a:r>
            <a:r>
              <a:rPr kumimoji="1" lang="en-US" altLang="zh-CN" b="0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(|</a:t>
            </a:r>
            <a:r>
              <a:rPr kumimoji="1" lang="en-US" altLang="zh-CN" b="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B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|</a:t>
            </a:r>
            <a:r>
              <a:rPr kumimoji="1" lang="en-US" altLang="zh-CN" b="0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|</a:t>
            </a:r>
            <a:r>
              <a:rPr kumimoji="1" lang="en-US" altLang="zh-CN" b="0" i="1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A</a:t>
            </a:r>
            <a:r>
              <a:rPr kumimoji="1" lang="en-US" altLang="zh-CN" b="0" baseline="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|</a:t>
            </a:r>
            <a:r>
              <a:rPr kumimoji="1" lang="en-US" altLang="zh-CN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 ) </a:t>
            </a:r>
            <a:r>
              <a:rPr kumimoji="1" lang="zh-CN" altLang="en-US" b="0">
                <a:solidFill>
                  <a:srgbClr val="FF0000"/>
                </a:solidFill>
                <a:latin typeface="Times New Roman" panose="02020603050405020304" pitchFamily="18" charset="0"/>
                <a:ea typeface="楷体_GB2312" charset="-122"/>
              </a:rPr>
              <a:t>个不同函数。  </a:t>
            </a:r>
            <a:endParaRPr kumimoji="1" lang="en-US" altLang="zh-CN" b="0">
              <a:solidFill>
                <a:srgbClr val="FF0000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287338" y="1065213"/>
            <a:ext cx="8135937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8.4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所有从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的函数的集合记作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符号化表示为 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            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 </a:t>
            </a:r>
            <a:r>
              <a:rPr lang="en-US" altLang="zh-CN">
                <a:latin typeface="Times New Roman" panose="02020603050405020304" pitchFamily="18" charset="0"/>
              </a:rPr>
              <a:t>= {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|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en-US" altLang="zh-CN">
                <a:latin typeface="Times New Roman" panose="02020603050405020304" pitchFamily="18" charset="0"/>
              </a:rPr>
              <a:t>}   </a:t>
            </a:r>
            <a:endParaRPr lang="en-US" altLang="zh-CN"/>
          </a:p>
        </p:txBody>
      </p:sp>
      <p:sp>
        <p:nvSpPr>
          <p:cNvPr id="14344" name="Rectangle 9"/>
          <p:cNvSpPr>
            <a:spLocks noChangeArrowheads="1"/>
          </p:cNvSpPr>
          <p:nvPr/>
        </p:nvSpPr>
        <p:spPr bwMode="auto">
          <a:xfrm>
            <a:off x="4689475" y="2133600"/>
            <a:ext cx="4346575" cy="939800"/>
          </a:xfrm>
          <a:prstGeom prst="rect">
            <a:avLst/>
          </a:prstGeom>
          <a:solidFill>
            <a:srgbClr val="92D050"/>
          </a:solidFill>
          <a:ln w="9525">
            <a:solidFill>
              <a:srgbClr val="006600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的函数的个数：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|=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, |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|=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且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&gt;0, |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|=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i="1" baseline="30000">
                <a:latin typeface="Times New Roman" panose="02020603050405020304" pitchFamily="18" charset="0"/>
              </a:rPr>
              <a:t>m</a:t>
            </a:r>
            <a:endParaRPr lang="en-US" altLang="zh-CN" i="1">
              <a:latin typeface="Times New Roman" panose="02020603050405020304" pitchFamily="18" charset="0"/>
            </a:endParaRPr>
          </a:p>
          <a:p>
            <a:pPr eaLnBrk="1" hangingPunct="1"/>
            <a:br>
              <a:rPr lang="en-US" altLang="zh-CN">
                <a:latin typeface="Times New Roman" panose="02020603050405020304" pitchFamily="18" charset="0"/>
              </a:rPr>
            </a:br>
            <a:endParaRPr lang="en-US" altLang="zh-CN"/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4660900" y="5418138"/>
            <a:ext cx="3816350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C00000"/>
                </a:solidFill>
                <a:latin typeface="Times New Roman" panose="02020603050405020304" pitchFamily="18" charset="0"/>
              </a:rPr>
              <a:t>特别说明：</a:t>
            </a:r>
            <a:endParaRPr lang="en-US" altLang="zh-CN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baseline="3000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= {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≠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>
                <a:latin typeface="Times New Roman" panose="02020603050405020304" pitchFamily="18" charset="0"/>
              </a:rPr>
              <a:t>且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br>
              <a:rPr lang="en-US" altLang="zh-CN">
                <a:latin typeface="Times New Roman" panose="02020603050405020304" pitchFamily="18" charset="0"/>
              </a:rPr>
            </a:br>
            <a:endParaRPr lang="en-US" altLang="zh-C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  <p:bldP spid="14341" grpId="0"/>
      <p:bldP spid="14342" grpId="0" animBg="1"/>
      <p:bldP spid="14344" grpId="0" animBg="1"/>
      <p:bldP spid="143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153AF35-05DE-490E-A4A5-A28F729A5FEE}" type="slidenum">
              <a:rPr lang="en-US" altLang="zh-CN" sz="1400" b="0" smtClean="0"/>
              <a:t>8</a:t>
            </a:fld>
            <a:endParaRPr lang="en-US" altLang="zh-CN" sz="1400" b="0"/>
          </a:p>
        </p:txBody>
      </p:sp>
      <p:sp>
        <p:nvSpPr>
          <p:cNvPr id="1638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函数的像和完全原像</a:t>
            </a: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70310" y="1009555"/>
            <a:ext cx="8422170" cy="28797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下的像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 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|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}, 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函数的像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在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下的完全原像  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={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∧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函数值与像的区别：函数值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像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一般说来 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))≠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   </a:t>
            </a:r>
            <a:r>
              <a:rPr lang="zh-CN" altLang="en-US" dirty="0">
                <a:latin typeface="Times New Roman" panose="02020603050405020304" pitchFamily="18" charset="0"/>
              </a:rPr>
              <a:t>但是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))</a:t>
            </a:r>
          </a:p>
          <a:p>
            <a:pPr marL="0" indent="0" eaLnBrk="1" hangingPunct="1">
              <a:buClr>
                <a:srgbClr val="FF9900"/>
              </a:buClr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≠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但是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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0" name="Rectangle 11"/>
          <p:cNvSpPr>
            <a:spLocks noChangeArrowheads="1"/>
          </p:cNvSpPr>
          <p:nvPr/>
        </p:nvSpPr>
        <p:spPr bwMode="auto">
          <a:xfrm>
            <a:off x="477973" y="3851195"/>
            <a:ext cx="8280400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例 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={0,1,2,3,4},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={0,1,2,3},</a:t>
            </a:r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f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={&lt;0,0&gt;,&lt;1,2&gt;&lt;2,1&gt;,&lt;3,1&gt;,&lt;4,2&gt;}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={0,1},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={2,3},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那么有          </a:t>
            </a:r>
          </a:p>
          <a:p>
            <a:pPr>
              <a:buClrTx/>
              <a:buFontTx/>
              <a:buNone/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 {0,1}) = {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(0),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(1)} = {0,2}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</a:p>
          <a:p>
            <a:pPr>
              <a:buClrTx/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))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{0,2}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{0,1,4}</a:t>
            </a:r>
          </a:p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({2,3})= {1,4}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</a:p>
          <a:p>
            <a:pPr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{1,4})={2}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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3851195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2348880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0" y="4653136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5517232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0" y="5949280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2334353"/>
            <a:ext cx="491590" cy="83099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注意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35000F-7864-40A5-8130-5A672F2513A5}" type="slidenum">
              <a:rPr lang="en-US" altLang="zh-CN" sz="1400" b="0" smtClean="0"/>
              <a:t>9</a:t>
            </a:fld>
            <a:endParaRPr lang="en-US" altLang="zh-CN" sz="1400" b="0"/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函数的性质</a:t>
            </a:r>
          </a:p>
        </p:txBody>
      </p:sp>
      <p:sp>
        <p:nvSpPr>
          <p:cNvPr id="1843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351838" cy="22320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8.6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zh-CN" altLang="en-US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若 </a:t>
            </a:r>
            <a:r>
              <a:rPr lang="en-US" altLang="zh-CN">
                <a:latin typeface="Times New Roman" panose="02020603050405020304" pitchFamily="18" charset="0"/>
              </a:rPr>
              <a:t>ran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满射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若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∈ran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zh-CN" altLang="en-US">
                <a:latin typeface="Times New Roman" panose="02020603050405020304" pitchFamily="18" charset="0"/>
              </a:rPr>
              <a:t>都存在唯一的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∈</a:t>
            </a:r>
            <a:r>
              <a:rPr lang="en-US" altLang="zh-CN" i="1">
                <a:latin typeface="Times New Roman" panose="02020603050405020304" pitchFamily="18" charset="0"/>
              </a:rPr>
              <a:t>A </a:t>
            </a:r>
            <a:r>
              <a:rPr lang="zh-CN" altLang="en-US">
                <a:latin typeface="Times New Roman" panose="02020603050405020304" pitchFamily="18" charset="0"/>
              </a:rPr>
              <a:t>使得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pPr eaLnBrk="1" hangingPunct="1"/>
            <a:r>
              <a:rPr lang="en-US" altLang="zh-CN" i="1"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单射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若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>
                <a:latin typeface="Times New Roman" panose="02020603050405020304" pitchFamily="18" charset="0"/>
              </a:rPr>
              <a:t>既是满射又是单射的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双射</a:t>
            </a:r>
            <a:r>
              <a:rPr lang="zh-CN" altLang="en-US">
                <a:latin typeface="Times New Roman" panose="02020603050405020304" pitchFamily="18" charset="0"/>
              </a:rPr>
              <a:t>的</a:t>
            </a:r>
          </a:p>
        </p:txBody>
      </p:sp>
      <p:sp>
        <p:nvSpPr>
          <p:cNvPr id="18437" name="Rectangle 9"/>
          <p:cNvSpPr>
            <a:spLocks noChangeArrowheads="1"/>
          </p:cNvSpPr>
          <p:nvPr/>
        </p:nvSpPr>
        <p:spPr bwMode="auto">
          <a:xfrm>
            <a:off x="323850" y="3787775"/>
            <a:ext cx="835342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判断下面函数是否为单射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满射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双射的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为什么</a:t>
            </a:r>
            <a:r>
              <a:rPr lang="en-US" altLang="zh-CN">
                <a:latin typeface="Times New Roman" panose="02020603050405020304" pitchFamily="18" charset="0"/>
              </a:rPr>
              <a:t>?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:R→R,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+2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:Z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→R,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= ln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Z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为正整数集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(3)</a:t>
            </a:r>
            <a:r>
              <a:rPr lang="en-US" altLang="zh-CN" i="1">
                <a:latin typeface="Times New Roman" panose="02020603050405020304" pitchFamily="18" charset="0"/>
              </a:rPr>
              <a:t>  f</a:t>
            </a:r>
            <a:r>
              <a:rPr lang="en-US" altLang="zh-CN">
                <a:latin typeface="Times New Roman" panose="02020603050405020304" pitchFamily="18" charset="0"/>
              </a:rPr>
              <a:t>:R→Z,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 =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>
                <a:latin typeface="Times New Roman" panose="02020603050405020304" pitchFamily="18" charset="0"/>
              </a:rPr>
              <a:t>4)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:R→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)=2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+1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(5) 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→R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+1)/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其中</a:t>
            </a:r>
            <a:r>
              <a:rPr lang="en-US" altLang="zh-CN">
                <a:latin typeface="Times New Roman" panose="02020603050405020304" pitchFamily="18" charset="0"/>
              </a:rPr>
              <a:t>R</a:t>
            </a:r>
            <a:r>
              <a:rPr lang="en-US" altLang="zh-CN" baseline="30000">
                <a:latin typeface="Times New Roman" panose="02020603050405020304" pitchFamily="18" charset="0"/>
              </a:rPr>
              <a:t>+</a:t>
            </a:r>
            <a:r>
              <a:rPr lang="zh-CN" altLang="en-US">
                <a:latin typeface="Times New Roman" panose="02020603050405020304" pitchFamily="18" charset="0"/>
              </a:rPr>
              <a:t>为正实数集</a:t>
            </a:r>
            <a:r>
              <a:rPr lang="en-US" altLang="zh-CN">
                <a:latin typeface="Times New Roman" panose="02020603050405020304" pitchFamily="18" charset="0"/>
              </a:rPr>
              <a:t>. </a:t>
            </a:r>
            <a:br>
              <a:rPr lang="en-US" altLang="zh-CN">
                <a:latin typeface="Times New Roman" panose="02020603050405020304" pitchFamily="18" charset="0"/>
              </a:rPr>
            </a:b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1DC548-C254-4A64-A2A5-B5A5B7EE72DE}" type="slidenum">
              <a:rPr lang="en-US" altLang="zh-CN" sz="1400" b="0" smtClean="0"/>
              <a:t>10</a:t>
            </a:fld>
            <a:endParaRPr lang="en-US" altLang="zh-CN" sz="1400" b="0"/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例题解答</a:t>
            </a:r>
          </a:p>
        </p:txBody>
      </p:sp>
      <p:sp>
        <p:nvSpPr>
          <p:cNvPr id="2048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解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:R→R,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+2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zh-CN" altLang="en-US" dirty="0">
                <a:latin typeface="Times New Roman" panose="02020603050405020304" pitchFamily="18" charset="0"/>
              </a:rPr>
              <a:t>取得极大值</a:t>
            </a:r>
            <a:r>
              <a:rPr lang="en-US" altLang="zh-CN" dirty="0">
                <a:latin typeface="Times New Roman" panose="02020603050405020304" pitchFamily="18" charset="0"/>
              </a:rPr>
              <a:t>0. </a:t>
            </a:r>
            <a:r>
              <a:rPr lang="zh-CN" altLang="en-US" dirty="0">
                <a:latin typeface="Times New Roman" panose="02020603050405020304" pitchFamily="18" charset="0"/>
              </a:rPr>
              <a:t>既不是单射也不是满射的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:Z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→R,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dirty="0" err="1">
                <a:latin typeface="Times New Roman" panose="02020603050405020304" pitchFamily="18" charset="0"/>
              </a:rPr>
              <a:t>ln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是单调上升的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但不满射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={ln1, ln2, …}.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:R→Z,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是满射的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但不是单射的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例如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(1.5)=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(1.2)=1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t="17926"/>
          <a:stretch>
            <a:fillRect/>
          </a:stretch>
        </p:blipFill>
        <p:spPr>
          <a:xfrm>
            <a:off x="642989" y="4043059"/>
            <a:ext cx="1947812" cy="2505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219" y="4291659"/>
            <a:ext cx="2296467" cy="13598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718" y="4239034"/>
            <a:ext cx="2133600" cy="228104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1DC548-C254-4A64-A2A5-B5A5B7EE72DE}" type="slidenum">
              <a:rPr lang="en-US" altLang="zh-CN" sz="1400" b="0" smtClean="0"/>
              <a:t>11</a:t>
            </a:fld>
            <a:endParaRPr lang="en-US" altLang="zh-CN" sz="1400" b="0"/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例题解答（续）</a:t>
            </a:r>
          </a:p>
        </p:txBody>
      </p:sp>
      <p:sp>
        <p:nvSpPr>
          <p:cNvPr id="2048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(4)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:R→R,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)=2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是满射、单射、双射的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因为它是单调函数并且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(5)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:R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→R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+1)/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有极小值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(1)=2. </a:t>
            </a:r>
            <a:r>
              <a:rPr lang="zh-CN" altLang="en-US" dirty="0">
                <a:latin typeface="Times New Roman" panose="02020603050405020304" pitchFamily="18" charset="0"/>
              </a:rPr>
              <a:t>该函数既不是单射的也不是满射的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388519"/>
            <a:ext cx="1658119" cy="196490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b="29141"/>
          <a:stretch>
            <a:fillRect/>
          </a:stretch>
        </p:blipFill>
        <p:spPr>
          <a:xfrm>
            <a:off x="4788024" y="3254530"/>
            <a:ext cx="2098876" cy="209889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回看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0791" y="4614022"/>
            <a:ext cx="3394720" cy="2049091"/>
          </a:xfrm>
        </p:spPr>
        <p:txBody>
          <a:bodyPr/>
          <a:lstStyle/>
          <a:p>
            <a:pPr eaLnBrk="1" hangingPunct="1"/>
            <a:r>
              <a:rPr lang="zh-CN" altLang="en-US" dirty="0"/>
              <a:t>当函数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/>
              <a:t>是 </a:t>
            </a:r>
            <a:r>
              <a:rPr lang="zh-CN" altLang="en-US" dirty="0">
                <a:solidFill>
                  <a:srgbClr val="FF0000"/>
                </a:solidFill>
              </a:rPr>
              <a:t>单射 </a:t>
            </a:r>
            <a:r>
              <a:rPr lang="zh-CN" altLang="en-US" dirty="0"/>
              <a:t>时，</a:t>
            </a:r>
            <a:endParaRPr lang="en-US" altLang="zh-CN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当函数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/>
              <a:t>是 </a:t>
            </a:r>
            <a:r>
              <a:rPr lang="zh-CN" altLang="en-US" dirty="0">
                <a:solidFill>
                  <a:srgbClr val="FF0000"/>
                </a:solidFill>
              </a:rPr>
              <a:t>满射</a:t>
            </a:r>
            <a:r>
              <a:rPr lang="zh-CN" altLang="en-US" dirty="0"/>
              <a:t> 时，</a:t>
            </a:r>
            <a:endParaRPr lang="en-US" altLang="zh-CN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44C76-38A5-42E7-B9D9-FC32FFA0DF51}" type="slidenum">
              <a:rPr lang="en-US" altLang="zh-CN" smtClean="0"/>
              <a:t>12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52" y="1362724"/>
            <a:ext cx="7345248" cy="262072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内容占位符 2"/>
          <p:cNvSpPr txBox="1"/>
          <p:nvPr/>
        </p:nvSpPr>
        <p:spPr bwMode="auto">
          <a:xfrm>
            <a:off x="4355976" y="4614023"/>
            <a:ext cx="3106688" cy="204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))=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)) 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B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535316" y="4606506"/>
            <a:ext cx="11933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rgbClr val="008000"/>
                </a:solidFill>
              </a:rPr>
              <a:t>？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060897-8639-4978-A64F-904A0CDCC888}" type="slidenum">
              <a:rPr lang="en-US" altLang="zh-CN" sz="1400" b="0" smtClean="0"/>
              <a:t>13</a:t>
            </a:fld>
            <a:endParaRPr lang="en-US" altLang="zh-CN" sz="1400" b="0"/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253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91512" cy="22320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对于给定的集合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构造双射函数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({1,2,3}),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={0,1} </a:t>
            </a:r>
            <a:r>
              <a:rPr lang="en-US" altLang="zh-CN" baseline="30000">
                <a:latin typeface="Times New Roman" panose="02020603050405020304" pitchFamily="18" charset="0"/>
              </a:rPr>
              <a:t>{1,2,3}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=[0,1],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=[1/4,1/2]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=Z,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=N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(4)                      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=[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1,1]</a:t>
            </a:r>
          </a:p>
        </p:txBody>
      </p:sp>
      <p:sp>
        <p:nvSpPr>
          <p:cNvPr id="22533" name="Rectangle 10"/>
          <p:cNvSpPr>
            <a:spLocks noChangeArrowheads="1"/>
          </p:cNvSpPr>
          <p:nvPr/>
        </p:nvSpPr>
        <p:spPr bwMode="auto">
          <a:xfrm>
            <a:off x="250825" y="3357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graphicFrame>
        <p:nvGraphicFramePr>
          <p:cNvPr id="22534" name="Object 9"/>
          <p:cNvGraphicFramePr>
            <a:graphicFrameLocks noChangeAspect="1"/>
          </p:cNvGraphicFramePr>
          <p:nvPr/>
        </p:nvGraphicFramePr>
        <p:xfrm>
          <a:off x="900113" y="2852738"/>
          <a:ext cx="1512887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86765" imgH="406400" progId="Equation.3">
                  <p:embed/>
                </p:oleObj>
              </mc:Choice>
              <mc:Fallback>
                <p:oleObj name="公式" r:id="rId3" imgW="786765" imgH="406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852738"/>
                        <a:ext cx="1512887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DD905D-FD6C-466F-BA24-FA797B23B2B2}" type="slidenum">
              <a:rPr lang="en-US" altLang="zh-CN" sz="1400" b="0" smtClean="0"/>
              <a:t>14</a:t>
            </a:fld>
            <a:endParaRPr lang="en-US" altLang="zh-CN" sz="1400" b="0"/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解答</a:t>
            </a:r>
          </a:p>
        </p:txBody>
      </p:sp>
      <p:sp>
        <p:nvSpPr>
          <p:cNvPr id="245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({1,2,3}),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={0,1} </a:t>
            </a:r>
            <a:r>
              <a:rPr lang="en-US" altLang="zh-CN" baseline="30000" dirty="0">
                <a:latin typeface="Times New Roman" panose="02020603050405020304" pitchFamily="18" charset="0"/>
              </a:rPr>
              <a:t>{1,2,3}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,{1},{2},{3},{1,2},{1,3},{2,3},{1,2,3}}.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={&lt;1,0&gt;,&lt;2,0&gt;,&lt;3,0&gt;},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={&lt;1,1&gt;,&lt;2,0&gt;,&lt;3,0&gt;},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={&lt;1,0&gt;,&lt;2,1&gt;,&lt;3,0&gt;},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={&lt;1,0&gt;,&lt;2,0&gt;,&lt;3,1&gt;},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={&lt;1,1&gt;,&lt;2,1&gt;,&lt;3,0&gt;},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={&lt;1,1&gt;,&lt;2,0&gt;,&lt;3,1&gt;},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={&lt;1,0&gt;,&lt;2,1&gt;,&lt;3,1&gt;},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={&lt;1,1&gt;,&lt;2,1&gt;,&lt;3,1&gt;}. 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({1})=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({2})=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f</a:t>
            </a:r>
            <a:r>
              <a:rPr lang="en-US" altLang="zh-CN" dirty="0">
                <a:latin typeface="Times New Roman" panose="02020603050405020304" pitchFamily="18" charset="0"/>
              </a:rPr>
              <a:t>({1,2})=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({1,3})=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({2,3})=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({1,2,3})=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br>
              <a:rPr lang="en-US" altLang="zh-CN" dirty="0">
                <a:latin typeface="Times New Roman" panose="02020603050405020304" pitchFamily="18" charset="0"/>
              </a:rPr>
            </a:b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ECE530-3087-4752-A27E-018AEFA11E2A}" type="slidenum">
              <a:rPr lang="en-US" altLang="zh-CN" sz="1400" b="0" smtClean="0"/>
              <a:t>15</a:t>
            </a:fld>
            <a:endParaRPr lang="en-US" altLang="zh-CN" sz="1400" b="0"/>
          </a:p>
        </p:txBody>
      </p:sp>
      <p:sp>
        <p:nvSpPr>
          <p:cNvPr id="26627" name="Rectangle 10"/>
          <p:cNvSpPr>
            <a:spLocks noChangeArrowheads="1"/>
          </p:cNvSpPr>
          <p:nvPr/>
        </p:nvSpPr>
        <p:spPr bwMode="auto">
          <a:xfrm>
            <a:off x="467544" y="1189298"/>
            <a:ext cx="7488238" cy="18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=[0,1],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=[1/4,1/2]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令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:[0,1]→[1/4,1/2],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)=(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+1)/4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6630" name="Rectangle 12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解答</a:t>
            </a:r>
          </a:p>
        </p:txBody>
      </p:sp>
      <p:pic>
        <p:nvPicPr>
          <p:cNvPr id="9" name="Picture 4" descr="tu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2102529"/>
            <a:ext cx="4319588" cy="370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ECE530-3087-4752-A27E-018AEFA11E2A}" type="slidenum">
              <a:rPr lang="en-US" altLang="zh-CN" sz="1400" b="0" smtClean="0"/>
              <a:t>16</a:t>
            </a:fld>
            <a:endParaRPr lang="en-US" altLang="zh-CN" sz="1400" b="0"/>
          </a:p>
        </p:txBody>
      </p:sp>
      <p:sp>
        <p:nvSpPr>
          <p:cNvPr id="26630" name="Rectangle 12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解答</a:t>
            </a:r>
          </a:p>
        </p:txBody>
      </p:sp>
      <p:sp>
        <p:nvSpPr>
          <p:cNvPr id="26631" name="Rectangle 13"/>
          <p:cNvSpPr>
            <a:spLocks noChangeArrowheads="1"/>
          </p:cNvSpPr>
          <p:nvPr/>
        </p:nvSpPr>
        <p:spPr bwMode="auto">
          <a:xfrm>
            <a:off x="494531" y="1273919"/>
            <a:ext cx="7488238" cy="271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=Z,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=N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中元素以下列顺序排列并与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中元素对应：</a:t>
            </a:r>
            <a:b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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11  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2 2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3 3 …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  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      ↓ ↓     ↓     ↓      ↓      ↓     ↓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N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：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 1 2     3  4  5     6 …</a:t>
            </a:r>
            <a:b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这种对应所表示的函数是：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597843" y="3854398"/>
          <a:ext cx="5281613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00300" imgH="469900" progId="Equation.3">
                  <p:embed/>
                </p:oleObj>
              </mc:Choice>
              <mc:Fallback>
                <p:oleObj name="公式" r:id="rId3" imgW="24003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843" y="3854398"/>
                        <a:ext cx="5281613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ECE530-3087-4752-A27E-018AEFA11E2A}" type="slidenum">
              <a:rPr lang="en-US" altLang="zh-CN" sz="1400" b="0" smtClean="0"/>
              <a:t>17</a:t>
            </a:fld>
            <a:endParaRPr lang="en-US" altLang="zh-CN" sz="1400" b="0"/>
          </a:p>
        </p:txBody>
      </p:sp>
      <p:sp>
        <p:nvSpPr>
          <p:cNvPr id="26629" name="Rectangle 11"/>
          <p:cNvSpPr>
            <a:spLocks noChangeArrowheads="1"/>
          </p:cNvSpPr>
          <p:nvPr/>
        </p:nvSpPr>
        <p:spPr bwMode="auto">
          <a:xfrm>
            <a:off x="395536" y="1268760"/>
            <a:ext cx="5700712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(4) A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/2,3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/2], B=[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1,1]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  令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/2,3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/2]→[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1,1]</a:t>
            </a:r>
            <a:b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  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sin</a:t>
            </a:r>
            <a:r>
              <a:rPr lang="en-US" altLang="zh-CN" i="1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6630" name="Rectangle 12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解答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66666"/>
            <a:ext cx="7620000" cy="287655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补充：无穷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44C76-38A5-42E7-B9D9-FC32FFA0DF51}" type="slidenum">
              <a:rPr lang="en-US" altLang="zh-CN" smtClean="0"/>
              <a:t>18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" y="989715"/>
            <a:ext cx="9144000" cy="57196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834B28-3984-4E7D-85C4-B63DE2E258BD}" type="slidenum">
              <a:rPr lang="en-US" altLang="zh-CN" sz="1400" b="0" smtClean="0"/>
              <a:t>19</a:t>
            </a:fld>
            <a:endParaRPr lang="en-US" altLang="zh-CN" sz="1400" b="0"/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某些重要函数</a:t>
            </a:r>
          </a:p>
        </p:txBody>
      </p:sp>
      <p:sp>
        <p:nvSpPr>
          <p:cNvPr id="2867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363272" cy="504031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8.7</a:t>
            </a:r>
            <a:r>
              <a:rPr lang="en-US" altLang="zh-CN" dirty="0">
                <a:latin typeface="Times New Roman" panose="02020603050405020304" pitchFamily="18" charset="0"/>
              </a:rPr>
              <a:t> 	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如果存在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使得对所有的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常函数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5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称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上的恒等关系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恒等函数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对所有的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有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≼&gt;, 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≼&gt;</a:t>
            </a:r>
            <a:r>
              <a:rPr lang="zh-CN" altLang="en-US" dirty="0">
                <a:latin typeface="Times New Roman" panose="02020603050405020304" pitchFamily="18" charset="0"/>
              </a:rPr>
              <a:t>为偏序集，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，如果对任意的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≺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就有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)≼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单调递增</a:t>
            </a:r>
            <a:r>
              <a:rPr lang="zh-CN" altLang="en-US" dirty="0">
                <a:latin typeface="Times New Roman" panose="02020603050405020304" pitchFamily="18" charset="0"/>
              </a:rPr>
              <a:t>的；      如果对任意的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≺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就有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≺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     严格单调递增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类似的也可以定义单调递减和严格单调递减的函数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24D9C2-69BA-412C-91C6-D10FC2C719B0}" type="slidenum">
              <a:rPr lang="en-US" altLang="zh-CN" sz="1400" b="0" smtClean="0"/>
              <a:t>20</a:t>
            </a:fld>
            <a:endParaRPr lang="en-US" altLang="zh-CN" sz="1400" b="0"/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277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18488" cy="4464719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偏序集</a:t>
            </a:r>
            <a:r>
              <a:rPr lang="en-US" altLang="zh-CN" dirty="0">
                <a:latin typeface="Times New Roman" panose="02020603050405020304" pitchFamily="18" charset="0"/>
              </a:rPr>
              <a:t>&lt;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b,c</a:t>
            </a:r>
            <a:r>
              <a:rPr lang="en-US" altLang="zh-CN" dirty="0">
                <a:latin typeface="Times New Roman" panose="02020603050405020304" pitchFamily="18" charset="0"/>
              </a:rPr>
              <a:t>}),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&gt;, &lt; {0,1},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≤ </a:t>
            </a:r>
            <a:r>
              <a:rPr lang="en-US" altLang="zh-CN" dirty="0">
                <a:latin typeface="Times New Roman" panose="02020603050405020304" pitchFamily="18" charset="0"/>
              </a:rPr>
              <a:t>&gt;, </a:t>
            </a:r>
          </a:p>
          <a:p>
            <a:pPr eaLnBrk="1" hangingPunct="1"/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    R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为包含关系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 ≤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为一般的小于等于关系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令：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b,c</a:t>
            </a:r>
            <a:r>
              <a:rPr lang="en-US" altLang="zh-CN" dirty="0">
                <a:latin typeface="Times New Roman" panose="02020603050405020304" pitchFamily="18" charset="0"/>
              </a:rPr>
              <a:t>})→{0,1}, </a:t>
            </a:r>
            <a:r>
              <a:rPr lang="en-US" altLang="zh-CN" i="1" dirty="0">
                <a:latin typeface="Times New Roman" panose="02020603050405020304" pitchFamily="18" charset="0"/>
              </a:rPr>
              <a:t>  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		 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}) 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}) 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}) =0, 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})=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})=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 err="1">
                <a:latin typeface="Times New Roman" panose="02020603050405020304" pitchFamily="18" charset="0"/>
              </a:rPr>
              <a:t>b,c</a:t>
            </a:r>
            <a:r>
              <a:rPr lang="en-US" altLang="zh-CN" dirty="0">
                <a:latin typeface="Times New Roman" panose="02020603050405020304" pitchFamily="18" charset="0"/>
              </a:rPr>
              <a:t>})=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b,c</a:t>
            </a:r>
            <a:r>
              <a:rPr lang="en-US" altLang="zh-CN" dirty="0">
                <a:latin typeface="Times New Roman" panose="02020603050405020304" pitchFamily="18" charset="0"/>
              </a:rPr>
              <a:t>})= 1,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f </a:t>
            </a:r>
            <a:r>
              <a:rPr lang="zh-CN" altLang="en-US" dirty="0">
                <a:latin typeface="Times New Roman" panose="02020603050405020304" pitchFamily="18" charset="0"/>
              </a:rPr>
              <a:t>是单调递增的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 </a:t>
            </a:r>
            <a:r>
              <a:rPr lang="zh-CN" altLang="en-US" dirty="0">
                <a:latin typeface="Times New Roman" panose="02020603050405020304" pitchFamily="18" charset="0"/>
              </a:rPr>
              <a:t>但不是严格单调递增的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4276725"/>
            <a:ext cx="3200400" cy="258127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0DB57D-032C-4F8B-8C52-39197375A6B1}" type="slidenum">
              <a:rPr lang="en-US" altLang="zh-CN" sz="1400" b="0" smtClean="0"/>
              <a:t>21</a:t>
            </a:fld>
            <a:endParaRPr lang="en-US" altLang="zh-CN" sz="1400" b="0"/>
          </a:p>
        </p:txBody>
      </p:sp>
      <p:sp>
        <p:nvSpPr>
          <p:cNvPr id="3072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063278"/>
            <a:ext cx="8229600" cy="1861666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对于任意的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特征函数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dirty="0">
                <a:latin typeface="Times New Roman" panose="02020603050405020304" pitchFamily="18" charset="0"/>
              </a:rPr>
              <a:t> 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→{0,1}</a:t>
            </a:r>
            <a:r>
              <a:rPr lang="zh-CN" altLang="en-US" dirty="0">
                <a:latin typeface="Times New Roman" panose="02020603050405020304" pitchFamily="18" charset="0"/>
              </a:rPr>
              <a:t>定义为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)=1,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'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)=0,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</a:p>
        </p:txBody>
      </p:sp>
      <p:sp>
        <p:nvSpPr>
          <p:cNvPr id="30724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某些重要函数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864394" y="3003155"/>
            <a:ext cx="8351837" cy="350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即：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的每一个子集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都对应于一个特征函数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不同的子集对应于不同的特征函数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</a:t>
            </a:r>
          </a:p>
          <a:p>
            <a:pPr eaLnBrk="1" hangingPunct="1"/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则有：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baseline="-25000" dirty="0">
                <a:latin typeface="Times New Roman" panose="02020603050405020304" pitchFamily="18" charset="0"/>
              </a:rPr>
              <a:t>{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,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}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,1&gt;,&lt;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,1&gt;,&lt;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,0&gt;}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zh-CN" alt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,0&gt;,&lt;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,0&gt;,&lt;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,0&gt;}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DD905D-FD6C-466F-BA24-FA797B23B2B2}" type="slidenum">
              <a:rPr lang="en-US" altLang="zh-CN" sz="1400" b="0" smtClean="0"/>
              <a:t>22</a:t>
            </a:fld>
            <a:endParaRPr lang="en-US" altLang="zh-CN" sz="1400" b="0"/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实例回看</a:t>
            </a:r>
          </a:p>
        </p:txBody>
      </p:sp>
      <p:sp>
        <p:nvSpPr>
          <p:cNvPr id="2458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539552" y="1196752"/>
            <a:ext cx="8229600" cy="3888432"/>
          </a:xfrm>
        </p:spPr>
        <p:txBody>
          <a:bodyPr/>
          <a:lstStyle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={0,1} </a:t>
            </a:r>
            <a:r>
              <a:rPr lang="en-US" altLang="zh-CN" baseline="30000" dirty="0">
                <a:latin typeface="Times New Roman" panose="02020603050405020304" pitchFamily="18" charset="0"/>
              </a:rPr>
              <a:t>{1,2,3}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={&lt;1,0&gt;,&lt;2,0&gt;,&lt;3,0&gt;},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={&lt;1,1&gt;,&lt;2,0&gt;,&lt;3,0&gt;},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={&lt;1,0&gt;,&lt;2,1&gt;,&lt;3,0&gt;},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={&lt;1,0&gt;,&lt;2,0&gt;,&lt;3,1&gt;},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={&lt;1,1&gt;,&lt;2,1&gt;,&lt;3,0&gt;},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={&lt;1,1&gt;,&lt;2,0&gt;,&lt;3,1&gt;},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={&lt;1,0&gt;,&lt;2,1&gt;,&lt;3,1&gt;},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={&lt;1,1&gt;,&lt;2,1&gt;,&lt;3,1&gt;}. 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552" y="3933056"/>
            <a:ext cx="7632848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={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     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={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0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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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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{1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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{2,3}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,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{1,2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,3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5194323"/>
            <a:ext cx="4705350" cy="139065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545400-BA5B-4FA4-A7CF-6A0CB388FEBA}" type="slidenum">
              <a:rPr lang="en-US" altLang="zh-CN" sz="1400" b="0" smtClean="0">
                <a:latin typeface="Arial" panose="020B0604020202020204" pitchFamily="34" charset="0"/>
              </a:rPr>
              <a:t>23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2457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24580" name="文本框 3"/>
          <p:cNvSpPr txBox="1">
            <a:spLocks noChangeArrowheads="1"/>
          </p:cNvSpPr>
          <p:nvPr/>
        </p:nvSpPr>
        <p:spPr bwMode="auto">
          <a:xfrm>
            <a:off x="5580063" y="444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" y="1226303"/>
            <a:ext cx="8982262" cy="13302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636912"/>
            <a:ext cx="1502939" cy="256290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6834" y="4653136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632497" y="2305340"/>
            <a:ext cx="4265349" cy="4209491"/>
            <a:chOff x="3632497" y="2305340"/>
            <a:chExt cx="4265349" cy="4209491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55976" y="2717254"/>
              <a:ext cx="2733675" cy="344805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5521244" y="6053166"/>
              <a:ext cx="936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endParaRPr lang="zh-CN" altLang="en-US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129483" y="2305340"/>
              <a:ext cx="158417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{1,2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,3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779912" y="4771802"/>
              <a:ext cx="8968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1}</a:t>
              </a:r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632497" y="3609132"/>
              <a:ext cx="979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1,2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079455" y="4803402"/>
              <a:ext cx="8968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2}</a:t>
              </a:r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916271" y="4897548"/>
              <a:ext cx="8968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endParaRPr lang="zh-CN" altLang="en-US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896012" y="3508204"/>
              <a:ext cx="979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1,3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endParaRPr lang="zh-CN" altLang="en-US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918494" y="3551361"/>
              <a:ext cx="9793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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2,3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  <a:endParaRPr lang="zh-CN" altLang="en-US" dirty="0"/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0DB57D-032C-4F8B-8C52-39197375A6B1}" type="slidenum">
              <a:rPr lang="en-US" altLang="zh-CN" sz="1400" b="0" smtClean="0"/>
              <a:t>24</a:t>
            </a:fld>
            <a:endParaRPr lang="en-US" altLang="zh-CN" sz="1400" b="0"/>
          </a:p>
        </p:txBody>
      </p:sp>
      <p:sp>
        <p:nvSpPr>
          <p:cNvPr id="3072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06327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 (5)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上的等价关系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令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       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)=[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],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称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是从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到商集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自然映射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24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某些重要函数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353564"/>
            <a:ext cx="4133654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24D9C2-69BA-412C-91C6-D10FC2C719B0}" type="slidenum">
              <a:rPr lang="en-US" altLang="zh-CN" sz="1400" b="0" smtClean="0"/>
              <a:t>25</a:t>
            </a:fld>
            <a:endParaRPr lang="en-US" altLang="zh-CN" sz="1400" b="0"/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2773" name="Rectangle 9"/>
          <p:cNvSpPr>
            <a:spLocks noChangeArrowheads="1"/>
          </p:cNvSpPr>
          <p:nvPr/>
        </p:nvSpPr>
        <p:spPr bwMode="auto">
          <a:xfrm>
            <a:off x="457200" y="1528763"/>
            <a:ext cx="8229600" cy="392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不同的等价关系确定不同的自然映射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  恒等关系确定的自然映射是双射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其他自然映射一般来说只是满射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={1,2,3},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R</a:t>
            </a:r>
            <a:r>
              <a:rPr lang="en-US" altLang="zh-CN" dirty="0">
                <a:latin typeface="Times New Roman" panose="02020603050405020304" pitchFamily="18" charset="0"/>
              </a:rPr>
              <a:t>={&lt;1,2&gt;,&lt;2,1&gt;}∪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 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/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g</a:t>
            </a:r>
            <a:r>
              <a:rPr lang="en-US" altLang="zh-CN" dirty="0">
                <a:latin typeface="Times New Roman" panose="02020603050405020304" pitchFamily="18" charset="0"/>
              </a:rPr>
              <a:t>(1)=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(2)={1,2},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(3)={3} 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545400-BA5B-4FA4-A7CF-6A0CB388FEBA}" type="slidenum">
              <a:rPr lang="en-US" altLang="zh-CN" sz="1400" b="0" smtClean="0">
                <a:latin typeface="Arial" panose="020B0604020202020204" pitchFamily="34" charset="0"/>
              </a:rPr>
              <a:t>26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457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24580" name="文本框 3"/>
          <p:cNvSpPr txBox="1">
            <a:spLocks noChangeArrowheads="1"/>
          </p:cNvSpPr>
          <p:nvPr/>
        </p:nvSpPr>
        <p:spPr bwMode="auto">
          <a:xfrm>
            <a:off x="5580063" y="444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60" y="1268760"/>
            <a:ext cx="7723832" cy="3344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关于自然映射，</a:t>
            </a:r>
            <a:r>
              <a:rPr lang="zh-CN" altLang="zh-CN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下面</a:t>
            </a:r>
            <a:r>
              <a:rPr lang="zh-CN" altLang="en-US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那些命题为真？</a:t>
            </a:r>
            <a:endParaRPr lang="zh-CN" altLang="en-US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① 自然映射一定是满射；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② 自然映射一定是单射；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③ 自然映射有可能是双射；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④ 实数集合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b="1" dirty="0"/>
              <a:t>上的全域关系确定的自然映射不是双射；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⑤ 一个等价关系确定的自然映射可能不唯一。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8931" y="1916832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8931" y="3026867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8931" y="3611833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545400-BA5B-4FA4-A7CF-6A0CB388FEBA}" type="slidenum">
              <a:rPr lang="en-US" altLang="zh-CN" sz="1400" b="0" smtClean="0">
                <a:latin typeface="Arial" panose="020B0604020202020204" pitchFamily="34" charset="0"/>
              </a:rPr>
              <a:t>27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457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24580" name="文本框 3"/>
          <p:cNvSpPr txBox="1">
            <a:spLocks noChangeArrowheads="1"/>
          </p:cNvSpPr>
          <p:nvPr/>
        </p:nvSpPr>
        <p:spPr bwMode="auto">
          <a:xfrm>
            <a:off x="5580063" y="444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03837"/>
            <a:ext cx="8532440" cy="17194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27584" y="3800838"/>
                <a:ext cx="4572000" cy="376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32765" algn="just">
                  <a:lnSpc>
                    <a:spcPts val="2200"/>
                  </a:lnSpc>
                </a:pPr>
                <a:r>
                  <a:rPr lang="fr-FR" altLang="zh-CN" sz="2400" b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r>
                  <a:rPr lang="fr-FR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/</a:t>
                </a:r>
                <a:r>
                  <a:rPr lang="fr-FR" altLang="zh-CN" sz="2400" i="1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E=</a:t>
                </a:r>
                <a:r>
                  <a:rPr lang="fr-FR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{</a:t>
                </a:r>
                <a:r>
                  <a:rPr lang="fr-FR" altLang="zh-CN" sz="24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{</a:t>
                </a:r>
                <a:r>
                  <a:rPr lang="fr-FR" altLang="zh-CN" sz="2400" i="1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fr-FR" altLang="zh-CN" sz="24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|</a:t>
                </a:r>
                <a14:m>
                  <m:oMath xmlns:m="http://schemas.openxmlformats.org/officeDocument/2006/math">
                    <m:r>
                      <a:rPr lang="fr-FR" altLang="zh-CN" sz="24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fr-FR" altLang="zh-CN" sz="24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fr-FR" altLang="zh-CN" sz="24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∈</m:t>
                    </m:r>
                    <m:r>
                      <a:rPr lang="fr-FR" altLang="zh-CN" sz="2400" b="1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𝐍</m:t>
                    </m:r>
                    <m:r>
                      <a:rPr lang="fr-FR" altLang="zh-CN" sz="2400" i="1" kern="10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fr-FR" altLang="zh-CN" sz="24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}</a:t>
                </a:r>
                <a:r>
                  <a:rPr lang="fr-FR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r>
                  <a:rPr lang="fr-FR" altLang="zh-CN" sz="24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{</a:t>
                </a:r>
                <a:r>
                  <a:rPr lang="fr-FR" altLang="zh-CN" sz="2400" i="1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lang="fr-FR" altLang="zh-CN" sz="24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|</a:t>
                </a:r>
                <a14:m>
                  <m:oMath xmlns:m="http://schemas.openxmlformats.org/officeDocument/2006/math">
                    <m:r>
                      <a:rPr lang="fr-FR" altLang="zh-CN" sz="2400" i="1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fr-FR" altLang="zh-CN" sz="2400" i="1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fr-FR" altLang="zh-CN" sz="2400" i="1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∉</m:t>
                    </m:r>
                    <m:r>
                      <a:rPr lang="fr-FR" altLang="zh-CN" sz="2400" b="1" i="1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𝐍</m:t>
                    </m:r>
                    <m:r>
                      <a:rPr lang="fr-FR" altLang="zh-CN" sz="2400" i="1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fr-FR" altLang="zh-CN" sz="2400" kern="100" dirty="0">
                    <a:solidFill>
                      <a:srgbClr val="00B05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}</a:t>
                </a:r>
                <a:r>
                  <a:rPr lang="fr-FR" altLang="zh-CN" sz="24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}</a:t>
                </a:r>
                <a:endParaRPr lang="zh-CN" altLang="zh-CN" sz="18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800838"/>
                <a:ext cx="4572000" cy="376065"/>
              </a:xfrm>
              <a:prstGeom prst="rect">
                <a:avLst/>
              </a:prstGeom>
              <a:blipFill rotWithShape="1">
                <a:blip r:embed="rId4"/>
                <a:stretch>
                  <a:fillRect l="-4" t="-3474" r="4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683568" y="4767180"/>
            <a:ext cx="457200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2765" algn="just">
              <a:lnSpc>
                <a:spcPts val="2200"/>
              </a:lnSpc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fr-FR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N,N,{N},N,N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432" y="5682853"/>
            <a:ext cx="1197904" cy="112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34AC18-DFD1-41AE-9BDE-007B598176DF}" type="slidenum">
              <a:rPr lang="en-US" altLang="zh-CN" sz="1400" b="0" smtClean="0"/>
              <a:t>28</a:t>
            </a:fld>
            <a:endParaRPr lang="en-US" altLang="zh-CN" sz="1400" b="0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</a:rPr>
              <a:t>函数的定义与性质（回顾）</a:t>
            </a:r>
          </a:p>
        </p:txBody>
      </p:sp>
      <p:sp>
        <p:nvSpPr>
          <p:cNvPr id="6148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主要内容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函数定义与相关概念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函数定义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函数相等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到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的函数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30000">
                <a:latin typeface="Times New Roman" panose="02020603050405020304" pitchFamily="18" charset="0"/>
              </a:rPr>
              <a:t>A</a:t>
            </a:r>
            <a:endParaRPr lang="en-US" altLang="zh-CN" baseline="30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函数的像与完全原像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</a:pPr>
            <a:r>
              <a:rPr lang="zh-CN" altLang="en-US">
                <a:latin typeface="Times New Roman" panose="02020603050405020304" pitchFamily="18" charset="0"/>
              </a:rPr>
              <a:t>函数的性质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单射、满射、双射函数的定义与实例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构造双射函数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Times New Roman" panose="02020603050405020304" pitchFamily="18" charset="0"/>
              </a:rPr>
              <a:t>某些重要的函数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726" y="1956120"/>
            <a:ext cx="8229600" cy="497046"/>
          </a:xfrm>
        </p:spPr>
        <p:txBody>
          <a:bodyPr/>
          <a:lstStyle/>
          <a:p>
            <a:r>
              <a:rPr lang="zh-CN" altLang="en-US" sz="2200" b="0" dirty="0"/>
              <a:t>则          中元素的个数？</a:t>
            </a:r>
            <a:r>
              <a:rPr lang="en-US" altLang="zh-CN" sz="2200" b="0" dirty="0"/>
              <a:t>(</a:t>
            </a:r>
            <a:r>
              <a:rPr lang="zh-CN" altLang="en-US" sz="2200" b="0" dirty="0"/>
              <a:t>其中</a:t>
            </a:r>
            <a:r>
              <a:rPr lang="en-US" altLang="zh-CN" sz="2200" b="0" i="1" dirty="0"/>
              <a:t>A</a:t>
            </a:r>
            <a:r>
              <a:rPr lang="zh-CN" altLang="en-US" sz="2200" b="0" dirty="0"/>
              <a:t>有</a:t>
            </a:r>
            <a:r>
              <a:rPr lang="en-US" altLang="zh-CN" sz="2200" b="0" dirty="0"/>
              <a:t>n</a:t>
            </a:r>
            <a:r>
              <a:rPr lang="zh-CN" altLang="en-US" sz="2200" b="0" dirty="0"/>
              <a:t>个元素</a:t>
            </a:r>
            <a:r>
              <a:rPr lang="en-US" altLang="zh-CN" sz="2200" b="0" dirty="0"/>
              <a:t>)</a:t>
            </a:r>
            <a:endParaRPr lang="zh-CN" altLang="en-US" sz="22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44C76-38A5-42E7-B9D9-FC32FFA0DF51}" type="slidenum">
              <a:rPr lang="en-US" altLang="zh-CN" smtClean="0"/>
              <a:t>29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988840"/>
            <a:ext cx="534916" cy="360040"/>
          </a:xfrm>
          <a:prstGeom prst="rect">
            <a:avLst/>
          </a:prstGeom>
        </p:spPr>
      </p:pic>
      <p:sp>
        <p:nvSpPr>
          <p:cNvPr id="9" name="标题 1"/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10" name="文本框 3"/>
          <p:cNvSpPr txBox="1">
            <a:spLocks noChangeArrowheads="1"/>
          </p:cNvSpPr>
          <p:nvPr/>
        </p:nvSpPr>
        <p:spPr bwMode="auto">
          <a:xfrm>
            <a:off x="5580063" y="444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18484" y="314951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|P(A)-1|=</a:t>
            </a:r>
            <a:r>
              <a:rPr kumimoji="0" lang="en-US" altLang="zh-CN" sz="28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zh-CN" sz="2800" b="0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zh-CN" sz="2800" b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-1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0" y="1354326"/>
            <a:ext cx="8666548" cy="42237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545400-BA5B-4FA4-A7CF-6A0CB388FEBA}" type="slidenum">
              <a:rPr lang="en-US" altLang="zh-CN" sz="1400" b="0" smtClean="0">
                <a:latin typeface="Arial" panose="020B0604020202020204" pitchFamily="34" charset="0"/>
              </a:rPr>
              <a:t>30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457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24580" name="文本框 3"/>
          <p:cNvSpPr txBox="1">
            <a:spLocks noChangeArrowheads="1"/>
          </p:cNvSpPr>
          <p:nvPr/>
        </p:nvSpPr>
        <p:spPr bwMode="auto">
          <a:xfrm>
            <a:off x="5580063" y="444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33525"/>
            <a:ext cx="8440438" cy="105951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7544" y="2397998"/>
            <a:ext cx="6805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则，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b="1" dirty="0"/>
              <a:t>是偏序关系吗？是全序关系吗？为什么？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9593" y="3387745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是偏序关系，但不是全序关系</a:t>
            </a:r>
            <a:r>
              <a:rPr lang="en-US" altLang="zh-CN" b="1" dirty="0"/>
              <a:t>】</a:t>
            </a:r>
            <a:endParaRPr lang="zh-CN" altLang="en-US" b="1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44C76-38A5-42E7-B9D9-FC32FFA0DF51}" type="slidenum">
              <a:rPr lang="en-US" altLang="zh-CN" smtClean="0"/>
              <a:t>31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40" y="2753122"/>
            <a:ext cx="6824879" cy="1035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41" y="3833242"/>
            <a:ext cx="6814034" cy="1035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42" y="4924218"/>
            <a:ext cx="6824878" cy="10970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00" y="6063507"/>
            <a:ext cx="2415440" cy="31782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060" y="6436443"/>
            <a:ext cx="3537130" cy="304925"/>
          </a:xfrm>
          <a:prstGeom prst="rect">
            <a:avLst/>
          </a:prstGeom>
        </p:spPr>
      </p:pic>
      <p:grpSp>
        <p:nvGrpSpPr>
          <p:cNvPr id="16" name="组合 55"/>
          <p:cNvGrpSpPr/>
          <p:nvPr/>
        </p:nvGrpSpPr>
        <p:grpSpPr>
          <a:xfrm>
            <a:off x="7580676" y="2826285"/>
            <a:ext cx="715648" cy="707087"/>
            <a:chOff x="6409426" y="1173624"/>
            <a:chExt cx="962086" cy="962084"/>
          </a:xfrm>
          <a:solidFill>
            <a:srgbClr val="FF0000"/>
          </a:solidFill>
        </p:grpSpPr>
        <p:sp>
          <p:nvSpPr>
            <p:cNvPr id="17" name="椭圆 16"/>
            <p:cNvSpPr/>
            <p:nvPr/>
          </p:nvSpPr>
          <p:spPr bwMode="auto">
            <a:xfrm>
              <a:off x="6409426" y="1173624"/>
              <a:ext cx="962086" cy="962084"/>
            </a:xfrm>
            <a:prstGeom prst="ellipse">
              <a:avLst/>
            </a:prstGeom>
            <a:grpFill/>
            <a:ln w="57150">
              <a:solidFill>
                <a:sysClr val="window" lastClr="FFFF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marL="0" marR="0" lvl="0" indent="0" defTabSz="902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18" name="TextBox 82"/>
            <p:cNvSpPr txBox="1"/>
            <p:nvPr/>
          </p:nvSpPr>
          <p:spPr>
            <a:xfrm>
              <a:off x="6653352" y="1318965"/>
              <a:ext cx="528257" cy="67003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02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58"/>
          <p:cNvGrpSpPr/>
          <p:nvPr/>
        </p:nvGrpSpPr>
        <p:grpSpPr>
          <a:xfrm>
            <a:off x="7600768" y="4041758"/>
            <a:ext cx="715648" cy="707087"/>
            <a:chOff x="6409426" y="2394908"/>
            <a:chExt cx="962086" cy="962084"/>
          </a:xfrm>
          <a:solidFill>
            <a:srgbClr val="FF6600"/>
          </a:solidFill>
        </p:grpSpPr>
        <p:sp>
          <p:nvSpPr>
            <p:cNvPr id="20" name="椭圆 19"/>
            <p:cNvSpPr/>
            <p:nvPr/>
          </p:nvSpPr>
          <p:spPr bwMode="auto">
            <a:xfrm>
              <a:off x="6409426" y="2394908"/>
              <a:ext cx="962086" cy="962084"/>
            </a:xfrm>
            <a:prstGeom prst="ellipse">
              <a:avLst/>
            </a:prstGeom>
            <a:grpFill/>
            <a:ln w="57150">
              <a:solidFill>
                <a:sysClr val="window" lastClr="FFFF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marL="0" marR="0" lvl="0" indent="0" defTabSz="902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1" name="TextBox 85"/>
            <p:cNvSpPr txBox="1"/>
            <p:nvPr/>
          </p:nvSpPr>
          <p:spPr>
            <a:xfrm>
              <a:off x="6635865" y="2536282"/>
              <a:ext cx="545647" cy="7119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rgbClr val="F8F8F8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defTabSz="902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组合 61"/>
          <p:cNvGrpSpPr/>
          <p:nvPr/>
        </p:nvGrpSpPr>
        <p:grpSpPr>
          <a:xfrm>
            <a:off x="7600768" y="5242193"/>
            <a:ext cx="715648" cy="707087"/>
            <a:chOff x="6409429" y="3568104"/>
            <a:chExt cx="962087" cy="962084"/>
          </a:xfrm>
          <a:solidFill>
            <a:srgbClr val="FFC000"/>
          </a:solidFill>
        </p:grpSpPr>
        <p:sp>
          <p:nvSpPr>
            <p:cNvPr id="23" name="椭圆 22"/>
            <p:cNvSpPr/>
            <p:nvPr/>
          </p:nvSpPr>
          <p:spPr bwMode="auto">
            <a:xfrm>
              <a:off x="6409429" y="3568104"/>
              <a:ext cx="962087" cy="962084"/>
            </a:xfrm>
            <a:prstGeom prst="ellipse">
              <a:avLst/>
            </a:prstGeom>
            <a:grpFill/>
            <a:ln w="57150">
              <a:solidFill>
                <a:sysClr val="window" lastClr="FFFFFF"/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 marL="0" marR="0" lvl="0" indent="0" defTabSz="902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4" name="TextBox 88"/>
            <p:cNvSpPr txBox="1"/>
            <p:nvPr/>
          </p:nvSpPr>
          <p:spPr>
            <a:xfrm>
              <a:off x="6635869" y="3702117"/>
              <a:ext cx="545648" cy="7119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defRPr sz="2800" b="1">
                  <a:solidFill>
                    <a:srgbClr val="F8F8F8"/>
                  </a:solidFill>
                  <a:latin typeface="+mj-ea"/>
                  <a:ea typeface="+mj-ea"/>
                </a:defRPr>
              </a:lvl1pPr>
            </a:lstStyle>
            <a:p>
              <a:pPr marL="0" marR="0" lvl="0" indent="0" defTabSz="9029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45" y="1044301"/>
            <a:ext cx="7229475" cy="1647825"/>
          </a:xfrm>
          <a:prstGeom prst="rect">
            <a:avLst/>
          </a:prstGeom>
        </p:spPr>
      </p:pic>
      <p:sp>
        <p:nvSpPr>
          <p:cNvPr id="26" name="标题 1"/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7" name="文本框 3"/>
          <p:cNvSpPr txBox="1">
            <a:spLocks noChangeArrowheads="1"/>
          </p:cNvSpPr>
          <p:nvPr/>
        </p:nvSpPr>
        <p:spPr bwMode="auto">
          <a:xfrm>
            <a:off x="5580063" y="444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 dirty="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44C76-38A5-42E7-B9D9-FC32FFA0DF51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179512" y="1102196"/>
            <a:ext cx="8210550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={1,2,3},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},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70218" y="1676871"/>
            <a:ext cx="3997325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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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4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5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6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 </a:t>
            </a:r>
            <a:r>
              <a:rPr lang="en-US" altLang="zh-CN" dirty="0">
                <a:latin typeface="Times New Roman" panose="02020603050405020304" pitchFamily="18" charset="0"/>
              </a:rPr>
              <a:t>= {&lt;1,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&gt;,&lt;2,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&gt;,&lt;3,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284787" y="1844824"/>
            <a:ext cx="4589335" cy="2569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= {&lt;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&gt;,……,&lt;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&gt;,……,&lt;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 </a:t>
            </a:r>
            <a:r>
              <a:rPr lang="en-US" altLang="zh-CN" dirty="0">
                <a:latin typeface="Times New Roman" panose="02020603050405020304" pitchFamily="18" charset="0"/>
              </a:rPr>
              <a:t>&gt;} 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zh-CN" b="0" dirty="0"/>
              <a:t>偏序集</a:t>
            </a:r>
            <a:r>
              <a:rPr lang="en-US" altLang="zh-CN" b="0" dirty="0"/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 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b="0" dirty="0"/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en-US" altLang="zh-CN" b="0" dirty="0"/>
              <a:t>&gt;</a:t>
            </a:r>
            <a:r>
              <a:rPr lang="zh-CN" altLang="zh-CN" b="0" dirty="0"/>
              <a:t>中的</a:t>
            </a:r>
            <a:endParaRPr lang="en-US" altLang="zh-CN" b="0" dirty="0"/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zh-CN" b="0" dirty="0"/>
              <a:t>最大元</a:t>
            </a:r>
            <a:r>
              <a:rPr lang="zh-CN" altLang="en-US" b="0" dirty="0"/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baseline="-25000" dirty="0">
                <a:latin typeface="Times New Roman" panose="02020603050405020304" pitchFamily="18" charset="0"/>
              </a:rPr>
              <a:t>7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br>
              <a:rPr lang="en-US" altLang="zh-CN" b="0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211" y="1330836"/>
            <a:ext cx="3813802" cy="45402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4797152"/>
            <a:ext cx="847725" cy="447675"/>
          </a:xfrm>
          <a:prstGeom prst="rect">
            <a:avLst/>
          </a:prstGeom>
        </p:spPr>
      </p:pic>
      <p:sp>
        <p:nvSpPr>
          <p:cNvPr id="11" name="标题 1"/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进阶例题</a:t>
            </a:r>
            <a:r>
              <a:rPr lang="en-US" altLang="zh-CN" dirty="0">
                <a:solidFill>
                  <a:srgbClr val="FF0000"/>
                </a:solidFill>
              </a:rPr>
              <a:t>*-</a:t>
            </a:r>
            <a:r>
              <a:rPr lang="zh-CN" altLang="en-US" dirty="0">
                <a:solidFill>
                  <a:srgbClr val="FF0000"/>
                </a:solidFill>
              </a:rPr>
              <a:t>详解</a:t>
            </a:r>
          </a:p>
        </p:txBody>
      </p:sp>
      <p:sp>
        <p:nvSpPr>
          <p:cNvPr id="12" name="文本框 3"/>
          <p:cNvSpPr txBox="1">
            <a:spLocks noChangeArrowheads="1"/>
          </p:cNvSpPr>
          <p:nvPr/>
        </p:nvSpPr>
        <p:spPr bwMode="auto">
          <a:xfrm>
            <a:off x="4651288" y="473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 dirty="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1FAF3B-D8A2-46E0-9982-DED4C8292CDF}" type="slidenum">
              <a:rPr lang="en-US" altLang="zh-CN" sz="1400" b="0" smtClean="0"/>
              <a:t>33</a:t>
            </a:fld>
            <a:endParaRPr lang="en-US" altLang="zh-CN" sz="1400" b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第八章 函数</a:t>
            </a:r>
          </a:p>
        </p:txBody>
      </p:sp>
      <p:sp>
        <p:nvSpPr>
          <p:cNvPr id="4100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8.1 </a:t>
            </a:r>
            <a:r>
              <a:rPr lang="zh-CN" altLang="en-US" dirty="0"/>
              <a:t>函数的定义与性质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函数定义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函数性质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>
                <a:solidFill>
                  <a:srgbClr val="FF0000"/>
                </a:solidFill>
              </a:rPr>
              <a:t>8.2 </a:t>
            </a:r>
            <a:r>
              <a:rPr lang="zh-CN" altLang="en-US" dirty="0">
                <a:solidFill>
                  <a:srgbClr val="FF0000"/>
                </a:solidFill>
              </a:rPr>
              <a:t>函数运算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函数的逆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函数的复合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8.3 </a:t>
            </a:r>
            <a:r>
              <a:rPr lang="zh-CN" altLang="en-US" dirty="0"/>
              <a:t>双射函数与集合的基数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5E4866-5206-4DFD-87B8-DE296F94AAF6}" type="slidenum">
              <a:rPr lang="en-US" altLang="zh-CN" sz="1400" b="0" smtClean="0"/>
              <a:t>34</a:t>
            </a:fld>
            <a:endParaRPr lang="en-US" altLang="zh-CN" sz="1400" b="0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8.2 </a:t>
            </a:r>
            <a:r>
              <a:rPr lang="zh-CN" altLang="en-US" dirty="0">
                <a:latin typeface="华文中宋" panose="02010600040101010101" pitchFamily="2" charset="-122"/>
              </a:rPr>
              <a:t>函数的复合与反函数</a:t>
            </a:r>
            <a:r>
              <a:rPr lang="zh-CN" altLang="en-US" dirty="0"/>
              <a:t> </a:t>
            </a:r>
          </a:p>
        </p:txBody>
      </p:sp>
      <p:sp>
        <p:nvSpPr>
          <p:cNvPr id="34820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复合函数基本定理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函数的复合运算与函数性质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反函数的存在条件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反函数的性质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AC5572-022B-42C4-B05A-4ED51F96E248}" type="slidenum">
              <a:rPr lang="en-US" altLang="zh-CN" sz="1400" b="0" smtClean="0"/>
              <a:t>35</a:t>
            </a:fld>
            <a:endParaRPr lang="en-US" altLang="zh-CN" sz="1400" b="0" dirty="0"/>
          </a:p>
        </p:txBody>
      </p:sp>
      <p:sp>
        <p:nvSpPr>
          <p:cNvPr id="368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复合函数基本定理</a:t>
            </a:r>
          </a:p>
        </p:txBody>
      </p:sp>
      <p:sp>
        <p:nvSpPr>
          <p:cNvPr id="3686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362950" cy="1366837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且满足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36869" name="Rectangle 9"/>
          <p:cNvSpPr>
            <a:spLocks noChangeArrowheads="1"/>
          </p:cNvSpPr>
          <p:nvPr/>
        </p:nvSpPr>
        <p:spPr bwMode="auto">
          <a:xfrm>
            <a:off x="468313" y="2565400"/>
            <a:ext cx="8362950" cy="388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先证明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也是关系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若对某个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dirty="0">
                <a:solidFill>
                  <a:srgbClr val="0066FF"/>
                </a:solidFill>
              </a:rPr>
              <a:t>∧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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(&lt;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2000" dirty="0"/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sz="2000" dirty="0"/>
              <a:t>∧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(&lt;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2000" dirty="0"/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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/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2000" dirty="0"/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 )   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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     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所以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为函数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56176" y="4797152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</a:rPr>
              <a:t>为函数）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18076" y="5168813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i="1" dirty="0">
                <a:solidFill>
                  <a:srgbClr val="00B05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</a:rPr>
              <a:t>为函数）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2564904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08000F-3F0B-4436-9E09-040CB1338F3C}" type="slidenum">
              <a:rPr lang="en-US" altLang="zh-CN" sz="1400" b="0" smtClean="0"/>
              <a:t>36</a:t>
            </a:fld>
            <a:endParaRPr lang="en-US" altLang="zh-CN" sz="1400" b="0"/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证明（续）</a:t>
            </a:r>
          </a:p>
        </p:txBody>
      </p:sp>
      <p:sp>
        <p:nvSpPr>
          <p:cNvPr id="3891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8022" y="2486129"/>
            <a:ext cx="8229600" cy="4350474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）任取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</a:rPr>
              <a:t>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 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(&lt;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/>
              <a:t>∧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 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/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)∧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 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∈{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）任取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</a:rPr>
              <a:t>  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     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),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))&gt;∈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     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&lt;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))&gt;∈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            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)∧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＝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所以</a:t>
            </a: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得证</a:t>
            </a:r>
          </a:p>
        </p:txBody>
      </p:sp>
      <p:sp>
        <p:nvSpPr>
          <p:cNvPr id="5" name="Rectangle 8"/>
          <p:cNvSpPr txBox="1">
            <a:spLocks noChangeArrowheads="1"/>
          </p:cNvSpPr>
          <p:nvPr/>
        </p:nvSpPr>
        <p:spPr bwMode="auto">
          <a:xfrm>
            <a:off x="467544" y="1004164"/>
            <a:ext cx="8362950" cy="136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也是函数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且满足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marL="609600" indent="-609600"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(2) 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2348880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5496" y="4365104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5496" y="6309320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8BFFCA4-DC4D-4860-85F1-27433EE2F3F2}" type="slidenum">
              <a:rPr lang="en-US" altLang="zh-CN" sz="1400" b="0" smtClean="0"/>
              <a:t>37</a:t>
            </a:fld>
            <a:endParaRPr lang="en-US" altLang="zh-CN" sz="1400" b="0"/>
          </a:p>
        </p:txBody>
      </p:sp>
      <p:sp>
        <p:nvSpPr>
          <p:cNvPr id="4096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推论</a:t>
            </a:r>
          </a:p>
        </p:txBody>
      </p:sp>
      <p:sp>
        <p:nvSpPr>
          <p:cNvPr id="4096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353425" cy="14398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为函数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都是函数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                 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   由上述定理和运算满足结合律得证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0965" name="Rectangle 9"/>
          <p:cNvSpPr>
            <a:spLocks noChangeArrowheads="1"/>
          </p:cNvSpPr>
          <p:nvPr/>
        </p:nvSpPr>
        <p:spPr bwMode="auto">
          <a:xfrm>
            <a:off x="395288" y="2781300"/>
            <a:ext cx="828040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5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marL="857250" lvl="2" indent="0" eaLnBrk="1" hangingPunct="1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证  由上述定理知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sz="3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</a:p>
          <a:p>
            <a:pPr marL="857250" lvl="2" indent="0" eaLnBrk="1" hangingPunct="1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  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0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   ={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|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857250" lvl="2" indent="0"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ran(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0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 ran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</a:p>
          <a:p>
            <a:pPr marL="857250" lvl="2" indent="0" eaLnBrk="1" hangingPunct="1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因此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0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有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0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0" y="2636912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84353F-D5D5-4C45-B482-28D83E0E6A04}" type="slidenum">
              <a:rPr lang="en-US" altLang="zh-CN" sz="1400" b="0" smtClean="0"/>
              <a:t>38</a:t>
            </a:fld>
            <a:endParaRPr lang="en-US" altLang="zh-CN" sz="1400" b="0"/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函数复合与函数性质</a:t>
            </a:r>
          </a:p>
        </p:txBody>
      </p:sp>
      <p:sp>
        <p:nvSpPr>
          <p:cNvPr id="4301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800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如果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是满射的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也是满射的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如果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是单射的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也是单射的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如果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是双射的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则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→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也是双射的  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534566" y="5085184"/>
            <a:ext cx="8280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8.3</a:t>
            </a:r>
            <a:r>
              <a:rPr lang="en-US" altLang="zh-CN" dirty="0"/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 f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（证明略）</a:t>
            </a:r>
            <a:r>
              <a:rPr lang="zh-CN" altLang="en-US" b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8"/>
          <p:cNvSpPr txBox="1">
            <a:spLocks noChangeArrowheads="1"/>
          </p:cNvSpPr>
          <p:nvPr/>
        </p:nvSpPr>
        <p:spPr bwMode="auto">
          <a:xfrm>
            <a:off x="441548" y="2883709"/>
            <a:ext cx="7777163" cy="1872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注意：</a:t>
            </a:r>
            <a:r>
              <a:rPr lang="zh-CN" altLang="en-US" dirty="0"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8.2</a:t>
            </a:r>
            <a:r>
              <a:rPr lang="zh-CN" altLang="en-US" dirty="0">
                <a:latin typeface="Times New Roman" panose="02020603050405020304" pitchFamily="18" charset="0"/>
              </a:rPr>
              <a:t>的逆命题不为真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即如果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是单射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或满射、双射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不一定有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都是单射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或满射、双射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0" y="2996952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4797152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84353F-D5D5-4C45-B482-28D83E0E6A04}" type="slidenum">
              <a:rPr lang="en-US" altLang="zh-CN" sz="1400" b="0" smtClean="0"/>
              <a:t>39</a:t>
            </a:fld>
            <a:endParaRPr lang="en-US" altLang="zh-CN" sz="1400" b="0"/>
          </a:p>
        </p:txBody>
      </p:sp>
      <p:sp>
        <p:nvSpPr>
          <p:cNvPr id="4301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证明：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01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800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是满射的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也是满射的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也是单射的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也是双射的  </a:t>
            </a:r>
          </a:p>
        </p:txBody>
      </p:sp>
      <p:sp>
        <p:nvSpPr>
          <p:cNvPr id="43013" name="Rectangle 9"/>
          <p:cNvSpPr>
            <a:spLocks noChangeArrowheads="1"/>
          </p:cNvSpPr>
          <p:nvPr/>
        </p:nvSpPr>
        <p:spPr bwMode="auto">
          <a:xfrm>
            <a:off x="468313" y="3303587"/>
            <a:ext cx="8280400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证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任取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的满射性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对于这个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由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的满射性，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使得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由定理</a:t>
            </a:r>
            <a:r>
              <a:rPr lang="en-US" altLang="zh-CN" dirty="0">
                <a:latin typeface="Times New Roman" panose="02020603050405020304" pitchFamily="18" charset="0"/>
              </a:rPr>
              <a:t>8.1</a:t>
            </a:r>
            <a:r>
              <a:rPr lang="zh-CN" altLang="en-US" dirty="0">
                <a:latin typeface="Times New Roman" panose="02020603050405020304" pitchFamily="18" charset="0"/>
              </a:rPr>
              <a:t>有 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i="1" dirty="0">
                <a:latin typeface="Times New Roman" panose="02020603050405020304" pitchFamily="18" charset="0"/>
              </a:rPr>
              <a:t>                         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)) =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从而证明了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是满射的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0" y="2996952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C80071-79CC-4847-A95D-8C376D445D0F}" type="slidenum">
              <a:rPr lang="en-US" altLang="zh-CN" sz="1400" b="0" smtClean="0"/>
              <a:t>40</a:t>
            </a:fld>
            <a:endParaRPr lang="en-US" altLang="zh-CN" sz="1400" b="0"/>
          </a:p>
        </p:txBody>
      </p:sp>
      <p:sp>
        <p:nvSpPr>
          <p:cNvPr id="45060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659" y="2957042"/>
            <a:ext cx="8496300" cy="3764433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假设存在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使得     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4000" baseline="-16000" dirty="0" err="1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4000" baseline="-16000" dirty="0" err="1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由定理</a:t>
            </a:r>
            <a:r>
              <a:rPr lang="en-US" altLang="zh-CN" dirty="0">
                <a:latin typeface="Times New Roman" panose="02020603050405020304" pitchFamily="18" charset="0"/>
              </a:rPr>
              <a:t>8.1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   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))=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又由于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从而证明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得证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Rectangle 8"/>
          <p:cNvSpPr txBox="1">
            <a:spLocks noChangeArrowheads="1"/>
          </p:cNvSpPr>
          <p:nvPr/>
        </p:nvSpPr>
        <p:spPr bwMode="auto">
          <a:xfrm>
            <a:off x="369391" y="1052736"/>
            <a:ext cx="829151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是满射的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也是满射的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也是单射的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也是双射的  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证明：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（续）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D439C8-4D71-4C7D-BA66-DC8F1477B2B6}" type="slidenum">
              <a:rPr lang="en-US" altLang="zh-CN" sz="1400" b="0" smtClean="0"/>
              <a:t>41</a:t>
            </a:fld>
            <a:endParaRPr lang="en-US" altLang="zh-CN" sz="1400" b="0"/>
          </a:p>
        </p:txBody>
      </p:sp>
      <p:sp>
        <p:nvSpPr>
          <p:cNvPr id="4710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8.2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的逆命题不为真   </a:t>
            </a:r>
            <a:r>
              <a:rPr lang="zh-CN" altLang="en-US" dirty="0"/>
              <a:t>实例</a:t>
            </a:r>
          </a:p>
        </p:txBody>
      </p:sp>
      <p:sp>
        <p:nvSpPr>
          <p:cNvPr id="4710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4006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考虑集合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令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 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 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那么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但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不是单射的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6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考虑集合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  <a:r>
              <a:rPr lang="zh-CN" altLang="en-US" dirty="0">
                <a:latin typeface="Times New Roman" panose="02020603050405020304" pitchFamily="18" charset="0"/>
              </a:rPr>
              <a:t>令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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={&lt;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&gt;,&lt;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&gt;}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C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→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是满射的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但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不是满射的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038" y="1610594"/>
            <a:ext cx="1552575" cy="1838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613" y="1772816"/>
            <a:ext cx="904875" cy="1600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011" y="4526068"/>
            <a:ext cx="1495425" cy="1409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9436" y="4479592"/>
            <a:ext cx="933450" cy="1257300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0" y="3789040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F28037-B2AF-4A0F-8E42-F1E23AA90ACB}" type="slidenum">
              <a:rPr lang="en-US" altLang="zh-CN" sz="1400" b="0" smtClean="0"/>
              <a:t>42</a:t>
            </a:fld>
            <a:endParaRPr lang="en-US" altLang="zh-CN" sz="1400" b="0"/>
          </a:p>
        </p:txBody>
      </p:sp>
      <p:sp>
        <p:nvSpPr>
          <p:cNvPr id="491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反函数</a:t>
            </a:r>
          </a:p>
        </p:txBody>
      </p:sp>
      <p:sp>
        <p:nvSpPr>
          <p:cNvPr id="4915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23034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反函数存在的条件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任给函数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它的逆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不一定是函数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只是一个二元关系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任给单射函数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但不一定是从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的双射函数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对于双射函数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49157" name="Rectangle 9"/>
          <p:cNvSpPr>
            <a:spLocks noChangeArrowheads="1"/>
          </p:cNvSpPr>
          <p:nvPr/>
        </p:nvSpPr>
        <p:spPr bwMode="auto">
          <a:xfrm>
            <a:off x="468313" y="3860800"/>
            <a:ext cx="81375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也是双射的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证明思路：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先证明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，即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是函数，且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再证明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的双射性质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415C46-CB6F-4B39-9E01-9862F5BB95E5}" type="slidenum">
              <a:rPr lang="en-US" altLang="zh-CN" sz="1400" b="0" smtClean="0"/>
              <a:t>43</a:t>
            </a:fld>
            <a:endParaRPr lang="en-US" altLang="zh-CN" sz="1400" b="0"/>
          </a:p>
        </p:txBody>
      </p:sp>
      <p:sp>
        <p:nvSpPr>
          <p:cNvPr id="5120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证明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8.4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5120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641208" cy="518492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  因为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是函数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是关系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   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,   ran</a:t>
            </a:r>
            <a:r>
              <a:rPr lang="en-US" altLang="zh-CN" i="1" dirty="0"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</a:rPr>
              <a:t>dom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</a:p>
          <a:p>
            <a:pPr eaLnBrk="1" hangingPunct="1"/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对于任意的 </a:t>
            </a:r>
            <a:r>
              <a:rPr lang="en-US" altLang="zh-CN" i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dom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假设有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使得</a:t>
            </a:r>
            <a:b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</a:b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成立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则由逆的定义有</a:t>
            </a:r>
          </a:p>
          <a:p>
            <a:pPr eaLnBrk="1" hangingPunct="1"/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                  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f</a:t>
            </a:r>
            <a:endParaRPr lang="en-US" altLang="zh-CN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根据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的单射性可得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7030A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故证明了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7030A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是函数，且是满射的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     再证单射性：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      若存在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使得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f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从而有</a:t>
            </a:r>
            <a:b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</a:b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          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        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∧&lt;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对于双射函数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是它的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反函数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2132856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4293096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5949280"/>
            <a:ext cx="9144000" cy="0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903F94-C22D-4F1D-AAA3-D49E5A5D0051}" type="slidenum">
              <a:rPr lang="en-US" altLang="zh-CN" sz="1400" b="0" smtClean="0"/>
              <a:t>44</a:t>
            </a:fld>
            <a:endParaRPr lang="en-US" altLang="zh-CN" sz="1400" b="0" dirty="0"/>
          </a:p>
        </p:txBody>
      </p:sp>
      <p:sp>
        <p:nvSpPr>
          <p:cNvPr id="5325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反函数的性质</a:t>
            </a:r>
          </a:p>
        </p:txBody>
      </p:sp>
      <p:sp>
        <p:nvSpPr>
          <p:cNvPr id="53252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280" cy="2808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8.5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是双射的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对于双射函数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40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latin typeface="Times New Roman" panose="02020603050405020304" pitchFamily="18" charset="0"/>
              </a:rPr>
              <a:t> 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 </a:t>
            </a:r>
            <a:r>
              <a:rPr lang="en-US" altLang="zh-CN" i="1" dirty="0">
                <a:latin typeface="Times New Roman" panose="02020603050405020304" pitchFamily="18" charset="0"/>
              </a:rPr>
              <a:t>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证明思路：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根据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</a:rPr>
              <a:t>8.4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可知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也是双射的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由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</a:rPr>
              <a:t>8.1</a:t>
            </a:r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</a:rPr>
              <a:t>的推论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可知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40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4000" baseline="-16000" dirty="0">
                <a:solidFill>
                  <a:srgbClr val="0066FF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，且它们都是恒等函数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.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b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11" y="5059362"/>
            <a:ext cx="6721396" cy="10160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箭头: 右弧形 3"/>
          <p:cNvSpPr/>
          <p:nvPr/>
        </p:nvSpPr>
        <p:spPr>
          <a:xfrm>
            <a:off x="7523707" y="3893208"/>
            <a:ext cx="720701" cy="191205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272177-9E00-4731-B02D-AFCE77C60C4B}" type="slidenum">
              <a:rPr lang="en-US" altLang="zh-CN" sz="1400" b="0" smtClean="0"/>
              <a:t>45</a:t>
            </a:fld>
            <a:endParaRPr lang="en-US" altLang="zh-CN" sz="1400" b="0"/>
          </a:p>
        </p:txBody>
      </p:sp>
      <p:sp>
        <p:nvSpPr>
          <p:cNvPr id="55299" name="Rectangle 8"/>
          <p:cNvSpPr>
            <a:spLocks noChangeArrowheads="1"/>
          </p:cNvSpPr>
          <p:nvPr/>
        </p:nvSpPr>
        <p:spPr bwMode="auto">
          <a:xfrm>
            <a:off x="4356100" y="1887538"/>
            <a:ext cx="7937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</a:t>
            </a:r>
            <a:endParaRPr lang="zh-CN" altLang="en-US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000" b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</a:t>
            </a:r>
            <a:endParaRPr lang="zh-CN" altLang="en-US" sz="1800" b="0" dirty="0"/>
          </a:p>
        </p:txBody>
      </p:sp>
      <p:graphicFrame>
        <p:nvGraphicFramePr>
          <p:cNvPr id="55300" name="Object 7"/>
          <p:cNvGraphicFramePr>
            <a:graphicFrameLocks noChangeAspect="1"/>
          </p:cNvGraphicFramePr>
          <p:nvPr/>
        </p:nvGraphicFramePr>
        <p:xfrm>
          <a:off x="4356100" y="2393950"/>
          <a:ext cx="3935413" cy="297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92300" imgH="1435100" progId="Equation.3">
                  <p:embed/>
                </p:oleObj>
              </mc:Choice>
              <mc:Fallback>
                <p:oleObj name="公式" r:id="rId3" imgW="1892300" imgH="1435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393950"/>
                        <a:ext cx="3935413" cy="297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Rectangle 9"/>
          <p:cNvSpPr>
            <a:spLocks noChangeArrowheads="1"/>
          </p:cNvSpPr>
          <p:nvPr/>
        </p:nvSpPr>
        <p:spPr bwMode="auto">
          <a:xfrm>
            <a:off x="2843213" y="5395913"/>
            <a:ext cx="5257800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:R→R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不是双射的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不存在反函数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:R→R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是双射的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它的反函数是</a:t>
            </a:r>
            <a:b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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:R→R,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5302" name="Rectangle 10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实例</a:t>
            </a:r>
          </a:p>
        </p:txBody>
      </p:sp>
      <p:grpSp>
        <p:nvGrpSpPr>
          <p:cNvPr id="55303" name="Group 12"/>
          <p:cNvGrpSpPr/>
          <p:nvPr/>
        </p:nvGrpSpPr>
        <p:grpSpPr bwMode="auto">
          <a:xfrm>
            <a:off x="250825" y="1106488"/>
            <a:ext cx="8208963" cy="2374900"/>
            <a:chOff x="340" y="2569"/>
            <a:chExt cx="5171" cy="1496"/>
          </a:xfrm>
        </p:grpSpPr>
        <p:sp>
          <p:nvSpPr>
            <p:cNvPr id="55305" name="Rectangle 11"/>
            <p:cNvSpPr>
              <a:spLocks noChangeArrowheads="1"/>
            </p:cNvSpPr>
            <p:nvPr/>
          </p:nvSpPr>
          <p:spPr bwMode="auto">
            <a:xfrm>
              <a:off x="340" y="2569"/>
              <a:ext cx="5171" cy="1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>
                  <a:solidFill>
                    <a:srgbClr val="A50021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>
                  <a:solidFill>
                    <a:srgbClr val="A50021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>
                  <a:latin typeface="Times New Roman" panose="02020603050405020304" pitchFamily="18" charset="0"/>
                </a:rPr>
                <a:t>  </a:t>
              </a:r>
              <a:r>
                <a:rPr lang="zh-CN" altLang="en-US">
                  <a:latin typeface="Times New Roman" panose="02020603050405020304" pitchFamily="18" charset="0"/>
                </a:rPr>
                <a:t>设 </a:t>
              </a:r>
            </a:p>
            <a:p>
              <a:pPr eaLnBrk="1" hangingPunct="1">
                <a:lnSpc>
                  <a:spcPct val="90000"/>
                </a:lnSpc>
                <a:spcBef>
                  <a:spcPct val="75000"/>
                </a:spcBef>
              </a:pPr>
              <a:br>
                <a:rPr lang="zh-CN" altLang="en-US">
                  <a:latin typeface="Times New Roman" panose="02020603050405020304" pitchFamily="18" charset="0"/>
                </a:rPr>
              </a:br>
              <a:r>
                <a:rPr lang="zh-CN" altLang="en-US">
                  <a:latin typeface="Times New Roman" panose="02020603050405020304" pitchFamily="18" charset="0"/>
                </a:rPr>
                <a:t> </a:t>
              </a:r>
              <a:r>
                <a:rPr lang="zh-CN" altLang="en-US" i="1">
                  <a:latin typeface="Times New Roman" panose="02020603050405020304" pitchFamily="18" charset="0"/>
                </a:rPr>
                <a:t>   </a:t>
              </a:r>
              <a:endParaRPr lang="zh-CN" altLang="en-US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</a:pPr>
              <a:endParaRPr lang="zh-CN" altLang="en-US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求 </a:t>
              </a:r>
              <a:r>
                <a:rPr lang="en-US" altLang="zh-CN" i="1">
                  <a:latin typeface="Times New Roman" panose="02020603050405020304" pitchFamily="18" charset="0"/>
                </a:rPr>
                <a:t>f </a:t>
              </a:r>
              <a:r>
                <a:rPr lang="en-US" altLang="zh-CN" sz="4000" baseline="-16000">
                  <a:solidFill>
                    <a:srgbClr val="000000"/>
                  </a:solidFill>
                  <a:sym typeface="Symbol" panose="05050102010706020507" pitchFamily="18" charset="2"/>
                </a:rPr>
                <a:t>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g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en-US" altLang="zh-CN" i="1">
                  <a:latin typeface="Times New Roman" panose="02020603050405020304" pitchFamily="18" charset="0"/>
                </a:rPr>
                <a:t>g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4000" baseline="-16000">
                  <a:solidFill>
                    <a:srgbClr val="000000"/>
                  </a:solidFill>
                  <a:sym typeface="Symbol" panose="05050102010706020507" pitchFamily="18" charset="2"/>
                </a:rPr>
                <a:t>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f</a:t>
              </a:r>
              <a:r>
                <a:rPr lang="en-US" altLang="zh-CN">
                  <a:latin typeface="Times New Roman" panose="02020603050405020304" pitchFamily="18" charset="0"/>
                </a:rPr>
                <a:t>. </a:t>
              </a:r>
            </a:p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如果</a:t>
              </a:r>
              <a:r>
                <a:rPr lang="en-US" altLang="zh-CN" i="1">
                  <a:latin typeface="Times New Roman" panose="02020603050405020304" pitchFamily="18" charset="0"/>
                </a:rPr>
                <a:t>f </a:t>
              </a:r>
              <a:r>
                <a:rPr lang="zh-CN" altLang="en-US">
                  <a:latin typeface="Times New Roman" panose="02020603050405020304" pitchFamily="18" charset="0"/>
                </a:rPr>
                <a:t>和 </a:t>
              </a:r>
              <a:r>
                <a:rPr lang="en-US" altLang="zh-CN" i="1">
                  <a:latin typeface="Times New Roman" panose="02020603050405020304" pitchFamily="18" charset="0"/>
                </a:rPr>
                <a:t>g </a:t>
              </a:r>
              <a:r>
                <a:rPr lang="zh-CN" altLang="en-US">
                  <a:latin typeface="Times New Roman" panose="02020603050405020304" pitchFamily="18" charset="0"/>
                </a:rPr>
                <a:t>存在反函数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</a:p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求出它们的反函数</a:t>
              </a:r>
              <a:r>
                <a:rPr lang="en-US" altLang="zh-CN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55306" name="Object 9"/>
            <p:cNvGraphicFramePr>
              <a:graphicFrameLocks noChangeAspect="1"/>
            </p:cNvGraphicFramePr>
            <p:nvPr/>
          </p:nvGraphicFramePr>
          <p:xfrm>
            <a:off x="1066" y="2572"/>
            <a:ext cx="1950" cy="1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536700" imgH="927100" progId="Equation.3">
                    <p:embed/>
                  </p:oleObj>
                </mc:Choice>
                <mc:Fallback>
                  <p:oleObj name="公式" r:id="rId5" imgW="1536700" imgH="9271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2572"/>
                          <a:ext cx="1950" cy="1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任意多边形: 形状 5"/>
          <p:cNvSpPr/>
          <p:nvPr/>
        </p:nvSpPr>
        <p:spPr>
          <a:xfrm>
            <a:off x="2843213" y="1184275"/>
            <a:ext cx="2230437" cy="3933825"/>
          </a:xfrm>
          <a:custGeom>
            <a:avLst/>
            <a:gdLst>
              <a:gd name="connsiteX0" fmla="*/ 1951630 w 1951630"/>
              <a:gd name="connsiteY0" fmla="*/ 0 h 3753134"/>
              <a:gd name="connsiteX1" fmla="*/ 1201003 w 1951630"/>
              <a:gd name="connsiteY1" fmla="*/ 1064525 h 3753134"/>
              <a:gd name="connsiteX2" fmla="*/ 887104 w 1951630"/>
              <a:gd name="connsiteY2" fmla="*/ 2811439 h 3753134"/>
              <a:gd name="connsiteX3" fmla="*/ 0 w 1951630"/>
              <a:gd name="connsiteY3" fmla="*/ 3753134 h 3753134"/>
              <a:gd name="connsiteX4" fmla="*/ 0 w 1951630"/>
              <a:gd name="connsiteY4" fmla="*/ 3753134 h 375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630" h="3753134">
                <a:moveTo>
                  <a:pt x="1951630" y="0"/>
                </a:moveTo>
                <a:cubicBezTo>
                  <a:pt x="1665027" y="297976"/>
                  <a:pt x="1378424" y="595952"/>
                  <a:pt x="1201003" y="1064525"/>
                </a:cubicBezTo>
                <a:cubicBezTo>
                  <a:pt x="1023582" y="1533098"/>
                  <a:pt x="1087271" y="2363338"/>
                  <a:pt x="887104" y="2811439"/>
                </a:cubicBezTo>
                <a:cubicBezTo>
                  <a:pt x="686937" y="3259540"/>
                  <a:pt x="0" y="3753134"/>
                  <a:pt x="0" y="3753134"/>
                </a:cubicBezTo>
                <a:lnTo>
                  <a:pt x="0" y="3753134"/>
                </a:lnTo>
              </a:path>
            </a:pathLst>
          </a:cu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/>
      <p:bldP spid="5530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5E4866-5206-4DFD-87B8-DE296F94AAF6}" type="slidenum">
              <a:rPr lang="en-US" altLang="zh-CN" sz="1400" b="0" smtClean="0"/>
              <a:t>46</a:t>
            </a:fld>
            <a:endParaRPr lang="en-US" altLang="zh-CN" sz="1400" b="0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8.2 </a:t>
            </a:r>
            <a:r>
              <a:rPr lang="zh-CN" altLang="en-US" dirty="0">
                <a:latin typeface="华文中宋" panose="02010600040101010101" pitchFamily="2" charset="-122"/>
              </a:rPr>
              <a:t>函数的复合与反函数（回顾）</a:t>
            </a:r>
            <a:r>
              <a:rPr lang="zh-CN" altLang="en-US" dirty="0"/>
              <a:t> </a:t>
            </a:r>
          </a:p>
        </p:txBody>
      </p:sp>
      <p:sp>
        <p:nvSpPr>
          <p:cNvPr id="34820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复合函数基本定理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函数的复合运算与函数性质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反函数的存在条件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反函数的性质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1FAF3B-D8A2-46E0-9982-DED4C8292CDF}" type="slidenum">
              <a:rPr lang="en-US" altLang="zh-CN" sz="1400" b="0" smtClean="0"/>
              <a:t>47</a:t>
            </a:fld>
            <a:endParaRPr lang="en-US" altLang="zh-CN" sz="1400" b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第八章 函数</a:t>
            </a:r>
          </a:p>
        </p:txBody>
      </p:sp>
      <p:sp>
        <p:nvSpPr>
          <p:cNvPr id="4100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8.1 </a:t>
            </a:r>
            <a:r>
              <a:rPr lang="zh-CN" altLang="en-US" dirty="0"/>
              <a:t>函数的定义与性质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函数定义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函数性质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8.2 </a:t>
            </a:r>
            <a:r>
              <a:rPr lang="zh-CN" altLang="en-US" dirty="0"/>
              <a:t>函数运算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函数的逆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函数的复合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>
                <a:solidFill>
                  <a:srgbClr val="FF0000"/>
                </a:solidFill>
              </a:rPr>
              <a:t>8.3 </a:t>
            </a:r>
            <a:r>
              <a:rPr lang="zh-CN" altLang="en-US" dirty="0">
                <a:solidFill>
                  <a:srgbClr val="FF0000"/>
                </a:solidFill>
              </a:rPr>
              <a:t>双射函数与集合的基数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896800-8F40-4530-8284-1CFE9492EDE6}" type="slidenum">
              <a:rPr lang="en-US" altLang="zh-CN" sz="1400" b="0" smtClean="0"/>
              <a:t>48</a:t>
            </a:fld>
            <a:endParaRPr lang="en-US" altLang="zh-CN" sz="1400" b="0"/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latin typeface="Times New Roman" panose="02020603050405020304" pitchFamily="18" charset="0"/>
              </a:rPr>
              <a:t>8.3 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双射函数与集合的基数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集合的等势及其性质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重要的等势或不等势的结果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集合的优势及其性质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集合的基数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可数集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403501-0F15-4915-B5D9-4136F149F005}" type="slidenum">
              <a:rPr lang="en-US" altLang="zh-CN" sz="1400" b="0" smtClean="0"/>
              <a:t>49</a:t>
            </a:fld>
            <a:endParaRPr lang="en-US" altLang="zh-CN" sz="1400" b="0"/>
          </a:p>
        </p:txBody>
      </p:sp>
      <p:graphicFrame>
        <p:nvGraphicFramePr>
          <p:cNvPr id="59395" name="Object 4"/>
          <p:cNvGraphicFramePr>
            <a:graphicFrameLocks noChangeAspect="1"/>
          </p:cNvGraphicFramePr>
          <p:nvPr/>
        </p:nvGraphicFramePr>
        <p:xfrm>
          <a:off x="2233119" y="3145894"/>
          <a:ext cx="5281613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400300" imgH="469900" progId="Equation.3">
                  <p:embed/>
                </p:oleObj>
              </mc:Choice>
              <mc:Fallback>
                <p:oleObj name="公式" r:id="rId3" imgW="24003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119" y="3145894"/>
                        <a:ext cx="5281613" cy="103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5"/>
          <p:cNvSpPr>
            <a:spLocks noChangeArrowheads="1"/>
          </p:cNvSpPr>
          <p:nvPr/>
        </p:nvSpPr>
        <p:spPr bwMode="auto">
          <a:xfrm>
            <a:off x="1568422" y="4182531"/>
            <a:ext cx="571823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从而证明了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Z≈N.</a:t>
            </a:r>
            <a:br>
              <a:rPr lang="en-US" altLang="zh-CN" sz="1000" b="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Batang" panose="02030600000101010101" pitchFamily="18" charset="-127"/>
              </a:rPr>
            </a:br>
            <a:endParaRPr lang="en-US" altLang="zh-CN" sz="1800" b="0" dirty="0"/>
          </a:p>
        </p:txBody>
      </p:sp>
      <p:sp>
        <p:nvSpPr>
          <p:cNvPr id="483334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 dirty="0"/>
              <a:t>集合的等势</a:t>
            </a:r>
          </a:p>
        </p:txBody>
      </p:sp>
      <p:sp>
        <p:nvSpPr>
          <p:cNvPr id="5939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8" y="2554762"/>
            <a:ext cx="8064500" cy="86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集合等势的实例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(1)  Z≈N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9399" name="Rectangle 8"/>
          <p:cNvSpPr>
            <a:spLocks noChangeArrowheads="1"/>
          </p:cNvSpPr>
          <p:nvPr/>
        </p:nvSpPr>
        <p:spPr bwMode="auto">
          <a:xfrm>
            <a:off x="395288" y="1412875"/>
            <a:ext cx="8208962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8.8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是集合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如果存在着从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就称</a:t>
            </a:r>
          </a:p>
          <a:p>
            <a:pPr eaLnBrk="1" hangingPunct="1"/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等势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不与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等势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则记作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≉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0" y="4770419"/>
            <a:ext cx="7488238" cy="182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将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中元素以下列顺序排列并与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中元素对应：</a:t>
            </a:r>
            <a:b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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0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11   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2 2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3 3 …</a:t>
            </a:r>
            <a:b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  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      ↓ ↓     ↓     ↓      ↓      ↓     ↓</a:t>
            </a:r>
            <a:b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N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：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 1 2     3  4  5     6 …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/>
      <p:bldP spid="59398" grpId="0" build="p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3EAF0C-62FA-42FE-B4B0-21E66C7B609D}" type="slidenum">
              <a:rPr lang="en-US" altLang="zh-CN" sz="1400" b="0" smtClean="0"/>
              <a:t>50</a:t>
            </a:fld>
            <a:endParaRPr lang="en-US" altLang="zh-CN" sz="1400" b="0"/>
          </a:p>
        </p:txBody>
      </p:sp>
      <p:graphicFrame>
        <p:nvGraphicFramePr>
          <p:cNvPr id="61443" name="Object 4"/>
          <p:cNvGraphicFramePr>
            <a:graphicFrameLocks noChangeAspect="1"/>
          </p:cNvGraphicFramePr>
          <p:nvPr/>
        </p:nvGraphicFramePr>
        <p:xfrm>
          <a:off x="623888" y="5529263"/>
          <a:ext cx="71024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54400" imgH="393700" progId="Equation.3">
                  <p:embed/>
                </p:oleObj>
              </mc:Choice>
              <mc:Fallback>
                <p:oleObj name="公式" r:id="rId3" imgW="34544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5529263"/>
                        <a:ext cx="710247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Rectangle 5"/>
          <p:cNvSpPr>
            <a:spLocks noChangeArrowheads="1"/>
          </p:cNvSpPr>
          <p:nvPr/>
        </p:nvSpPr>
        <p:spPr bwMode="auto">
          <a:xfrm>
            <a:off x="755650" y="555148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/>
          </a:p>
        </p:txBody>
      </p:sp>
      <p:sp>
        <p:nvSpPr>
          <p:cNvPr id="485382" name="Rectangle 6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集合等势的实例</a:t>
            </a:r>
            <a:r>
              <a:rPr lang="en-US" altLang="zh-CN" sz="3200">
                <a:solidFill>
                  <a:schemeClr val="tx2"/>
                </a:solidFill>
              </a:rPr>
              <a:t>: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N×N≈N</a:t>
            </a:r>
          </a:p>
        </p:txBody>
      </p:sp>
      <p:sp>
        <p:nvSpPr>
          <p:cNvPr id="61446" name="Rectangle 7"/>
          <p:cNvSpPr>
            <a:spLocks noChangeArrowheads="1"/>
          </p:cNvSpPr>
          <p:nvPr/>
        </p:nvSpPr>
        <p:spPr bwMode="auto">
          <a:xfrm>
            <a:off x="323850" y="1052513"/>
            <a:ext cx="820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N×N≈N.    N×N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中所有的元素排成有序图形</a:t>
            </a:r>
          </a:p>
        </p:txBody>
      </p:sp>
      <p:pic>
        <p:nvPicPr>
          <p:cNvPr id="61447" name="Picture 8" descr="9-11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628775"/>
            <a:ext cx="4679950" cy="37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FE7845F-BDA8-4DB6-A13E-1CF9D33EBA71}" type="slidenum">
              <a:rPr lang="en-US" altLang="zh-CN" sz="1400" b="0" smtClean="0"/>
              <a:t>51</a:t>
            </a:fld>
            <a:endParaRPr lang="en-US" altLang="zh-CN" sz="1400" b="0"/>
          </a:p>
        </p:txBody>
      </p:sp>
      <p:sp>
        <p:nvSpPr>
          <p:cNvPr id="489475" name="Line 3"/>
          <p:cNvSpPr>
            <a:spLocks noChangeShapeType="1"/>
          </p:cNvSpPr>
          <p:nvPr/>
        </p:nvSpPr>
        <p:spPr bwMode="auto">
          <a:xfrm>
            <a:off x="3025775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76" name="Text Box 4"/>
          <p:cNvSpPr txBox="1">
            <a:spLocks noChangeArrowheads="1"/>
          </p:cNvSpPr>
          <p:nvPr/>
        </p:nvSpPr>
        <p:spPr bwMode="auto">
          <a:xfrm>
            <a:off x="2176463" y="2222500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-2/1</a:t>
            </a:r>
          </a:p>
        </p:txBody>
      </p:sp>
      <p:sp>
        <p:nvSpPr>
          <p:cNvPr id="489477" name="Text Box 5"/>
          <p:cNvSpPr txBox="1">
            <a:spLocks noChangeArrowheads="1"/>
          </p:cNvSpPr>
          <p:nvPr/>
        </p:nvSpPr>
        <p:spPr bwMode="auto">
          <a:xfrm>
            <a:off x="2628900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[5]</a:t>
            </a:r>
          </a:p>
        </p:txBody>
      </p:sp>
      <p:sp>
        <p:nvSpPr>
          <p:cNvPr id="489478" name="Text Box 6"/>
          <p:cNvSpPr txBox="1">
            <a:spLocks noChangeArrowheads="1"/>
          </p:cNvSpPr>
          <p:nvPr/>
        </p:nvSpPr>
        <p:spPr bwMode="auto">
          <a:xfrm>
            <a:off x="3471863" y="2222500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-1/1</a:t>
            </a:r>
          </a:p>
        </p:txBody>
      </p:sp>
      <p:sp>
        <p:nvSpPr>
          <p:cNvPr id="489479" name="Text Box 7"/>
          <p:cNvSpPr txBox="1">
            <a:spLocks noChangeArrowheads="1"/>
          </p:cNvSpPr>
          <p:nvPr/>
        </p:nvSpPr>
        <p:spPr bwMode="auto">
          <a:xfrm>
            <a:off x="3924300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[4]</a:t>
            </a:r>
          </a:p>
        </p:txBody>
      </p:sp>
      <p:sp>
        <p:nvSpPr>
          <p:cNvPr id="489481" name="Line 9"/>
          <p:cNvSpPr>
            <a:spLocks noChangeShapeType="1"/>
          </p:cNvSpPr>
          <p:nvPr/>
        </p:nvSpPr>
        <p:spPr bwMode="auto">
          <a:xfrm>
            <a:off x="611188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82" name="Text Box 10"/>
          <p:cNvSpPr txBox="1">
            <a:spLocks noChangeArrowheads="1"/>
          </p:cNvSpPr>
          <p:nvPr/>
        </p:nvSpPr>
        <p:spPr bwMode="auto">
          <a:xfrm>
            <a:off x="1058863" y="2222500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-3/1</a:t>
            </a:r>
          </a:p>
        </p:txBody>
      </p:sp>
      <p:sp>
        <p:nvSpPr>
          <p:cNvPr id="489483" name="Text Box 11"/>
          <p:cNvSpPr txBox="1">
            <a:spLocks noChangeArrowheads="1"/>
          </p:cNvSpPr>
          <p:nvPr/>
        </p:nvSpPr>
        <p:spPr bwMode="auto">
          <a:xfrm>
            <a:off x="1500188" y="2014538"/>
            <a:ext cx="514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[18]</a:t>
            </a:r>
          </a:p>
        </p:txBody>
      </p:sp>
      <p:sp>
        <p:nvSpPr>
          <p:cNvPr id="489485" name="Line 13"/>
          <p:cNvSpPr>
            <a:spLocks noChangeShapeType="1"/>
          </p:cNvSpPr>
          <p:nvPr/>
        </p:nvSpPr>
        <p:spPr bwMode="auto">
          <a:xfrm>
            <a:off x="7307263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86" name="Text Box 14"/>
          <p:cNvSpPr txBox="1">
            <a:spLocks noChangeArrowheads="1"/>
          </p:cNvSpPr>
          <p:nvPr/>
        </p:nvSpPr>
        <p:spPr bwMode="auto">
          <a:xfrm>
            <a:off x="6694488" y="2222500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2/1</a:t>
            </a:r>
          </a:p>
        </p:txBody>
      </p:sp>
      <p:sp>
        <p:nvSpPr>
          <p:cNvPr id="489487" name="Text Box 15"/>
          <p:cNvSpPr txBox="1">
            <a:spLocks noChangeArrowheads="1"/>
          </p:cNvSpPr>
          <p:nvPr/>
        </p:nvSpPr>
        <p:spPr bwMode="auto">
          <a:xfrm>
            <a:off x="7007225" y="2014538"/>
            <a:ext cx="514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[10]</a:t>
            </a:r>
          </a:p>
        </p:txBody>
      </p:sp>
      <p:sp>
        <p:nvSpPr>
          <p:cNvPr id="489488" name="Text Box 16"/>
          <p:cNvSpPr txBox="1">
            <a:spLocks noChangeArrowheads="1"/>
          </p:cNvSpPr>
          <p:nvPr/>
        </p:nvSpPr>
        <p:spPr bwMode="auto">
          <a:xfrm>
            <a:off x="7632700" y="2222500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3/1</a:t>
            </a:r>
          </a:p>
        </p:txBody>
      </p:sp>
      <p:sp>
        <p:nvSpPr>
          <p:cNvPr id="489489" name="Text Box 17"/>
          <p:cNvSpPr txBox="1">
            <a:spLocks noChangeArrowheads="1"/>
          </p:cNvSpPr>
          <p:nvPr/>
        </p:nvSpPr>
        <p:spPr bwMode="auto">
          <a:xfrm>
            <a:off x="7945438" y="2014538"/>
            <a:ext cx="51435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[11]</a:t>
            </a:r>
          </a:p>
        </p:txBody>
      </p:sp>
      <p:sp>
        <p:nvSpPr>
          <p:cNvPr id="489491" name="Line 19"/>
          <p:cNvSpPr>
            <a:spLocks noChangeShapeType="1"/>
          </p:cNvSpPr>
          <p:nvPr/>
        </p:nvSpPr>
        <p:spPr bwMode="auto">
          <a:xfrm>
            <a:off x="5254625" y="2455863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492" name="Text Box 20"/>
          <p:cNvSpPr txBox="1">
            <a:spLocks noChangeArrowheads="1"/>
          </p:cNvSpPr>
          <p:nvPr/>
        </p:nvSpPr>
        <p:spPr bwMode="auto">
          <a:xfrm>
            <a:off x="4570413" y="2222500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0/1</a:t>
            </a:r>
          </a:p>
        </p:txBody>
      </p:sp>
      <p:sp>
        <p:nvSpPr>
          <p:cNvPr id="489493" name="Text Box 21"/>
          <p:cNvSpPr txBox="1">
            <a:spLocks noChangeArrowheads="1"/>
          </p:cNvSpPr>
          <p:nvPr/>
        </p:nvSpPr>
        <p:spPr bwMode="auto">
          <a:xfrm>
            <a:off x="4894263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[0]</a:t>
            </a:r>
          </a:p>
        </p:txBody>
      </p:sp>
      <p:sp>
        <p:nvSpPr>
          <p:cNvPr id="489494" name="Text Box 22"/>
          <p:cNvSpPr txBox="1">
            <a:spLocks noChangeArrowheads="1"/>
          </p:cNvSpPr>
          <p:nvPr/>
        </p:nvSpPr>
        <p:spPr bwMode="auto">
          <a:xfrm>
            <a:off x="5614988" y="2222500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1/1</a:t>
            </a:r>
          </a:p>
        </p:txBody>
      </p:sp>
      <p:sp>
        <p:nvSpPr>
          <p:cNvPr id="489495" name="Text Box 23"/>
          <p:cNvSpPr txBox="1">
            <a:spLocks noChangeArrowheads="1"/>
          </p:cNvSpPr>
          <p:nvPr/>
        </p:nvSpPr>
        <p:spPr bwMode="auto">
          <a:xfrm>
            <a:off x="5938838" y="2014538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[1]</a:t>
            </a:r>
          </a:p>
        </p:txBody>
      </p:sp>
      <p:sp>
        <p:nvSpPr>
          <p:cNvPr id="489497" name="Line 25"/>
          <p:cNvSpPr>
            <a:spLocks noChangeShapeType="1"/>
          </p:cNvSpPr>
          <p:nvPr/>
        </p:nvSpPr>
        <p:spPr bwMode="auto">
          <a:xfrm>
            <a:off x="1763713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10" name="Text Box 26"/>
          <p:cNvSpPr txBox="1">
            <a:spLocks noChangeArrowheads="1"/>
          </p:cNvSpPr>
          <p:nvPr/>
        </p:nvSpPr>
        <p:spPr bwMode="auto">
          <a:xfrm>
            <a:off x="2176463" y="3014663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-2/2</a:t>
            </a:r>
          </a:p>
        </p:txBody>
      </p:sp>
      <p:sp>
        <p:nvSpPr>
          <p:cNvPr id="63511" name="Text Box 27"/>
          <p:cNvSpPr txBox="1">
            <a:spLocks noChangeArrowheads="1"/>
          </p:cNvSpPr>
          <p:nvPr/>
        </p:nvSpPr>
        <p:spPr bwMode="auto">
          <a:xfrm>
            <a:off x="3471863" y="3014663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-1/2</a:t>
            </a:r>
          </a:p>
        </p:txBody>
      </p:sp>
      <p:sp>
        <p:nvSpPr>
          <p:cNvPr id="489500" name="Text Box 28"/>
          <p:cNvSpPr txBox="1">
            <a:spLocks noChangeArrowheads="1"/>
          </p:cNvSpPr>
          <p:nvPr/>
        </p:nvSpPr>
        <p:spPr bwMode="auto">
          <a:xfrm>
            <a:off x="3924300" y="2806700"/>
            <a:ext cx="4318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[3]</a:t>
            </a:r>
          </a:p>
        </p:txBody>
      </p:sp>
      <p:sp>
        <p:nvSpPr>
          <p:cNvPr id="63513" name="Text Box 30"/>
          <p:cNvSpPr txBox="1">
            <a:spLocks noChangeArrowheads="1"/>
          </p:cNvSpPr>
          <p:nvPr/>
        </p:nvSpPr>
        <p:spPr bwMode="auto">
          <a:xfrm>
            <a:off x="1058863" y="3014663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-3/2</a:t>
            </a:r>
          </a:p>
        </p:txBody>
      </p:sp>
      <p:sp>
        <p:nvSpPr>
          <p:cNvPr id="489503" name="Text Box 31"/>
          <p:cNvSpPr txBox="1">
            <a:spLocks noChangeArrowheads="1"/>
          </p:cNvSpPr>
          <p:nvPr/>
        </p:nvSpPr>
        <p:spPr bwMode="auto">
          <a:xfrm>
            <a:off x="1471613" y="2806700"/>
            <a:ext cx="542925" cy="319088"/>
          </a:xfrm>
          <a:prstGeom prst="rect">
            <a:avLst/>
          </a:prstGeom>
          <a:noFill/>
          <a:ln w="28575">
            <a:solidFill>
              <a:srgbClr val="FF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[17]</a:t>
            </a:r>
          </a:p>
        </p:txBody>
      </p:sp>
      <p:sp>
        <p:nvSpPr>
          <p:cNvPr id="489505" name="Line 33"/>
          <p:cNvSpPr>
            <a:spLocks noChangeShapeType="1"/>
          </p:cNvSpPr>
          <p:nvPr/>
        </p:nvSpPr>
        <p:spPr bwMode="auto">
          <a:xfrm>
            <a:off x="4211638" y="324802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16" name="Text Box 34"/>
          <p:cNvSpPr txBox="1">
            <a:spLocks noChangeArrowheads="1"/>
          </p:cNvSpPr>
          <p:nvPr/>
        </p:nvSpPr>
        <p:spPr bwMode="auto">
          <a:xfrm>
            <a:off x="6694488" y="3014663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2/2</a:t>
            </a:r>
          </a:p>
        </p:txBody>
      </p:sp>
      <p:sp>
        <p:nvSpPr>
          <p:cNvPr id="63517" name="Text Box 35"/>
          <p:cNvSpPr txBox="1">
            <a:spLocks noChangeArrowheads="1"/>
          </p:cNvSpPr>
          <p:nvPr/>
        </p:nvSpPr>
        <p:spPr bwMode="auto">
          <a:xfrm>
            <a:off x="7632700" y="3014663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3/2</a:t>
            </a:r>
          </a:p>
        </p:txBody>
      </p:sp>
      <p:sp>
        <p:nvSpPr>
          <p:cNvPr id="489508" name="Text Box 36"/>
          <p:cNvSpPr txBox="1">
            <a:spLocks noChangeArrowheads="1"/>
          </p:cNvSpPr>
          <p:nvPr/>
        </p:nvSpPr>
        <p:spPr bwMode="auto">
          <a:xfrm>
            <a:off x="7945438" y="2806700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[12]</a:t>
            </a:r>
          </a:p>
        </p:txBody>
      </p:sp>
      <p:sp>
        <p:nvSpPr>
          <p:cNvPr id="489510" name="Line 38"/>
          <p:cNvSpPr>
            <a:spLocks noChangeShapeType="1"/>
          </p:cNvSpPr>
          <p:nvPr/>
        </p:nvSpPr>
        <p:spPr bwMode="auto">
          <a:xfrm>
            <a:off x="5254625" y="324802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20" name="Text Box 39"/>
          <p:cNvSpPr txBox="1">
            <a:spLocks noChangeArrowheads="1"/>
          </p:cNvSpPr>
          <p:nvPr/>
        </p:nvSpPr>
        <p:spPr bwMode="auto">
          <a:xfrm>
            <a:off x="4570413" y="3014663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0/2</a:t>
            </a:r>
          </a:p>
        </p:txBody>
      </p:sp>
      <p:sp>
        <p:nvSpPr>
          <p:cNvPr id="63521" name="Text Box 40"/>
          <p:cNvSpPr txBox="1">
            <a:spLocks noChangeArrowheads="1"/>
          </p:cNvSpPr>
          <p:nvPr/>
        </p:nvSpPr>
        <p:spPr bwMode="auto">
          <a:xfrm>
            <a:off x="5614988" y="3014663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1/2</a:t>
            </a:r>
          </a:p>
        </p:txBody>
      </p:sp>
      <p:sp>
        <p:nvSpPr>
          <p:cNvPr id="489513" name="Text Box 41"/>
          <p:cNvSpPr txBox="1">
            <a:spLocks noChangeArrowheads="1"/>
          </p:cNvSpPr>
          <p:nvPr/>
        </p:nvSpPr>
        <p:spPr bwMode="auto">
          <a:xfrm>
            <a:off x="5938838" y="2806700"/>
            <a:ext cx="43180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[2]</a:t>
            </a:r>
          </a:p>
        </p:txBody>
      </p:sp>
      <p:sp>
        <p:nvSpPr>
          <p:cNvPr id="489514" name="Line 42"/>
          <p:cNvSpPr>
            <a:spLocks noChangeShapeType="1"/>
          </p:cNvSpPr>
          <p:nvPr/>
        </p:nvSpPr>
        <p:spPr bwMode="auto">
          <a:xfrm>
            <a:off x="3025775" y="4078288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24" name="Text Box 43"/>
          <p:cNvSpPr txBox="1">
            <a:spLocks noChangeArrowheads="1"/>
          </p:cNvSpPr>
          <p:nvPr/>
        </p:nvSpPr>
        <p:spPr bwMode="auto">
          <a:xfrm>
            <a:off x="2176463" y="3844925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-2/3</a:t>
            </a:r>
          </a:p>
        </p:txBody>
      </p:sp>
      <p:sp>
        <p:nvSpPr>
          <p:cNvPr id="489516" name="Text Box 44"/>
          <p:cNvSpPr txBox="1">
            <a:spLocks noChangeArrowheads="1"/>
          </p:cNvSpPr>
          <p:nvPr/>
        </p:nvSpPr>
        <p:spPr bwMode="auto">
          <a:xfrm>
            <a:off x="2628900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[6]</a:t>
            </a:r>
          </a:p>
        </p:txBody>
      </p:sp>
      <p:sp>
        <p:nvSpPr>
          <p:cNvPr id="63526" name="Text Box 45"/>
          <p:cNvSpPr txBox="1">
            <a:spLocks noChangeArrowheads="1"/>
          </p:cNvSpPr>
          <p:nvPr/>
        </p:nvSpPr>
        <p:spPr bwMode="auto">
          <a:xfrm>
            <a:off x="3471863" y="3844925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-1/3</a:t>
            </a:r>
          </a:p>
        </p:txBody>
      </p:sp>
      <p:sp>
        <p:nvSpPr>
          <p:cNvPr id="489518" name="Text Box 46"/>
          <p:cNvSpPr txBox="1">
            <a:spLocks noChangeArrowheads="1"/>
          </p:cNvSpPr>
          <p:nvPr/>
        </p:nvSpPr>
        <p:spPr bwMode="auto">
          <a:xfrm>
            <a:off x="3924300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[7]</a:t>
            </a:r>
          </a:p>
        </p:txBody>
      </p:sp>
      <p:sp>
        <p:nvSpPr>
          <p:cNvPr id="63528" name="Text Box 48"/>
          <p:cNvSpPr txBox="1">
            <a:spLocks noChangeArrowheads="1"/>
          </p:cNvSpPr>
          <p:nvPr/>
        </p:nvSpPr>
        <p:spPr bwMode="auto">
          <a:xfrm>
            <a:off x="1058863" y="3844925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-3/3</a:t>
            </a:r>
          </a:p>
        </p:txBody>
      </p:sp>
      <p:sp>
        <p:nvSpPr>
          <p:cNvPr id="489522" name="Line 50"/>
          <p:cNvSpPr>
            <a:spLocks noChangeShapeType="1"/>
          </p:cNvSpPr>
          <p:nvPr/>
        </p:nvSpPr>
        <p:spPr bwMode="auto">
          <a:xfrm>
            <a:off x="4211638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30" name="Text Box 51"/>
          <p:cNvSpPr txBox="1">
            <a:spLocks noChangeArrowheads="1"/>
          </p:cNvSpPr>
          <p:nvPr/>
        </p:nvSpPr>
        <p:spPr bwMode="auto">
          <a:xfrm>
            <a:off x="6694488" y="3844925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2/3</a:t>
            </a:r>
          </a:p>
        </p:txBody>
      </p:sp>
      <p:sp>
        <p:nvSpPr>
          <p:cNvPr id="489524" name="Text Box 52"/>
          <p:cNvSpPr txBox="1">
            <a:spLocks noChangeArrowheads="1"/>
          </p:cNvSpPr>
          <p:nvPr/>
        </p:nvSpPr>
        <p:spPr bwMode="auto">
          <a:xfrm>
            <a:off x="7018338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[9]</a:t>
            </a:r>
          </a:p>
        </p:txBody>
      </p:sp>
      <p:sp>
        <p:nvSpPr>
          <p:cNvPr id="63532" name="Text Box 53"/>
          <p:cNvSpPr txBox="1">
            <a:spLocks noChangeArrowheads="1"/>
          </p:cNvSpPr>
          <p:nvPr/>
        </p:nvSpPr>
        <p:spPr bwMode="auto">
          <a:xfrm>
            <a:off x="7632700" y="3844925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3/3</a:t>
            </a:r>
          </a:p>
        </p:txBody>
      </p:sp>
      <p:sp>
        <p:nvSpPr>
          <p:cNvPr id="489527" name="Line 55"/>
          <p:cNvSpPr>
            <a:spLocks noChangeShapeType="1"/>
          </p:cNvSpPr>
          <p:nvPr/>
        </p:nvSpPr>
        <p:spPr bwMode="auto">
          <a:xfrm>
            <a:off x="5254625" y="4078288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34" name="Text Box 56"/>
          <p:cNvSpPr txBox="1">
            <a:spLocks noChangeArrowheads="1"/>
          </p:cNvSpPr>
          <p:nvPr/>
        </p:nvSpPr>
        <p:spPr bwMode="auto">
          <a:xfrm>
            <a:off x="4570413" y="3844925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0/3</a:t>
            </a:r>
          </a:p>
        </p:txBody>
      </p:sp>
      <p:sp>
        <p:nvSpPr>
          <p:cNvPr id="63535" name="Text Box 57"/>
          <p:cNvSpPr txBox="1">
            <a:spLocks noChangeArrowheads="1"/>
          </p:cNvSpPr>
          <p:nvPr/>
        </p:nvSpPr>
        <p:spPr bwMode="auto">
          <a:xfrm>
            <a:off x="5614988" y="3844925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1/3</a:t>
            </a:r>
          </a:p>
        </p:txBody>
      </p:sp>
      <p:sp>
        <p:nvSpPr>
          <p:cNvPr id="489530" name="Text Box 58"/>
          <p:cNvSpPr txBox="1">
            <a:spLocks noChangeArrowheads="1"/>
          </p:cNvSpPr>
          <p:nvPr/>
        </p:nvSpPr>
        <p:spPr bwMode="auto">
          <a:xfrm>
            <a:off x="5938838" y="3636963"/>
            <a:ext cx="431800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[8]</a:t>
            </a:r>
          </a:p>
        </p:txBody>
      </p:sp>
      <p:sp>
        <p:nvSpPr>
          <p:cNvPr id="489531" name="Line 59"/>
          <p:cNvSpPr>
            <a:spLocks noChangeShapeType="1"/>
          </p:cNvSpPr>
          <p:nvPr/>
        </p:nvSpPr>
        <p:spPr bwMode="auto">
          <a:xfrm>
            <a:off x="3025775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38" name="Text Box 60"/>
          <p:cNvSpPr txBox="1">
            <a:spLocks noChangeArrowheads="1"/>
          </p:cNvSpPr>
          <p:nvPr/>
        </p:nvSpPr>
        <p:spPr bwMode="auto">
          <a:xfrm>
            <a:off x="2176463" y="4637088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-2/4</a:t>
            </a:r>
          </a:p>
        </p:txBody>
      </p:sp>
      <p:sp>
        <p:nvSpPr>
          <p:cNvPr id="63539" name="Text Box 61"/>
          <p:cNvSpPr txBox="1">
            <a:spLocks noChangeArrowheads="1"/>
          </p:cNvSpPr>
          <p:nvPr/>
        </p:nvSpPr>
        <p:spPr bwMode="auto">
          <a:xfrm>
            <a:off x="3471863" y="4637088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-1/4</a:t>
            </a:r>
          </a:p>
        </p:txBody>
      </p:sp>
      <p:sp>
        <p:nvSpPr>
          <p:cNvPr id="489534" name="Text Box 62"/>
          <p:cNvSpPr txBox="1">
            <a:spLocks noChangeArrowheads="1"/>
          </p:cNvSpPr>
          <p:nvPr/>
        </p:nvSpPr>
        <p:spPr bwMode="auto">
          <a:xfrm>
            <a:off x="3913188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[15]</a:t>
            </a:r>
          </a:p>
        </p:txBody>
      </p:sp>
      <p:sp>
        <p:nvSpPr>
          <p:cNvPr id="63541" name="Text Box 63"/>
          <p:cNvSpPr txBox="1">
            <a:spLocks noChangeArrowheads="1"/>
          </p:cNvSpPr>
          <p:nvPr/>
        </p:nvSpPr>
        <p:spPr bwMode="auto">
          <a:xfrm>
            <a:off x="1058863" y="4637088"/>
            <a:ext cx="69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-3/4</a:t>
            </a:r>
          </a:p>
        </p:txBody>
      </p:sp>
      <p:sp>
        <p:nvSpPr>
          <p:cNvPr id="489536" name="Text Box 64"/>
          <p:cNvSpPr txBox="1">
            <a:spLocks noChangeArrowheads="1"/>
          </p:cNvSpPr>
          <p:nvPr/>
        </p:nvSpPr>
        <p:spPr bwMode="auto">
          <a:xfrm>
            <a:off x="1500188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[16]</a:t>
            </a:r>
          </a:p>
        </p:txBody>
      </p:sp>
      <p:sp>
        <p:nvSpPr>
          <p:cNvPr id="489537" name="Line 65"/>
          <p:cNvSpPr>
            <a:spLocks noChangeShapeType="1"/>
          </p:cNvSpPr>
          <p:nvPr/>
        </p:nvSpPr>
        <p:spPr bwMode="auto">
          <a:xfrm>
            <a:off x="7307263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4" name="Text Box 66"/>
          <p:cNvSpPr txBox="1">
            <a:spLocks noChangeArrowheads="1"/>
          </p:cNvSpPr>
          <p:nvPr/>
        </p:nvSpPr>
        <p:spPr bwMode="auto">
          <a:xfrm>
            <a:off x="6694488" y="4637088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2/4</a:t>
            </a:r>
          </a:p>
        </p:txBody>
      </p:sp>
      <p:sp>
        <p:nvSpPr>
          <p:cNvPr id="63545" name="Text Box 67"/>
          <p:cNvSpPr txBox="1">
            <a:spLocks noChangeArrowheads="1"/>
          </p:cNvSpPr>
          <p:nvPr/>
        </p:nvSpPr>
        <p:spPr bwMode="auto">
          <a:xfrm>
            <a:off x="7632700" y="4637088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3/4</a:t>
            </a:r>
          </a:p>
        </p:txBody>
      </p:sp>
      <p:sp>
        <p:nvSpPr>
          <p:cNvPr id="489540" name="Text Box 68"/>
          <p:cNvSpPr txBox="1">
            <a:spLocks noChangeArrowheads="1"/>
          </p:cNvSpPr>
          <p:nvPr/>
        </p:nvSpPr>
        <p:spPr bwMode="auto">
          <a:xfrm>
            <a:off x="7945438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[13]</a:t>
            </a:r>
          </a:p>
        </p:txBody>
      </p:sp>
      <p:sp>
        <p:nvSpPr>
          <p:cNvPr id="489541" name="Line 69"/>
          <p:cNvSpPr>
            <a:spLocks noChangeShapeType="1"/>
          </p:cNvSpPr>
          <p:nvPr/>
        </p:nvSpPr>
        <p:spPr bwMode="auto">
          <a:xfrm>
            <a:off x="5254625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8" name="Text Box 70"/>
          <p:cNvSpPr txBox="1">
            <a:spLocks noChangeArrowheads="1"/>
          </p:cNvSpPr>
          <p:nvPr/>
        </p:nvSpPr>
        <p:spPr bwMode="auto">
          <a:xfrm>
            <a:off x="4570413" y="4637088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0/4</a:t>
            </a:r>
          </a:p>
        </p:txBody>
      </p:sp>
      <p:sp>
        <p:nvSpPr>
          <p:cNvPr id="63549" name="Text Box 71"/>
          <p:cNvSpPr txBox="1">
            <a:spLocks noChangeArrowheads="1"/>
          </p:cNvSpPr>
          <p:nvPr/>
        </p:nvSpPr>
        <p:spPr bwMode="auto">
          <a:xfrm>
            <a:off x="5614988" y="4637088"/>
            <a:ext cx="5699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1/4</a:t>
            </a:r>
          </a:p>
        </p:txBody>
      </p:sp>
      <p:sp>
        <p:nvSpPr>
          <p:cNvPr id="489544" name="Text Box 72"/>
          <p:cNvSpPr txBox="1">
            <a:spLocks noChangeArrowheads="1"/>
          </p:cNvSpPr>
          <p:nvPr/>
        </p:nvSpPr>
        <p:spPr bwMode="auto">
          <a:xfrm>
            <a:off x="5927725" y="4429125"/>
            <a:ext cx="514350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aseline="-25000">
                <a:latin typeface="黑体" panose="02010609060101010101" pitchFamily="49" charset="-122"/>
                <a:ea typeface="黑体" panose="02010609060101010101" pitchFamily="49" charset="-122"/>
              </a:rPr>
              <a:t>[14]</a:t>
            </a:r>
          </a:p>
        </p:txBody>
      </p:sp>
      <p:sp>
        <p:nvSpPr>
          <p:cNvPr id="489547" name="Line 75"/>
          <p:cNvSpPr>
            <a:spLocks noChangeShapeType="1"/>
          </p:cNvSpPr>
          <p:nvPr/>
        </p:nvSpPr>
        <p:spPr bwMode="auto">
          <a:xfrm>
            <a:off x="6300788" y="407987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48" name="Line 76"/>
          <p:cNvSpPr>
            <a:spLocks noChangeShapeType="1"/>
          </p:cNvSpPr>
          <p:nvPr/>
        </p:nvSpPr>
        <p:spPr bwMode="auto">
          <a:xfrm>
            <a:off x="6300788" y="4870450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49" name="Line 77"/>
          <p:cNvSpPr>
            <a:spLocks noChangeShapeType="1"/>
          </p:cNvSpPr>
          <p:nvPr/>
        </p:nvSpPr>
        <p:spPr bwMode="auto">
          <a:xfrm>
            <a:off x="4211638" y="4079875"/>
            <a:ext cx="431800" cy="0"/>
          </a:xfrm>
          <a:prstGeom prst="line">
            <a:avLst/>
          </a:prstGeom>
          <a:noFill/>
          <a:ln w="19050">
            <a:solidFill>
              <a:srgbClr val="FFFFFF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4" name="Text Box 78"/>
          <p:cNvSpPr txBox="1">
            <a:spLocks noChangeArrowheads="1"/>
          </p:cNvSpPr>
          <p:nvPr/>
        </p:nvSpPr>
        <p:spPr bwMode="auto">
          <a:xfrm>
            <a:off x="539750" y="3067050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55" name="Text Box 79"/>
          <p:cNvSpPr txBox="1">
            <a:spLocks noChangeArrowheads="1"/>
          </p:cNvSpPr>
          <p:nvPr/>
        </p:nvSpPr>
        <p:spPr bwMode="auto">
          <a:xfrm>
            <a:off x="546100" y="385921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56" name="Text Box 80"/>
          <p:cNvSpPr txBox="1">
            <a:spLocks noChangeArrowheads="1"/>
          </p:cNvSpPr>
          <p:nvPr/>
        </p:nvSpPr>
        <p:spPr bwMode="auto">
          <a:xfrm>
            <a:off x="546100" y="465137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57" name="Text Box 81"/>
          <p:cNvSpPr txBox="1">
            <a:spLocks noChangeArrowheads="1"/>
          </p:cNvSpPr>
          <p:nvPr/>
        </p:nvSpPr>
        <p:spPr bwMode="auto">
          <a:xfrm>
            <a:off x="8166100" y="2238375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58" name="Text Box 82"/>
          <p:cNvSpPr txBox="1">
            <a:spLocks noChangeArrowheads="1"/>
          </p:cNvSpPr>
          <p:nvPr/>
        </p:nvSpPr>
        <p:spPr bwMode="auto">
          <a:xfrm>
            <a:off x="8172450" y="303053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59" name="Text Box 83"/>
          <p:cNvSpPr txBox="1">
            <a:spLocks noChangeArrowheads="1"/>
          </p:cNvSpPr>
          <p:nvPr/>
        </p:nvSpPr>
        <p:spPr bwMode="auto">
          <a:xfrm>
            <a:off x="8172450" y="385921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560" name="Text Box 84"/>
          <p:cNvSpPr txBox="1">
            <a:spLocks noChangeArrowheads="1"/>
          </p:cNvSpPr>
          <p:nvPr/>
        </p:nvSpPr>
        <p:spPr bwMode="auto">
          <a:xfrm>
            <a:off x="8172450" y="465296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rgbClr val="008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7" name="Text Box 85"/>
          <p:cNvSpPr txBox="1">
            <a:spLocks noChangeArrowheads="1"/>
          </p:cNvSpPr>
          <p:nvPr/>
        </p:nvSpPr>
        <p:spPr bwMode="auto">
          <a:xfrm>
            <a:off x="1325563" y="51196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黑体" panose="02010609060101010101" pitchFamily="49" charset="-122"/>
              </a:rPr>
              <a:t>…</a:t>
            </a:r>
            <a:endParaRPr lang="en-US" altLang="zh-CN" sz="20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9558" name="Line 86"/>
          <p:cNvSpPr>
            <a:spLocks noChangeShapeType="1"/>
          </p:cNvSpPr>
          <p:nvPr/>
        </p:nvSpPr>
        <p:spPr bwMode="auto">
          <a:xfrm>
            <a:off x="5253038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59" name="Line 87"/>
          <p:cNvSpPr>
            <a:spLocks noChangeShapeType="1"/>
          </p:cNvSpPr>
          <p:nvPr/>
        </p:nvSpPr>
        <p:spPr bwMode="auto">
          <a:xfrm>
            <a:off x="5940425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0" name="Line 88"/>
          <p:cNvSpPr>
            <a:spLocks noChangeShapeType="1"/>
          </p:cNvSpPr>
          <p:nvPr/>
        </p:nvSpPr>
        <p:spPr bwMode="auto">
          <a:xfrm>
            <a:off x="5253038" y="324802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1" name="Line 89"/>
          <p:cNvSpPr>
            <a:spLocks noChangeShapeType="1"/>
          </p:cNvSpPr>
          <p:nvPr/>
        </p:nvSpPr>
        <p:spPr bwMode="auto">
          <a:xfrm>
            <a:off x="4211638" y="324802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2" name="Line 90"/>
          <p:cNvSpPr>
            <a:spLocks noChangeShapeType="1"/>
          </p:cNvSpPr>
          <p:nvPr/>
        </p:nvSpPr>
        <p:spPr bwMode="auto">
          <a:xfrm>
            <a:off x="3851275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3" name="Line 91"/>
          <p:cNvSpPr>
            <a:spLocks noChangeShapeType="1"/>
          </p:cNvSpPr>
          <p:nvPr/>
        </p:nvSpPr>
        <p:spPr bwMode="auto">
          <a:xfrm>
            <a:off x="3025775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4" name="Line 92"/>
          <p:cNvSpPr>
            <a:spLocks noChangeShapeType="1"/>
          </p:cNvSpPr>
          <p:nvPr/>
        </p:nvSpPr>
        <p:spPr bwMode="auto">
          <a:xfrm>
            <a:off x="2700338" y="2636838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5" name="Line 93"/>
          <p:cNvSpPr>
            <a:spLocks noChangeShapeType="1"/>
          </p:cNvSpPr>
          <p:nvPr/>
        </p:nvSpPr>
        <p:spPr bwMode="auto">
          <a:xfrm>
            <a:off x="2700338" y="343217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6" name="Line 94"/>
          <p:cNvSpPr>
            <a:spLocks noChangeShapeType="1"/>
          </p:cNvSpPr>
          <p:nvPr/>
        </p:nvSpPr>
        <p:spPr bwMode="auto">
          <a:xfrm>
            <a:off x="3025775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7" name="Line 95"/>
          <p:cNvSpPr>
            <a:spLocks noChangeShapeType="1"/>
          </p:cNvSpPr>
          <p:nvPr/>
        </p:nvSpPr>
        <p:spPr bwMode="auto">
          <a:xfrm>
            <a:off x="4211638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8" name="Line 96"/>
          <p:cNvSpPr>
            <a:spLocks noChangeShapeType="1"/>
          </p:cNvSpPr>
          <p:nvPr/>
        </p:nvSpPr>
        <p:spPr bwMode="auto">
          <a:xfrm>
            <a:off x="5253038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69" name="Line 97"/>
          <p:cNvSpPr>
            <a:spLocks noChangeShapeType="1"/>
          </p:cNvSpPr>
          <p:nvPr/>
        </p:nvSpPr>
        <p:spPr bwMode="auto">
          <a:xfrm>
            <a:off x="6300788" y="4079875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0" name="Line 98"/>
          <p:cNvSpPr>
            <a:spLocks noChangeShapeType="1"/>
          </p:cNvSpPr>
          <p:nvPr/>
        </p:nvSpPr>
        <p:spPr bwMode="auto">
          <a:xfrm>
            <a:off x="7019925" y="339090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1" name="Line 99"/>
          <p:cNvSpPr>
            <a:spLocks noChangeShapeType="1"/>
          </p:cNvSpPr>
          <p:nvPr/>
        </p:nvSpPr>
        <p:spPr bwMode="auto">
          <a:xfrm>
            <a:off x="7019925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2" name="Line 100"/>
          <p:cNvSpPr>
            <a:spLocks noChangeShapeType="1"/>
          </p:cNvSpPr>
          <p:nvPr/>
        </p:nvSpPr>
        <p:spPr bwMode="auto">
          <a:xfrm>
            <a:off x="7308850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3" name="Line 101"/>
          <p:cNvSpPr>
            <a:spLocks noChangeShapeType="1"/>
          </p:cNvSpPr>
          <p:nvPr/>
        </p:nvSpPr>
        <p:spPr bwMode="auto">
          <a:xfrm>
            <a:off x="7956550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4" name="Line 102"/>
          <p:cNvSpPr>
            <a:spLocks noChangeShapeType="1"/>
          </p:cNvSpPr>
          <p:nvPr/>
        </p:nvSpPr>
        <p:spPr bwMode="auto">
          <a:xfrm>
            <a:off x="7956550" y="3392488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5" name="Line 103"/>
          <p:cNvSpPr>
            <a:spLocks noChangeShapeType="1"/>
          </p:cNvSpPr>
          <p:nvPr/>
        </p:nvSpPr>
        <p:spPr bwMode="auto">
          <a:xfrm>
            <a:off x="7956550" y="422275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6" name="Line 104"/>
          <p:cNvSpPr>
            <a:spLocks noChangeShapeType="1"/>
          </p:cNvSpPr>
          <p:nvPr/>
        </p:nvSpPr>
        <p:spPr bwMode="auto">
          <a:xfrm>
            <a:off x="7305675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7" name="Line 105"/>
          <p:cNvSpPr>
            <a:spLocks noChangeShapeType="1"/>
          </p:cNvSpPr>
          <p:nvPr/>
        </p:nvSpPr>
        <p:spPr bwMode="auto">
          <a:xfrm>
            <a:off x="6300788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8" name="Line 106"/>
          <p:cNvSpPr>
            <a:spLocks noChangeShapeType="1"/>
          </p:cNvSpPr>
          <p:nvPr/>
        </p:nvSpPr>
        <p:spPr bwMode="auto">
          <a:xfrm>
            <a:off x="5253038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79" name="Line 107"/>
          <p:cNvSpPr>
            <a:spLocks noChangeShapeType="1"/>
          </p:cNvSpPr>
          <p:nvPr/>
        </p:nvSpPr>
        <p:spPr bwMode="auto">
          <a:xfrm>
            <a:off x="4211638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0" name="Line 108"/>
          <p:cNvSpPr>
            <a:spLocks noChangeShapeType="1"/>
          </p:cNvSpPr>
          <p:nvPr/>
        </p:nvSpPr>
        <p:spPr bwMode="auto">
          <a:xfrm>
            <a:off x="3025775" y="4870450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1" name="Line 109"/>
          <p:cNvSpPr>
            <a:spLocks noChangeShapeType="1"/>
          </p:cNvSpPr>
          <p:nvPr/>
        </p:nvSpPr>
        <p:spPr bwMode="auto">
          <a:xfrm>
            <a:off x="1763713" y="4868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2" name="Line 110"/>
          <p:cNvSpPr>
            <a:spLocks noChangeShapeType="1"/>
          </p:cNvSpPr>
          <p:nvPr/>
        </p:nvSpPr>
        <p:spPr bwMode="auto">
          <a:xfrm>
            <a:off x="1547813" y="422275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3" name="Line 111"/>
          <p:cNvSpPr>
            <a:spLocks noChangeShapeType="1"/>
          </p:cNvSpPr>
          <p:nvPr/>
        </p:nvSpPr>
        <p:spPr bwMode="auto">
          <a:xfrm>
            <a:off x="1547813" y="3390900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4" name="Line 112"/>
          <p:cNvSpPr>
            <a:spLocks noChangeShapeType="1"/>
          </p:cNvSpPr>
          <p:nvPr/>
        </p:nvSpPr>
        <p:spPr bwMode="auto">
          <a:xfrm>
            <a:off x="1547813" y="2600325"/>
            <a:ext cx="0" cy="4318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9585" name="Line 113"/>
          <p:cNvSpPr>
            <a:spLocks noChangeShapeType="1"/>
          </p:cNvSpPr>
          <p:nvPr/>
        </p:nvSpPr>
        <p:spPr bwMode="auto">
          <a:xfrm>
            <a:off x="611188" y="24558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89586" name="Picture 114" descr="Ellip07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6035675"/>
            <a:ext cx="1008062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9587" name="Text Box 115"/>
          <p:cNvSpPr txBox="1">
            <a:spLocks noChangeArrowheads="1"/>
          </p:cNvSpPr>
          <p:nvPr/>
        </p:nvSpPr>
        <p:spPr bwMode="auto">
          <a:xfrm>
            <a:off x="1427163" y="6021388"/>
            <a:ext cx="9842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600" b="0">
                <a:solidFill>
                  <a:srgbClr val="CC0066"/>
                </a:solidFill>
                <a:latin typeface="BankGothic Md BT" pitchFamily="34" charset="0"/>
                <a:ea typeface="黑体" panose="02010609060101010101" pitchFamily="49" charset="-122"/>
              </a:rPr>
              <a:t>PLAY</a:t>
            </a:r>
          </a:p>
        </p:txBody>
      </p:sp>
      <p:sp>
        <p:nvSpPr>
          <p:cNvPr id="63592" name="Rectangle 116"/>
          <p:cNvSpPr>
            <a:spLocks noChangeArrowheads="1"/>
          </p:cNvSpPr>
          <p:nvPr/>
        </p:nvSpPr>
        <p:spPr bwMode="auto">
          <a:xfrm>
            <a:off x="395288" y="1268413"/>
            <a:ext cx="822960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N≈Q. </a:t>
            </a:r>
            <a:r>
              <a:rPr lang="zh-CN" altLang="en-US" dirty="0">
                <a:latin typeface="Times New Roman" panose="02020603050405020304" pitchFamily="18" charset="0"/>
              </a:rPr>
              <a:t>双射函数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:N→Q,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</a:rPr>
              <a:t>下方的有理数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63593" name="Rectangle 117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tx2"/>
                </a:solidFill>
              </a:rPr>
              <a:t>集合等势的实例</a:t>
            </a:r>
            <a:r>
              <a:rPr lang="en-US" altLang="zh-CN" sz="3200">
                <a:solidFill>
                  <a:schemeClr val="tx2"/>
                </a:solidFill>
              </a:rPr>
              <a:t>: </a:t>
            </a:r>
            <a:r>
              <a:rPr lang="en-US" altLang="zh-CN" sz="3200">
                <a:solidFill>
                  <a:schemeClr val="tx2"/>
                </a:solidFill>
                <a:latin typeface="Times New Roman" panose="02020603050405020304" pitchFamily="18" charset="0"/>
              </a:rPr>
              <a:t>N≈Q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repeatCount="indefinit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8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8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8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8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8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8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8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8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8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8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8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8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8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8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8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8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489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489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48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48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48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500"/>
                            </p:stCondLst>
                            <p:childTnLst>
                              <p:par>
                                <p:cTn id="10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1000"/>
                                        <p:tgtEl>
                                          <p:spTgt spid="48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1000"/>
                                        <p:tgtEl>
                                          <p:spTgt spid="48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1000"/>
                                        <p:tgtEl>
                                          <p:spTgt spid="48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500"/>
                            </p:stCondLst>
                            <p:childTnLst>
                              <p:par>
                                <p:cTn id="1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1000"/>
                                        <p:tgtEl>
                                          <p:spTgt spid="48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1000"/>
                                        <p:tgtEl>
                                          <p:spTgt spid="48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85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1000"/>
                                        <p:tgtEl>
                                          <p:spTgt spid="48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9500"/>
                            </p:stCondLst>
                            <p:childTnLst>
                              <p:par>
                                <p:cTn id="1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10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1000"/>
                                        <p:tgtEl>
                                          <p:spTgt spid="48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10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1000"/>
                                        <p:tgtEl>
                                          <p:spTgt spid="48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3500"/>
                            </p:stCondLst>
                            <p:childTnLst>
                              <p:par>
                                <p:cTn id="1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1000"/>
                                        <p:tgtEl>
                                          <p:spTgt spid="48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1000"/>
                                        <p:tgtEl>
                                          <p:spTgt spid="48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1000"/>
                                        <p:tgtEl>
                                          <p:spTgt spid="48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65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1000"/>
                                        <p:tgtEl>
                                          <p:spTgt spid="48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1000"/>
                                        <p:tgtEl>
                                          <p:spTgt spid="48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000"/>
                                        <p:tgtEl>
                                          <p:spTgt spid="48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9500"/>
                            </p:stCondLst>
                            <p:childTnLst>
                              <p:par>
                                <p:cTn id="1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1000"/>
                                        <p:tgtEl>
                                          <p:spTgt spid="48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1000"/>
                                        <p:tgtEl>
                                          <p:spTgt spid="48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1000"/>
                                        <p:tgtEl>
                                          <p:spTgt spid="48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22500"/>
                            </p:stCondLst>
                            <p:childTnLst>
                              <p:par>
                                <p:cTn id="1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1000"/>
                                        <p:tgtEl>
                                          <p:spTgt spid="48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3500"/>
                            </p:stCondLst>
                            <p:childTnLst>
                              <p:par>
                                <p:cTn id="1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1000"/>
                                        <p:tgtEl>
                                          <p:spTgt spid="48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45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1000"/>
                                        <p:tgtEl>
                                          <p:spTgt spid="48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5500"/>
                            </p:stCondLst>
                            <p:childTnLst>
                              <p:par>
                                <p:cTn id="1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1000"/>
                                        <p:tgtEl>
                                          <p:spTgt spid="48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6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1000"/>
                                        <p:tgtEl>
                                          <p:spTgt spid="4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27500"/>
                            </p:stCondLst>
                            <p:childTnLst>
                              <p:par>
                                <p:cTn id="2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1000"/>
                                        <p:tgtEl>
                                          <p:spTgt spid="48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28500"/>
                            </p:stCondLst>
                            <p:childTnLst>
                              <p:par>
                                <p:cTn id="2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1000"/>
                                        <p:tgtEl>
                                          <p:spTgt spid="48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29500"/>
                            </p:stCondLst>
                            <p:childTnLst>
                              <p:par>
                                <p:cTn id="2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1000"/>
                                        <p:tgtEl>
                                          <p:spTgt spid="48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0500"/>
                            </p:stCondLst>
                            <p:childTnLst>
                              <p:par>
                                <p:cTn id="2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1000"/>
                                        <p:tgtEl>
                                          <p:spTgt spid="48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31500"/>
                            </p:stCondLst>
                            <p:childTnLst>
                              <p:par>
                                <p:cTn id="2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1000"/>
                                        <p:tgtEl>
                                          <p:spTgt spid="48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32500"/>
                            </p:stCondLst>
                            <p:childTnLst>
                              <p:par>
                                <p:cTn id="2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6" dur="1000"/>
                                        <p:tgtEl>
                                          <p:spTgt spid="48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3500"/>
                            </p:stCondLst>
                            <p:childTnLst>
                              <p:par>
                                <p:cTn id="2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0" dur="1000"/>
                                        <p:tgtEl>
                                          <p:spTgt spid="48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34500"/>
                            </p:stCondLst>
                            <p:childTnLst>
                              <p:par>
                                <p:cTn id="2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4" dur="1000"/>
                                        <p:tgtEl>
                                          <p:spTgt spid="48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35500"/>
                            </p:stCondLst>
                            <p:childTnLst>
                              <p:par>
                                <p:cTn id="2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1000"/>
                                        <p:tgtEl>
                                          <p:spTgt spid="48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36500"/>
                            </p:stCondLst>
                            <p:childTnLst>
                              <p:par>
                                <p:cTn id="2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2" dur="1000"/>
                                        <p:tgtEl>
                                          <p:spTgt spid="48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37500"/>
                            </p:stCondLst>
                            <p:childTnLst>
                              <p:par>
                                <p:cTn id="2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1000"/>
                                        <p:tgtEl>
                                          <p:spTgt spid="48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38500"/>
                            </p:stCondLst>
                            <p:childTnLst>
                              <p:par>
                                <p:cTn id="2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0" dur="1000"/>
                                        <p:tgtEl>
                                          <p:spTgt spid="48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39500"/>
                            </p:stCondLst>
                            <p:childTnLst>
                              <p:par>
                                <p:cTn id="2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1000"/>
                                        <p:tgtEl>
                                          <p:spTgt spid="48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40500"/>
                            </p:stCondLst>
                            <p:childTnLst>
                              <p:par>
                                <p:cTn id="2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8" dur="1000"/>
                                        <p:tgtEl>
                                          <p:spTgt spid="48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1500"/>
                            </p:stCondLst>
                            <p:childTnLst>
                              <p:par>
                                <p:cTn id="2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1000"/>
                                        <p:tgtEl>
                                          <p:spTgt spid="48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2500"/>
                            </p:stCondLst>
                            <p:childTnLst>
                              <p:par>
                                <p:cTn id="2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6" dur="1000"/>
                                        <p:tgtEl>
                                          <p:spTgt spid="48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43500"/>
                            </p:stCondLst>
                            <p:childTnLst>
                              <p:par>
                                <p:cTn id="2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1000"/>
                                        <p:tgtEl>
                                          <p:spTgt spid="48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4500"/>
                            </p:stCondLst>
                            <p:childTnLst>
                              <p:par>
                                <p:cTn id="2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1000"/>
                                        <p:tgtEl>
                                          <p:spTgt spid="48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5500"/>
                            </p:stCondLst>
                            <p:childTnLst>
                              <p:par>
                                <p:cTn id="2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1000"/>
                                        <p:tgtEl>
                                          <p:spTgt spid="4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46500"/>
                            </p:stCondLst>
                            <p:childTnLst>
                              <p:par>
                                <p:cTn id="28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2" dur="1000"/>
                                        <p:tgtEl>
                                          <p:spTgt spid="48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6" grpId="0"/>
      <p:bldP spid="489477" grpId="0"/>
      <p:bldP spid="489478" grpId="0"/>
      <p:bldP spid="489479" grpId="0"/>
      <p:bldP spid="489482" grpId="0"/>
      <p:bldP spid="489483" grpId="0"/>
      <p:bldP spid="489486" grpId="0"/>
      <p:bldP spid="489487" grpId="0"/>
      <p:bldP spid="489488" grpId="0"/>
      <p:bldP spid="489489" grpId="0"/>
      <p:bldP spid="489492" grpId="0"/>
      <p:bldP spid="489493" grpId="0"/>
      <p:bldP spid="489494" grpId="0"/>
      <p:bldP spid="489495" grpId="0"/>
      <p:bldP spid="489500" grpId="0"/>
      <p:bldP spid="489503" grpId="0" animBg="1"/>
      <p:bldP spid="489508" grpId="0"/>
      <p:bldP spid="489513" grpId="0"/>
      <p:bldP spid="489516" grpId="0"/>
      <p:bldP spid="489518" grpId="0"/>
      <p:bldP spid="489524" grpId="0"/>
      <p:bldP spid="489530" grpId="0"/>
      <p:bldP spid="489534" grpId="0"/>
      <p:bldP spid="489536" grpId="0"/>
      <p:bldP spid="489540" grpId="0"/>
      <p:bldP spid="489544" grpId="0"/>
      <p:bldP spid="489557" grpId="0"/>
      <p:bldP spid="489587" grpId="0"/>
      <p:bldP spid="489587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9E86D7-9FA9-4775-9AE9-9A45F8D8D671}" type="slidenum">
              <a:rPr lang="en-US" altLang="zh-CN" sz="1400" b="0" smtClean="0"/>
              <a:t>52</a:t>
            </a:fld>
            <a:endParaRPr lang="en-US" altLang="zh-CN" sz="1400" b="0"/>
          </a:p>
        </p:txBody>
      </p:sp>
      <p:graphicFrame>
        <p:nvGraphicFramePr>
          <p:cNvPr id="65539" name="Object 2"/>
          <p:cNvGraphicFramePr>
            <a:graphicFrameLocks noChangeAspect="1"/>
          </p:cNvGraphicFramePr>
          <p:nvPr/>
        </p:nvGraphicFramePr>
        <p:xfrm>
          <a:off x="1691680" y="1610388"/>
          <a:ext cx="525621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86000" imgH="406400" progId="Equation.3">
                  <p:embed/>
                </p:oleObj>
              </mc:Choice>
              <mc:Fallback>
                <p:oleObj name="公式" r:id="rId3" imgW="2286000" imgH="406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1610388"/>
                        <a:ext cx="5256213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539750" y="1196975"/>
            <a:ext cx="8280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(4) (0,1)≈R.   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其中实数区间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(0,1)={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∧0&lt;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&lt;1}.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令：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实数集合的等势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2380095"/>
            <a:ext cx="4644475" cy="43413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9E86D7-9FA9-4775-9AE9-9A45F8D8D671}" type="slidenum">
              <a:rPr lang="en-US" altLang="zh-CN" sz="1400" b="0" smtClean="0"/>
              <a:t>53</a:t>
            </a:fld>
            <a:endParaRPr lang="en-US" altLang="zh-CN" sz="1400" b="0" dirty="0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538585" y="1196678"/>
            <a:ext cx="79930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(5) [0,1]≈(0,1).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(0,1)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[0,1]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分别为实数开区间和闭区间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: [0,1]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(0,1)</a:t>
            </a:r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实数集合的等势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676" y="2348880"/>
            <a:ext cx="571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方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法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27584" y="2051149"/>
                <a:ext cx="5184576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⊂(0,1)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051149"/>
                <a:ext cx="5184576" cy="823815"/>
              </a:xfrm>
              <a:prstGeom prst="rect">
                <a:avLst/>
              </a:prstGeom>
              <a:blipFill rotWithShape="1">
                <a:blip r:embed="rId3"/>
                <a:stretch>
                  <a:fillRect l="-3" t="-12" r="12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84317" y="2852936"/>
                <a:ext cx="5184576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⊂[0,1]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17" y="2852936"/>
                <a:ext cx="5184576" cy="823815"/>
              </a:xfrm>
              <a:prstGeom prst="rect">
                <a:avLst/>
              </a:prstGeom>
              <a:blipFill rotWithShape="1">
                <a:blip r:embed="rId4"/>
                <a:stretch>
                  <a:fillRect l="-2" t="-63" r="1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5768893" y="2247721"/>
            <a:ext cx="330899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8000"/>
                </a:solidFill>
                <a:latin typeface="Times New Roman" panose="02020603050405020304" pitchFamily="18" charset="0"/>
              </a:rPr>
              <a:t>显然，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[0,1]-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= (0,1)-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A</a:t>
            </a:r>
          </a:p>
          <a:p>
            <a:r>
              <a:rPr lang="zh-CN" altLang="en-US" b="1" dirty="0">
                <a:solidFill>
                  <a:srgbClr val="008000"/>
                </a:solidFill>
                <a:latin typeface="Times New Roman" panose="02020603050405020304" pitchFamily="18" charset="0"/>
              </a:rPr>
              <a:t>问题转化为构造一个  从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8000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8000"/>
                </a:solidFill>
                <a:latin typeface="Times New Roman" panose="02020603050405020304" pitchFamily="18" charset="0"/>
              </a:rPr>
              <a:t>的双射函数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endParaRPr lang="zh-CN" altLang="en-US" b="1" dirty="0">
              <a:solidFill>
                <a:srgbClr val="008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2977"/>
          <a:stretch>
            <a:fillRect/>
          </a:stretch>
        </p:blipFill>
        <p:spPr>
          <a:xfrm>
            <a:off x="183676" y="4923518"/>
            <a:ext cx="5985061" cy="18671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718021" y="3500786"/>
                <a:ext cx="4103431" cy="1891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021" y="3500786"/>
                <a:ext cx="4103431" cy="1891287"/>
              </a:xfrm>
              <a:prstGeom prst="rect">
                <a:avLst/>
              </a:prstGeom>
              <a:blipFill rotWithShape="1">
                <a:blip r:embed="rId6"/>
                <a:stretch>
                  <a:fillRect l="-15" t="-2" r="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6" grpId="0"/>
      <p:bldP spid="8" grpId="0" animBg="1"/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9E86D7-9FA9-4775-9AE9-9A45F8D8D671}" type="slidenum">
              <a:rPr lang="en-US" altLang="zh-CN" sz="1400" b="0" smtClean="0"/>
              <a:t>54</a:t>
            </a:fld>
            <a:endParaRPr lang="en-US" altLang="zh-CN" sz="1400" b="0" dirty="0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538585" y="1196678"/>
            <a:ext cx="79930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(5) [0,1]≈(0,1).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(0,1)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[0,1]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分别为实数开区间和闭区间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: [0,1]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(0,1)</a:t>
            </a:r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实数集合的等势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8585" y="2264330"/>
            <a:ext cx="571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方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法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二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316" y="2438285"/>
            <a:ext cx="5181600" cy="1914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316" y="4524109"/>
            <a:ext cx="4839534" cy="207408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925" y="4942869"/>
            <a:ext cx="4285722" cy="1836738"/>
          </a:xfrm>
          <a:prstGeom prst="rect">
            <a:avLst/>
          </a:prstGeom>
        </p:spPr>
      </p:pic>
      <p:sp>
        <p:nvSpPr>
          <p:cNvPr id="655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9E86D7-9FA9-4775-9AE9-9A45F8D8D671}" type="slidenum">
              <a:rPr lang="en-US" altLang="zh-CN" sz="1400" b="0" smtClean="0"/>
              <a:t>55</a:t>
            </a:fld>
            <a:endParaRPr lang="en-US" altLang="zh-CN" sz="1400" b="0" dirty="0"/>
          </a:p>
        </p:txBody>
      </p:sp>
      <p:sp>
        <p:nvSpPr>
          <p:cNvPr id="65543" name="Rectangle 8"/>
          <p:cNvSpPr>
            <a:spLocks noChangeArrowheads="1"/>
          </p:cNvSpPr>
          <p:nvPr/>
        </p:nvSpPr>
        <p:spPr bwMode="auto">
          <a:xfrm>
            <a:off x="538585" y="1196678"/>
            <a:ext cx="79930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(5) [0,1]≈(0,1).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(0,1)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[0,1]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分别为实数开区间和闭区间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: [0,1]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(0,1)</a:t>
            </a:r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实数集合的等势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任意多边形: 形状 1"/>
          <p:cNvSpPr/>
          <p:nvPr/>
        </p:nvSpPr>
        <p:spPr>
          <a:xfrm>
            <a:off x="5764" y="1927522"/>
            <a:ext cx="9078391" cy="2472644"/>
          </a:xfrm>
          <a:custGeom>
            <a:avLst/>
            <a:gdLst>
              <a:gd name="connsiteX0" fmla="*/ 0 w 9078391"/>
              <a:gd name="connsiteY0" fmla="*/ 2243688 h 2472644"/>
              <a:gd name="connsiteX1" fmla="*/ 5581935 w 9078391"/>
              <a:gd name="connsiteY1" fmla="*/ 2284632 h 2472644"/>
              <a:gd name="connsiteX2" fmla="*/ 8775511 w 9078391"/>
              <a:gd name="connsiteY2" fmla="*/ 196524 h 2472644"/>
              <a:gd name="connsiteX3" fmla="*/ 8761863 w 9078391"/>
              <a:gd name="connsiteY3" fmla="*/ 210172 h 247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78391" h="2472644">
                <a:moveTo>
                  <a:pt x="0" y="2243688"/>
                </a:moveTo>
                <a:cubicBezTo>
                  <a:pt x="2059675" y="2434757"/>
                  <a:pt x="4119350" y="2625826"/>
                  <a:pt x="5581935" y="2284632"/>
                </a:cubicBezTo>
                <a:cubicBezTo>
                  <a:pt x="7044520" y="1943438"/>
                  <a:pt x="8775511" y="196524"/>
                  <a:pt x="8775511" y="196524"/>
                </a:cubicBezTo>
                <a:cubicBezTo>
                  <a:pt x="9305499" y="-149219"/>
                  <a:pt x="9033681" y="30476"/>
                  <a:pt x="8761863" y="210172"/>
                </a:cubicBezTo>
              </a:path>
            </a:pathLst>
          </a:cu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3676" y="2348880"/>
            <a:ext cx="1508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方法一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47011" y="3764925"/>
            <a:ext cx="1508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方法二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23528" y="4403493"/>
                <a:ext cx="5184576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⊂(0,1)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403493"/>
                <a:ext cx="5184576" cy="823815"/>
              </a:xfrm>
              <a:prstGeom prst="rect">
                <a:avLst/>
              </a:prstGeom>
              <a:blipFill rotWithShape="1">
                <a:blip r:embed="rId4"/>
                <a:stretch>
                  <a:fillRect l="-6" t="-49" r="2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771800" y="1619966"/>
                <a:ext cx="4103431" cy="1891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1619966"/>
                <a:ext cx="4103431" cy="1891287"/>
              </a:xfrm>
              <a:prstGeom prst="rect">
                <a:avLst/>
              </a:prstGeom>
              <a:blipFill rotWithShape="1">
                <a:blip r:embed="rId5"/>
                <a:stretch>
                  <a:fillRect l="-1" t="-4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76784" y="3388594"/>
                <a:ext cx="5184576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⊂(0,1)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4" y="3388594"/>
                <a:ext cx="5184576" cy="823815"/>
              </a:xfrm>
              <a:prstGeom prst="rect">
                <a:avLst/>
              </a:prstGeom>
              <a:blipFill rotWithShape="1">
                <a:blip r:embed="rId6"/>
                <a:stretch>
                  <a:fillRect l="-11" t="-28" r="7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9E86D7-9FA9-4775-9AE9-9A45F8D8D671}" type="slidenum">
              <a:rPr lang="en-US" altLang="zh-CN" sz="1400" b="0" smtClean="0"/>
              <a:t>56</a:t>
            </a:fld>
            <a:endParaRPr lang="en-US" altLang="zh-CN" sz="1400" b="0" dirty="0"/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-972616" y="140684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(0,1) ≈[0,1)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48102"/>
          <a:stretch>
            <a:fillRect/>
          </a:stretch>
        </p:blipFill>
        <p:spPr>
          <a:xfrm>
            <a:off x="667866" y="4585172"/>
            <a:ext cx="5848350" cy="160658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35" y="1983617"/>
            <a:ext cx="4819650" cy="352425"/>
          </a:xfrm>
          <a:prstGeom prst="rect">
            <a:avLst/>
          </a:prstGeom>
        </p:spPr>
      </p:pic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-900608" y="4020876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</a:rPr>
              <a:t>[0,1)≈ [0,1] </a:t>
            </a:r>
            <a:endParaRPr lang="zh-CN" altLang="en-US" sz="3200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44" y="1978982"/>
            <a:ext cx="1152128" cy="37686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6"/>
          <a:srcRect b="8945"/>
          <a:stretch>
            <a:fillRect/>
          </a:stretch>
        </p:blipFill>
        <p:spPr>
          <a:xfrm>
            <a:off x="4427984" y="2296227"/>
            <a:ext cx="3505135" cy="1407404"/>
          </a:xfrm>
          <a:prstGeom prst="rect">
            <a:avLst/>
          </a:prstGeom>
        </p:spPr>
      </p:pic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上例的相关拓展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9E86D7-9FA9-4775-9AE9-9A45F8D8D671}" type="slidenum">
              <a:rPr lang="en-US" altLang="zh-CN" sz="1400" b="0" smtClean="0"/>
              <a:t>57</a:t>
            </a:fld>
            <a:endParaRPr lang="en-US" altLang="zh-CN" sz="1400" b="0"/>
          </a:p>
        </p:txBody>
      </p:sp>
      <p:sp>
        <p:nvSpPr>
          <p:cNvPr id="65541" name="Rectangle 6"/>
          <p:cNvSpPr>
            <a:spLocks noChangeArrowheads="1"/>
          </p:cNvSpPr>
          <p:nvPr/>
        </p:nvSpPr>
        <p:spPr bwMode="auto">
          <a:xfrm>
            <a:off x="455240" y="1406977"/>
            <a:ext cx="8074646" cy="483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arenBoth" startAt="6"/>
            </a:pP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对任何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b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[0,1]≈[</a:t>
            </a:r>
            <a:r>
              <a:rPr lang="en-US" altLang="zh-CN" b="1" i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dirty="0" err="1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双射函数 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:[0,1]→[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],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)=(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5000"/>
              </a:spcBef>
            </a:pP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5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5000"/>
              </a:spcBef>
            </a:pP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5000"/>
              </a:spcBef>
            </a:pP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5000"/>
              </a:spcBef>
            </a:pP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5000"/>
              </a:spcBef>
            </a:pPr>
            <a:endParaRPr lang="en-US" altLang="zh-CN" b="1" dirty="0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55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类似地可以证明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对任何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b="1" i="1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(0,1)≈(</a:t>
            </a:r>
            <a:r>
              <a:rPr lang="en-US" altLang="zh-CN" b="1" i="1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 dirty="0">
                <a:solidFill>
                  <a:schemeClr val="tx2"/>
                </a:solidFill>
              </a:rPr>
              <a:t>实数集合的等势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 descr="tu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31" y="2087547"/>
            <a:ext cx="4319588" cy="370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B7BC157-7B77-475B-8754-43B388B126FB}" type="slidenum">
              <a:rPr lang="en-US" altLang="zh-CN" sz="1400" b="0" smtClean="0"/>
              <a:t>58</a:t>
            </a:fld>
            <a:endParaRPr lang="en-US" altLang="zh-CN" sz="1400" b="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实例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2704" y="2067306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为任意集合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)≈{0,1}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463143" y="2643568"/>
            <a:ext cx="8229600" cy="374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6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证   如下构造从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到 </a:t>
            </a:r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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)→{0,1}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  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')=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' 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'∈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是集合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的特征函数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易证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.   </a:t>
            </a:r>
          </a:p>
          <a:p>
            <a:pPr eaLnBrk="1" hangingPunct="1"/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对于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任意的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∈{0,1}</a:t>
            </a:r>
            <a:r>
              <a:rPr lang="en-US" altLang="zh-CN" i="1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那么有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→{0,1}.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令</a:t>
            </a:r>
            <a:endParaRPr lang="zh-CN" altLang="en-US" i="1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={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)=1}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且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即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), 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从而证明了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是满射的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由等势定义得  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)≈{0,1}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7880"/>
            <a:ext cx="3638617" cy="189661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22126"/>
            <a:ext cx="4705350" cy="139065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D8586A-4F2E-420C-811D-B15E1306BABB}" type="slidenum">
              <a:rPr lang="en-US" altLang="zh-CN" sz="1400" b="0" smtClean="0"/>
              <a:t>59</a:t>
            </a:fld>
            <a:endParaRPr lang="en-US" altLang="zh-CN" sz="1400" b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等势的性质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135937" cy="187325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8.6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A, B,C</a:t>
            </a:r>
            <a:r>
              <a:rPr lang="zh-CN" altLang="en-US">
                <a:latin typeface="Times New Roman" panose="02020603050405020304" pitchFamily="18" charset="0"/>
              </a:rPr>
              <a:t>是任意集合，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≈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，则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≈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(3)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≈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≈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，则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≈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auto">
          <a:xfrm>
            <a:off x="466725" y="3429000"/>
            <a:ext cx="8208963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证明思路</a:t>
            </a:r>
            <a:r>
              <a:rPr lang="zh-CN" altLang="en-US" dirty="0">
                <a:latin typeface="Times New Roman" panose="02020603050405020304" pitchFamily="18" charset="0"/>
              </a:rPr>
              <a:t>：利用等势的定义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是双射，则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的双射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是双射，则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40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</a:rPr>
              <a:t>: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的双射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997E48-E009-4ECC-BCAF-C6A08993BEE8}" type="slidenum">
              <a:rPr lang="en-US" altLang="zh-CN" sz="1400" b="0" smtClean="0"/>
              <a:t>60</a:t>
            </a:fld>
            <a:endParaRPr lang="en-US" altLang="zh-CN" sz="1400" b="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有关势的重要结果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513"/>
            <a:ext cx="5327650" cy="1366837"/>
          </a:xfrm>
          <a:ln w="28575"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等势结果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</a:rPr>
              <a:t>N ≈ Z ≈ Q ≈ N×N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任何实数区间都与实数集合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等势</a:t>
            </a:r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457200" y="2574925"/>
            <a:ext cx="8435280" cy="394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不等势的结果</a:t>
            </a:r>
            <a:r>
              <a:rPr lang="en-US" altLang="zh-CN" dirty="0">
                <a:latin typeface="Times New Roman" panose="02020603050405020304" pitchFamily="18" charset="0"/>
              </a:rPr>
              <a:t>:       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8.7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</a:rPr>
              <a:t>康托定理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 N ≉ R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r>
              <a:rPr lang="zh-CN" altLang="en-US" i="1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对任意集合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≉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证明思路：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如果能证明</a:t>
            </a:r>
            <a:r>
              <a:rPr lang="en-US" altLang="zh-CN" dirty="0">
                <a:latin typeface="Times New Roman" panose="02020603050405020304" pitchFamily="18" charset="0"/>
              </a:rPr>
              <a:t>N≉[0,1]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，就可以断定</a:t>
            </a:r>
            <a:r>
              <a:rPr lang="en-US" altLang="zh-CN" dirty="0">
                <a:latin typeface="Times New Roman" panose="02020603050405020304" pitchFamily="18" charset="0"/>
              </a:rPr>
              <a:t>N≉ R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，为此只需证明任何函数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:N→[0,1]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都不是满射的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即：任取函数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:N→[0,1],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列出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的所有函数值，然后构造一个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[0,1]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区间的小数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与所有的函数值都不相等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           </a:t>
            </a:r>
          </a:p>
          <a:p>
            <a:pPr eaLnBrk="1" hangingPunct="1"/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任取函数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，只需证明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不是满射的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即构造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g 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的任何函数值都不等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" name="矩形 1"/>
          <p:cNvSpPr/>
          <p:nvPr/>
        </p:nvSpPr>
        <p:spPr>
          <a:xfrm>
            <a:off x="457200" y="2491358"/>
            <a:ext cx="6096000" cy="136683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29ABAF-8EEF-4230-898B-F415194AB1EA}" type="slidenum">
              <a:rPr lang="en-US" altLang="zh-CN" sz="1400" b="0" smtClean="0"/>
              <a:t>61</a:t>
            </a:fld>
            <a:endParaRPr lang="en-US" altLang="zh-CN" sz="1400" b="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Cantor</a:t>
            </a:r>
            <a:r>
              <a:rPr lang="zh-CN" altLang="en-US" dirty="0"/>
              <a:t>定理的证明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32765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证 </a:t>
            </a: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规定</a:t>
            </a:r>
            <a:r>
              <a:rPr lang="en-US" altLang="zh-CN" dirty="0">
                <a:latin typeface="Times New Roman" panose="02020603050405020304" pitchFamily="18" charset="0"/>
              </a:rPr>
              <a:t>[0,1]</a:t>
            </a:r>
            <a:r>
              <a:rPr lang="zh-CN" altLang="en-US" dirty="0">
                <a:latin typeface="Times New Roman" panose="02020603050405020304" pitchFamily="18" charset="0"/>
              </a:rPr>
              <a:t>中数的表示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对任意的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∈[0,1], </a:t>
            </a:r>
            <a:r>
              <a:rPr lang="zh-CN" altLang="en-US" dirty="0">
                <a:latin typeface="Times New Roman" panose="02020603050405020304" pitchFamily="18" charset="0"/>
              </a:rPr>
              <a:t>令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       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0.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dirty="0">
                <a:latin typeface="Times New Roman" panose="02020603050405020304" pitchFamily="18" charset="0"/>
              </a:rPr>
              <a:t>… ,     0 ≤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≤ 9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tx2"/>
                </a:solidFill>
              </a:rPr>
              <a:t>    </a:t>
            </a:r>
            <a:r>
              <a:rPr lang="zh-CN" altLang="en-US" dirty="0">
                <a:solidFill>
                  <a:srgbClr val="00B050"/>
                </a:solidFill>
              </a:rPr>
              <a:t>注意：为了保证表示式的唯一性，如果遇到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0.24999…</a:t>
            </a:r>
            <a:r>
              <a:rPr lang="zh-CN" altLang="en-US" dirty="0">
                <a:solidFill>
                  <a:srgbClr val="00B050"/>
                </a:solidFill>
              </a:rPr>
              <a:t>，则将</a:t>
            </a:r>
            <a:r>
              <a:rPr lang="en-US" altLang="zh-CN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B050"/>
                </a:solidFill>
              </a:rPr>
              <a:t>表示为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0.25000…</a:t>
            </a:r>
            <a:r>
              <a:rPr lang="zh-CN" altLang="en-US" dirty="0">
                <a:solidFill>
                  <a:srgbClr val="00B050"/>
                </a:solidFill>
              </a:rPr>
              <a:t>。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 N→[0,1]</a:t>
            </a:r>
            <a:r>
              <a:rPr lang="zh-CN" altLang="en-US" dirty="0">
                <a:latin typeface="Times New Roman" panose="02020603050405020304" pitchFamily="18" charset="0"/>
              </a:rPr>
              <a:t>是任何函数，列出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的所有函数值：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(0) = 0.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(1)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(1)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(1) = 0.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                    …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             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1) = 0.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aseline="30000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                     …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y </a:t>
            </a:r>
            <a:r>
              <a:rPr lang="zh-CN" altLang="en-US" dirty="0">
                <a:latin typeface="Times New Roman" panose="02020603050405020304" pitchFamily="18" charset="0"/>
              </a:rPr>
              <a:t>的表示式为</a:t>
            </a:r>
            <a:r>
              <a:rPr lang="en-US" altLang="zh-CN" dirty="0">
                <a:latin typeface="Times New Roman" panose="02020603050405020304" pitchFamily="18" charset="0"/>
              </a:rPr>
              <a:t>0.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…, </a:t>
            </a:r>
            <a:r>
              <a:rPr lang="zh-CN" altLang="en-US" dirty="0">
                <a:latin typeface="Times New Roman" panose="02020603050405020304" pitchFamily="18" charset="0"/>
              </a:rPr>
              <a:t>并且满足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zh-CN" dirty="0">
                <a:latin typeface="Times New Roman" panose="02020603050405020304" pitchFamily="18" charset="0"/>
              </a:rPr>
              <a:t>≠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baseline="30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=1,2,…,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</a:rPr>
              <a:t>[0,1],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</a:rPr>
              <a:t>与上面列出的任何函数值都不相等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这就推出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不是满射的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229600" cy="518435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证明任何函数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都不是满射的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→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是从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如下构造集合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   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)}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但对任意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从而证明了对任意的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∈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都有 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≠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dirty="0" err="1">
                <a:latin typeface="Times New Roman" panose="02020603050405020304" pitchFamily="18" charset="0"/>
              </a:rPr>
              <a:t>ran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注意：根据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Cantor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定理可以知道：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N≉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(N)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N≉{0,1}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4D952C-C9D2-4FCB-9404-4A491843663A}" type="slidenum">
              <a:rPr lang="en-US" altLang="zh-CN" sz="1400" b="0" smtClean="0"/>
              <a:t>62</a:t>
            </a:fld>
            <a:endParaRPr lang="en-US" altLang="zh-CN" sz="1400" b="0"/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Cantor</a:t>
            </a:r>
            <a:r>
              <a:rPr lang="zh-CN" altLang="en-US" dirty="0"/>
              <a:t>定理的证明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70571" y="4171869"/>
            <a:ext cx="336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endParaRPr lang="en-US" altLang="zh-C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={1,2}</a:t>
            </a:r>
            <a:r>
              <a:rPr lang="zh-CN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)={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,{1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},{2},{1,2}}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4355976" y="3861048"/>
            <a:ext cx="3082105" cy="2023278"/>
            <a:chOff x="4355976" y="3861048"/>
            <a:chExt cx="3082105" cy="2023278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4008" y="4077072"/>
              <a:ext cx="2448274" cy="1686983"/>
            </a:xfrm>
            <a:prstGeom prst="rect">
              <a:avLst/>
            </a:prstGeom>
          </p:spPr>
        </p:pic>
        <p:sp>
          <p:nvSpPr>
            <p:cNvPr id="22" name="椭圆 21"/>
            <p:cNvSpPr/>
            <p:nvPr/>
          </p:nvSpPr>
          <p:spPr>
            <a:xfrm>
              <a:off x="4355976" y="3861048"/>
              <a:ext cx="1080120" cy="202327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6084168" y="3861048"/>
              <a:ext cx="1080120" cy="202327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376018" y="3994441"/>
              <a:ext cx="1062063" cy="4762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7030A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</a:t>
              </a:r>
              <a:endParaRPr lang="zh-CN" altLang="en-US" b="1" dirty="0">
                <a:solidFill>
                  <a:srgbClr val="7030A0"/>
                </a:solidFill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648ABE-F535-4715-AA4E-FA2BA52DB10A}" type="slidenum">
              <a:rPr lang="en-US" altLang="zh-CN" sz="1400" b="0" smtClean="0"/>
              <a:t>63</a:t>
            </a:fld>
            <a:endParaRPr lang="en-US" altLang="zh-CN" sz="1400" b="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集合的优势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507288" cy="33115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8.9  </a:t>
            </a: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如果存在从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的单射函数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就称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如果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不是优势于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⋠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是集合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≉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真优势于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zh-CN" altLang="en-US" i="1" dirty="0">
                <a:latin typeface="Times New Roman" panose="02020603050405020304" pitchFamily="18" charset="0"/>
              </a:rPr>
              <a:t>       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≺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latin typeface="Times New Roman" panose="02020603050405020304" pitchFamily="18" charset="0"/>
              </a:rPr>
              <a:t>如果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zh-CN" altLang="en-US" dirty="0">
                <a:latin typeface="Times New Roman" panose="02020603050405020304" pitchFamily="18" charset="0"/>
              </a:rPr>
              <a:t>不是真优势于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⊀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实例   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N≼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N, N≼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R, A≼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(A),   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   R⋠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N </a:t>
            </a:r>
          </a:p>
          <a:p>
            <a:pPr eaLnBrk="1" hangingPunct="1"/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   N≺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R, A≺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(A),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但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N⊀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N</a:t>
            </a:r>
            <a:r>
              <a:rPr lang="en-US" altLang="zh-CN" dirty="0">
                <a:latin typeface="Times New Roman" panose="02020603050405020304" pitchFamily="18" charset="0"/>
              </a:rPr>
              <a:t>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 rot="10800000" flipV="1">
            <a:off x="519113" y="4508500"/>
            <a:ext cx="822960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是任意的集合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7200" y="5445224"/>
            <a:ext cx="3826768" cy="3600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/>
      <p:bldP spid="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3"/>
          <a:srcRect l="2977"/>
          <a:stretch>
            <a:fillRect/>
          </a:stretch>
        </p:blipFill>
        <p:spPr>
          <a:xfrm>
            <a:off x="100244" y="5250474"/>
            <a:ext cx="4981113" cy="155392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应用：证明等势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120" y="1182687"/>
            <a:ext cx="8229600" cy="476251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证明：</a:t>
            </a:r>
            <a:r>
              <a:rPr lang="en-US" altLang="zh-CN" dirty="0">
                <a:latin typeface="Times New Roman" panose="02020603050405020304" pitchFamily="18" charset="0"/>
              </a:rPr>
              <a:t>[0,1]≈(0,1)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E44C76-38A5-42E7-B9D9-FC32FFA0DF51}" type="slidenum">
              <a:rPr lang="en-US" altLang="zh-CN" smtClean="0"/>
              <a:t>64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l="9960" b="61095"/>
          <a:stretch>
            <a:fillRect/>
          </a:stretch>
        </p:blipFill>
        <p:spPr>
          <a:xfrm>
            <a:off x="587310" y="2952749"/>
            <a:ext cx="5194201" cy="47625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3608" y="3938802"/>
            <a:ext cx="595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66FF"/>
                </a:solidFill>
              </a:rPr>
              <a:t>【</a:t>
            </a:r>
            <a:r>
              <a:rPr lang="zh-CN" altLang="en-US" b="1" dirty="0">
                <a:solidFill>
                  <a:srgbClr val="0066FF"/>
                </a:solidFill>
              </a:rPr>
              <a:t>回看</a:t>
            </a:r>
            <a:r>
              <a:rPr lang="en-US" altLang="zh-CN" b="1" dirty="0">
                <a:solidFill>
                  <a:srgbClr val="0066FF"/>
                </a:solidFill>
              </a:rPr>
              <a:t>】</a:t>
            </a:r>
            <a:r>
              <a:rPr lang="zh-CN" altLang="en-US" b="1" dirty="0">
                <a:solidFill>
                  <a:srgbClr val="0066FF"/>
                </a:solidFill>
              </a:rPr>
              <a:t>另一种方法：构造一个双射函数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4832" y="1702097"/>
            <a:ext cx="4913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66FF"/>
                </a:solidFill>
              </a:rPr>
              <a:t>方法：构造两个单射函数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t="36414" b="-1"/>
          <a:stretch>
            <a:fillRect/>
          </a:stretch>
        </p:blipFill>
        <p:spPr>
          <a:xfrm>
            <a:off x="468104" y="2103142"/>
            <a:ext cx="5768741" cy="778385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6638731" y="2881527"/>
            <a:ext cx="1114425" cy="1057275"/>
            <a:chOff x="6599036" y="5716587"/>
            <a:chExt cx="1114425" cy="1057275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99036" y="5716587"/>
              <a:ext cx="1114425" cy="1057275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7020272" y="6389985"/>
              <a:ext cx="54901" cy="6335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7541435" y="6381328"/>
              <a:ext cx="54901" cy="6335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直接连接符 29"/>
            <p:cNvCxnSpPr>
              <a:endCxn id="31" idx="5"/>
            </p:cNvCxnSpPr>
            <p:nvPr/>
          </p:nvCxnSpPr>
          <p:spPr>
            <a:xfrm flipV="1">
              <a:off x="7075173" y="5859337"/>
              <a:ext cx="513123" cy="53064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/>
            <p:cNvSpPr/>
            <p:nvPr/>
          </p:nvSpPr>
          <p:spPr>
            <a:xfrm>
              <a:off x="7541435" y="5805264"/>
              <a:ext cx="54901" cy="63351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177" y="1362491"/>
            <a:ext cx="1263941" cy="1403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4716016" y="4283017"/>
                <a:ext cx="4103431" cy="1891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4283017"/>
                <a:ext cx="4103431" cy="1891287"/>
              </a:xfrm>
              <a:prstGeom prst="rect">
                <a:avLst/>
              </a:prstGeom>
              <a:blipFill rotWithShape="1">
                <a:blip r:embed="rId7"/>
                <a:stretch>
                  <a:fillRect l="-12" t="-31" r="1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213414" y="4332088"/>
                <a:ext cx="5184576" cy="8238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⊂(0,1)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14" y="4332088"/>
                <a:ext cx="5184576" cy="823815"/>
              </a:xfrm>
              <a:prstGeom prst="rect">
                <a:avLst/>
              </a:prstGeom>
              <a:blipFill rotWithShape="1">
                <a:blip r:embed="rId8"/>
                <a:stretch>
                  <a:fillRect l="-1" t="-14" r="9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连接符 42"/>
          <p:cNvCxnSpPr/>
          <p:nvPr/>
        </p:nvCxnSpPr>
        <p:spPr>
          <a:xfrm>
            <a:off x="100244" y="3938802"/>
            <a:ext cx="9043756" cy="66262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9" grpId="0"/>
      <p:bldP spid="4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应用：证明等势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5D2C77-8702-4941-9AA0-50A2BE0C613C}" type="slidenum">
              <a:rPr lang="en-US" altLang="zh-CN" smtClean="0"/>
              <a:t>65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r="3621"/>
          <a:stretch>
            <a:fillRect/>
          </a:stretch>
        </p:blipFill>
        <p:spPr>
          <a:xfrm>
            <a:off x="2521867" y="1238765"/>
            <a:ext cx="6209984" cy="11146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r="3882"/>
          <a:stretch>
            <a:fillRect/>
          </a:stretch>
        </p:blipFill>
        <p:spPr>
          <a:xfrm>
            <a:off x="2601529" y="2604379"/>
            <a:ext cx="6202329" cy="10778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r="7861"/>
          <a:stretch>
            <a:fillRect/>
          </a:stretch>
        </p:blipFill>
        <p:spPr>
          <a:xfrm>
            <a:off x="2755186" y="3933163"/>
            <a:ext cx="5976664" cy="12333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5186" y="5314356"/>
            <a:ext cx="5768741" cy="122413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22938" y="5451160"/>
            <a:ext cx="19816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(0,1)≈[0,1]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-1548680" y="1460851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</a:rPr>
              <a:t>[0,1] ≈(0,1]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-1546946" y="4054988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</a:rPr>
              <a:t>(0,1)≈[0,1) 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-1546946" y="2745986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>
                <a:solidFill>
                  <a:srgbClr val="0066FF"/>
                </a:solidFill>
                <a:latin typeface="Times New Roman" panose="02020603050405020304" pitchFamily="18" charset="0"/>
              </a:rPr>
              <a:t>(0,1] ≈[0,1)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C3C11A-0EB2-4C0E-832B-7154DB12DBA0}" type="slidenum">
              <a:rPr lang="en-US" altLang="zh-CN" sz="1400" b="0" smtClean="0"/>
              <a:t>66</a:t>
            </a:fld>
            <a:endParaRPr lang="en-US" altLang="zh-CN" sz="1400" b="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应用：证明等势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5169" y="1773238"/>
            <a:ext cx="8229600" cy="4032250"/>
          </a:xfrm>
        </p:spPr>
        <p:txBody>
          <a:bodyPr/>
          <a:lstStyle/>
          <a:p>
            <a:pPr eaLnBrk="1" hangingPunct="1">
              <a:spcBef>
                <a:spcPct val="75000"/>
              </a:spcBef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证</a:t>
            </a:r>
            <a:r>
              <a:rPr lang="zh-CN" altLang="en-US" dirty="0">
                <a:latin typeface="Times New Roman" panose="02020603050405020304" pitchFamily="18" charset="0"/>
              </a:rPr>
              <a:t>   设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Times New Roman" panose="02020603050405020304" pitchFamily="18" charset="0"/>
              </a:rPr>
              <a:t>[0,1), 0.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… </a:t>
            </a:r>
            <a:r>
              <a:rPr lang="zh-CN" altLang="en-US" dirty="0">
                <a:latin typeface="Times New Roman" panose="02020603050405020304" pitchFamily="18" charset="0"/>
              </a:rPr>
              <a:t>是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的二进制表示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7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规定表示式中不允许出现连续无数个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1】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对于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，如下定义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:[0,1)→{0,1}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:N</a:t>
            </a:r>
            <a:r>
              <a:rPr lang="en-US" altLang="zh-CN" dirty="0">
                <a:latin typeface="Times New Roman" panose="02020603050405020304" pitchFamily="18" charset="0"/>
              </a:rPr>
              <a:t>→{0,1}, 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</a:rPr>
              <a:t>= 0,1,2,…</a:t>
            </a:r>
          </a:p>
          <a:p>
            <a:pPr eaLnBrk="1" hangingPunct="1"/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例如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= 0.1 0 1 1 0 1 0 0…,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则对应于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的函数 </a:t>
            </a:r>
            <a:r>
              <a:rPr lang="en-US" altLang="zh-CN" i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是： </a:t>
            </a:r>
          </a:p>
          <a:p>
            <a:pPr eaLnBrk="1" hangingPunct="1"/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            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  0 1 2 3 4 5 6 7…</a:t>
            </a:r>
            <a:endParaRPr lang="en-US" altLang="zh-CN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)   1 0 1 1 0 1 0 0…  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</a:p>
          <a:p>
            <a:pPr eaLnBrk="1" hangingPunct="1"/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且对于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∈[0,1), 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≠</a:t>
            </a:r>
            <a:r>
              <a:rPr lang="en-US" altLang="zh-CN" i="1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必有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</a:rPr>
              <a:t>≠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)≠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这就证明了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:[0,1)→{0,1}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是单射的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9877" name="Rectangle 4"/>
          <p:cNvSpPr>
            <a:spLocks noChangeArrowheads="1"/>
          </p:cNvSpPr>
          <p:nvPr/>
        </p:nvSpPr>
        <p:spPr bwMode="auto">
          <a:xfrm>
            <a:off x="395288" y="1196975"/>
            <a:ext cx="82089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证明 </a:t>
            </a:r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≈[0,1)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66C616-0699-4E58-8D93-52FF8DF93A56}" type="slidenum">
              <a:rPr lang="en-US" altLang="zh-CN" sz="1400" b="0" smtClean="0"/>
              <a:t>67</a:t>
            </a:fld>
            <a:endParaRPr lang="en-US" altLang="zh-CN" sz="1400" b="0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1133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考虑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∈{0,1}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              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(0)=0,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)=1,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=1, 2, ….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按照 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的定义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只有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0.011… </a:t>
            </a:r>
            <a:r>
              <a:rPr lang="zh-CN" altLang="en-US" dirty="0">
                <a:latin typeface="Times New Roman" panose="02020603050405020304" pitchFamily="18" charset="0"/>
              </a:rPr>
              <a:t>才能满足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但根据规定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这个数 </a:t>
            </a:r>
            <a:r>
              <a:rPr lang="en-US" altLang="zh-CN" i="1" dirty="0">
                <a:solidFill>
                  <a:srgbClr val="00B05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记为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0.100…,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所以根本不存在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∈[0,1), </a:t>
            </a:r>
            <a:r>
              <a:rPr lang="zh-CN" altLang="en-US" dirty="0">
                <a:latin typeface="Times New Roman" panose="02020603050405020304" pitchFamily="18" charset="0"/>
              </a:rPr>
              <a:t>满足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定义函数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:{0,1}</a:t>
            </a:r>
            <a:r>
              <a:rPr lang="en-US" altLang="zh-CN" baseline="30000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→[0,1).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的映射法则恰好与 </a:t>
            </a:r>
            <a:r>
              <a:rPr lang="en-US" altLang="zh-CN" i="1" dirty="0">
                <a:latin typeface="Times New Roman" panose="02020603050405020304" pitchFamily="18" charset="0"/>
              </a:rPr>
              <a:t>f </a:t>
            </a:r>
            <a:r>
              <a:rPr lang="zh-CN" altLang="en-US" dirty="0">
                <a:latin typeface="Times New Roman" panose="02020603050405020304" pitchFamily="18" charset="0"/>
              </a:rPr>
              <a:t>相反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即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∈{0,1}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</a:p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                   t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</a:rPr>
              <a:t>N→{0,1},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)=0.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…,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 dirty="0">
                <a:latin typeface="Times New Roman" panose="02020603050405020304" pitchFamily="18" charset="0"/>
              </a:rPr>
              <a:t>0.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… </a:t>
            </a:r>
            <a:r>
              <a:rPr lang="zh-CN" altLang="en-US" dirty="0">
                <a:latin typeface="Times New Roman" panose="02020603050405020304" pitchFamily="18" charset="0"/>
              </a:rPr>
              <a:t>看作数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的十进制表示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这样就避免了形如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0.0111…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</a:rPr>
              <a:t>0.1000….</a:t>
            </a:r>
            <a:r>
              <a:rPr lang="zh-CN" altLang="en-US" dirty="0">
                <a:latin typeface="Times New Roman" panose="02020603050405020304" pitchFamily="18" charset="0"/>
              </a:rPr>
              <a:t>在二进制表示中对应了同一个数的情况，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从而保证了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的单射性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根据定理有</a:t>
            </a:r>
            <a:r>
              <a:rPr lang="en-US" altLang="zh-CN" dirty="0">
                <a:latin typeface="Times New Roman" panose="02020603050405020304" pitchFamily="18" charset="0"/>
              </a:rPr>
              <a:t>{0,1}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≈[0,1). 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再使用等势的传递性得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{0,1}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构造另一个单射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9B9D5E-A8A9-476C-BC37-C3C011A0C123}" type="slidenum">
              <a:rPr lang="en-US" altLang="zh-CN" sz="1400" b="0" smtClean="0"/>
              <a:t>68</a:t>
            </a:fld>
            <a:endParaRPr lang="en-US" altLang="zh-CN" sz="1400" b="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自然数的集合定义</a:t>
            </a:r>
            <a:r>
              <a:rPr lang="zh-CN" altLang="en-US" dirty="0"/>
              <a:t> 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403225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8.10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∪{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后继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即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∪{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}.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如下定义自然数：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       </a:t>
            </a:r>
            <a:r>
              <a:rPr lang="en-US" altLang="zh-CN" dirty="0">
                <a:latin typeface="Times New Roman" panose="02020603050405020304" pitchFamily="18" charset="0"/>
              </a:rPr>
              <a:t>0=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1=0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}={0}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2=1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 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</a:rPr>
              <a:t>{{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}}={0,1}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3=2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</a:t>
            </a:r>
            <a:r>
              <a:rPr lang="en-US" altLang="zh-CN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Times New Roman" panose="02020603050405020304" pitchFamily="18" charset="0"/>
              </a:rPr>
              <a:t>= 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,{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dirty="0">
                <a:latin typeface="Times New Roman" panose="02020603050405020304" pitchFamily="18" charset="0"/>
              </a:rPr>
              <a:t>}}}= {0,1,2}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    …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i="1" dirty="0">
                <a:latin typeface="Times New Roman" panose="02020603050405020304" pitchFamily="18" charset="0"/>
              </a:rPr>
              <a:t>       n</a:t>
            </a:r>
            <a:r>
              <a:rPr lang="en-US" altLang="zh-CN" dirty="0">
                <a:latin typeface="Times New Roman" panose="02020603050405020304" pitchFamily="18" charset="0"/>
              </a:rPr>
              <a:t>={0, 1, …,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1}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…</a:t>
            </a: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468313" y="5199063"/>
            <a:ext cx="76327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dirty="0"/>
              <a:t>自然数的相等与大小，即对任何自然数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/>
              <a:t>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i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i="1" dirty="0">
                <a:latin typeface="Times New Roman" panose="02020603050405020304" pitchFamily="18" charset="0"/>
              </a:rPr>
              <a:t> 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   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m 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377642-82FF-4CC6-A182-20E04D80E9F9}" type="slidenum">
              <a:rPr lang="en-US" altLang="zh-CN" sz="1400" b="0" smtClean="0"/>
              <a:t>69</a:t>
            </a:fld>
            <a:endParaRPr lang="en-US" altLang="zh-CN" sz="1400" b="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有穷集和无穷集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一个集合是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有穷</a:t>
            </a:r>
            <a:r>
              <a:rPr lang="zh-CN" altLang="en-US" dirty="0">
                <a:latin typeface="Times New Roman" panose="02020603050405020304" pitchFamily="18" charset="0"/>
              </a:rPr>
              <a:t>的当且仅当它与某个自然数等势；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如果一个集合不是有穷的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就称作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无穷集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实例：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是有穷集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</a:t>
            </a:r>
            <a:r>
              <a:rPr lang="en-US" altLang="zh-CN" dirty="0">
                <a:latin typeface="Times New Roman" panose="02020603050405020304" pitchFamily="18" charset="0"/>
              </a:rPr>
              <a:t>3={0,1,2}, 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  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}≈{0,1,2}=3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 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都是无穷集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因为没有自然数与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等势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利用自然数的性质可以证明：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任何有穷集只与惟一的自然数等势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b="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5C725F-0CD3-4349-B2D1-3918627EFC72}" type="slidenum">
              <a:rPr lang="en-US" altLang="zh-CN" sz="1400" b="0" smtClean="0"/>
              <a:t>70</a:t>
            </a:fld>
            <a:endParaRPr lang="en-US" altLang="zh-CN" sz="1400" b="0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集合基数的定义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507288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8.12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对于有穷集合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称与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等势的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那个惟一的自然数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基数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记作</a:t>
            </a:r>
            <a:r>
              <a:rPr lang="en-US" altLang="zh-CN" dirty="0">
                <a:latin typeface="Times New Roman" panose="02020603050405020304" pitchFamily="18" charset="0"/>
              </a:rPr>
              <a:t>card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zh-CN" altLang="en-US" dirty="0">
                <a:latin typeface="Times New Roman" panose="02020603050405020304" pitchFamily="18" charset="0"/>
              </a:rPr>
              <a:t>也可以记作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|)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  card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en-US" altLang="zh-CN" dirty="0">
                <a:latin typeface="Times New Roman" panose="02020603050405020304" pitchFamily="18" charset="0"/>
              </a:rPr>
              <a:t>≈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自然数集合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的基数记作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                  </a:t>
            </a:r>
            <a:r>
              <a:rPr lang="en-US" altLang="zh-CN" dirty="0">
                <a:latin typeface="Times New Roman" panose="02020603050405020304" pitchFamily="18" charset="0"/>
              </a:rPr>
              <a:t>cardN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zh-CN" altLang="en-US" dirty="0">
                <a:latin typeface="Times New Roman" panose="02020603050405020304" pitchFamily="18" charset="0"/>
              </a:rPr>
              <a:t>实数集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的基数记作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即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    </a:t>
            </a:r>
            <a:r>
              <a:rPr lang="en-US" altLang="zh-CN" dirty="0">
                <a:latin typeface="Times New Roman" panose="02020603050405020304" pitchFamily="18" charset="0"/>
              </a:rPr>
              <a:t>cardR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br>
              <a:rPr lang="en-US" altLang="zh-CN" dirty="0">
                <a:latin typeface="Times New Roman" panose="02020603050405020304" pitchFamily="18" charset="0"/>
              </a:rPr>
            </a:b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783D67-EEC3-4EE1-B91A-D66B8AEB5BFC}" type="slidenum">
              <a:rPr lang="en-US" altLang="zh-CN" sz="1400" b="0" smtClean="0"/>
              <a:t>71</a:t>
            </a:fld>
            <a:endParaRPr lang="en-US" altLang="zh-CN" sz="1400" b="0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基数的相等和大小</a:t>
            </a: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80400" cy="18716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(1)  card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≈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≼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(3)  card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≤card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∧card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≠card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90117" name="Rectangle 4"/>
          <p:cNvSpPr>
            <a:spLocks noChangeArrowheads="1"/>
          </p:cNvSpPr>
          <p:nvPr/>
        </p:nvSpPr>
        <p:spPr bwMode="auto">
          <a:xfrm>
            <a:off x="387050" y="3399742"/>
            <a:ext cx="8675687" cy="25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根据上一节关于势的讨论不难得到：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</a:rPr>
              <a:t>card Z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card Q = card N×N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cardN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b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    card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(N) = card 2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= card [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] = card (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cardR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=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card </a:t>
            </a:r>
            <a:r>
              <a:rPr lang="en-US" altLang="zh-CN" i="1" dirty="0">
                <a:latin typeface="Times New Roman" panose="02020603050405020304" pitchFamily="18" charset="0"/>
              </a:rPr>
              <a:t>A&lt;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zh-CN" altLang="en-US" dirty="0">
                <a:solidFill>
                  <a:srgbClr val="008000"/>
                </a:solidFill>
                <a:latin typeface="Times New Roman" panose="02020603050405020304" pitchFamily="18" charset="0"/>
              </a:rPr>
              <a:t>        其中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</a:rPr>
              <a:t>= {0,1}</a:t>
            </a:r>
            <a:r>
              <a:rPr lang="en-US" altLang="zh-CN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C9F6C9-2B41-41CB-95BD-4460572F97A9}" type="slidenum">
              <a:rPr lang="en-US" altLang="zh-CN" sz="1400" b="0" smtClean="0"/>
              <a:t>72</a:t>
            </a:fld>
            <a:endParaRPr lang="en-US" altLang="zh-CN" sz="1400" b="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基数的大小</a:t>
            </a:r>
          </a:p>
        </p:txBody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不存在最大的基数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将已知的基数按从小到大的顺序排列就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得到：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</a:t>
            </a:r>
            <a:r>
              <a:rPr lang="en-US" altLang="zh-CN" dirty="0">
                <a:latin typeface="Times New Roman" panose="02020603050405020304" pitchFamily="18" charset="0"/>
              </a:rPr>
              <a:t>0, 1, 2, …,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dirty="0">
                <a:latin typeface="Times New Roman" panose="02020603050405020304" pitchFamily="18" charset="0"/>
              </a:rPr>
              <a:t>, …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其中：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</a:t>
            </a:r>
            <a:r>
              <a:rPr lang="en-US" altLang="zh-CN" dirty="0">
                <a:latin typeface="Times New Roman" panose="02020603050405020304" pitchFamily="18" charset="0"/>
              </a:rPr>
              <a:t>0, 1, 2…,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… </a:t>
            </a:r>
            <a:r>
              <a:rPr lang="zh-CN" altLang="en-US" dirty="0">
                <a:latin typeface="Times New Roman" panose="02020603050405020304" pitchFamily="18" charset="0"/>
              </a:rPr>
              <a:t>是全体自然数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是有穷基数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dirty="0">
                <a:latin typeface="Times New Roman" panose="02020603050405020304" pitchFamily="18" charset="0"/>
              </a:rPr>
              <a:t>, … </a:t>
            </a:r>
            <a:r>
              <a:rPr lang="zh-CN" altLang="en-US" dirty="0">
                <a:latin typeface="Times New Roman" panose="02020603050405020304" pitchFamily="18" charset="0"/>
              </a:rPr>
              <a:t>是无穷基数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是最小的无穷基数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zh-CN" altLang="en-US" dirty="0">
                <a:latin typeface="Times New Roman" panose="02020603050405020304" pitchFamily="18" charset="0"/>
              </a:rPr>
              <a:t>后面还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有更大的基数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如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(R)</a:t>
            </a:r>
            <a:r>
              <a:rPr lang="zh-CN" altLang="en-US" dirty="0">
                <a:latin typeface="Times New Roman" panose="02020603050405020304" pitchFamily="18" charset="0"/>
              </a:rPr>
              <a:t>等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8DB0AD-24DC-495E-A139-FF34882EA7BA}" type="slidenum">
              <a:rPr lang="en-US" altLang="zh-CN" sz="1400" b="0" smtClean="0"/>
              <a:t>73</a:t>
            </a:fld>
            <a:endParaRPr lang="en-US" altLang="zh-CN" sz="1400" b="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可数集</a:t>
            </a: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975" cy="27352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8.14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dirty="0">
                <a:latin typeface="Times New Roman" panose="02020603050405020304" pitchFamily="18" charset="0"/>
              </a:rPr>
              <a:t>card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可数集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可列集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75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实例：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}, 5, </a:t>
            </a:r>
            <a:r>
              <a:rPr lang="zh-CN" altLang="en-US" dirty="0">
                <a:latin typeface="Times New Roman" panose="02020603050405020304" pitchFamily="18" charset="0"/>
              </a:rPr>
              <a:t>整数集</a:t>
            </a:r>
            <a:r>
              <a:rPr lang="en-US" altLang="zh-CN" dirty="0">
                <a:latin typeface="Times New Roman" panose="02020603050405020304" pitchFamily="18" charset="0"/>
              </a:rPr>
              <a:t>Z, </a:t>
            </a:r>
            <a:r>
              <a:rPr lang="zh-CN" altLang="en-US" dirty="0">
                <a:latin typeface="Times New Roman" panose="02020603050405020304" pitchFamily="18" charset="0"/>
              </a:rPr>
              <a:t>有理数集</a:t>
            </a:r>
            <a:r>
              <a:rPr lang="en-US" altLang="zh-CN" dirty="0">
                <a:latin typeface="Times New Roman" panose="02020603050405020304" pitchFamily="18" charset="0"/>
              </a:rPr>
              <a:t>Q, N×N</a:t>
            </a:r>
            <a:r>
              <a:rPr lang="zh-CN" altLang="en-US" dirty="0">
                <a:latin typeface="Times New Roman" panose="02020603050405020304" pitchFamily="18" charset="0"/>
              </a:rPr>
              <a:t>等都是可数集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实数集 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不是可数集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等势的集合也不是可数集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对于任何的可数集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它的元素都可以排列成一个有序图形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换句话说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都可以找到一个“数遍”集合中全体元素的顺序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94213" name="Rectangle 4"/>
          <p:cNvSpPr>
            <a:spLocks noChangeArrowheads="1"/>
          </p:cNvSpPr>
          <p:nvPr/>
        </p:nvSpPr>
        <p:spPr bwMode="auto">
          <a:xfrm>
            <a:off x="468313" y="4005263"/>
            <a:ext cx="8675687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可数集的性质：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可数集的任何子集都是可数集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两个可数集的并是可数集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两个可数集的笛卡儿积是可数集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可数个可数集的笛卡儿积仍是可数集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Times New Roman" panose="02020603050405020304" pitchFamily="18" charset="0"/>
              </a:rPr>
              <a:t>无穷集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的幂集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不是可数集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58F9B-92D2-4CA8-8E6C-9977F7820560}" type="slidenum">
              <a:rPr lang="en-US" altLang="zh-CN" sz="1400" b="0" smtClean="0"/>
              <a:t>74</a:t>
            </a:fld>
            <a:endParaRPr lang="en-US" altLang="zh-CN" sz="1400" b="0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3357563"/>
            <a:ext cx="8229600" cy="15113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解  </a:t>
            </a:r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={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L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Times New Roman" panose="02020603050405020304" pitchFamily="18" charset="0"/>
              </a:rPr>
              <a:t>知 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=5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</a:rPr>
              <a:t>可知 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=0.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en-US" altLang="zh-CN">
                <a:latin typeface="Times New Roman" panose="02020603050405020304" pitchFamily="18" charset="0"/>
              </a:rPr>
              <a:t>|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|=4 </a:t>
            </a:r>
            <a:r>
              <a:rPr lang="zh-CN" altLang="en-US">
                <a:latin typeface="Times New Roman" panose="02020603050405020304" pitchFamily="18" charset="0"/>
              </a:rPr>
              <a:t>可知 </a:t>
            </a:r>
            <a:r>
              <a:rPr lang="en-US" altLang="zh-CN">
                <a:latin typeface="Times New Roman" panose="02020603050405020304" pitchFamily="18" charset="0"/>
              </a:rPr>
              <a:t>card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=card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)=|</a:t>
            </a:r>
            <a:r>
              <a:rPr lang="en-US" altLang="zh-CN" i="1">
                <a:latin typeface="Times New Roman" panose="02020603050405020304" pitchFamily="18" charset="0"/>
              </a:rPr>
              <a:t>P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)|=2</a:t>
            </a:r>
            <a:r>
              <a:rPr lang="en-US" altLang="zh-CN" baseline="30000"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=16.</a:t>
            </a:r>
            <a:endParaRPr lang="en-US" altLang="zh-CN"/>
          </a:p>
        </p:txBody>
      </p:sp>
      <p:sp>
        <p:nvSpPr>
          <p:cNvPr id="96261" name="Rectangle 4"/>
          <p:cNvSpPr>
            <a:spLocks noChangeArrowheads="1"/>
          </p:cNvSpPr>
          <p:nvPr/>
        </p:nvSpPr>
        <p:spPr bwMode="auto">
          <a:xfrm>
            <a:off x="468313" y="1268413"/>
            <a:ext cx="8229600" cy="194468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9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求下列集合的基数</a:t>
            </a:r>
          </a:p>
          <a:p>
            <a:pPr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是单词“</a:t>
            </a:r>
            <a:r>
              <a:rPr lang="en-US" altLang="zh-CN" i="1" dirty="0">
                <a:latin typeface="Times New Roman" panose="02020603050405020304" pitchFamily="18" charset="0"/>
              </a:rPr>
              <a:t>BASEBALL</a:t>
            </a:r>
            <a:r>
              <a:rPr lang="en-US" altLang="zh-CN" dirty="0">
                <a:latin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</a:rPr>
              <a:t>中的字母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|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∈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∧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latin typeface="Times New Roman" panose="02020603050405020304" pitchFamily="18" charset="0"/>
                <a:ea typeface="+mn-ea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=9∧2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=8}</a:t>
            </a:r>
          </a:p>
          <a:p>
            <a:pPr eaLnBrk="1" hangingPunct="1">
              <a:defRPr/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={1, 3, 7, 11}</a:t>
            </a:r>
            <a:br>
              <a:rPr lang="en-US" altLang="zh-CN" dirty="0">
                <a:latin typeface="Times New Roman" panose="02020603050405020304" pitchFamily="18" charset="0"/>
              </a:rPr>
            </a:br>
            <a:endParaRPr lang="en-US" altLang="zh-CN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397FA9-86A3-4139-94AD-5C08ED5D1BA1}" type="slidenum">
              <a:rPr lang="en-US" altLang="zh-CN" sz="1400" b="0" smtClean="0"/>
              <a:t>75</a:t>
            </a:fld>
            <a:endParaRPr lang="en-US" altLang="zh-CN" sz="1400" b="0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10080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为集合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且 </a:t>
            </a:r>
            <a:r>
              <a:rPr lang="en-US" altLang="zh-CN" dirty="0">
                <a:latin typeface="Times New Roman" panose="02020603050405020304" pitchFamily="18" charset="0"/>
              </a:rPr>
              <a:t>card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是自然数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≠0.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</a:t>
            </a:r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9830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468313" y="2276475"/>
            <a:ext cx="8280400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解 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方法一</a:t>
            </a:r>
            <a:r>
              <a:rPr lang="zh-CN" altLang="en-US" dirty="0">
                <a:latin typeface="Times New Roman" panose="02020603050405020304" pitchFamily="18" charset="0"/>
              </a:rPr>
              <a:t>   构造双射函数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</a:rPr>
              <a:t>card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</a:rPr>
              <a:t>card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可知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都是可数集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i="1" dirty="0">
                <a:latin typeface="Times New Roman" panose="02020603050405020304" pitchFamily="18" charset="0"/>
              </a:rPr>
              <a:t>        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,…},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,…,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 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对任意的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&gt;, 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&gt;∈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        </a:t>
            </a:r>
            <a:r>
              <a:rPr lang="en-US" altLang="zh-CN" dirty="0">
                <a:latin typeface="Times New Roman" panose="02020603050405020304" pitchFamily="18" charset="0"/>
              </a:rPr>
              <a:t>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&gt;=&lt;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&gt;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</a:rPr>
              <a:t>∧</a:t>
            </a:r>
            <a:r>
              <a:rPr lang="en-US" altLang="zh-CN" i="1" dirty="0" err="1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l 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定义函数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→N</a:t>
            </a:r>
            <a:b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  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(&lt;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&gt;)=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=0,1,…, 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=0,1,…,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易见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的双射函数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br>
              <a:rPr lang="zh-CN" altLang="en-US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Times New Roman" panose="02020603050405020304" pitchFamily="18" charset="0"/>
              </a:rPr>
              <a:t>  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=card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N =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方法一的实例说明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5D2C77-8702-4941-9AA0-50A2BE0C613C}" type="slidenum">
              <a:rPr lang="en-US" altLang="zh-CN" smtClean="0"/>
              <a:t>76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56" y="2262960"/>
            <a:ext cx="5256584" cy="457802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45" y="1128379"/>
            <a:ext cx="6216691" cy="100811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1E59C2-52F0-491E-B624-33A4A87F13FF}" type="slidenum">
              <a:rPr lang="en-US" altLang="zh-CN" sz="1400" b="0" smtClean="0"/>
              <a:t>77</a:t>
            </a:fld>
            <a:endParaRPr lang="en-US" altLang="zh-CN" sz="1400" b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方法二</a:t>
            </a:r>
            <a:r>
              <a:rPr lang="zh-CN" altLang="en-US" dirty="0">
                <a:latin typeface="Times New Roman" panose="02020603050405020304" pitchFamily="18" charset="0"/>
              </a:rPr>
              <a:t>   直接使用可数集的性质求解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因为 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, card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都是可数集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根据性质</a:t>
            </a:r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两个可数集的笛卡儿积是可数集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】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可知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也是可数集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所以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≤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显然当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≠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dirty="0"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                       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这就推出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综合上述得到 </a:t>
            </a: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 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card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×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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896800-8F40-4530-8284-1CFE9492EDE6}" type="slidenum">
              <a:rPr lang="en-US" altLang="zh-CN" sz="1400" b="0" smtClean="0"/>
              <a:t>78</a:t>
            </a:fld>
            <a:endParaRPr lang="en-US" altLang="zh-CN" sz="1400" b="0"/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04" y="314350"/>
            <a:ext cx="6337325" cy="360338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latin typeface="Times New Roman" panose="02020603050405020304" pitchFamily="18" charset="0"/>
              </a:rPr>
              <a:t>8.3 </a:t>
            </a:r>
            <a:r>
              <a:rPr lang="en-US" altLang="zh-CN" dirty="0"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</a:rPr>
              <a:t>双射函数与集合的基数（回顾）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集合的等势及其性质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重要的等势或不等势的结果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集合的优势及其性质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集合的基数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可数集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545400-BA5B-4FA4-A7CF-6A0CB388FEBA}" type="slidenum">
              <a:rPr lang="en-US" altLang="zh-CN" sz="1400" b="0" smtClean="0">
                <a:latin typeface="Arial" panose="020B0604020202020204" pitchFamily="34" charset="0"/>
              </a:rPr>
              <a:t>79</a:t>
            </a:fld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2457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进阶例题</a:t>
            </a:r>
          </a:p>
        </p:txBody>
      </p:sp>
      <p:sp>
        <p:nvSpPr>
          <p:cNvPr id="24580" name="文本框 3"/>
          <p:cNvSpPr txBox="1">
            <a:spLocks noChangeArrowheads="1"/>
          </p:cNvSpPr>
          <p:nvPr/>
        </p:nvSpPr>
        <p:spPr bwMode="auto">
          <a:xfrm>
            <a:off x="5580063" y="44450"/>
            <a:ext cx="11350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800">
                <a:solidFill>
                  <a:srgbClr val="FF0000"/>
                </a:solidFill>
                <a:sym typeface="Webdings" panose="05030102010509060703" pitchFamily="18" charset="2"/>
              </a:rPr>
              <a:t></a:t>
            </a:r>
            <a:endParaRPr lang="zh-CN" altLang="en-US" sz="48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12" y="1132002"/>
            <a:ext cx="8842176" cy="16489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35" y="2981049"/>
            <a:ext cx="6432376" cy="111867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0" y="3078423"/>
            <a:ext cx="433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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1FAF3B-D8A2-46E0-9982-DED4C8292CDF}" type="slidenum">
              <a:rPr lang="en-US" altLang="zh-CN" sz="1400" b="0" smtClean="0"/>
              <a:t>80</a:t>
            </a:fld>
            <a:endParaRPr lang="en-US" altLang="zh-CN" sz="1400" b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latin typeface="华文中宋" panose="02010600040101010101" pitchFamily="2" charset="-122"/>
              </a:rPr>
              <a:t>第八章 函数（回顾）</a:t>
            </a:r>
          </a:p>
        </p:txBody>
      </p:sp>
      <p:sp>
        <p:nvSpPr>
          <p:cNvPr id="4100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8.1 </a:t>
            </a:r>
            <a:r>
              <a:rPr lang="zh-CN" altLang="en-US" dirty="0"/>
              <a:t>函数的定义与性质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函数定义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函数性质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8.2 </a:t>
            </a:r>
            <a:r>
              <a:rPr lang="zh-CN" altLang="en-US" dirty="0"/>
              <a:t>函数运算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函数的逆</a:t>
            </a:r>
          </a:p>
          <a:p>
            <a:pPr marL="457200" indent="-4572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函数的复合</a:t>
            </a:r>
          </a:p>
          <a:p>
            <a:pPr marL="457200" indent="-457200" eaLnBrk="1" hangingPunct="1">
              <a:buClr>
                <a:srgbClr val="FF9900"/>
              </a:buClr>
            </a:pPr>
            <a:r>
              <a:rPr lang="en-US" altLang="zh-CN" dirty="0"/>
              <a:t>8.3 </a:t>
            </a:r>
            <a:r>
              <a:rPr lang="zh-CN" altLang="en-US" dirty="0"/>
              <a:t>双射函数与集合的基数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11431</Words>
  <Application>Microsoft Office PowerPoint</Application>
  <PresentationFormat>全屏显示(4:3)</PresentationFormat>
  <Paragraphs>1057</Paragraphs>
  <Slides>80</Slides>
  <Notes>79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3" baseType="lpstr">
      <vt:lpstr>BankGothic Md BT</vt:lpstr>
      <vt:lpstr>黑体</vt:lpstr>
      <vt:lpstr>华文中宋</vt:lpstr>
      <vt:lpstr>宋体</vt:lpstr>
      <vt:lpstr>微软雅黑</vt:lpstr>
      <vt:lpstr>Arial</vt:lpstr>
      <vt:lpstr>Cambria Math</vt:lpstr>
      <vt:lpstr>Symbol</vt:lpstr>
      <vt:lpstr>Times New Roman</vt:lpstr>
      <vt:lpstr>Webdings</vt:lpstr>
      <vt:lpstr>Wingdings</vt:lpstr>
      <vt:lpstr>默认设计模板</vt:lpstr>
      <vt:lpstr>公式</vt:lpstr>
      <vt:lpstr>第八章 函数</vt:lpstr>
      <vt:lpstr>第八章 函数</vt:lpstr>
      <vt:lpstr>8.1 函数的定义与性质</vt:lpstr>
      <vt:lpstr>函数定义</vt:lpstr>
      <vt:lpstr>函数相等</vt:lpstr>
      <vt:lpstr>从A到B的函数</vt:lpstr>
      <vt:lpstr>实例</vt:lpstr>
      <vt:lpstr>函数的像和完全原像</vt:lpstr>
      <vt:lpstr>函数的性质</vt:lpstr>
      <vt:lpstr>例题解答</vt:lpstr>
      <vt:lpstr>例题解答（续）</vt:lpstr>
      <vt:lpstr>回看思考</vt:lpstr>
      <vt:lpstr>实例</vt:lpstr>
      <vt:lpstr>解答</vt:lpstr>
      <vt:lpstr>PowerPoint 演示文稿</vt:lpstr>
      <vt:lpstr>PowerPoint 演示文稿</vt:lpstr>
      <vt:lpstr>PowerPoint 演示文稿</vt:lpstr>
      <vt:lpstr>补充：无穷</vt:lpstr>
      <vt:lpstr>某些重要函数</vt:lpstr>
      <vt:lpstr>实例</vt:lpstr>
      <vt:lpstr>某些重要函数</vt:lpstr>
      <vt:lpstr>实例回看</vt:lpstr>
      <vt:lpstr>进阶例题</vt:lpstr>
      <vt:lpstr>某些重要函数</vt:lpstr>
      <vt:lpstr>实例</vt:lpstr>
      <vt:lpstr>进阶例题</vt:lpstr>
      <vt:lpstr>进阶例题</vt:lpstr>
      <vt:lpstr>8.1 函数的定义与性质（回顾）</vt:lpstr>
      <vt:lpstr>进阶例题</vt:lpstr>
      <vt:lpstr>进阶例题</vt:lpstr>
      <vt:lpstr>进阶例题*</vt:lpstr>
      <vt:lpstr>进阶例题*-详解</vt:lpstr>
      <vt:lpstr>第八章 函数</vt:lpstr>
      <vt:lpstr>8.2 函数的复合与反函数 </vt:lpstr>
      <vt:lpstr>复合函数基本定理</vt:lpstr>
      <vt:lpstr>证明（续）</vt:lpstr>
      <vt:lpstr>推论</vt:lpstr>
      <vt:lpstr>函数复合与函数性质</vt:lpstr>
      <vt:lpstr>证明：定理8.2</vt:lpstr>
      <vt:lpstr>证明：定理8.2（续）</vt:lpstr>
      <vt:lpstr>定理8.2的逆命题不为真   实例</vt:lpstr>
      <vt:lpstr>反函数</vt:lpstr>
      <vt:lpstr>证明 定理8.4 </vt:lpstr>
      <vt:lpstr>反函数的性质</vt:lpstr>
      <vt:lpstr>PowerPoint 演示文稿</vt:lpstr>
      <vt:lpstr>8.2 函数的复合与反函数（回顾） </vt:lpstr>
      <vt:lpstr>第八章 函数</vt:lpstr>
      <vt:lpstr>8.3  双射函数与集合的基数</vt:lpstr>
      <vt:lpstr>集合的等势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实例</vt:lpstr>
      <vt:lpstr>等势的性质</vt:lpstr>
      <vt:lpstr>有关势的重要结果</vt:lpstr>
      <vt:lpstr>Cantor定理的证明</vt:lpstr>
      <vt:lpstr>Cantor定理的证明</vt:lpstr>
      <vt:lpstr>集合的优势</vt:lpstr>
      <vt:lpstr>应用：证明等势</vt:lpstr>
      <vt:lpstr>应用：证明等势</vt:lpstr>
      <vt:lpstr>应用：证明等势</vt:lpstr>
      <vt:lpstr>构造另一个单射</vt:lpstr>
      <vt:lpstr>自然数的集合定义 </vt:lpstr>
      <vt:lpstr>有穷集和无穷集</vt:lpstr>
      <vt:lpstr>集合基数的定义</vt:lpstr>
      <vt:lpstr>基数的相等和大小</vt:lpstr>
      <vt:lpstr>基数的大小</vt:lpstr>
      <vt:lpstr>可数集</vt:lpstr>
      <vt:lpstr>实例</vt:lpstr>
      <vt:lpstr>实例</vt:lpstr>
      <vt:lpstr>方法一的实例说明</vt:lpstr>
      <vt:lpstr>实例</vt:lpstr>
      <vt:lpstr>8.3  双射函数与集合的基数（回顾）</vt:lpstr>
      <vt:lpstr>进阶例题</vt:lpstr>
      <vt:lpstr>第八章 函数（回顾）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534</cp:revision>
  <dcterms:created xsi:type="dcterms:W3CDTF">2007-11-19T20:33:00Z</dcterms:created>
  <dcterms:modified xsi:type="dcterms:W3CDTF">2025-11-05T11:39:43Z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051B88F35C5649D58995E6A1AED68CC5_12</vt:lpwstr>
  </property>
  <property fmtid="{D5CDD505-2E9C-101B-9397-08002B2CF9AE}" pid="3" name="KSOProductBuildVer">
    <vt:lpwstr>2052-12.1.0.23542</vt:lpwstr>
  </property>
</Properties>
</file>