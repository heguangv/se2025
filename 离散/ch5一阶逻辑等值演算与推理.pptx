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5"/>
  </p:notesMasterIdLst>
  <p:handoutMasterIdLst>
    <p:handoutMasterId r:id="rId56"/>
  </p:handoutMasterIdLst>
  <p:sldIdLst>
    <p:sldId id="302" r:id="rId2"/>
    <p:sldId id="437" r:id="rId3"/>
    <p:sldId id="300" r:id="rId4"/>
    <p:sldId id="258" r:id="rId5"/>
    <p:sldId id="301" r:id="rId6"/>
    <p:sldId id="365" r:id="rId7"/>
    <p:sldId id="259" r:id="rId8"/>
    <p:sldId id="450" r:id="rId9"/>
    <p:sldId id="260" r:id="rId10"/>
    <p:sldId id="425" r:id="rId11"/>
    <p:sldId id="407" r:id="rId12"/>
    <p:sldId id="426" r:id="rId13"/>
    <p:sldId id="263" r:id="rId14"/>
    <p:sldId id="337" r:id="rId15"/>
    <p:sldId id="338" r:id="rId16"/>
    <p:sldId id="264" r:id="rId17"/>
    <p:sldId id="273" r:id="rId18"/>
    <p:sldId id="274" r:id="rId19"/>
    <p:sldId id="275" r:id="rId20"/>
    <p:sldId id="276" r:id="rId21"/>
    <p:sldId id="451" r:id="rId22"/>
    <p:sldId id="277" r:id="rId23"/>
    <p:sldId id="452" r:id="rId24"/>
    <p:sldId id="438" r:id="rId25"/>
    <p:sldId id="265" r:id="rId26"/>
    <p:sldId id="266" r:id="rId27"/>
    <p:sldId id="267" r:id="rId28"/>
    <p:sldId id="270" r:id="rId29"/>
    <p:sldId id="345" r:id="rId30"/>
    <p:sldId id="342" r:id="rId31"/>
    <p:sldId id="379" r:id="rId32"/>
    <p:sldId id="429" r:id="rId33"/>
    <p:sldId id="434" r:id="rId34"/>
    <p:sldId id="439" r:id="rId35"/>
    <p:sldId id="278" r:id="rId36"/>
    <p:sldId id="279" r:id="rId37"/>
    <p:sldId id="453" r:id="rId38"/>
    <p:sldId id="410" r:id="rId39"/>
    <p:sldId id="408" r:id="rId40"/>
    <p:sldId id="447" r:id="rId41"/>
    <p:sldId id="414" r:id="rId42"/>
    <p:sldId id="383" r:id="rId43"/>
    <p:sldId id="384" r:id="rId44"/>
    <p:sldId id="281" r:id="rId45"/>
    <p:sldId id="289" r:id="rId46"/>
    <p:sldId id="294" r:id="rId47"/>
    <p:sldId id="290" r:id="rId48"/>
    <p:sldId id="291" r:id="rId49"/>
    <p:sldId id="282" r:id="rId50"/>
    <p:sldId id="448" r:id="rId51"/>
    <p:sldId id="392" r:id="rId52"/>
    <p:sldId id="445" r:id="rId53"/>
    <p:sldId id="449" r:id="rId54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9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7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A50021"/>
    <a:srgbClr val="69B3F1"/>
    <a:srgbClr val="FF9900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065" autoAdjust="0"/>
    <p:restoredTop sz="88336" autoAdjust="0"/>
  </p:normalViewPr>
  <p:slideViewPr>
    <p:cSldViewPr showGuides="1">
      <p:cViewPr varScale="1">
        <p:scale>
          <a:sx n="61" d="100"/>
          <a:sy n="61" d="100"/>
        </p:scale>
        <p:origin x="728" y="36"/>
      </p:cViewPr>
      <p:guideLst>
        <p:guide orient="horz" pos="2160"/>
        <p:guide pos="28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1278" y="-84"/>
      </p:cViewPr>
      <p:guideLst>
        <p:guide orient="horz" pos="2880"/>
        <p:guide pos="217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AA931A4A-AB9F-4B13-A833-AE0A6C4FDEA2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8FB52991-04F9-41FC-8393-A1361995FD80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sdn.net/olaf008/article/details/115773445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66CC80E-37EB-4EB0-A26C-A02E911D1540}" type="slidenum">
              <a:rPr lang="en-US" altLang="zh-CN" sz="1200"/>
              <a:t>1</a:t>
            </a:fld>
            <a:endParaRPr lang="en-US" altLang="zh-CN" sz="12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1C652D1-8B57-4140-9D0B-0ABF10C0D3C0}" type="slidenum">
              <a:rPr lang="en-US" altLang="zh-CN" sz="1200"/>
              <a:t>2</a:t>
            </a:fld>
            <a:endParaRPr lang="en-US" altLang="zh-CN" sz="1200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6F2D1C5-156E-4BED-996A-023D1D3ACBEC}" type="slidenum">
              <a:rPr lang="en-US" altLang="zh-CN" sz="1200"/>
              <a:t>3</a:t>
            </a:fld>
            <a:endParaRPr lang="en-US" altLang="zh-CN" sz="1200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1.</a:t>
            </a:r>
            <a:r>
              <a:rPr lang="zh-CN" altLang="en-US" dirty="0"/>
              <a:t>重言式 </a:t>
            </a:r>
            <a:r>
              <a:rPr lang="en-US" altLang="zh-CN" i="1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(</a:t>
            </a:r>
            <a:r>
              <a:rPr lang="en-US" altLang="zh-CN" i="1" dirty="0" err="1"/>
              <a:t>q</a:t>
            </a:r>
            <a:r>
              <a:rPr lang="en-US" altLang="zh-CN" dirty="0" err="1">
                <a:sym typeface="Symbol" panose="05050102010706020507" pitchFamily="18" charset="2"/>
              </a:rPr>
              <a:t></a:t>
            </a:r>
            <a:r>
              <a:rPr lang="en-US" altLang="zh-CN" i="1" dirty="0" err="1"/>
              <a:t>p</a:t>
            </a:r>
            <a:r>
              <a:rPr lang="en-US" altLang="zh-CN" dirty="0"/>
              <a:t>) </a:t>
            </a:r>
            <a:r>
              <a:rPr lang="zh-CN" altLang="en-US" dirty="0"/>
              <a:t>的代换实例，故为永真式</a:t>
            </a:r>
            <a:r>
              <a:rPr lang="en-US" altLang="zh-CN" dirty="0"/>
              <a:t>.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2.</a:t>
            </a:r>
            <a:r>
              <a:rPr lang="zh-CN" altLang="en-US" dirty="0"/>
              <a:t>重言式 </a:t>
            </a:r>
            <a:r>
              <a:rPr lang="en-US" altLang="zh-CN" i="1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(</a:t>
            </a:r>
            <a:r>
              <a:rPr lang="en-US" altLang="zh-CN" i="1" dirty="0" err="1"/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 err="1"/>
              <a:t>q</a:t>
            </a:r>
            <a:r>
              <a:rPr lang="en-US" altLang="zh-CN" dirty="0"/>
              <a:t>) </a:t>
            </a:r>
            <a:r>
              <a:rPr lang="zh-CN" altLang="en-US" dirty="0"/>
              <a:t>的代换实例，故为永真式</a:t>
            </a:r>
            <a:r>
              <a:rPr lang="en-US" altLang="zh-CN" dirty="0"/>
              <a:t>. </a:t>
            </a:r>
          </a:p>
          <a:p>
            <a:pPr eaLnBrk="1" hangingPunct="1"/>
            <a:r>
              <a:rPr lang="en-US" altLang="zh-CN" dirty="0"/>
              <a:t>3.</a:t>
            </a:r>
            <a:r>
              <a:rPr lang="zh-CN" altLang="en-US" dirty="0"/>
              <a:t>矛盾式 </a:t>
            </a:r>
            <a:r>
              <a:rPr lang="zh-CN" altLang="en-US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(</a:t>
            </a:r>
            <a:r>
              <a:rPr lang="en-US" altLang="zh-CN" i="1" dirty="0" err="1"/>
              <a:t>p</a:t>
            </a:r>
            <a:r>
              <a:rPr lang="en-US" altLang="zh-CN" dirty="0" err="1">
                <a:sym typeface="Symbol" panose="05050102010706020507" pitchFamily="18" charset="2"/>
              </a:rPr>
              <a:t></a:t>
            </a:r>
            <a:r>
              <a:rPr lang="en-US" altLang="zh-CN" i="1" dirty="0" err="1"/>
              <a:t>q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</a:t>
            </a:r>
            <a:r>
              <a:rPr lang="en-US" altLang="zh-CN" i="1" dirty="0"/>
              <a:t>q </a:t>
            </a:r>
            <a:r>
              <a:rPr lang="zh-CN" altLang="en-US" dirty="0"/>
              <a:t>的代换实例，故为矛盾式</a:t>
            </a:r>
            <a:r>
              <a:rPr lang="en-US" altLang="zh-CN" dirty="0"/>
              <a:t>.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5A2DEF2-BDB6-4CF0-840C-AEE333BAD643}" type="slidenum">
              <a:rPr lang="en-US" altLang="zh-CN" sz="1200"/>
              <a:t>4</a:t>
            </a:fld>
            <a:endParaRPr lang="en-US" altLang="zh-CN" sz="1200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C0EBEDC-C8A8-47AD-8C9B-FA5486A28457}" type="slidenum">
              <a:rPr lang="en-US" altLang="zh-CN" sz="1200"/>
              <a:t>5</a:t>
            </a:fld>
            <a:endParaRPr lang="en-US" altLang="zh-CN" sz="1200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kumimoji="1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“</a:t>
            </a:r>
            <a:r>
              <a:rPr kumimoji="1"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不是所有人都来上课</a:t>
            </a:r>
            <a:r>
              <a:rPr kumimoji="1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” </a:t>
            </a:r>
            <a:r>
              <a:rPr kumimoji="1"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【强调</a:t>
            </a:r>
            <a:r>
              <a:rPr kumimoji="1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“</a:t>
            </a:r>
            <a:r>
              <a:rPr kumimoji="1"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至少有一个人没来上课</a:t>
            </a:r>
            <a:r>
              <a:rPr kumimoji="1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“</a:t>
            </a:r>
            <a:r>
              <a:rPr kumimoji="1"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，可能都没来】</a:t>
            </a:r>
          </a:p>
          <a:p>
            <a:pPr eaLnBrk="1" hangingPunct="1"/>
            <a:r>
              <a:rPr lang="en-US" altLang="zh-CN"/>
              <a:t>“</a:t>
            </a:r>
            <a:r>
              <a:rPr lang="zh-CN" altLang="en-US"/>
              <a:t>有人</a:t>
            </a:r>
            <a:r>
              <a:rPr kumimoji="1"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来上课</a:t>
            </a:r>
            <a:r>
              <a:rPr kumimoji="1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”</a:t>
            </a:r>
            <a:r>
              <a:rPr kumimoji="1"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【</a:t>
            </a:r>
            <a:r>
              <a:rPr lang="zh-CN" altLang="en-US"/>
              <a:t>强调</a:t>
            </a:r>
            <a:r>
              <a:rPr lang="en-US" altLang="zh-CN"/>
              <a:t>“</a:t>
            </a:r>
            <a:r>
              <a:rPr lang="zh-CN" altLang="en-US"/>
              <a:t>至少有一个人来上课了</a:t>
            </a:r>
            <a:r>
              <a:rPr lang="en-US" altLang="zh-CN"/>
              <a:t>”</a:t>
            </a:r>
            <a:r>
              <a:rPr lang="zh-CN" altLang="en-US"/>
              <a:t>】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FB52991-04F9-41FC-8393-A1361995FD80}" type="slidenum">
              <a:rPr lang="en-US" altLang="zh-CN" smtClean="0"/>
              <a:t>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335F96F-F45F-4641-A8A9-92BF1D604BF1}" type="slidenum">
              <a:rPr lang="en-US" altLang="zh-CN" sz="1200"/>
              <a:t>7</a:t>
            </a:fld>
            <a:endParaRPr lang="en-US" altLang="zh-CN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对于</a:t>
            </a:r>
            <a:r>
              <a:rPr lang="en-US" altLang="zh-CN" dirty="0"/>
              <a:t>3</a:t>
            </a:r>
            <a:r>
              <a:rPr lang="zh-CN" altLang="en-US" dirty="0"/>
              <a:t>和</a:t>
            </a:r>
            <a:r>
              <a:rPr lang="en-US" altLang="zh-CN" dirty="0"/>
              <a:t>4</a:t>
            </a:r>
            <a:r>
              <a:rPr lang="zh-CN" altLang="en-US" dirty="0"/>
              <a:t>，扩张时，前变后不变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335F96F-F45F-4641-A8A9-92BF1D604BF1}" type="slidenum">
              <a:rPr lang="en-US" altLang="zh-CN" sz="1200"/>
              <a:t>8</a:t>
            </a:fld>
            <a:endParaRPr lang="en-US" altLang="zh-CN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hlinkClick r:id="rId3"/>
              </a:rPr>
              <a:t>具体实例可以参考：</a:t>
            </a:r>
            <a:r>
              <a:rPr lang="en-US" altLang="zh-CN" dirty="0">
                <a:hlinkClick r:id="rId3"/>
              </a:rPr>
              <a:t>https://blog.csdn.net/olaf008/article/details/115773445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99D2F84-670D-4440-8D86-046EF1E0C586}" type="slidenum">
              <a:rPr lang="en-US" altLang="zh-CN" sz="1200"/>
              <a:t>9</a:t>
            </a:fld>
            <a:endParaRPr lang="en-US" altLang="zh-CN" sz="120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FB52991-04F9-41FC-8393-A1361995FD80}" type="slidenum">
              <a:rPr lang="en-US" altLang="zh-CN" smtClean="0"/>
              <a:t>12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5CA590D-9BF3-4996-8B0B-6744A4164657}" type="slidenum">
              <a:rPr lang="en-US" altLang="zh-CN" sz="1200"/>
              <a:t>13</a:t>
            </a:fld>
            <a:endParaRPr lang="en-US" altLang="zh-CN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7B67018-364E-4DFE-A515-86FAD323CC5C}" type="slidenum">
              <a:rPr lang="en-US" altLang="zh-CN" sz="1200"/>
              <a:t>16</a:t>
            </a:fld>
            <a:endParaRPr lang="en-US" altLang="zh-CN" sz="120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8322601-B987-4BBC-91BB-2A65EC34509A}" type="slidenum">
              <a:rPr lang="en-US" altLang="zh-CN" sz="1200"/>
              <a:t>17</a:t>
            </a:fld>
            <a:endParaRPr lang="en-US" altLang="zh-CN" sz="120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EF8BEE7-E013-4EB9-B31B-727F0BBE209D}" type="slidenum">
              <a:rPr lang="en-US" altLang="zh-CN" sz="1200"/>
              <a:t>18</a:t>
            </a:fld>
            <a:endParaRPr lang="en-US" altLang="zh-CN" sz="120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B3F385A-F29F-4933-A5A4-EB3C523FD3FD}" type="slidenum">
              <a:rPr lang="en-US" altLang="zh-CN" sz="1200"/>
              <a:t>19</a:t>
            </a:fld>
            <a:endParaRPr lang="en-US" altLang="zh-CN" sz="120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先消去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7591088-F227-477A-BF52-545EE2FC8174}" type="slidenum">
              <a:rPr lang="en-US" altLang="zh-CN" sz="1200"/>
              <a:t>20</a:t>
            </a:fld>
            <a:endParaRPr lang="en-US" altLang="zh-CN" sz="120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先缩小辖域一层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7591088-F227-477A-BF52-545EE2FC8174}" type="slidenum">
              <a:rPr lang="en-US" altLang="zh-CN" sz="1200"/>
              <a:t>21</a:t>
            </a:fld>
            <a:endParaRPr lang="en-US" altLang="zh-CN" sz="120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缩小辖域两层</a:t>
            </a:r>
            <a:endParaRPr lang="zh-CN" altLang="zh-CN" dirty="0"/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36C7954-C05C-461D-B874-984863821EA1}" type="slidenum">
              <a:rPr lang="en-US" altLang="zh-CN" sz="1200"/>
              <a:t>22</a:t>
            </a:fld>
            <a:endParaRPr lang="en-US" altLang="zh-CN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先消去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36C7954-C05C-461D-B874-984863821EA1}" type="slidenum">
              <a:rPr lang="en-US" altLang="zh-CN" sz="1200"/>
              <a:t>23</a:t>
            </a:fld>
            <a:endParaRPr lang="en-US" altLang="zh-CN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先消去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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8340EB3-49FF-4869-8806-F73BB63D4462}" type="slidenum">
              <a:rPr lang="en-US" altLang="zh-CN" sz="1200"/>
              <a:t>24</a:t>
            </a:fld>
            <a:endParaRPr lang="en-US" altLang="zh-CN" sz="120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7246C05-FA8A-4D26-8709-0208D2EE5C9C}" type="slidenum">
              <a:rPr lang="en-US" altLang="zh-CN" sz="1200"/>
              <a:t>25</a:t>
            </a:fld>
            <a:endParaRPr lang="en-US" altLang="zh-CN" sz="120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特别注意：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zh-CN" altLang="en-US" dirty="0"/>
              <a:t>不能出现在量词前面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388FD82-DD9F-469B-AFCE-7789C5E83360}" type="slidenum">
              <a:rPr lang="en-US" altLang="zh-CN" sz="1200"/>
              <a:t>26</a:t>
            </a:fld>
            <a:endParaRPr lang="en-US" altLang="zh-CN" sz="120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285D30B-FAD8-4BE4-8A84-09E7FBD09F90}" type="slidenum">
              <a:rPr lang="en-US" altLang="zh-CN" sz="1200"/>
              <a:t>27</a:t>
            </a:fld>
            <a:endParaRPr lang="en-US" altLang="zh-CN" sz="120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44D87E2-4FAC-4B33-803A-56BF38DD811D}" type="slidenum">
              <a:rPr lang="en-US" altLang="zh-CN" sz="1200"/>
              <a:t>28</a:t>
            </a:fld>
            <a:endParaRPr lang="en-US" altLang="zh-CN" sz="12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03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0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5978124-9198-49EA-8AA9-2D5A2F2D0DAF}" type="slidenum">
              <a:rPr lang="en-US" altLang="zh-CN" sz="1200"/>
              <a:t>29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前变后不变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FB52991-04F9-41FC-8393-A1361995FD80}" type="slidenum">
              <a:rPr lang="en-US" altLang="zh-CN" smtClean="0"/>
              <a:t>30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990AB87-6F02-4168-ACA1-5C923DF36D6B}" type="slidenum">
              <a:rPr lang="zh-CN" altLang="en-US" sz="1200"/>
              <a:t>31</a:t>
            </a:fld>
            <a:endParaRPr lang="en-US" altLang="zh-CN" sz="120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kumimoji="1" lang="zh-CN" altLang="en-US" dirty="0">
                <a:sym typeface="Symbol" panose="05050102010706020507" pitchFamily="18" charset="2"/>
              </a:rPr>
              <a:t>换名的时机是：</a:t>
            </a:r>
          </a:p>
          <a:p>
            <a:pPr eaLnBrk="1" hangingPunct="1"/>
            <a:r>
              <a:rPr kumimoji="1" lang="zh-CN" altLang="en-US" dirty="0">
                <a:sym typeface="Symbol" panose="05050102010706020507" pitchFamily="18" charset="2"/>
              </a:rPr>
              <a:t>首先保证一个变元不能既约束出现有自由出现，</a:t>
            </a:r>
          </a:p>
          <a:p>
            <a:pPr eaLnBrk="1" hangingPunct="1"/>
            <a:r>
              <a:rPr kumimoji="1" lang="zh-CN" altLang="en-US" dirty="0">
                <a:sym typeface="Symbol" panose="05050102010706020507" pitchFamily="18" charset="2"/>
              </a:rPr>
              <a:t>对于不同的约束出现的变元到必须换名时再换。</a:t>
            </a:r>
            <a:endParaRPr kumimoji="1" lang="en-US" altLang="zh-CN" dirty="0">
              <a:sym typeface="Symbol" panose="05050102010706020507" pitchFamily="18" charset="2"/>
            </a:endParaRPr>
          </a:p>
          <a:p>
            <a:pPr eaLnBrk="1" hangingPunct="1"/>
            <a:endParaRPr kumimoji="1" lang="zh-CN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37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583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53591D5-93B5-428C-80B9-F8C14BE263BD}" type="slidenum">
              <a:rPr lang="zh-CN" altLang="en-US" sz="1200"/>
              <a:t>33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1418881-B5D4-45F8-A963-BEA34B244162}" type="slidenum">
              <a:rPr lang="en-US" altLang="zh-CN" sz="1200"/>
              <a:t>34</a:t>
            </a:fld>
            <a:endParaRPr lang="en-US" altLang="zh-CN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C60D691-6E5E-4542-8E1C-789A16A4446B}" type="slidenum">
              <a:rPr lang="en-US" altLang="zh-CN" sz="1200"/>
              <a:t>35</a:t>
            </a:fld>
            <a:endParaRPr lang="en-US" altLang="zh-CN" sz="120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BBB7EB1-9857-4D47-BCF1-75D9EEA489F6}" type="slidenum">
              <a:rPr lang="en-US" altLang="zh-CN" sz="1200"/>
              <a:t>36</a:t>
            </a:fld>
            <a:endParaRPr lang="en-US" altLang="zh-CN" sz="1200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9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2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67F7267-9E5F-4ECB-95D8-D3C89FF37A0F}" type="slidenum">
              <a:rPr lang="en-US" altLang="zh-CN" sz="1200"/>
              <a:t>39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39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0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35A8F39-D91E-4227-96D2-A4BD470293DE}" type="slidenum">
              <a:rPr lang="en-US" altLang="zh-CN" sz="1200"/>
              <a:t>40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F7ED864-D626-4B90-BD3C-AE2320CCF5CC}" type="slidenum">
              <a:rPr lang="en-US" altLang="zh-CN" sz="1200"/>
              <a:t>44</a:t>
            </a:fld>
            <a:endParaRPr lang="en-US" altLang="zh-CN" sz="120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D2900F3-1139-4ACA-A532-22476C4A51E9}" type="slidenum">
              <a:rPr lang="en-US" altLang="zh-CN" sz="1200"/>
              <a:t>45</a:t>
            </a:fld>
            <a:endParaRPr lang="en-US" altLang="zh-CN" sz="120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BA498AD-CDF5-431C-B9A4-82E22253E5B8}" type="slidenum">
              <a:rPr lang="en-US" altLang="zh-CN" sz="1200"/>
              <a:t>46</a:t>
            </a:fld>
            <a:endParaRPr lang="en-US" altLang="zh-CN" sz="120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BBE71C9-3B20-4925-9563-F08F0A5F0E0B}" type="slidenum">
              <a:rPr lang="en-US" altLang="zh-CN" sz="1200"/>
              <a:t>47</a:t>
            </a:fld>
            <a:endParaRPr lang="en-US" altLang="zh-CN" sz="120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EA237F4-A225-48DA-82C1-2FEA85FD3711}" type="slidenum">
              <a:rPr lang="en-US" altLang="zh-CN" sz="1200"/>
              <a:t>48</a:t>
            </a:fld>
            <a:endParaRPr lang="en-US" altLang="zh-CN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B53C43-4AB2-489E-BF20-7FC7EBF3BA9F}" type="slidenum">
              <a:rPr lang="en-US" altLang="zh-CN" sz="1200"/>
              <a:t>49</a:t>
            </a:fld>
            <a:endParaRPr lang="en-US" altLang="zh-CN" sz="120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先用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ES</a:t>
            </a: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10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471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0B3C37A-52C3-49B5-A691-D42AC6B7B5CC}" type="slidenum">
              <a:rPr lang="en-US" altLang="zh-CN" sz="1200"/>
              <a:t>50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不能用同一个</a:t>
            </a:r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19BC75-E9F2-4D60-8BEF-700BAA1EA485}" type="slidenum">
              <a:rPr lang="en-US" altLang="zh-CN" smtClean="0"/>
              <a:t>51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19BC75-E9F2-4D60-8BEF-700BAA1EA485}" type="slidenum">
              <a:rPr lang="en-US" altLang="zh-CN" smtClean="0"/>
              <a:t>52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58CE220-6E3C-4A87-B219-765699C1C6BE}" type="slidenum">
              <a:rPr lang="en-US" altLang="zh-CN" sz="1200"/>
              <a:t>53</a:t>
            </a:fld>
            <a:endParaRPr lang="en-US" altLang="zh-CN" sz="120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A3BA64-E113-4835-AACB-42456CE368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6BA4B1-D393-49A2-986D-C413CF122F5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D43D16-73A2-42D3-8A23-D638B2C50A5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34C556-22AB-4EEE-8BA4-713AF6CD3D2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171FB7-1823-4B77-9DA4-2758700F948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CEC46-3A8F-4732-A22F-EC90CC98067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3BBE2F-8C0F-41EF-9E3B-14AC642C7BD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AF3ACD-40B7-4667-A612-536E17734B4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C2E429-56D6-4451-B5EB-81D70CCBF2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127E09-DBF4-4CF9-87C7-971D492C0D1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58658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60350"/>
            <a:ext cx="6019800" cy="5865813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44C771-AB57-4B6E-91FF-0A29A6D967E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79613" y="260350"/>
            <a:ext cx="6121400" cy="4175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7929E8-B733-4A2E-9842-0FFD9D1F8D4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79613" y="260350"/>
            <a:ext cx="6121400" cy="4175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37BAC6-ED55-45D5-9C84-916D605F17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11138"/>
            <a:ext cx="7391400" cy="68421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050925" y="1447800"/>
            <a:ext cx="3436938" cy="46942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0263" y="1447800"/>
            <a:ext cx="3436937" cy="46942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95A4240-72EA-4B7A-A0DF-CFFF2E2EE1D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zh-CN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CC57143A-9493-4A24-834F-EE54D2ED56BD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slow">
    <p:fade/>
  </p:transition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69B3F1"/>
        </a:buClr>
        <a:buFont typeface="Wingdings" panose="05000000000000000000" pitchFamily="2" charset="2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7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6.emf"/><Relationship Id="rId4" Type="http://schemas.openxmlformats.org/officeDocument/2006/relationships/image" Target="../media/image3.emf"/><Relationship Id="rId9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7.emf"/><Relationship Id="rId3" Type="http://schemas.openxmlformats.org/officeDocument/2006/relationships/image" Target="../media/image9.emf"/><Relationship Id="rId7" Type="http://schemas.openxmlformats.org/officeDocument/2006/relationships/image" Target="../media/image11.emf"/><Relationship Id="rId12" Type="http://schemas.openxmlformats.org/officeDocument/2006/relationships/oleObject" Target="../embeddings/oleObject5.bin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6.emf"/><Relationship Id="rId5" Type="http://schemas.openxmlformats.org/officeDocument/2006/relationships/image" Target="../media/image10.e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12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3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image" Target="../media/image16.emf"/><Relationship Id="rId7" Type="http://schemas.openxmlformats.org/officeDocument/2006/relationships/image" Target="../media/image18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5.bin"/><Relationship Id="rId9" Type="http://schemas.openxmlformats.org/officeDocument/2006/relationships/image" Target="../media/image19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19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e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2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e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4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13" Type="http://schemas.openxmlformats.org/officeDocument/2006/relationships/oleObject" Target="../embeddings/oleObject29.bin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30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emf"/><Relationship Id="rId11" Type="http://schemas.openxmlformats.org/officeDocument/2006/relationships/oleObject" Target="../embeddings/oleObject28.bin"/><Relationship Id="rId5" Type="http://schemas.openxmlformats.org/officeDocument/2006/relationships/oleObject" Target="../embeddings/oleObject25.bin"/><Relationship Id="rId10" Type="http://schemas.openxmlformats.org/officeDocument/2006/relationships/image" Target="../media/image29.emf"/><Relationship Id="rId4" Type="http://schemas.openxmlformats.org/officeDocument/2006/relationships/image" Target="../media/image26.emf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31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36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emf"/><Relationship Id="rId11" Type="http://schemas.openxmlformats.org/officeDocument/2006/relationships/oleObject" Target="../embeddings/oleObject34.bin"/><Relationship Id="rId5" Type="http://schemas.openxmlformats.org/officeDocument/2006/relationships/oleObject" Target="../embeddings/oleObject31.bin"/><Relationship Id="rId10" Type="http://schemas.openxmlformats.org/officeDocument/2006/relationships/image" Target="../media/image35.emf"/><Relationship Id="rId4" Type="http://schemas.openxmlformats.org/officeDocument/2006/relationships/image" Target="../media/image32.emf"/><Relationship Id="rId9" Type="http://schemas.openxmlformats.org/officeDocument/2006/relationships/oleObject" Target="../embeddings/oleObject33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13" Type="http://schemas.openxmlformats.org/officeDocument/2006/relationships/oleObject" Target="../embeddings/oleObject38.bin"/><Relationship Id="rId18" Type="http://schemas.openxmlformats.org/officeDocument/2006/relationships/image" Target="../media/image42.w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25.emf"/><Relationship Id="rId17" Type="http://schemas.openxmlformats.org/officeDocument/2006/relationships/oleObject" Target="../embeddings/oleObject40.bin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4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e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36.bin"/><Relationship Id="rId15" Type="http://schemas.openxmlformats.org/officeDocument/2006/relationships/oleObject" Target="../embeddings/oleObject39.bin"/><Relationship Id="rId10" Type="http://schemas.openxmlformats.org/officeDocument/2006/relationships/image" Target="../media/image24.emf"/><Relationship Id="rId4" Type="http://schemas.openxmlformats.org/officeDocument/2006/relationships/image" Target="../media/image37.e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40.e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13" Type="http://schemas.openxmlformats.org/officeDocument/2006/relationships/oleObject" Target="../embeddings/oleObject47.bin"/><Relationship Id="rId18" Type="http://schemas.openxmlformats.org/officeDocument/2006/relationships/image" Target="../media/image51.e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48.emf"/><Relationship Id="rId17" Type="http://schemas.openxmlformats.org/officeDocument/2006/relationships/oleObject" Target="../embeddings/oleObject49.bin"/><Relationship Id="rId2" Type="http://schemas.openxmlformats.org/officeDocument/2006/relationships/notesSlide" Target="../notesSlides/notesSlide32.xml"/><Relationship Id="rId16" Type="http://schemas.openxmlformats.org/officeDocument/2006/relationships/image" Target="../media/image5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emf"/><Relationship Id="rId11" Type="http://schemas.openxmlformats.org/officeDocument/2006/relationships/oleObject" Target="../embeddings/oleObject46.bin"/><Relationship Id="rId5" Type="http://schemas.openxmlformats.org/officeDocument/2006/relationships/oleObject" Target="../embeddings/oleObject43.bin"/><Relationship Id="rId15" Type="http://schemas.openxmlformats.org/officeDocument/2006/relationships/oleObject" Target="../embeddings/oleObject48.bin"/><Relationship Id="rId10" Type="http://schemas.openxmlformats.org/officeDocument/2006/relationships/image" Target="../media/image47.emf"/><Relationship Id="rId4" Type="http://schemas.openxmlformats.org/officeDocument/2006/relationships/image" Target="../media/image44.emf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49.e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13" Type="http://schemas.openxmlformats.org/officeDocument/2006/relationships/oleObject" Target="../embeddings/oleObject47.bin"/><Relationship Id="rId18" Type="http://schemas.openxmlformats.org/officeDocument/2006/relationships/image" Target="../media/image51.e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48.emf"/><Relationship Id="rId17" Type="http://schemas.openxmlformats.org/officeDocument/2006/relationships/oleObject" Target="../embeddings/oleObject49.bin"/><Relationship Id="rId2" Type="http://schemas.openxmlformats.org/officeDocument/2006/relationships/notesSlide" Target="../notesSlides/notesSlide33.xml"/><Relationship Id="rId16" Type="http://schemas.openxmlformats.org/officeDocument/2006/relationships/image" Target="../media/image5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emf"/><Relationship Id="rId11" Type="http://schemas.openxmlformats.org/officeDocument/2006/relationships/oleObject" Target="../embeddings/oleObject46.bin"/><Relationship Id="rId5" Type="http://schemas.openxmlformats.org/officeDocument/2006/relationships/oleObject" Target="../embeddings/oleObject43.bin"/><Relationship Id="rId15" Type="http://schemas.openxmlformats.org/officeDocument/2006/relationships/oleObject" Target="../embeddings/oleObject48.bin"/><Relationship Id="rId10" Type="http://schemas.openxmlformats.org/officeDocument/2006/relationships/image" Target="../media/image47.emf"/><Relationship Id="rId4" Type="http://schemas.openxmlformats.org/officeDocument/2006/relationships/image" Target="../media/image44.emf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49.e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E3EB5BC-DBBD-472B-9E77-A8FD068B36D9}" type="slidenum">
              <a:rPr lang="en-US" altLang="zh-CN" sz="1400" b="0">
                <a:latin typeface="Arial" panose="020B0604020202020204" pitchFamily="34" charset="0"/>
              </a:rPr>
              <a:t>1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title"/>
          </p:nvPr>
        </p:nvSpPr>
        <p:spPr>
          <a:xfrm>
            <a:off x="1835150" y="260350"/>
            <a:ext cx="6337300" cy="431800"/>
          </a:xfrm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/>
            <a:r>
              <a:rPr lang="zh-CN" altLang="en-US">
                <a:latin typeface="宋体" panose="02010600030101010101" pitchFamily="2" charset="-122"/>
              </a:rPr>
              <a:t>第一部分 数理逻辑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t="5695"/>
          <a:stretch>
            <a:fillRect/>
          </a:stretch>
        </p:blipFill>
        <p:spPr>
          <a:xfrm>
            <a:off x="457200" y="1197842"/>
            <a:ext cx="8020050" cy="5308699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339752" y="5360040"/>
            <a:ext cx="6048672" cy="12376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8691FA5-4637-4D3C-B828-DF0D5B5A3D9D}" type="slidenum">
              <a:rPr lang="en-US" altLang="zh-CN" sz="1400" b="0"/>
              <a:t>2</a:t>
            </a:fld>
            <a:endParaRPr lang="en-US" altLang="zh-CN" sz="1400" b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229600" cy="2879725"/>
          </a:xfrm>
        </p:spPr>
        <p:txBody>
          <a:bodyPr/>
          <a:lstStyle/>
          <a:p>
            <a:pPr marL="361950" indent="-361950" eaLnBrk="1" hangingPunct="1"/>
            <a:r>
              <a:rPr lang="zh-CN" altLang="en-US"/>
              <a:t>主要内容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5.1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一阶逻辑等值式与置换规则</a:t>
            </a:r>
            <a:endParaRPr lang="en-US" altLang="zh-CN">
              <a:solidFill>
                <a:srgbClr val="FF0000"/>
              </a:solidFill>
            </a:endParaRPr>
          </a:p>
          <a:p>
            <a:pPr marL="762000" lvl="1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FF0000"/>
                </a:solidFill>
              </a:rPr>
              <a:t>一阶逻辑等值式与基本的等值式</a:t>
            </a:r>
          </a:p>
          <a:p>
            <a:pPr marL="762000" lvl="1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FF0000"/>
                </a:solidFill>
              </a:rPr>
              <a:t>置换规则、换名规则、代替规则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>
                <a:latin typeface="Times New Roman" panose="02020603050405020304" pitchFamily="18" charset="0"/>
              </a:rPr>
              <a:t>5.2</a:t>
            </a:r>
            <a:r>
              <a:rPr lang="en-US" altLang="zh-CN"/>
              <a:t>  </a:t>
            </a:r>
            <a:r>
              <a:rPr lang="zh-CN" altLang="en-US"/>
              <a:t>一阶逻辑前束范式</a:t>
            </a:r>
            <a:endParaRPr lang="en-US" altLang="zh-CN"/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>
                <a:latin typeface="Times New Roman" panose="02020603050405020304" pitchFamily="18" charset="0"/>
              </a:rPr>
              <a:t>5.3</a:t>
            </a:r>
            <a:r>
              <a:rPr lang="en-US" altLang="zh-CN"/>
              <a:t> </a:t>
            </a:r>
            <a:r>
              <a:rPr lang="zh-CN" altLang="en-US"/>
              <a:t>一阶逻辑的推理理论</a:t>
            </a:r>
            <a:endParaRPr lang="en-US" altLang="zh-CN"/>
          </a:p>
          <a:p>
            <a:pPr marL="762000" lvl="1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自然推理系统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 baseline="-25000">
                <a:latin typeface="Palace Script MT" panose="030303020206070C0B05" pitchFamily="66" charset="0"/>
              </a:rPr>
              <a:t>L    </a:t>
            </a:r>
            <a:r>
              <a:rPr lang="zh-CN" altLang="en-US">
                <a:latin typeface="Times New Roman" panose="02020603050405020304" pitchFamily="18" charset="0"/>
              </a:rPr>
              <a:t>及其推理规则</a:t>
            </a:r>
          </a:p>
          <a:p>
            <a:pPr marL="361950" indent="-361950" eaLnBrk="1" hangingPunct="1"/>
            <a:endParaRPr lang="en-US" altLang="zh-CN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title"/>
          </p:nvPr>
        </p:nvSpPr>
        <p:spPr>
          <a:xfrm>
            <a:off x="1835150" y="260350"/>
            <a:ext cx="6394450" cy="431800"/>
          </a:xfrm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第五章 一阶逻辑等值演算与推理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E03E9A3-F202-4C8C-88E1-0A1244B22A15}" type="slidenum">
              <a:rPr lang="en-US" altLang="zh-CN" sz="1400" b="0"/>
              <a:t>3</a:t>
            </a:fld>
            <a:endParaRPr lang="en-US" altLang="zh-CN" sz="1400" b="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5.1</a:t>
            </a:r>
            <a:r>
              <a:rPr lang="en-US" altLang="zh-CN"/>
              <a:t> </a:t>
            </a:r>
            <a:r>
              <a:rPr lang="zh-CN" altLang="en-US"/>
              <a:t>一阶逻辑等值式与置换规则</a:t>
            </a:r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196975"/>
            <a:ext cx="8229600" cy="5184775"/>
          </a:xfrm>
        </p:spPr>
        <p:txBody>
          <a:bodyPr/>
          <a:lstStyle/>
          <a:p>
            <a:pPr marL="716280" indent="-716280" eaLnBrk="1" hangingPunct="1">
              <a:lnSpc>
                <a:spcPct val="90000"/>
              </a:lnSpc>
              <a:defRPr/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5.1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是两个谓词公式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如果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是永真式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则称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</a:p>
          <a:p>
            <a:pPr marL="716280" indent="-716280" eaLnBrk="1" hangingPunct="1">
              <a:lnSpc>
                <a:spcPct val="90000"/>
              </a:lnSpc>
              <a:defRPr/>
            </a:pP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与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等值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记作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并称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等值式</a:t>
            </a:r>
          </a:p>
          <a:p>
            <a:pPr marL="716280" indent="-716280" eaLnBrk="1" hangingPunct="1">
              <a:lnSpc>
                <a:spcPct val="90000"/>
              </a:lnSpc>
              <a:defRPr/>
            </a:pPr>
            <a:endParaRPr lang="zh-CN" altLang="en-US" dirty="0">
              <a:latin typeface="Times New Roman" panose="02020603050405020304" pitchFamily="18" charset="0"/>
            </a:endParaRPr>
          </a:p>
          <a:p>
            <a:pPr marL="716280" indent="-716280" eaLnBrk="1" hangingPunct="1">
              <a:lnSpc>
                <a:spcPct val="90000"/>
              </a:lnSpc>
              <a:defRPr/>
            </a:pPr>
            <a:r>
              <a:rPr lang="en-US" altLang="zh-CN" dirty="0">
                <a:latin typeface="Times New Roman" panose="02020603050405020304" pitchFamily="18" charset="0"/>
              </a:rPr>
              <a:t>【</a:t>
            </a:r>
            <a:r>
              <a:rPr lang="zh-CN" altLang="en-US" dirty="0">
                <a:latin typeface="Times New Roman" panose="02020603050405020304" pitchFamily="18" charset="0"/>
              </a:rPr>
              <a:t>基本等值式</a:t>
            </a:r>
            <a:r>
              <a:rPr lang="en-US" altLang="zh-CN" dirty="0">
                <a:latin typeface="Times New Roman" panose="02020603050405020304" pitchFamily="18" charset="0"/>
              </a:rPr>
              <a:t>】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marL="716280" indent="-716280" eaLnBrk="1" hangingPunct="1">
              <a:lnSpc>
                <a:spcPct val="90000"/>
              </a:lnSpc>
              <a:defRPr/>
            </a:pP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第一组  命题逻辑中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16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组基本等值式的代换实例</a:t>
            </a:r>
          </a:p>
          <a:p>
            <a:pPr marL="716280" indent="-716280" eaLnBrk="1" hangingPunct="1">
              <a:lnSpc>
                <a:spcPct val="90000"/>
              </a:lnSpc>
              <a:defRPr/>
            </a:pPr>
            <a:r>
              <a:rPr lang="zh-CN" altLang="en-US" b="0" dirty="0">
                <a:latin typeface="Times New Roman" panose="02020603050405020304" pitchFamily="18" charset="0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</a:rPr>
              <a:t>例如，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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)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),</a:t>
            </a:r>
          </a:p>
          <a:p>
            <a:pPr marL="716280" indent="-716280" eaLnBrk="1" hangingPunct="1">
              <a:lnSpc>
                <a:spcPct val="90000"/>
              </a:lnSpc>
              <a:defRPr/>
            </a:pP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     </a:t>
            </a:r>
            <a:r>
              <a:rPr lang="en-US" altLang="zh-CN" i="1" dirty="0" err="1">
                <a:latin typeface="Times New Roman" panose="02020603050405020304" pitchFamily="18" charset="0"/>
              </a:rPr>
              <a:t>xF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</a:t>
            </a:r>
            <a:r>
              <a:rPr lang="en-US" altLang="zh-CN" i="1" dirty="0" err="1">
                <a:latin typeface="Times New Roman" panose="02020603050405020304" pitchFamily="18" charset="0"/>
              </a:rPr>
              <a:t>yG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</a:t>
            </a:r>
            <a:r>
              <a:rPr lang="en-US" altLang="zh-CN" i="1" dirty="0" err="1">
                <a:latin typeface="Times New Roman" panose="02020603050405020304" pitchFamily="18" charset="0"/>
              </a:rPr>
              <a:t>xF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</a:t>
            </a:r>
            <a:r>
              <a:rPr lang="en-US" altLang="zh-CN" i="1" dirty="0" err="1">
                <a:latin typeface="Times New Roman" panose="02020603050405020304" pitchFamily="18" charset="0"/>
              </a:rPr>
              <a:t>yG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zh-CN" altLang="en-US" dirty="0">
                <a:latin typeface="Times New Roman" panose="02020603050405020304" pitchFamily="18" charset="0"/>
              </a:rPr>
              <a:t>等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716280" indent="-716280" eaLnBrk="1" hangingPunct="1">
              <a:lnSpc>
                <a:spcPct val="90000"/>
              </a:lnSpc>
              <a:defRPr/>
            </a:pPr>
            <a:endParaRPr lang="en-US" altLang="zh-CN" dirty="0">
              <a:latin typeface="Times New Roman" panose="02020603050405020304" pitchFamily="18" charset="0"/>
            </a:endParaRPr>
          </a:p>
          <a:p>
            <a:pPr marL="469900" indent="-469900" eaLnBrk="1" hangingPunct="1">
              <a:buClr>
                <a:srgbClr val="CC0000"/>
              </a:buClr>
              <a:buFont typeface="Wingdings" panose="05000000000000000000" pitchFamily="2" charset="2"/>
              <a:buChar char="o"/>
              <a:defRPr/>
            </a:pPr>
            <a:r>
              <a:rPr lang="zh-CN" altLang="en-US" kern="0" dirty="0">
                <a:solidFill>
                  <a:srgbClr val="000000"/>
                </a:solidFill>
                <a:latin typeface="Times New Roman" panose="02020603050405020304"/>
              </a:rPr>
              <a:t>判断下列公式的类型：</a:t>
            </a:r>
          </a:p>
          <a:p>
            <a:pPr marL="469900" indent="-469900" eaLnBrk="1" hangingPunct="1">
              <a:buClr>
                <a:srgbClr val="CC0000"/>
              </a:buClr>
              <a:defRPr/>
            </a:pPr>
            <a:r>
              <a:rPr lang="zh-CN" altLang="en-US" kern="0" dirty="0">
                <a:solidFill>
                  <a:srgbClr val="000000"/>
                </a:solidFill>
                <a:latin typeface="Times New Roman" panose="02020603050405020304"/>
              </a:rPr>
              <a:t>（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/>
              </a:rPr>
              <a:t>1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/>
              </a:rPr>
              <a:t>）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/>
                <a:sym typeface="Symbol" panose="05050102010706020507" pitchFamily="18" charset="2"/>
              </a:rPr>
              <a:t>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/>
              </a:rPr>
              <a:t>xP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/>
              </a:rPr>
              <a:t>x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/>
              </a:rPr>
              <a:t>) →(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/>
                <a:sym typeface="Symbol" panose="05050102010706020507" pitchFamily="18" charset="2"/>
              </a:rPr>
              <a:t>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/>
              </a:rPr>
              <a:t>x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/>
                <a:sym typeface="Symbol" panose="05050102010706020507" pitchFamily="18" charset="2"/>
              </a:rPr>
              <a:t>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/>
              </a:rPr>
              <a:t>yQ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/>
              </a:rPr>
              <a:t>x,y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/>
              </a:rPr>
              <a:t>) →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/>
                <a:sym typeface="Symbol" panose="05050102010706020507" pitchFamily="18" charset="2"/>
              </a:rPr>
              <a:t>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/>
              </a:rPr>
              <a:t>xP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/>
              </a:rPr>
              <a:t>x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/>
              </a:rPr>
              <a:t>)) </a:t>
            </a:r>
          </a:p>
          <a:p>
            <a:pPr marL="469900" indent="-469900" eaLnBrk="1" hangingPunct="1">
              <a:buClr>
                <a:srgbClr val="CC0000"/>
              </a:buClr>
              <a:defRPr/>
            </a:pPr>
            <a:r>
              <a:rPr lang="zh-CN" altLang="en-US" kern="0" dirty="0">
                <a:solidFill>
                  <a:srgbClr val="000000"/>
                </a:solidFill>
                <a:latin typeface="Times New Roman" panose="02020603050405020304"/>
              </a:rPr>
              <a:t>（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/>
              </a:rPr>
              <a:t>2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/>
              </a:rPr>
              <a:t>）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/>
                <a:sym typeface="Symbol" panose="05050102010706020507" pitchFamily="18" charset="2"/>
              </a:rPr>
              <a:t>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/>
              </a:rPr>
              <a:t>xP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/>
              </a:rPr>
              <a:t>x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/>
              </a:rPr>
              <a:t>) →(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/>
                <a:sym typeface="Symbol" panose="05050102010706020507" pitchFamily="18" charset="2"/>
              </a:rPr>
              <a:t>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/>
              </a:rPr>
              <a:t>xP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/>
              </a:rPr>
              <a:t>x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/>
              </a:rPr>
              <a:t>)</a:t>
            </a:r>
            <a:r>
              <a:rPr lang="en-US" altLang="zh-CN" b="0" kern="0" dirty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0" kern="0" dirty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/>
                <a:sym typeface="Symbol" panose="05050102010706020507" pitchFamily="18" charset="2"/>
              </a:rPr>
              <a:t>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/>
              </a:rPr>
              <a:t>yG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/>
              </a:rPr>
              <a:t>y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/>
              </a:rPr>
              <a:t>)) </a:t>
            </a:r>
            <a:endParaRPr lang="en-US" altLang="zh-CN" kern="0" dirty="0">
              <a:solidFill>
                <a:srgbClr val="CC0000"/>
              </a:solidFill>
              <a:latin typeface="Times New Roman" panose="02020603050405020304"/>
            </a:endParaRPr>
          </a:p>
          <a:p>
            <a:pPr marL="469900" indent="-469900" eaLnBrk="1" hangingPunct="1">
              <a:buClr>
                <a:srgbClr val="CC0000"/>
              </a:buClr>
              <a:defRPr/>
            </a:pPr>
            <a:r>
              <a:rPr lang="zh-CN" altLang="en-US" kern="0" dirty="0">
                <a:solidFill>
                  <a:srgbClr val="000000"/>
                </a:solidFill>
                <a:latin typeface="Times New Roman" panose="02020603050405020304"/>
              </a:rPr>
              <a:t>（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/>
              </a:rPr>
              <a:t>3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/>
              </a:rPr>
              <a:t>）</a:t>
            </a:r>
            <a:r>
              <a:rPr lang="zh-CN" altLang="en-US" b="0" kern="0" dirty="0">
                <a:solidFill>
                  <a:srgbClr val="000000"/>
                </a:solidFill>
                <a:latin typeface="Times New Roman" panose="02020603050405020304"/>
                <a:sym typeface="Symbol" panose="05050102010706020507" pitchFamily="18" charset="2"/>
              </a:rPr>
              <a:t></a:t>
            </a:r>
            <a:r>
              <a:rPr lang="zh-CN" altLang="en-US" i="1" kern="0" dirty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/>
              </a:rPr>
              <a:t>P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/>
              </a:rPr>
              <a:t>x,y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/>
              </a:rPr>
              <a:t>) →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/>
              </a:rPr>
              <a:t>Q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/>
              </a:rPr>
              <a:t>x,y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/>
              </a:rPr>
              <a:t>))</a:t>
            </a:r>
            <a:r>
              <a:rPr lang="en-US" altLang="zh-CN" b="0" kern="0" dirty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0" kern="0" dirty="0">
                <a:solidFill>
                  <a:srgbClr val="000000"/>
                </a:solidFill>
                <a:latin typeface="Times New Roman" panose="02020603050405020304"/>
              </a:rPr>
              <a:t> 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/>
              </a:rPr>
              <a:t>Q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/>
              </a:rPr>
              <a:t>(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/>
              </a:rPr>
              <a:t>x,y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/>
              </a:rPr>
              <a:t>)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6661150" y="4840288"/>
            <a:ext cx="16557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buClr>
                <a:schemeClr val="accent2"/>
              </a:buClr>
            </a:pP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永真式</a:t>
            </a: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6659563" y="5300663"/>
            <a:ext cx="1657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永真式</a:t>
            </a: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6661150" y="5726113"/>
            <a:ext cx="14398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buClr>
                <a:schemeClr val="accent2"/>
              </a:buClr>
            </a:pPr>
            <a:r>
              <a:rPr lang="zh-CN" altLang="en-US">
                <a:solidFill>
                  <a:srgbClr val="FF0000"/>
                </a:solidFill>
                <a:latin typeface="Verdana" panose="020B0604030504040204" pitchFamily="34" charset="0"/>
              </a:rPr>
              <a:t>矛盾式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839BB8B-085E-4570-A71A-038BC262B4BE}" type="slidenum">
              <a:rPr lang="en-US" altLang="zh-CN" sz="1400" b="0"/>
              <a:t>4</a:t>
            </a:fld>
            <a:endParaRPr lang="en-US" altLang="zh-CN" sz="1400" b="0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716280" indent="-716280" algn="ctr" eaLnBrk="1" hangingPunct="1">
              <a:lnSpc>
                <a:spcPct val="90000"/>
              </a:lnSpc>
            </a:pPr>
            <a:r>
              <a:rPr lang="en-US" altLang="zh-CN">
                <a:latin typeface="Times New Roman" panose="02020603050405020304" pitchFamily="18" charset="0"/>
              </a:rPr>
              <a:t>【</a:t>
            </a:r>
            <a:r>
              <a:rPr lang="zh-CN" altLang="en-US">
                <a:latin typeface="Times New Roman" panose="02020603050405020304" pitchFamily="18" charset="0"/>
              </a:rPr>
              <a:t>基本等值式</a:t>
            </a:r>
            <a:r>
              <a:rPr lang="en-US" altLang="zh-CN">
                <a:latin typeface="Times New Roman" panose="02020603050405020304" pitchFamily="18" charset="0"/>
              </a:rPr>
              <a:t>】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196975"/>
            <a:ext cx="8229600" cy="5184775"/>
          </a:xfrm>
        </p:spPr>
        <p:txBody>
          <a:bodyPr/>
          <a:lstStyle/>
          <a:p>
            <a:pPr marL="716280" indent="-716280"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第二组</a:t>
            </a:r>
          </a:p>
          <a:p>
            <a:pPr marL="716280" indent="-716280"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   </a:t>
            </a:r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消去量词等值式 </a:t>
            </a:r>
          </a:p>
          <a:p>
            <a:pPr marL="716280" indent="-716280" eaLnBrk="1" hangingPunct="1">
              <a:lnSpc>
                <a:spcPct val="90000"/>
              </a:lnSpc>
            </a:pPr>
            <a:r>
              <a:rPr lang="zh-CN" altLang="en-US" i="1" dirty="0">
                <a:latin typeface="Times New Roman" panose="02020603050405020304" pitchFamily="18" charset="0"/>
              </a:rPr>
              <a:t>      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D 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… 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</a:p>
          <a:p>
            <a:pPr marL="716280" indent="-716280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     ①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</a:rPr>
              <a:t>xA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>
                <a:latin typeface="Times New Roman" panose="02020603050405020304" pitchFamily="18" charset="0"/>
              </a:rPr>
              <a:t>…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 marL="716280" indent="-716280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     ②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latin typeface="Times New Roman" panose="02020603050405020304" pitchFamily="18" charset="0"/>
              </a:rPr>
              <a:t>xA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dirty="0">
                <a:latin typeface="Times New Roman" panose="02020603050405020304" pitchFamily="18" charset="0"/>
              </a:rPr>
              <a:t>…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246188" y="3802063"/>
            <a:ext cx="785018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chemeClr val="folHlink"/>
              </a:buClr>
              <a:buSzPct val="60000"/>
            </a:pPr>
            <a:r>
              <a:rPr kumimoji="1" lang="zh-CN" altLang="en-US" dirty="0">
                <a:latin typeface="+mn-ea"/>
                <a:ea typeface="+mn-ea"/>
              </a:rPr>
              <a:t>设个体域 </a:t>
            </a:r>
            <a:r>
              <a:rPr kumimoji="1" lang="en-US" altLang="zh-CN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={</a:t>
            </a:r>
            <a:r>
              <a:rPr kumimoji="1" lang="en-US" altLang="zh-CN" i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1" lang="en-US" altLang="zh-CN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</a:t>
            </a:r>
            <a:r>
              <a:rPr kumimoji="1" lang="en-US" altLang="zh-CN" i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}, </a:t>
            </a:r>
            <a:r>
              <a:rPr kumimoji="1" lang="zh-CN" altLang="en-US" dirty="0">
                <a:latin typeface="+mn-ea"/>
                <a:ea typeface="+mn-ea"/>
              </a:rPr>
              <a:t>公式</a:t>
            </a:r>
          </a:p>
          <a:p>
            <a:pPr eaLnBrk="1" hangingPunct="1">
              <a:spcBef>
                <a:spcPct val="0"/>
              </a:spcBef>
              <a:buClr>
                <a:schemeClr val="folHlink"/>
              </a:buClr>
              <a:buSzPct val="60000"/>
            </a:pPr>
            <a:r>
              <a:rPr kumimoji="1" lang="zh-CN" altLang="en-US" dirty="0">
                <a:latin typeface="+mn-ea"/>
                <a:ea typeface="+mn-ea"/>
              </a:rPr>
              <a:t> </a:t>
            </a: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1" lang="en-US" altLang="zh-CN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1" lang="en-US" altLang="zh-CN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</a:t>
            </a: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kumimoji="1" lang="en-US" altLang="zh-CN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1" lang="en-US" altLang="zh-CN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1" lang="en-US" altLang="zh-CN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1" lang="zh-CN" altLang="en-US" dirty="0">
                <a:latin typeface="+mn-ea"/>
                <a:ea typeface="+mn-ea"/>
              </a:rPr>
              <a:t>在</a:t>
            </a:r>
            <a:r>
              <a:rPr kumimoji="1" lang="en-US" altLang="zh-CN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1" lang="zh-CN" altLang="en-US" dirty="0">
                <a:latin typeface="+mn-ea"/>
                <a:ea typeface="+mn-ea"/>
              </a:rPr>
              <a:t>上消去量词后应为</a:t>
            </a:r>
            <a:r>
              <a:rPr kumimoji="1" lang="en-US" altLang="zh-CN" dirty="0">
                <a:latin typeface="+mn-ea"/>
                <a:ea typeface="+mn-ea"/>
              </a:rPr>
              <a:t>: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288925" y="3802063"/>
            <a:ext cx="914400" cy="461962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>
                <a:solidFill>
                  <a:srgbClr val="FFFFFF"/>
                </a:solidFill>
                <a:latin typeface="Times New Roman" panose="02020603050405020304" pitchFamily="18" charset="0"/>
                <a:ea typeface="楷体_GB2312" charset="-122"/>
              </a:rPr>
              <a:t>例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431925" y="4868863"/>
            <a:ext cx="31019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i="1">
                <a:solidFill>
                  <a:schemeClr val="accent2"/>
                </a:solidFill>
                <a:latin typeface="Times New Roman" panose="02020603050405020304" pitchFamily="18" charset="0"/>
                <a:ea typeface="楷体_GB2312" charset="-122"/>
              </a:rPr>
              <a:t>P</a:t>
            </a:r>
            <a:r>
              <a:rPr kumimoji="1" lang="en-US" altLang="zh-CN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>
                <a:solidFill>
                  <a:schemeClr val="accent2"/>
                </a:solidFill>
                <a:latin typeface="Times New Roman" panose="02020603050405020304" pitchFamily="18" charset="0"/>
                <a:ea typeface="楷体_GB2312" charset="-122"/>
              </a:rPr>
              <a:t>a</a:t>
            </a:r>
            <a:r>
              <a:rPr kumimoji="1" lang="en-US" altLang="zh-CN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kumimoji="1" lang="en-US" altLang="zh-CN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kumimoji="1" lang="en-US" altLang="zh-CN" i="1">
                <a:solidFill>
                  <a:schemeClr val="accent2"/>
                </a:solidFill>
                <a:latin typeface="Times New Roman" panose="02020603050405020304" pitchFamily="18" charset="0"/>
                <a:ea typeface="楷体_GB2312" charset="-122"/>
              </a:rPr>
              <a:t>P</a:t>
            </a:r>
            <a:r>
              <a:rPr kumimoji="1" lang="en-US" altLang="zh-CN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>
                <a:solidFill>
                  <a:schemeClr val="accent2"/>
                </a:solidFill>
                <a:latin typeface="Times New Roman" panose="02020603050405020304" pitchFamily="18" charset="0"/>
                <a:ea typeface="楷体_GB2312" charset="-122"/>
              </a:rPr>
              <a:t>b</a:t>
            </a:r>
            <a:r>
              <a:rPr kumimoji="1" lang="en-US" altLang="zh-CN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kumimoji="1" lang="en-US" altLang="zh-CN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kumimoji="1" lang="en-US" altLang="zh-CN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>
                <a:solidFill>
                  <a:schemeClr val="accent2"/>
                </a:solidFill>
                <a:latin typeface="Times New Roman" panose="02020603050405020304" pitchFamily="18" charset="0"/>
                <a:ea typeface="楷体_GB2312" charset="-122"/>
              </a:rPr>
              <a:t>S</a:t>
            </a:r>
            <a:r>
              <a:rPr kumimoji="1" lang="en-US" altLang="zh-CN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>
                <a:solidFill>
                  <a:schemeClr val="accent2"/>
                </a:solidFill>
                <a:latin typeface="Times New Roman" panose="02020603050405020304" pitchFamily="18" charset="0"/>
                <a:ea typeface="楷体_GB2312" charset="-122"/>
              </a:rPr>
              <a:t>a</a:t>
            </a:r>
            <a:r>
              <a:rPr kumimoji="1" lang="en-US" altLang="zh-CN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kumimoji="1" lang="en-US" altLang="zh-CN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kumimoji="1" lang="en-US" altLang="zh-CN" i="1">
                <a:solidFill>
                  <a:schemeClr val="accent2"/>
                </a:solidFill>
                <a:latin typeface="Times New Roman" panose="02020603050405020304" pitchFamily="18" charset="0"/>
                <a:ea typeface="楷体_GB2312" charset="-122"/>
              </a:rPr>
              <a:t>S</a:t>
            </a:r>
            <a:r>
              <a:rPr kumimoji="1" lang="en-US" altLang="zh-CN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>
                <a:solidFill>
                  <a:schemeClr val="accent2"/>
                </a:solidFill>
                <a:latin typeface="Times New Roman" panose="02020603050405020304" pitchFamily="18" charset="0"/>
                <a:ea typeface="楷体_GB2312" charset="-122"/>
              </a:rPr>
              <a:t>b</a:t>
            </a:r>
            <a:r>
              <a:rPr kumimoji="1" lang="en-US" altLang="zh-CN">
                <a:solidFill>
                  <a:schemeClr val="accent2"/>
                </a:solidFill>
                <a:latin typeface="Times New Roman" panose="02020603050405020304" pitchFamily="18" charset="0"/>
              </a:rPr>
              <a:t>))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8" grpId="0" animBg="1" autoUpdateAnimBg="0"/>
      <p:bldP spid="9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74A2976-D74B-4FC2-B180-79F826CC1E57}" type="slidenum">
              <a:rPr lang="en-US" altLang="zh-CN" sz="1400" b="0"/>
              <a:t>5</a:t>
            </a:fld>
            <a:endParaRPr lang="en-US" altLang="zh-CN" sz="1400" b="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/>
              <a:t>【</a:t>
            </a:r>
            <a:r>
              <a:rPr lang="zh-CN" altLang="en-US"/>
              <a:t>基本等值式</a:t>
            </a:r>
            <a:r>
              <a:rPr lang="en-US" altLang="zh-CN"/>
              <a:t>】</a:t>
            </a:r>
            <a:endParaRPr lang="zh-CN" altLang="en-US"/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229600" cy="4679950"/>
          </a:xfrm>
        </p:spPr>
        <p:txBody>
          <a:bodyPr/>
          <a:lstStyle/>
          <a:p>
            <a:pPr marL="457200" indent="-457200" eaLnBrk="1" hangingPunct="1"/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量词否定等值式</a:t>
            </a:r>
          </a:p>
          <a:p>
            <a:pPr marL="457200" indent="-457200" eaLnBrk="1" hangingPunct="1"/>
            <a:r>
              <a:rPr lang="zh-CN" altLang="en-US" dirty="0">
                <a:latin typeface="Times New Roman" panose="02020603050405020304" pitchFamily="18" charset="0"/>
              </a:rPr>
              <a:t>       ①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</a:t>
            </a:r>
            <a:r>
              <a:rPr lang="en-US" altLang="zh-CN" i="1" dirty="0">
                <a:latin typeface="Times New Roman" panose="02020603050405020304" pitchFamily="18" charset="0"/>
              </a:rPr>
              <a:t>xA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 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 marL="457200" indent="-457200" eaLnBrk="1" hangingPunct="1"/>
            <a:r>
              <a:rPr lang="en-US" altLang="zh-CN" dirty="0">
                <a:latin typeface="Times New Roman" panose="02020603050405020304" pitchFamily="18" charset="0"/>
              </a:rPr>
              <a:t>       ②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</a:t>
            </a:r>
            <a:r>
              <a:rPr lang="en-US" altLang="zh-CN" i="1" dirty="0">
                <a:latin typeface="Times New Roman" panose="02020603050405020304" pitchFamily="18" charset="0"/>
              </a:rPr>
              <a:t>xA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 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92088" y="2862263"/>
            <a:ext cx="914400" cy="461962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>
                <a:solidFill>
                  <a:srgbClr val="FFFFFF"/>
                </a:solidFill>
                <a:latin typeface="Times New Roman" panose="02020603050405020304" pitchFamily="18" charset="0"/>
              </a:rPr>
              <a:t>例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258888" y="2755900"/>
            <a:ext cx="7620000" cy="312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</a:rPr>
              <a:t>设论域为人，</a:t>
            </a:r>
            <a:r>
              <a:rPr kumimoji="1" lang="en-US" altLang="zh-CN" i="1">
                <a:latin typeface="Times New Roman" panose="02020603050405020304" pitchFamily="18" charset="0"/>
              </a:rPr>
              <a:t>P</a:t>
            </a:r>
            <a:r>
              <a:rPr kumimoji="1" lang="en-US" altLang="zh-CN">
                <a:latin typeface="Times New Roman" panose="02020603050405020304" pitchFamily="18" charset="0"/>
              </a:rPr>
              <a:t>(</a:t>
            </a:r>
            <a:r>
              <a:rPr kumimoji="1" lang="en-US" altLang="zh-CN" i="1">
                <a:latin typeface="Times New Roman" panose="02020603050405020304" pitchFamily="18" charset="0"/>
              </a:rPr>
              <a:t>x</a:t>
            </a:r>
            <a:r>
              <a:rPr kumimoji="1" lang="en-US" altLang="zh-CN">
                <a:latin typeface="Times New Roman" panose="02020603050405020304" pitchFamily="18" charset="0"/>
              </a:rPr>
              <a:t>): </a:t>
            </a:r>
            <a:r>
              <a:rPr kumimoji="1" lang="en-US" altLang="zh-CN" i="1">
                <a:latin typeface="Times New Roman" panose="02020603050405020304" pitchFamily="18" charset="0"/>
              </a:rPr>
              <a:t>x</a:t>
            </a:r>
            <a:r>
              <a:rPr kumimoji="1" lang="zh-CN" altLang="en-US">
                <a:latin typeface="Times New Roman" panose="02020603050405020304" pitchFamily="18" charset="0"/>
              </a:rPr>
              <a:t>来上课，</a:t>
            </a:r>
            <a:r>
              <a:rPr kumimoji="1"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1" lang="en-US" altLang="zh-CN" i="1">
                <a:latin typeface="Times New Roman" panose="02020603050405020304" pitchFamily="18" charset="0"/>
              </a:rPr>
              <a:t>P</a:t>
            </a:r>
            <a:r>
              <a:rPr kumimoji="1" lang="en-US" altLang="zh-CN">
                <a:latin typeface="Times New Roman" panose="02020603050405020304" pitchFamily="18" charset="0"/>
              </a:rPr>
              <a:t>(</a:t>
            </a:r>
            <a:r>
              <a:rPr kumimoji="1" lang="en-US" altLang="zh-CN" i="1">
                <a:latin typeface="Times New Roman" panose="02020603050405020304" pitchFamily="18" charset="0"/>
              </a:rPr>
              <a:t>x</a:t>
            </a:r>
            <a:r>
              <a:rPr kumimoji="1" lang="en-US" altLang="zh-CN">
                <a:latin typeface="Times New Roman" panose="02020603050405020304" pitchFamily="18" charset="0"/>
              </a:rPr>
              <a:t>): </a:t>
            </a:r>
            <a:r>
              <a:rPr kumimoji="1" lang="en-US" altLang="zh-CN" i="1">
                <a:latin typeface="Times New Roman" panose="02020603050405020304" pitchFamily="18" charset="0"/>
              </a:rPr>
              <a:t>x</a:t>
            </a:r>
            <a:r>
              <a:rPr kumimoji="1" lang="zh-CN" altLang="en-US">
                <a:latin typeface="Times New Roman" panose="02020603050405020304" pitchFamily="18" charset="0"/>
              </a:rPr>
              <a:t>没来上课</a:t>
            </a:r>
          </a:p>
          <a:p>
            <a:pPr eaLnBrk="1" hangingPunct="1">
              <a:buClrTx/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xP</a:t>
            </a:r>
            <a:r>
              <a:rPr kumimoji="1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):</a:t>
            </a:r>
            <a:r>
              <a:rPr kumimoji="1"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所有人都来上课</a:t>
            </a:r>
          </a:p>
          <a:p>
            <a:pPr eaLnBrk="1" hangingPunct="1">
              <a:buClrTx/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</a:t>
            </a:r>
            <a:r>
              <a:rPr kumimoji="1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xP</a:t>
            </a:r>
            <a:r>
              <a:rPr kumimoji="1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):</a:t>
            </a:r>
            <a:r>
              <a:rPr kumimoji="1"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不是所有人都来上课</a:t>
            </a:r>
          </a:p>
          <a:p>
            <a:pPr eaLnBrk="1" hangingPunct="1">
              <a:buClrTx/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kumimoji="1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1" lang="en-US" altLang="zh-CN" i="1">
                <a:latin typeface="Times New Roman" panose="02020603050405020304" pitchFamily="18" charset="0"/>
              </a:rPr>
              <a:t>P</a:t>
            </a:r>
            <a:r>
              <a:rPr kumimoji="1" lang="en-US" altLang="zh-CN">
                <a:latin typeface="Times New Roman" panose="02020603050405020304" pitchFamily="18" charset="0"/>
              </a:rPr>
              <a:t>(</a:t>
            </a:r>
            <a:r>
              <a:rPr kumimoji="1" lang="en-US" altLang="zh-CN" i="1">
                <a:latin typeface="Times New Roman" panose="02020603050405020304" pitchFamily="18" charset="0"/>
              </a:rPr>
              <a:t>x</a:t>
            </a:r>
            <a:r>
              <a:rPr kumimoji="1" lang="en-US" altLang="zh-CN">
                <a:latin typeface="Times New Roman" panose="02020603050405020304" pitchFamily="18" charset="0"/>
              </a:rPr>
              <a:t>): </a:t>
            </a:r>
            <a:r>
              <a:rPr kumimoji="1" lang="zh-CN" altLang="en-US">
                <a:latin typeface="Times New Roman" panose="02020603050405020304" pitchFamily="18" charset="0"/>
              </a:rPr>
              <a:t>有人没来上课 </a:t>
            </a:r>
          </a:p>
          <a:p>
            <a:pPr eaLnBrk="1" hangingPunct="1">
              <a:buClrTx/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kumimoji="1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xP</a:t>
            </a:r>
            <a:r>
              <a:rPr kumimoji="1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):</a:t>
            </a:r>
            <a:r>
              <a:rPr kumimoji="1"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有人来上课</a:t>
            </a:r>
          </a:p>
          <a:p>
            <a:pPr eaLnBrk="1" hangingPunct="1">
              <a:buClrTx/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</a:t>
            </a:r>
            <a:r>
              <a:rPr kumimoji="1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xP</a:t>
            </a:r>
            <a:r>
              <a:rPr kumimoji="1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):</a:t>
            </a:r>
            <a:r>
              <a:rPr kumimoji="1"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没有人来上课</a:t>
            </a:r>
          </a:p>
          <a:p>
            <a:pPr eaLnBrk="1" hangingPunct="1">
              <a:buClrTx/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1" lang="en-US" altLang="zh-CN" i="1">
                <a:latin typeface="Times New Roman" panose="02020603050405020304" pitchFamily="18" charset="0"/>
              </a:rPr>
              <a:t>P</a:t>
            </a:r>
            <a:r>
              <a:rPr kumimoji="1" lang="en-US" altLang="zh-CN">
                <a:latin typeface="Times New Roman" panose="02020603050405020304" pitchFamily="18" charset="0"/>
              </a:rPr>
              <a:t>(</a:t>
            </a:r>
            <a:r>
              <a:rPr kumimoji="1" lang="en-US" altLang="zh-CN" i="1">
                <a:latin typeface="Times New Roman" panose="02020603050405020304" pitchFamily="18" charset="0"/>
              </a:rPr>
              <a:t>x</a:t>
            </a:r>
            <a:r>
              <a:rPr kumimoji="1" lang="en-US" altLang="zh-CN">
                <a:latin typeface="Times New Roman" panose="02020603050405020304" pitchFamily="18" charset="0"/>
              </a:rPr>
              <a:t>): </a:t>
            </a:r>
            <a:r>
              <a:rPr kumimoji="1" lang="zh-CN" altLang="en-US">
                <a:latin typeface="Times New Roman" panose="02020603050405020304" pitchFamily="18" charset="0"/>
              </a:rPr>
              <a:t>所有人都没来上课</a:t>
            </a:r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1363663" y="4076700"/>
            <a:ext cx="3856037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>
            <a:off x="1363663" y="4508500"/>
            <a:ext cx="2992437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 flipV="1">
            <a:off x="1363663" y="5373688"/>
            <a:ext cx="2992437" cy="0"/>
          </a:xfrm>
          <a:prstGeom prst="line">
            <a:avLst/>
          </a:prstGeom>
          <a:noFill/>
          <a:ln w="38100">
            <a:solidFill>
              <a:srgbClr val="0099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" name="Line 11"/>
          <p:cNvSpPr>
            <a:spLocks noChangeShapeType="1"/>
          </p:cNvSpPr>
          <p:nvPr/>
        </p:nvSpPr>
        <p:spPr bwMode="auto">
          <a:xfrm>
            <a:off x="1363663" y="5876925"/>
            <a:ext cx="3784600" cy="0"/>
          </a:xfrm>
          <a:prstGeom prst="line">
            <a:avLst/>
          </a:prstGeom>
          <a:noFill/>
          <a:ln w="38100">
            <a:solidFill>
              <a:srgbClr val="0099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  <p:bldP spid="7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05E2AF75-7CA7-4227-904E-144A9B03A3E4}" type="slidenum">
              <a:rPr lang="zh-CN" altLang="en-US" sz="1400" b="0"/>
              <a:t>6</a:t>
            </a:fld>
            <a:endParaRPr lang="en-US" altLang="zh-CN" sz="1400" b="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量词否定等值式（续）</a:t>
            </a:r>
            <a:endParaRPr lang="en-US" altLang="zh-CN"/>
          </a:p>
        </p:txBody>
      </p:sp>
      <p:sp>
        <p:nvSpPr>
          <p:cNvPr id="72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20775" y="1368425"/>
            <a:ext cx="7058025" cy="4789488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/>
              <a:t>设个体域中的客体变元为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,a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,…,a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dirty="0"/>
              <a:t>，则</a:t>
            </a:r>
            <a:endParaRPr lang="zh-CN" altLang="en-US" dirty="0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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xA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(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 … 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 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 …  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</a:t>
            </a:r>
            <a:r>
              <a:rPr lang="en-US" altLang="zh-CN" i="1" dirty="0" err="1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 err="1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eaLnBrk="1" hangingPunct="1"/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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xA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(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 … 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 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 …  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eaLnBrk="1" hangingPunct="1"/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 </a:t>
            </a:r>
            <a:r>
              <a:rPr lang="en-US" altLang="zh-CN" i="1" dirty="0" err="1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 err="1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2B20E30-7ED0-4126-8929-8028C0C72C62}" type="slidenum">
              <a:rPr lang="en-US" altLang="zh-CN" sz="1400" b="0"/>
              <a:t>7</a:t>
            </a:fld>
            <a:endParaRPr lang="en-US" altLang="zh-CN" sz="1400" b="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/>
              <a:t>【</a:t>
            </a:r>
            <a:r>
              <a:rPr lang="zh-CN" altLang="en-US"/>
              <a:t>基本等值式</a:t>
            </a:r>
            <a:r>
              <a:rPr lang="en-US" altLang="zh-CN"/>
              <a:t>】</a:t>
            </a:r>
            <a:endParaRPr lang="zh-CN" altLang="en-US"/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229600" cy="5400675"/>
          </a:xfrm>
        </p:spPr>
        <p:txBody>
          <a:bodyPr/>
          <a:lstStyle/>
          <a:p>
            <a:pPr marL="457200" indent="-457200" eaLnBrk="1" hangingPunct="1"/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latin typeface="Times New Roman" panose="02020603050405020304" pitchFamily="18" charset="0"/>
              </a:rPr>
              <a:t>量词辖域收缩与扩张等值式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en-US" altLang="zh-CN" dirty="0">
                <a:latin typeface="Times New Roman" panose="02020603050405020304" pitchFamily="18" charset="0"/>
              </a:rPr>
              <a:t>     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)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是含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x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自由出现的公式，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B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中不含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x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的自由出现</a:t>
            </a:r>
          </a:p>
          <a:p>
            <a:pPr marL="457200" indent="-457200" eaLnBrk="1" hangingPunct="1"/>
            <a:r>
              <a:rPr lang="zh-CN" altLang="en-US" dirty="0">
                <a:latin typeface="Times New Roman" panose="02020603050405020304" pitchFamily="18" charset="0"/>
              </a:rPr>
              <a:t>     关于全称量词的：</a:t>
            </a:r>
          </a:p>
          <a:p>
            <a:pPr marL="457200" indent="-457200" eaLnBrk="1" hangingPunct="1"/>
            <a:r>
              <a:rPr lang="zh-CN" altLang="en-US" dirty="0">
                <a:latin typeface="Times New Roman" panose="02020603050405020304" pitchFamily="18" charset="0"/>
              </a:rPr>
              <a:t>         ①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</a:rPr>
              <a:t>xA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en-US" altLang="zh-CN" dirty="0">
                <a:latin typeface="Times New Roman" panose="02020603050405020304" pitchFamily="18" charset="0"/>
              </a:rPr>
              <a:t>         ②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</a:rPr>
              <a:t>xA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en-US" altLang="zh-CN" dirty="0">
                <a:latin typeface="Times New Roman" panose="02020603050405020304" pitchFamily="18" charset="0"/>
              </a:rPr>
              <a:t>        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③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xA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en-US" altLang="zh-CN" dirty="0">
                <a:latin typeface="Times New Roman" panose="02020603050405020304" pitchFamily="18" charset="0"/>
              </a:rPr>
              <a:t>         ④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</a:t>
            </a:r>
            <a:r>
              <a:rPr lang="en-US" altLang="zh-CN" i="1" dirty="0">
                <a:latin typeface="Times New Roman" panose="02020603050405020304" pitchFamily="18" charset="0"/>
              </a:rPr>
              <a:t>xA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   </a:t>
            </a:r>
          </a:p>
          <a:p>
            <a:pPr marL="457200" indent="-457200" eaLnBrk="1" hangingPunct="1"/>
            <a:r>
              <a:rPr lang="zh-CN" altLang="en-US" dirty="0">
                <a:latin typeface="Times New Roman" panose="02020603050405020304" pitchFamily="18" charset="0"/>
              </a:rPr>
              <a:t>     关于存在量词的：</a:t>
            </a:r>
          </a:p>
          <a:p>
            <a:pPr marL="457200" indent="-457200" eaLnBrk="1" hangingPunct="1"/>
            <a:r>
              <a:rPr lang="zh-CN" altLang="en-US" dirty="0">
                <a:latin typeface="Times New Roman" panose="02020603050405020304" pitchFamily="18" charset="0"/>
              </a:rPr>
              <a:t>        ①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latin typeface="Times New Roman" panose="02020603050405020304" pitchFamily="18" charset="0"/>
              </a:rPr>
              <a:t>xA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en-US" altLang="zh-CN" dirty="0">
                <a:latin typeface="Times New Roman" panose="02020603050405020304" pitchFamily="18" charset="0"/>
              </a:rPr>
              <a:t>        ②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latin typeface="Times New Roman" panose="02020603050405020304" pitchFamily="18" charset="0"/>
              </a:rPr>
              <a:t>xA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 ③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xA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en-US" altLang="zh-CN" dirty="0">
                <a:latin typeface="Times New Roman" panose="02020603050405020304" pitchFamily="18" charset="0"/>
              </a:rPr>
              <a:t>        ④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</a:t>
            </a:r>
            <a:r>
              <a:rPr lang="en-US" altLang="zh-CN" i="1" dirty="0">
                <a:latin typeface="Times New Roman" panose="02020603050405020304" pitchFamily="18" charset="0"/>
              </a:rPr>
              <a:t>xA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 marL="457200" indent="-457200" eaLnBrk="1" hangingPunct="1"/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2B20E30-7ED0-4126-8929-8028C0C72C62}" type="slidenum">
              <a:rPr lang="en-US" altLang="zh-CN" sz="1400" b="0"/>
              <a:t>8</a:t>
            </a:fld>
            <a:endParaRPr lang="en-US" altLang="zh-CN" sz="1400" b="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/>
              <a:t>证明：基本等值式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③</a:t>
            </a:r>
            <a:endParaRPr lang="zh-CN" altLang="en-US" dirty="0"/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60476" y="1180225"/>
            <a:ext cx="7426324" cy="5400675"/>
          </a:xfrm>
        </p:spPr>
        <p:txBody>
          <a:bodyPr/>
          <a:lstStyle/>
          <a:p>
            <a:pPr marL="457200" indent="-457200" eaLnBrk="1" hangingPunct="1"/>
            <a:r>
              <a:rPr lang="zh-CN" altLang="en-US" dirty="0">
                <a:latin typeface="Times New Roman" panose="02020603050405020304" pitchFamily="18" charset="0"/>
              </a:rPr>
              <a:t>关于全称量词的：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③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xA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 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 marL="457200" indent="-457200" eaLnBrk="1" hangingPunct="1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 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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xA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457200" indent="-457200" eaLnBrk="1" hangingPunct="1"/>
            <a:endParaRPr lang="en-US" altLang="zh-CN" sz="800" dirty="0"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zh-CN" altLang="en-US" dirty="0">
                <a:latin typeface="Times New Roman" panose="02020603050405020304" pitchFamily="18" charset="0"/>
              </a:rPr>
              <a:t>关于存在量词的：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③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xA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 </a:t>
            </a:r>
          </a:p>
          <a:p>
            <a:pPr marL="457200" indent="-457200" eaLnBrk="1" hangingPunct="1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</a:p>
          <a:p>
            <a:pPr marL="457200" indent="-457200" eaLnBrk="1" hangingPunct="1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</a:rPr>
              <a:t>xA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xA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457200" indent="-457200" eaLnBrk="1" hangingPunct="1"/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2" name="Text Box 18"/>
          <p:cNvSpPr txBox="1">
            <a:spLocks noChangeArrowheads="1"/>
          </p:cNvSpPr>
          <p:nvPr/>
        </p:nvSpPr>
        <p:spPr bwMode="auto">
          <a:xfrm>
            <a:off x="251520" y="1628800"/>
            <a:ext cx="943024" cy="461665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楷体_GB2312" charset="-122"/>
              </a:rPr>
              <a:t>证明：</a:t>
            </a:r>
          </a:p>
        </p:txBody>
      </p:sp>
      <p:sp>
        <p:nvSpPr>
          <p:cNvPr id="13" name="Text Box 18"/>
          <p:cNvSpPr txBox="1">
            <a:spLocks noChangeArrowheads="1"/>
          </p:cNvSpPr>
          <p:nvPr/>
        </p:nvSpPr>
        <p:spPr bwMode="auto">
          <a:xfrm>
            <a:off x="251520" y="4536703"/>
            <a:ext cx="943024" cy="461665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楷体_GB2312" charset="-122"/>
              </a:rPr>
              <a:t>证明：</a:t>
            </a: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4408737" y="1628800"/>
            <a:ext cx="3259607" cy="2304256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eaLnBrk="1" hangingPunct="1"/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18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18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18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lang="en-US" altLang="zh-CN" sz="1800" dirty="0"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en-US" altLang="zh-CN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1800" dirty="0">
                <a:latin typeface="Times New Roman" panose="02020603050405020304" pitchFamily="18" charset="0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</a:rPr>
              <a:t>A</a:t>
            </a:r>
            <a:r>
              <a:rPr lang="en-US" altLang="zh-CN" sz="1800" dirty="0">
                <a:latin typeface="Times New Roman" panose="02020603050405020304" pitchFamily="18" charset="0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</a:rPr>
              <a:t>a</a:t>
            </a:r>
            <a:r>
              <a:rPr lang="en-US" altLang="zh-CN" sz="1800" dirty="0">
                <a:latin typeface="Times New Roman" panose="02020603050405020304" pitchFamily="18" charset="0"/>
              </a:rPr>
              <a:t>)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i="1" dirty="0">
                <a:latin typeface="Times New Roman" panose="02020603050405020304" pitchFamily="18" charset="0"/>
              </a:rPr>
              <a:t>B</a:t>
            </a:r>
            <a:r>
              <a:rPr lang="en-US" altLang="zh-CN" sz="1800" dirty="0">
                <a:latin typeface="Times New Roman" panose="02020603050405020304" pitchFamily="18" charset="0"/>
              </a:rPr>
              <a:t>)</a:t>
            </a:r>
            <a:r>
              <a:rPr lang="en-US" altLang="zh-CN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 </a:t>
            </a:r>
            <a:r>
              <a:rPr lang="en-US" altLang="zh-CN" sz="1800" dirty="0">
                <a:latin typeface="Times New Roman" panose="02020603050405020304" pitchFamily="18" charset="0"/>
              </a:rPr>
              <a:t> (</a:t>
            </a:r>
            <a:r>
              <a:rPr lang="en-US" altLang="zh-CN" sz="1800" i="1" dirty="0">
                <a:latin typeface="Times New Roman" panose="02020603050405020304" pitchFamily="18" charset="0"/>
              </a:rPr>
              <a:t>A</a:t>
            </a:r>
            <a:r>
              <a:rPr lang="en-US" altLang="zh-CN" sz="1800" dirty="0">
                <a:latin typeface="Times New Roman" panose="02020603050405020304" pitchFamily="18" charset="0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</a:rPr>
              <a:t>b</a:t>
            </a:r>
            <a:r>
              <a:rPr lang="en-US" altLang="zh-CN" sz="1800" dirty="0">
                <a:latin typeface="Times New Roman" panose="02020603050405020304" pitchFamily="18" charset="0"/>
              </a:rPr>
              <a:t>)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i="1" dirty="0">
                <a:latin typeface="Times New Roman" panose="02020603050405020304" pitchFamily="18" charset="0"/>
              </a:rPr>
              <a:t>B</a:t>
            </a:r>
            <a:r>
              <a:rPr lang="en-US" altLang="zh-CN" sz="1800" dirty="0">
                <a:latin typeface="Times New Roman" panose="02020603050405020304" pitchFamily="18" charset="0"/>
              </a:rPr>
              <a:t>)</a:t>
            </a:r>
          </a:p>
          <a:p>
            <a:pPr marL="457200" indent="-457200" eaLnBrk="1" hangingPunct="1"/>
            <a:r>
              <a:rPr lang="en-US" altLang="zh-CN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1800" dirty="0">
                <a:latin typeface="Times New Roman" panose="02020603050405020304" pitchFamily="18" charset="0"/>
              </a:rPr>
              <a:t>(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 </a:t>
            </a:r>
            <a:r>
              <a:rPr lang="en-US" altLang="zh-CN" sz="1800" i="1" dirty="0">
                <a:latin typeface="Times New Roman" panose="02020603050405020304" pitchFamily="18" charset="0"/>
              </a:rPr>
              <a:t>A</a:t>
            </a:r>
            <a:r>
              <a:rPr lang="en-US" altLang="zh-CN" sz="1800" dirty="0">
                <a:latin typeface="Times New Roman" panose="02020603050405020304" pitchFamily="18" charset="0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</a:rPr>
              <a:t>a</a:t>
            </a:r>
            <a:r>
              <a:rPr lang="en-US" altLang="zh-CN" sz="1800" dirty="0">
                <a:latin typeface="Times New Roman" panose="02020603050405020304" pitchFamily="18" charset="0"/>
              </a:rPr>
              <a:t>)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</a:t>
            </a:r>
            <a:r>
              <a:rPr lang="en-US" altLang="zh-CN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i="1" dirty="0">
                <a:latin typeface="Times New Roman" panose="02020603050405020304" pitchFamily="18" charset="0"/>
              </a:rPr>
              <a:t>B</a:t>
            </a:r>
            <a:r>
              <a:rPr lang="en-US" altLang="zh-CN" sz="1800" dirty="0">
                <a:latin typeface="Times New Roman" panose="02020603050405020304" pitchFamily="18" charset="0"/>
              </a:rPr>
              <a:t>)</a:t>
            </a:r>
            <a:r>
              <a:rPr lang="en-US" altLang="zh-CN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 </a:t>
            </a:r>
            <a:r>
              <a:rPr lang="en-US" altLang="zh-CN" sz="1800" dirty="0">
                <a:latin typeface="Times New Roman" panose="02020603050405020304" pitchFamily="18" charset="0"/>
              </a:rPr>
              <a:t> (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 </a:t>
            </a:r>
            <a:r>
              <a:rPr lang="en-US" altLang="zh-CN" sz="1800" i="1" dirty="0">
                <a:latin typeface="Times New Roman" panose="02020603050405020304" pitchFamily="18" charset="0"/>
              </a:rPr>
              <a:t>A</a:t>
            </a:r>
            <a:r>
              <a:rPr lang="en-US" altLang="zh-CN" sz="1800" dirty="0">
                <a:latin typeface="Times New Roman" panose="02020603050405020304" pitchFamily="18" charset="0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</a:rPr>
              <a:t>b</a:t>
            </a:r>
            <a:r>
              <a:rPr lang="en-US" altLang="zh-CN" sz="1800" dirty="0">
                <a:latin typeface="Times New Roman" panose="02020603050405020304" pitchFamily="18" charset="0"/>
              </a:rPr>
              <a:t>)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 </a:t>
            </a:r>
            <a:r>
              <a:rPr lang="en-US" altLang="zh-CN" sz="1800" i="1" dirty="0">
                <a:latin typeface="Times New Roman" panose="02020603050405020304" pitchFamily="18" charset="0"/>
              </a:rPr>
              <a:t>B</a:t>
            </a:r>
            <a:r>
              <a:rPr lang="en-US" altLang="zh-CN" sz="1800" dirty="0">
                <a:latin typeface="Times New Roman" panose="02020603050405020304" pitchFamily="18" charset="0"/>
              </a:rPr>
              <a:t>)</a:t>
            </a:r>
          </a:p>
          <a:p>
            <a:pPr marL="457200" indent="-457200" eaLnBrk="1" hangingPunct="1"/>
            <a:r>
              <a:rPr lang="en-US" altLang="zh-CN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1800" dirty="0">
                <a:latin typeface="Times New Roman" panose="02020603050405020304" pitchFamily="18" charset="0"/>
              </a:rPr>
              <a:t>(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 </a:t>
            </a:r>
            <a:r>
              <a:rPr lang="en-US" altLang="zh-CN" sz="1800" i="1" dirty="0">
                <a:latin typeface="Times New Roman" panose="02020603050405020304" pitchFamily="18" charset="0"/>
              </a:rPr>
              <a:t>A</a:t>
            </a:r>
            <a:r>
              <a:rPr lang="en-US" altLang="zh-CN" sz="1800" dirty="0">
                <a:latin typeface="Times New Roman" panose="02020603050405020304" pitchFamily="18" charset="0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</a:rPr>
              <a:t>a</a:t>
            </a:r>
            <a:r>
              <a:rPr lang="en-US" altLang="zh-CN" sz="1800" dirty="0">
                <a:latin typeface="Times New Roman" panose="02020603050405020304" pitchFamily="18" charset="0"/>
              </a:rPr>
              <a:t>)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1800" dirty="0">
                <a:latin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 </a:t>
            </a:r>
            <a:r>
              <a:rPr lang="en-US" altLang="zh-CN" sz="1800" i="1" dirty="0">
                <a:latin typeface="Times New Roman" panose="02020603050405020304" pitchFamily="18" charset="0"/>
              </a:rPr>
              <a:t>A</a:t>
            </a:r>
            <a:r>
              <a:rPr lang="en-US" altLang="zh-CN" sz="1800" dirty="0">
                <a:latin typeface="Times New Roman" panose="02020603050405020304" pitchFamily="18" charset="0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</a:rPr>
              <a:t>b</a:t>
            </a:r>
            <a:r>
              <a:rPr lang="en-US" altLang="zh-CN" sz="1800" dirty="0">
                <a:latin typeface="Times New Roman" panose="02020603050405020304" pitchFamily="18" charset="0"/>
              </a:rPr>
              <a:t>)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</a:rPr>
              <a:t>)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1800" i="1" dirty="0">
                <a:latin typeface="Times New Roman" panose="02020603050405020304" pitchFamily="18" charset="0"/>
              </a:rPr>
              <a:t>B</a:t>
            </a:r>
            <a:endParaRPr lang="en-US" altLang="zh-CN" sz="1800" dirty="0"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en-US" altLang="zh-CN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</a:t>
            </a:r>
            <a:r>
              <a:rPr lang="en-US" altLang="zh-CN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</a:rPr>
              <a:t>A</a:t>
            </a:r>
            <a:r>
              <a:rPr lang="en-US" altLang="zh-CN" sz="1800" dirty="0">
                <a:latin typeface="Times New Roman" panose="02020603050405020304" pitchFamily="18" charset="0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</a:rPr>
              <a:t>a</a:t>
            </a:r>
            <a:r>
              <a:rPr lang="en-US" altLang="zh-CN" sz="1800" dirty="0">
                <a:latin typeface="Times New Roman" panose="02020603050405020304" pitchFamily="18" charset="0"/>
              </a:rPr>
              <a:t>)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 </a:t>
            </a:r>
            <a:r>
              <a:rPr lang="en-US" altLang="zh-CN" sz="1800" i="1" dirty="0">
                <a:latin typeface="Times New Roman" panose="02020603050405020304" pitchFamily="18" charset="0"/>
              </a:rPr>
              <a:t>A</a:t>
            </a:r>
            <a:r>
              <a:rPr lang="en-US" altLang="zh-CN" sz="1800" dirty="0">
                <a:latin typeface="Times New Roman" panose="02020603050405020304" pitchFamily="18" charset="0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</a:rPr>
              <a:t>b</a:t>
            </a:r>
            <a:r>
              <a:rPr lang="en-US" altLang="zh-CN" sz="1800" dirty="0">
                <a:latin typeface="Times New Roman" panose="02020603050405020304" pitchFamily="18" charset="0"/>
              </a:rPr>
              <a:t>)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</a:rPr>
              <a:t>)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1800" i="1" dirty="0">
                <a:latin typeface="Times New Roman" panose="02020603050405020304" pitchFamily="18" charset="0"/>
              </a:rPr>
              <a:t>B</a:t>
            </a:r>
            <a:endParaRPr lang="en-US" altLang="zh-CN" sz="1800" dirty="0"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en-US" altLang="zh-CN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</a:rPr>
              <a:t>A</a:t>
            </a:r>
            <a:r>
              <a:rPr lang="en-US" altLang="zh-CN" sz="1800" dirty="0">
                <a:latin typeface="Times New Roman" panose="02020603050405020304" pitchFamily="18" charset="0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</a:rPr>
              <a:t>a</a:t>
            </a:r>
            <a:r>
              <a:rPr lang="en-US" altLang="zh-CN" sz="1800" dirty="0">
                <a:latin typeface="Times New Roman" panose="02020603050405020304" pitchFamily="18" charset="0"/>
              </a:rPr>
              <a:t>)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 </a:t>
            </a:r>
            <a:r>
              <a:rPr lang="en-US" altLang="zh-CN" sz="1800" i="1" dirty="0">
                <a:latin typeface="Times New Roman" panose="02020603050405020304" pitchFamily="18" charset="0"/>
              </a:rPr>
              <a:t>A</a:t>
            </a:r>
            <a:r>
              <a:rPr lang="en-US" altLang="zh-CN" sz="1800" dirty="0">
                <a:latin typeface="Times New Roman" panose="02020603050405020304" pitchFamily="18" charset="0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</a:rPr>
              <a:t>b</a:t>
            </a:r>
            <a:r>
              <a:rPr lang="en-US" altLang="zh-CN" sz="1800" dirty="0">
                <a:latin typeface="Times New Roman" panose="02020603050405020304" pitchFamily="18" charset="0"/>
              </a:rPr>
              <a:t>)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</a:rPr>
              <a:t>) </a:t>
            </a:r>
            <a:r>
              <a:rPr lang="en-US" altLang="zh-CN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i="1" dirty="0">
                <a:latin typeface="Times New Roman" panose="02020603050405020304" pitchFamily="18" charset="0"/>
              </a:rPr>
              <a:t>B</a:t>
            </a:r>
            <a:endParaRPr lang="en-US" altLang="zh-CN" sz="1800" dirty="0"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18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xA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18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endParaRPr lang="en-US" altLang="zh-CN" sz="1800" dirty="0">
              <a:latin typeface="Times New Roman" panose="02020603050405020304" pitchFamily="18" charset="0"/>
            </a:endParaRPr>
          </a:p>
          <a:p>
            <a:pPr marL="457200" indent="-457200" eaLnBrk="1" hangingPunct="1"/>
            <a:endParaRPr lang="en-US" altLang="zh-CN" sz="1800" dirty="0">
              <a:latin typeface="Times New Roman" panose="02020603050405020304" pitchFamily="18" charset="0"/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4408737" y="4417219"/>
            <a:ext cx="3259608" cy="2304256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eaLnBrk="1" hangingPunct="1"/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18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18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18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lang="en-US" altLang="zh-CN" sz="1800" dirty="0"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en-US" altLang="zh-CN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1800" dirty="0">
                <a:latin typeface="Times New Roman" panose="02020603050405020304" pitchFamily="18" charset="0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</a:rPr>
              <a:t>A</a:t>
            </a:r>
            <a:r>
              <a:rPr lang="en-US" altLang="zh-CN" sz="1800" dirty="0">
                <a:latin typeface="Times New Roman" panose="02020603050405020304" pitchFamily="18" charset="0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</a:rPr>
              <a:t>a</a:t>
            </a:r>
            <a:r>
              <a:rPr lang="en-US" altLang="zh-CN" sz="1800" dirty="0">
                <a:latin typeface="Times New Roman" panose="02020603050405020304" pitchFamily="18" charset="0"/>
              </a:rPr>
              <a:t>)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i="1" dirty="0">
                <a:latin typeface="Times New Roman" panose="02020603050405020304" pitchFamily="18" charset="0"/>
              </a:rPr>
              <a:t>B</a:t>
            </a:r>
            <a:r>
              <a:rPr lang="en-US" altLang="zh-CN" sz="1800" dirty="0">
                <a:latin typeface="Times New Roman" panose="02020603050405020304" pitchFamily="18" charset="0"/>
              </a:rPr>
              <a:t>)</a:t>
            </a:r>
            <a:r>
              <a:rPr lang="en-US" altLang="zh-CN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1800" dirty="0">
                <a:latin typeface="Times New Roman" panose="02020603050405020304" pitchFamily="18" charset="0"/>
              </a:rPr>
              <a:t> (</a:t>
            </a:r>
            <a:r>
              <a:rPr lang="en-US" altLang="zh-CN" sz="1800" i="1" dirty="0">
                <a:latin typeface="Times New Roman" panose="02020603050405020304" pitchFamily="18" charset="0"/>
              </a:rPr>
              <a:t>A</a:t>
            </a:r>
            <a:r>
              <a:rPr lang="en-US" altLang="zh-CN" sz="1800" dirty="0">
                <a:latin typeface="Times New Roman" panose="02020603050405020304" pitchFamily="18" charset="0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</a:rPr>
              <a:t>b</a:t>
            </a:r>
            <a:r>
              <a:rPr lang="en-US" altLang="zh-CN" sz="1800" dirty="0">
                <a:latin typeface="Times New Roman" panose="02020603050405020304" pitchFamily="18" charset="0"/>
              </a:rPr>
              <a:t>)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1800" i="1" dirty="0">
                <a:latin typeface="Times New Roman" panose="02020603050405020304" pitchFamily="18" charset="0"/>
              </a:rPr>
              <a:t>B</a:t>
            </a:r>
            <a:r>
              <a:rPr lang="en-US" altLang="zh-CN" sz="1800" dirty="0">
                <a:latin typeface="Times New Roman" panose="02020603050405020304" pitchFamily="18" charset="0"/>
              </a:rPr>
              <a:t>)</a:t>
            </a:r>
          </a:p>
          <a:p>
            <a:pPr marL="457200" indent="-457200" eaLnBrk="1" hangingPunct="1"/>
            <a:r>
              <a:rPr lang="en-US" altLang="zh-CN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1800" dirty="0">
                <a:latin typeface="Times New Roman" panose="02020603050405020304" pitchFamily="18" charset="0"/>
              </a:rPr>
              <a:t>(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 </a:t>
            </a:r>
            <a:r>
              <a:rPr lang="en-US" altLang="zh-CN" sz="1800" i="1" dirty="0">
                <a:latin typeface="Times New Roman" panose="02020603050405020304" pitchFamily="18" charset="0"/>
              </a:rPr>
              <a:t>A</a:t>
            </a:r>
            <a:r>
              <a:rPr lang="en-US" altLang="zh-CN" sz="1800" dirty="0">
                <a:latin typeface="Times New Roman" panose="02020603050405020304" pitchFamily="18" charset="0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</a:rPr>
              <a:t>a</a:t>
            </a:r>
            <a:r>
              <a:rPr lang="en-US" altLang="zh-CN" sz="1800" dirty="0">
                <a:latin typeface="Times New Roman" panose="02020603050405020304" pitchFamily="18" charset="0"/>
              </a:rPr>
              <a:t>)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</a:t>
            </a:r>
            <a:r>
              <a:rPr lang="en-US" altLang="zh-CN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i="1" dirty="0">
                <a:latin typeface="Times New Roman" panose="02020603050405020304" pitchFamily="18" charset="0"/>
              </a:rPr>
              <a:t>B</a:t>
            </a:r>
            <a:r>
              <a:rPr lang="en-US" altLang="zh-CN" sz="1800" dirty="0">
                <a:latin typeface="Times New Roman" panose="02020603050405020304" pitchFamily="18" charset="0"/>
              </a:rPr>
              <a:t>)</a:t>
            </a:r>
            <a:r>
              <a:rPr lang="en-US" altLang="zh-CN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1800" dirty="0">
                <a:latin typeface="Times New Roman" panose="02020603050405020304" pitchFamily="18" charset="0"/>
              </a:rPr>
              <a:t> (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 </a:t>
            </a:r>
            <a:r>
              <a:rPr lang="en-US" altLang="zh-CN" sz="1800" i="1" dirty="0">
                <a:latin typeface="Times New Roman" panose="02020603050405020304" pitchFamily="18" charset="0"/>
              </a:rPr>
              <a:t>A</a:t>
            </a:r>
            <a:r>
              <a:rPr lang="en-US" altLang="zh-CN" sz="1800" dirty="0">
                <a:latin typeface="Times New Roman" panose="02020603050405020304" pitchFamily="18" charset="0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</a:rPr>
              <a:t>b</a:t>
            </a:r>
            <a:r>
              <a:rPr lang="en-US" altLang="zh-CN" sz="1800" dirty="0">
                <a:latin typeface="Times New Roman" panose="02020603050405020304" pitchFamily="18" charset="0"/>
              </a:rPr>
              <a:t>)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 </a:t>
            </a:r>
            <a:r>
              <a:rPr lang="en-US" altLang="zh-CN" sz="1800" i="1" dirty="0">
                <a:latin typeface="Times New Roman" panose="02020603050405020304" pitchFamily="18" charset="0"/>
              </a:rPr>
              <a:t>B</a:t>
            </a:r>
            <a:r>
              <a:rPr lang="en-US" altLang="zh-CN" sz="1800" dirty="0">
                <a:latin typeface="Times New Roman" panose="02020603050405020304" pitchFamily="18" charset="0"/>
              </a:rPr>
              <a:t>)</a:t>
            </a:r>
          </a:p>
          <a:p>
            <a:pPr marL="457200" indent="-457200" eaLnBrk="1" hangingPunct="1"/>
            <a:r>
              <a:rPr lang="en-US" altLang="zh-CN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1800" dirty="0">
                <a:latin typeface="Times New Roman" panose="02020603050405020304" pitchFamily="18" charset="0"/>
              </a:rPr>
              <a:t>(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 </a:t>
            </a:r>
            <a:r>
              <a:rPr lang="en-US" altLang="zh-CN" sz="1800" i="1" dirty="0">
                <a:latin typeface="Times New Roman" panose="02020603050405020304" pitchFamily="18" charset="0"/>
              </a:rPr>
              <a:t>A</a:t>
            </a:r>
            <a:r>
              <a:rPr lang="en-US" altLang="zh-CN" sz="1800" dirty="0">
                <a:latin typeface="Times New Roman" panose="02020603050405020304" pitchFamily="18" charset="0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</a:rPr>
              <a:t>a</a:t>
            </a:r>
            <a:r>
              <a:rPr lang="en-US" altLang="zh-CN" sz="1800" dirty="0">
                <a:latin typeface="Times New Roman" panose="02020603050405020304" pitchFamily="18" charset="0"/>
              </a:rPr>
              <a:t>)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</a:t>
            </a:r>
            <a:r>
              <a:rPr lang="en-US" altLang="zh-CN" sz="1800" dirty="0">
                <a:latin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 </a:t>
            </a:r>
            <a:r>
              <a:rPr lang="en-US" altLang="zh-CN" sz="1800" i="1" dirty="0">
                <a:latin typeface="Times New Roman" panose="02020603050405020304" pitchFamily="18" charset="0"/>
              </a:rPr>
              <a:t>A</a:t>
            </a:r>
            <a:r>
              <a:rPr lang="en-US" altLang="zh-CN" sz="1800" dirty="0">
                <a:latin typeface="Times New Roman" panose="02020603050405020304" pitchFamily="18" charset="0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</a:rPr>
              <a:t>b</a:t>
            </a:r>
            <a:r>
              <a:rPr lang="en-US" altLang="zh-CN" sz="1800" dirty="0">
                <a:latin typeface="Times New Roman" panose="02020603050405020304" pitchFamily="18" charset="0"/>
              </a:rPr>
              <a:t>)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</a:rPr>
              <a:t>)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1800" i="1" dirty="0">
                <a:latin typeface="Times New Roman" panose="02020603050405020304" pitchFamily="18" charset="0"/>
              </a:rPr>
              <a:t>B</a:t>
            </a:r>
            <a:endParaRPr lang="en-US" altLang="zh-CN" sz="1800" dirty="0"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en-US" altLang="zh-CN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</a:t>
            </a:r>
            <a:r>
              <a:rPr lang="en-US" altLang="zh-CN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</a:rPr>
              <a:t>A</a:t>
            </a:r>
            <a:r>
              <a:rPr lang="en-US" altLang="zh-CN" sz="1800" dirty="0">
                <a:latin typeface="Times New Roman" panose="02020603050405020304" pitchFamily="18" charset="0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</a:rPr>
              <a:t>a</a:t>
            </a:r>
            <a:r>
              <a:rPr lang="en-US" altLang="zh-CN" sz="1800" dirty="0">
                <a:latin typeface="Times New Roman" panose="02020603050405020304" pitchFamily="18" charset="0"/>
              </a:rPr>
              <a:t>)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i="1" dirty="0">
                <a:latin typeface="Times New Roman" panose="02020603050405020304" pitchFamily="18" charset="0"/>
              </a:rPr>
              <a:t>A</a:t>
            </a:r>
            <a:r>
              <a:rPr lang="en-US" altLang="zh-CN" sz="1800" dirty="0">
                <a:latin typeface="Times New Roman" panose="02020603050405020304" pitchFamily="18" charset="0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</a:rPr>
              <a:t>b</a:t>
            </a:r>
            <a:r>
              <a:rPr lang="en-US" altLang="zh-CN" sz="1800" dirty="0">
                <a:latin typeface="Times New Roman" panose="02020603050405020304" pitchFamily="18" charset="0"/>
              </a:rPr>
              <a:t>)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</a:rPr>
              <a:t>)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1800" i="1" dirty="0">
                <a:latin typeface="Times New Roman" panose="02020603050405020304" pitchFamily="18" charset="0"/>
              </a:rPr>
              <a:t>B</a:t>
            </a:r>
            <a:endParaRPr lang="en-US" altLang="zh-CN" sz="1800" dirty="0"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en-US" altLang="zh-CN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</a:rPr>
              <a:t>A</a:t>
            </a:r>
            <a:r>
              <a:rPr lang="en-US" altLang="zh-CN" sz="1800" dirty="0">
                <a:latin typeface="Times New Roman" panose="02020603050405020304" pitchFamily="18" charset="0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</a:rPr>
              <a:t>a</a:t>
            </a:r>
            <a:r>
              <a:rPr lang="en-US" altLang="zh-CN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 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i="1" dirty="0">
                <a:latin typeface="Times New Roman" panose="02020603050405020304" pitchFamily="18" charset="0"/>
              </a:rPr>
              <a:t>A</a:t>
            </a:r>
            <a:r>
              <a:rPr lang="en-US" altLang="zh-CN" sz="1800" dirty="0">
                <a:latin typeface="Times New Roman" panose="02020603050405020304" pitchFamily="18" charset="0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</a:rPr>
              <a:t>b</a:t>
            </a:r>
            <a:r>
              <a:rPr lang="en-US" altLang="zh-CN" sz="1800" dirty="0">
                <a:latin typeface="Times New Roman" panose="02020603050405020304" pitchFamily="18" charset="0"/>
              </a:rPr>
              <a:t>)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</a:rPr>
              <a:t>) </a:t>
            </a:r>
            <a:r>
              <a:rPr lang="en-US" altLang="zh-CN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i="1" dirty="0">
                <a:latin typeface="Times New Roman" panose="02020603050405020304" pitchFamily="18" charset="0"/>
              </a:rPr>
              <a:t>B</a:t>
            </a:r>
            <a:endParaRPr lang="en-US" altLang="zh-CN" sz="1800" dirty="0">
              <a:latin typeface="Times New Roman" panose="02020603050405020304" pitchFamily="18" charset="0"/>
            </a:endParaRPr>
          </a:p>
          <a:p>
            <a:pPr marL="457200" indent="-457200" eaLnBrk="1" hangingPunct="1"/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18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xA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18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endParaRPr lang="en-US" altLang="zh-CN" sz="1800" dirty="0">
              <a:latin typeface="Times New Roman" panose="02020603050405020304" pitchFamily="18" charset="0"/>
            </a:endParaRPr>
          </a:p>
          <a:p>
            <a:pPr marL="457200" indent="-457200" eaLnBrk="1" hangingPunct="1"/>
            <a:endParaRPr lang="en-US" altLang="zh-CN" sz="1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 autoUpdateAnimBg="0"/>
      <p:bldP spid="13" grpId="0" animBg="1" autoUpdateAnimBg="0"/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9195667-8A05-42DB-B9EA-0805E48EAF37}" type="slidenum">
              <a:rPr lang="en-US" altLang="zh-CN" sz="1400" b="0"/>
              <a:t>9</a:t>
            </a:fld>
            <a:endParaRPr lang="en-US" altLang="zh-CN" sz="1400" b="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/>
              <a:t>【</a:t>
            </a:r>
            <a:r>
              <a:rPr lang="zh-CN" altLang="en-US"/>
              <a:t>基本等值式</a:t>
            </a:r>
            <a:r>
              <a:rPr lang="en-US" altLang="zh-CN"/>
              <a:t>】</a:t>
            </a:r>
            <a:endParaRPr lang="zh-CN" altLang="en-US"/>
          </a:p>
        </p:txBody>
      </p:sp>
      <p:sp>
        <p:nvSpPr>
          <p:cNvPr id="272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052513"/>
            <a:ext cx="8229600" cy="4176712"/>
          </a:xfrm>
        </p:spPr>
        <p:txBody>
          <a:bodyPr/>
          <a:lstStyle/>
          <a:p>
            <a:pPr marL="457200" indent="-457200" eaLnBrk="1" hangingPunct="1"/>
            <a:r>
              <a:rPr lang="en-US" altLang="zh-CN" dirty="0">
                <a:latin typeface="Times New Roman" panose="02020603050405020304" pitchFamily="18" charset="0"/>
              </a:rPr>
              <a:t>     (4) </a:t>
            </a:r>
            <a:r>
              <a:rPr lang="zh-CN" altLang="en-US" dirty="0">
                <a:latin typeface="Times New Roman" panose="02020603050405020304" pitchFamily="18" charset="0"/>
              </a:rPr>
              <a:t>量词分配等值式 </a:t>
            </a:r>
          </a:p>
          <a:p>
            <a:pPr marL="457200" indent="-457200" eaLnBrk="1" hangingPunct="1"/>
            <a:r>
              <a:rPr lang="zh-CN" altLang="en-US" dirty="0">
                <a:latin typeface="Times New Roman" panose="02020603050405020304" pitchFamily="18" charset="0"/>
              </a:rPr>
              <a:t>      ①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</a:rPr>
              <a:t>xA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</a:t>
            </a:r>
            <a:r>
              <a:rPr lang="en-US" altLang="zh-CN" i="1" dirty="0" err="1">
                <a:latin typeface="Times New Roman" panose="02020603050405020304" pitchFamily="18" charset="0"/>
              </a:rPr>
              <a:t>xB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 marL="457200" indent="-457200" eaLnBrk="1" hangingPunct="1"/>
            <a:r>
              <a:rPr lang="en-US" altLang="zh-CN" dirty="0">
                <a:latin typeface="Times New Roman" panose="02020603050405020304" pitchFamily="18" charset="0"/>
              </a:rPr>
              <a:t>      ②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latin typeface="Times New Roman" panose="02020603050405020304" pitchFamily="18" charset="0"/>
              </a:rPr>
              <a:t>xA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</a:t>
            </a:r>
            <a:r>
              <a:rPr lang="en-US" altLang="zh-CN" i="1" dirty="0" err="1">
                <a:latin typeface="Times New Roman" panose="02020603050405020304" pitchFamily="18" charset="0"/>
              </a:rPr>
              <a:t>xB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 marL="457200" indent="-457200" eaLnBrk="1" hangingPunct="1"/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      </a:t>
            </a:r>
            <a:r>
              <a:rPr lang="en-US" altLang="zh-CN" dirty="0">
                <a:latin typeface="Times New Roman" panose="02020603050405020304" pitchFamily="18" charset="0"/>
              </a:rPr>
              <a:t>③</a:t>
            </a:r>
          </a:p>
          <a:p>
            <a:pPr marL="457200" indent="-457200" eaLnBrk="1" hangingPunct="1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注意：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对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对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无分配律</a:t>
            </a:r>
          </a:p>
        </p:txBody>
      </p:sp>
      <p:graphicFrame>
        <p:nvGraphicFramePr>
          <p:cNvPr id="9" name="Object 34"/>
          <p:cNvGraphicFramePr>
            <a:graphicFrameLocks noChangeAspect="1"/>
          </p:cNvGraphicFramePr>
          <p:nvPr/>
        </p:nvGraphicFramePr>
        <p:xfrm>
          <a:off x="611188" y="3287713"/>
          <a:ext cx="6323012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3705165" imgH="2962910" progId="Equation.3">
                  <p:embed/>
                </p:oleObj>
              </mc:Choice>
              <mc:Fallback>
                <p:oleObj name="公式" r:id="rId3" imgW="33705165" imgH="296291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287713"/>
                        <a:ext cx="6323012" cy="552450"/>
                      </a:xfrm>
                      <a:prstGeom prst="rect">
                        <a:avLst/>
                      </a:prstGeom>
                      <a:solidFill>
                        <a:srgbClr val="ADE2A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7"/>
          <p:cNvGraphicFramePr>
            <a:graphicFrameLocks noChangeAspect="1"/>
          </p:cNvGraphicFramePr>
          <p:nvPr/>
        </p:nvGraphicFramePr>
        <p:xfrm>
          <a:off x="611188" y="3846513"/>
          <a:ext cx="6323012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2779335" imgH="2962910" progId="Equation.3">
                  <p:embed/>
                </p:oleObj>
              </mc:Choice>
              <mc:Fallback>
                <p:oleObj name="公式" r:id="rId5" imgW="32779335" imgH="296291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846513"/>
                        <a:ext cx="6323012" cy="554037"/>
                      </a:xfrm>
                      <a:prstGeom prst="rect">
                        <a:avLst/>
                      </a:prstGeom>
                      <a:solidFill>
                        <a:srgbClr val="ADE2A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40"/>
          <p:cNvSpPr>
            <a:spLocks noChangeArrowheads="1"/>
          </p:cNvSpPr>
          <p:nvPr/>
        </p:nvSpPr>
        <p:spPr bwMode="auto">
          <a:xfrm>
            <a:off x="3348038" y="3155950"/>
            <a:ext cx="558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800" b="0">
                <a:solidFill>
                  <a:srgbClr val="FF0000"/>
                </a:solidFill>
              </a:rPr>
              <a:t>×</a:t>
            </a:r>
            <a:endParaRPr lang="zh-CN" altLang="en-US" sz="4800" b="0">
              <a:solidFill>
                <a:srgbClr val="FF0000"/>
              </a:solidFill>
            </a:endParaRPr>
          </a:p>
        </p:txBody>
      </p:sp>
      <p:sp>
        <p:nvSpPr>
          <p:cNvPr id="12" name="Rectangle 41"/>
          <p:cNvSpPr>
            <a:spLocks noChangeArrowheads="1"/>
          </p:cNvSpPr>
          <p:nvPr/>
        </p:nvSpPr>
        <p:spPr bwMode="auto">
          <a:xfrm>
            <a:off x="3348038" y="3732213"/>
            <a:ext cx="6096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800" b="0">
                <a:solidFill>
                  <a:srgbClr val="FF0000"/>
                </a:solidFill>
              </a:rPr>
              <a:t>×</a:t>
            </a:r>
            <a:endParaRPr lang="zh-CN" altLang="en-US" sz="4800" b="0">
              <a:solidFill>
                <a:srgbClr val="FF0000"/>
              </a:solidFill>
            </a:endParaRPr>
          </a:p>
        </p:txBody>
      </p:sp>
      <p:graphicFrame>
        <p:nvGraphicFramePr>
          <p:cNvPr id="13" name="Object 38"/>
          <p:cNvGraphicFramePr>
            <a:graphicFrameLocks noChangeAspect="1"/>
          </p:cNvGraphicFramePr>
          <p:nvPr/>
        </p:nvGraphicFramePr>
        <p:xfrm>
          <a:off x="1331913" y="2424113"/>
          <a:ext cx="5327650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35187255" imgH="2962910" progId="Equation.3">
                  <p:embed/>
                </p:oleObj>
              </mc:Choice>
              <mc:Fallback>
                <p:oleObj name="公式" r:id="rId7" imgW="35187255" imgH="296291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424113"/>
                        <a:ext cx="5327650" cy="433387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39"/>
          <p:cNvGraphicFramePr>
            <a:graphicFrameLocks noChangeAspect="1"/>
          </p:cNvGraphicFramePr>
          <p:nvPr/>
        </p:nvGraphicFramePr>
        <p:xfrm>
          <a:off x="611188" y="4779963"/>
          <a:ext cx="655002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35001835" imgH="2962910" progId="Equation.3">
                  <p:embed/>
                </p:oleObj>
              </mc:Choice>
              <mc:Fallback>
                <p:oleObj name="公式" r:id="rId9" imgW="35001835" imgH="296291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779963"/>
                        <a:ext cx="6550025" cy="536575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42"/>
          <p:cNvSpPr>
            <a:spLocks noChangeArrowheads="1"/>
          </p:cNvSpPr>
          <p:nvPr/>
        </p:nvSpPr>
        <p:spPr bwMode="auto">
          <a:xfrm>
            <a:off x="3468688" y="4652963"/>
            <a:ext cx="67151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800" b="0">
                <a:solidFill>
                  <a:srgbClr val="FF0000"/>
                </a:solidFill>
              </a:rPr>
              <a:t>×</a:t>
            </a:r>
            <a:endParaRPr lang="zh-CN" altLang="en-US" sz="4800" b="0">
              <a:solidFill>
                <a:srgbClr val="FF0000"/>
              </a:solidFill>
            </a:endParaRPr>
          </a:p>
        </p:txBody>
      </p:sp>
      <p:graphicFrame>
        <p:nvGraphicFramePr>
          <p:cNvPr id="16" name="Object 39"/>
          <p:cNvGraphicFramePr>
            <a:graphicFrameLocks noChangeAspect="1"/>
          </p:cNvGraphicFramePr>
          <p:nvPr/>
        </p:nvGraphicFramePr>
        <p:xfrm>
          <a:off x="611188" y="5341938"/>
          <a:ext cx="655002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35927665" imgH="2962910" progId="Equation.3">
                  <p:embed/>
                </p:oleObj>
              </mc:Choice>
              <mc:Fallback>
                <p:oleObj name="公式" r:id="rId11" imgW="35927665" imgH="296291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341938"/>
                        <a:ext cx="6550025" cy="523875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42"/>
          <p:cNvSpPr>
            <a:spLocks noChangeArrowheads="1"/>
          </p:cNvSpPr>
          <p:nvPr/>
        </p:nvSpPr>
        <p:spPr bwMode="auto">
          <a:xfrm>
            <a:off x="3419475" y="5189538"/>
            <a:ext cx="67151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800" b="0">
                <a:solidFill>
                  <a:srgbClr val="FF0000"/>
                </a:solidFill>
              </a:rPr>
              <a:t>×</a:t>
            </a:r>
            <a:endParaRPr lang="zh-CN" altLang="en-US" sz="4800" b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F77CFED9-A193-4744-9DF8-10BAFC304920}" type="slidenum">
              <a:rPr lang="zh-CN" altLang="en-US" sz="1400" b="0"/>
              <a:t>10</a:t>
            </a:fld>
            <a:endParaRPr lang="en-US" altLang="zh-CN" sz="1400" b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证明：</a:t>
            </a:r>
            <a:r>
              <a:rPr lang="zh-CN" altLang="en-US">
                <a:latin typeface="Times New Roman" panose="02020603050405020304" pitchFamily="18" charset="0"/>
              </a:rPr>
              <a:t>量词分配等值式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</a:rPr>
              <a:t>③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  <a:endParaRPr lang="zh-CN" altLang="en-US"/>
          </a:p>
        </p:txBody>
      </p:sp>
      <p:graphicFrame>
        <p:nvGraphicFramePr>
          <p:cNvPr id="794654" name="Object 30"/>
          <p:cNvGraphicFramePr>
            <a:graphicFrameLocks noChangeAspect="1"/>
          </p:cNvGraphicFramePr>
          <p:nvPr/>
        </p:nvGraphicFramePr>
        <p:xfrm>
          <a:off x="860425" y="1211345"/>
          <a:ext cx="6888163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187255" imgH="2962910" progId="">
                  <p:embed/>
                </p:oleObj>
              </mc:Choice>
              <mc:Fallback>
                <p:oleObj name="Equation" r:id="rId2" imgW="35187255" imgH="2962910" progId="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425" y="1211345"/>
                        <a:ext cx="6888163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4656" name="Rectangle 32"/>
          <p:cNvSpPr>
            <a:spLocks noChangeArrowheads="1"/>
          </p:cNvSpPr>
          <p:nvPr/>
        </p:nvSpPr>
        <p:spPr bwMode="auto">
          <a:xfrm>
            <a:off x="1487488" y="2178050"/>
            <a:ext cx="6605587" cy="2835275"/>
          </a:xfrm>
          <a:prstGeom prst="rect">
            <a:avLst/>
          </a:prstGeom>
          <a:solidFill>
            <a:srgbClr val="ADE2A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b="0"/>
          </a:p>
        </p:txBody>
      </p:sp>
      <p:sp>
        <p:nvSpPr>
          <p:cNvPr id="794657" name="Rectangle 33"/>
          <p:cNvSpPr>
            <a:spLocks noChangeArrowheads="1"/>
          </p:cNvSpPr>
          <p:nvPr/>
        </p:nvSpPr>
        <p:spPr bwMode="auto">
          <a:xfrm>
            <a:off x="1731963" y="2366963"/>
            <a:ext cx="56197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4000" b="0" dirty="0"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右式</a:t>
            </a:r>
            <a:r>
              <a:rPr lang="en-US" altLang="zh-CN" sz="4000" b="0" dirty="0"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</a:t>
            </a:r>
            <a:r>
              <a:rPr kumimoji="1" lang="en-US" altLang="zh-CN" sz="4000" b="0" dirty="0"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</a:t>
            </a:r>
            <a:r>
              <a:rPr kumimoji="1" lang="en-US" altLang="zh-CN" sz="4000" b="0" i="1" dirty="0"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x</a:t>
            </a:r>
            <a:r>
              <a:rPr kumimoji="1" lang="en-US" altLang="zh-CN" sz="4000" b="0" i="1" dirty="0">
                <a:latin typeface="Times New Roman" panose="02020603050405020304" pitchFamily="18" charset="0"/>
                <a:ea typeface="楷体_GB2312" charset="-122"/>
              </a:rPr>
              <a:t>A</a:t>
            </a:r>
            <a:r>
              <a:rPr kumimoji="1" lang="en-US" altLang="zh-CN" sz="4000" b="0" dirty="0">
                <a:latin typeface="Times New Roman" panose="02020603050405020304" pitchFamily="18" charset="0"/>
                <a:ea typeface="楷体_GB2312" charset="-122"/>
              </a:rPr>
              <a:t>(</a:t>
            </a:r>
            <a:r>
              <a:rPr kumimoji="1" lang="en-US" altLang="zh-CN" sz="4000" b="0" i="1" dirty="0">
                <a:latin typeface="Times New Roman" panose="02020603050405020304" pitchFamily="18" charset="0"/>
                <a:ea typeface="楷体_GB2312" charset="-122"/>
              </a:rPr>
              <a:t>x</a:t>
            </a:r>
            <a:r>
              <a:rPr kumimoji="1" lang="en-US" altLang="zh-CN" sz="4000" b="0" dirty="0">
                <a:latin typeface="Times New Roman" panose="02020603050405020304" pitchFamily="18" charset="0"/>
                <a:ea typeface="楷体_GB2312" charset="-122"/>
              </a:rPr>
              <a:t>) </a:t>
            </a:r>
            <a:r>
              <a:rPr kumimoji="1" lang="en-US" altLang="zh-CN" sz="4000" b="0" dirty="0"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 </a:t>
            </a:r>
            <a:r>
              <a:rPr kumimoji="1" lang="en-US" altLang="zh-CN" sz="4000" b="0" i="1" dirty="0" err="1"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x</a:t>
            </a:r>
            <a:r>
              <a:rPr kumimoji="1" lang="en-US" altLang="zh-CN" sz="4000" b="0" i="1" dirty="0" err="1">
                <a:latin typeface="Times New Roman" panose="02020603050405020304" pitchFamily="18" charset="0"/>
                <a:ea typeface="楷体_GB2312" charset="-122"/>
              </a:rPr>
              <a:t>B</a:t>
            </a:r>
            <a:r>
              <a:rPr kumimoji="1" lang="en-US" altLang="zh-CN" sz="4000" b="0" dirty="0">
                <a:latin typeface="Times New Roman" panose="02020603050405020304" pitchFamily="18" charset="0"/>
                <a:ea typeface="楷体_GB2312" charset="-122"/>
              </a:rPr>
              <a:t>(</a:t>
            </a:r>
            <a:r>
              <a:rPr kumimoji="1" lang="en-US" altLang="zh-CN" sz="4000" b="0" i="1" dirty="0">
                <a:latin typeface="Times New Roman" panose="02020603050405020304" pitchFamily="18" charset="0"/>
                <a:ea typeface="楷体_GB2312" charset="-122"/>
              </a:rPr>
              <a:t>x</a:t>
            </a:r>
            <a:r>
              <a:rPr kumimoji="1" lang="en-US" altLang="zh-CN" sz="4000" b="0" dirty="0">
                <a:latin typeface="Times New Roman" panose="02020603050405020304" pitchFamily="18" charset="0"/>
                <a:ea typeface="楷体_GB2312" charset="-122"/>
              </a:rPr>
              <a:t>) </a:t>
            </a:r>
          </a:p>
        </p:txBody>
      </p:sp>
      <p:sp>
        <p:nvSpPr>
          <p:cNvPr id="794658" name="Rectangle 34"/>
          <p:cNvSpPr>
            <a:spLocks noChangeArrowheads="1"/>
          </p:cNvSpPr>
          <p:nvPr/>
        </p:nvSpPr>
        <p:spPr bwMode="auto">
          <a:xfrm>
            <a:off x="2776538" y="2900363"/>
            <a:ext cx="4648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4000" b="0"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 </a:t>
            </a:r>
            <a:r>
              <a:rPr kumimoji="1" lang="en-US" altLang="zh-CN" sz="4000" b="0" i="1"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x</a:t>
            </a:r>
            <a:r>
              <a:rPr kumimoji="1" lang="en-US" altLang="zh-CN" sz="4000" b="0"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</a:t>
            </a:r>
            <a:r>
              <a:rPr kumimoji="1" lang="en-US" altLang="zh-CN" sz="4000" b="0" i="1">
                <a:latin typeface="Times New Roman" panose="02020603050405020304" pitchFamily="18" charset="0"/>
                <a:ea typeface="楷体_GB2312" charset="-122"/>
              </a:rPr>
              <a:t>A</a:t>
            </a:r>
            <a:r>
              <a:rPr kumimoji="1" lang="en-US" altLang="zh-CN" sz="4000" b="0">
                <a:latin typeface="Times New Roman" panose="02020603050405020304" pitchFamily="18" charset="0"/>
                <a:ea typeface="楷体_GB2312" charset="-122"/>
              </a:rPr>
              <a:t>(</a:t>
            </a:r>
            <a:r>
              <a:rPr kumimoji="1" lang="en-US" altLang="zh-CN" sz="4000" b="0" i="1">
                <a:latin typeface="Times New Roman" panose="02020603050405020304" pitchFamily="18" charset="0"/>
                <a:ea typeface="楷体_GB2312" charset="-122"/>
              </a:rPr>
              <a:t>x</a:t>
            </a:r>
            <a:r>
              <a:rPr kumimoji="1" lang="en-US" altLang="zh-CN" sz="4000" b="0">
                <a:latin typeface="Times New Roman" panose="02020603050405020304" pitchFamily="18" charset="0"/>
                <a:ea typeface="楷体_GB2312" charset="-122"/>
              </a:rPr>
              <a:t>) </a:t>
            </a:r>
            <a:r>
              <a:rPr kumimoji="1" lang="en-US" altLang="zh-CN" sz="4000" b="0"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 </a:t>
            </a:r>
            <a:r>
              <a:rPr kumimoji="1" lang="en-US" altLang="zh-CN" sz="4000" b="0" i="1"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x</a:t>
            </a:r>
            <a:r>
              <a:rPr kumimoji="1" lang="en-US" altLang="zh-CN" sz="4000" b="0" i="1">
                <a:latin typeface="Times New Roman" panose="02020603050405020304" pitchFamily="18" charset="0"/>
                <a:ea typeface="楷体_GB2312" charset="-122"/>
              </a:rPr>
              <a:t>B</a:t>
            </a:r>
            <a:r>
              <a:rPr kumimoji="1" lang="en-US" altLang="zh-CN" sz="4000" b="0">
                <a:latin typeface="Times New Roman" panose="02020603050405020304" pitchFamily="18" charset="0"/>
                <a:ea typeface="楷体_GB2312" charset="-122"/>
              </a:rPr>
              <a:t>(</a:t>
            </a:r>
            <a:r>
              <a:rPr kumimoji="1" lang="en-US" altLang="zh-CN" sz="4000" b="0" i="1">
                <a:latin typeface="Times New Roman" panose="02020603050405020304" pitchFamily="18" charset="0"/>
                <a:ea typeface="楷体_GB2312" charset="-122"/>
              </a:rPr>
              <a:t>x</a:t>
            </a:r>
            <a:r>
              <a:rPr kumimoji="1" lang="en-US" altLang="zh-CN" sz="4000" b="0">
                <a:latin typeface="Times New Roman" panose="02020603050405020304" pitchFamily="18" charset="0"/>
                <a:ea typeface="楷体_GB2312" charset="-122"/>
              </a:rPr>
              <a:t>) </a:t>
            </a:r>
          </a:p>
        </p:txBody>
      </p:sp>
      <p:sp>
        <p:nvSpPr>
          <p:cNvPr id="794659" name="Rectangle 35"/>
          <p:cNvSpPr>
            <a:spLocks noChangeArrowheads="1"/>
          </p:cNvSpPr>
          <p:nvPr/>
        </p:nvSpPr>
        <p:spPr bwMode="auto">
          <a:xfrm>
            <a:off x="2755900" y="3584575"/>
            <a:ext cx="46101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4000" b="0"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 </a:t>
            </a:r>
            <a:r>
              <a:rPr kumimoji="1" lang="en-US" altLang="zh-CN" sz="4000" b="0" i="1"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x </a:t>
            </a:r>
            <a:r>
              <a:rPr kumimoji="1" lang="en-US" altLang="zh-CN" sz="4000" b="0">
                <a:latin typeface="Times New Roman" panose="02020603050405020304" pitchFamily="18" charset="0"/>
                <a:ea typeface="楷体_GB2312" charset="-122"/>
              </a:rPr>
              <a:t>(</a:t>
            </a:r>
            <a:r>
              <a:rPr kumimoji="1" lang="en-US" altLang="zh-CN" sz="4000" b="0"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</a:t>
            </a:r>
            <a:r>
              <a:rPr kumimoji="1" lang="en-US" altLang="zh-CN" sz="4000" b="0" i="1">
                <a:latin typeface="Times New Roman" panose="02020603050405020304" pitchFamily="18" charset="0"/>
                <a:ea typeface="楷体_GB2312" charset="-122"/>
              </a:rPr>
              <a:t>A</a:t>
            </a:r>
            <a:r>
              <a:rPr kumimoji="1" lang="en-US" altLang="zh-CN" sz="4000" b="0">
                <a:latin typeface="Times New Roman" panose="02020603050405020304" pitchFamily="18" charset="0"/>
                <a:ea typeface="楷体_GB2312" charset="-122"/>
              </a:rPr>
              <a:t>(</a:t>
            </a:r>
            <a:r>
              <a:rPr kumimoji="1" lang="en-US" altLang="zh-CN" sz="4000" b="0" i="1">
                <a:latin typeface="Times New Roman" panose="02020603050405020304" pitchFamily="18" charset="0"/>
                <a:ea typeface="楷体_GB2312" charset="-122"/>
              </a:rPr>
              <a:t>x</a:t>
            </a:r>
            <a:r>
              <a:rPr kumimoji="1" lang="en-US" altLang="zh-CN" sz="4000" b="0">
                <a:latin typeface="Times New Roman" panose="02020603050405020304" pitchFamily="18" charset="0"/>
                <a:ea typeface="楷体_GB2312" charset="-122"/>
              </a:rPr>
              <a:t>) </a:t>
            </a:r>
            <a:r>
              <a:rPr kumimoji="1" lang="en-US" altLang="zh-CN" sz="4000" b="0"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 </a:t>
            </a:r>
            <a:r>
              <a:rPr kumimoji="1" lang="en-US" altLang="zh-CN" sz="4000" b="0" i="1">
                <a:latin typeface="Times New Roman" panose="02020603050405020304" pitchFamily="18" charset="0"/>
                <a:ea typeface="楷体_GB2312" charset="-122"/>
              </a:rPr>
              <a:t>B</a:t>
            </a:r>
            <a:r>
              <a:rPr kumimoji="1" lang="en-US" altLang="zh-CN" sz="4000" b="0">
                <a:latin typeface="Times New Roman" panose="02020603050405020304" pitchFamily="18" charset="0"/>
                <a:ea typeface="楷体_GB2312" charset="-122"/>
              </a:rPr>
              <a:t>(</a:t>
            </a:r>
            <a:r>
              <a:rPr kumimoji="1" lang="en-US" altLang="zh-CN" sz="4000" b="0" i="1">
                <a:latin typeface="Times New Roman" panose="02020603050405020304" pitchFamily="18" charset="0"/>
                <a:ea typeface="楷体_GB2312" charset="-122"/>
              </a:rPr>
              <a:t>x</a:t>
            </a:r>
            <a:r>
              <a:rPr kumimoji="1" lang="en-US" altLang="zh-CN" sz="4000" b="0">
                <a:latin typeface="Times New Roman" panose="02020603050405020304" pitchFamily="18" charset="0"/>
                <a:ea typeface="楷体_GB2312" charset="-122"/>
              </a:rPr>
              <a:t>)) </a:t>
            </a:r>
          </a:p>
        </p:txBody>
      </p:sp>
      <p:sp>
        <p:nvSpPr>
          <p:cNvPr id="794661" name="Rectangle 37"/>
          <p:cNvSpPr>
            <a:spLocks noChangeArrowheads="1"/>
          </p:cNvSpPr>
          <p:nvPr/>
        </p:nvSpPr>
        <p:spPr bwMode="auto">
          <a:xfrm>
            <a:off x="2776538" y="4254500"/>
            <a:ext cx="19827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4000" b="0"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 左式</a:t>
            </a:r>
            <a:r>
              <a:rPr kumimoji="1" lang="zh-CN" altLang="en-US" sz="4000" b="0">
                <a:latin typeface="Times New Roman" panose="02020603050405020304" pitchFamily="18" charset="0"/>
                <a:ea typeface="楷体_GB2312" charset="-122"/>
              </a:rPr>
              <a:t> </a:t>
            </a:r>
          </a:p>
        </p:txBody>
      </p:sp>
      <p:sp>
        <p:nvSpPr>
          <p:cNvPr id="794662" name="Text Box 38"/>
          <p:cNvSpPr txBox="1">
            <a:spLocks noChangeArrowheads="1"/>
          </p:cNvSpPr>
          <p:nvPr/>
        </p:nvSpPr>
        <p:spPr bwMode="auto">
          <a:xfrm>
            <a:off x="244475" y="2195513"/>
            <a:ext cx="1231900" cy="579437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3200">
                <a:solidFill>
                  <a:srgbClr val="FFFFFF"/>
                </a:solidFill>
                <a:latin typeface="Times New Roman" panose="02020603050405020304" pitchFamily="18" charset="0"/>
                <a:ea typeface="楷体_GB2312" charset="-122"/>
              </a:rPr>
              <a:t>证明：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4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94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94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94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94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4656" grpId="0" animBg="1"/>
      <p:bldP spid="794657" grpId="0" autoUpdateAnimBg="0"/>
      <p:bldP spid="794658" grpId="0" autoUpdateAnimBg="0"/>
      <p:bldP spid="794659" grpId="0" autoUpdateAnimBg="0"/>
      <p:bldP spid="794661" grpId="0" autoUpdateAnimBg="0"/>
      <p:bldP spid="794662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732588" y="6356350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37C3AFA-E6F7-4047-9FEB-AF6180F0BA6B}" type="slidenum">
              <a:rPr lang="zh-CN" altLang="en-US" sz="1400" b="0"/>
              <a:t>11</a:t>
            </a:fld>
            <a:endParaRPr lang="en-US" altLang="zh-CN" sz="1400" b="0"/>
          </a:p>
        </p:txBody>
      </p:sp>
      <p:sp>
        <p:nvSpPr>
          <p:cNvPr id="2150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【</a:t>
            </a:r>
            <a:r>
              <a:rPr lang="zh-CN" altLang="en-US"/>
              <a:t>重言蕴涵式</a:t>
            </a:r>
            <a:r>
              <a:rPr lang="en-US" altLang="zh-CN"/>
              <a:t>】</a:t>
            </a:r>
            <a:endParaRPr lang="zh-CN" altLang="en-US"/>
          </a:p>
        </p:txBody>
      </p:sp>
      <p:graphicFrame>
        <p:nvGraphicFramePr>
          <p:cNvPr id="773130" name="Object 10"/>
          <p:cNvGraphicFramePr>
            <a:graphicFrameLocks noChangeAspect="1"/>
          </p:cNvGraphicFramePr>
          <p:nvPr/>
        </p:nvGraphicFramePr>
        <p:xfrm>
          <a:off x="971550" y="2932113"/>
          <a:ext cx="6297613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594550" imgH="2962910" progId="Equation.3">
                  <p:embed/>
                </p:oleObj>
              </mc:Choice>
              <mc:Fallback>
                <p:oleObj name="Equation" r:id="rId2" imgW="32594550" imgH="296291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932113"/>
                        <a:ext cx="6297613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3131" name="Object 11"/>
          <p:cNvGraphicFramePr>
            <a:graphicFrameLocks noChangeAspect="1"/>
          </p:cNvGraphicFramePr>
          <p:nvPr/>
        </p:nvGraphicFramePr>
        <p:xfrm>
          <a:off x="977900" y="1685925"/>
          <a:ext cx="626586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3520380" imgH="2962910" progId="Equation.3">
                  <p:embed/>
                </p:oleObj>
              </mc:Choice>
              <mc:Fallback>
                <p:oleObj name="公式" r:id="rId4" imgW="33520380" imgH="296291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7900" y="1685925"/>
                        <a:ext cx="626586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3142" name="Object 22"/>
          <p:cNvGraphicFramePr>
            <a:graphicFrameLocks noChangeAspect="1"/>
          </p:cNvGraphicFramePr>
          <p:nvPr/>
        </p:nvGraphicFramePr>
        <p:xfrm>
          <a:off x="982663" y="1141413"/>
          <a:ext cx="62611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3705165" imgH="2962910" progId="Equation.3">
                  <p:embed/>
                </p:oleObj>
              </mc:Choice>
              <mc:Fallback>
                <p:oleObj name="公式" r:id="rId6" imgW="33705165" imgH="296291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663" y="1141413"/>
                        <a:ext cx="6261100" cy="533400"/>
                      </a:xfrm>
                      <a:prstGeom prst="rect">
                        <a:avLst/>
                      </a:prstGeom>
                      <a:solidFill>
                        <a:srgbClr val="ADE2A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3143" name="Object 23"/>
          <p:cNvGraphicFramePr>
            <a:graphicFrameLocks noChangeAspect="1"/>
          </p:cNvGraphicFramePr>
          <p:nvPr/>
        </p:nvGraphicFramePr>
        <p:xfrm>
          <a:off x="977900" y="2376488"/>
          <a:ext cx="6262688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2779335" imgH="2962910" progId="Equation.3">
                  <p:embed/>
                </p:oleObj>
              </mc:Choice>
              <mc:Fallback>
                <p:oleObj name="公式" r:id="rId8" imgW="32779335" imgH="296291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7900" y="2376488"/>
                        <a:ext cx="6262688" cy="546100"/>
                      </a:xfrm>
                      <a:prstGeom prst="rect">
                        <a:avLst/>
                      </a:prstGeom>
                      <a:solidFill>
                        <a:srgbClr val="ADE2A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3144" name="Rectangle 24"/>
          <p:cNvSpPr>
            <a:spLocks noChangeArrowheads="1"/>
          </p:cNvSpPr>
          <p:nvPr/>
        </p:nvSpPr>
        <p:spPr bwMode="auto">
          <a:xfrm>
            <a:off x="3643313" y="996950"/>
            <a:ext cx="79375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800" b="0">
                <a:solidFill>
                  <a:srgbClr val="FF0000"/>
                </a:solidFill>
              </a:rPr>
              <a:t>×</a:t>
            </a:r>
            <a:endParaRPr lang="zh-CN" altLang="en-US" sz="4800" b="0">
              <a:solidFill>
                <a:srgbClr val="FF0000"/>
              </a:solidFill>
            </a:endParaRPr>
          </a:p>
        </p:txBody>
      </p:sp>
      <p:sp>
        <p:nvSpPr>
          <p:cNvPr id="773145" name="Rectangle 25"/>
          <p:cNvSpPr>
            <a:spLocks noChangeArrowheads="1"/>
          </p:cNvSpPr>
          <p:nvPr/>
        </p:nvSpPr>
        <p:spPr bwMode="auto">
          <a:xfrm>
            <a:off x="3713163" y="2228850"/>
            <a:ext cx="79375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800" b="0">
                <a:solidFill>
                  <a:srgbClr val="FF0000"/>
                </a:solidFill>
              </a:rPr>
              <a:t>×</a:t>
            </a:r>
            <a:endParaRPr lang="zh-CN" altLang="en-US" sz="4800" b="0">
              <a:solidFill>
                <a:srgbClr val="FF0000"/>
              </a:solidFill>
            </a:endParaRPr>
          </a:p>
        </p:txBody>
      </p:sp>
      <p:graphicFrame>
        <p:nvGraphicFramePr>
          <p:cNvPr id="15" name="Object 39"/>
          <p:cNvGraphicFramePr>
            <a:graphicFrameLocks noChangeAspect="1"/>
          </p:cNvGraphicFramePr>
          <p:nvPr/>
        </p:nvGraphicFramePr>
        <p:xfrm>
          <a:off x="971550" y="3708400"/>
          <a:ext cx="6550025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5001835" imgH="2962910" progId="Equation.3">
                  <p:embed/>
                </p:oleObj>
              </mc:Choice>
              <mc:Fallback>
                <p:oleObj name="公式" r:id="rId10" imgW="35001835" imgH="296291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708400"/>
                        <a:ext cx="6550025" cy="534988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42"/>
          <p:cNvSpPr>
            <a:spLocks noChangeArrowheads="1"/>
          </p:cNvSpPr>
          <p:nvPr/>
        </p:nvSpPr>
        <p:spPr bwMode="auto">
          <a:xfrm>
            <a:off x="3829050" y="3538538"/>
            <a:ext cx="67151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800" b="0">
                <a:solidFill>
                  <a:srgbClr val="FF0000"/>
                </a:solidFill>
              </a:rPr>
              <a:t>×</a:t>
            </a:r>
            <a:endParaRPr lang="zh-CN" altLang="en-US" sz="4800" b="0">
              <a:solidFill>
                <a:srgbClr val="FF0000"/>
              </a:solidFill>
            </a:endParaRPr>
          </a:p>
        </p:txBody>
      </p:sp>
      <p:graphicFrame>
        <p:nvGraphicFramePr>
          <p:cNvPr id="17" name="Object 39"/>
          <p:cNvGraphicFramePr>
            <a:graphicFrameLocks noChangeAspect="1"/>
          </p:cNvGraphicFramePr>
          <p:nvPr/>
        </p:nvGraphicFramePr>
        <p:xfrm>
          <a:off x="963613" y="4900613"/>
          <a:ext cx="6550025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5927665" imgH="2962910" progId="Equation.3">
                  <p:embed/>
                </p:oleObj>
              </mc:Choice>
              <mc:Fallback>
                <p:oleObj name="公式" r:id="rId12" imgW="35927665" imgH="296291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3613" y="4900613"/>
                        <a:ext cx="6550025" cy="522287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42"/>
          <p:cNvSpPr>
            <a:spLocks noChangeArrowheads="1"/>
          </p:cNvSpPr>
          <p:nvPr/>
        </p:nvSpPr>
        <p:spPr bwMode="auto">
          <a:xfrm>
            <a:off x="3771900" y="4748213"/>
            <a:ext cx="671513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800" b="0">
                <a:solidFill>
                  <a:srgbClr val="FF0000"/>
                </a:solidFill>
              </a:rPr>
              <a:t>×</a:t>
            </a:r>
            <a:endParaRPr lang="zh-CN" altLang="en-US" sz="4800" b="0">
              <a:solidFill>
                <a:srgbClr val="FF0000"/>
              </a:solidFill>
            </a:endParaRPr>
          </a:p>
        </p:txBody>
      </p:sp>
      <p:sp>
        <p:nvSpPr>
          <p:cNvPr id="19470" name="矩形 1"/>
          <p:cNvSpPr>
            <a:spLocks noChangeArrowheads="1"/>
          </p:cNvSpPr>
          <p:nvPr/>
        </p:nvSpPr>
        <p:spPr bwMode="auto">
          <a:xfrm>
            <a:off x="963613" y="5422900"/>
            <a:ext cx="6402387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000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000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000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)</a:t>
            </a:r>
            <a:r>
              <a:rPr lang="en-US" altLang="zh-CN" sz="3000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000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))  </a:t>
            </a:r>
            <a:r>
              <a:rPr lang="en-US" altLang="zh-CN" sz="3000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xA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000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)</a:t>
            </a:r>
            <a:r>
              <a:rPr lang="en-US" altLang="zh-CN" sz="3000" i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xB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000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sz="3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71" name="矩形 19"/>
          <p:cNvSpPr>
            <a:spLocks noChangeArrowheads="1"/>
          </p:cNvSpPr>
          <p:nvPr/>
        </p:nvSpPr>
        <p:spPr bwMode="auto">
          <a:xfrm>
            <a:off x="963613" y="4270375"/>
            <a:ext cx="6302375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000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000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000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)</a:t>
            </a:r>
            <a:r>
              <a:rPr lang="en-US" altLang="zh-CN" sz="3000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000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))  </a:t>
            </a:r>
            <a:r>
              <a:rPr lang="en-US" altLang="zh-CN" sz="3000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xA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000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)</a:t>
            </a:r>
            <a:r>
              <a:rPr lang="en-US" altLang="zh-CN" sz="3000" i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xB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000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sz="3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72" name="矩形 21"/>
          <p:cNvSpPr>
            <a:spLocks noChangeArrowheads="1"/>
          </p:cNvSpPr>
          <p:nvPr/>
        </p:nvSpPr>
        <p:spPr bwMode="auto">
          <a:xfrm>
            <a:off x="977900" y="5984875"/>
            <a:ext cx="6402388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3000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xA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000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)</a:t>
            </a:r>
            <a:r>
              <a:rPr lang="en-US" altLang="zh-CN" sz="3000" i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xB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000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</a:t>
            </a:r>
            <a:r>
              <a:rPr lang="en-US" altLang="zh-CN" sz="3000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000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000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)</a:t>
            </a:r>
            <a:r>
              <a:rPr lang="en-US" altLang="zh-CN" sz="3000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000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))</a:t>
            </a:r>
            <a:endParaRPr lang="en-US" altLang="zh-CN" sz="3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773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73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3144" grpId="0"/>
      <p:bldP spid="773145" grpId="0"/>
      <p:bldP spid="16" grpId="0"/>
      <p:bldP spid="18" grpId="0"/>
      <p:bldP spid="19470" grpId="0"/>
      <p:bldP spid="19471" grpId="0"/>
      <p:bldP spid="1947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4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DF7D2C5-445A-454F-8C3B-B407D2BB9224}" type="slidenum">
              <a:rPr lang="zh-CN" altLang="en-US" sz="1400" b="0"/>
              <a:t>12</a:t>
            </a:fld>
            <a:endParaRPr lang="en-US" altLang="zh-CN" sz="1400" b="0"/>
          </a:p>
        </p:txBody>
      </p:sp>
      <p:sp>
        <p:nvSpPr>
          <p:cNvPr id="2253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7956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2771775"/>
            <a:ext cx="9144000" cy="4086225"/>
          </a:xfrm>
          <a:solidFill>
            <a:schemeClr val="accent1"/>
          </a:solidFill>
        </p:spPr>
        <p:txBody>
          <a:bodyPr/>
          <a:lstStyle/>
          <a:p>
            <a:pPr marL="0" indent="0" eaLnBrk="1" hangingPunct="1"/>
            <a:r>
              <a:rPr lang="zh-CN" altLang="en-US"/>
              <a:t>设论域元素为</a:t>
            </a:r>
            <a:r>
              <a:rPr lang="en-US" altLang="zh-CN"/>
              <a:t>a</a:t>
            </a:r>
            <a:r>
              <a:rPr lang="zh-CN" altLang="en-US"/>
              <a:t>，</a:t>
            </a:r>
            <a:r>
              <a:rPr lang="en-US" altLang="zh-CN"/>
              <a:t>b</a:t>
            </a:r>
            <a:r>
              <a:rPr lang="zh-CN" altLang="en-US"/>
              <a:t>，则：</a:t>
            </a:r>
          </a:p>
          <a:p>
            <a:pPr marL="0" indent="0" eaLnBrk="1" hangingPunct="1"/>
            <a:endParaRPr lang="zh-CN" altLang="en-US"/>
          </a:p>
        </p:txBody>
      </p:sp>
      <p:graphicFrame>
        <p:nvGraphicFramePr>
          <p:cNvPr id="795668" name="Object 20"/>
          <p:cNvGraphicFramePr>
            <a:graphicFrameLocks noChangeAspect="1"/>
          </p:cNvGraphicFramePr>
          <p:nvPr/>
        </p:nvGraphicFramePr>
        <p:xfrm>
          <a:off x="0" y="3195638"/>
          <a:ext cx="9144000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45187870" imgH="2962910" progId="Equation.3">
                  <p:embed/>
                </p:oleObj>
              </mc:Choice>
              <mc:Fallback>
                <p:oleObj name="公式" r:id="rId3" imgW="45187870" imgH="296291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195638"/>
                        <a:ext cx="9144000" cy="554037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69" name="Object 21"/>
          <p:cNvGraphicFramePr>
            <a:graphicFrameLocks noChangeAspect="1"/>
          </p:cNvGraphicFramePr>
          <p:nvPr/>
        </p:nvGraphicFramePr>
        <p:xfrm>
          <a:off x="0" y="3773488"/>
          <a:ext cx="9144000" cy="308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44632245" imgH="16297275" progId="Equation.3">
                  <p:embed/>
                </p:oleObj>
              </mc:Choice>
              <mc:Fallback>
                <p:oleObj name="公式" r:id="rId5" imgW="44632245" imgH="16297275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773488"/>
                        <a:ext cx="9144000" cy="308451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5671" name="Line 23"/>
          <p:cNvSpPr>
            <a:spLocks noChangeShapeType="1"/>
          </p:cNvSpPr>
          <p:nvPr/>
        </p:nvSpPr>
        <p:spPr bwMode="auto">
          <a:xfrm>
            <a:off x="3862388" y="4945063"/>
            <a:ext cx="23145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5672" name="Line 24"/>
          <p:cNvSpPr>
            <a:spLocks noChangeShapeType="1"/>
          </p:cNvSpPr>
          <p:nvPr/>
        </p:nvSpPr>
        <p:spPr bwMode="auto">
          <a:xfrm>
            <a:off x="4254500" y="6800850"/>
            <a:ext cx="23145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2537" name="Object 29"/>
          <p:cNvGraphicFramePr>
            <a:graphicFrameLocks noChangeAspect="1"/>
          </p:cNvGraphicFramePr>
          <p:nvPr/>
        </p:nvGraphicFramePr>
        <p:xfrm>
          <a:off x="0" y="0"/>
          <a:ext cx="91440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094865" imgH="185420" progId="Equation.3">
                  <p:embed/>
                </p:oleObj>
              </mc:Choice>
              <mc:Fallback>
                <p:oleObj name="公式" r:id="rId7" imgW="2094865" imgH="18542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60400"/>
                      </a:xfrm>
                      <a:prstGeom prst="rect">
                        <a:avLst/>
                      </a:prstGeom>
                      <a:solidFill>
                        <a:srgbClr val="ADE2A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5675" name="Line 27"/>
          <p:cNvSpPr>
            <a:spLocks noChangeShapeType="1"/>
          </p:cNvSpPr>
          <p:nvPr/>
        </p:nvSpPr>
        <p:spPr bwMode="auto">
          <a:xfrm>
            <a:off x="3937000" y="3695700"/>
            <a:ext cx="4981575" cy="190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9" name="Rectangle 22"/>
          <p:cNvSpPr>
            <a:spLocks noChangeArrowheads="1"/>
          </p:cNvSpPr>
          <p:nvPr/>
        </p:nvSpPr>
        <p:spPr bwMode="auto">
          <a:xfrm>
            <a:off x="0" y="598488"/>
            <a:ext cx="9144000" cy="1754326"/>
          </a:xfrm>
          <a:prstGeom prst="rect">
            <a:avLst/>
          </a:prstGeom>
          <a:solidFill>
            <a:srgbClr val="ADE2A1"/>
          </a:solidFill>
          <a:ln w="57150" cmpd="thinThick">
            <a:solidFill>
              <a:srgbClr val="3333CC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例：</a:t>
            </a:r>
            <a:r>
              <a:rPr kumimoji="1" lang="en-US" altLang="zh-CN" sz="3600" i="1" dirty="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A</a:t>
            </a:r>
            <a:r>
              <a:rPr kumimoji="1" lang="en-US" altLang="zh-CN" sz="3600" dirty="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(</a:t>
            </a:r>
            <a:r>
              <a:rPr kumimoji="1" lang="en-US" altLang="zh-CN" sz="3600" i="1" dirty="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x</a:t>
            </a:r>
            <a:r>
              <a:rPr kumimoji="1" lang="en-US" altLang="zh-CN" sz="3600" dirty="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): </a:t>
            </a:r>
            <a:r>
              <a:rPr kumimoji="1" lang="en-US" altLang="zh-CN" sz="3600" i="1" dirty="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x</a:t>
            </a:r>
            <a:r>
              <a:rPr kumimoji="1" lang="en-US" altLang="zh-CN" sz="3600" dirty="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zh-CN" altLang="en-US" sz="3600" dirty="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聪明，</a:t>
            </a:r>
            <a:r>
              <a:rPr kumimoji="1" lang="en-US" altLang="zh-CN" sz="3600" i="1" dirty="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B</a:t>
            </a:r>
            <a:r>
              <a:rPr kumimoji="1" lang="en-US" altLang="zh-CN" sz="3600" dirty="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(</a:t>
            </a:r>
            <a:r>
              <a:rPr kumimoji="1" lang="en-US" altLang="zh-CN" sz="3600" i="1" dirty="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x</a:t>
            </a:r>
            <a:r>
              <a:rPr kumimoji="1" lang="en-US" altLang="zh-CN" sz="3600" dirty="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): </a:t>
            </a:r>
            <a:r>
              <a:rPr kumimoji="1" lang="en-US" altLang="zh-CN" sz="3600" i="1" dirty="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x</a:t>
            </a:r>
            <a:r>
              <a:rPr kumimoji="1" lang="zh-CN" altLang="en-US" sz="3600" dirty="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努力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3333CC"/>
                </a:solidFill>
              </a:rPr>
              <a:t>“这些人都聪明或这些人都努力” ，可推出“这些人都或聪明或努力”。但是， “这些人都或聪明或努力”不能推出“这些人都聪明或这些人都努力” 。</a:t>
            </a:r>
          </a:p>
        </p:txBody>
      </p:sp>
      <p:sp>
        <p:nvSpPr>
          <p:cNvPr id="795678" name="Text Box 30"/>
          <p:cNvSpPr txBox="1">
            <a:spLocks noChangeArrowheads="1"/>
          </p:cNvSpPr>
          <p:nvPr/>
        </p:nvSpPr>
        <p:spPr bwMode="auto">
          <a:xfrm>
            <a:off x="3894138" y="2757488"/>
            <a:ext cx="23479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solidFill>
                  <a:srgbClr val="FF0000"/>
                </a:solidFill>
              </a:rPr>
              <a:t>a</a:t>
            </a:r>
            <a:r>
              <a:rPr lang="zh-CN" altLang="en-US" b="0">
                <a:solidFill>
                  <a:srgbClr val="FF0000"/>
                </a:solidFill>
              </a:rPr>
              <a:t>，</a:t>
            </a:r>
            <a:r>
              <a:rPr lang="en-US" altLang="zh-CN" b="0">
                <a:solidFill>
                  <a:srgbClr val="FF0000"/>
                </a:solidFill>
              </a:rPr>
              <a:t>b</a:t>
            </a:r>
            <a:r>
              <a:rPr lang="zh-CN" altLang="en-US" b="0">
                <a:solidFill>
                  <a:srgbClr val="FF0000"/>
                </a:solidFill>
              </a:rPr>
              <a:t>都聪明</a:t>
            </a:r>
          </a:p>
        </p:txBody>
      </p:sp>
      <p:sp>
        <p:nvSpPr>
          <p:cNvPr id="795679" name="Text Box 31"/>
          <p:cNvSpPr txBox="1">
            <a:spLocks noChangeArrowheads="1"/>
          </p:cNvSpPr>
          <p:nvPr/>
        </p:nvSpPr>
        <p:spPr bwMode="auto">
          <a:xfrm>
            <a:off x="6716713" y="2757488"/>
            <a:ext cx="23479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solidFill>
                  <a:srgbClr val="FF0000"/>
                </a:solidFill>
              </a:rPr>
              <a:t>a</a:t>
            </a:r>
            <a:r>
              <a:rPr lang="zh-CN" altLang="en-US" b="0">
                <a:solidFill>
                  <a:srgbClr val="FF0000"/>
                </a:solidFill>
              </a:rPr>
              <a:t>，</a:t>
            </a:r>
            <a:r>
              <a:rPr lang="en-US" altLang="zh-CN" b="0">
                <a:solidFill>
                  <a:srgbClr val="FF0000"/>
                </a:solidFill>
              </a:rPr>
              <a:t>b</a:t>
            </a:r>
            <a:r>
              <a:rPr lang="zh-CN" altLang="en-US" b="0">
                <a:solidFill>
                  <a:srgbClr val="FF0000"/>
                </a:solidFill>
              </a:rPr>
              <a:t>都努力</a:t>
            </a:r>
          </a:p>
        </p:txBody>
      </p:sp>
      <p:sp>
        <p:nvSpPr>
          <p:cNvPr id="795680" name="Text Box 32"/>
          <p:cNvSpPr txBox="1">
            <a:spLocks noChangeArrowheads="1"/>
          </p:cNvSpPr>
          <p:nvPr/>
        </p:nvSpPr>
        <p:spPr bwMode="auto">
          <a:xfrm>
            <a:off x="6702425" y="4397375"/>
            <a:ext cx="23479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solidFill>
                  <a:srgbClr val="FF0000"/>
                </a:solidFill>
              </a:rPr>
              <a:t>a</a:t>
            </a:r>
            <a:r>
              <a:rPr lang="zh-CN" altLang="en-US" b="0">
                <a:solidFill>
                  <a:srgbClr val="FF0000"/>
                </a:solidFill>
              </a:rPr>
              <a:t>，</a:t>
            </a:r>
            <a:r>
              <a:rPr lang="en-US" altLang="zh-CN" b="0">
                <a:solidFill>
                  <a:srgbClr val="FF0000"/>
                </a:solidFill>
              </a:rPr>
              <a:t>b</a:t>
            </a:r>
            <a:r>
              <a:rPr lang="zh-CN" altLang="en-US" b="0">
                <a:solidFill>
                  <a:srgbClr val="FF0000"/>
                </a:solidFill>
              </a:rPr>
              <a:t>都聪明</a:t>
            </a:r>
          </a:p>
        </p:txBody>
      </p:sp>
      <p:sp>
        <p:nvSpPr>
          <p:cNvPr id="795681" name="Text Box 33"/>
          <p:cNvSpPr txBox="1">
            <a:spLocks noChangeArrowheads="1"/>
          </p:cNvSpPr>
          <p:nvPr/>
        </p:nvSpPr>
        <p:spPr bwMode="auto">
          <a:xfrm>
            <a:off x="6702425" y="6338888"/>
            <a:ext cx="23479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solidFill>
                  <a:srgbClr val="FF0000"/>
                </a:solidFill>
              </a:rPr>
              <a:t>a</a:t>
            </a:r>
            <a:r>
              <a:rPr lang="zh-CN" altLang="en-US" b="0">
                <a:solidFill>
                  <a:srgbClr val="FF0000"/>
                </a:solidFill>
              </a:rPr>
              <a:t>，</a:t>
            </a:r>
            <a:r>
              <a:rPr lang="en-US" altLang="zh-CN" b="0">
                <a:solidFill>
                  <a:srgbClr val="FF0000"/>
                </a:solidFill>
              </a:rPr>
              <a:t>b</a:t>
            </a:r>
            <a:r>
              <a:rPr lang="zh-CN" altLang="en-US" b="0">
                <a:solidFill>
                  <a:srgbClr val="FF0000"/>
                </a:solidFill>
              </a:rPr>
              <a:t>都努力</a:t>
            </a:r>
          </a:p>
        </p:txBody>
      </p:sp>
      <p:sp>
        <p:nvSpPr>
          <p:cNvPr id="795682" name="Text Box 34"/>
          <p:cNvSpPr txBox="1">
            <a:spLocks noChangeArrowheads="1"/>
          </p:cNvSpPr>
          <p:nvPr/>
        </p:nvSpPr>
        <p:spPr bwMode="auto">
          <a:xfrm>
            <a:off x="6702425" y="4997450"/>
            <a:ext cx="23479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solidFill>
                  <a:srgbClr val="FF0000"/>
                </a:solidFill>
              </a:rPr>
              <a:t>a</a:t>
            </a:r>
            <a:r>
              <a:rPr lang="zh-CN" altLang="en-US" b="0">
                <a:solidFill>
                  <a:srgbClr val="FF0000"/>
                </a:solidFill>
              </a:rPr>
              <a:t>聪明，</a:t>
            </a:r>
            <a:r>
              <a:rPr lang="en-US" altLang="zh-CN" b="0">
                <a:solidFill>
                  <a:srgbClr val="FF0000"/>
                </a:solidFill>
              </a:rPr>
              <a:t>b</a:t>
            </a:r>
            <a:r>
              <a:rPr lang="zh-CN" altLang="en-US" b="0">
                <a:solidFill>
                  <a:srgbClr val="FF0000"/>
                </a:solidFill>
              </a:rPr>
              <a:t>努力</a:t>
            </a:r>
          </a:p>
        </p:txBody>
      </p:sp>
      <p:sp>
        <p:nvSpPr>
          <p:cNvPr id="795683" name="Text Box 35"/>
          <p:cNvSpPr txBox="1">
            <a:spLocks noChangeArrowheads="1"/>
          </p:cNvSpPr>
          <p:nvPr/>
        </p:nvSpPr>
        <p:spPr bwMode="auto">
          <a:xfrm>
            <a:off x="6702425" y="5691188"/>
            <a:ext cx="23479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solidFill>
                  <a:srgbClr val="FF0000"/>
                </a:solidFill>
              </a:rPr>
              <a:t>a</a:t>
            </a:r>
            <a:r>
              <a:rPr lang="zh-CN" altLang="en-US" b="0">
                <a:solidFill>
                  <a:srgbClr val="FF0000"/>
                </a:solidFill>
              </a:rPr>
              <a:t>努力，</a:t>
            </a:r>
            <a:r>
              <a:rPr lang="en-US" altLang="zh-CN" b="0">
                <a:solidFill>
                  <a:srgbClr val="FF0000"/>
                </a:solidFill>
              </a:rPr>
              <a:t>b</a:t>
            </a:r>
            <a:r>
              <a:rPr lang="zh-CN" altLang="en-US" b="0">
                <a:solidFill>
                  <a:srgbClr val="FF0000"/>
                </a:solidFill>
              </a:rPr>
              <a:t>聪明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95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95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5651" grpId="0" build="p" animBg="1"/>
      <p:bldP spid="795678" grpId="0"/>
      <p:bldP spid="795679" grpId="0"/>
      <p:bldP spid="795680" grpId="0"/>
      <p:bldP spid="795681" grpId="0"/>
      <p:bldP spid="795682" grpId="0"/>
      <p:bldP spid="79568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AF859A7-8B68-42D7-9B91-C43EF87EF52C}" type="slidenum">
              <a:rPr lang="en-US" altLang="zh-CN" sz="1400" b="0"/>
              <a:t>13</a:t>
            </a:fld>
            <a:endParaRPr lang="en-US" altLang="zh-CN" sz="1400" b="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置换规则、换名规则、代替规则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341438"/>
            <a:ext cx="8229600" cy="4608512"/>
          </a:xfrm>
        </p:spPr>
        <p:txBody>
          <a:bodyPr/>
          <a:lstStyle/>
          <a:p>
            <a:pPr marL="609600" indent="-609600" eaLnBrk="1" hangingPunct="1"/>
            <a:r>
              <a:rPr lang="en-US" altLang="zh-CN">
                <a:latin typeface="Times New Roman" panose="02020603050405020304" pitchFamily="18" charset="0"/>
              </a:rPr>
              <a:t>1. </a:t>
            </a:r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置换规则</a:t>
            </a:r>
            <a:endParaRPr lang="zh-CN" altLang="en-US">
              <a:latin typeface="Times New Roman" panose="02020603050405020304" pitchFamily="18" charset="0"/>
            </a:endParaRPr>
          </a:p>
          <a:p>
            <a:pPr marL="609600" indent="-609600" eaLnBrk="1" hangingPunct="1"/>
            <a:r>
              <a:rPr lang="zh-CN" altLang="en-US">
                <a:latin typeface="Times New Roman" panose="02020603050405020304" pitchFamily="18" charset="0"/>
              </a:rPr>
              <a:t>     设</a:t>
            </a:r>
            <a:r>
              <a:rPr lang="zh-CN" altLang="en-US" i="1">
                <a:latin typeface="Times New Roman" panose="02020603050405020304" pitchFamily="18" charset="0"/>
                <a:sym typeface="Symbol" panose="05050102010706020507" pitchFamily="18" charset="2"/>
              </a:rPr>
              <a:t>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是含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的公式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那么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若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则</a:t>
            </a:r>
            <a:r>
              <a:rPr lang="zh-CN" altLang="en-US" i="1">
                <a:latin typeface="Times New Roman" panose="02020603050405020304" pitchFamily="18" charset="0"/>
                <a:sym typeface="Symbol" panose="05050102010706020507" pitchFamily="18" charset="2"/>
              </a:rPr>
              <a:t>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)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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).</a:t>
            </a:r>
          </a:p>
          <a:p>
            <a:pPr marL="609600" indent="-609600" eaLnBrk="1" hangingPunct="1"/>
            <a:r>
              <a:rPr lang="en-US" altLang="zh-CN">
                <a:latin typeface="Times New Roman" panose="02020603050405020304" pitchFamily="18" charset="0"/>
              </a:rPr>
              <a:t>2. </a:t>
            </a:r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换名规则</a:t>
            </a:r>
          </a:p>
          <a:p>
            <a:pPr marL="609600" indent="-609600" eaLnBrk="1" hangingPunct="1"/>
            <a:r>
              <a:rPr lang="zh-CN" altLang="en-US">
                <a:latin typeface="Times New Roman" panose="02020603050405020304" pitchFamily="18" charset="0"/>
              </a:rPr>
              <a:t>    设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为一公式，将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中某量词辖域中个体变项的所有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约束</a:t>
            </a:r>
          </a:p>
          <a:p>
            <a:pPr marL="609600" indent="-609600" eaLnBrk="1" hangingPunct="1"/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    出现</a:t>
            </a:r>
            <a:r>
              <a:rPr lang="zh-CN" altLang="en-US">
                <a:latin typeface="Times New Roman" panose="02020603050405020304" pitchFamily="18" charset="0"/>
              </a:rPr>
              <a:t>及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相应的指导变元</a:t>
            </a:r>
            <a:r>
              <a:rPr lang="zh-CN" altLang="en-US">
                <a:latin typeface="Times New Roman" panose="02020603050405020304" pitchFamily="18" charset="0"/>
              </a:rPr>
              <a:t>换成该量词辖域中未曾出现过的个</a:t>
            </a:r>
          </a:p>
          <a:p>
            <a:pPr marL="609600" indent="-609600" eaLnBrk="1" hangingPunct="1"/>
            <a:r>
              <a:rPr lang="zh-CN" altLang="en-US">
                <a:latin typeface="Times New Roman" panose="02020603050405020304" pitchFamily="18" charset="0"/>
              </a:rPr>
              <a:t>    体变项符号，其余部分不变，设所得公式为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>
                <a:latin typeface="Times New Roman" panose="02020603050405020304" pitchFamily="18" charset="0"/>
              </a:rPr>
              <a:t>，则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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  <a:p>
            <a:pPr marL="609600" indent="-609600" eaLnBrk="1" hangingPunct="1"/>
            <a:r>
              <a:rPr lang="en-US" altLang="zh-CN">
                <a:latin typeface="Times New Roman" panose="02020603050405020304" pitchFamily="18" charset="0"/>
              </a:rPr>
              <a:t>3.  </a:t>
            </a:r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代替规则</a:t>
            </a:r>
          </a:p>
          <a:p>
            <a:pPr marL="609600" indent="-609600" eaLnBrk="1" hangingPunct="1"/>
            <a:r>
              <a:rPr lang="zh-CN" altLang="en-US">
                <a:latin typeface="Times New Roman" panose="02020603050405020304" pitchFamily="18" charset="0"/>
              </a:rPr>
              <a:t>    设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为一公式，将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中某个个体变项的所有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自由出现</a:t>
            </a:r>
            <a:r>
              <a:rPr lang="zh-CN" altLang="en-US">
                <a:latin typeface="Times New Roman" panose="02020603050405020304" pitchFamily="18" charset="0"/>
              </a:rPr>
              <a:t>用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中</a:t>
            </a:r>
          </a:p>
          <a:p>
            <a:pPr marL="609600" indent="-609600" eaLnBrk="1" hangingPunct="1"/>
            <a:r>
              <a:rPr lang="zh-CN" altLang="en-US">
                <a:latin typeface="Times New Roman" panose="02020603050405020304" pitchFamily="18" charset="0"/>
              </a:rPr>
              <a:t>    未曾出现过的个体变项符号代替，其余部分不变，设所得</a:t>
            </a:r>
          </a:p>
          <a:p>
            <a:pPr marL="609600" indent="-609600" eaLnBrk="1" hangingPunct="1"/>
            <a:r>
              <a:rPr lang="zh-CN" altLang="en-US">
                <a:latin typeface="Times New Roman" panose="02020603050405020304" pitchFamily="18" charset="0"/>
              </a:rPr>
              <a:t>     公式为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>
                <a:latin typeface="Times New Roman" panose="02020603050405020304" pitchFamily="18" charset="0"/>
              </a:rPr>
              <a:t>，则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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6BA4FF8-E7A9-4993-8C88-660B01A0FD94}" type="slidenum">
              <a:rPr lang="en-US" altLang="zh-CN" sz="1400" b="0">
                <a:latin typeface="Verdana" panose="020B0604030504040204" pitchFamily="34" charset="0"/>
              </a:rPr>
              <a:t>14</a:t>
            </a:fld>
            <a:endParaRPr lang="en-US" altLang="zh-CN" sz="1400" b="0">
              <a:latin typeface="Verdana" panose="020B0604030504040204" pitchFamily="34" charset="0"/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约束变元的换名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 hangingPunct="1"/>
            <a:r>
              <a:rPr lang="zh-CN" altLang="en-US"/>
              <a:t>约束变元的换名规则：</a:t>
            </a:r>
          </a:p>
          <a:p>
            <a:pPr marL="571500" indent="-571500" eaLnBrk="1" hangingPunct="1">
              <a:buClr>
                <a:schemeClr val="tx1"/>
              </a:buClr>
              <a:buFontTx/>
              <a:buAutoNum type="arabicParenR"/>
            </a:pPr>
            <a:r>
              <a:rPr lang="zh-CN" altLang="en-US"/>
              <a:t>换名范围</a:t>
            </a:r>
            <a:r>
              <a:rPr lang="en-US" altLang="zh-CN"/>
              <a:t>:</a:t>
            </a:r>
            <a:r>
              <a:rPr lang="zh-CN" altLang="en-US"/>
              <a:t>量词中的指导变元和作用域中出现的该变元</a:t>
            </a:r>
            <a:r>
              <a:rPr lang="en-US" altLang="zh-CN"/>
              <a:t>.</a:t>
            </a:r>
            <a:r>
              <a:rPr lang="zh-CN" altLang="en-US"/>
              <a:t>公式中其余部分不变</a:t>
            </a:r>
            <a:r>
              <a:rPr lang="en-US" altLang="zh-CN"/>
              <a:t>.</a:t>
            </a:r>
          </a:p>
          <a:p>
            <a:pPr marL="571500" indent="-571500" eaLnBrk="1" hangingPunct="1">
              <a:buClr>
                <a:schemeClr val="tx1"/>
              </a:buClr>
              <a:buFontTx/>
              <a:buAutoNum type="arabicParenR"/>
            </a:pPr>
            <a:r>
              <a:rPr lang="zh-CN" altLang="en-US"/>
              <a:t>要换成作用域中没有出现的变元名称</a:t>
            </a:r>
            <a:r>
              <a:rPr lang="en-US" altLang="zh-CN"/>
              <a:t>.</a:t>
            </a:r>
          </a:p>
          <a:p>
            <a:pPr marL="571500" indent="-571500" eaLnBrk="1" hangingPunct="1"/>
            <a:endParaRPr lang="en-US" altLang="zh-CN"/>
          </a:p>
        </p:txBody>
      </p:sp>
      <p:graphicFrame>
        <p:nvGraphicFramePr>
          <p:cNvPr id="404484" name="Object 4"/>
          <p:cNvGraphicFramePr>
            <a:graphicFrameLocks noChangeAspect="1"/>
          </p:cNvGraphicFramePr>
          <p:nvPr/>
        </p:nvGraphicFramePr>
        <p:xfrm>
          <a:off x="1685925" y="4157663"/>
          <a:ext cx="6140450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45920" imgH="156845" progId="Equation.DSMT4">
                  <p:embed/>
                </p:oleObj>
              </mc:Choice>
              <mc:Fallback>
                <p:oleObj name="Equation" r:id="rId2" imgW="1645920" imgH="156845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5925" y="4157663"/>
                        <a:ext cx="6140450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485" name="Object 5"/>
          <p:cNvGraphicFramePr>
            <a:graphicFrameLocks noChangeAspect="1"/>
          </p:cNvGraphicFramePr>
          <p:nvPr/>
        </p:nvGraphicFramePr>
        <p:xfrm>
          <a:off x="1620838" y="3429000"/>
          <a:ext cx="6183312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54810" imgH="156845" progId="Equation.DSMT4">
                  <p:embed/>
                </p:oleObj>
              </mc:Choice>
              <mc:Fallback>
                <p:oleObj name="Equation" r:id="rId4" imgW="1654810" imgH="15684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0838" y="3429000"/>
                        <a:ext cx="6183312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486" name="Object 6"/>
          <p:cNvGraphicFramePr>
            <a:graphicFrameLocks noChangeAspect="1"/>
          </p:cNvGraphicFramePr>
          <p:nvPr/>
        </p:nvGraphicFramePr>
        <p:xfrm>
          <a:off x="1620838" y="4843463"/>
          <a:ext cx="6267450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80845" imgH="156845" progId="Equation.DSMT4">
                  <p:embed/>
                </p:oleObj>
              </mc:Choice>
              <mc:Fallback>
                <p:oleObj name="Equation" r:id="rId6" imgW="1680845" imgH="15684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0838" y="4843463"/>
                        <a:ext cx="6267450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487" name="Object 7"/>
          <p:cNvGraphicFramePr>
            <a:graphicFrameLocks noChangeAspect="1"/>
          </p:cNvGraphicFramePr>
          <p:nvPr/>
        </p:nvGraphicFramePr>
        <p:xfrm>
          <a:off x="1676400" y="5486400"/>
          <a:ext cx="6142038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45920" imgH="156845" progId="Equation.DSMT4">
                  <p:embed/>
                </p:oleObj>
              </mc:Choice>
              <mc:Fallback>
                <p:oleObj name="Equation" r:id="rId8" imgW="1645920" imgH="156845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5486400"/>
                        <a:ext cx="6142038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4488" name="Text Box 8"/>
          <p:cNvSpPr txBox="1">
            <a:spLocks noChangeArrowheads="1"/>
          </p:cNvSpPr>
          <p:nvPr/>
        </p:nvSpPr>
        <p:spPr bwMode="auto">
          <a:xfrm>
            <a:off x="228600" y="3429000"/>
            <a:ext cx="1066800" cy="641350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3600">
                <a:solidFill>
                  <a:srgbClr val="FFFFFF"/>
                </a:solidFill>
                <a:latin typeface="Times New Roman" panose="02020603050405020304" pitchFamily="18" charset="0"/>
                <a:ea typeface="楷体_GB2312" charset="-122"/>
              </a:rPr>
              <a:t>例：</a:t>
            </a:r>
          </a:p>
        </p:txBody>
      </p:sp>
      <p:sp>
        <p:nvSpPr>
          <p:cNvPr id="404489" name="WordArt 9"/>
          <p:cNvSpPr>
            <a:spLocks noChangeArrowheads="1" noChangeShapeType="1" noTextEdit="1"/>
          </p:cNvSpPr>
          <p:nvPr/>
        </p:nvSpPr>
        <p:spPr bwMode="auto">
          <a:xfrm>
            <a:off x="7958138" y="4143375"/>
            <a:ext cx="900112" cy="706438"/>
          </a:xfrm>
          <a:prstGeom prst="rect">
            <a:avLst/>
          </a:prstGeom>
        </p:spPr>
        <p:txBody>
          <a:bodyPr vert="eaVert" wrap="none" fromWordArt="1">
            <a:prstTxWarp prst="textPlain">
              <a:avLst>
                <a:gd name="adj" fmla="val 53699"/>
              </a:avLst>
            </a:prstTxWarp>
          </a:bodyPr>
          <a:lstStyle/>
          <a:p>
            <a:pPr algn="ctr" fontAlgn="auto"/>
            <a:r>
              <a:rPr lang="zh-CN" altLang="en-US" sz="4000" i="1" kern="10">
                <a:ln w="6350">
                  <a:solidFill>
                    <a:srgbClr val="FF0000"/>
                  </a:solidFill>
                  <a:rou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宋体" panose="02010600030101010101" pitchFamily="2" charset="-122"/>
              </a:rPr>
              <a:t>√ </a:t>
            </a:r>
          </a:p>
        </p:txBody>
      </p:sp>
      <p:sp>
        <p:nvSpPr>
          <p:cNvPr id="404490" name="AutoShape 10"/>
          <p:cNvSpPr>
            <a:spLocks noChangeArrowheads="1"/>
          </p:cNvSpPr>
          <p:nvPr/>
        </p:nvSpPr>
        <p:spPr bwMode="auto">
          <a:xfrm rot="-2910891">
            <a:off x="7984331" y="5045869"/>
            <a:ext cx="338138" cy="304800"/>
          </a:xfrm>
          <a:prstGeom prst="plus">
            <a:avLst>
              <a:gd name="adj" fmla="val 38449"/>
            </a:avLst>
          </a:prstGeom>
          <a:solidFill>
            <a:srgbClr val="FF0000"/>
          </a:solidFill>
          <a:ln>
            <a:noFill/>
          </a:ln>
          <a:effectLst>
            <a:prstShdw prst="shdw17" dist="17961" dir="2700000">
              <a:srgbClr val="990000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b="0">
              <a:latin typeface="Verdana" panose="020B0604030504040204" pitchFamily="34" charset="0"/>
            </a:endParaRPr>
          </a:p>
        </p:txBody>
      </p:sp>
      <p:sp>
        <p:nvSpPr>
          <p:cNvPr id="404491" name="AutoShape 11"/>
          <p:cNvSpPr>
            <a:spLocks noChangeArrowheads="1"/>
          </p:cNvSpPr>
          <p:nvPr/>
        </p:nvSpPr>
        <p:spPr bwMode="auto">
          <a:xfrm rot="-2910891">
            <a:off x="7984331" y="5655469"/>
            <a:ext cx="338138" cy="304800"/>
          </a:xfrm>
          <a:prstGeom prst="plus">
            <a:avLst>
              <a:gd name="adj" fmla="val 38449"/>
            </a:avLst>
          </a:prstGeom>
          <a:solidFill>
            <a:srgbClr val="FF0000"/>
          </a:solidFill>
          <a:ln>
            <a:noFill/>
          </a:ln>
          <a:effectLst>
            <a:prstShdw prst="shdw17" dist="17961" dir="2700000">
              <a:srgbClr val="990000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b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4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4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04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04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044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44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04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044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044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04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044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044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488" grpId="0" animBg="1" autoUpdateAnimBg="0"/>
      <p:bldP spid="404490" grpId="0" animBg="1"/>
      <p:bldP spid="40449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2EBED0F-13D6-44F2-81F4-AA6C5679F349}" type="slidenum">
              <a:rPr lang="en-US" altLang="zh-CN" sz="1400" b="0">
                <a:latin typeface="Verdana" panose="020B0604030504040204" pitchFamily="34" charset="0"/>
              </a:rPr>
              <a:t>15</a:t>
            </a:fld>
            <a:endParaRPr lang="en-US" altLang="zh-CN" sz="1400" b="0">
              <a:latin typeface="Verdana" panose="020B0604030504040204" pitchFamily="34" charset="0"/>
            </a:endParaRP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自由变元的代替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 hangingPunct="1">
              <a:spcBef>
                <a:spcPct val="10000"/>
              </a:spcBef>
            </a:pPr>
            <a:r>
              <a:rPr lang="zh-CN" altLang="en-US"/>
              <a:t>自由变元的代替规则：</a:t>
            </a:r>
          </a:p>
          <a:p>
            <a:pPr marL="571500" indent="-571500" eaLnBrk="1" hangingPunct="1">
              <a:spcBef>
                <a:spcPct val="10000"/>
              </a:spcBef>
              <a:buClr>
                <a:schemeClr val="tx1"/>
              </a:buClr>
              <a:buFontTx/>
              <a:buAutoNum type="arabicParenR"/>
            </a:pPr>
            <a:r>
              <a:rPr lang="zh-CN" altLang="en-US"/>
              <a:t>对该自由变元每一处进行代替</a:t>
            </a:r>
            <a:r>
              <a:rPr lang="en-US" altLang="zh-CN"/>
              <a:t>.</a:t>
            </a:r>
          </a:p>
          <a:p>
            <a:pPr marL="571500" indent="-571500" eaLnBrk="1" hangingPunct="1">
              <a:spcBef>
                <a:spcPct val="10000"/>
              </a:spcBef>
              <a:buClr>
                <a:schemeClr val="tx1"/>
              </a:buClr>
              <a:buFontTx/>
              <a:buAutoNum type="arabicParenR"/>
            </a:pPr>
            <a:r>
              <a:rPr lang="zh-CN" altLang="en-US"/>
              <a:t>代替的变元与原公式中所有变元名称不能相同</a:t>
            </a:r>
            <a:r>
              <a:rPr lang="en-US" altLang="zh-CN"/>
              <a:t>.</a:t>
            </a:r>
          </a:p>
          <a:p>
            <a:pPr marL="571500" indent="-571500" eaLnBrk="1" hangingPunct="1"/>
            <a:endParaRPr lang="en-US" altLang="zh-CN"/>
          </a:p>
        </p:txBody>
      </p:sp>
      <p:sp>
        <p:nvSpPr>
          <p:cNvPr id="405508" name="Text Box 4"/>
          <p:cNvSpPr txBox="1">
            <a:spLocks noChangeArrowheads="1"/>
          </p:cNvSpPr>
          <p:nvPr/>
        </p:nvSpPr>
        <p:spPr bwMode="auto">
          <a:xfrm>
            <a:off x="606425" y="3543300"/>
            <a:ext cx="1066800" cy="641350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3600">
                <a:solidFill>
                  <a:srgbClr val="FFFFFF"/>
                </a:solidFill>
                <a:latin typeface="Times New Roman" panose="02020603050405020304" pitchFamily="18" charset="0"/>
                <a:ea typeface="楷体_GB2312" charset="-122"/>
              </a:rPr>
              <a:t>例：</a:t>
            </a:r>
          </a:p>
        </p:txBody>
      </p:sp>
      <p:graphicFrame>
        <p:nvGraphicFramePr>
          <p:cNvPr id="405509" name="Object 5"/>
          <p:cNvGraphicFramePr>
            <a:graphicFrameLocks noChangeAspect="1"/>
          </p:cNvGraphicFramePr>
          <p:nvPr/>
        </p:nvGraphicFramePr>
        <p:xfrm>
          <a:off x="2141538" y="4414838"/>
          <a:ext cx="4384675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9175" imgH="156845" progId="Equation.DSMT4">
                  <p:embed/>
                </p:oleObj>
              </mc:Choice>
              <mc:Fallback>
                <p:oleObj name="Equation" r:id="rId2" imgW="1019175" imgH="15684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1538" y="4414838"/>
                        <a:ext cx="4384675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10" name="Object 6"/>
          <p:cNvGraphicFramePr>
            <a:graphicFrameLocks noChangeAspect="1"/>
          </p:cNvGraphicFramePr>
          <p:nvPr/>
        </p:nvGraphicFramePr>
        <p:xfrm>
          <a:off x="2130425" y="3500438"/>
          <a:ext cx="4529138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53465" imgH="156845" progId="Equation.DSMT4">
                  <p:embed/>
                </p:oleObj>
              </mc:Choice>
              <mc:Fallback>
                <p:oleObj name="Equation" r:id="rId4" imgW="1053465" imgH="15684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0425" y="3500438"/>
                        <a:ext cx="4529138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5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5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5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5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5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5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08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0B9237C-928B-4D1E-B0DC-0FA81A579747}" type="slidenum">
              <a:rPr lang="en-US" altLang="zh-CN" sz="1400" b="0"/>
              <a:t>16</a:t>
            </a:fld>
            <a:endParaRPr lang="en-US" altLang="zh-CN" sz="1400" b="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1008062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  </a:t>
            </a:r>
            <a:r>
              <a:rPr lang="zh-CN" altLang="en-US">
                <a:latin typeface="Times New Roman" panose="02020603050405020304" pitchFamily="18" charset="0"/>
              </a:rPr>
              <a:t>将下面命题用两种形式符号化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并证明两者等值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   (1) </a:t>
            </a:r>
            <a:r>
              <a:rPr lang="zh-CN" altLang="en-US">
                <a:latin typeface="Times New Roman" panose="02020603050405020304" pitchFamily="18" charset="0"/>
              </a:rPr>
              <a:t>没有不犯错误的人</a:t>
            </a:r>
          </a:p>
        </p:txBody>
      </p:sp>
      <p:sp>
        <p:nvSpPr>
          <p:cNvPr id="280580" name="Rectangle 4"/>
          <p:cNvSpPr>
            <a:spLocks noChangeArrowheads="1"/>
          </p:cNvSpPr>
          <p:nvPr/>
        </p:nvSpPr>
        <p:spPr bwMode="auto">
          <a:xfrm>
            <a:off x="701675" y="2060575"/>
            <a:ext cx="7615238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解 令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>
                <a:latin typeface="Times New Roman" panose="02020603050405020304" pitchFamily="18" charset="0"/>
              </a:rPr>
              <a:t>：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zh-CN" altLang="en-US">
                <a:latin typeface="Times New Roman" panose="02020603050405020304" pitchFamily="18" charset="0"/>
              </a:rPr>
              <a:t>是人，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>
                <a:latin typeface="Times New Roman" panose="02020603050405020304" pitchFamily="18" charset="0"/>
              </a:rPr>
              <a:t>：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zh-CN" altLang="en-US">
                <a:latin typeface="Times New Roman" panose="02020603050405020304" pitchFamily="18" charset="0"/>
              </a:rPr>
              <a:t>犯错误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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))      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或      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))     </a:t>
            </a:r>
          </a:p>
        </p:txBody>
      </p:sp>
      <p:sp>
        <p:nvSpPr>
          <p:cNvPr id="280581" name="Rectangle 5"/>
          <p:cNvSpPr>
            <a:spLocks noChangeArrowheads="1"/>
          </p:cNvSpPr>
          <p:nvPr/>
        </p:nvSpPr>
        <p:spPr bwMode="auto">
          <a:xfrm>
            <a:off x="611188" y="3005138"/>
            <a:ext cx="6624637" cy="193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          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))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     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))         </a:t>
            </a:r>
            <a:r>
              <a:rPr lang="zh-CN" altLang="en-US">
                <a:latin typeface="Times New Roman" panose="02020603050405020304" pitchFamily="18" charset="0"/>
              </a:rPr>
              <a:t>量词否定等值式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      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  <a:r>
              <a:rPr lang="zh-CN" altLang="en-US"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))            </a:t>
            </a:r>
            <a:r>
              <a:rPr lang="zh-CN" altLang="en-US">
                <a:latin typeface="Times New Roman" panose="02020603050405020304" pitchFamily="18" charset="0"/>
              </a:rPr>
              <a:t>置换</a:t>
            </a:r>
          </a:p>
          <a:p>
            <a:pPr eaLnBrk="1" hangingPunct="1">
              <a:lnSpc>
                <a:spcPct val="120000"/>
              </a:lnSpc>
              <a:spcBef>
                <a:spcPct val="25000"/>
              </a:spcBef>
              <a:buClrTx/>
              <a:buFontTx/>
              <a:buNone/>
            </a:pP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      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  <a:r>
              <a:rPr lang="zh-CN" altLang="en-US"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))             </a:t>
            </a:r>
            <a:r>
              <a:rPr lang="zh-CN" altLang="en-US">
                <a:latin typeface="Times New Roman" panose="02020603050405020304" pitchFamily="18" charset="0"/>
              </a:rPr>
              <a:t>置换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0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0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580" grpId="0"/>
      <p:bldP spid="28058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2CED5B0-14D0-40CF-87C4-DF73D46EE503}" type="slidenum">
              <a:rPr lang="en-US" altLang="zh-CN" sz="1400" b="0"/>
              <a:t>17</a:t>
            </a:fld>
            <a:endParaRPr lang="en-US" altLang="zh-CN" sz="1400" b="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5554663" cy="574675"/>
          </a:xfrm>
        </p:spPr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(2) </a:t>
            </a:r>
            <a:r>
              <a:rPr lang="zh-CN" altLang="en-US">
                <a:latin typeface="Times New Roman" panose="02020603050405020304" pitchFamily="18" charset="0"/>
              </a:rPr>
              <a:t>不是所有的人都爱看电影</a:t>
            </a:r>
          </a:p>
        </p:txBody>
      </p:sp>
      <p:sp>
        <p:nvSpPr>
          <p:cNvPr id="301060" name="Rectangle 4"/>
          <p:cNvSpPr>
            <a:spLocks noChangeArrowheads="1"/>
          </p:cNvSpPr>
          <p:nvPr/>
        </p:nvSpPr>
        <p:spPr bwMode="auto">
          <a:xfrm>
            <a:off x="468313" y="1628775"/>
            <a:ext cx="7615237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解 令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>
                <a:latin typeface="Times New Roman" panose="02020603050405020304" pitchFamily="18" charset="0"/>
              </a:rPr>
              <a:t>：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zh-CN" altLang="en-US">
                <a:latin typeface="Times New Roman" panose="02020603050405020304" pitchFamily="18" charset="0"/>
              </a:rPr>
              <a:t>是人，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>
                <a:latin typeface="Times New Roman" panose="02020603050405020304" pitchFamily="18" charset="0"/>
              </a:rPr>
              <a:t>：爱看电影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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))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或   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))</a:t>
            </a:r>
          </a:p>
        </p:txBody>
      </p:sp>
      <p:sp>
        <p:nvSpPr>
          <p:cNvPr id="301061" name="Rectangle 5"/>
          <p:cNvSpPr>
            <a:spLocks noChangeArrowheads="1"/>
          </p:cNvSpPr>
          <p:nvPr/>
        </p:nvSpPr>
        <p:spPr bwMode="auto">
          <a:xfrm>
            <a:off x="755650" y="2781300"/>
            <a:ext cx="6408738" cy="18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    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))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 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))        </a:t>
            </a:r>
            <a:r>
              <a:rPr lang="zh-CN" altLang="en-US">
                <a:latin typeface="Times New Roman" panose="02020603050405020304" pitchFamily="18" charset="0"/>
              </a:rPr>
              <a:t>量词否定等值式</a:t>
            </a:r>
            <a:endParaRPr lang="zh-CN" altLang="en-US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 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))       </a:t>
            </a:r>
            <a:r>
              <a:rPr lang="zh-CN" altLang="en-US">
                <a:latin typeface="Times New Roman" panose="02020603050405020304" pitchFamily="18" charset="0"/>
              </a:rPr>
              <a:t>置换</a:t>
            </a:r>
            <a:endParaRPr lang="zh-CN" altLang="en-US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))          </a:t>
            </a:r>
            <a:r>
              <a:rPr lang="zh-CN" altLang="en-US">
                <a:latin typeface="Times New Roman" panose="02020603050405020304" pitchFamily="18" charset="0"/>
              </a:rPr>
              <a:t>置换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060" grpId="0"/>
      <p:bldP spid="30106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5592B07-64F1-4BDB-A315-3E574DD16F50}" type="slidenum">
              <a:rPr lang="en-US" altLang="zh-CN" sz="1400" b="0"/>
              <a:t>18</a:t>
            </a:fld>
            <a:endParaRPr lang="en-US" altLang="zh-CN" sz="1400" b="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002588" cy="10795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</a:rPr>
              <a:t>将公式化成等值的不含既有约束出现、又有自由出现</a:t>
            </a: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的个体变项</a:t>
            </a:r>
            <a:r>
              <a:rPr lang="en-US" altLang="zh-CN">
                <a:latin typeface="Times New Roman" panose="02020603050405020304" pitchFamily="18" charset="0"/>
              </a:rPr>
              <a:t>: 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)</a:t>
            </a:r>
            <a:r>
              <a:rPr lang="en-US" altLang="zh-CN" i="1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i="1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))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03109" name="Rectangle 5"/>
          <p:cNvSpPr>
            <a:spLocks noChangeArrowheads="1"/>
          </p:cNvSpPr>
          <p:nvPr/>
        </p:nvSpPr>
        <p:spPr bwMode="auto">
          <a:xfrm>
            <a:off x="611188" y="1989138"/>
            <a:ext cx="7705725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解     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x,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i="1">
                <a:latin typeface="Times New Roman" panose="02020603050405020304" pitchFamily="18" charset="0"/>
              </a:rPr>
              <a:t>,z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</a:t>
            </a:r>
            <a:r>
              <a:rPr lang="en-US" altLang="zh-CN" i="1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x,</a:t>
            </a:r>
            <a:r>
              <a:rPr lang="en-US" altLang="zh-CN" i="1">
                <a:solidFill>
                  <a:srgbClr val="0066FF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i="1">
                <a:latin typeface="Times New Roman" panose="02020603050405020304" pitchFamily="18" charset="0"/>
              </a:rPr>
              <a:t>,z</a:t>
            </a:r>
            <a:r>
              <a:rPr lang="en-US" altLang="zh-CN">
                <a:latin typeface="Times New Roman" panose="02020603050405020304" pitchFamily="18" charset="0"/>
              </a:rPr>
              <a:t>))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    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x,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i="1">
                <a:latin typeface="Times New Roman" panose="02020603050405020304" pitchFamily="18" charset="0"/>
              </a:rPr>
              <a:t>,z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</a:t>
            </a:r>
            <a:r>
              <a:rPr lang="en-US" altLang="zh-CN" i="1">
                <a:solidFill>
                  <a:srgbClr val="00B05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x,</a:t>
            </a:r>
            <a:r>
              <a:rPr lang="en-US" altLang="zh-CN" i="1">
                <a:solidFill>
                  <a:srgbClr val="00B05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i="1">
                <a:latin typeface="Times New Roman" panose="02020603050405020304" pitchFamily="18" charset="0"/>
              </a:rPr>
              <a:t>,z</a:t>
            </a:r>
            <a:r>
              <a:rPr lang="en-US" altLang="zh-CN">
                <a:latin typeface="Times New Roman" panose="02020603050405020304" pitchFamily="18" charset="0"/>
              </a:rPr>
              <a:t>))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            </a:t>
            </a:r>
            <a:r>
              <a:rPr lang="zh-CN" altLang="en-US">
                <a:latin typeface="Times New Roman" panose="02020603050405020304" pitchFamily="18" charset="0"/>
              </a:rPr>
              <a:t>换名规则</a:t>
            </a:r>
            <a:endParaRPr lang="zh-CN" altLang="en-US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     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sym typeface="Symbol" panose="05050102010706020507" pitchFamily="18" charset="2"/>
              </a:rPr>
              <a:t></a:t>
            </a:r>
            <a:r>
              <a:rPr lang="en-US" altLang="zh-CN" i="1">
                <a:solidFill>
                  <a:srgbClr val="00B05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x,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i="1">
                <a:latin typeface="Times New Roman" panose="02020603050405020304" pitchFamily="18" charset="0"/>
              </a:rPr>
              <a:t>,z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x,</a:t>
            </a:r>
            <a:r>
              <a:rPr lang="en-US" altLang="zh-CN" i="1">
                <a:solidFill>
                  <a:srgbClr val="00B05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i="1">
                <a:latin typeface="Times New Roman" panose="02020603050405020304" pitchFamily="18" charset="0"/>
              </a:rPr>
              <a:t>,z</a:t>
            </a:r>
            <a:r>
              <a:rPr lang="en-US" altLang="zh-CN">
                <a:latin typeface="Times New Roman" panose="02020603050405020304" pitchFamily="18" charset="0"/>
              </a:rPr>
              <a:t>))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            </a:t>
            </a:r>
            <a:r>
              <a:rPr lang="zh-CN" altLang="en-US">
                <a:latin typeface="Times New Roman" panose="02020603050405020304" pitchFamily="18" charset="0"/>
              </a:rPr>
              <a:t>辖域扩张等值式</a:t>
            </a:r>
          </a:p>
        </p:txBody>
      </p:sp>
      <p:sp>
        <p:nvSpPr>
          <p:cNvPr id="303110" name="Rectangle 6"/>
          <p:cNvSpPr>
            <a:spLocks noChangeArrowheads="1"/>
          </p:cNvSpPr>
          <p:nvPr/>
        </p:nvSpPr>
        <p:spPr bwMode="auto">
          <a:xfrm>
            <a:off x="611188" y="3676650"/>
            <a:ext cx="7705725" cy="206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或者</a:t>
            </a:r>
          </a:p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          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x,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i="1">
                <a:latin typeface="Times New Roman" panose="02020603050405020304" pitchFamily="18" charset="0"/>
              </a:rPr>
              <a:t>,z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</a:t>
            </a:r>
            <a:r>
              <a:rPr lang="en-US" altLang="zh-CN" i="1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x,</a:t>
            </a:r>
            <a:r>
              <a:rPr lang="en-US" altLang="zh-CN" i="1">
                <a:solidFill>
                  <a:srgbClr val="0066FF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i="1">
                <a:latin typeface="Times New Roman" panose="02020603050405020304" pitchFamily="18" charset="0"/>
              </a:rPr>
              <a:t>,z</a:t>
            </a:r>
            <a:r>
              <a:rPr lang="en-US" altLang="zh-CN">
                <a:latin typeface="Times New Roman" panose="02020603050405020304" pitchFamily="18" charset="0"/>
              </a:rPr>
              <a:t>))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    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x,</a:t>
            </a:r>
            <a:r>
              <a:rPr lang="en-US" altLang="zh-CN" i="1">
                <a:solidFill>
                  <a:srgbClr val="00B05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i="1">
                <a:latin typeface="Times New Roman" panose="02020603050405020304" pitchFamily="18" charset="0"/>
              </a:rPr>
              <a:t>,z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</a:t>
            </a:r>
            <a:r>
              <a:rPr lang="en-US" altLang="zh-CN" i="1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x,</a:t>
            </a:r>
            <a:r>
              <a:rPr lang="en-US" altLang="zh-CN" i="1">
                <a:solidFill>
                  <a:srgbClr val="0066FF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i="1">
                <a:latin typeface="Times New Roman" panose="02020603050405020304" pitchFamily="18" charset="0"/>
              </a:rPr>
              <a:t>,z</a:t>
            </a:r>
            <a:r>
              <a:rPr lang="en-US" altLang="zh-CN">
                <a:latin typeface="Times New Roman" panose="02020603050405020304" pitchFamily="18" charset="0"/>
              </a:rPr>
              <a:t>))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en-US" altLang="zh-CN">
                <a:latin typeface="Times New Roman" panose="02020603050405020304" pitchFamily="18" charset="0"/>
              </a:rPr>
              <a:t>        </a:t>
            </a:r>
            <a:r>
              <a:rPr lang="zh-CN" altLang="en-US">
                <a:latin typeface="Times New Roman" panose="02020603050405020304" pitchFamily="18" charset="0"/>
              </a:rPr>
              <a:t>代替规则</a:t>
            </a:r>
            <a:endParaRPr lang="zh-CN" altLang="en-US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     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sym typeface="Symbol" panose="05050102010706020507" pitchFamily="18" charset="2"/>
              </a:rPr>
              <a:t></a:t>
            </a:r>
            <a:r>
              <a:rPr lang="en-US" altLang="zh-CN" i="1">
                <a:solidFill>
                  <a:srgbClr val="0066FF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x,</a:t>
            </a:r>
            <a:r>
              <a:rPr lang="en-US" altLang="zh-CN" i="1">
                <a:solidFill>
                  <a:srgbClr val="00B05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i="1">
                <a:latin typeface="Times New Roman" panose="02020603050405020304" pitchFamily="18" charset="0"/>
              </a:rPr>
              <a:t>,z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x,</a:t>
            </a:r>
            <a:r>
              <a:rPr lang="en-US" altLang="zh-CN" i="1">
                <a:solidFill>
                  <a:srgbClr val="0066FF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i="1">
                <a:latin typeface="Times New Roman" panose="02020603050405020304" pitchFamily="18" charset="0"/>
              </a:rPr>
              <a:t>,z</a:t>
            </a:r>
            <a:r>
              <a:rPr lang="en-US" altLang="zh-CN">
                <a:latin typeface="Times New Roman" panose="02020603050405020304" pitchFamily="18" charset="0"/>
              </a:rPr>
              <a:t>))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           </a:t>
            </a:r>
            <a:r>
              <a:rPr lang="zh-CN" altLang="en-US">
                <a:latin typeface="Times New Roman" panose="02020603050405020304" pitchFamily="18" charset="0"/>
              </a:rPr>
              <a:t>辖域扩张等值式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18EF2C5-2BD1-4B68-A1F9-A4637E144FE6}" type="slidenum">
              <a:rPr lang="en-US" altLang="zh-CN" sz="1400" b="0"/>
              <a:t>19</a:t>
            </a:fld>
            <a:endParaRPr lang="en-US" altLang="zh-CN" sz="1400" b="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002588" cy="1008062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</a:rPr>
              <a:t>设个体域</a:t>
            </a:r>
            <a:r>
              <a:rPr lang="en-US" altLang="zh-CN" i="1">
                <a:latin typeface="Times New Roman" panose="02020603050405020304" pitchFamily="18" charset="0"/>
              </a:rPr>
              <a:t>D</a:t>
            </a:r>
            <a:r>
              <a:rPr lang="en-US" altLang="zh-CN">
                <a:latin typeface="Times New Roman" panose="02020603050405020304" pitchFamily="18" charset="0"/>
              </a:rPr>
              <a:t>={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}, </a:t>
            </a:r>
            <a:r>
              <a:rPr lang="zh-CN" altLang="en-US">
                <a:latin typeface="Times New Roman" panose="02020603050405020304" pitchFamily="18" charset="0"/>
              </a:rPr>
              <a:t>消去下述公式中的量词</a:t>
            </a:r>
            <a:r>
              <a:rPr lang="en-US" altLang="zh-CN">
                <a:latin typeface="Times New Roman" panose="02020603050405020304" pitchFamily="18" charset="0"/>
              </a:rPr>
              <a:t>:  </a:t>
            </a: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(1)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)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))</a:t>
            </a:r>
          </a:p>
        </p:txBody>
      </p:sp>
      <p:sp>
        <p:nvSpPr>
          <p:cNvPr id="305156" name="Rectangle 4"/>
          <p:cNvSpPr>
            <a:spLocks noChangeArrowheads="1"/>
          </p:cNvSpPr>
          <p:nvPr/>
        </p:nvSpPr>
        <p:spPr bwMode="auto">
          <a:xfrm>
            <a:off x="549275" y="2492896"/>
            <a:ext cx="8137525" cy="30810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解法一   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))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 (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)))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(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)))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(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)))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(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)))</a:t>
            </a:r>
          </a:p>
          <a:p>
            <a:pPr eaLnBrk="1" hangingPunct="1">
              <a:lnSpc>
                <a:spcPct val="120000"/>
              </a:lnSpc>
              <a:buClrTx/>
              <a:buFont typeface="Symbol" panose="05050102010706020507" pitchFamily="18" charset="2"/>
              <a:buNone/>
            </a:pP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     (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)))</a:t>
            </a:r>
            <a:r>
              <a:rPr lang="en-US" altLang="zh-CN" b="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eaLnBrk="1" hangingPunct="1">
              <a:lnSpc>
                <a:spcPct val="120000"/>
              </a:lnSpc>
              <a:buClrTx/>
              <a:buFont typeface="Symbol" panose="05050102010706020507" pitchFamily="18" charset="2"/>
              <a:buNone/>
            </a:pP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     (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)))</a:t>
            </a:r>
            <a:r>
              <a:rPr lang="en-US" altLang="zh-CN" b="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AEA3FF1-78EF-4117-AC9E-C3EFA6F99DAB}" type="slidenum">
              <a:rPr lang="en-US" altLang="zh-CN" sz="1400" b="0"/>
              <a:t>20</a:t>
            </a:fld>
            <a:endParaRPr lang="en-US" altLang="zh-CN" sz="1400" b="0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</a:p>
        </p:txBody>
      </p:sp>
      <p:sp>
        <p:nvSpPr>
          <p:cNvPr id="35844" name="Rectangle 5"/>
          <p:cNvSpPr>
            <a:spLocks noChangeArrowheads="1"/>
          </p:cNvSpPr>
          <p:nvPr/>
        </p:nvSpPr>
        <p:spPr bwMode="auto">
          <a:xfrm>
            <a:off x="611188" y="1484313"/>
            <a:ext cx="7705725" cy="359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解法二     </a:t>
            </a:r>
          </a:p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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))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     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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))                </a:t>
            </a:r>
            <a:r>
              <a:rPr lang="zh-CN" altLang="en-US" dirty="0">
                <a:latin typeface="Times New Roman" panose="02020603050405020304" pitchFamily="18" charset="0"/>
              </a:rPr>
              <a:t>辖域缩小等值式</a:t>
            </a:r>
            <a:endParaRPr lang="zh-CN" altLang="en-US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       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)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     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)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        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)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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)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AEA3FF1-78EF-4117-AC9E-C3EFA6F99DAB}" type="slidenum">
              <a:rPr lang="en-US" altLang="zh-CN" sz="1400" b="0"/>
              <a:t>21</a:t>
            </a:fld>
            <a:endParaRPr lang="en-US" altLang="zh-CN" sz="1400" b="0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</a:p>
        </p:txBody>
      </p:sp>
      <p:sp>
        <p:nvSpPr>
          <p:cNvPr id="35844" name="Rectangle 5"/>
          <p:cNvSpPr>
            <a:spLocks noChangeArrowheads="1"/>
          </p:cNvSpPr>
          <p:nvPr/>
        </p:nvSpPr>
        <p:spPr bwMode="auto">
          <a:xfrm>
            <a:off x="611188" y="1484313"/>
            <a:ext cx="7705725" cy="3082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解法三     </a:t>
            </a:r>
          </a:p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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))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     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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))                </a:t>
            </a:r>
            <a:r>
              <a:rPr lang="zh-CN" altLang="en-US" dirty="0">
                <a:latin typeface="Times New Roman" panose="02020603050405020304" pitchFamily="18" charset="0"/>
              </a:rPr>
              <a:t>辖域缩小等值式</a:t>
            </a:r>
            <a:endParaRPr lang="zh-CN" altLang="en-US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ClrTx/>
            </a:pP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       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 err="1">
                <a:latin typeface="Times New Roman" panose="02020603050405020304" pitchFamily="18" charset="0"/>
              </a:rPr>
              <a:t>xF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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                   </a:t>
            </a:r>
            <a:r>
              <a:rPr lang="zh-CN" altLang="en-US" dirty="0">
                <a:latin typeface="Times New Roman" panose="02020603050405020304" pitchFamily="18" charset="0"/>
              </a:rPr>
              <a:t>辖域缩小等值式</a:t>
            </a:r>
            <a:endParaRPr lang="zh-CN" altLang="en-US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   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)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 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)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        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E6BE624-724E-4135-96B5-6F017DB299BF}" type="slidenum">
              <a:rPr lang="en-US" altLang="zh-CN" sz="1400" b="0"/>
              <a:t>22</a:t>
            </a:fld>
            <a:endParaRPr lang="en-US" altLang="zh-CN" sz="1400" b="0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</a:p>
        </p:txBody>
      </p:sp>
      <p:sp>
        <p:nvSpPr>
          <p:cNvPr id="37892" name="Rectangle 3"/>
          <p:cNvSpPr>
            <a:spLocks noChangeArrowheads="1"/>
          </p:cNvSpPr>
          <p:nvPr/>
        </p:nvSpPr>
        <p:spPr bwMode="auto">
          <a:xfrm>
            <a:off x="611188" y="1196975"/>
            <a:ext cx="3889375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(2) </a:t>
            </a:r>
            <a:r>
              <a:rPr lang="en-US" altLang="zh-CN">
                <a:sym typeface="Symbol" panose="05050102010706020507" pitchFamily="18" charset="2"/>
              </a:rPr>
              <a:t>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Times New Roman" panose="02020603050405020304" pitchFamily="18" charset="0"/>
              </a:rPr>
              <a:t>yF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x,y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309252" name="Rectangle 4"/>
          <p:cNvSpPr>
            <a:spLocks noChangeArrowheads="1"/>
          </p:cNvSpPr>
          <p:nvPr/>
        </p:nvSpPr>
        <p:spPr bwMode="auto">
          <a:xfrm>
            <a:off x="1223963" y="2246313"/>
            <a:ext cx="5329237" cy="2574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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x,y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 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x,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 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a,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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b,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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c,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11188" y="175592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解法一</a:t>
            </a:r>
            <a:endParaRPr lang="zh-CN" altLang="en-US" b="1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E6BE624-724E-4135-96B5-6F017DB299BF}" type="slidenum">
              <a:rPr lang="en-US" altLang="zh-CN" sz="1400" b="0"/>
              <a:t>23</a:t>
            </a:fld>
            <a:endParaRPr lang="en-US" altLang="zh-CN" sz="1400" b="0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</a:p>
        </p:txBody>
      </p:sp>
      <p:sp>
        <p:nvSpPr>
          <p:cNvPr id="37892" name="Rectangle 3"/>
          <p:cNvSpPr>
            <a:spLocks noChangeArrowheads="1"/>
          </p:cNvSpPr>
          <p:nvPr/>
        </p:nvSpPr>
        <p:spPr bwMode="auto">
          <a:xfrm>
            <a:off x="611188" y="1196975"/>
            <a:ext cx="3889375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(2) </a:t>
            </a:r>
            <a:r>
              <a:rPr lang="en-US" altLang="zh-CN">
                <a:sym typeface="Symbol" panose="05050102010706020507" pitchFamily="18" charset="2"/>
              </a:rPr>
              <a:t>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Times New Roman" panose="02020603050405020304" pitchFamily="18" charset="0"/>
              </a:rPr>
              <a:t>yF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x,y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309252" name="Rectangle 4"/>
          <p:cNvSpPr>
            <a:spLocks noChangeArrowheads="1"/>
          </p:cNvSpPr>
          <p:nvPr/>
        </p:nvSpPr>
        <p:spPr bwMode="auto">
          <a:xfrm>
            <a:off x="1223963" y="2246313"/>
            <a:ext cx="5329237" cy="2563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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yF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x,y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20000"/>
              </a:lnSpc>
              <a:buClrTx/>
            </a:pPr>
            <a:r>
              <a:rPr lang="en-US" altLang="zh-CN" dirty="0">
                <a:latin typeface="Times New Roman" panose="02020603050405020304" pitchFamily="18" charset="0"/>
              </a:rPr>
              <a:t>  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 </a:t>
            </a:r>
            <a:r>
              <a:rPr lang="en-US" altLang="zh-CN" i="1" dirty="0" err="1">
                <a:latin typeface="Times New Roman" panose="02020603050405020304" pitchFamily="18" charset="0"/>
              </a:rPr>
              <a:t>yF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i="1" dirty="0" err="1">
                <a:latin typeface="Times New Roman" panose="02020603050405020304" pitchFamily="18" charset="0"/>
              </a:rPr>
              <a:t>,y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 </a:t>
            </a:r>
            <a:r>
              <a:rPr lang="en-US" altLang="zh-CN" i="1" dirty="0" err="1">
                <a:latin typeface="Times New Roman" panose="02020603050405020304" pitchFamily="18" charset="0"/>
              </a:rPr>
              <a:t>yF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i="1" dirty="0" err="1">
                <a:latin typeface="Times New Roman" panose="02020603050405020304" pitchFamily="18" charset="0"/>
              </a:rPr>
              <a:t>,y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 </a:t>
            </a:r>
            <a:r>
              <a:rPr lang="en-US" altLang="zh-CN" i="1" dirty="0" err="1">
                <a:latin typeface="Times New Roman" panose="02020603050405020304" pitchFamily="18" charset="0"/>
              </a:rPr>
              <a:t>yF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i="1" dirty="0" err="1">
                <a:latin typeface="Times New Roman" panose="02020603050405020304" pitchFamily="18" charset="0"/>
              </a:rPr>
              <a:t>,y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 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i="1" dirty="0" err="1">
                <a:latin typeface="Times New Roman" panose="02020603050405020304" pitchFamily="18" charset="0"/>
              </a:rPr>
              <a:t>,a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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i="1" dirty="0" err="1">
                <a:latin typeface="Times New Roman" panose="02020603050405020304" pitchFamily="18" charset="0"/>
              </a:rPr>
              <a:t>,a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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i="1" dirty="0" err="1">
                <a:latin typeface="Times New Roman" panose="02020603050405020304" pitchFamily="18" charset="0"/>
              </a:rPr>
              <a:t>,a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11188" y="175592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解法二</a:t>
            </a:r>
            <a:endParaRPr lang="zh-CN" altLang="en-US" b="1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B158122-53A3-4AF0-A957-8F0560FD1D02}" type="slidenum">
              <a:rPr lang="en-US" altLang="zh-CN" sz="1400" b="0"/>
              <a:t>24</a:t>
            </a:fld>
            <a:endParaRPr lang="en-US" altLang="zh-CN" sz="1400" b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229600" cy="2879725"/>
          </a:xfrm>
        </p:spPr>
        <p:txBody>
          <a:bodyPr/>
          <a:lstStyle/>
          <a:p>
            <a:pPr marL="361950" indent="-361950" eaLnBrk="1" hangingPunct="1"/>
            <a:r>
              <a:rPr lang="zh-CN" altLang="en-US"/>
              <a:t>主要内容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>
                <a:latin typeface="Times New Roman" panose="02020603050405020304" pitchFamily="18" charset="0"/>
              </a:rPr>
              <a:t>5.1</a:t>
            </a:r>
            <a:r>
              <a:rPr lang="en-US" altLang="zh-CN"/>
              <a:t> </a:t>
            </a:r>
            <a:r>
              <a:rPr lang="zh-CN" altLang="en-US"/>
              <a:t>一阶逻辑等值式与置换规则</a:t>
            </a:r>
            <a:endParaRPr lang="en-US" altLang="zh-CN"/>
          </a:p>
          <a:p>
            <a:pPr marL="762000" lvl="1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一阶逻辑等值式与基本的等值式</a:t>
            </a:r>
          </a:p>
          <a:p>
            <a:pPr marL="762000" lvl="1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置换规则、换名规则、代替规则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5.2</a:t>
            </a:r>
            <a:r>
              <a:rPr lang="en-US" altLang="zh-CN">
                <a:solidFill>
                  <a:srgbClr val="FF0000"/>
                </a:solidFill>
              </a:rPr>
              <a:t>  </a:t>
            </a:r>
            <a:r>
              <a:rPr lang="zh-CN" altLang="en-US">
                <a:solidFill>
                  <a:srgbClr val="FF0000"/>
                </a:solidFill>
              </a:rPr>
              <a:t>一阶逻辑前束范式</a:t>
            </a:r>
            <a:endParaRPr lang="en-US" altLang="zh-CN">
              <a:solidFill>
                <a:srgbClr val="FF0000"/>
              </a:solidFill>
            </a:endParaRP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>
                <a:latin typeface="Times New Roman" panose="02020603050405020304" pitchFamily="18" charset="0"/>
              </a:rPr>
              <a:t>5.3</a:t>
            </a:r>
            <a:r>
              <a:rPr lang="en-US" altLang="zh-CN"/>
              <a:t> </a:t>
            </a:r>
            <a:r>
              <a:rPr lang="zh-CN" altLang="en-US"/>
              <a:t>一阶逻辑的推论理论</a:t>
            </a:r>
            <a:endParaRPr lang="en-US" altLang="zh-CN"/>
          </a:p>
          <a:p>
            <a:pPr marL="762000" lvl="1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自然推理系统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 baseline="-25000">
                <a:latin typeface="Palace Script MT" panose="030303020206070C0B05" pitchFamily="66" charset="0"/>
              </a:rPr>
              <a:t>L    </a:t>
            </a:r>
            <a:r>
              <a:rPr lang="zh-CN" altLang="en-US">
                <a:latin typeface="Times New Roman" panose="02020603050405020304" pitchFamily="18" charset="0"/>
              </a:rPr>
              <a:t>及其推理规则</a:t>
            </a:r>
          </a:p>
          <a:p>
            <a:pPr marL="361950" indent="-361950" eaLnBrk="1" hangingPunct="1"/>
            <a:endParaRPr lang="en-US" altLang="zh-CN"/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title"/>
          </p:nvPr>
        </p:nvSpPr>
        <p:spPr>
          <a:xfrm>
            <a:off x="1835150" y="260350"/>
            <a:ext cx="6394450" cy="431800"/>
          </a:xfrm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第五章 一阶逻辑等值演算与推理</a:t>
            </a:r>
          </a:p>
        </p:txBody>
      </p:sp>
    </p:spTree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DC2A240-088F-4784-8F99-6612C8144743}" type="slidenum">
              <a:rPr lang="en-US" altLang="zh-CN" sz="1400" b="0"/>
              <a:t>25</a:t>
            </a:fld>
            <a:endParaRPr lang="en-US" altLang="zh-CN" sz="1400" b="0"/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5.2</a:t>
            </a:r>
            <a:r>
              <a:rPr lang="en-US" altLang="zh-CN"/>
              <a:t>  </a:t>
            </a:r>
            <a:r>
              <a:rPr lang="zh-CN" altLang="en-US"/>
              <a:t>一阶逻辑前束范式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229600" cy="4525962"/>
          </a:xfrm>
        </p:spPr>
        <p:txBody>
          <a:bodyPr/>
          <a:lstStyle/>
          <a:p>
            <a:pPr marL="625475" indent="-625475"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5.2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为一个一阶逻辑公式，若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具有如下形式</a:t>
            </a:r>
            <a:endParaRPr lang="zh-CN" altLang="en-US" i="1" dirty="0">
              <a:latin typeface="Times New Roman" panose="02020603050405020304" pitchFamily="18" charset="0"/>
            </a:endParaRPr>
          </a:p>
          <a:p>
            <a:pPr marL="625475" indent="-625475" eaLnBrk="1" hangingPunct="1"/>
            <a:r>
              <a:rPr lang="zh-CN" altLang="en-US" i="1" dirty="0">
                <a:latin typeface="Times New Roman" panose="02020603050405020304" pitchFamily="18" charset="0"/>
              </a:rPr>
              <a:t>      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…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k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k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625475" indent="-625475" eaLnBrk="1" hangingPunct="1"/>
            <a:r>
              <a:rPr lang="zh-CN" altLang="en-US" dirty="0">
                <a:latin typeface="Times New Roman" panose="02020603050405020304" pitchFamily="18" charset="0"/>
              </a:rPr>
              <a:t>则称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前束范式</a:t>
            </a:r>
            <a:r>
              <a:rPr lang="zh-CN" altLang="en-US" dirty="0">
                <a:latin typeface="Times New Roman" panose="02020603050405020304" pitchFamily="18" charset="0"/>
              </a:rPr>
              <a:t>，其中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 (1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zh-CN" altLang="en-US" dirty="0">
                <a:latin typeface="Times New Roman" panose="02020603050405020304" pitchFamily="18" charset="0"/>
              </a:rPr>
              <a:t>或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为不含量词</a:t>
            </a:r>
          </a:p>
          <a:p>
            <a:pPr marL="625475" indent="-625475" eaLnBrk="1" hangingPunct="1"/>
            <a:r>
              <a:rPr lang="zh-CN" altLang="en-US" dirty="0">
                <a:latin typeface="Times New Roman" panose="02020603050405020304" pitchFamily="18" charset="0"/>
              </a:rPr>
              <a:t>的公式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marL="625475" indent="-625475" eaLnBrk="1" hangingPunct="1"/>
            <a:endParaRPr lang="en-US" altLang="zh-CN" dirty="0">
              <a:latin typeface="Times New Roman" panose="02020603050405020304" pitchFamily="18" charset="0"/>
            </a:endParaRPr>
          </a:p>
          <a:p>
            <a:pPr marL="625475" indent="-625475" eaLnBrk="1" hangingPunct="1"/>
            <a:r>
              <a:rPr lang="zh-CN" altLang="en-US" dirty="0">
                <a:latin typeface="Times New Roman" panose="02020603050405020304" pitchFamily="18" charset="0"/>
              </a:rPr>
              <a:t>例如，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))</a:t>
            </a:r>
          </a:p>
          <a:p>
            <a:pPr marL="625475" indent="-625475" eaLnBrk="1" hangingPunct="1"/>
            <a:r>
              <a:rPr lang="en-US" altLang="zh-CN" dirty="0">
                <a:latin typeface="Times New Roman" panose="02020603050405020304" pitchFamily="18" charset="0"/>
              </a:rPr>
              <a:t>            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 err="1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)))   </a:t>
            </a:r>
            <a:r>
              <a:rPr lang="zh-CN" altLang="en-US" dirty="0">
                <a:latin typeface="Times New Roman" panose="02020603050405020304" pitchFamily="18" charset="0"/>
              </a:rPr>
              <a:t>是前束范式</a:t>
            </a:r>
          </a:p>
          <a:p>
            <a:pPr marL="625475" indent="-625475" eaLnBrk="1" hangingPunct="1"/>
            <a:r>
              <a:rPr lang="zh-CN" altLang="en-US" dirty="0">
                <a:latin typeface="Times New Roman" panose="02020603050405020304" pitchFamily="18" charset="0"/>
              </a:rPr>
              <a:t>而         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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))</a:t>
            </a:r>
          </a:p>
          <a:p>
            <a:pPr marL="625475" indent="-625475" eaLnBrk="1" hangingPunct="1"/>
            <a:r>
              <a:rPr lang="en-US" altLang="zh-CN" dirty="0">
                <a:latin typeface="Times New Roman" panose="02020603050405020304" pitchFamily="18" charset="0"/>
              </a:rPr>
              <a:t>             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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)))  </a:t>
            </a:r>
            <a:r>
              <a:rPr lang="zh-CN" altLang="en-US" dirty="0">
                <a:latin typeface="Times New Roman" panose="02020603050405020304" pitchFamily="18" charset="0"/>
              </a:rPr>
              <a:t>不是前束范式， </a:t>
            </a:r>
          </a:p>
        </p:txBody>
      </p:sp>
    </p:spTree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EA5196B-A120-4A99-AA5A-E7AF4D8ACD0B}" type="slidenum">
              <a:rPr lang="en-US" altLang="zh-CN" sz="1400" b="0"/>
              <a:t>26</a:t>
            </a:fld>
            <a:endParaRPr lang="en-US" altLang="zh-CN" sz="1400" b="0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前束范式存在定理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196975"/>
            <a:ext cx="8229600" cy="10795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5.1</a:t>
            </a:r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（前束范式存在定理）</a:t>
            </a: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      一阶逻辑中的任何公式都存在与之等值的前束范式</a:t>
            </a:r>
          </a:p>
        </p:txBody>
      </p:sp>
      <p:sp>
        <p:nvSpPr>
          <p:cNvPr id="284676" name="Rectangle 4"/>
          <p:cNvSpPr>
            <a:spLocks noChangeArrowheads="1"/>
          </p:cNvSpPr>
          <p:nvPr/>
        </p:nvSpPr>
        <p:spPr bwMode="auto">
          <a:xfrm>
            <a:off x="395288" y="2493963"/>
            <a:ext cx="82296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>
                <a:latin typeface="Times New Roman" panose="02020603050405020304" pitchFamily="18" charset="0"/>
              </a:rPr>
              <a:t>  </a:t>
            </a:r>
            <a:r>
              <a:rPr lang="zh-CN" altLang="en-US">
                <a:latin typeface="Times New Roman" panose="02020603050405020304" pitchFamily="18" charset="0"/>
              </a:rPr>
              <a:t>求下列公式的前束范式</a:t>
            </a: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  </a:t>
            </a:r>
            <a:r>
              <a:rPr lang="en-US" altLang="zh-CN">
                <a:latin typeface="Times New Roman" panose="02020603050405020304" pitchFamily="18" charset="0"/>
              </a:rPr>
              <a:t>(1)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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M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))</a:t>
            </a:r>
          </a:p>
        </p:txBody>
      </p:sp>
      <p:sp>
        <p:nvSpPr>
          <p:cNvPr id="284677" name="Rectangle 5"/>
          <p:cNvSpPr>
            <a:spLocks noChangeArrowheads="1"/>
          </p:cNvSpPr>
          <p:nvPr/>
        </p:nvSpPr>
        <p:spPr bwMode="auto">
          <a:xfrm>
            <a:off x="539750" y="3355975"/>
            <a:ext cx="7993063" cy="194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解   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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M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))</a:t>
            </a: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  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>
                <a:latin typeface="Times New Roman" panose="02020603050405020304" pitchFamily="18" charset="0"/>
              </a:rPr>
              <a:t>M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))       </a:t>
            </a:r>
            <a:r>
              <a:rPr lang="zh-CN" altLang="en-US">
                <a:latin typeface="Times New Roman" panose="02020603050405020304" pitchFamily="18" charset="0"/>
              </a:rPr>
              <a:t>（量词否定等值式）</a:t>
            </a: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  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M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))      </a:t>
            </a: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后两步结果都是前束范式，说明公式的前束范式不惟一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4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4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76" grpId="0"/>
      <p:bldP spid="28467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67582A3-89A7-4DB5-BAA9-C33DA99CC38E}" type="slidenum">
              <a:rPr lang="en-US" altLang="zh-CN" sz="1400" b="0"/>
              <a:t>27</a:t>
            </a:fld>
            <a:endParaRPr lang="en-US" altLang="zh-CN" sz="1400" b="0"/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求前束范式的实例</a:t>
            </a:r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5545137" cy="503238"/>
          </a:xfrm>
        </p:spPr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  (2)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Times New Roman" panose="02020603050405020304" pitchFamily="18" charset="0"/>
              </a:rPr>
              <a:t>xF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</a:t>
            </a:r>
            <a:r>
              <a:rPr lang="en-US" altLang="zh-CN" i="1">
                <a:latin typeface="Times New Roman" panose="02020603050405020304" pitchFamily="18" charset="0"/>
              </a:rPr>
              <a:t>xG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86726" name="Rectangle 6"/>
          <p:cNvSpPr>
            <a:spLocks noChangeArrowheads="1"/>
          </p:cNvSpPr>
          <p:nvPr/>
        </p:nvSpPr>
        <p:spPr bwMode="auto">
          <a:xfrm>
            <a:off x="590550" y="1773238"/>
            <a:ext cx="8229600" cy="136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>
                <a:latin typeface="Times New Roman" panose="02020603050405020304" pitchFamily="18" charset="0"/>
              </a:rPr>
              <a:t>解  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Times New Roman" panose="02020603050405020304" pitchFamily="18" charset="0"/>
              </a:rPr>
              <a:t>xF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</a:t>
            </a:r>
            <a:r>
              <a:rPr lang="en-US" altLang="zh-CN" i="1">
                <a:latin typeface="Times New Roman" panose="02020603050405020304" pitchFamily="18" charset="0"/>
              </a:rPr>
              <a:t>xG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latin typeface="Times New Roman" panose="02020603050405020304" pitchFamily="18" charset="0"/>
              </a:rPr>
              <a:t> 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Times New Roman" panose="02020603050405020304" pitchFamily="18" charset="0"/>
              </a:rPr>
              <a:t>xF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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         </a:t>
            </a:r>
            <a:r>
              <a:rPr lang="zh-CN" altLang="en-US">
                <a:latin typeface="Times New Roman" panose="02020603050405020304" pitchFamily="18" charset="0"/>
              </a:rPr>
              <a:t>（量词否定等值式）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latin typeface="Times New Roman" panose="02020603050405020304" pitchFamily="18" charset="0"/>
              </a:rPr>
              <a:t> 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))           </a:t>
            </a:r>
            <a:r>
              <a:rPr lang="zh-CN" altLang="en-US">
                <a:latin typeface="Times New Roman" panose="02020603050405020304" pitchFamily="18" charset="0"/>
              </a:rPr>
              <a:t>（量词分配等值式）</a:t>
            </a:r>
          </a:p>
        </p:txBody>
      </p:sp>
      <p:sp>
        <p:nvSpPr>
          <p:cNvPr id="286727" name="Rectangle 7"/>
          <p:cNvSpPr>
            <a:spLocks noChangeArrowheads="1"/>
          </p:cNvSpPr>
          <p:nvPr/>
        </p:nvSpPr>
        <p:spPr bwMode="auto">
          <a:xfrm>
            <a:off x="590550" y="3578225"/>
            <a:ext cx="8229600" cy="2230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或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      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xF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</a:t>
            </a:r>
            <a:r>
              <a:rPr lang="en-US" altLang="zh-CN" i="1" dirty="0" err="1">
                <a:latin typeface="Times New Roman" panose="02020603050405020304" pitchFamily="18" charset="0"/>
              </a:rPr>
              <a:t>xG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xF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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              </a:t>
            </a:r>
            <a:r>
              <a:rPr lang="zh-CN" altLang="en-US" dirty="0">
                <a:latin typeface="Times New Roman" panose="02020603050405020304" pitchFamily="18" charset="0"/>
              </a:rPr>
              <a:t>量词否定等值式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xF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 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y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</a:rPr>
              <a:t>              </a:t>
            </a:r>
            <a:r>
              <a:rPr lang="zh-CN" altLang="en-US" dirty="0">
                <a:latin typeface="Times New Roman" panose="02020603050405020304" pitchFamily="18" charset="0"/>
              </a:rPr>
              <a:t>换名规则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 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</a:rPr>
              <a:t> )           </a:t>
            </a:r>
            <a:r>
              <a:rPr lang="zh-CN" altLang="en-US" dirty="0">
                <a:latin typeface="Times New Roman" panose="02020603050405020304" pitchFamily="18" charset="0"/>
              </a:rPr>
              <a:t>辖域收缩扩张规则</a:t>
            </a:r>
          </a:p>
        </p:txBody>
      </p:sp>
      <p:grpSp>
        <p:nvGrpSpPr>
          <p:cNvPr id="9" name="Group 10"/>
          <p:cNvGrpSpPr/>
          <p:nvPr/>
        </p:nvGrpSpPr>
        <p:grpSpPr bwMode="auto">
          <a:xfrm>
            <a:off x="4278313" y="2940050"/>
            <a:ext cx="2885975" cy="776288"/>
            <a:chOff x="2976" y="1824"/>
            <a:chExt cx="2544" cy="769"/>
          </a:xfrm>
          <a:solidFill>
            <a:srgbClr val="92D050"/>
          </a:solidFill>
        </p:grpSpPr>
        <p:sp>
          <p:nvSpPr>
            <p:cNvPr id="46088" name="Rectangle 11"/>
            <p:cNvSpPr>
              <a:spLocks noChangeArrowheads="1"/>
            </p:cNvSpPr>
            <p:nvPr/>
          </p:nvSpPr>
          <p:spPr bwMode="auto">
            <a:xfrm>
              <a:off x="2976" y="1824"/>
              <a:ext cx="2544" cy="768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/>
            </a:p>
          </p:txBody>
        </p:sp>
        <p:graphicFrame>
          <p:nvGraphicFramePr>
            <p:cNvPr id="46089" name="Object 12"/>
            <p:cNvGraphicFramePr>
              <a:graphicFrameLocks noChangeAspect="1"/>
            </p:cNvGraphicFramePr>
            <p:nvPr/>
          </p:nvGraphicFramePr>
          <p:xfrm>
            <a:off x="3072" y="1824"/>
            <a:ext cx="1892" cy="3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5371445" imgH="2962910" progId="">
                    <p:embed/>
                  </p:oleObj>
                </mc:Choice>
                <mc:Fallback>
                  <p:oleObj name="Equation" r:id="rId3" imgW="15371445" imgH="2962910" progId="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1824"/>
                          <a:ext cx="1892" cy="385"/>
                        </a:xfrm>
                        <a:prstGeom prst="rect">
                          <a:avLst/>
                        </a:prstGeom>
                        <a:solidFill>
                          <a:srgbClr val="92D050"/>
                        </a:solidFill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090" name="Object 13"/>
            <p:cNvGraphicFramePr>
              <a:graphicFrameLocks noChangeAspect="1"/>
            </p:cNvGraphicFramePr>
            <p:nvPr/>
          </p:nvGraphicFramePr>
          <p:xfrm>
            <a:off x="2976" y="2208"/>
            <a:ext cx="2325" cy="3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8889980" imgH="2962910" progId="">
                    <p:embed/>
                  </p:oleObj>
                </mc:Choice>
                <mc:Fallback>
                  <p:oleObj name="Equation" r:id="rId5" imgW="18889980" imgH="2962910" progId="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2208"/>
                          <a:ext cx="2325" cy="385"/>
                        </a:xfrm>
                        <a:prstGeom prst="rect">
                          <a:avLst/>
                        </a:prstGeom>
                        <a:solidFill>
                          <a:srgbClr val="92D050"/>
                        </a:solidFill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6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26" grpId="0"/>
      <p:bldP spid="28672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F1BB09B-555A-4BEA-B61D-409BAC3CD0DE}" type="slidenum">
              <a:rPr lang="en-US" altLang="zh-CN" sz="1400" b="0"/>
              <a:t>28</a:t>
            </a:fld>
            <a:endParaRPr lang="en-US" altLang="zh-CN" sz="1400" b="0"/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求前束范式的实例</a:t>
            </a:r>
          </a:p>
        </p:txBody>
      </p:sp>
      <p:sp>
        <p:nvSpPr>
          <p:cNvPr id="48132" name="Rectangle 4"/>
          <p:cNvSpPr>
            <a:spLocks noChangeArrowheads="1"/>
          </p:cNvSpPr>
          <p:nvPr/>
        </p:nvSpPr>
        <p:spPr bwMode="auto">
          <a:xfrm>
            <a:off x="611188" y="1123950"/>
            <a:ext cx="4897437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(3)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Times New Roman" panose="02020603050405020304" pitchFamily="18" charset="0"/>
              </a:rPr>
              <a:t>xF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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>
                <a:latin typeface="Times New Roman" panose="02020603050405020304" pitchFamily="18" charset="0"/>
              </a:rPr>
              <a:t>H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))</a:t>
            </a:r>
          </a:p>
        </p:txBody>
      </p:sp>
      <p:sp>
        <p:nvSpPr>
          <p:cNvPr id="292869" name="Rectangle 5"/>
          <p:cNvSpPr>
            <a:spLocks noChangeArrowheads="1"/>
          </p:cNvSpPr>
          <p:nvPr/>
        </p:nvSpPr>
        <p:spPr bwMode="auto">
          <a:xfrm>
            <a:off x="684213" y="4292600"/>
            <a:ext cx="8229600" cy="161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或</a:t>
            </a: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  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Times New Roman" panose="02020603050405020304" pitchFamily="18" charset="0"/>
              </a:rPr>
              <a:t>xF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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>
                <a:latin typeface="Times New Roman" panose="02020603050405020304" pitchFamily="18" charset="0"/>
              </a:rPr>
              <a:t>H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))            </a:t>
            </a:r>
            <a:r>
              <a:rPr lang="zh-CN" altLang="en-US">
                <a:latin typeface="Times New Roman" panose="02020603050405020304" pitchFamily="18" charset="0"/>
              </a:rPr>
              <a:t>代替规则</a:t>
            </a: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  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>
                <a:latin typeface="Times New Roman" panose="02020603050405020304" pitchFamily="18" charset="0"/>
              </a:rPr>
              <a:t>H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)))        </a:t>
            </a:r>
          </a:p>
        </p:txBody>
      </p:sp>
      <p:sp>
        <p:nvSpPr>
          <p:cNvPr id="292870" name="Rectangle 6"/>
          <p:cNvSpPr>
            <a:spLocks noChangeArrowheads="1"/>
          </p:cNvSpPr>
          <p:nvPr/>
        </p:nvSpPr>
        <p:spPr bwMode="auto">
          <a:xfrm>
            <a:off x="684213" y="1628775"/>
            <a:ext cx="8229600" cy="1468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解   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xF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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))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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))             </a:t>
            </a:r>
            <a:r>
              <a:rPr lang="zh-CN" altLang="en-US" dirty="0">
                <a:latin typeface="Times New Roman" panose="02020603050405020304" pitchFamily="18" charset="0"/>
              </a:rPr>
              <a:t>换名规则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 err="1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)))           </a:t>
            </a:r>
            <a:r>
              <a:rPr lang="zh-CN" altLang="en-US" dirty="0">
                <a:latin typeface="Times New Roman" panose="02020603050405020304" pitchFamily="18" charset="0"/>
              </a:rPr>
              <a:t>辖域收缩扩张规则</a:t>
            </a:r>
          </a:p>
        </p:txBody>
      </p:sp>
      <p:graphicFrame>
        <p:nvGraphicFramePr>
          <p:cNvPr id="48135" name="Object 10"/>
          <p:cNvGraphicFramePr>
            <a:graphicFrameLocks noChangeAspect="1"/>
          </p:cNvGraphicFramePr>
          <p:nvPr/>
        </p:nvGraphicFramePr>
        <p:xfrm>
          <a:off x="892175" y="3097213"/>
          <a:ext cx="3589338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111855" imgH="5185410" progId="">
                  <p:embed/>
                </p:oleObj>
              </mc:Choice>
              <mc:Fallback>
                <p:oleObj name="Equation" r:id="rId3" imgW="16111855" imgH="5185410" progId="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2175" y="3097213"/>
                        <a:ext cx="3589338" cy="981075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6" name="Object 13"/>
          <p:cNvGraphicFramePr>
            <a:graphicFrameLocks noChangeAspect="1"/>
          </p:cNvGraphicFramePr>
          <p:nvPr/>
        </p:nvGraphicFramePr>
        <p:xfrm>
          <a:off x="4511675" y="3097213"/>
          <a:ext cx="3589338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111855" imgH="5185410" progId="">
                  <p:embed/>
                </p:oleObj>
              </mc:Choice>
              <mc:Fallback>
                <p:oleObj name="Equation" r:id="rId5" imgW="16111855" imgH="5185410" progId="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675" y="3097213"/>
                        <a:ext cx="3589338" cy="979487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2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2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869" grpId="0"/>
      <p:bldP spid="29287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924BEF1-215C-46E5-912D-482474389638}" type="slidenum">
              <a:rPr lang="en-US" altLang="zh-CN" sz="1400" b="0">
                <a:latin typeface="Verdana" panose="020B0604030504040204" pitchFamily="34" charset="0"/>
              </a:rPr>
              <a:t>29</a:t>
            </a:fld>
            <a:endParaRPr lang="en-US" altLang="zh-CN" sz="1400" b="0">
              <a:latin typeface="Verdana" panose="020B0604030504040204" pitchFamily="34" charset="0"/>
            </a:endParaRPr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求前束范式的实例</a:t>
            </a:r>
          </a:p>
        </p:txBody>
      </p:sp>
      <p:graphicFrame>
        <p:nvGraphicFramePr>
          <p:cNvPr id="412676" name="Object 4"/>
          <p:cNvGraphicFramePr>
            <a:graphicFrameLocks noChangeAspect="1"/>
          </p:cNvGraphicFramePr>
          <p:nvPr/>
        </p:nvGraphicFramePr>
        <p:xfrm>
          <a:off x="604838" y="3074988"/>
          <a:ext cx="3833812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202055" imgH="156845" progId="Equation.3">
                  <p:embed/>
                </p:oleObj>
              </mc:Choice>
              <mc:Fallback>
                <p:oleObj name="公式" r:id="rId3" imgW="1202055" imgH="15684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838" y="3074988"/>
                        <a:ext cx="3833812" cy="611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677" name="Object 5"/>
          <p:cNvGraphicFramePr>
            <a:graphicFrameLocks noChangeAspect="1"/>
          </p:cNvGraphicFramePr>
          <p:nvPr/>
        </p:nvGraphicFramePr>
        <p:xfrm>
          <a:off x="611188" y="1268413"/>
          <a:ext cx="3746500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54125" imgH="173990" progId="Equation.DSMT4">
                  <p:embed/>
                </p:oleObj>
              </mc:Choice>
              <mc:Fallback>
                <p:oleObj name="Equation" r:id="rId5" imgW="1254125" imgH="17399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268413"/>
                        <a:ext cx="3746500" cy="611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678" name="Object 6"/>
          <p:cNvGraphicFramePr>
            <a:graphicFrameLocks noChangeAspect="1"/>
          </p:cNvGraphicFramePr>
          <p:nvPr/>
        </p:nvGraphicFramePr>
        <p:xfrm>
          <a:off x="604838" y="1898650"/>
          <a:ext cx="4014787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263015" imgH="156845" progId="Equation.3">
                  <p:embed/>
                </p:oleObj>
              </mc:Choice>
              <mc:Fallback>
                <p:oleObj name="公式" r:id="rId7" imgW="1263015" imgH="15684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838" y="1898650"/>
                        <a:ext cx="4014787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679" name="Object 7"/>
          <p:cNvGraphicFramePr>
            <a:graphicFrameLocks noChangeAspect="1"/>
          </p:cNvGraphicFramePr>
          <p:nvPr/>
        </p:nvGraphicFramePr>
        <p:xfrm>
          <a:off x="604838" y="2465388"/>
          <a:ext cx="3943350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236345" imgH="156845" progId="Equation.3">
                  <p:embed/>
                </p:oleObj>
              </mc:Choice>
              <mc:Fallback>
                <p:oleObj name="公式" r:id="rId9" imgW="1236345" imgH="15684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838" y="2465388"/>
                        <a:ext cx="3943350" cy="611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680" name="Object 8"/>
          <p:cNvGraphicFramePr>
            <a:graphicFrameLocks noChangeAspect="1"/>
          </p:cNvGraphicFramePr>
          <p:nvPr/>
        </p:nvGraphicFramePr>
        <p:xfrm>
          <a:off x="604838" y="3651250"/>
          <a:ext cx="3725862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167130" imgH="156845" progId="Equation.3">
                  <p:embed/>
                </p:oleObj>
              </mc:Choice>
              <mc:Fallback>
                <p:oleObj name="公式" r:id="rId11" imgW="1167130" imgH="15684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838" y="3651250"/>
                        <a:ext cx="3725862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571500" y="4214813"/>
            <a:ext cx="1143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 b="0">
                <a:latin typeface="Verdana" panose="020B0604030504040204" pitchFamily="34" charset="0"/>
              </a:rPr>
              <a:t>或</a:t>
            </a: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642938" y="4857750"/>
          <a:ext cx="3865562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459865" imgH="431800" progId="Equation.3">
                  <p:embed/>
                </p:oleObj>
              </mc:Choice>
              <mc:Fallback>
                <p:oleObj name="公式" r:id="rId13" imgW="1459865" imgH="431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4857750"/>
                        <a:ext cx="3865562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5"/>
          <p:cNvSpPr>
            <a:spLocks noChangeArrowheads="1"/>
          </p:cNvSpPr>
          <p:nvPr/>
        </p:nvSpPr>
        <p:spPr bwMode="auto">
          <a:xfrm>
            <a:off x="4932040" y="4941168"/>
            <a:ext cx="1512168" cy="417513"/>
          </a:xfrm>
          <a:prstGeom prst="rect">
            <a:avLst/>
          </a:prstGeom>
          <a:solidFill>
            <a:srgbClr val="DEE7F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换名规则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2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2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2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2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2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3E3CC75-554B-4F77-B3E1-FB342FFA3D8B}" type="slidenum">
              <a:rPr lang="en-US" altLang="zh-CN" sz="1400" b="0">
                <a:latin typeface="Verdana" panose="020B0604030504040204" pitchFamily="34" charset="0"/>
              </a:rPr>
              <a:t>30</a:t>
            </a:fld>
            <a:endParaRPr lang="en-US" altLang="zh-CN" sz="1400" b="0">
              <a:latin typeface="Verdana" panose="020B0604030504040204" pitchFamily="34" charset="0"/>
            </a:endParaRP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求前束范式的实例</a:t>
            </a:r>
          </a:p>
        </p:txBody>
      </p:sp>
      <p:graphicFrame>
        <p:nvGraphicFramePr>
          <p:cNvPr id="409603" name="Object 3"/>
          <p:cNvGraphicFramePr>
            <a:graphicFrameLocks noChangeAspect="1"/>
          </p:cNvGraphicFramePr>
          <p:nvPr/>
        </p:nvGraphicFramePr>
        <p:xfrm>
          <a:off x="725488" y="1916113"/>
          <a:ext cx="7970837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25395" imgH="156845" progId="Equation.DSMT4">
                  <p:embed/>
                </p:oleObj>
              </mc:Choice>
              <mc:Fallback>
                <p:oleObj name="Equation" r:id="rId3" imgW="2525395" imgH="156845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488" y="1916113"/>
                        <a:ext cx="7970837" cy="65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04" name="Object 4"/>
          <p:cNvGraphicFramePr>
            <a:graphicFrameLocks noChangeAspect="1"/>
          </p:cNvGraphicFramePr>
          <p:nvPr/>
        </p:nvGraphicFramePr>
        <p:xfrm>
          <a:off x="539750" y="1165225"/>
          <a:ext cx="7800975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30170" imgH="173990" progId="Equation.DSMT4">
                  <p:embed/>
                </p:oleObj>
              </mc:Choice>
              <mc:Fallback>
                <p:oleObj name="Equation" r:id="rId5" imgW="2630170" imgH="17399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165225"/>
                        <a:ext cx="7800975" cy="65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05" name="Object 5"/>
          <p:cNvGraphicFramePr>
            <a:graphicFrameLocks noChangeAspect="1"/>
          </p:cNvGraphicFramePr>
          <p:nvPr/>
        </p:nvGraphicFramePr>
        <p:xfrm>
          <a:off x="725488" y="2601913"/>
          <a:ext cx="7950200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25395" imgH="156845" progId="Equation.DSMT4">
                  <p:embed/>
                </p:oleObj>
              </mc:Choice>
              <mc:Fallback>
                <p:oleObj name="Equation" r:id="rId7" imgW="2525395" imgH="15684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488" y="2601913"/>
                        <a:ext cx="7950200" cy="65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/>
          <p:cNvGrpSpPr/>
          <p:nvPr/>
        </p:nvGrpSpPr>
        <p:grpSpPr bwMode="auto">
          <a:xfrm>
            <a:off x="4214813" y="3508375"/>
            <a:ext cx="3962400" cy="1219200"/>
            <a:chOff x="2784" y="1776"/>
            <a:chExt cx="2496" cy="768"/>
          </a:xfrm>
          <a:solidFill>
            <a:srgbClr val="92D050"/>
          </a:solidFill>
        </p:grpSpPr>
        <p:sp>
          <p:nvSpPr>
            <p:cNvPr id="52236" name="Rectangle 7"/>
            <p:cNvSpPr>
              <a:spLocks noChangeArrowheads="1"/>
            </p:cNvSpPr>
            <p:nvPr/>
          </p:nvSpPr>
          <p:spPr bwMode="auto">
            <a:xfrm>
              <a:off x="2784" y="1776"/>
              <a:ext cx="2496" cy="768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/>
            </a:p>
          </p:txBody>
        </p:sp>
        <p:graphicFrame>
          <p:nvGraphicFramePr>
            <p:cNvPr id="52237" name="Object 8"/>
            <p:cNvGraphicFramePr>
              <a:graphicFrameLocks noChangeAspect="1"/>
            </p:cNvGraphicFramePr>
            <p:nvPr/>
          </p:nvGraphicFramePr>
          <p:xfrm>
            <a:off x="2875" y="1794"/>
            <a:ext cx="2313" cy="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6482060" imgH="5185410" progId="">
                    <p:embed/>
                  </p:oleObj>
                </mc:Choice>
                <mc:Fallback>
                  <p:oleObj name="Equation" r:id="rId9" imgW="16482060" imgH="5185410" progId="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5" y="1794"/>
                          <a:ext cx="2313" cy="750"/>
                        </a:xfrm>
                        <a:prstGeom prst="rect">
                          <a:avLst/>
                        </a:prstGeom>
                        <a:solidFill>
                          <a:srgbClr val="92D050"/>
                        </a:solidFill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9"/>
          <p:cNvGrpSpPr/>
          <p:nvPr/>
        </p:nvGrpSpPr>
        <p:grpSpPr bwMode="auto">
          <a:xfrm>
            <a:off x="4214813" y="4903788"/>
            <a:ext cx="3962400" cy="1219200"/>
            <a:chOff x="2880" y="1536"/>
            <a:chExt cx="2496" cy="768"/>
          </a:xfrm>
          <a:solidFill>
            <a:srgbClr val="92D050"/>
          </a:solidFill>
        </p:grpSpPr>
        <p:sp>
          <p:nvSpPr>
            <p:cNvPr id="52234" name="Rectangle 10"/>
            <p:cNvSpPr>
              <a:spLocks noChangeArrowheads="1"/>
            </p:cNvSpPr>
            <p:nvPr/>
          </p:nvSpPr>
          <p:spPr bwMode="auto">
            <a:xfrm>
              <a:off x="2880" y="1536"/>
              <a:ext cx="2496" cy="768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/>
            </a:p>
          </p:txBody>
        </p:sp>
        <p:graphicFrame>
          <p:nvGraphicFramePr>
            <p:cNvPr id="52235" name="Object 11"/>
            <p:cNvGraphicFramePr>
              <a:graphicFrameLocks noChangeAspect="1"/>
            </p:cNvGraphicFramePr>
            <p:nvPr/>
          </p:nvGraphicFramePr>
          <p:xfrm>
            <a:off x="3072" y="1584"/>
            <a:ext cx="2260" cy="7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6111855" imgH="5185410" progId="">
                    <p:embed/>
                  </p:oleObj>
                </mc:Choice>
                <mc:Fallback>
                  <p:oleObj name="Equation" r:id="rId11" imgW="16111855" imgH="5185410" progId="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1584"/>
                          <a:ext cx="2260" cy="705"/>
                        </a:xfrm>
                        <a:prstGeom prst="rect">
                          <a:avLst/>
                        </a:prstGeom>
                        <a:solidFill>
                          <a:srgbClr val="92D050"/>
                        </a:solidFill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Line 12"/>
          <p:cNvSpPr>
            <a:spLocks noChangeShapeType="1"/>
          </p:cNvSpPr>
          <p:nvPr/>
        </p:nvSpPr>
        <p:spPr bwMode="auto">
          <a:xfrm>
            <a:off x="2268538" y="1749425"/>
            <a:ext cx="59086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09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09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 求前束范式</a:t>
            </a:r>
          </a:p>
        </p:txBody>
      </p:sp>
      <p:graphicFrame>
        <p:nvGraphicFramePr>
          <p:cNvPr id="737283" name="Object 3"/>
          <p:cNvGraphicFramePr>
            <a:graphicFrameLocks noChangeAspect="1"/>
          </p:cNvGraphicFramePr>
          <p:nvPr/>
        </p:nvGraphicFramePr>
        <p:xfrm>
          <a:off x="152400" y="1066800"/>
          <a:ext cx="8001000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6483290" imgH="2962910" progId="">
                  <p:embed/>
                </p:oleObj>
              </mc:Choice>
              <mc:Fallback>
                <p:oleObj name="Equation" r:id="rId3" imgW="36483290" imgH="296291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066800"/>
                        <a:ext cx="8001000" cy="684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285" name="Object 5"/>
          <p:cNvGraphicFramePr>
            <a:graphicFrameLocks noChangeAspect="1"/>
          </p:cNvGraphicFramePr>
          <p:nvPr/>
        </p:nvGraphicFramePr>
        <p:xfrm>
          <a:off x="152400" y="4070350"/>
          <a:ext cx="7656513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5557460" imgH="2962910" progId="">
                  <p:embed/>
                </p:oleObj>
              </mc:Choice>
              <mc:Fallback>
                <p:oleObj name="Equation" r:id="rId5" imgW="35557460" imgH="296291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4070350"/>
                        <a:ext cx="7656513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294" name="Rectangle 14"/>
          <p:cNvSpPr>
            <a:spLocks noChangeArrowheads="1"/>
          </p:cNvSpPr>
          <p:nvPr/>
        </p:nvSpPr>
        <p:spPr bwMode="auto">
          <a:xfrm>
            <a:off x="6562725" y="2265363"/>
            <a:ext cx="1514475" cy="295275"/>
          </a:xfrm>
          <a:prstGeom prst="rect">
            <a:avLst/>
          </a:prstGeom>
          <a:solidFill>
            <a:srgbClr val="DEE7F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代替规则</a:t>
            </a:r>
          </a:p>
        </p:txBody>
      </p:sp>
      <p:graphicFrame>
        <p:nvGraphicFramePr>
          <p:cNvPr id="737287" name="Object 7"/>
          <p:cNvGraphicFramePr>
            <a:graphicFrameLocks noChangeAspect="1"/>
          </p:cNvGraphicFramePr>
          <p:nvPr/>
        </p:nvGraphicFramePr>
        <p:xfrm>
          <a:off x="76200" y="5872163"/>
          <a:ext cx="8153400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6853495" imgH="2962910" progId="">
                  <p:embed/>
                </p:oleObj>
              </mc:Choice>
              <mc:Fallback>
                <p:oleObj name="Equation" r:id="rId7" imgW="36853495" imgH="2962910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5872163"/>
                        <a:ext cx="8153400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290" name="Object 10"/>
          <p:cNvGraphicFramePr>
            <a:graphicFrameLocks noChangeAspect="1"/>
          </p:cNvGraphicFramePr>
          <p:nvPr/>
        </p:nvGraphicFramePr>
        <p:xfrm>
          <a:off x="869950" y="3082925"/>
          <a:ext cx="3589338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111855" imgH="5185410" progId="">
                  <p:embed/>
                </p:oleObj>
              </mc:Choice>
              <mc:Fallback>
                <p:oleObj name="Equation" r:id="rId9" imgW="16111855" imgH="5185410" progId="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9950" y="3082925"/>
                        <a:ext cx="3589338" cy="981075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293" name="Object 13"/>
          <p:cNvGraphicFramePr>
            <a:graphicFrameLocks noChangeAspect="1"/>
          </p:cNvGraphicFramePr>
          <p:nvPr/>
        </p:nvGraphicFramePr>
        <p:xfrm>
          <a:off x="4489450" y="3082925"/>
          <a:ext cx="3589338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6111855" imgH="5185410" progId="">
                  <p:embed/>
                </p:oleObj>
              </mc:Choice>
              <mc:Fallback>
                <p:oleObj name="Equation" r:id="rId11" imgW="16111855" imgH="5185410" progId="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9450" y="3082925"/>
                        <a:ext cx="3589338" cy="979488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295" name="Rectangle 15"/>
          <p:cNvSpPr>
            <a:spLocks noChangeArrowheads="1"/>
          </p:cNvSpPr>
          <p:nvPr/>
        </p:nvSpPr>
        <p:spPr bwMode="auto">
          <a:xfrm>
            <a:off x="7616825" y="4827588"/>
            <a:ext cx="1471613" cy="300037"/>
          </a:xfrm>
          <a:prstGeom prst="rect">
            <a:avLst/>
          </a:prstGeom>
          <a:solidFill>
            <a:srgbClr val="DEE7F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换名规则</a:t>
            </a:r>
          </a:p>
        </p:txBody>
      </p:sp>
      <p:graphicFrame>
        <p:nvGraphicFramePr>
          <p:cNvPr id="737286" name="Object 6"/>
          <p:cNvGraphicFramePr>
            <a:graphicFrameLocks noChangeAspect="1"/>
          </p:cNvGraphicFramePr>
          <p:nvPr/>
        </p:nvGraphicFramePr>
        <p:xfrm>
          <a:off x="152400" y="2508250"/>
          <a:ext cx="78073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5557460" imgH="2962910" progId="">
                  <p:embed/>
                </p:oleObj>
              </mc:Choice>
              <mc:Fallback>
                <p:oleObj name="Equation" r:id="rId13" imgW="35557460" imgH="296291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508250"/>
                        <a:ext cx="780732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284" name="Object 4"/>
          <p:cNvGraphicFramePr>
            <a:graphicFrameLocks noChangeAspect="1"/>
          </p:cNvGraphicFramePr>
          <p:nvPr/>
        </p:nvGraphicFramePr>
        <p:xfrm>
          <a:off x="152400" y="1666875"/>
          <a:ext cx="79248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5557460" imgH="2962910" progId="">
                  <p:embed/>
                </p:oleObj>
              </mc:Choice>
              <mc:Fallback>
                <p:oleObj name="Equation" r:id="rId15" imgW="35557460" imgH="296291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666875"/>
                        <a:ext cx="7924800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07" name="Object 27"/>
          <p:cNvGraphicFramePr>
            <a:graphicFrameLocks noChangeAspect="1"/>
          </p:cNvGraphicFramePr>
          <p:nvPr/>
        </p:nvGraphicFramePr>
        <p:xfrm>
          <a:off x="117475" y="4646613"/>
          <a:ext cx="7593013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2374900" imgH="203200" progId="Equation.3">
                  <p:embed/>
                </p:oleObj>
              </mc:Choice>
              <mc:Fallback>
                <p:oleObj name="公式" r:id="rId17" imgW="2374900" imgH="2032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475" y="4646613"/>
                        <a:ext cx="7593013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712788" y="5202238"/>
            <a:ext cx="5794375" cy="552450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3000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xA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000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)</a:t>
            </a:r>
            <a:r>
              <a:rPr lang="en-US" altLang="zh-CN" sz="3000" i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xB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000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</a:t>
            </a:r>
            <a:r>
              <a:rPr lang="en-US" altLang="zh-CN" sz="3000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000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000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)</a:t>
            </a:r>
            <a:r>
              <a:rPr lang="en-US" altLang="zh-CN" sz="3000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000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))</a:t>
            </a:r>
            <a:endParaRPr lang="en-US" altLang="zh-CN" sz="3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7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7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37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37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737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37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294" grpId="0" animBg="1" autoUpdateAnimBg="0"/>
      <p:bldP spid="737295" grpId="0" animBg="1" autoUpdateAnimBg="0"/>
      <p:bldP spid="1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CD566A02-C3CA-4CA8-B170-29C79A4DF712}" type="slidenum">
              <a:rPr lang="zh-CN" altLang="en-US" sz="1400" b="0"/>
              <a:t>32</a:t>
            </a:fld>
            <a:endParaRPr lang="en-US" altLang="zh-CN" sz="1400" b="0"/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练习 求前束范式</a:t>
            </a:r>
          </a:p>
        </p:txBody>
      </p:sp>
      <p:sp>
        <p:nvSpPr>
          <p:cNvPr id="805898" name="Rectangle 10"/>
          <p:cNvSpPr>
            <a:spLocks noChangeArrowheads="1"/>
          </p:cNvSpPr>
          <p:nvPr/>
        </p:nvSpPr>
        <p:spPr bwMode="auto">
          <a:xfrm>
            <a:off x="520700" y="5207000"/>
            <a:ext cx="8164513" cy="711200"/>
          </a:xfrm>
          <a:prstGeom prst="rect">
            <a:avLst/>
          </a:prstGeom>
          <a:solidFill>
            <a:srgbClr val="ADE2A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4000" b="0" dirty="0"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</a:t>
            </a:r>
            <a:r>
              <a:rPr kumimoji="1" lang="en-US" altLang="zh-CN" sz="4000" b="0" i="1" dirty="0"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x </a:t>
            </a:r>
            <a:r>
              <a:rPr kumimoji="1" lang="en-US" altLang="zh-CN" sz="4000" b="0" dirty="0">
                <a:latin typeface="Times New Roman" panose="02020603050405020304" pitchFamily="18" charset="0"/>
                <a:ea typeface="楷体_GB2312" charset="-122"/>
              </a:rPr>
              <a:t>(</a:t>
            </a:r>
            <a:r>
              <a:rPr kumimoji="1" lang="en-US" altLang="zh-CN" sz="4000" b="0" i="1" dirty="0">
                <a:latin typeface="Times New Roman" panose="02020603050405020304" pitchFamily="18" charset="0"/>
                <a:ea typeface="楷体_GB2312" charset="-122"/>
              </a:rPr>
              <a:t>A</a:t>
            </a:r>
            <a:r>
              <a:rPr kumimoji="1" lang="en-US" altLang="zh-CN" sz="4000" b="0" dirty="0">
                <a:latin typeface="Times New Roman" panose="02020603050405020304" pitchFamily="18" charset="0"/>
                <a:ea typeface="楷体_GB2312" charset="-122"/>
              </a:rPr>
              <a:t>(</a:t>
            </a:r>
            <a:r>
              <a:rPr kumimoji="1" lang="en-US" altLang="zh-CN" sz="4000" b="0" i="1" dirty="0">
                <a:latin typeface="Times New Roman" panose="02020603050405020304" pitchFamily="18" charset="0"/>
                <a:ea typeface="楷体_GB2312" charset="-122"/>
              </a:rPr>
              <a:t>x</a:t>
            </a:r>
            <a:r>
              <a:rPr kumimoji="1" lang="en-US" altLang="zh-CN" sz="4000" b="0" dirty="0">
                <a:latin typeface="Times New Roman" panose="02020603050405020304" pitchFamily="18" charset="0"/>
                <a:ea typeface="楷体_GB2312" charset="-122"/>
              </a:rPr>
              <a:t>)</a:t>
            </a:r>
            <a:r>
              <a:rPr kumimoji="1" lang="en-US" altLang="zh-CN" sz="4000" b="0" dirty="0">
                <a:solidFill>
                  <a:srgbClr val="00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→</a:t>
            </a:r>
            <a:r>
              <a:rPr kumimoji="1" lang="en-US" altLang="zh-CN" sz="4000" b="0" i="1" dirty="0">
                <a:latin typeface="Times New Roman" panose="02020603050405020304" pitchFamily="18" charset="0"/>
                <a:ea typeface="楷体_GB2312" charset="-122"/>
              </a:rPr>
              <a:t>B</a:t>
            </a:r>
            <a:r>
              <a:rPr kumimoji="1" lang="en-US" altLang="zh-CN" sz="4000" b="0" dirty="0">
                <a:latin typeface="Times New Roman" panose="02020603050405020304" pitchFamily="18" charset="0"/>
                <a:ea typeface="楷体_GB2312" charset="-122"/>
              </a:rPr>
              <a:t>(</a:t>
            </a:r>
            <a:r>
              <a:rPr kumimoji="1" lang="en-US" altLang="zh-CN" sz="4000" b="0" i="1" dirty="0">
                <a:latin typeface="Times New Roman" panose="02020603050405020304" pitchFamily="18" charset="0"/>
                <a:ea typeface="楷体_GB2312" charset="-122"/>
              </a:rPr>
              <a:t>x</a:t>
            </a:r>
            <a:r>
              <a:rPr kumimoji="1" lang="en-US" altLang="zh-CN" sz="4000" b="0" dirty="0">
                <a:latin typeface="Times New Roman" panose="02020603050405020304" pitchFamily="18" charset="0"/>
                <a:ea typeface="楷体_GB2312" charset="-122"/>
              </a:rPr>
              <a:t>)) </a:t>
            </a:r>
            <a:r>
              <a:rPr lang="en-US" altLang="zh-CN" sz="4000" b="0" dirty="0"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</a:t>
            </a:r>
            <a:r>
              <a:rPr kumimoji="1" lang="en-US" altLang="zh-CN" sz="4000" b="0" dirty="0"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</a:t>
            </a:r>
            <a:r>
              <a:rPr kumimoji="1" lang="en-US" altLang="zh-CN" sz="4000" b="0" i="1" dirty="0"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x</a:t>
            </a:r>
            <a:r>
              <a:rPr kumimoji="1" lang="en-US" altLang="zh-CN" sz="4000" b="0" i="1" dirty="0">
                <a:latin typeface="Times New Roman" panose="02020603050405020304" pitchFamily="18" charset="0"/>
                <a:ea typeface="楷体_GB2312" charset="-122"/>
              </a:rPr>
              <a:t>A</a:t>
            </a:r>
            <a:r>
              <a:rPr kumimoji="1" lang="en-US" altLang="zh-CN" sz="4000" b="0" dirty="0">
                <a:latin typeface="Times New Roman" panose="02020603050405020304" pitchFamily="18" charset="0"/>
                <a:ea typeface="楷体_GB2312" charset="-122"/>
              </a:rPr>
              <a:t>(</a:t>
            </a:r>
            <a:r>
              <a:rPr kumimoji="1" lang="en-US" altLang="zh-CN" sz="4000" b="0" i="1" dirty="0">
                <a:latin typeface="Times New Roman" panose="02020603050405020304" pitchFamily="18" charset="0"/>
                <a:ea typeface="楷体_GB2312" charset="-122"/>
              </a:rPr>
              <a:t>x</a:t>
            </a:r>
            <a:r>
              <a:rPr kumimoji="1" lang="en-US" altLang="zh-CN" sz="4000" b="0" dirty="0">
                <a:latin typeface="Times New Roman" panose="02020603050405020304" pitchFamily="18" charset="0"/>
                <a:ea typeface="楷体_GB2312" charset="-122"/>
              </a:rPr>
              <a:t>)</a:t>
            </a:r>
            <a:r>
              <a:rPr kumimoji="1" lang="en-US" altLang="zh-CN" sz="4000" b="0" dirty="0">
                <a:solidFill>
                  <a:srgbClr val="00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→</a:t>
            </a:r>
            <a:r>
              <a:rPr kumimoji="1" lang="en-US" altLang="zh-CN" sz="4000" b="0" dirty="0"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</a:t>
            </a:r>
            <a:r>
              <a:rPr kumimoji="1" lang="en-US" altLang="zh-CN" sz="4000" b="0" i="1" dirty="0" err="1"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x</a:t>
            </a:r>
            <a:r>
              <a:rPr kumimoji="1" lang="en-US" altLang="zh-CN" sz="4000" b="0" i="1" dirty="0" err="1">
                <a:latin typeface="Times New Roman" panose="02020603050405020304" pitchFamily="18" charset="0"/>
                <a:ea typeface="楷体_GB2312" charset="-122"/>
              </a:rPr>
              <a:t>B</a:t>
            </a:r>
            <a:r>
              <a:rPr kumimoji="1" lang="en-US" altLang="zh-CN" sz="4000" b="0" dirty="0">
                <a:latin typeface="Times New Roman" panose="02020603050405020304" pitchFamily="18" charset="0"/>
                <a:ea typeface="楷体_GB2312" charset="-122"/>
              </a:rPr>
              <a:t>(</a:t>
            </a:r>
            <a:r>
              <a:rPr kumimoji="1" lang="en-US" altLang="zh-CN" sz="4000" b="0" i="1" dirty="0">
                <a:latin typeface="Times New Roman" panose="02020603050405020304" pitchFamily="18" charset="0"/>
                <a:ea typeface="楷体_GB2312" charset="-122"/>
              </a:rPr>
              <a:t>x</a:t>
            </a:r>
            <a:r>
              <a:rPr kumimoji="1" lang="en-US" altLang="zh-CN" sz="4000" b="0" dirty="0">
                <a:latin typeface="Times New Roman" panose="02020603050405020304" pitchFamily="18" charset="0"/>
                <a:ea typeface="楷体_GB2312" charset="-122"/>
              </a:rPr>
              <a:t>) </a:t>
            </a:r>
          </a:p>
        </p:txBody>
      </p:sp>
      <p:sp>
        <p:nvSpPr>
          <p:cNvPr id="805903" name="Rectangle 1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F(x) 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yG(x,y) </a:t>
            </a:r>
            <a:r>
              <a:rPr lang="en-US" altLang="zh-CN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xH(x,y)</a:t>
            </a:r>
          </a:p>
          <a:p>
            <a:pPr eaLnBrk="1" hangingPunct="1">
              <a:buClr>
                <a:schemeClr val="tx1"/>
              </a:buClr>
              <a:buFont typeface="Symbol" panose="05050102010706020507" pitchFamily="18" charset="2"/>
              <a:buChar char="Û"/>
            </a:pP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F(x) 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y G(x,y) </a:t>
            </a:r>
            <a:r>
              <a:rPr lang="en-US" altLang="zh-CN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xH(x,</a:t>
            </a:r>
            <a:r>
              <a:rPr lang="en-US" altLang="zh-CN" sz="320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Clr>
                <a:schemeClr val="tx1"/>
              </a:buClr>
              <a:buFont typeface="Symbol" panose="05050102010706020507" pitchFamily="18" charset="2"/>
              <a:buChar char="Û"/>
            </a:pP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3200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F(x) 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y G(x,y) </a:t>
            </a:r>
            <a:r>
              <a:rPr lang="en-US" altLang="zh-CN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H(x, </a:t>
            </a:r>
            <a:r>
              <a:rPr lang="en-US" altLang="zh-CN" sz="320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3200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3200">
              <a:solidFill>
                <a:srgbClr val="0099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Clr>
                <a:schemeClr val="tx1"/>
              </a:buClr>
              <a:buFont typeface="Symbol" panose="05050102010706020507" pitchFamily="18" charset="2"/>
              <a:buChar char="Û"/>
            </a:pP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3200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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CN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F(x) 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G(x,y) </a:t>
            </a:r>
            <a:r>
              <a:rPr lang="en-US" altLang="zh-CN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H(x,</a:t>
            </a:r>
            <a:r>
              <a:rPr lang="en-US" altLang="zh-CN" sz="320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3200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3200">
              <a:solidFill>
                <a:srgbClr val="0099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buClr>
                <a:schemeClr val="tx1"/>
              </a:buClr>
              <a:buFont typeface="Symbol" panose="05050102010706020507" pitchFamily="18" charset="2"/>
              <a:buChar char="Û"/>
            </a:pP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3200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F(x) 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G(x,y) </a:t>
            </a:r>
            <a:r>
              <a:rPr lang="en-US" altLang="zh-CN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H(x,</a:t>
            </a:r>
            <a:r>
              <a:rPr lang="en-US" altLang="zh-CN" sz="320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3200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zh-CN" altLang="en-US" sz="3200">
              <a:solidFill>
                <a:srgbClr val="0099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589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13D54CE3-BFD2-4D87-8A40-541545C975CE}" type="slidenum">
              <a:rPr lang="zh-CN" altLang="en-US" sz="1400" b="0"/>
              <a:t>33</a:t>
            </a:fld>
            <a:endParaRPr lang="en-US" altLang="zh-CN" sz="1400" b="0"/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练习 求前束范式</a:t>
            </a:r>
          </a:p>
        </p:txBody>
      </p:sp>
      <p:sp>
        <p:nvSpPr>
          <p:cNvPr id="816132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F(x)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yG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xH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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F(x)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G(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xH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</a:t>
            </a:r>
            <a:r>
              <a:rPr lang="en-US" altLang="zh-CN" sz="32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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F(x)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yG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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xH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</a:t>
            </a:r>
            <a:r>
              <a:rPr lang="en-US" altLang="zh-CN" sz="32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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F(x)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yG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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xH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</a:t>
            </a:r>
            <a:r>
              <a:rPr lang="en-US" altLang="zh-CN" sz="32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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(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F(x)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yG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</a:t>
            </a:r>
            <a:r>
              <a:rPr lang="en-US" altLang="zh-CN" sz="32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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(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F(x)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yG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</a:t>
            </a:r>
            <a:r>
              <a:rPr lang="en-US" altLang="zh-CN" sz="32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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(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F(x)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G(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H(x, </a:t>
            </a:r>
            <a:r>
              <a:rPr lang="en-US" altLang="zh-CN" sz="32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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(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F(x)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G(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H(x, </a:t>
            </a:r>
            <a:r>
              <a:rPr lang="en-US" altLang="zh-CN" sz="32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zh-CN" altLang="en-US" sz="3200" dirty="0">
              <a:solidFill>
                <a:srgbClr val="0099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Symbol" panose="05050102010706020507" pitchFamily="18" charset="2"/>
              <a:buChar char="Û"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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3200" dirty="0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F(x)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G(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</a:t>
            </a:r>
            <a:r>
              <a:rPr lang="en-US" altLang="zh-CN" sz="3200" dirty="0" err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3200" dirty="0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zh-CN" altLang="en-US" sz="3200" dirty="0">
              <a:solidFill>
                <a:srgbClr val="0099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</a:pP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B40CF4E-E2B1-47F0-968B-16D1AEE60279}" type="slidenum">
              <a:rPr lang="en-US" altLang="zh-CN" sz="1400" b="0"/>
              <a:t>34</a:t>
            </a:fld>
            <a:endParaRPr lang="en-US" altLang="zh-CN" sz="1400" b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229600" cy="2879725"/>
          </a:xfrm>
        </p:spPr>
        <p:txBody>
          <a:bodyPr/>
          <a:lstStyle/>
          <a:p>
            <a:pPr marL="361950" indent="-361950" eaLnBrk="1" hangingPunct="1"/>
            <a:r>
              <a:rPr lang="zh-CN" altLang="en-US"/>
              <a:t>主要内容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>
                <a:latin typeface="Times New Roman" panose="02020603050405020304" pitchFamily="18" charset="0"/>
              </a:rPr>
              <a:t>5.1</a:t>
            </a:r>
            <a:r>
              <a:rPr lang="en-US" altLang="zh-CN"/>
              <a:t> </a:t>
            </a:r>
            <a:r>
              <a:rPr lang="zh-CN" altLang="en-US"/>
              <a:t>一阶逻辑等值式与置换规则</a:t>
            </a:r>
            <a:endParaRPr lang="en-US" altLang="zh-CN"/>
          </a:p>
          <a:p>
            <a:pPr marL="762000" lvl="1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一阶逻辑等值式与基本的等值式</a:t>
            </a:r>
          </a:p>
          <a:p>
            <a:pPr marL="762000" lvl="1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置换规则、换名规则、代替规则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>
                <a:latin typeface="Times New Roman" panose="02020603050405020304" pitchFamily="18" charset="0"/>
              </a:rPr>
              <a:t>5.2</a:t>
            </a:r>
            <a:r>
              <a:rPr lang="en-US" altLang="zh-CN"/>
              <a:t>  </a:t>
            </a:r>
            <a:r>
              <a:rPr lang="zh-CN" altLang="en-US"/>
              <a:t>一阶逻辑前束范式</a:t>
            </a:r>
            <a:endParaRPr lang="en-US" altLang="zh-CN"/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5.3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一阶逻辑的推理理论</a:t>
            </a:r>
            <a:endParaRPr lang="en-US" altLang="zh-CN">
              <a:solidFill>
                <a:srgbClr val="FF0000"/>
              </a:solidFill>
            </a:endParaRPr>
          </a:p>
          <a:p>
            <a:pPr marL="762000" lvl="1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FF0000"/>
                </a:solidFill>
              </a:rPr>
              <a:t>自然推理系统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aseline="-25000">
                <a:solidFill>
                  <a:srgbClr val="FF0000"/>
                </a:solidFill>
                <a:latin typeface="Palace Script MT" panose="030303020206070C0B05" pitchFamily="66" charset="0"/>
              </a:rPr>
              <a:t>L    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及其推理规则</a:t>
            </a:r>
          </a:p>
          <a:p>
            <a:pPr marL="361950" indent="-361950" eaLnBrk="1" hangingPunct="1"/>
            <a:endParaRPr lang="en-US" altLang="zh-CN"/>
          </a:p>
        </p:txBody>
      </p:sp>
      <p:sp>
        <p:nvSpPr>
          <p:cNvPr id="64516" name="Rectangle 4"/>
          <p:cNvSpPr>
            <a:spLocks noGrp="1" noChangeArrowheads="1"/>
          </p:cNvSpPr>
          <p:nvPr>
            <p:ph type="title"/>
          </p:nvPr>
        </p:nvSpPr>
        <p:spPr>
          <a:xfrm>
            <a:off x="1835150" y="260350"/>
            <a:ext cx="6394450" cy="431800"/>
          </a:xfrm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第五章 一阶逻辑等值演算与推理</a:t>
            </a:r>
          </a:p>
        </p:txBody>
      </p:sp>
    </p:spTree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6D4180D-73A6-4B53-AF41-6AA3F0EE8D17}" type="slidenum">
              <a:rPr lang="en-US" altLang="zh-CN" sz="1400" b="0"/>
              <a:t>35</a:t>
            </a:fld>
            <a:endParaRPr lang="en-US" altLang="zh-CN" sz="1400" b="0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5.3</a:t>
            </a:r>
            <a:r>
              <a:rPr lang="en-US" altLang="zh-CN"/>
              <a:t> </a:t>
            </a:r>
            <a:r>
              <a:rPr lang="zh-CN" altLang="en-US"/>
              <a:t>一阶逻辑的推理理论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9113" y="1241425"/>
            <a:ext cx="8229600" cy="3411538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推理的形式结构</a:t>
            </a: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1.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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k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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    </a:t>
            </a:r>
            <a:r>
              <a:rPr lang="zh-CN" altLang="en-US">
                <a:latin typeface="Times New Roman" panose="02020603050405020304" pitchFamily="18" charset="0"/>
              </a:rPr>
              <a:t>若此式是永真式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则称推理正确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记作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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k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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endParaRPr lang="en-US" altLang="zh-CN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2. </a:t>
            </a:r>
            <a:r>
              <a:rPr lang="zh-CN" altLang="en-US">
                <a:latin typeface="Times New Roman" panose="02020603050405020304" pitchFamily="18" charset="0"/>
              </a:rPr>
              <a:t>前提</a:t>
            </a:r>
            <a:r>
              <a:rPr lang="en-US" altLang="zh-CN">
                <a:latin typeface="Times New Roman" panose="02020603050405020304" pitchFamily="18" charset="0"/>
              </a:rPr>
              <a:t>: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,,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latin typeface="Times New Roman" panose="02020603050405020304" pitchFamily="18" charset="0"/>
              </a:rPr>
              <a:t>k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    </a:t>
            </a:r>
            <a:r>
              <a:rPr lang="zh-CN" altLang="en-US">
                <a:latin typeface="Times New Roman" panose="02020603050405020304" pitchFamily="18" charset="0"/>
              </a:rPr>
              <a:t>结论</a:t>
            </a:r>
            <a:r>
              <a:rPr lang="en-US" altLang="zh-CN">
                <a:latin typeface="Times New Roman" panose="02020603050405020304" pitchFamily="18" charset="0"/>
              </a:rPr>
              <a:t>: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</a:p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推理定理</a:t>
            </a:r>
            <a:r>
              <a:rPr lang="en-US" altLang="zh-CN">
                <a:latin typeface="Times New Roman" panose="02020603050405020304" pitchFamily="18" charset="0"/>
              </a:rPr>
              <a:t>: </a:t>
            </a:r>
            <a:r>
              <a:rPr lang="zh-CN" altLang="en-US">
                <a:latin typeface="Times New Roman" panose="02020603050405020304" pitchFamily="18" charset="0"/>
              </a:rPr>
              <a:t>永真式的蕴涵式</a:t>
            </a:r>
          </a:p>
        </p:txBody>
      </p:sp>
    </p:spTree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ED101A4-9D27-4FDA-AD5A-10B2E8808F72}" type="slidenum">
              <a:rPr lang="en-US" altLang="zh-CN" sz="1400" b="0"/>
              <a:t>36</a:t>
            </a:fld>
            <a:endParaRPr lang="en-US" altLang="zh-CN" sz="1400" b="0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推理定理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9113" y="1241425"/>
            <a:ext cx="8229600" cy="50673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第一组  命题逻辑推理定理的代换实例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    如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)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yG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  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</a:p>
          <a:p>
            <a:pPr eaLnBrk="1" hangingPunct="1">
              <a:spcBef>
                <a:spcPct val="8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第二组  基本等值式生成的推理定理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    如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 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),    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 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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)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),      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  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en-US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8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第三组  其他常用推理定理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     </a:t>
            </a:r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)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  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)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)) 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   (2)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))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)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   (3)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)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))  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)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   (4)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)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))  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)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 (5)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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xA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)</a:t>
            </a:r>
            <a:r>
              <a:rPr lang="en-US" altLang="zh-CN" i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xB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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)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))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......</a:t>
            </a:r>
          </a:p>
        </p:txBody>
      </p:sp>
    </p:spTree>
  </p:cSld>
  <p:clrMapOvr>
    <a:masterClrMapping/>
  </p:clrMapOvr>
  <p:transition spd="slow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6BA4B1-D393-49A2-986D-C413CF122F57}" type="slidenum">
              <a:rPr lang="en-US" altLang="zh-CN"/>
              <a:t>37</a:t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-71755" y="2345690"/>
            <a:ext cx="47644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xA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)</a:t>
            </a:r>
            <a:r>
              <a:rPr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xB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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b="1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)</a:t>
            </a:r>
            <a:r>
              <a:rPr lang="en-US" altLang="zh-CN" b="1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500245" y="1794510"/>
            <a:ext cx="23768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xA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)</a:t>
            </a:r>
            <a:r>
              <a:rPr lang="en-US" altLang="zh-CN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xB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500245" y="2994025"/>
            <a:ext cx="23520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xA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)</a:t>
            </a:r>
            <a:r>
              <a:rPr lang="en-US" altLang="zh-CN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xB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8" name="文本框 7"/>
          <p:cNvSpPr txBox="1"/>
          <p:nvPr/>
        </p:nvSpPr>
        <p:spPr>
          <a:xfrm rot="18900000">
            <a:off x="4288155" y="1983105"/>
            <a:ext cx="4876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⇒</a:t>
            </a:r>
          </a:p>
        </p:txBody>
      </p:sp>
      <p:sp>
        <p:nvSpPr>
          <p:cNvPr id="9" name="文本框 8"/>
          <p:cNvSpPr txBox="1"/>
          <p:nvPr/>
        </p:nvSpPr>
        <p:spPr>
          <a:xfrm rot="3000000">
            <a:off x="4282440" y="2660650"/>
            <a:ext cx="4876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⇒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924040" y="2202180"/>
            <a:ext cx="2313940" cy="460375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t">
            <a:spAutoFit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</a:t>
            </a:r>
            <a:r>
              <a:rPr kumimoji="1" lang="en-US" altLang="zh-CN" b="1" i="1" dirty="0"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x</a:t>
            </a:r>
            <a:r>
              <a:rPr kumimoji="1" lang="en-US" altLang="zh-CN" b="1" i="1" dirty="0">
                <a:latin typeface="Times New Roman" panose="02020603050405020304" pitchFamily="18" charset="0"/>
                <a:ea typeface="楷体_GB2312" charset="-122"/>
                <a:sym typeface="+mn-ea"/>
              </a:rPr>
              <a:t>A</a:t>
            </a:r>
            <a:r>
              <a:rPr kumimoji="1" lang="en-US" altLang="zh-CN" b="1" dirty="0">
                <a:latin typeface="Times New Roman" panose="02020603050405020304" pitchFamily="18" charset="0"/>
                <a:ea typeface="楷体_GB2312" charset="-122"/>
                <a:sym typeface="+mn-ea"/>
              </a:rPr>
              <a:t>(</a:t>
            </a:r>
            <a:r>
              <a:rPr kumimoji="1" lang="en-US" altLang="zh-CN" b="1" i="1" dirty="0">
                <a:latin typeface="Times New Roman" panose="02020603050405020304" pitchFamily="18" charset="0"/>
                <a:ea typeface="楷体_GB2312" charset="-122"/>
                <a:sym typeface="+mn-ea"/>
              </a:rPr>
              <a:t>x</a:t>
            </a:r>
            <a:r>
              <a:rPr kumimoji="1" lang="en-US" altLang="zh-CN" b="1" dirty="0">
                <a:latin typeface="Times New Roman" panose="02020603050405020304" pitchFamily="18" charset="0"/>
                <a:ea typeface="楷体_GB2312" charset="-122"/>
                <a:sym typeface="+mn-ea"/>
              </a:rPr>
              <a:t>)</a:t>
            </a:r>
            <a:r>
              <a:rPr kumimoji="1" lang="en-US" altLang="zh-CN" b="1" dirty="0">
                <a:solidFill>
                  <a:srgbClr val="00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→</a:t>
            </a:r>
            <a:r>
              <a:rPr kumimoji="1" lang="en-US" altLang="zh-CN" b="1" dirty="0"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</a:t>
            </a:r>
            <a:r>
              <a:rPr kumimoji="1" lang="en-US" altLang="zh-CN" b="1" i="1" dirty="0" err="1"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x</a:t>
            </a:r>
            <a:r>
              <a:rPr kumimoji="1" lang="en-US" altLang="zh-CN" b="1" i="1" dirty="0" err="1">
                <a:latin typeface="Times New Roman" panose="02020603050405020304" pitchFamily="18" charset="0"/>
                <a:ea typeface="楷体_GB2312" charset="-122"/>
                <a:sym typeface="+mn-ea"/>
              </a:rPr>
              <a:t>B</a:t>
            </a:r>
            <a:r>
              <a:rPr kumimoji="1" lang="en-US" altLang="zh-CN" b="1" dirty="0">
                <a:latin typeface="Times New Roman" panose="02020603050405020304" pitchFamily="18" charset="0"/>
                <a:ea typeface="楷体_GB2312" charset="-122"/>
                <a:sym typeface="+mn-ea"/>
              </a:rPr>
              <a:t>(</a:t>
            </a:r>
            <a:r>
              <a:rPr kumimoji="1" lang="en-US" altLang="zh-CN" b="1" i="1" dirty="0">
                <a:latin typeface="Times New Roman" panose="02020603050405020304" pitchFamily="18" charset="0"/>
                <a:ea typeface="楷体_GB2312" charset="-122"/>
                <a:sym typeface="+mn-ea"/>
              </a:rPr>
              <a:t>x</a:t>
            </a:r>
            <a:r>
              <a:rPr kumimoji="1" lang="en-US" altLang="zh-CN" b="1" dirty="0">
                <a:latin typeface="Times New Roman" panose="02020603050405020304" pitchFamily="18" charset="0"/>
                <a:ea typeface="楷体_GB2312" charset="-122"/>
                <a:sym typeface="+mn-ea"/>
              </a:rPr>
              <a:t>)</a:t>
            </a:r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1" name="文本框 10"/>
          <p:cNvSpPr txBox="1"/>
          <p:nvPr/>
        </p:nvSpPr>
        <p:spPr>
          <a:xfrm rot="9480000">
            <a:off x="6536690" y="2953385"/>
            <a:ext cx="4876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⇒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942455" y="2949575"/>
            <a:ext cx="2223770" cy="455295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t">
            <a:noAutofit/>
          </a:bodyPr>
          <a:lstStyle/>
          <a:p>
            <a:r>
              <a:rPr kumimoji="1" lang="zh-CN" altLang="en-US" b="1" dirty="0">
                <a:solidFill>
                  <a:srgbClr val="0066FF"/>
                </a:solidFill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</a:t>
            </a:r>
            <a:r>
              <a:rPr kumimoji="1" lang="en-US" altLang="zh-CN" b="1" i="1" dirty="0">
                <a:solidFill>
                  <a:srgbClr val="0066FF"/>
                </a:solidFill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x </a:t>
            </a:r>
            <a:r>
              <a:rPr kumimoji="1"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ea typeface="楷体_GB2312" charset="-122"/>
                <a:sym typeface="+mn-ea"/>
              </a:rPr>
              <a:t>(</a:t>
            </a:r>
            <a:r>
              <a:rPr kumimoji="1" lang="en-US" altLang="zh-CN" b="1" i="1" dirty="0">
                <a:solidFill>
                  <a:srgbClr val="0066FF"/>
                </a:solidFill>
                <a:latin typeface="Times New Roman" panose="02020603050405020304" pitchFamily="18" charset="0"/>
                <a:ea typeface="楷体_GB2312" charset="-122"/>
                <a:sym typeface="+mn-ea"/>
              </a:rPr>
              <a:t>A</a:t>
            </a:r>
            <a:r>
              <a:rPr kumimoji="1"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ea typeface="楷体_GB2312" charset="-122"/>
                <a:sym typeface="+mn-ea"/>
              </a:rPr>
              <a:t>(</a:t>
            </a:r>
            <a:r>
              <a:rPr kumimoji="1" lang="en-US" altLang="zh-CN" b="1" i="1" dirty="0">
                <a:solidFill>
                  <a:srgbClr val="0066FF"/>
                </a:solidFill>
                <a:latin typeface="Times New Roman" panose="02020603050405020304" pitchFamily="18" charset="0"/>
                <a:ea typeface="楷体_GB2312" charset="-122"/>
                <a:sym typeface="+mn-ea"/>
              </a:rPr>
              <a:t>x</a:t>
            </a:r>
            <a:r>
              <a:rPr kumimoji="1"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ea typeface="楷体_GB2312" charset="-122"/>
                <a:sym typeface="+mn-ea"/>
              </a:rPr>
              <a:t>)</a:t>
            </a:r>
            <a:r>
              <a:rPr kumimoji="1" lang="en-US" altLang="zh-CN" b="1" dirty="0">
                <a:solidFill>
                  <a:srgbClr val="0066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→</a:t>
            </a:r>
            <a:r>
              <a:rPr kumimoji="1" lang="en-US" altLang="zh-CN" b="1" i="1" dirty="0">
                <a:solidFill>
                  <a:srgbClr val="0066FF"/>
                </a:solidFill>
                <a:latin typeface="Times New Roman" panose="02020603050405020304" pitchFamily="18" charset="0"/>
                <a:ea typeface="楷体_GB2312" charset="-122"/>
                <a:sym typeface="+mn-ea"/>
              </a:rPr>
              <a:t>B</a:t>
            </a:r>
            <a:r>
              <a:rPr kumimoji="1"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ea typeface="楷体_GB2312" charset="-122"/>
                <a:sym typeface="+mn-ea"/>
              </a:rPr>
              <a:t>(</a:t>
            </a:r>
            <a:r>
              <a:rPr kumimoji="1" lang="en-US" altLang="zh-CN" b="1" i="1" dirty="0">
                <a:solidFill>
                  <a:srgbClr val="0066FF"/>
                </a:solidFill>
                <a:latin typeface="Times New Roman" panose="02020603050405020304" pitchFamily="18" charset="0"/>
                <a:ea typeface="楷体_GB2312" charset="-122"/>
                <a:sym typeface="+mn-ea"/>
              </a:rPr>
              <a:t>x</a:t>
            </a:r>
            <a:r>
              <a:rPr kumimoji="1"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ea typeface="楷体_GB2312" charset="-122"/>
                <a:sym typeface="+mn-ea"/>
              </a:rPr>
              <a:t>))</a:t>
            </a:r>
          </a:p>
        </p:txBody>
      </p:sp>
      <p:sp>
        <p:nvSpPr>
          <p:cNvPr id="13" name="文本框 12"/>
          <p:cNvSpPr txBox="1"/>
          <p:nvPr/>
        </p:nvSpPr>
        <p:spPr>
          <a:xfrm rot="1800000">
            <a:off x="6678930" y="1875790"/>
            <a:ext cx="4876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⇒</a:t>
            </a:r>
          </a:p>
        </p:txBody>
      </p:sp>
      <p:sp>
        <p:nvSpPr>
          <p:cNvPr id="14" name="文本框 13"/>
          <p:cNvSpPr txBox="1"/>
          <p:nvPr/>
        </p:nvSpPr>
        <p:spPr>
          <a:xfrm rot="16200000">
            <a:off x="7686675" y="2615565"/>
            <a:ext cx="429260" cy="465455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t">
            <a:no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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528A006E-0853-9A89-876A-A157ECD3C5E9}"/>
              </a:ext>
            </a:extLst>
          </p:cNvPr>
          <p:cNvCxnSpPr>
            <a:cxnSpLocks/>
          </p:cNvCxnSpPr>
          <p:nvPr/>
        </p:nvCxnSpPr>
        <p:spPr>
          <a:xfrm>
            <a:off x="35496" y="2202180"/>
            <a:ext cx="3960440" cy="0"/>
          </a:xfrm>
          <a:prstGeom prst="straightConnector1">
            <a:avLst/>
          </a:prstGeom>
          <a:ln>
            <a:solidFill>
              <a:srgbClr val="00B050"/>
            </a:solidFill>
            <a:prstDash val="lgDashDot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D8C1FDA1-9137-9631-5012-DDBA4573BBE3}"/>
              </a:ext>
            </a:extLst>
          </p:cNvPr>
          <p:cNvCxnSpPr>
            <a:cxnSpLocks/>
          </p:cNvCxnSpPr>
          <p:nvPr/>
        </p:nvCxnSpPr>
        <p:spPr>
          <a:xfrm flipV="1">
            <a:off x="3995936" y="1794510"/>
            <a:ext cx="432048" cy="407670"/>
          </a:xfrm>
          <a:prstGeom prst="straightConnector1">
            <a:avLst/>
          </a:prstGeom>
          <a:ln>
            <a:solidFill>
              <a:srgbClr val="00B050"/>
            </a:solidFill>
            <a:prstDash val="lgDashDot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15A81448-2638-735B-0573-B3C849B6C2CC}"/>
              </a:ext>
            </a:extLst>
          </p:cNvPr>
          <p:cNvCxnSpPr>
            <a:cxnSpLocks/>
          </p:cNvCxnSpPr>
          <p:nvPr/>
        </p:nvCxnSpPr>
        <p:spPr>
          <a:xfrm>
            <a:off x="4427984" y="1798008"/>
            <a:ext cx="2304256" cy="0"/>
          </a:xfrm>
          <a:prstGeom prst="straightConnector1">
            <a:avLst/>
          </a:prstGeom>
          <a:ln>
            <a:solidFill>
              <a:srgbClr val="00B050"/>
            </a:solidFill>
            <a:prstDash val="lgDashDot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A96300CD-601F-B0F7-AC27-AEA75AA795AD}"/>
              </a:ext>
            </a:extLst>
          </p:cNvPr>
          <p:cNvCxnSpPr>
            <a:cxnSpLocks/>
          </p:cNvCxnSpPr>
          <p:nvPr/>
        </p:nvCxnSpPr>
        <p:spPr>
          <a:xfrm>
            <a:off x="6732240" y="1798009"/>
            <a:ext cx="1322100" cy="307968"/>
          </a:xfrm>
          <a:prstGeom prst="straightConnector1">
            <a:avLst/>
          </a:prstGeom>
          <a:ln>
            <a:solidFill>
              <a:srgbClr val="00B050"/>
            </a:solidFill>
            <a:prstDash val="lgDashDot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21A6FEBB-8A1E-0FA4-CEC5-15BBA5DE5A75}"/>
              </a:ext>
            </a:extLst>
          </p:cNvPr>
          <p:cNvCxnSpPr>
            <a:cxnSpLocks/>
          </p:cNvCxnSpPr>
          <p:nvPr/>
        </p:nvCxnSpPr>
        <p:spPr>
          <a:xfrm>
            <a:off x="8007626" y="2105977"/>
            <a:ext cx="93704" cy="1467039"/>
          </a:xfrm>
          <a:prstGeom prst="straightConnector1">
            <a:avLst/>
          </a:prstGeom>
          <a:ln>
            <a:solidFill>
              <a:srgbClr val="00B050"/>
            </a:solidFill>
            <a:prstDash val="lgDashDot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E101490D-A885-D6F6-A4A7-FBC94EB2CF5C}"/>
              </a:ext>
            </a:extLst>
          </p:cNvPr>
          <p:cNvCxnSpPr/>
          <p:nvPr/>
        </p:nvCxnSpPr>
        <p:spPr>
          <a:xfrm flipH="1" flipV="1">
            <a:off x="5940152" y="3488343"/>
            <a:ext cx="2161178" cy="84673"/>
          </a:xfrm>
          <a:prstGeom prst="straightConnector1">
            <a:avLst/>
          </a:prstGeom>
          <a:ln>
            <a:solidFill>
              <a:srgbClr val="00B050"/>
            </a:solidFill>
            <a:prstDash val="lgDashDot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1DAC81E0-D670-1B89-E07C-E3C023DAA794}"/>
              </a:ext>
            </a:extLst>
          </p:cNvPr>
          <p:cNvCxnSpPr>
            <a:cxnSpLocks/>
          </p:cNvCxnSpPr>
          <p:nvPr/>
        </p:nvCxnSpPr>
        <p:spPr>
          <a:xfrm>
            <a:off x="35496" y="2878802"/>
            <a:ext cx="396044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箭头: 直角上 38">
            <a:extLst>
              <a:ext uri="{FF2B5EF4-FFF2-40B4-BE49-F238E27FC236}">
                <a16:creationId xmlns:a16="http://schemas.microsoft.com/office/drawing/2014/main" id="{5868DF5F-D240-D35D-13F1-F8CFEA0BA66E}"/>
              </a:ext>
            </a:extLst>
          </p:cNvPr>
          <p:cNvSpPr/>
          <p:nvPr/>
        </p:nvSpPr>
        <p:spPr>
          <a:xfrm rot="2780595">
            <a:off x="3965725" y="2926373"/>
            <a:ext cx="1348397" cy="543274"/>
          </a:xfrm>
          <a:prstGeom prst="bentUpArrow">
            <a:avLst>
              <a:gd name="adj1" fmla="val 0"/>
              <a:gd name="adj2" fmla="val 4454"/>
              <a:gd name="adj3" fmla="val 45569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660232" y="6237312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9B5BC91-324C-4F21-9576-DF34AF398A69}" type="slidenum">
              <a:rPr lang="zh-CN" altLang="en-US" sz="1400" b="0"/>
              <a:t>38</a:t>
            </a:fld>
            <a:endParaRPr lang="en-US" altLang="zh-CN" sz="1400" b="0"/>
          </a:p>
        </p:txBody>
      </p:sp>
      <p:sp>
        <p:nvSpPr>
          <p:cNvPr id="7761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266825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sz="2800"/>
              <a:t>设</a:t>
            </a:r>
            <a:r>
              <a:rPr lang="fr-FR" altLang="zh-CN" sz="2800" i="1">
                <a:latin typeface="Times New Roman" panose="02020603050405020304" pitchFamily="18" charset="0"/>
              </a:rPr>
              <a:t>A</a:t>
            </a:r>
            <a:r>
              <a:rPr lang="fr-FR" altLang="zh-CN" sz="2800">
                <a:latin typeface="Times New Roman" panose="02020603050405020304" pitchFamily="18" charset="0"/>
              </a:rPr>
              <a:t>(</a:t>
            </a:r>
            <a:r>
              <a:rPr lang="fr-FR" altLang="zh-CN" sz="2800" i="1">
                <a:latin typeface="Times New Roman" panose="02020603050405020304" pitchFamily="18" charset="0"/>
              </a:rPr>
              <a:t>x</a:t>
            </a:r>
            <a:r>
              <a:rPr lang="fr-FR" altLang="zh-CN" sz="2800">
                <a:latin typeface="Times New Roman" panose="02020603050405020304" pitchFamily="18" charset="0"/>
              </a:rPr>
              <a:t>,</a:t>
            </a:r>
            <a:r>
              <a:rPr lang="fr-FR" altLang="zh-CN" sz="2800" i="1">
                <a:latin typeface="Times New Roman" panose="02020603050405020304" pitchFamily="18" charset="0"/>
              </a:rPr>
              <a:t>y</a:t>
            </a:r>
            <a:r>
              <a:rPr lang="fr-FR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/>
              <a:t>表示</a:t>
            </a:r>
            <a:r>
              <a:rPr lang="fr-FR" altLang="zh-CN" sz="2800" i="1">
                <a:latin typeface="Times New Roman" panose="02020603050405020304" pitchFamily="18" charset="0"/>
              </a:rPr>
              <a:t>x</a:t>
            </a:r>
            <a:r>
              <a:rPr lang="zh-CN" altLang="en-US" sz="2800"/>
              <a:t>和</a:t>
            </a:r>
            <a:r>
              <a:rPr lang="fr-FR" altLang="zh-CN" sz="2800" i="1">
                <a:latin typeface="Times New Roman" panose="02020603050405020304" pitchFamily="18" charset="0"/>
              </a:rPr>
              <a:t>y</a:t>
            </a:r>
            <a:r>
              <a:rPr lang="zh-CN" altLang="en-US" sz="2800"/>
              <a:t>同姓，</a:t>
            </a:r>
          </a:p>
          <a:p>
            <a:pPr eaLnBrk="1" hangingPunct="1"/>
            <a:r>
              <a:rPr lang="zh-CN" altLang="en-US" sz="2800"/>
              <a:t>            论域</a:t>
            </a:r>
            <a:r>
              <a:rPr lang="fr-FR" altLang="zh-CN" sz="2800" i="1">
                <a:latin typeface="Times New Roman" panose="02020603050405020304" pitchFamily="18" charset="0"/>
              </a:rPr>
              <a:t>x</a:t>
            </a:r>
            <a:r>
              <a:rPr lang="zh-CN" altLang="en-US" sz="2800"/>
              <a:t>是甲村的人，</a:t>
            </a:r>
            <a:r>
              <a:rPr lang="fr-FR" altLang="zh-CN" sz="2800" i="1">
                <a:latin typeface="Times New Roman" panose="02020603050405020304" pitchFamily="18" charset="0"/>
              </a:rPr>
              <a:t>y</a:t>
            </a:r>
            <a:r>
              <a:rPr lang="zh-CN" altLang="en-US" sz="2800"/>
              <a:t>是乙村的人，</a:t>
            </a:r>
            <a:endParaRPr lang="en-US" altLang="zh-CN" sz="2800"/>
          </a:p>
          <a:p>
            <a:pPr eaLnBrk="1" hangingPunct="1"/>
            <a:r>
              <a:rPr lang="zh-CN" altLang="en-US" sz="2800"/>
              <a:t>则：</a:t>
            </a:r>
          </a:p>
          <a:p>
            <a:pPr eaLnBrk="1" hangingPunct="1">
              <a:buClrTx/>
              <a:buFontTx/>
              <a:buNone/>
            </a:pPr>
            <a:endParaRPr lang="zh-CN" altLang="en-US" sz="280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i="1">
                <a:latin typeface="Times New Roman" panose="02020603050405020304" pitchFamily="18" charset="0"/>
              </a:rPr>
              <a:t>x</a:t>
            </a:r>
            <a:r>
              <a:rPr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i="1">
                <a:latin typeface="Times New Roman" panose="02020603050405020304" pitchFamily="18" charset="0"/>
              </a:rPr>
              <a:t>y</a:t>
            </a:r>
            <a:r>
              <a:rPr lang="fr-FR" altLang="zh-CN" sz="2800" i="1">
                <a:latin typeface="Times New Roman" panose="02020603050405020304" pitchFamily="18" charset="0"/>
              </a:rPr>
              <a:t>A</a:t>
            </a:r>
            <a:r>
              <a:rPr lang="fr-FR" altLang="zh-CN" sz="2800">
                <a:latin typeface="Times New Roman" panose="02020603050405020304" pitchFamily="18" charset="0"/>
              </a:rPr>
              <a:t>(</a:t>
            </a:r>
            <a:r>
              <a:rPr lang="fr-FR" altLang="zh-CN" sz="2800" i="1">
                <a:latin typeface="Times New Roman" panose="02020603050405020304" pitchFamily="18" charset="0"/>
              </a:rPr>
              <a:t>x</a:t>
            </a:r>
            <a:r>
              <a:rPr lang="fr-FR" altLang="zh-CN" sz="2800">
                <a:latin typeface="Times New Roman" panose="02020603050405020304" pitchFamily="18" charset="0"/>
              </a:rPr>
              <a:t>,</a:t>
            </a:r>
            <a:r>
              <a:rPr lang="fr-FR" altLang="zh-CN" sz="2800" i="1">
                <a:latin typeface="Times New Roman" panose="02020603050405020304" pitchFamily="18" charset="0"/>
              </a:rPr>
              <a:t>y</a:t>
            </a:r>
            <a:r>
              <a:rPr lang="fr-FR" altLang="zh-CN" sz="2800">
                <a:latin typeface="Times New Roman" panose="02020603050405020304" pitchFamily="18" charset="0"/>
              </a:rPr>
              <a:t>): </a:t>
            </a:r>
            <a:r>
              <a:rPr lang="zh-CN" altLang="en-US" sz="2800">
                <a:latin typeface="宋体" panose="02010600030101010101" pitchFamily="2" charset="-122"/>
                <a:sym typeface="Symbol" panose="05050102010706020507" pitchFamily="18" charset="2"/>
              </a:rPr>
              <a:t>甲村与乙村所有人同姓</a:t>
            </a:r>
          </a:p>
          <a:p>
            <a:pPr eaLnBrk="1" hangingPunct="1"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i="1">
                <a:latin typeface="Times New Roman" panose="02020603050405020304" pitchFamily="18" charset="0"/>
              </a:rPr>
              <a:t>y</a:t>
            </a:r>
            <a:r>
              <a:rPr lang="zh-CN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i="1">
                <a:latin typeface="Times New Roman" panose="02020603050405020304" pitchFamily="18" charset="0"/>
              </a:rPr>
              <a:t>x</a:t>
            </a:r>
            <a:r>
              <a:rPr lang="fr-FR" altLang="zh-CN" sz="2800" i="1">
                <a:latin typeface="Times New Roman" panose="02020603050405020304" pitchFamily="18" charset="0"/>
              </a:rPr>
              <a:t>A</a:t>
            </a:r>
            <a:r>
              <a:rPr lang="fr-FR" altLang="zh-CN" sz="2800">
                <a:latin typeface="Times New Roman" panose="02020603050405020304" pitchFamily="18" charset="0"/>
              </a:rPr>
              <a:t>(</a:t>
            </a:r>
            <a:r>
              <a:rPr lang="fr-FR" altLang="zh-CN" sz="2800" i="1">
                <a:latin typeface="Times New Roman" panose="02020603050405020304" pitchFamily="18" charset="0"/>
              </a:rPr>
              <a:t>x</a:t>
            </a:r>
            <a:r>
              <a:rPr lang="fr-FR" altLang="zh-CN" sz="2800">
                <a:latin typeface="Times New Roman" panose="02020603050405020304" pitchFamily="18" charset="0"/>
              </a:rPr>
              <a:t>,</a:t>
            </a:r>
            <a:r>
              <a:rPr lang="fr-FR" altLang="zh-CN" sz="2800" i="1">
                <a:latin typeface="Times New Roman" panose="02020603050405020304" pitchFamily="18" charset="0"/>
              </a:rPr>
              <a:t>y</a:t>
            </a:r>
            <a:r>
              <a:rPr lang="fr-FR" altLang="zh-CN" sz="2800">
                <a:latin typeface="Times New Roman" panose="02020603050405020304" pitchFamily="18" charset="0"/>
              </a:rPr>
              <a:t>): </a:t>
            </a:r>
            <a:r>
              <a:rPr lang="zh-CN" altLang="en-US" sz="2800">
                <a:latin typeface="宋体" panose="02010600030101010101" pitchFamily="2" charset="-122"/>
                <a:sym typeface="Symbol" panose="05050102010706020507" pitchFamily="18" charset="2"/>
              </a:rPr>
              <a:t>乙村与甲村所有人同姓</a:t>
            </a:r>
          </a:p>
          <a:p>
            <a:pPr eaLnBrk="1" hangingPunct="1"/>
            <a:endParaRPr lang="zh-CN" altLang="en-US" sz="2800"/>
          </a:p>
        </p:txBody>
      </p:sp>
      <p:graphicFrame>
        <p:nvGraphicFramePr>
          <p:cNvPr id="776196" name="Object 4"/>
          <p:cNvGraphicFramePr>
            <a:graphicFrameLocks noChangeAspect="1"/>
          </p:cNvGraphicFramePr>
          <p:nvPr/>
        </p:nvGraphicFramePr>
        <p:xfrm>
          <a:off x="1116013" y="4872038"/>
          <a:ext cx="6143625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6668095" imgH="2962910" progId="Equation.3">
                  <p:embed/>
                </p:oleObj>
              </mc:Choice>
              <mc:Fallback>
                <p:oleObj name="公式" r:id="rId2" imgW="26668095" imgH="296291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872038"/>
                        <a:ext cx="6143625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标题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>
                <a:latin typeface="Times New Roman" panose="02020603050405020304" pitchFamily="18" charset="0"/>
              </a:rPr>
              <a:t>多个量词的使用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76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6194" grpId="0" build="p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601619" y="6237312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2544A6A-716B-4976-80FA-0A3E0AF39432}" type="slidenum">
              <a:rPr lang="zh-CN" altLang="en-US" sz="1400" b="0"/>
              <a:t>39</a:t>
            </a:fld>
            <a:endParaRPr lang="en-US" altLang="zh-CN" sz="1400" b="0"/>
          </a:p>
        </p:txBody>
      </p:sp>
      <p:grpSp>
        <p:nvGrpSpPr>
          <p:cNvPr id="11267" name="Group 3"/>
          <p:cNvGrpSpPr/>
          <p:nvPr/>
        </p:nvGrpSpPr>
        <p:grpSpPr bwMode="auto">
          <a:xfrm>
            <a:off x="457200" y="1773238"/>
            <a:ext cx="3538538" cy="3311525"/>
            <a:chOff x="48" y="863"/>
            <a:chExt cx="2903" cy="2737"/>
          </a:xfrm>
        </p:grpSpPr>
        <p:sp>
          <p:nvSpPr>
            <p:cNvPr id="11270" name="AutoShape 4"/>
            <p:cNvSpPr>
              <a:spLocks noChangeArrowheads="1"/>
            </p:cNvSpPr>
            <p:nvPr/>
          </p:nvSpPr>
          <p:spPr bwMode="auto">
            <a:xfrm>
              <a:off x="595" y="1263"/>
              <a:ext cx="1793" cy="1883"/>
            </a:xfrm>
            <a:prstGeom prst="octagon">
              <a:avLst>
                <a:gd name="adj" fmla="val 29287"/>
              </a:avLst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/>
            </a:p>
          </p:txBody>
        </p:sp>
        <p:sp>
          <p:nvSpPr>
            <p:cNvPr id="11271" name="Line 5"/>
            <p:cNvSpPr>
              <a:spLocks noChangeShapeType="1"/>
            </p:cNvSpPr>
            <p:nvPr/>
          </p:nvSpPr>
          <p:spPr bwMode="auto">
            <a:xfrm>
              <a:off x="1094" y="1263"/>
              <a:ext cx="829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2" name="Oval 6"/>
            <p:cNvSpPr>
              <a:spLocks noChangeArrowheads="1"/>
            </p:cNvSpPr>
            <p:nvPr/>
          </p:nvSpPr>
          <p:spPr bwMode="auto">
            <a:xfrm>
              <a:off x="562" y="2576"/>
              <a:ext cx="62" cy="61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/>
            </a:p>
          </p:txBody>
        </p:sp>
        <p:sp>
          <p:nvSpPr>
            <p:cNvPr id="11273" name="Line 7"/>
            <p:cNvSpPr>
              <a:spLocks noChangeShapeType="1"/>
            </p:cNvSpPr>
            <p:nvPr/>
          </p:nvSpPr>
          <p:spPr bwMode="auto">
            <a:xfrm>
              <a:off x="1166" y="3146"/>
              <a:ext cx="664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4" name="Line 8"/>
            <p:cNvSpPr>
              <a:spLocks noChangeShapeType="1"/>
            </p:cNvSpPr>
            <p:nvPr/>
          </p:nvSpPr>
          <p:spPr bwMode="auto">
            <a:xfrm>
              <a:off x="595" y="1920"/>
              <a:ext cx="0" cy="605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5" name="Oval 9"/>
            <p:cNvSpPr>
              <a:spLocks noChangeArrowheads="1"/>
            </p:cNvSpPr>
            <p:nvPr/>
          </p:nvSpPr>
          <p:spPr bwMode="auto">
            <a:xfrm>
              <a:off x="1068" y="3103"/>
              <a:ext cx="62" cy="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/>
            </a:p>
          </p:txBody>
        </p:sp>
        <p:sp>
          <p:nvSpPr>
            <p:cNvPr id="11276" name="Oval 10"/>
            <p:cNvSpPr>
              <a:spLocks noChangeArrowheads="1"/>
            </p:cNvSpPr>
            <p:nvPr/>
          </p:nvSpPr>
          <p:spPr bwMode="auto">
            <a:xfrm>
              <a:off x="1830" y="3101"/>
              <a:ext cx="61" cy="61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/>
            </a:p>
          </p:txBody>
        </p:sp>
        <p:sp>
          <p:nvSpPr>
            <p:cNvPr id="11277" name="Oval 11"/>
            <p:cNvSpPr>
              <a:spLocks noChangeArrowheads="1"/>
            </p:cNvSpPr>
            <p:nvPr/>
          </p:nvSpPr>
          <p:spPr bwMode="auto">
            <a:xfrm>
              <a:off x="2355" y="2568"/>
              <a:ext cx="62" cy="61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/>
            </a:p>
          </p:txBody>
        </p:sp>
        <p:sp>
          <p:nvSpPr>
            <p:cNvPr id="11278" name="Oval 12"/>
            <p:cNvSpPr>
              <a:spLocks noChangeArrowheads="1"/>
            </p:cNvSpPr>
            <p:nvPr/>
          </p:nvSpPr>
          <p:spPr bwMode="auto">
            <a:xfrm>
              <a:off x="2355" y="1772"/>
              <a:ext cx="62" cy="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/>
            </a:p>
          </p:txBody>
        </p:sp>
        <p:sp>
          <p:nvSpPr>
            <p:cNvPr id="11279" name="Oval 13"/>
            <p:cNvSpPr>
              <a:spLocks noChangeArrowheads="1"/>
            </p:cNvSpPr>
            <p:nvPr/>
          </p:nvSpPr>
          <p:spPr bwMode="auto">
            <a:xfrm>
              <a:off x="1889" y="1219"/>
              <a:ext cx="62" cy="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/>
            </a:p>
          </p:txBody>
        </p:sp>
        <p:sp>
          <p:nvSpPr>
            <p:cNvPr id="11280" name="Oval 14"/>
            <p:cNvSpPr>
              <a:spLocks noChangeArrowheads="1"/>
            </p:cNvSpPr>
            <p:nvPr/>
          </p:nvSpPr>
          <p:spPr bwMode="auto">
            <a:xfrm>
              <a:off x="1085" y="1227"/>
              <a:ext cx="62" cy="61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/>
            </a:p>
          </p:txBody>
        </p:sp>
        <p:sp>
          <p:nvSpPr>
            <p:cNvPr id="11281" name="Oval 15"/>
            <p:cNvSpPr>
              <a:spLocks noChangeArrowheads="1"/>
            </p:cNvSpPr>
            <p:nvPr/>
          </p:nvSpPr>
          <p:spPr bwMode="auto">
            <a:xfrm>
              <a:off x="562" y="1772"/>
              <a:ext cx="62" cy="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/>
            </a:p>
          </p:txBody>
        </p:sp>
        <p:sp>
          <p:nvSpPr>
            <p:cNvPr id="11282" name="Line 16"/>
            <p:cNvSpPr>
              <a:spLocks noChangeShapeType="1"/>
            </p:cNvSpPr>
            <p:nvPr/>
          </p:nvSpPr>
          <p:spPr bwMode="auto">
            <a:xfrm>
              <a:off x="645" y="2670"/>
              <a:ext cx="432" cy="432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3" name="Line 17"/>
            <p:cNvSpPr>
              <a:spLocks noChangeShapeType="1"/>
            </p:cNvSpPr>
            <p:nvPr/>
          </p:nvSpPr>
          <p:spPr bwMode="auto">
            <a:xfrm flipH="1">
              <a:off x="1890" y="2691"/>
              <a:ext cx="441" cy="421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4" name="Line 18"/>
            <p:cNvSpPr>
              <a:spLocks noChangeShapeType="1"/>
            </p:cNvSpPr>
            <p:nvPr/>
          </p:nvSpPr>
          <p:spPr bwMode="auto">
            <a:xfrm flipH="1">
              <a:off x="636" y="1296"/>
              <a:ext cx="468" cy="447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5" name="Line 19"/>
            <p:cNvSpPr>
              <a:spLocks noChangeShapeType="1"/>
            </p:cNvSpPr>
            <p:nvPr/>
          </p:nvSpPr>
          <p:spPr bwMode="auto">
            <a:xfrm>
              <a:off x="2386" y="1872"/>
              <a:ext cx="0" cy="642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6" name="Line 20"/>
            <p:cNvSpPr>
              <a:spLocks noChangeShapeType="1"/>
            </p:cNvSpPr>
            <p:nvPr/>
          </p:nvSpPr>
          <p:spPr bwMode="auto">
            <a:xfrm>
              <a:off x="1974" y="1380"/>
              <a:ext cx="348" cy="327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1287" name="Object 21"/>
            <p:cNvGraphicFramePr>
              <a:graphicFrameLocks noChangeAspect="1"/>
            </p:cNvGraphicFramePr>
            <p:nvPr/>
          </p:nvGraphicFramePr>
          <p:xfrm>
            <a:off x="581" y="886"/>
            <a:ext cx="660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5741035" imgH="2962910" progId="Equation.3">
                    <p:embed/>
                  </p:oleObj>
                </mc:Choice>
                <mc:Fallback>
                  <p:oleObj name="公式" r:id="rId3" imgW="5741035" imgH="296291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1" y="886"/>
                          <a:ext cx="660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8" name="Object 22"/>
            <p:cNvGraphicFramePr>
              <a:graphicFrameLocks noChangeAspect="1"/>
            </p:cNvGraphicFramePr>
            <p:nvPr/>
          </p:nvGraphicFramePr>
          <p:xfrm>
            <a:off x="1543" y="863"/>
            <a:ext cx="660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5741035" imgH="2962910" progId="">
                    <p:embed/>
                  </p:oleObj>
                </mc:Choice>
                <mc:Fallback>
                  <p:oleObj name="Equation" r:id="rId5" imgW="5741035" imgH="2962910" progId="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3" y="863"/>
                          <a:ext cx="660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9" name="Object 23"/>
            <p:cNvGraphicFramePr>
              <a:graphicFrameLocks noChangeAspect="1"/>
            </p:cNvGraphicFramePr>
            <p:nvPr/>
          </p:nvGraphicFramePr>
          <p:xfrm>
            <a:off x="48" y="1471"/>
            <a:ext cx="620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5370830" imgH="2962910" progId="Equation.3">
                    <p:embed/>
                  </p:oleObj>
                </mc:Choice>
                <mc:Fallback>
                  <p:oleObj name="公式" r:id="rId7" imgW="5370830" imgH="296291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" y="1471"/>
                          <a:ext cx="620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90" name="Object 24"/>
            <p:cNvGraphicFramePr>
              <a:graphicFrameLocks noChangeAspect="1"/>
            </p:cNvGraphicFramePr>
            <p:nvPr/>
          </p:nvGraphicFramePr>
          <p:xfrm>
            <a:off x="48" y="2579"/>
            <a:ext cx="620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5370830" imgH="2962910" progId="Equation.3">
                    <p:embed/>
                  </p:oleObj>
                </mc:Choice>
                <mc:Fallback>
                  <p:oleObj name="公式" r:id="rId9" imgW="5370830" imgH="296291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" y="2579"/>
                          <a:ext cx="620" cy="3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91" name="Object 25"/>
            <p:cNvGraphicFramePr>
              <a:graphicFrameLocks noChangeAspect="1"/>
            </p:cNvGraphicFramePr>
            <p:nvPr/>
          </p:nvGraphicFramePr>
          <p:xfrm>
            <a:off x="2286" y="1450"/>
            <a:ext cx="642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5555615" imgH="2962910" progId="Equation.3">
                    <p:embed/>
                  </p:oleObj>
                </mc:Choice>
                <mc:Fallback>
                  <p:oleObj name="公式" r:id="rId11" imgW="5555615" imgH="296291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6" y="1450"/>
                          <a:ext cx="642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92" name="Object 26"/>
            <p:cNvGraphicFramePr>
              <a:graphicFrameLocks noChangeAspect="1"/>
            </p:cNvGraphicFramePr>
            <p:nvPr/>
          </p:nvGraphicFramePr>
          <p:xfrm>
            <a:off x="2331" y="2600"/>
            <a:ext cx="620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5370830" imgH="2962910" progId="Equation.3">
                    <p:embed/>
                  </p:oleObj>
                </mc:Choice>
                <mc:Fallback>
                  <p:oleObj name="公式" r:id="rId13" imgW="5370830" imgH="296291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1" y="2600"/>
                          <a:ext cx="620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93" name="Object 27"/>
            <p:cNvGraphicFramePr>
              <a:graphicFrameLocks noChangeAspect="1"/>
            </p:cNvGraphicFramePr>
            <p:nvPr/>
          </p:nvGraphicFramePr>
          <p:xfrm>
            <a:off x="1674" y="3252"/>
            <a:ext cx="596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5185410" imgH="2778125" progId="Equation.3">
                    <p:embed/>
                  </p:oleObj>
                </mc:Choice>
                <mc:Fallback>
                  <p:oleObj name="公式" r:id="rId15" imgW="5185410" imgH="2778125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4" y="3252"/>
                          <a:ext cx="596" cy="3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94" name="Object 28"/>
            <p:cNvGraphicFramePr>
              <a:graphicFrameLocks noChangeAspect="1"/>
            </p:cNvGraphicFramePr>
            <p:nvPr/>
          </p:nvGraphicFramePr>
          <p:xfrm>
            <a:off x="668" y="3208"/>
            <a:ext cx="596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5185410" imgH="2778125" progId="Equation.3">
                    <p:embed/>
                  </p:oleObj>
                </mc:Choice>
                <mc:Fallback>
                  <p:oleObj name="公式" r:id="rId17" imgW="5185410" imgH="2778125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8" y="3208"/>
                          <a:ext cx="596" cy="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74173" name="Text Box 29"/>
          <p:cNvSpPr txBox="1">
            <a:spLocks noChangeArrowheads="1"/>
          </p:cNvSpPr>
          <p:nvPr/>
        </p:nvSpPr>
        <p:spPr bwMode="auto">
          <a:xfrm>
            <a:off x="4225925" y="1522413"/>
            <a:ext cx="4751388" cy="452437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zh-CN" altLang="en-US" sz="32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320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200" i="1">
                <a:latin typeface="Times New Roman" panose="02020603050405020304" pitchFamily="18" charset="0"/>
              </a:rPr>
              <a:t>x</a:t>
            </a:r>
            <a:r>
              <a:rPr lang="zh-CN" altLang="en-US" sz="320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200" i="1">
                <a:latin typeface="Times New Roman" panose="02020603050405020304" pitchFamily="18" charset="0"/>
              </a:rPr>
              <a:t>y</a:t>
            </a:r>
            <a:r>
              <a:rPr lang="fr-FR" altLang="zh-CN" sz="3200" i="1">
                <a:latin typeface="Times New Roman" panose="02020603050405020304" pitchFamily="18" charset="0"/>
              </a:rPr>
              <a:t>A</a:t>
            </a:r>
            <a:r>
              <a:rPr lang="fr-FR" altLang="zh-CN" sz="3200">
                <a:latin typeface="Times New Roman" panose="02020603050405020304" pitchFamily="18" charset="0"/>
              </a:rPr>
              <a:t>(</a:t>
            </a:r>
            <a:r>
              <a:rPr lang="fr-FR" altLang="zh-CN" sz="3200" i="1">
                <a:latin typeface="Times New Roman" panose="02020603050405020304" pitchFamily="18" charset="0"/>
              </a:rPr>
              <a:t>x</a:t>
            </a:r>
            <a:r>
              <a:rPr lang="fr-FR" altLang="zh-CN" sz="3200">
                <a:latin typeface="Times New Roman" panose="02020603050405020304" pitchFamily="18" charset="0"/>
              </a:rPr>
              <a:t>,</a:t>
            </a:r>
            <a:r>
              <a:rPr lang="fr-FR" altLang="zh-CN" sz="3200" i="1">
                <a:latin typeface="Times New Roman" panose="02020603050405020304" pitchFamily="18" charset="0"/>
              </a:rPr>
              <a:t>y</a:t>
            </a:r>
            <a:r>
              <a:rPr lang="fr-FR" altLang="zh-CN" sz="3200">
                <a:latin typeface="Times New Roman" panose="02020603050405020304" pitchFamily="18" charset="0"/>
              </a:rPr>
              <a:t>):</a:t>
            </a:r>
          </a:p>
          <a:p>
            <a:pPr eaLnBrk="1" hangingPunct="1">
              <a:buClrTx/>
              <a:buFontTx/>
              <a:buNone/>
            </a:pPr>
            <a:r>
              <a:rPr kumimoji="1" lang="zh-CN" altLang="en-US" sz="3200" b="0">
                <a:latin typeface="宋体" panose="02010600030101010101" pitchFamily="2" charset="-122"/>
                <a:sym typeface="Symbol" panose="05050102010706020507" pitchFamily="18" charset="2"/>
              </a:rPr>
              <a:t>甲村与乙村所有人同姓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320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3200" i="1">
                <a:latin typeface="Times New Roman" panose="02020603050405020304" pitchFamily="18" charset="0"/>
              </a:rPr>
              <a:t>y</a:t>
            </a:r>
            <a:r>
              <a:rPr lang="zh-CN" altLang="en-US" sz="320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200" i="1">
                <a:latin typeface="Times New Roman" panose="02020603050405020304" pitchFamily="18" charset="0"/>
              </a:rPr>
              <a:t>x</a:t>
            </a:r>
            <a:r>
              <a:rPr lang="fr-FR" altLang="zh-CN" sz="3200" i="1">
                <a:latin typeface="Times New Roman" panose="02020603050405020304" pitchFamily="18" charset="0"/>
              </a:rPr>
              <a:t>A</a:t>
            </a:r>
            <a:r>
              <a:rPr lang="fr-FR" altLang="zh-CN" sz="3200">
                <a:latin typeface="Times New Roman" panose="02020603050405020304" pitchFamily="18" charset="0"/>
              </a:rPr>
              <a:t>(</a:t>
            </a:r>
            <a:r>
              <a:rPr lang="fr-FR" altLang="zh-CN" sz="3200" i="1">
                <a:latin typeface="Times New Roman" panose="02020603050405020304" pitchFamily="18" charset="0"/>
              </a:rPr>
              <a:t>x</a:t>
            </a:r>
            <a:r>
              <a:rPr lang="fr-FR" altLang="zh-CN" sz="3200">
                <a:latin typeface="Times New Roman" panose="02020603050405020304" pitchFamily="18" charset="0"/>
              </a:rPr>
              <a:t>,</a:t>
            </a:r>
            <a:r>
              <a:rPr lang="fr-FR" altLang="zh-CN" sz="3200" i="1">
                <a:latin typeface="Times New Roman" panose="02020603050405020304" pitchFamily="18" charset="0"/>
              </a:rPr>
              <a:t>y</a:t>
            </a:r>
            <a:r>
              <a:rPr lang="fr-FR" altLang="zh-CN" sz="3200">
                <a:latin typeface="Times New Roman" panose="02020603050405020304" pitchFamily="18" charset="0"/>
              </a:rPr>
              <a:t>):</a:t>
            </a:r>
            <a:r>
              <a:rPr kumimoji="1" lang="zh-CN" altLang="en-US" sz="3200" b="0">
                <a:latin typeface="宋体" panose="02010600030101010101" pitchFamily="2" charset="-122"/>
                <a:sym typeface="Symbol" panose="05050102010706020507" pitchFamily="18" charset="2"/>
              </a:rPr>
              <a:t>乙村有一个人，甲村的人都和他同姓</a:t>
            </a:r>
          </a:p>
          <a:p>
            <a:pPr eaLnBrk="1" hangingPunct="1">
              <a:buClrTx/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200" i="1">
                <a:latin typeface="Times New Roman" panose="02020603050405020304" pitchFamily="18" charset="0"/>
              </a:rPr>
              <a:t>x</a:t>
            </a:r>
            <a:r>
              <a:rPr lang="en-US" altLang="zh-CN" sz="320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3200" i="1">
                <a:latin typeface="Times New Roman" panose="02020603050405020304" pitchFamily="18" charset="0"/>
              </a:rPr>
              <a:t>y</a:t>
            </a:r>
            <a:r>
              <a:rPr lang="fr-FR" altLang="zh-CN" sz="3200" i="1">
                <a:latin typeface="Times New Roman" panose="02020603050405020304" pitchFamily="18" charset="0"/>
              </a:rPr>
              <a:t>A</a:t>
            </a:r>
            <a:r>
              <a:rPr lang="fr-FR" altLang="zh-CN" sz="3200">
                <a:latin typeface="Times New Roman" panose="02020603050405020304" pitchFamily="18" charset="0"/>
              </a:rPr>
              <a:t>(</a:t>
            </a:r>
            <a:r>
              <a:rPr lang="fr-FR" altLang="zh-CN" sz="3200" i="1">
                <a:latin typeface="Times New Roman" panose="02020603050405020304" pitchFamily="18" charset="0"/>
              </a:rPr>
              <a:t>x</a:t>
            </a:r>
            <a:r>
              <a:rPr lang="fr-FR" altLang="zh-CN" sz="3200">
                <a:latin typeface="Times New Roman" panose="02020603050405020304" pitchFamily="18" charset="0"/>
              </a:rPr>
              <a:t>,</a:t>
            </a:r>
            <a:r>
              <a:rPr lang="fr-FR" altLang="zh-CN" sz="3200" i="1">
                <a:latin typeface="Times New Roman" panose="02020603050405020304" pitchFamily="18" charset="0"/>
              </a:rPr>
              <a:t>y</a:t>
            </a:r>
            <a:r>
              <a:rPr lang="fr-FR" altLang="zh-CN" sz="3200">
                <a:latin typeface="Times New Roman" panose="02020603050405020304" pitchFamily="18" charset="0"/>
              </a:rPr>
              <a:t>):</a:t>
            </a:r>
            <a:r>
              <a:rPr kumimoji="1" lang="zh-CN" altLang="en-US" sz="3200" b="0">
                <a:latin typeface="宋体" panose="02010600030101010101" pitchFamily="2" charset="-122"/>
                <a:sym typeface="Symbol" panose="05050102010706020507" pitchFamily="18" charset="2"/>
              </a:rPr>
              <a:t>甲村所有人，乙村都有人和他同姓</a:t>
            </a:r>
          </a:p>
          <a:p>
            <a:pPr eaLnBrk="1" hangingPunct="1">
              <a:buClrTx/>
            </a:pPr>
            <a:r>
              <a:rPr lang="en-US" altLang="zh-CN" sz="320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fr-FR" altLang="zh-CN" sz="3200" i="1">
                <a:latin typeface="Times New Roman" panose="02020603050405020304" pitchFamily="18" charset="0"/>
              </a:rPr>
              <a:t>y</a:t>
            </a:r>
            <a:r>
              <a:rPr lang="en-US" altLang="zh-CN" sz="320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fr-FR" altLang="zh-CN" sz="3200" i="1">
                <a:latin typeface="Times New Roman" panose="02020603050405020304" pitchFamily="18" charset="0"/>
              </a:rPr>
              <a:t>xA</a:t>
            </a:r>
            <a:r>
              <a:rPr lang="fr-FR" altLang="zh-CN" sz="3200">
                <a:latin typeface="Times New Roman" panose="02020603050405020304" pitchFamily="18" charset="0"/>
              </a:rPr>
              <a:t>(</a:t>
            </a:r>
            <a:r>
              <a:rPr lang="fr-FR" altLang="zh-CN" sz="3200" i="1">
                <a:latin typeface="Times New Roman" panose="02020603050405020304" pitchFamily="18" charset="0"/>
              </a:rPr>
              <a:t>x</a:t>
            </a:r>
            <a:r>
              <a:rPr lang="fr-FR" altLang="zh-CN" sz="3200">
                <a:latin typeface="Times New Roman" panose="02020603050405020304" pitchFamily="18" charset="0"/>
              </a:rPr>
              <a:t>,</a:t>
            </a:r>
            <a:r>
              <a:rPr lang="fr-FR" altLang="zh-CN" sz="3200" i="1">
                <a:latin typeface="Times New Roman" panose="02020603050405020304" pitchFamily="18" charset="0"/>
              </a:rPr>
              <a:t>y</a:t>
            </a:r>
            <a:r>
              <a:rPr lang="fr-FR" altLang="zh-CN" sz="3200">
                <a:latin typeface="Times New Roman" panose="02020603050405020304" pitchFamily="18" charset="0"/>
              </a:rPr>
              <a:t>):</a:t>
            </a:r>
            <a:endParaRPr kumimoji="1" lang="zh-CN" altLang="en-US" sz="3200" b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buClrTx/>
              <a:buFontTx/>
              <a:buNone/>
            </a:pPr>
            <a:r>
              <a:rPr kumimoji="1" lang="zh-CN" altLang="en-US" sz="3200" b="0">
                <a:latin typeface="宋体" panose="02010600030101010101" pitchFamily="2" charset="-122"/>
                <a:sym typeface="Symbol" panose="05050102010706020507" pitchFamily="18" charset="2"/>
              </a:rPr>
              <a:t>乙村与甲村有人同姓</a:t>
            </a:r>
          </a:p>
        </p:txBody>
      </p:sp>
      <p:sp>
        <p:nvSpPr>
          <p:cNvPr id="11269" name="标题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>
                <a:latin typeface="Times New Roman" panose="02020603050405020304" pitchFamily="18" charset="0"/>
              </a:rPr>
              <a:t>多个量词的使用</a:t>
            </a:r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4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4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99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4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41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417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23831" y="6145212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2FA96FB-E46D-422A-9111-0ECAF579026F}" type="slidenum">
              <a:rPr lang="zh-CN" altLang="en-US" sz="1400" b="0"/>
              <a:t>40</a:t>
            </a:fld>
            <a:endParaRPr lang="en-US" altLang="zh-CN" sz="1400" b="0"/>
          </a:p>
        </p:txBody>
      </p:sp>
      <p:grpSp>
        <p:nvGrpSpPr>
          <p:cNvPr id="13315" name="Group 3"/>
          <p:cNvGrpSpPr/>
          <p:nvPr/>
        </p:nvGrpSpPr>
        <p:grpSpPr bwMode="auto">
          <a:xfrm>
            <a:off x="0" y="1733550"/>
            <a:ext cx="3413125" cy="3208338"/>
            <a:chOff x="48" y="863"/>
            <a:chExt cx="2880" cy="2737"/>
          </a:xfrm>
        </p:grpSpPr>
        <p:sp>
          <p:nvSpPr>
            <p:cNvPr id="13320" name="AutoShape 4"/>
            <p:cNvSpPr>
              <a:spLocks noChangeArrowheads="1"/>
            </p:cNvSpPr>
            <p:nvPr/>
          </p:nvSpPr>
          <p:spPr bwMode="auto">
            <a:xfrm>
              <a:off x="595" y="1263"/>
              <a:ext cx="1793" cy="1883"/>
            </a:xfrm>
            <a:prstGeom prst="octagon">
              <a:avLst>
                <a:gd name="adj" fmla="val 29287"/>
              </a:avLst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/>
            </a:p>
          </p:txBody>
        </p:sp>
        <p:sp>
          <p:nvSpPr>
            <p:cNvPr id="13321" name="Line 5"/>
            <p:cNvSpPr>
              <a:spLocks noChangeShapeType="1"/>
            </p:cNvSpPr>
            <p:nvPr/>
          </p:nvSpPr>
          <p:spPr bwMode="auto">
            <a:xfrm>
              <a:off x="1094" y="1263"/>
              <a:ext cx="829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2" name="Oval 6"/>
            <p:cNvSpPr>
              <a:spLocks noChangeArrowheads="1"/>
            </p:cNvSpPr>
            <p:nvPr/>
          </p:nvSpPr>
          <p:spPr bwMode="auto">
            <a:xfrm>
              <a:off x="562" y="2576"/>
              <a:ext cx="62" cy="61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/>
            </a:p>
          </p:txBody>
        </p:sp>
        <p:sp>
          <p:nvSpPr>
            <p:cNvPr id="13323" name="Line 7"/>
            <p:cNvSpPr>
              <a:spLocks noChangeShapeType="1"/>
            </p:cNvSpPr>
            <p:nvPr/>
          </p:nvSpPr>
          <p:spPr bwMode="auto">
            <a:xfrm>
              <a:off x="1166" y="3146"/>
              <a:ext cx="664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4" name="Line 8"/>
            <p:cNvSpPr>
              <a:spLocks noChangeShapeType="1"/>
            </p:cNvSpPr>
            <p:nvPr/>
          </p:nvSpPr>
          <p:spPr bwMode="auto">
            <a:xfrm>
              <a:off x="595" y="1920"/>
              <a:ext cx="0" cy="605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5" name="Oval 9"/>
            <p:cNvSpPr>
              <a:spLocks noChangeArrowheads="1"/>
            </p:cNvSpPr>
            <p:nvPr/>
          </p:nvSpPr>
          <p:spPr bwMode="auto">
            <a:xfrm>
              <a:off x="1068" y="3103"/>
              <a:ext cx="62" cy="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/>
            </a:p>
          </p:txBody>
        </p:sp>
        <p:sp>
          <p:nvSpPr>
            <p:cNvPr id="13326" name="Oval 10"/>
            <p:cNvSpPr>
              <a:spLocks noChangeArrowheads="1"/>
            </p:cNvSpPr>
            <p:nvPr/>
          </p:nvSpPr>
          <p:spPr bwMode="auto">
            <a:xfrm>
              <a:off x="1830" y="3101"/>
              <a:ext cx="61" cy="61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/>
            </a:p>
          </p:txBody>
        </p:sp>
        <p:sp>
          <p:nvSpPr>
            <p:cNvPr id="13327" name="Oval 11"/>
            <p:cNvSpPr>
              <a:spLocks noChangeArrowheads="1"/>
            </p:cNvSpPr>
            <p:nvPr/>
          </p:nvSpPr>
          <p:spPr bwMode="auto">
            <a:xfrm>
              <a:off x="2355" y="2568"/>
              <a:ext cx="62" cy="61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/>
            </a:p>
          </p:txBody>
        </p:sp>
        <p:sp>
          <p:nvSpPr>
            <p:cNvPr id="13328" name="Oval 12"/>
            <p:cNvSpPr>
              <a:spLocks noChangeArrowheads="1"/>
            </p:cNvSpPr>
            <p:nvPr/>
          </p:nvSpPr>
          <p:spPr bwMode="auto">
            <a:xfrm>
              <a:off x="2355" y="1772"/>
              <a:ext cx="62" cy="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/>
            </a:p>
          </p:txBody>
        </p:sp>
        <p:sp>
          <p:nvSpPr>
            <p:cNvPr id="13329" name="Oval 13"/>
            <p:cNvSpPr>
              <a:spLocks noChangeArrowheads="1"/>
            </p:cNvSpPr>
            <p:nvPr/>
          </p:nvSpPr>
          <p:spPr bwMode="auto">
            <a:xfrm>
              <a:off x="1889" y="1219"/>
              <a:ext cx="62" cy="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/>
            </a:p>
          </p:txBody>
        </p:sp>
        <p:sp>
          <p:nvSpPr>
            <p:cNvPr id="13330" name="Oval 14"/>
            <p:cNvSpPr>
              <a:spLocks noChangeArrowheads="1"/>
            </p:cNvSpPr>
            <p:nvPr/>
          </p:nvSpPr>
          <p:spPr bwMode="auto">
            <a:xfrm>
              <a:off x="1085" y="1227"/>
              <a:ext cx="62" cy="61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/>
            </a:p>
          </p:txBody>
        </p:sp>
        <p:sp>
          <p:nvSpPr>
            <p:cNvPr id="13331" name="Oval 15"/>
            <p:cNvSpPr>
              <a:spLocks noChangeArrowheads="1"/>
            </p:cNvSpPr>
            <p:nvPr/>
          </p:nvSpPr>
          <p:spPr bwMode="auto">
            <a:xfrm>
              <a:off x="562" y="1772"/>
              <a:ext cx="62" cy="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b="0"/>
            </a:p>
          </p:txBody>
        </p:sp>
        <p:sp>
          <p:nvSpPr>
            <p:cNvPr id="13332" name="Line 16"/>
            <p:cNvSpPr>
              <a:spLocks noChangeShapeType="1"/>
            </p:cNvSpPr>
            <p:nvPr/>
          </p:nvSpPr>
          <p:spPr bwMode="auto">
            <a:xfrm>
              <a:off x="645" y="2670"/>
              <a:ext cx="432" cy="432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3" name="Line 17"/>
            <p:cNvSpPr>
              <a:spLocks noChangeShapeType="1"/>
            </p:cNvSpPr>
            <p:nvPr/>
          </p:nvSpPr>
          <p:spPr bwMode="auto">
            <a:xfrm flipH="1">
              <a:off x="1890" y="2691"/>
              <a:ext cx="441" cy="421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4" name="Line 18"/>
            <p:cNvSpPr>
              <a:spLocks noChangeShapeType="1"/>
            </p:cNvSpPr>
            <p:nvPr/>
          </p:nvSpPr>
          <p:spPr bwMode="auto">
            <a:xfrm flipH="1">
              <a:off x="636" y="1296"/>
              <a:ext cx="468" cy="447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5" name="Line 19"/>
            <p:cNvSpPr>
              <a:spLocks noChangeShapeType="1"/>
            </p:cNvSpPr>
            <p:nvPr/>
          </p:nvSpPr>
          <p:spPr bwMode="auto">
            <a:xfrm>
              <a:off x="2386" y="1872"/>
              <a:ext cx="0" cy="642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6" name="Line 20"/>
            <p:cNvSpPr>
              <a:spLocks noChangeShapeType="1"/>
            </p:cNvSpPr>
            <p:nvPr/>
          </p:nvSpPr>
          <p:spPr bwMode="auto">
            <a:xfrm>
              <a:off x="1974" y="1380"/>
              <a:ext cx="348" cy="327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337" name="Object 21"/>
            <p:cNvGraphicFramePr>
              <a:graphicFrameLocks noChangeAspect="1"/>
            </p:cNvGraphicFramePr>
            <p:nvPr/>
          </p:nvGraphicFramePr>
          <p:xfrm>
            <a:off x="581" y="886"/>
            <a:ext cx="660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5741035" imgH="2962910" progId="Equation.3">
                    <p:embed/>
                  </p:oleObj>
                </mc:Choice>
                <mc:Fallback>
                  <p:oleObj name="公式" r:id="rId3" imgW="5741035" imgH="296291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1" y="886"/>
                          <a:ext cx="660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8" name="Object 22"/>
            <p:cNvGraphicFramePr>
              <a:graphicFrameLocks noChangeAspect="1"/>
            </p:cNvGraphicFramePr>
            <p:nvPr/>
          </p:nvGraphicFramePr>
          <p:xfrm>
            <a:off x="1543" y="863"/>
            <a:ext cx="660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5741035" imgH="2962910" progId="">
                    <p:embed/>
                  </p:oleObj>
                </mc:Choice>
                <mc:Fallback>
                  <p:oleObj name="Equation" r:id="rId5" imgW="5741035" imgH="2962910" progId="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3" y="863"/>
                          <a:ext cx="660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9" name="Object 23"/>
            <p:cNvGraphicFramePr>
              <a:graphicFrameLocks noChangeAspect="1"/>
            </p:cNvGraphicFramePr>
            <p:nvPr/>
          </p:nvGraphicFramePr>
          <p:xfrm>
            <a:off x="48" y="1471"/>
            <a:ext cx="620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5370830" imgH="2962910" progId="Equation.3">
                    <p:embed/>
                  </p:oleObj>
                </mc:Choice>
                <mc:Fallback>
                  <p:oleObj name="公式" r:id="rId7" imgW="5370830" imgH="296291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" y="1471"/>
                          <a:ext cx="620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0" name="Object 24"/>
            <p:cNvGraphicFramePr>
              <a:graphicFrameLocks noChangeAspect="1"/>
            </p:cNvGraphicFramePr>
            <p:nvPr/>
          </p:nvGraphicFramePr>
          <p:xfrm>
            <a:off x="48" y="2579"/>
            <a:ext cx="620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5370830" imgH="2962910" progId="Equation.3">
                    <p:embed/>
                  </p:oleObj>
                </mc:Choice>
                <mc:Fallback>
                  <p:oleObj name="公式" r:id="rId9" imgW="5370830" imgH="296291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" y="2579"/>
                          <a:ext cx="620" cy="3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1" name="Object 25"/>
            <p:cNvGraphicFramePr>
              <a:graphicFrameLocks noChangeAspect="1"/>
            </p:cNvGraphicFramePr>
            <p:nvPr/>
          </p:nvGraphicFramePr>
          <p:xfrm>
            <a:off x="2286" y="1450"/>
            <a:ext cx="642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5555615" imgH="2962910" progId="Equation.3">
                    <p:embed/>
                  </p:oleObj>
                </mc:Choice>
                <mc:Fallback>
                  <p:oleObj name="公式" r:id="rId11" imgW="5555615" imgH="296291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6" y="1450"/>
                          <a:ext cx="642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2" name="Object 26"/>
            <p:cNvGraphicFramePr>
              <a:graphicFrameLocks noChangeAspect="1"/>
            </p:cNvGraphicFramePr>
            <p:nvPr/>
          </p:nvGraphicFramePr>
          <p:xfrm>
            <a:off x="2286" y="2600"/>
            <a:ext cx="620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5370830" imgH="2962910" progId="Equation.3">
                    <p:embed/>
                  </p:oleObj>
                </mc:Choice>
                <mc:Fallback>
                  <p:oleObj name="公式" r:id="rId13" imgW="5370830" imgH="296291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6" y="2600"/>
                          <a:ext cx="620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3" name="Object 27"/>
            <p:cNvGraphicFramePr>
              <a:graphicFrameLocks noChangeAspect="1"/>
            </p:cNvGraphicFramePr>
            <p:nvPr/>
          </p:nvGraphicFramePr>
          <p:xfrm>
            <a:off x="1674" y="3252"/>
            <a:ext cx="596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5185410" imgH="2778125" progId="Equation.3">
                    <p:embed/>
                  </p:oleObj>
                </mc:Choice>
                <mc:Fallback>
                  <p:oleObj name="公式" r:id="rId15" imgW="5185410" imgH="2778125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4" y="3252"/>
                          <a:ext cx="596" cy="3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4" name="Object 28"/>
            <p:cNvGraphicFramePr>
              <a:graphicFrameLocks noChangeAspect="1"/>
            </p:cNvGraphicFramePr>
            <p:nvPr/>
          </p:nvGraphicFramePr>
          <p:xfrm>
            <a:off x="668" y="3208"/>
            <a:ext cx="596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5185410" imgH="2778125" progId="Equation.3">
                    <p:embed/>
                  </p:oleObj>
                </mc:Choice>
                <mc:Fallback>
                  <p:oleObj name="公式" r:id="rId17" imgW="5185410" imgH="2778125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8" y="3208"/>
                          <a:ext cx="596" cy="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74173" name="Text Box 29"/>
          <p:cNvSpPr txBox="1">
            <a:spLocks noChangeArrowheads="1"/>
          </p:cNvSpPr>
          <p:nvPr/>
        </p:nvSpPr>
        <p:spPr bwMode="auto">
          <a:xfrm>
            <a:off x="3394075" y="1346200"/>
            <a:ext cx="2762250" cy="41306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zh-CN" altLang="en-US" sz="32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</a:t>
            </a:r>
            <a:r>
              <a:rPr lang="en-US" altLang="zh-CN" sz="3200" i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320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200" i="1">
                <a:latin typeface="Times New Roman" panose="02020603050405020304" pitchFamily="18" charset="0"/>
              </a:rPr>
              <a:t>y</a:t>
            </a:r>
            <a:r>
              <a:rPr lang="fr-FR" altLang="zh-CN" sz="3200" i="1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fr-FR" altLang="zh-CN" sz="3200">
                <a:solidFill>
                  <a:srgbClr val="0066FF"/>
                </a:solidFill>
                <a:latin typeface="Times New Roman" panose="02020603050405020304" pitchFamily="18" charset="0"/>
              </a:rPr>
              <a:t>(</a:t>
            </a:r>
            <a:r>
              <a:rPr lang="fr-FR" altLang="zh-CN" sz="3200" i="1">
                <a:solidFill>
                  <a:srgbClr val="0066FF"/>
                </a:solidFill>
                <a:latin typeface="Times New Roman" panose="02020603050405020304" pitchFamily="18" charset="0"/>
              </a:rPr>
              <a:t>x</a:t>
            </a:r>
            <a:r>
              <a:rPr lang="fr-FR" altLang="zh-CN" sz="3200">
                <a:solidFill>
                  <a:srgbClr val="0066FF"/>
                </a:solidFill>
                <a:latin typeface="Times New Roman" panose="02020603050405020304" pitchFamily="18" charset="0"/>
              </a:rPr>
              <a:t>,</a:t>
            </a:r>
            <a:r>
              <a:rPr lang="fr-FR" altLang="zh-CN" sz="3200" i="1">
                <a:solidFill>
                  <a:srgbClr val="0066FF"/>
                </a:solidFill>
                <a:latin typeface="Times New Roman" panose="02020603050405020304" pitchFamily="18" charset="0"/>
              </a:rPr>
              <a:t>y</a:t>
            </a:r>
            <a:r>
              <a:rPr lang="fr-FR" altLang="zh-CN" sz="3200">
                <a:solidFill>
                  <a:srgbClr val="0066FF"/>
                </a:solidFill>
                <a:latin typeface="Times New Roman" panose="02020603050405020304" pitchFamily="18" charset="0"/>
              </a:rPr>
              <a:t>)</a:t>
            </a:r>
            <a:r>
              <a:rPr lang="fr-FR" altLang="zh-CN" sz="32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20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                    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320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</a:t>
            </a:r>
          </a:p>
          <a:p>
            <a:pPr eaLnBrk="1" hangingPunct="1">
              <a:buClrTx/>
            </a:pPr>
            <a:r>
              <a:rPr lang="en-US" altLang="zh-CN" sz="320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3200" i="1">
                <a:latin typeface="Times New Roman" panose="02020603050405020304" pitchFamily="18" charset="0"/>
              </a:rPr>
              <a:t>y</a:t>
            </a:r>
            <a:r>
              <a:rPr lang="zh-CN" altLang="en-US" sz="32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200" i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fr-FR" altLang="zh-CN" sz="3200" i="1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fr-FR" altLang="zh-CN" sz="3200">
                <a:solidFill>
                  <a:srgbClr val="0066FF"/>
                </a:solidFill>
                <a:latin typeface="Times New Roman" panose="02020603050405020304" pitchFamily="18" charset="0"/>
              </a:rPr>
              <a:t>(</a:t>
            </a:r>
            <a:r>
              <a:rPr lang="fr-FR" altLang="zh-CN" sz="3200" i="1">
                <a:solidFill>
                  <a:srgbClr val="0066FF"/>
                </a:solidFill>
                <a:latin typeface="Times New Roman" panose="02020603050405020304" pitchFamily="18" charset="0"/>
              </a:rPr>
              <a:t>x</a:t>
            </a:r>
            <a:r>
              <a:rPr lang="fr-FR" altLang="zh-CN" sz="3200">
                <a:solidFill>
                  <a:srgbClr val="0066FF"/>
                </a:solidFill>
                <a:latin typeface="Times New Roman" panose="02020603050405020304" pitchFamily="18" charset="0"/>
              </a:rPr>
              <a:t>,</a:t>
            </a:r>
            <a:r>
              <a:rPr lang="fr-FR" altLang="zh-CN" sz="3200" i="1">
                <a:solidFill>
                  <a:srgbClr val="0066FF"/>
                </a:solidFill>
                <a:latin typeface="Times New Roman" panose="02020603050405020304" pitchFamily="18" charset="0"/>
              </a:rPr>
              <a:t>y</a:t>
            </a:r>
            <a:r>
              <a:rPr lang="fr-FR" altLang="zh-CN" sz="3200">
                <a:solidFill>
                  <a:srgbClr val="0066FF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buClrTx/>
            </a:pPr>
            <a:r>
              <a:rPr lang="en-US" altLang="zh-CN" sz="3200">
                <a:latin typeface="Times New Roman" panose="02020603050405020304" pitchFamily="18" charset="0"/>
                <a:sym typeface="Symbol" panose="05050102010706020507" pitchFamily="18" charset="2"/>
              </a:rPr>
              <a:t>          </a:t>
            </a:r>
            <a:r>
              <a:rPr lang="en-US" altLang="zh-CN" sz="3200">
                <a:solidFill>
                  <a:srgbClr val="00B05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                             </a:t>
            </a:r>
          </a:p>
          <a:p>
            <a:pPr eaLnBrk="1" hangingPunct="1">
              <a:buClrTx/>
            </a:pPr>
            <a:r>
              <a:rPr lang="zh-CN" altLang="en-US" sz="32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</a:t>
            </a:r>
            <a:r>
              <a:rPr lang="en-US" altLang="zh-CN" sz="3200" i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320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3200" i="1">
                <a:latin typeface="Times New Roman" panose="02020603050405020304" pitchFamily="18" charset="0"/>
              </a:rPr>
              <a:t>y</a:t>
            </a:r>
            <a:r>
              <a:rPr lang="fr-FR" altLang="zh-CN" sz="3200" i="1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fr-FR" altLang="zh-CN" sz="3200">
                <a:solidFill>
                  <a:srgbClr val="0066FF"/>
                </a:solidFill>
                <a:latin typeface="Times New Roman" panose="02020603050405020304" pitchFamily="18" charset="0"/>
              </a:rPr>
              <a:t>(</a:t>
            </a:r>
            <a:r>
              <a:rPr lang="fr-FR" altLang="zh-CN" sz="3200" i="1">
                <a:solidFill>
                  <a:srgbClr val="0066FF"/>
                </a:solidFill>
                <a:latin typeface="Times New Roman" panose="02020603050405020304" pitchFamily="18" charset="0"/>
              </a:rPr>
              <a:t>x</a:t>
            </a:r>
            <a:r>
              <a:rPr lang="fr-FR" altLang="zh-CN" sz="3200">
                <a:solidFill>
                  <a:srgbClr val="0066FF"/>
                </a:solidFill>
                <a:latin typeface="Times New Roman" panose="02020603050405020304" pitchFamily="18" charset="0"/>
              </a:rPr>
              <a:t>,</a:t>
            </a:r>
            <a:r>
              <a:rPr lang="fr-FR" altLang="zh-CN" sz="3200" i="1">
                <a:solidFill>
                  <a:srgbClr val="0066FF"/>
                </a:solidFill>
                <a:latin typeface="Times New Roman" panose="02020603050405020304" pitchFamily="18" charset="0"/>
              </a:rPr>
              <a:t>y</a:t>
            </a:r>
            <a:r>
              <a:rPr lang="fr-FR" altLang="zh-CN" sz="3200">
                <a:solidFill>
                  <a:srgbClr val="0066FF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32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eaLnBrk="1" hangingPunct="1">
              <a:buClrTx/>
            </a:pPr>
            <a:r>
              <a:rPr lang="en-US" altLang="zh-CN" sz="3200">
                <a:solidFill>
                  <a:srgbClr val="00B0F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</a:t>
            </a:r>
          </a:p>
          <a:p>
            <a:pPr eaLnBrk="1" hangingPunct="1">
              <a:buClrTx/>
            </a:pPr>
            <a:r>
              <a:rPr lang="en-US" altLang="zh-CN" sz="320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fr-FR" altLang="zh-CN" sz="3200" i="1">
                <a:latin typeface="Times New Roman" panose="02020603050405020304" pitchFamily="18" charset="0"/>
              </a:rPr>
              <a:t>y</a:t>
            </a:r>
            <a:r>
              <a:rPr lang="en-US" altLang="zh-CN" sz="32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fr-FR" altLang="zh-CN" sz="3200" i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fr-FR" altLang="zh-CN" sz="3200" i="1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fr-FR" altLang="zh-CN" sz="3200">
                <a:solidFill>
                  <a:srgbClr val="0066FF"/>
                </a:solidFill>
                <a:latin typeface="Times New Roman" panose="02020603050405020304" pitchFamily="18" charset="0"/>
              </a:rPr>
              <a:t>(</a:t>
            </a:r>
            <a:r>
              <a:rPr lang="fr-FR" altLang="zh-CN" sz="3200" i="1">
                <a:solidFill>
                  <a:srgbClr val="0066FF"/>
                </a:solidFill>
                <a:latin typeface="Times New Roman" panose="02020603050405020304" pitchFamily="18" charset="0"/>
              </a:rPr>
              <a:t>x</a:t>
            </a:r>
            <a:r>
              <a:rPr lang="fr-FR" altLang="zh-CN" sz="3200">
                <a:solidFill>
                  <a:srgbClr val="0066FF"/>
                </a:solidFill>
                <a:latin typeface="Times New Roman" panose="02020603050405020304" pitchFamily="18" charset="0"/>
              </a:rPr>
              <a:t>,</a:t>
            </a:r>
            <a:r>
              <a:rPr lang="fr-FR" altLang="zh-CN" sz="3200" i="1">
                <a:solidFill>
                  <a:srgbClr val="0066FF"/>
                </a:solidFill>
                <a:latin typeface="Times New Roman" panose="02020603050405020304" pitchFamily="18" charset="0"/>
              </a:rPr>
              <a:t>y</a:t>
            </a:r>
            <a:r>
              <a:rPr lang="fr-FR" altLang="zh-CN" sz="3200">
                <a:solidFill>
                  <a:srgbClr val="0066FF"/>
                </a:solidFill>
                <a:latin typeface="Times New Roman" panose="02020603050405020304" pitchFamily="18" charset="0"/>
              </a:rPr>
              <a:t>)</a:t>
            </a:r>
            <a:endParaRPr kumimoji="1" lang="zh-CN" altLang="en-US" sz="3200" b="0"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3317" name="标题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>
                <a:latin typeface="Times New Roman" panose="02020603050405020304" pitchFamily="18" charset="0"/>
              </a:rPr>
              <a:t>多个量词的使用</a:t>
            </a:r>
            <a:endParaRPr lang="zh-CN" altLang="en-US"/>
          </a:p>
        </p:txBody>
      </p:sp>
      <p:sp>
        <p:nvSpPr>
          <p:cNvPr id="31" name="Text Box 29"/>
          <p:cNvSpPr txBox="1">
            <a:spLocks noChangeArrowheads="1"/>
          </p:cNvSpPr>
          <p:nvPr/>
        </p:nvSpPr>
        <p:spPr bwMode="auto">
          <a:xfrm>
            <a:off x="6062663" y="1346200"/>
            <a:ext cx="3055937" cy="41306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fr-FR" altLang="zh-CN" sz="3200">
                <a:latin typeface="Times New Roman" panose="02020603050405020304" pitchFamily="18" charset="0"/>
                <a:sym typeface="Symbol" panose="05050102010706020507" pitchFamily="18" charset="2"/>
              </a:rPr>
              <a:t>  </a:t>
            </a:r>
            <a:r>
              <a:rPr lang="en-US" altLang="zh-CN" sz="3200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zh-CN" altLang="en-US" sz="32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200" i="1">
                <a:solidFill>
                  <a:srgbClr val="FF0000"/>
                </a:solidFill>
                <a:latin typeface="Times New Roman" panose="02020603050405020304" pitchFamily="18" charset="0"/>
              </a:rPr>
              <a:t>y</a:t>
            </a:r>
            <a:r>
              <a:rPr lang="zh-CN" altLang="en-US" sz="320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200" i="1">
                <a:latin typeface="Times New Roman" panose="02020603050405020304" pitchFamily="18" charset="0"/>
              </a:rPr>
              <a:t>x</a:t>
            </a:r>
            <a:r>
              <a:rPr lang="fr-FR" altLang="zh-CN" sz="3200" i="1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fr-FR" altLang="zh-CN" sz="3200">
                <a:solidFill>
                  <a:srgbClr val="0066FF"/>
                </a:solidFill>
                <a:latin typeface="Times New Roman" panose="02020603050405020304" pitchFamily="18" charset="0"/>
              </a:rPr>
              <a:t>(</a:t>
            </a:r>
            <a:r>
              <a:rPr lang="fr-FR" altLang="zh-CN" sz="3200" i="1">
                <a:solidFill>
                  <a:srgbClr val="0066FF"/>
                </a:solidFill>
                <a:latin typeface="Times New Roman" panose="02020603050405020304" pitchFamily="18" charset="0"/>
              </a:rPr>
              <a:t>x</a:t>
            </a:r>
            <a:r>
              <a:rPr lang="fr-FR" altLang="zh-CN" sz="3200">
                <a:solidFill>
                  <a:srgbClr val="0066FF"/>
                </a:solidFill>
                <a:latin typeface="Times New Roman" panose="02020603050405020304" pitchFamily="18" charset="0"/>
              </a:rPr>
              <a:t>,</a:t>
            </a:r>
            <a:r>
              <a:rPr lang="fr-FR" altLang="zh-CN" sz="3200" i="1">
                <a:solidFill>
                  <a:srgbClr val="0066FF"/>
                </a:solidFill>
                <a:latin typeface="Times New Roman" panose="02020603050405020304" pitchFamily="18" charset="0"/>
              </a:rPr>
              <a:t>y</a:t>
            </a:r>
            <a:r>
              <a:rPr lang="fr-FR" altLang="zh-CN" sz="3200">
                <a:solidFill>
                  <a:srgbClr val="0066FF"/>
                </a:solidFill>
                <a:latin typeface="Times New Roman" panose="02020603050405020304" pitchFamily="18" charset="0"/>
              </a:rPr>
              <a:t>)</a:t>
            </a:r>
            <a:endParaRPr kumimoji="1" lang="zh-CN" altLang="en-US" sz="3200" b="0">
              <a:solidFill>
                <a:srgbClr val="0066FF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buClrTx/>
            </a:pPr>
            <a:r>
              <a:rPr lang="en-US" altLang="zh-CN" sz="320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    </a:t>
            </a:r>
          </a:p>
          <a:p>
            <a:pPr eaLnBrk="1" hangingPunct="1">
              <a:buClrTx/>
            </a:pPr>
            <a:r>
              <a:rPr lang="en-US" altLang="zh-CN" sz="3200">
                <a:latin typeface="Times New Roman" panose="02020603050405020304" pitchFamily="18" charset="0"/>
                <a:sym typeface="Symbol" panose="05050102010706020507" pitchFamily="18" charset="2"/>
              </a:rPr>
              <a:t>    </a:t>
            </a:r>
            <a:r>
              <a:rPr lang="en-US" altLang="zh-CN" sz="3200" i="1">
                <a:latin typeface="Times New Roman" panose="02020603050405020304" pitchFamily="18" charset="0"/>
              </a:rPr>
              <a:t>x</a:t>
            </a:r>
            <a:r>
              <a:rPr lang="zh-CN" altLang="en-US" sz="32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200" i="1">
                <a:solidFill>
                  <a:srgbClr val="FF0000"/>
                </a:solidFill>
                <a:latin typeface="Times New Roman" panose="02020603050405020304" pitchFamily="18" charset="0"/>
              </a:rPr>
              <a:t>y</a:t>
            </a:r>
            <a:r>
              <a:rPr lang="fr-FR" altLang="zh-CN" sz="3200" i="1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fr-FR" altLang="zh-CN" sz="3200">
                <a:solidFill>
                  <a:srgbClr val="0066FF"/>
                </a:solidFill>
                <a:latin typeface="Times New Roman" panose="02020603050405020304" pitchFamily="18" charset="0"/>
              </a:rPr>
              <a:t>(</a:t>
            </a:r>
            <a:r>
              <a:rPr lang="fr-FR" altLang="zh-CN" sz="3200" i="1">
                <a:solidFill>
                  <a:srgbClr val="0066FF"/>
                </a:solidFill>
                <a:latin typeface="Times New Roman" panose="02020603050405020304" pitchFamily="18" charset="0"/>
              </a:rPr>
              <a:t>x</a:t>
            </a:r>
            <a:r>
              <a:rPr lang="fr-FR" altLang="zh-CN" sz="3200">
                <a:solidFill>
                  <a:srgbClr val="0066FF"/>
                </a:solidFill>
                <a:latin typeface="Times New Roman" panose="02020603050405020304" pitchFamily="18" charset="0"/>
              </a:rPr>
              <a:t>,</a:t>
            </a:r>
            <a:r>
              <a:rPr lang="fr-FR" altLang="zh-CN" sz="3200" i="1">
                <a:solidFill>
                  <a:srgbClr val="0066FF"/>
                </a:solidFill>
                <a:latin typeface="Times New Roman" panose="02020603050405020304" pitchFamily="18" charset="0"/>
              </a:rPr>
              <a:t>y</a:t>
            </a:r>
            <a:r>
              <a:rPr lang="fr-FR" altLang="zh-CN" sz="3200">
                <a:solidFill>
                  <a:srgbClr val="0066FF"/>
                </a:solidFill>
                <a:latin typeface="Times New Roman" panose="02020603050405020304" pitchFamily="18" charset="0"/>
              </a:rPr>
              <a:t>)</a:t>
            </a:r>
            <a:endParaRPr lang="en-US" altLang="zh-CN" sz="3200">
              <a:solidFill>
                <a:srgbClr val="0066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buClrTx/>
            </a:pPr>
            <a:r>
              <a:rPr lang="en-US" altLang="zh-CN" sz="3200">
                <a:solidFill>
                  <a:srgbClr val="00B05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    </a:t>
            </a:r>
          </a:p>
          <a:p>
            <a:pPr eaLnBrk="1" hangingPunct="1">
              <a:buClrTx/>
            </a:pPr>
            <a:r>
              <a:rPr lang="zh-CN" altLang="en-US" sz="32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</a:t>
            </a:r>
            <a:r>
              <a:rPr lang="en-US" altLang="zh-CN" sz="3200" i="1">
                <a:solidFill>
                  <a:srgbClr val="FF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320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3200" i="1">
                <a:latin typeface="Times New Roman" panose="02020603050405020304" pitchFamily="18" charset="0"/>
              </a:rPr>
              <a:t>x</a:t>
            </a:r>
            <a:r>
              <a:rPr lang="fr-FR" altLang="zh-CN" sz="3200" i="1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fr-FR" altLang="zh-CN" sz="3200">
                <a:solidFill>
                  <a:srgbClr val="0066FF"/>
                </a:solidFill>
                <a:latin typeface="Times New Roman" panose="02020603050405020304" pitchFamily="18" charset="0"/>
              </a:rPr>
              <a:t>(</a:t>
            </a:r>
            <a:r>
              <a:rPr lang="fr-FR" altLang="zh-CN" sz="3200" i="1">
                <a:solidFill>
                  <a:srgbClr val="0066FF"/>
                </a:solidFill>
                <a:latin typeface="Times New Roman" panose="02020603050405020304" pitchFamily="18" charset="0"/>
              </a:rPr>
              <a:t>x</a:t>
            </a:r>
            <a:r>
              <a:rPr lang="fr-FR" altLang="zh-CN" sz="3200">
                <a:solidFill>
                  <a:srgbClr val="0066FF"/>
                </a:solidFill>
                <a:latin typeface="Times New Roman" panose="02020603050405020304" pitchFamily="18" charset="0"/>
              </a:rPr>
              <a:t>,</a:t>
            </a:r>
            <a:r>
              <a:rPr lang="fr-FR" altLang="zh-CN" sz="3200" i="1">
                <a:solidFill>
                  <a:srgbClr val="0066FF"/>
                </a:solidFill>
                <a:latin typeface="Times New Roman" panose="02020603050405020304" pitchFamily="18" charset="0"/>
              </a:rPr>
              <a:t>y</a:t>
            </a:r>
            <a:r>
              <a:rPr lang="fr-FR" altLang="zh-CN" sz="3200">
                <a:solidFill>
                  <a:srgbClr val="0066FF"/>
                </a:solidFill>
                <a:latin typeface="Times New Roman" panose="02020603050405020304" pitchFamily="18" charset="0"/>
              </a:rPr>
              <a:t>)</a:t>
            </a:r>
            <a:endParaRPr lang="en-US" altLang="zh-CN" sz="3200">
              <a:solidFill>
                <a:srgbClr val="0066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buClrTx/>
            </a:pPr>
            <a:r>
              <a:rPr lang="en-US" altLang="zh-CN" sz="3200">
                <a:solidFill>
                  <a:srgbClr val="00B0F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    </a:t>
            </a:r>
          </a:p>
          <a:p>
            <a:pPr eaLnBrk="1" hangingPunct="1">
              <a:buClrTx/>
            </a:pPr>
            <a:r>
              <a:rPr lang="fr-FR" altLang="zh-CN" sz="320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320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fr-FR" altLang="zh-CN" sz="3200" i="1">
                <a:latin typeface="Times New Roman" panose="02020603050405020304" pitchFamily="18" charset="0"/>
              </a:rPr>
              <a:t>x</a:t>
            </a:r>
            <a:r>
              <a:rPr lang="en-US" altLang="zh-CN" sz="32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fr-FR" altLang="zh-CN" sz="3200" i="1">
                <a:solidFill>
                  <a:srgbClr val="FF0000"/>
                </a:solidFill>
                <a:latin typeface="Times New Roman" panose="02020603050405020304" pitchFamily="18" charset="0"/>
              </a:rPr>
              <a:t>y</a:t>
            </a:r>
            <a:r>
              <a:rPr lang="fr-FR" altLang="zh-CN" sz="3200" i="1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fr-FR" altLang="zh-CN" sz="3200">
                <a:solidFill>
                  <a:srgbClr val="0066FF"/>
                </a:solidFill>
                <a:latin typeface="Times New Roman" panose="02020603050405020304" pitchFamily="18" charset="0"/>
              </a:rPr>
              <a:t>(</a:t>
            </a:r>
            <a:r>
              <a:rPr lang="fr-FR" altLang="zh-CN" sz="3200" i="1">
                <a:solidFill>
                  <a:srgbClr val="0066FF"/>
                </a:solidFill>
                <a:latin typeface="Times New Roman" panose="02020603050405020304" pitchFamily="18" charset="0"/>
              </a:rPr>
              <a:t>x</a:t>
            </a:r>
            <a:r>
              <a:rPr lang="fr-FR" altLang="zh-CN" sz="3200">
                <a:solidFill>
                  <a:srgbClr val="0066FF"/>
                </a:solidFill>
                <a:latin typeface="Times New Roman" panose="02020603050405020304" pitchFamily="18" charset="0"/>
              </a:rPr>
              <a:t>,</a:t>
            </a:r>
            <a:r>
              <a:rPr lang="fr-FR" altLang="zh-CN" sz="3200" i="1">
                <a:solidFill>
                  <a:srgbClr val="0066FF"/>
                </a:solidFill>
                <a:latin typeface="Times New Roman" panose="02020603050405020304" pitchFamily="18" charset="0"/>
              </a:rPr>
              <a:t>y</a:t>
            </a:r>
            <a:r>
              <a:rPr lang="fr-FR" altLang="zh-CN" sz="3200">
                <a:latin typeface="Times New Roman" panose="02020603050405020304" pitchFamily="18" charset="0"/>
              </a:rPr>
              <a:t>)</a:t>
            </a:r>
            <a:endParaRPr kumimoji="1" lang="zh-CN" altLang="en-US" sz="3200" b="0"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9" name="圆柱体 1"/>
          <p:cNvSpPr/>
          <p:nvPr/>
        </p:nvSpPr>
        <p:spPr>
          <a:xfrm flipH="1">
            <a:off x="5867400" y="1989138"/>
            <a:ext cx="576263" cy="2901950"/>
          </a:xfrm>
          <a:prstGeom prst="can">
            <a:avLst>
              <a:gd name="adj" fmla="val 19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4173" grpId="0" animBg="1"/>
      <p:bldP spid="3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6588224" y="6309320"/>
            <a:ext cx="2133600" cy="476250"/>
          </a:xfrm>
          <a:noFill/>
        </p:spPr>
        <p:txBody>
          <a:bodyPr/>
          <a:lstStyle/>
          <a:p>
            <a:pPr algn="r"/>
            <a:fld id="{76A69556-91E9-4815-810F-9288DC2ECE48}" type="slidenum">
              <a:rPr lang="zh-CN" altLang="en-US"/>
              <a:t>41</a:t>
            </a:fld>
            <a:endParaRPr lang="en-US" altLang="zh-CN"/>
          </a:p>
        </p:txBody>
      </p:sp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消去</a:t>
            </a:r>
            <a:r>
              <a:rPr lang="en-US" altLang="zh-CN" dirty="0"/>
              <a:t>(</a:t>
            </a:r>
            <a:r>
              <a:rPr lang="zh-CN" altLang="en-US" dirty="0"/>
              <a:t>添加</a:t>
            </a:r>
            <a:r>
              <a:rPr lang="en-US" altLang="zh-CN" dirty="0"/>
              <a:t>)</a:t>
            </a:r>
            <a:r>
              <a:rPr lang="zh-CN" altLang="en-US" dirty="0"/>
              <a:t>量词的规则</a:t>
            </a:r>
          </a:p>
        </p:txBody>
      </p:sp>
      <p:sp>
        <p:nvSpPr>
          <p:cNvPr id="780295" name="Text Box 7"/>
          <p:cNvSpPr txBox="1">
            <a:spLocks noChangeArrowheads="1"/>
          </p:cNvSpPr>
          <p:nvPr/>
        </p:nvSpPr>
        <p:spPr bwMode="auto">
          <a:xfrm>
            <a:off x="933450" y="3924300"/>
            <a:ext cx="8610600" cy="6477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3200" dirty="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U : Universal                    E : Existential    </a:t>
            </a:r>
            <a:br>
              <a:rPr kumimoji="1" lang="en-US" altLang="zh-CN" sz="3200" dirty="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</a:br>
            <a:r>
              <a:rPr kumimoji="1" lang="en-US" altLang="zh-CN" sz="3200" dirty="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S : Specification               G : Generalization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55576" y="1570827"/>
            <a:ext cx="476970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(1) </a:t>
            </a:r>
            <a:r>
              <a:rPr lang="zh-CN" altLang="en-US" b="1" dirty="0">
                <a:latin typeface="Times New Roman" panose="02020603050405020304" pitchFamily="18" charset="0"/>
              </a:rPr>
              <a:t>全称指定规则 </a:t>
            </a:r>
            <a:r>
              <a:rPr lang="en-US" altLang="zh-CN" b="1" dirty="0">
                <a:latin typeface="Times New Roman" panose="02020603050405020304" pitchFamily="18" charset="0"/>
              </a:rPr>
              <a:t>US </a:t>
            </a:r>
            <a:endParaRPr lang="zh-CN" altLang="en-US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(2) </a:t>
            </a:r>
            <a:r>
              <a:rPr lang="zh-CN" altLang="en-US" b="1" dirty="0">
                <a:latin typeface="Times New Roman" panose="02020603050405020304" pitchFamily="18" charset="0"/>
              </a:rPr>
              <a:t>全称推广规则 </a:t>
            </a:r>
            <a:r>
              <a:rPr lang="en-US" altLang="zh-CN" b="1" dirty="0">
                <a:latin typeface="Times New Roman" panose="02020603050405020304" pitchFamily="18" charset="0"/>
              </a:rPr>
              <a:t>UG </a:t>
            </a:r>
            <a:endParaRPr lang="zh-CN" altLang="en-US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(3) </a:t>
            </a:r>
            <a:r>
              <a:rPr lang="zh-CN" altLang="en-US" b="1" dirty="0">
                <a:latin typeface="Times New Roman" panose="02020603050405020304" pitchFamily="18" charset="0"/>
              </a:rPr>
              <a:t>存在指定规则 </a:t>
            </a:r>
            <a:r>
              <a:rPr lang="en-US" altLang="zh-CN" b="1" dirty="0">
                <a:latin typeface="Times New Roman" panose="02020603050405020304" pitchFamily="18" charset="0"/>
              </a:rPr>
              <a:t>ES </a:t>
            </a:r>
            <a:endParaRPr lang="zh-CN" altLang="en-US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(4) </a:t>
            </a:r>
            <a:r>
              <a:rPr lang="zh-CN" altLang="en-US" b="1" dirty="0">
                <a:latin typeface="Times New Roman" panose="02020603050405020304" pitchFamily="18" charset="0"/>
              </a:rPr>
              <a:t>存在推广规则 </a:t>
            </a:r>
            <a:r>
              <a:rPr lang="en-US" altLang="zh-CN" b="1" dirty="0">
                <a:latin typeface="Times New Roman" panose="02020603050405020304" pitchFamily="18" charset="0"/>
              </a:rPr>
              <a:t>EG </a:t>
            </a:r>
            <a:endParaRPr lang="zh-CN" altLang="en-US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780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0295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6545617" y="6290705"/>
            <a:ext cx="2133600" cy="476250"/>
          </a:xfrm>
          <a:noFill/>
        </p:spPr>
        <p:txBody>
          <a:bodyPr/>
          <a:lstStyle/>
          <a:p>
            <a:pPr algn="r"/>
            <a:fld id="{C6DD59A5-0B8F-44FA-BF61-5FEE73E74696}" type="slidenum">
              <a:rPr lang="zh-CN" altLang="en-US"/>
              <a:t>42</a:t>
            </a:fld>
            <a:endParaRPr lang="en-US" altLang="zh-CN"/>
          </a:p>
        </p:txBody>
      </p:sp>
      <p:sp>
        <p:nvSpPr>
          <p:cNvPr id="890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消去</a:t>
            </a:r>
            <a:r>
              <a:rPr lang="en-US" altLang="zh-CN"/>
              <a:t>(</a:t>
            </a:r>
            <a:r>
              <a:rPr lang="zh-CN" altLang="en-US"/>
              <a:t>添加</a:t>
            </a:r>
            <a:r>
              <a:rPr lang="en-US" altLang="zh-CN"/>
              <a:t>)</a:t>
            </a:r>
            <a:r>
              <a:rPr lang="zh-CN" altLang="en-US"/>
              <a:t>量词的规则</a:t>
            </a:r>
          </a:p>
        </p:txBody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1340768"/>
            <a:ext cx="6257379" cy="2592288"/>
          </a:xfrm>
        </p:spPr>
        <p:txBody>
          <a:bodyPr/>
          <a:lstStyle/>
          <a:p>
            <a:pPr marL="762000" indent="-76200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dirty="0"/>
              <a:t>(1) </a:t>
            </a:r>
            <a:r>
              <a:rPr lang="zh-CN" altLang="en-US" dirty="0"/>
              <a:t>全称指定规则 </a:t>
            </a:r>
            <a:r>
              <a:rPr lang="en-US" altLang="zh-CN" dirty="0"/>
              <a:t>US </a:t>
            </a:r>
          </a:p>
          <a:p>
            <a:pPr marL="762000" indent="-762000"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     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</a:t>
            </a:r>
            <a:r>
              <a:rPr lang="en-US" altLang="zh-CN" dirty="0">
                <a:solidFill>
                  <a:srgbClr val="0066FF"/>
                </a:solidFill>
                <a:cs typeface="Times New Roman" panose="02020603050405020304" pitchFamily="18" charset="0"/>
              </a:rPr>
              <a:t>xA(x)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0066FF"/>
                </a:solidFill>
                <a:cs typeface="Times New Roman" panose="02020603050405020304" pitchFamily="18" charset="0"/>
              </a:rPr>
              <a:t> A(c) </a:t>
            </a:r>
          </a:p>
          <a:p>
            <a:pPr marL="762000" indent="-762000"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dirty="0">
                <a:solidFill>
                  <a:srgbClr val="0066FF"/>
                </a:solidFill>
                <a:cs typeface="Times New Roman" panose="02020603050405020304" pitchFamily="18" charset="0"/>
              </a:rPr>
              <a:t>      </a:t>
            </a:r>
            <a:r>
              <a:rPr lang="zh-CN" altLang="en-US" dirty="0">
                <a:cs typeface="Times New Roman" panose="02020603050405020304" pitchFamily="18" charset="0"/>
              </a:rPr>
              <a:t>其中，</a:t>
            </a:r>
            <a:r>
              <a:rPr lang="en-US" altLang="zh-CN" dirty="0">
                <a:cs typeface="Times New Roman" panose="02020603050405020304" pitchFamily="18" charset="0"/>
              </a:rPr>
              <a:t>c</a:t>
            </a:r>
            <a:r>
              <a:rPr lang="zh-CN" altLang="en-US" dirty="0"/>
              <a:t>是论域中某个任意客体</a:t>
            </a:r>
            <a:endParaRPr lang="en-US" altLang="zh-CN" dirty="0"/>
          </a:p>
          <a:p>
            <a:pPr marL="762000" indent="-762000" eaLnBrk="1" hangingPunct="1"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en-US" dirty="0">
                <a:latin typeface="宋体" panose="02010600030101010101" pitchFamily="2" charset="-122"/>
              </a:rPr>
              <a:t>如果个体域的所有元素都具有性质</a:t>
            </a:r>
            <a:r>
              <a:rPr lang="en-US" altLang="zh-CN" dirty="0"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宋体" panose="02010600030101010101" pitchFamily="2" charset="-122"/>
              </a:rPr>
              <a:t>，则个体域中的任一个元素具有性质</a:t>
            </a:r>
            <a:r>
              <a:rPr lang="en-US" altLang="zh-CN" dirty="0"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706966" y="3936541"/>
            <a:ext cx="6905451" cy="2592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62000" indent="-762000" eaLnBrk="1" hangingPunct="1">
              <a:buClrTx/>
              <a:buFontTx/>
              <a:buNone/>
            </a:pPr>
            <a:r>
              <a:rPr lang="en-US" altLang="zh-CN" dirty="0"/>
              <a:t>(2) </a:t>
            </a:r>
            <a:r>
              <a:rPr lang="zh-CN" altLang="en-US" dirty="0"/>
              <a:t>全称推广规则 </a:t>
            </a:r>
            <a:r>
              <a:rPr lang="en-US" altLang="zh-CN" dirty="0"/>
              <a:t>UG </a:t>
            </a:r>
          </a:p>
          <a:p>
            <a:pPr marL="762000" indent="-762000" eaLnBrk="1" hangingPunct="1">
              <a:buClrTx/>
              <a:buFontTx/>
              <a:buNone/>
            </a:pPr>
            <a:r>
              <a:rPr lang="en-US" altLang="zh-CN" dirty="0">
                <a:solidFill>
                  <a:srgbClr val="0066FF"/>
                </a:solidFill>
                <a:cs typeface="Times New Roman" panose="02020603050405020304" pitchFamily="18" charset="0"/>
              </a:rPr>
              <a:t>      A(c)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0066FF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</a:t>
            </a:r>
            <a:r>
              <a:rPr lang="en-US" altLang="zh-CN" dirty="0">
                <a:solidFill>
                  <a:srgbClr val="0066FF"/>
                </a:solidFill>
                <a:cs typeface="Times New Roman" panose="02020603050405020304" pitchFamily="18" charset="0"/>
              </a:rPr>
              <a:t>xA(x)</a:t>
            </a:r>
          </a:p>
          <a:p>
            <a:pPr marL="762000" indent="-762000" eaLnBrk="1" hangingPunct="1">
              <a:buClrTx/>
              <a:buFontTx/>
              <a:buNone/>
            </a:pPr>
            <a:r>
              <a:rPr lang="en-US" altLang="zh-CN" dirty="0">
                <a:cs typeface="Times New Roman" panose="02020603050405020304" pitchFamily="18" charset="0"/>
              </a:rPr>
              <a:t>     </a:t>
            </a:r>
            <a:r>
              <a:rPr lang="zh-CN" altLang="en-US" dirty="0">
                <a:cs typeface="Times New Roman" panose="02020603050405020304" pitchFamily="18" charset="0"/>
              </a:rPr>
              <a:t>注意：</a:t>
            </a:r>
            <a:r>
              <a:rPr lang="zh-CN" altLang="en-US" dirty="0"/>
              <a:t>必须能够证明对于每个</a:t>
            </a:r>
            <a:r>
              <a:rPr lang="en-US" altLang="zh-CN" dirty="0"/>
              <a:t>c, A(c)</a:t>
            </a:r>
            <a:r>
              <a:rPr lang="zh-CN" altLang="en-US" dirty="0"/>
              <a:t>都为真</a:t>
            </a:r>
            <a:r>
              <a:rPr lang="en-US" altLang="zh-CN" dirty="0"/>
              <a:t>.</a:t>
            </a:r>
            <a:r>
              <a:rPr lang="en-US" altLang="zh-CN" dirty="0">
                <a:latin typeface="宋体" panose="02010600030101010101" pitchFamily="2" charset="-122"/>
              </a:rPr>
              <a:t> </a:t>
            </a:r>
            <a:endParaRPr lang="zh-CN" altLang="en-US" dirty="0">
              <a:latin typeface="宋体" panose="02010600030101010101" pitchFamily="2" charset="-122"/>
            </a:endParaRPr>
          </a:p>
          <a:p>
            <a:pPr marL="762000" indent="-762000" eaLnBrk="1" hangingPunct="1">
              <a:buFont typeface="Wingdings" panose="05000000000000000000" pitchFamily="2" charset="2"/>
              <a:buChar char="u"/>
            </a:pPr>
            <a:r>
              <a:rPr lang="zh-CN" altLang="en-US" dirty="0">
                <a:latin typeface="宋体" panose="02010600030101010101" pitchFamily="2" charset="-122"/>
              </a:rPr>
              <a:t>如果个体域中任意一个个体都具有性质</a:t>
            </a:r>
            <a:r>
              <a:rPr lang="en-US" altLang="zh-CN" dirty="0"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宋体" panose="02010600030101010101" pitchFamily="2" charset="-122"/>
              </a:rPr>
              <a:t>，则个体域中的全体个体都具有性质</a:t>
            </a:r>
            <a:r>
              <a:rPr lang="en-US" altLang="zh-CN" dirty="0"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宋体" panose="02010600030101010101" pitchFamily="2" charset="-122"/>
              </a:rPr>
              <a:t>。</a:t>
            </a:r>
            <a:endParaRPr lang="en-US" altLang="zh-CN" dirty="0">
              <a:solidFill>
                <a:schemeClr val="hlink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6571129" y="6319108"/>
            <a:ext cx="2133600" cy="476250"/>
          </a:xfrm>
          <a:noFill/>
        </p:spPr>
        <p:txBody>
          <a:bodyPr/>
          <a:lstStyle/>
          <a:p>
            <a:pPr algn="r"/>
            <a:fld id="{7CB2829C-4A4A-4815-A502-41A866201443}" type="slidenum">
              <a:rPr lang="zh-CN" altLang="en-US"/>
              <a:t>43</a:t>
            </a:fld>
            <a:endParaRPr lang="en-US" altLang="zh-CN"/>
          </a:p>
        </p:txBody>
      </p:sp>
      <p:sp>
        <p:nvSpPr>
          <p:cNvPr id="911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消去</a:t>
            </a:r>
            <a:r>
              <a:rPr lang="en-US" altLang="zh-CN"/>
              <a:t>(</a:t>
            </a:r>
            <a:r>
              <a:rPr lang="zh-CN" altLang="en-US"/>
              <a:t>添加</a:t>
            </a:r>
            <a:r>
              <a:rPr lang="en-US" altLang="zh-CN"/>
              <a:t>)</a:t>
            </a:r>
            <a:r>
              <a:rPr lang="zh-CN" altLang="en-US"/>
              <a:t>量词的规则</a:t>
            </a:r>
          </a:p>
        </p:txBody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0926" y="1352550"/>
            <a:ext cx="6587003" cy="2313881"/>
          </a:xfrm>
        </p:spPr>
        <p:txBody>
          <a:bodyPr/>
          <a:lstStyle/>
          <a:p>
            <a:pPr marL="762000" indent="-762000" eaLnBrk="1" hangingPunct="1">
              <a:buClrTx/>
              <a:buSzTx/>
              <a:buFontTx/>
              <a:buNone/>
            </a:pPr>
            <a:r>
              <a:rPr lang="en-US" altLang="zh-CN" dirty="0"/>
              <a:t>3) </a:t>
            </a:r>
            <a:r>
              <a:rPr lang="zh-CN" altLang="en-US" dirty="0"/>
              <a:t>存在指定规则 </a:t>
            </a:r>
            <a:r>
              <a:rPr lang="en-US" altLang="zh-CN" dirty="0"/>
              <a:t>ES </a:t>
            </a:r>
          </a:p>
          <a:p>
            <a:pPr marL="762000" indent="-762000" eaLnBrk="1" hangingPunct="1">
              <a:buClrTx/>
              <a:buSzTx/>
              <a:buFontTx/>
              <a:buNone/>
            </a:pP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    </a:t>
            </a:r>
            <a:r>
              <a:rPr lang="en-US" altLang="zh-CN" dirty="0">
                <a:solidFill>
                  <a:srgbClr val="0066FF"/>
                </a:solidFill>
                <a:cs typeface="Times New Roman" panose="02020603050405020304" pitchFamily="18" charset="0"/>
              </a:rPr>
              <a:t>xA(x)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0066FF"/>
                </a:solidFill>
                <a:cs typeface="Times New Roman" panose="02020603050405020304" pitchFamily="18" charset="0"/>
              </a:rPr>
              <a:t> A(c) </a:t>
            </a:r>
          </a:p>
          <a:p>
            <a:pPr marL="762000" indent="-762000" eaLnBrk="1" hangingPunct="1">
              <a:buClrTx/>
              <a:buSzTx/>
              <a:buFontTx/>
              <a:buNone/>
            </a:pPr>
            <a:r>
              <a:rPr lang="en-US" altLang="zh-CN" dirty="0">
                <a:solidFill>
                  <a:srgbClr val="0066FF"/>
                </a:solidFill>
                <a:cs typeface="Times New Roman" panose="02020603050405020304" pitchFamily="18" charset="0"/>
              </a:rPr>
              <a:t>    </a:t>
            </a:r>
            <a:r>
              <a:rPr lang="zh-CN" altLang="en-US" dirty="0">
                <a:cs typeface="Times New Roman" panose="02020603050405020304" pitchFamily="18" charset="0"/>
              </a:rPr>
              <a:t>其中，</a:t>
            </a:r>
            <a:r>
              <a:rPr lang="en-US" altLang="zh-CN" dirty="0">
                <a:cs typeface="Times New Roman" panose="02020603050405020304" pitchFamily="18" charset="0"/>
              </a:rPr>
              <a:t> c</a:t>
            </a:r>
            <a:r>
              <a:rPr lang="zh-CN" altLang="en-US" dirty="0"/>
              <a:t>是论域中使</a:t>
            </a:r>
            <a:r>
              <a:rPr lang="en-US" altLang="zh-CN" dirty="0"/>
              <a:t>A(c)</a:t>
            </a:r>
            <a:r>
              <a:rPr lang="zh-CN" altLang="en-US" dirty="0"/>
              <a:t>为真的客体</a:t>
            </a:r>
            <a:endParaRPr lang="en-US" altLang="zh-CN" dirty="0"/>
          </a:p>
          <a:p>
            <a:pPr marL="762000" indent="-762000" eaLnBrk="1" hangingPunct="1">
              <a:buFont typeface="Wingdings" panose="05000000000000000000" pitchFamily="2" charset="2"/>
              <a:buChar char="u"/>
            </a:pPr>
            <a:r>
              <a:rPr lang="zh-CN" altLang="en-US" dirty="0">
                <a:latin typeface="宋体" panose="02010600030101010101" pitchFamily="2" charset="-122"/>
              </a:rPr>
              <a:t>如果个体域中存在有性质</a:t>
            </a:r>
            <a:r>
              <a:rPr lang="en-US" altLang="zh-CN" dirty="0"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宋体" panose="02010600030101010101" pitchFamily="2" charset="-122"/>
              </a:rPr>
              <a:t>的元素，</a:t>
            </a:r>
            <a:endParaRPr lang="en-US" altLang="zh-CN" dirty="0">
              <a:latin typeface="宋体" panose="02010600030101010101" pitchFamily="2" charset="-122"/>
            </a:endParaRPr>
          </a:p>
          <a:p>
            <a:pPr marL="0" indent="0" eaLnBrk="1" hangingPunct="1"/>
            <a:r>
              <a:rPr lang="en-US" altLang="zh-CN" dirty="0">
                <a:latin typeface="宋体" panose="02010600030101010101" pitchFamily="2" charset="-122"/>
              </a:rPr>
              <a:t>     </a:t>
            </a:r>
            <a:r>
              <a:rPr lang="zh-CN" altLang="en-US" dirty="0">
                <a:latin typeface="宋体" panose="02010600030101010101" pitchFamily="2" charset="-122"/>
              </a:rPr>
              <a:t>则个体域中必有某一元素</a:t>
            </a:r>
            <a:r>
              <a:rPr lang="en-US" altLang="zh-CN" dirty="0">
                <a:cs typeface="Times New Roman" panose="02020603050405020304" pitchFamily="18" charset="0"/>
              </a:rPr>
              <a:t>c</a:t>
            </a:r>
            <a:r>
              <a:rPr lang="zh-CN" altLang="en-US" dirty="0">
                <a:latin typeface="宋体" panose="02010600030101010101" pitchFamily="2" charset="-122"/>
              </a:rPr>
              <a:t>具有性质</a:t>
            </a:r>
            <a:r>
              <a:rPr lang="en-US" altLang="zh-CN" dirty="0"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宋体" panose="02010600030101010101" pitchFamily="2" charset="-122"/>
              </a:rPr>
              <a:t>.</a:t>
            </a:r>
            <a:br>
              <a:rPr lang="en-US" altLang="zh-CN" dirty="0">
                <a:latin typeface="宋体" panose="02010600030101010101" pitchFamily="2" charset="-122"/>
              </a:rPr>
            </a:br>
            <a:endParaRPr lang="en-US" altLang="zh-CN" dirty="0">
              <a:latin typeface="宋体" panose="02010600030101010101" pitchFamily="2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093054" y="3777721"/>
            <a:ext cx="7026275" cy="2313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62000" indent="-762000">
              <a:spcBef>
                <a:spcPct val="50000"/>
              </a:spcBef>
              <a:buClrTx/>
              <a:buFontTx/>
              <a:buNone/>
            </a:pPr>
            <a:r>
              <a:rPr lang="en-US" altLang="zh-CN" dirty="0"/>
              <a:t>4) </a:t>
            </a:r>
            <a:r>
              <a:rPr lang="zh-CN" altLang="en-US" dirty="0"/>
              <a:t>存在推广规则 </a:t>
            </a:r>
            <a:r>
              <a:rPr lang="en-US" altLang="zh-CN" dirty="0"/>
              <a:t>EG </a:t>
            </a:r>
          </a:p>
          <a:p>
            <a:pPr marL="762000" indent="-762000">
              <a:lnSpc>
                <a:spcPts val="2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     </a:t>
            </a:r>
            <a:r>
              <a:rPr lang="en-US" altLang="zh-CN" dirty="0">
                <a:solidFill>
                  <a:srgbClr val="0066FF"/>
                </a:solidFill>
                <a:cs typeface="Times New Roman" panose="02020603050405020304" pitchFamily="18" charset="0"/>
              </a:rPr>
              <a:t>A(c)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 </a:t>
            </a:r>
            <a:r>
              <a:rPr lang="en-US" altLang="zh-CN" dirty="0">
                <a:solidFill>
                  <a:srgbClr val="0066FF"/>
                </a:solidFill>
                <a:cs typeface="Times New Roman" panose="02020603050405020304" pitchFamily="18" charset="0"/>
              </a:rPr>
              <a:t>xA(x)</a:t>
            </a:r>
          </a:p>
          <a:p>
            <a:pPr marL="762000" indent="-762000" eaLnBrk="1" hangingPunct="1">
              <a:lnSpc>
                <a:spcPts val="2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solidFill>
                  <a:schemeClr val="hlink"/>
                </a:solidFill>
                <a:cs typeface="Times New Roman" panose="02020603050405020304" pitchFamily="18" charset="0"/>
              </a:rPr>
              <a:t>    </a:t>
            </a:r>
            <a:r>
              <a:rPr lang="zh-CN" altLang="en-US" dirty="0">
                <a:cs typeface="Times New Roman" panose="02020603050405020304" pitchFamily="18" charset="0"/>
              </a:rPr>
              <a:t>其中，</a:t>
            </a:r>
            <a:r>
              <a:rPr lang="en-US" altLang="zh-CN" dirty="0">
                <a:cs typeface="Times New Roman" panose="02020603050405020304" pitchFamily="18" charset="0"/>
              </a:rPr>
              <a:t> c</a:t>
            </a:r>
            <a:r>
              <a:rPr lang="zh-CN" altLang="en-US" dirty="0"/>
              <a:t>是论域中使</a:t>
            </a:r>
            <a:r>
              <a:rPr lang="en-US" altLang="zh-CN" dirty="0"/>
              <a:t>A(c)</a:t>
            </a:r>
            <a:r>
              <a:rPr lang="zh-CN" altLang="en-US" dirty="0"/>
              <a:t>为真的客体</a:t>
            </a:r>
            <a:r>
              <a:rPr lang="en-US" altLang="zh-CN" dirty="0">
                <a:latin typeface="宋体" panose="02010600030101010101" pitchFamily="2" charset="-122"/>
              </a:rPr>
              <a:t>   </a:t>
            </a:r>
            <a:endParaRPr lang="zh-CN" altLang="en-US" dirty="0">
              <a:latin typeface="宋体" panose="02010600030101010101" pitchFamily="2" charset="-122"/>
            </a:endParaRPr>
          </a:p>
          <a:p>
            <a:pPr marL="762000" indent="-762000"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en-US" dirty="0">
                <a:latin typeface="宋体" panose="02010600030101010101" pitchFamily="2" charset="-122"/>
              </a:rPr>
              <a:t>如果个体域中某一元素</a:t>
            </a:r>
            <a:r>
              <a:rPr lang="en-US" altLang="zh-CN" dirty="0">
                <a:cs typeface="Times New Roman" panose="02020603050405020304" pitchFamily="18" charset="0"/>
              </a:rPr>
              <a:t>c</a:t>
            </a:r>
            <a:r>
              <a:rPr lang="zh-CN" altLang="en-US" dirty="0">
                <a:latin typeface="宋体" panose="02010600030101010101" pitchFamily="2" charset="-122"/>
              </a:rPr>
              <a:t>具有性质</a:t>
            </a:r>
            <a:r>
              <a:rPr lang="en-US" altLang="zh-CN" dirty="0"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br>
              <a:rPr lang="zh-CN" altLang="en-US" dirty="0">
                <a:latin typeface="宋体" panose="02010600030101010101" pitchFamily="2" charset="-122"/>
              </a:rPr>
            </a:br>
            <a:r>
              <a:rPr lang="zh-CN" altLang="en-US" dirty="0">
                <a:latin typeface="宋体" panose="02010600030101010101" pitchFamily="2" charset="-122"/>
              </a:rPr>
              <a:t>则个体域中存在着具有性质</a:t>
            </a:r>
            <a:r>
              <a:rPr lang="en-US" altLang="zh-CN" dirty="0"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宋体" panose="02010600030101010101" pitchFamily="2" charset="-122"/>
              </a:rPr>
              <a:t>的元素。</a:t>
            </a:r>
          </a:p>
          <a:p>
            <a:pPr marL="762000" indent="-762000">
              <a:spcBef>
                <a:spcPct val="50000"/>
              </a:spcBef>
              <a:buClrTx/>
              <a:buFontTx/>
              <a:buNone/>
            </a:pPr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E291595-4EC9-41F8-B06B-B70ED07842D1}" type="slidenum">
              <a:rPr lang="en-US" altLang="zh-CN" sz="1400" b="0"/>
              <a:t>44</a:t>
            </a:fld>
            <a:endParaRPr lang="en-US" altLang="zh-CN" sz="1400" b="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自然推理系统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 baseline="-25000">
                <a:latin typeface="Palace Script MT" panose="030303020206070C0B05" pitchFamily="66" charset="0"/>
              </a:rPr>
              <a:t>L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9113" y="1241425"/>
            <a:ext cx="8229600" cy="5211763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5.3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自然推理系统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solidFill>
                  <a:srgbClr val="A50021"/>
                </a:solidFill>
                <a:latin typeface="Palace Script MT" panose="030303020206070C0B05" pitchFamily="66" charset="0"/>
              </a:rPr>
              <a:t>L   </a:t>
            </a:r>
            <a:r>
              <a:rPr lang="zh-CN" altLang="en-US" dirty="0">
                <a:latin typeface="Times New Roman" panose="02020603050405020304" pitchFamily="18" charset="0"/>
              </a:rPr>
              <a:t>定义如下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1. </a:t>
            </a:r>
            <a:r>
              <a:rPr lang="zh-CN" altLang="en-US" dirty="0">
                <a:latin typeface="Times New Roman" panose="02020603050405020304" pitchFamily="18" charset="0"/>
              </a:rPr>
              <a:t>字母表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同一阶语言</a:t>
            </a:r>
            <a:r>
              <a:rPr lang="en-US" altLang="zh-CN" dirty="0">
                <a:latin typeface="Palace Script MT" panose="030303020206070C0B05" pitchFamily="66" charset="0"/>
              </a:rPr>
              <a:t>L   </a:t>
            </a:r>
            <a:r>
              <a:rPr lang="zh-CN" altLang="en-US" dirty="0">
                <a:latin typeface="Times New Roman" panose="02020603050405020304" pitchFamily="18" charset="0"/>
              </a:rPr>
              <a:t>的字母表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2. </a:t>
            </a:r>
            <a:r>
              <a:rPr lang="zh-CN" altLang="en-US" dirty="0">
                <a:latin typeface="Times New Roman" panose="02020603050405020304" pitchFamily="18" charset="0"/>
              </a:rPr>
              <a:t>合式公式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同</a:t>
            </a:r>
            <a:r>
              <a:rPr lang="en-US" altLang="zh-CN" dirty="0">
                <a:latin typeface="Palace Script MT" panose="030303020206070C0B05" pitchFamily="66" charset="0"/>
              </a:rPr>
              <a:t>L  </a:t>
            </a:r>
            <a:r>
              <a:rPr lang="zh-CN" altLang="en-US" dirty="0">
                <a:latin typeface="Times New Roman" panose="02020603050405020304" pitchFamily="18" charset="0"/>
              </a:rPr>
              <a:t>的合式公式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3. </a:t>
            </a:r>
            <a:r>
              <a:rPr lang="zh-CN" altLang="en-US" dirty="0">
                <a:latin typeface="Times New Roman" panose="02020603050405020304" pitchFamily="18" charset="0"/>
              </a:rPr>
              <a:t>推理规则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前提引入规则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结论引入规则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latin typeface="Times New Roman" panose="02020603050405020304" pitchFamily="18" charset="0"/>
              </a:rPr>
              <a:t>置换规则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(4) </a:t>
            </a:r>
            <a:r>
              <a:rPr lang="zh-CN" altLang="en-US" dirty="0">
                <a:latin typeface="Times New Roman" panose="02020603050405020304" pitchFamily="18" charset="0"/>
              </a:rPr>
              <a:t>假言推理规则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【(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】</a:t>
            </a:r>
            <a:endParaRPr lang="zh-CN" altLang="en-US" dirty="0">
              <a:solidFill>
                <a:srgbClr val="0066FF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(5) </a:t>
            </a:r>
            <a:r>
              <a:rPr lang="zh-CN" altLang="en-US" dirty="0">
                <a:latin typeface="Times New Roman" panose="02020603050405020304" pitchFamily="18" charset="0"/>
              </a:rPr>
              <a:t>附加规则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【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 A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) 】</a:t>
            </a:r>
            <a:endParaRPr lang="zh-CN" altLang="en-US" dirty="0">
              <a:solidFill>
                <a:srgbClr val="0066FF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(6) </a:t>
            </a:r>
            <a:r>
              <a:rPr lang="zh-CN" altLang="en-US" dirty="0">
                <a:latin typeface="Times New Roman" panose="02020603050405020304" pitchFamily="18" charset="0"/>
              </a:rPr>
              <a:t>化简规则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【 (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】</a:t>
            </a:r>
            <a:endParaRPr lang="zh-CN" altLang="en-US" dirty="0">
              <a:solidFill>
                <a:srgbClr val="0066FF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(7) </a:t>
            </a:r>
            <a:r>
              <a:rPr lang="zh-CN" altLang="en-US" dirty="0">
                <a:latin typeface="Times New Roman" panose="02020603050405020304" pitchFamily="18" charset="0"/>
              </a:rPr>
              <a:t>拒取式规则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【 (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】</a:t>
            </a:r>
            <a:endParaRPr lang="zh-CN" altLang="en-US" dirty="0">
              <a:solidFill>
                <a:srgbClr val="0066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6ECB786-FD04-4ACC-BE0C-09E463180E5E}" type="slidenum">
              <a:rPr lang="en-US" altLang="zh-CN" sz="1400" b="0"/>
              <a:t>45</a:t>
            </a:fld>
            <a:endParaRPr lang="en-US" altLang="zh-CN" sz="1400" b="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自然推理系统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 baseline="-25000">
                <a:latin typeface="Palace Script MT" panose="030303020206070C0B05" pitchFamily="66" charset="0"/>
              </a:rPr>
              <a:t>L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9113" y="1241425"/>
            <a:ext cx="8229600" cy="521176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(8) </a:t>
            </a:r>
            <a:r>
              <a:rPr lang="zh-CN" altLang="en-US" dirty="0">
                <a:latin typeface="Times New Roman" panose="02020603050405020304" pitchFamily="18" charset="0"/>
              </a:rPr>
              <a:t>假言三段论规则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【 (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) 】</a:t>
            </a:r>
            <a:endParaRPr lang="zh-CN" altLang="en-US" dirty="0">
              <a:solidFill>
                <a:srgbClr val="0066FF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(9) </a:t>
            </a:r>
            <a:r>
              <a:rPr lang="zh-CN" altLang="en-US" dirty="0">
                <a:latin typeface="Times New Roman" panose="02020603050405020304" pitchFamily="18" charset="0"/>
              </a:rPr>
              <a:t>析取三段论规则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【  (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】</a:t>
            </a:r>
            <a:endParaRPr lang="zh-CN" altLang="en-US" dirty="0">
              <a:solidFill>
                <a:srgbClr val="0066FF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(10) </a:t>
            </a:r>
            <a:r>
              <a:rPr lang="zh-CN" altLang="en-US" dirty="0">
                <a:latin typeface="Times New Roman" panose="02020603050405020304" pitchFamily="18" charset="0"/>
              </a:rPr>
              <a:t>构造性二难推理规则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                              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【 (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) 】</a:t>
            </a:r>
            <a:endParaRPr lang="zh-CN" altLang="en-US" dirty="0">
              <a:solidFill>
                <a:srgbClr val="0066FF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(11) </a:t>
            </a:r>
            <a:r>
              <a:rPr lang="zh-CN" altLang="en-US" dirty="0">
                <a:latin typeface="Times New Roman" panose="02020603050405020304" pitchFamily="18" charset="0"/>
              </a:rPr>
              <a:t>合取引入规则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【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 A,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B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) 】</a:t>
            </a:r>
            <a:endParaRPr lang="zh-CN" altLang="en-US" dirty="0">
              <a:solidFill>
                <a:srgbClr val="0066FF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(12) </a:t>
            </a:r>
            <a:r>
              <a:rPr lang="zh-CN" altLang="en-US" dirty="0">
                <a:latin typeface="Times New Roman" panose="02020603050405020304" pitchFamily="18" charset="0"/>
              </a:rPr>
              <a:t>全称指定规则 </a:t>
            </a:r>
            <a:r>
              <a:rPr lang="en-US" altLang="zh-CN" dirty="0">
                <a:latin typeface="Times New Roman" panose="02020603050405020304" pitchFamily="18" charset="0"/>
              </a:rPr>
              <a:t>US 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(13) </a:t>
            </a:r>
            <a:r>
              <a:rPr lang="zh-CN" altLang="en-US" dirty="0">
                <a:latin typeface="Times New Roman" panose="02020603050405020304" pitchFamily="18" charset="0"/>
              </a:rPr>
              <a:t>全称推广规则 </a:t>
            </a:r>
            <a:r>
              <a:rPr lang="en-US" altLang="zh-CN" dirty="0">
                <a:latin typeface="Times New Roman" panose="02020603050405020304" pitchFamily="18" charset="0"/>
              </a:rPr>
              <a:t>UG 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(14) </a:t>
            </a:r>
            <a:r>
              <a:rPr lang="zh-CN" altLang="en-US" dirty="0">
                <a:latin typeface="Times New Roman" panose="02020603050405020304" pitchFamily="18" charset="0"/>
              </a:rPr>
              <a:t>存在指定规则 </a:t>
            </a:r>
            <a:r>
              <a:rPr lang="en-US" altLang="zh-CN" dirty="0">
                <a:latin typeface="Times New Roman" panose="02020603050405020304" pitchFamily="18" charset="0"/>
              </a:rPr>
              <a:t>ES 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(15) </a:t>
            </a:r>
            <a:r>
              <a:rPr lang="zh-CN" altLang="en-US" dirty="0">
                <a:latin typeface="Times New Roman" panose="02020603050405020304" pitchFamily="18" charset="0"/>
              </a:rPr>
              <a:t>存在推广规则 </a:t>
            </a:r>
            <a:r>
              <a:rPr lang="en-US" altLang="zh-CN" dirty="0">
                <a:latin typeface="Times New Roman" panose="02020603050405020304" pitchFamily="18" charset="0"/>
              </a:rPr>
              <a:t>EG </a:t>
            </a:r>
            <a:endParaRPr lang="zh-CN" altLang="en-US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E3BB462-1309-4A2E-993E-443F11E6EAD2}" type="slidenum">
              <a:rPr lang="en-US" altLang="zh-CN" sz="1400" b="0"/>
              <a:t>46</a:t>
            </a:fld>
            <a:endParaRPr lang="en-US" altLang="zh-CN" sz="1400" b="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构造推理证明的实例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9113" y="1241425"/>
            <a:ext cx="8229600" cy="1395413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前提：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)),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Times New Roman" panose="02020603050405020304" pitchFamily="18" charset="0"/>
              </a:rPr>
              <a:t>xF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结论：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fr-FR" altLang="zh-CN" i="1">
                <a:latin typeface="Times New Roman" panose="02020603050405020304" pitchFamily="18" charset="0"/>
              </a:rPr>
              <a:t>xG</a:t>
            </a:r>
            <a:r>
              <a:rPr lang="fr-FR" altLang="zh-CN">
                <a:latin typeface="Times New Roman" panose="02020603050405020304" pitchFamily="18" charset="0"/>
              </a:rPr>
              <a:t>(</a:t>
            </a:r>
            <a:r>
              <a:rPr lang="fr-FR" altLang="zh-CN" i="1">
                <a:latin typeface="Times New Roman" panose="02020603050405020304" pitchFamily="18" charset="0"/>
              </a:rPr>
              <a:t>x</a:t>
            </a:r>
            <a:r>
              <a:rPr lang="fr-FR" altLang="zh-CN">
                <a:latin typeface="Times New Roman" panose="02020603050405020304" pitchFamily="18" charset="0"/>
              </a:rPr>
              <a:t>)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46116" name="Rectangle 4"/>
          <p:cNvSpPr>
            <a:spLocks noChangeArrowheads="1"/>
          </p:cNvSpPr>
          <p:nvPr/>
        </p:nvSpPr>
        <p:spPr bwMode="auto">
          <a:xfrm>
            <a:off x="179512" y="2420888"/>
            <a:ext cx="5637063" cy="3267075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     证明：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      ①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))   </a:t>
            </a:r>
            <a:r>
              <a:rPr lang="zh-CN" altLang="en-US" dirty="0">
                <a:latin typeface="Times New Roman" panose="02020603050405020304" pitchFamily="18" charset="0"/>
              </a:rPr>
              <a:t>前提引入</a:t>
            </a:r>
            <a:endParaRPr lang="zh-CN" altLang="fr-FR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fr-FR" dirty="0">
                <a:latin typeface="Times New Roman" panose="02020603050405020304" pitchFamily="18" charset="0"/>
              </a:rPr>
              <a:t>      </a:t>
            </a:r>
            <a:r>
              <a:rPr lang="zh-CN" altLang="fr-FR" dirty="0">
                <a:solidFill>
                  <a:srgbClr val="FF0000"/>
                </a:solidFill>
                <a:latin typeface="Times New Roman" panose="02020603050405020304" pitchFamily="18" charset="0"/>
              </a:rPr>
              <a:t>② 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G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           ①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US</a:t>
            </a:r>
            <a:endParaRPr lang="fr-FR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fr-FR" altLang="zh-CN" dirty="0">
                <a:latin typeface="Times New Roman" panose="02020603050405020304" pitchFamily="18" charset="0"/>
              </a:rPr>
              <a:t>      ③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fr-FR" altLang="zh-CN" i="1" dirty="0">
                <a:latin typeface="Times New Roman" panose="02020603050405020304" pitchFamily="18" charset="0"/>
              </a:rPr>
              <a:t>xF</a:t>
            </a:r>
            <a:r>
              <a:rPr lang="fr-FR" altLang="zh-CN" dirty="0"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latin typeface="Times New Roman" panose="02020603050405020304" pitchFamily="18" charset="0"/>
              </a:rPr>
              <a:t>x</a:t>
            </a:r>
            <a:r>
              <a:rPr lang="fr-FR" altLang="zh-CN" dirty="0">
                <a:latin typeface="Times New Roman" panose="02020603050405020304" pitchFamily="18" charset="0"/>
              </a:rPr>
              <a:t>)                  </a:t>
            </a:r>
            <a:r>
              <a:rPr lang="zh-CN" altLang="fr-FR" dirty="0">
                <a:latin typeface="Times New Roman" panose="02020603050405020304" pitchFamily="18" charset="0"/>
              </a:rPr>
              <a:t>前提引入</a:t>
            </a:r>
          </a:p>
          <a:p>
            <a:pPr eaLnBrk="1" hangingPunct="1"/>
            <a:r>
              <a:rPr lang="zh-CN" altLang="fr-FR" dirty="0">
                <a:latin typeface="Times New Roman" panose="02020603050405020304" pitchFamily="18" charset="0"/>
              </a:rPr>
              <a:t>      </a:t>
            </a:r>
            <a:r>
              <a:rPr lang="zh-CN" altLang="fr-FR" dirty="0">
                <a:solidFill>
                  <a:srgbClr val="FF0000"/>
                </a:solidFill>
                <a:latin typeface="Times New Roman" panose="02020603050405020304" pitchFamily="18" charset="0"/>
              </a:rPr>
              <a:t>④ 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                       ③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US</a:t>
            </a:r>
            <a:endParaRPr lang="fr-FR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fr-FR" altLang="zh-CN" dirty="0">
                <a:latin typeface="Times New Roman" panose="02020603050405020304" pitchFamily="18" charset="0"/>
              </a:rPr>
              <a:t>      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⑤ 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G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                       </a:t>
            </a:r>
            <a:r>
              <a:rPr lang="fr-FR" altLang="zh-CN" dirty="0">
                <a:latin typeface="Times New Roman" panose="02020603050405020304" pitchFamily="18" charset="0"/>
              </a:rPr>
              <a:t>②④</a:t>
            </a:r>
            <a:r>
              <a:rPr lang="zh-CN" altLang="fr-FR" dirty="0">
                <a:latin typeface="Times New Roman" panose="02020603050405020304" pitchFamily="18" charset="0"/>
              </a:rPr>
              <a:t>假言推理</a:t>
            </a:r>
          </a:p>
          <a:p>
            <a:pPr eaLnBrk="1" hangingPunct="1"/>
            <a:r>
              <a:rPr lang="zh-CN" altLang="fr-FR" dirty="0">
                <a:solidFill>
                  <a:srgbClr val="FF0000"/>
                </a:solidFill>
                <a:latin typeface="Times New Roman" panose="02020603050405020304" pitchFamily="18" charset="0"/>
              </a:rPr>
              <a:t>      </a:t>
            </a:r>
            <a:r>
              <a:rPr lang="zh-CN" altLang="fr-FR" dirty="0">
                <a:latin typeface="Times New Roman" panose="02020603050405020304" pitchFamily="18" charset="0"/>
              </a:rPr>
              <a:t>⑥</a:t>
            </a:r>
            <a:r>
              <a:rPr lang="zh-CN" altLang="fr-FR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fr-FR" altLang="zh-CN" i="1" dirty="0">
                <a:latin typeface="Times New Roman" panose="02020603050405020304" pitchFamily="18" charset="0"/>
              </a:rPr>
              <a:t>xG</a:t>
            </a:r>
            <a:r>
              <a:rPr lang="fr-FR" altLang="zh-CN" dirty="0">
                <a:latin typeface="Times New Roman" panose="02020603050405020304" pitchFamily="18" charset="0"/>
              </a:rPr>
              <a:t>(</a:t>
            </a:r>
            <a:r>
              <a:rPr lang="fr-FR" altLang="zh-CN" i="1" dirty="0">
                <a:latin typeface="Times New Roman" panose="02020603050405020304" pitchFamily="18" charset="0"/>
              </a:rPr>
              <a:t>x</a:t>
            </a:r>
            <a:r>
              <a:rPr lang="fr-FR" altLang="zh-CN" dirty="0">
                <a:latin typeface="Times New Roman" panose="02020603050405020304" pitchFamily="18" charset="0"/>
              </a:rPr>
              <a:t>)                  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⑤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UG</a:t>
            </a:r>
            <a:r>
              <a:rPr lang="zh-CN" altLang="fr-FR" dirty="0">
                <a:latin typeface="Times New Roman" panose="02020603050405020304" pitchFamily="18" charset="0"/>
              </a:rPr>
              <a:t>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6E8E82A-2083-4EF5-B576-5BB65EA9DDB9}" type="slidenum">
              <a:rPr lang="en-US" altLang="zh-CN" sz="1400" b="0"/>
              <a:t>47</a:t>
            </a:fld>
            <a:endParaRPr lang="en-US" altLang="zh-CN" sz="1400" b="0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构造推理证明的实例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9113" y="1052513"/>
            <a:ext cx="8229600" cy="1584325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</a:rPr>
              <a:t>在自然推理系统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 baseline="-25000">
                <a:latin typeface="Palace Script MT" panose="030303020206070C0B05" pitchFamily="66" charset="0"/>
              </a:rPr>
              <a:t>L  </a:t>
            </a:r>
            <a:r>
              <a:rPr lang="zh-CN" altLang="en-US">
                <a:latin typeface="Times New Roman" panose="02020603050405020304" pitchFamily="18" charset="0"/>
              </a:rPr>
              <a:t>中构造下面推理的证明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取个体域</a:t>
            </a:r>
            <a:r>
              <a:rPr lang="en-US" altLang="zh-CN">
                <a:latin typeface="Times New Roman" panose="02020603050405020304" pitchFamily="18" charset="0"/>
              </a:rPr>
              <a:t>R:</a:t>
            </a: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     </a:t>
            </a:r>
            <a:r>
              <a:rPr lang="zh-CN" altLang="en-US">
                <a:latin typeface="Times New Roman" panose="02020603050405020304" pitchFamily="18" charset="0"/>
              </a:rPr>
              <a:t>不存在能表示成分数的无理数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r>
              <a:rPr lang="zh-CN" altLang="en-US">
                <a:latin typeface="Times New Roman" panose="02020603050405020304" pitchFamily="18" charset="0"/>
              </a:rPr>
              <a:t>有理数都能表示成分数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     </a:t>
            </a:r>
            <a:r>
              <a:rPr lang="zh-CN" altLang="en-US">
                <a:latin typeface="Times New Roman" panose="02020603050405020304" pitchFamily="18" charset="0"/>
              </a:rPr>
              <a:t>所以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有理数都不是无理数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335876" name="Rectangle 4"/>
          <p:cNvSpPr>
            <a:spLocks noChangeArrowheads="1"/>
          </p:cNvSpPr>
          <p:nvPr/>
        </p:nvSpPr>
        <p:spPr bwMode="auto">
          <a:xfrm>
            <a:off x="539750" y="2492375"/>
            <a:ext cx="8229600" cy="381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解  设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):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zh-CN" altLang="en-US">
                <a:latin typeface="Times New Roman" panose="02020603050405020304" pitchFamily="18" charset="0"/>
              </a:rPr>
              <a:t>是无理数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):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zh-CN" altLang="en-US">
                <a:latin typeface="Times New Roman" panose="02020603050405020304" pitchFamily="18" charset="0"/>
              </a:rPr>
              <a:t>是有理数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H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):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zh-CN" altLang="en-US">
                <a:latin typeface="Times New Roman" panose="02020603050405020304" pitchFamily="18" charset="0"/>
              </a:rPr>
              <a:t>能表示成分数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前提</a:t>
            </a:r>
            <a:r>
              <a:rPr lang="en-US" altLang="zh-CN">
                <a:latin typeface="Times New Roman" panose="02020603050405020304" pitchFamily="18" charset="0"/>
              </a:rPr>
              <a:t>: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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)),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)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))</a:t>
            </a: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结论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: 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)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))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5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87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39F0979-0F5F-4601-8643-7B7CCC249745}" type="slidenum">
              <a:rPr lang="en-US" altLang="zh-CN" sz="1400" b="0"/>
              <a:t>48</a:t>
            </a:fld>
            <a:endParaRPr lang="en-US" altLang="zh-CN" sz="1400" b="0" dirty="0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构造推理证明的实例</a:t>
            </a:r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428625" y="1154113"/>
            <a:ext cx="8229600" cy="532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前提</a:t>
            </a:r>
            <a:r>
              <a:rPr lang="en-US" altLang="zh-CN" dirty="0">
                <a:latin typeface="Times New Roman" panose="02020603050405020304" pitchFamily="18" charset="0"/>
              </a:rPr>
              <a:t>: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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)),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)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))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结论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: 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)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))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证明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</a:p>
          <a:p>
            <a:pPr eaLnBrk="1" hangingPunct="1"/>
            <a:r>
              <a:rPr lang="en-US" altLang="zh-CN" dirty="0"/>
              <a:t>①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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))                                 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前提引入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/>
              <a:t>② 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(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)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))                               </a:t>
            </a:r>
            <a:r>
              <a:rPr lang="en-US" altLang="zh-CN" dirty="0">
                <a:sym typeface="Symbol" panose="05050102010706020507" pitchFamily="18" charset="2"/>
              </a:rPr>
              <a:t>①</a:t>
            </a:r>
            <a:r>
              <a:rPr lang="zh-CN" altLang="en-US" dirty="0">
                <a:sym typeface="Symbol" panose="05050102010706020507" pitchFamily="18" charset="2"/>
              </a:rPr>
              <a:t>置换</a:t>
            </a:r>
            <a:endParaRPr lang="zh-CN" altLang="en-US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dirty="0"/>
              <a:t>③ 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)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))                                </a:t>
            </a:r>
            <a:r>
              <a:rPr lang="en-US" altLang="zh-CN" dirty="0"/>
              <a:t>②</a:t>
            </a:r>
            <a:r>
              <a:rPr lang="zh-CN" altLang="en-US" dirty="0"/>
              <a:t>置换</a:t>
            </a:r>
            <a:endParaRPr lang="zh-CN" altLang="en-US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dirty="0"/>
              <a:t>④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)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                                       </a:t>
            </a:r>
            <a:r>
              <a:rPr lang="en-US" altLang="zh-CN" dirty="0">
                <a:solidFill>
                  <a:srgbClr val="FF0000"/>
                </a:solidFill>
              </a:rPr>
              <a:t>③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US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/>
              <a:t>⑤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)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))</a:t>
            </a:r>
            <a:r>
              <a:rPr lang="en-US" altLang="zh-CN" dirty="0"/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           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前提引入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/>
              <a:t>⑥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)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                                          </a:t>
            </a:r>
            <a:r>
              <a:rPr lang="en-US" altLang="zh-CN" dirty="0">
                <a:solidFill>
                  <a:srgbClr val="FF0000"/>
                </a:solidFill>
              </a:rPr>
              <a:t>⑤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 US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sym typeface="Symbol" panose="05050102010706020507" pitchFamily="18" charset="2"/>
              </a:rPr>
              <a:t>⑦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)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                                       </a:t>
            </a:r>
            <a:r>
              <a:rPr lang="en-US" altLang="zh-CN" dirty="0">
                <a:sym typeface="Symbol" panose="05050102010706020507" pitchFamily="18" charset="2"/>
              </a:rPr>
              <a:t>④</a:t>
            </a:r>
            <a:r>
              <a:rPr lang="zh-CN" altLang="en-US" dirty="0">
                <a:sym typeface="Symbol" panose="05050102010706020507" pitchFamily="18" charset="2"/>
              </a:rPr>
              <a:t>置换</a:t>
            </a:r>
            <a:endParaRPr lang="zh-CN" altLang="en-US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dirty="0">
                <a:sym typeface="Symbol" panose="05050102010706020507" pitchFamily="18" charset="2"/>
              </a:rPr>
              <a:t>⑧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)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                                       </a:t>
            </a:r>
            <a:r>
              <a:rPr lang="en-US" altLang="zh-CN" dirty="0"/>
              <a:t>⑥</a:t>
            </a:r>
            <a:r>
              <a:rPr lang="en-US" altLang="zh-CN" dirty="0">
                <a:sym typeface="Symbol" panose="05050102010706020507" pitchFamily="18" charset="2"/>
              </a:rPr>
              <a:t>⑦</a:t>
            </a:r>
            <a:r>
              <a:rPr lang="zh-CN" altLang="en-US" dirty="0">
                <a:sym typeface="Symbol" panose="05050102010706020507" pitchFamily="18" charset="2"/>
              </a:rPr>
              <a:t>假言三段论</a:t>
            </a:r>
            <a:endParaRPr lang="zh-CN" altLang="en-US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dirty="0">
                <a:sym typeface="Symbol" panose="05050102010706020507" pitchFamily="18" charset="2"/>
              </a:rPr>
              <a:t>⑨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)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))                                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⑧ UG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876B17B-BCB5-40D8-A2B5-BA93CC17C679}" type="slidenum">
              <a:rPr lang="en-US" altLang="zh-CN" sz="1400" b="0"/>
              <a:t>49</a:t>
            </a:fld>
            <a:endParaRPr lang="en-US" altLang="zh-CN" sz="1400" b="0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构造推理证明的实例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9113" y="1052513"/>
            <a:ext cx="8229600" cy="963612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</a:rPr>
              <a:t>在自然推理系统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 baseline="-25000">
                <a:latin typeface="Palace Script MT" panose="030303020206070C0B05" pitchFamily="66" charset="0"/>
              </a:rPr>
              <a:t>L  </a:t>
            </a:r>
            <a:r>
              <a:rPr lang="zh-CN" altLang="en-US">
                <a:latin typeface="Times New Roman" panose="02020603050405020304" pitchFamily="18" charset="0"/>
              </a:rPr>
              <a:t>中构造下面推理的证明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取个体域</a:t>
            </a:r>
            <a:r>
              <a:rPr lang="en-US" altLang="zh-CN">
                <a:latin typeface="Times New Roman" panose="02020603050405020304" pitchFamily="18" charset="0"/>
              </a:rPr>
              <a:t>R:</a:t>
            </a: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     </a:t>
            </a:r>
            <a:r>
              <a:rPr lang="zh-CN" altLang="en-US">
                <a:latin typeface="Times New Roman" panose="02020603050405020304" pitchFamily="18" charset="0"/>
              </a:rPr>
              <a:t>任何自然数都是整数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r>
              <a:rPr lang="zh-CN" altLang="en-US">
                <a:latin typeface="Times New Roman" panose="02020603050405020304" pitchFamily="18" charset="0"/>
              </a:rPr>
              <a:t>存在自然数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r>
              <a:rPr lang="zh-CN" altLang="en-US">
                <a:latin typeface="Times New Roman" panose="02020603050405020304" pitchFamily="18" charset="0"/>
              </a:rPr>
              <a:t>所以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存在整数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319492" name="Rectangle 4"/>
          <p:cNvSpPr>
            <a:spLocks noChangeArrowheads="1"/>
          </p:cNvSpPr>
          <p:nvPr/>
        </p:nvSpPr>
        <p:spPr bwMode="auto">
          <a:xfrm>
            <a:off x="571500" y="1885950"/>
            <a:ext cx="8229600" cy="4491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解  设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):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</a:rPr>
              <a:t>是自然数</a:t>
            </a:r>
            <a:r>
              <a:rPr lang="en-US" altLang="zh-CN" dirty="0">
                <a:latin typeface="Times New Roman" panose="02020603050405020304" pitchFamily="18" charset="0"/>
              </a:rPr>
              <a:t>, 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):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</a:rPr>
              <a:t>是整数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前提</a:t>
            </a:r>
            <a:r>
              <a:rPr lang="en-US" altLang="zh-CN" dirty="0">
                <a:latin typeface="Times New Roman" panose="02020603050405020304" pitchFamily="18" charset="0"/>
              </a:rPr>
              <a:t>: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)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)), 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结论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: 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xG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证明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</a:p>
          <a:p>
            <a:pPr eaLnBrk="1" hangingPunct="1"/>
            <a:r>
              <a:rPr lang="en-US" altLang="zh-CN" dirty="0"/>
              <a:t>① 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                             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前提引入</a:t>
            </a:r>
            <a:endParaRPr lang="en-US" altLang="zh-CN" dirty="0"/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②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                                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① ES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 dirty="0"/>
              <a:t>③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)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))              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前提引入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④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)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                      </a:t>
            </a:r>
            <a:r>
              <a:rPr lang="en-US" altLang="zh-CN" dirty="0">
                <a:solidFill>
                  <a:srgbClr val="FF0000"/>
                </a:solidFill>
              </a:rPr>
              <a:t>③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 US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⑤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                                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zh-CN" altLang="en-US" dirty="0"/>
              <a:t>②</a:t>
            </a:r>
            <a:r>
              <a:rPr lang="en-US" altLang="zh-CN" dirty="0"/>
              <a:t>④</a:t>
            </a:r>
            <a:r>
              <a:rPr lang="zh-CN" altLang="fr-FR" dirty="0">
                <a:latin typeface="Times New Roman" panose="02020603050405020304" pitchFamily="18" charset="0"/>
              </a:rPr>
              <a:t>假言推理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dirty="0"/>
              <a:t>⑥ </a:t>
            </a:r>
            <a:r>
              <a:rPr lang="zh-CN" altLang="en-US" dirty="0">
                <a:sym typeface="Symbol" panose="05050102010706020507" pitchFamily="18" charset="2"/>
              </a:rPr>
              <a:t>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xG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                              </a:t>
            </a:r>
            <a:r>
              <a:rPr lang="en-US" altLang="zh-CN" dirty="0">
                <a:solidFill>
                  <a:srgbClr val="FF0000"/>
                </a:solidFill>
              </a:rPr>
              <a:t>⑤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EG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9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构造推理证明的实例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98563"/>
            <a:ext cx="8675687" cy="5399087"/>
          </a:xfrm>
        </p:spPr>
        <p:txBody>
          <a:bodyPr/>
          <a:lstStyle/>
          <a:p>
            <a:pPr marL="571500" indent="-571500" eaLnBrk="1" hangingPunct="1">
              <a:defRPr/>
            </a:pP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前提：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)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)), 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     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</a:b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结论：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</a:t>
            </a:r>
          </a:p>
          <a:p>
            <a:pPr marL="571500" indent="-571500" eaLnBrk="1" hangingPunct="1">
              <a:defRPr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证明：</a:t>
            </a:r>
          </a:p>
          <a:p>
            <a:pPr marL="571500" indent="-571500" eaLnBrk="1" hangingPunct="1">
              <a:buClr>
                <a:schemeClr val="tx1"/>
              </a:buClr>
              <a:buFont typeface="+mj-ea"/>
              <a:buAutoNum type="circleNumDbPlain"/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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                                      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前提引入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571500" indent="-571500" eaLnBrk="1" hangingPunct="1">
              <a:buClr>
                <a:schemeClr val="tx1"/>
              </a:buClr>
              <a:buFont typeface="+mj-ea"/>
              <a:buAutoNum type="circleNumDbPlain"/>
              <a:defRPr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                                          ① ES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571500" indent="-571500" eaLnBrk="1" hangingPunct="1">
              <a:buClr>
                <a:schemeClr val="tx1"/>
              </a:buClr>
              <a:buFont typeface="+mj-ea"/>
              <a:buAutoNum type="circleNumDbPlain"/>
              <a:defRPr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dirty="0"/>
              <a:t>                                                   ②化简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571500" indent="-571500" eaLnBrk="1" hangingPunct="1">
              <a:buClr>
                <a:schemeClr val="tx1"/>
              </a:buClr>
              <a:buFont typeface="+mj-ea"/>
              <a:buAutoNum type="circleNumDbPlain"/>
              <a:defRPr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                                                      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zh-CN" altLang="en-US" dirty="0"/>
              <a:t>②化简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571500" indent="-571500" eaLnBrk="1" hangingPunct="1">
              <a:buClr>
                <a:schemeClr val="tx1"/>
              </a:buClr>
              <a:buFont typeface="+mj-ea"/>
              <a:buAutoNum type="circleNumDbPlain"/>
              <a:defRPr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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)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		                       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前提引入</a:t>
            </a:r>
          </a:p>
          <a:p>
            <a:pPr marL="571500" indent="-571500" eaLnBrk="1" hangingPunct="1">
              <a:buClr>
                <a:schemeClr val="tx1"/>
              </a:buClr>
              <a:buFont typeface="+mj-ea"/>
              <a:buAutoNum type="circleNumDbPlain"/>
              <a:defRPr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)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			</a:t>
            </a:r>
            <a:r>
              <a:rPr lang="en-US" altLang="zh-CN" dirty="0">
                <a:solidFill>
                  <a:srgbClr val="FF0000"/>
                </a:solidFill>
              </a:rPr>
              <a:t>           ⑤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US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571500" indent="-571500" eaLnBrk="1" hangingPunct="1">
              <a:buClr>
                <a:schemeClr val="tx1"/>
              </a:buClr>
              <a:buFont typeface="+mj-ea"/>
              <a:buAutoNum type="circleNumDbPlain"/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	                                    </a:t>
            </a:r>
            <a:r>
              <a:rPr lang="en-US" altLang="zh-CN" dirty="0"/>
              <a:t>③</a:t>
            </a:r>
            <a:r>
              <a:rPr lang="zh-CN" altLang="en-US" dirty="0"/>
              <a:t>⑥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假言推理</a:t>
            </a:r>
          </a:p>
          <a:p>
            <a:pPr marL="571500" indent="-571500" eaLnBrk="1" hangingPunct="1">
              <a:buClr>
                <a:schemeClr val="tx1"/>
              </a:buClr>
              <a:buFont typeface="+mj-ea"/>
              <a:buAutoNum type="circleNumDbPlain"/>
              <a:defRPr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zh-CN" dirty="0">
                <a:sym typeface="Symbol" panose="05050102010706020507" pitchFamily="18" charset="2"/>
              </a:rPr>
              <a:t>                                 ⑦④</a:t>
            </a:r>
            <a:r>
              <a:rPr lang="zh-CN" altLang="en-US" dirty="0">
                <a:latin typeface="Times New Roman" panose="02020603050405020304" pitchFamily="18" charset="0"/>
              </a:rPr>
              <a:t>合取引入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571500" indent="-571500" eaLnBrk="1" hangingPunct="1">
              <a:buClr>
                <a:schemeClr val="tx1"/>
              </a:buClr>
              <a:buFont typeface="+mj-ea"/>
              <a:buAutoNum type="circleNumDbPlain"/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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</a:t>
            </a:r>
            <a:r>
              <a:rPr lang="en-US" altLang="zh-CN" dirty="0">
                <a:solidFill>
                  <a:srgbClr val="FF0000"/>
                </a:solidFill>
              </a:rPr>
              <a:t>                                   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⑧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EG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ClrTx/>
              <a:defRPr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ClrTx/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</a:t>
            </a:r>
            <a:endParaRPr lang="en-US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571500" indent="-571500" eaLnBrk="1" hangingPunct="1">
              <a:buClr>
                <a:schemeClr val="tx1"/>
              </a:buClr>
              <a:buFont typeface="+mj-ea"/>
              <a:buAutoNum type="circleNumDbPlain"/>
              <a:defRPr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6522929" y="6251682"/>
            <a:ext cx="2133600" cy="476250"/>
          </a:xfrm>
          <a:noFill/>
        </p:spPr>
        <p:txBody>
          <a:bodyPr/>
          <a:lstStyle/>
          <a:p>
            <a:pPr algn="r"/>
            <a:fld id="{F17BC32E-E2A0-4CA0-B57C-1BDC949A22A4}" type="slidenum">
              <a:rPr lang="zh-CN" altLang="en-US"/>
              <a:t>51</a:t>
            </a:fld>
            <a:endParaRPr lang="en-US" altLang="zh-CN" dirty="0"/>
          </a:p>
        </p:txBody>
      </p:sp>
      <p:sp>
        <p:nvSpPr>
          <p:cNvPr id="75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 试找出推证过程中的错误</a:t>
            </a:r>
          </a:p>
        </p:txBody>
      </p:sp>
      <p:sp>
        <p:nvSpPr>
          <p:cNvPr id="750596" name="Line 4"/>
          <p:cNvSpPr>
            <a:spLocks noChangeShapeType="1"/>
          </p:cNvSpPr>
          <p:nvPr/>
        </p:nvSpPr>
        <p:spPr bwMode="auto">
          <a:xfrm>
            <a:off x="1192362" y="4005064"/>
            <a:ext cx="1795462" cy="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29657" y="1237656"/>
            <a:ext cx="7950200" cy="4454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eaLnBrk="1" hangingPunct="1">
              <a:lnSpc>
                <a:spcPct val="150000"/>
              </a:lnSpc>
              <a:buClr>
                <a:schemeClr val="tx1"/>
              </a:buClr>
              <a:buFont typeface="+mj-ea"/>
              <a:buAutoNum type="circleNumDbPlain"/>
              <a:defRPr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                                      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前提引入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571500" indent="-571500" eaLnBrk="1" hangingPunct="1">
              <a:lnSpc>
                <a:spcPct val="150000"/>
              </a:lnSpc>
              <a:buClr>
                <a:schemeClr val="tx1"/>
              </a:buClr>
              <a:buFont typeface="+mj-ea"/>
              <a:buAutoNum type="circleNumDbPlain"/>
              <a:defRPr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                                          ① ES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571500" indent="-571500" eaLnBrk="1" hangingPunct="1">
              <a:lnSpc>
                <a:spcPct val="150000"/>
              </a:lnSpc>
              <a:buClr>
                <a:schemeClr val="tx1"/>
              </a:buClr>
              <a:buFont typeface="+mj-ea"/>
              <a:buAutoNum type="circleNumDbPlain"/>
              <a:defRPr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b="1" dirty="0"/>
              <a:t>                                                   ②化简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571500" indent="-571500" eaLnBrk="1" hangingPunct="1">
              <a:lnSpc>
                <a:spcPct val="150000"/>
              </a:lnSpc>
              <a:buClr>
                <a:schemeClr val="tx1"/>
              </a:buClr>
              <a:buFont typeface="+mj-ea"/>
              <a:buAutoNum type="circleNumDbPlain"/>
              <a:defRPr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                                      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前提引入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571500" indent="-571500" eaLnBrk="1" hangingPunct="1">
              <a:lnSpc>
                <a:spcPct val="150000"/>
              </a:lnSpc>
              <a:buClr>
                <a:schemeClr val="tx1"/>
              </a:buClr>
              <a:buFont typeface="+mj-ea"/>
              <a:buAutoNum type="circleNumDbPlain"/>
              <a:defRPr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(c)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                                          </a:t>
            </a:r>
            <a:r>
              <a:rPr lang="en-US" altLang="zh-CN" b="1" dirty="0">
                <a:sym typeface="Symbol" panose="05050102010706020507" pitchFamily="18" charset="2"/>
              </a:rPr>
              <a:t>④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 ES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571500" indent="-571500" eaLnBrk="1" hangingPunct="1">
              <a:lnSpc>
                <a:spcPct val="150000"/>
              </a:lnSpc>
              <a:buClr>
                <a:schemeClr val="tx1"/>
              </a:buClr>
              <a:buFont typeface="+mj-ea"/>
              <a:buAutoNum type="circleNumDbPlain"/>
              <a:defRPr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(c)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                                                 </a:t>
            </a:r>
            <a:r>
              <a:rPr lang="en-US" altLang="zh-CN" b="1" dirty="0"/>
              <a:t>⑤</a:t>
            </a:r>
            <a:r>
              <a:rPr lang="zh-CN" altLang="en-US" b="1" dirty="0"/>
              <a:t>化简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571500" indent="-571500" eaLnBrk="1" hangingPunct="1">
              <a:lnSpc>
                <a:spcPct val="150000"/>
              </a:lnSpc>
              <a:buClr>
                <a:schemeClr val="tx1"/>
              </a:buClr>
              <a:buFont typeface="+mj-ea"/>
              <a:buAutoNum type="circleNumDbPlain"/>
              <a:defRPr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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	     		</a:t>
            </a:r>
            <a:r>
              <a:rPr lang="en-US" altLang="zh-CN" b="1" dirty="0">
                <a:solidFill>
                  <a:srgbClr val="FF0000"/>
                </a:solidFill>
              </a:rPr>
              <a:t>            </a:t>
            </a:r>
            <a:r>
              <a:rPr lang="en-US" altLang="zh-CN" b="1" dirty="0"/>
              <a:t>③</a:t>
            </a:r>
            <a:r>
              <a:rPr lang="zh-CN" altLang="en-US" b="1" dirty="0"/>
              <a:t>⑥</a:t>
            </a:r>
            <a:r>
              <a:rPr lang="zh-CN" altLang="en-US" b="1" dirty="0">
                <a:latin typeface="Times New Roman" panose="02020603050405020304" pitchFamily="18" charset="0"/>
              </a:rPr>
              <a:t>合取引入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571500" indent="-571500" eaLnBrk="1" hangingPunct="1">
              <a:lnSpc>
                <a:spcPct val="150000"/>
              </a:lnSpc>
              <a:buClr>
                <a:schemeClr val="tx1"/>
              </a:buClr>
              <a:buFont typeface="+mj-ea"/>
              <a:buAutoNum type="circleNumDbPlain"/>
              <a:defRPr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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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                                      </a:t>
            </a:r>
            <a:r>
              <a:rPr lang="en-US" altLang="zh-CN" b="1" dirty="0"/>
              <a:t> 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⑦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EG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0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0594" grpId="0" autoUpdateAnimBg="0"/>
      <p:bldP spid="75059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苏格拉底三段论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781300"/>
            <a:ext cx="8229600" cy="37433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):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</a:rPr>
              <a:t>是人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):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</a:rPr>
              <a:t>是要死的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zh-CN" altLang="en-US" dirty="0">
                <a:latin typeface="Times New Roman" panose="02020603050405020304" pitchFamily="18" charset="0"/>
              </a:rPr>
              <a:t>苏格拉底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zh-CN" altLang="en-US" dirty="0">
                <a:latin typeface="Times New Roman" panose="02020603050405020304" pitchFamily="18" charset="0"/>
              </a:rPr>
              <a:t>前提</a:t>
            </a:r>
            <a:r>
              <a:rPr lang="en-US" altLang="zh-CN" dirty="0">
                <a:latin typeface="Times New Roman" panose="02020603050405020304" pitchFamily="18" charset="0"/>
              </a:rPr>
              <a:t>: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)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))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eaLnBrk="1" hangingPunct="1">
              <a:defRPr/>
            </a:pP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结论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defRPr/>
            </a:pPr>
            <a:r>
              <a:rPr lang="zh-CN" altLang="en-US" dirty="0"/>
              <a:t>证明：</a:t>
            </a:r>
            <a:endParaRPr lang="en-US" altLang="zh-CN" dirty="0"/>
          </a:p>
          <a:p>
            <a:pPr marL="457200" indent="-457200">
              <a:buClr>
                <a:schemeClr val="tx1"/>
              </a:buClr>
              <a:buFont typeface="+mj-ea"/>
              <a:buAutoNum type="circleNumDbPlain"/>
              <a:defRPr/>
            </a:pP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marL="457200" indent="-457200">
              <a:buClr>
                <a:schemeClr val="tx1"/>
              </a:buClr>
              <a:buFont typeface="+mj-ea"/>
              <a:buAutoNum type="circleNumDbPlain"/>
              <a:defRPr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)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))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>
              <a:buClr>
                <a:schemeClr val="tx1"/>
              </a:buClr>
              <a:buFont typeface="+mj-ea"/>
              <a:buAutoNum type="circleNumDbPlain"/>
              <a:defRPr/>
            </a:pPr>
            <a:r>
              <a:rPr lang="en-US" altLang="zh-CN" dirty="0"/>
              <a:t>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)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>
              <a:buClr>
                <a:schemeClr val="tx1"/>
              </a:buClr>
              <a:buFont typeface="+mj-ea"/>
              <a:buAutoNum type="circleNumDbPlain"/>
              <a:defRPr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CB000E7-23F2-43F9-9CA6-2F5B8F6D5864}" type="slidenum">
              <a:rPr lang="en-US" altLang="zh-CN" sz="1400" b="0"/>
              <a:t>52</a:t>
            </a:fld>
            <a:endParaRPr lang="en-US" altLang="zh-CN" sz="1400" b="0"/>
          </a:p>
        </p:txBody>
      </p:sp>
      <p:sp>
        <p:nvSpPr>
          <p:cNvPr id="52229" name="Rectangle 4"/>
          <p:cNvSpPr>
            <a:spLocks noChangeArrowheads="1"/>
          </p:cNvSpPr>
          <p:nvPr/>
        </p:nvSpPr>
        <p:spPr bwMode="auto">
          <a:xfrm>
            <a:off x="539750" y="1190625"/>
            <a:ext cx="5386388" cy="1446213"/>
          </a:xfrm>
          <a:prstGeom prst="rect">
            <a:avLst/>
          </a:prstGeom>
          <a:solidFill>
            <a:srgbClr val="ADE2A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FF3300"/>
                </a:solidFill>
              </a:rPr>
              <a:t>所有的人都是要死的，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FF3300"/>
                </a:solidFill>
              </a:rPr>
              <a:t>苏格拉底是人，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FF3300"/>
                </a:solidFill>
              </a:rPr>
              <a:t>所以苏格拉底是要死的。</a:t>
            </a:r>
          </a:p>
        </p:txBody>
      </p:sp>
      <p:sp>
        <p:nvSpPr>
          <p:cNvPr id="44038" name="Rectangle 3"/>
          <p:cNvSpPr txBox="1">
            <a:spLocks noChangeArrowheads="1"/>
          </p:cNvSpPr>
          <p:nvPr/>
        </p:nvSpPr>
        <p:spPr bwMode="auto">
          <a:xfrm>
            <a:off x="3635896" y="4437112"/>
            <a:ext cx="2593975" cy="2113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lvl="1" eaLnBrk="1" hangingPunct="1">
              <a:lnSpc>
                <a:spcPts val="33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前提引入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300"/>
              </a:lnSpc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前提引入</a:t>
            </a:r>
          </a:p>
          <a:p>
            <a:pPr lvl="1" eaLnBrk="1" hangingPunct="1">
              <a:lnSpc>
                <a:spcPts val="3300"/>
              </a:lnSpc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US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ts val="33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sym typeface="Symbol" panose="05050102010706020507" pitchFamily="18" charset="2"/>
              </a:rPr>
              <a:t>①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③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假言推理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ts val="3300"/>
              </a:lnSpc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E9A58A8-3D88-4897-A54E-F76EAB006AFA}" type="slidenum">
              <a:rPr lang="en-US" altLang="zh-CN" sz="1400" b="0"/>
              <a:t>53</a:t>
            </a:fld>
            <a:endParaRPr lang="en-US" altLang="zh-CN" sz="1400" b="0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229600" cy="2879725"/>
          </a:xfrm>
        </p:spPr>
        <p:txBody>
          <a:bodyPr/>
          <a:lstStyle/>
          <a:p>
            <a:pPr marL="361950" indent="-361950" eaLnBrk="1" hangingPunct="1"/>
            <a:r>
              <a:rPr lang="zh-CN" altLang="en-US"/>
              <a:t>主要内容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>
                <a:latin typeface="Times New Roman" panose="02020603050405020304" pitchFamily="18" charset="0"/>
              </a:rPr>
              <a:t>5.1</a:t>
            </a:r>
            <a:r>
              <a:rPr lang="en-US" altLang="zh-CN"/>
              <a:t> </a:t>
            </a:r>
            <a:r>
              <a:rPr lang="zh-CN" altLang="en-US"/>
              <a:t>一阶逻辑等值式与置换规则</a:t>
            </a:r>
            <a:endParaRPr lang="en-US" altLang="zh-CN"/>
          </a:p>
          <a:p>
            <a:pPr marL="762000" lvl="1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一阶逻辑等值式与基本的等值式</a:t>
            </a:r>
          </a:p>
          <a:p>
            <a:pPr marL="762000" lvl="1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置换规则、换名规则、代替规则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>
                <a:latin typeface="Times New Roman" panose="02020603050405020304" pitchFamily="18" charset="0"/>
              </a:rPr>
              <a:t>5.2</a:t>
            </a:r>
            <a:r>
              <a:rPr lang="en-US" altLang="zh-CN"/>
              <a:t>  </a:t>
            </a:r>
            <a:r>
              <a:rPr lang="zh-CN" altLang="en-US"/>
              <a:t>一阶逻辑前束范式</a:t>
            </a:r>
            <a:endParaRPr lang="en-US" altLang="zh-CN"/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>
                <a:latin typeface="Times New Roman" panose="02020603050405020304" pitchFamily="18" charset="0"/>
              </a:rPr>
              <a:t>5.3</a:t>
            </a:r>
            <a:r>
              <a:rPr lang="en-US" altLang="zh-CN"/>
              <a:t> </a:t>
            </a:r>
            <a:r>
              <a:rPr lang="zh-CN" altLang="en-US"/>
              <a:t>一阶逻辑的推理理论</a:t>
            </a:r>
            <a:endParaRPr lang="en-US" altLang="zh-CN"/>
          </a:p>
          <a:p>
            <a:pPr marL="762000" lvl="1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自然推理系统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 baseline="-25000">
                <a:latin typeface="Palace Script MT" panose="030303020206070C0B05" pitchFamily="66" charset="0"/>
              </a:rPr>
              <a:t>L    </a:t>
            </a:r>
            <a:r>
              <a:rPr lang="zh-CN" altLang="en-US">
                <a:latin typeface="Times New Roman" panose="02020603050405020304" pitchFamily="18" charset="0"/>
              </a:rPr>
              <a:t>及其推理规则</a:t>
            </a:r>
          </a:p>
          <a:p>
            <a:pPr marL="361950" indent="-361950" eaLnBrk="1" hangingPunct="1"/>
            <a:endParaRPr lang="en-US" altLang="zh-CN"/>
          </a:p>
        </p:txBody>
      </p:sp>
      <p:sp>
        <p:nvSpPr>
          <p:cNvPr id="53252" name="Rectangle 4"/>
          <p:cNvSpPr>
            <a:spLocks noGrp="1" noChangeArrowheads="1"/>
          </p:cNvSpPr>
          <p:nvPr>
            <p:ph type="title"/>
          </p:nvPr>
        </p:nvSpPr>
        <p:spPr>
          <a:xfrm>
            <a:off x="1835150" y="260350"/>
            <a:ext cx="6394450" cy="431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第五章 一阶逻辑等值演算与推理</a:t>
            </a:r>
            <a:br>
              <a:rPr lang="en-US" altLang="zh-CN">
                <a:solidFill>
                  <a:schemeClr val="tx1"/>
                </a:solidFill>
                <a:latin typeface="宋体" panose="02010600030101010101" pitchFamily="2" charset="-122"/>
              </a:rPr>
            </a:b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</a:rPr>
              <a:t>（回顾）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6237</Words>
  <Application>Microsoft Office PowerPoint</Application>
  <PresentationFormat>全屏显示(4:3)</PresentationFormat>
  <Paragraphs>613</Paragraphs>
  <Slides>53</Slides>
  <Notes>43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53</vt:i4>
      </vt:variant>
    </vt:vector>
  </HeadingPairs>
  <TitlesOfParts>
    <vt:vector size="64" baseType="lpstr">
      <vt:lpstr>宋体</vt:lpstr>
      <vt:lpstr>微软雅黑</vt:lpstr>
      <vt:lpstr>Arial</vt:lpstr>
      <vt:lpstr>Palace Script MT</vt:lpstr>
      <vt:lpstr>Symbol</vt:lpstr>
      <vt:lpstr>Times New Roman</vt:lpstr>
      <vt:lpstr>Verdana</vt:lpstr>
      <vt:lpstr>Wingdings</vt:lpstr>
      <vt:lpstr>默认设计模板</vt:lpstr>
      <vt:lpstr>公式</vt:lpstr>
      <vt:lpstr>Equation</vt:lpstr>
      <vt:lpstr>第一部分 数理逻辑</vt:lpstr>
      <vt:lpstr>第五章 一阶逻辑等值演算与推理</vt:lpstr>
      <vt:lpstr>5.1 一阶逻辑等值式与置换规则</vt:lpstr>
      <vt:lpstr>【基本等值式】</vt:lpstr>
      <vt:lpstr>【基本等值式】</vt:lpstr>
      <vt:lpstr>量词否定等值式（续）</vt:lpstr>
      <vt:lpstr>【基本等值式】</vt:lpstr>
      <vt:lpstr>证明：基本等值式 ③</vt:lpstr>
      <vt:lpstr>【基本等值式】</vt:lpstr>
      <vt:lpstr>证明：量词分配等值式③ </vt:lpstr>
      <vt:lpstr>【重言蕴涵式】</vt:lpstr>
      <vt:lpstr>PowerPoint 演示文稿</vt:lpstr>
      <vt:lpstr>置换规则、换名规则、代替规则</vt:lpstr>
      <vt:lpstr>约束变元的换名</vt:lpstr>
      <vt:lpstr>自由变元的代替</vt:lpstr>
      <vt:lpstr>实例</vt:lpstr>
      <vt:lpstr>实例</vt:lpstr>
      <vt:lpstr>实例</vt:lpstr>
      <vt:lpstr>实例</vt:lpstr>
      <vt:lpstr>实例</vt:lpstr>
      <vt:lpstr>实例</vt:lpstr>
      <vt:lpstr>实例</vt:lpstr>
      <vt:lpstr>实例</vt:lpstr>
      <vt:lpstr>第五章 一阶逻辑等值演算与推理</vt:lpstr>
      <vt:lpstr>5.2  一阶逻辑前束范式</vt:lpstr>
      <vt:lpstr>前束范式存在定理</vt:lpstr>
      <vt:lpstr>求前束范式的实例</vt:lpstr>
      <vt:lpstr>求前束范式的实例</vt:lpstr>
      <vt:lpstr>求前束范式的实例</vt:lpstr>
      <vt:lpstr>求前束范式的实例</vt:lpstr>
      <vt:lpstr>例 求前束范式</vt:lpstr>
      <vt:lpstr>练习 求前束范式</vt:lpstr>
      <vt:lpstr>练习 求前束范式</vt:lpstr>
      <vt:lpstr>第五章 一阶逻辑等值演算与推理</vt:lpstr>
      <vt:lpstr>5.3 一阶逻辑的推理理论</vt:lpstr>
      <vt:lpstr>推理定理</vt:lpstr>
      <vt:lpstr>PowerPoint 演示文稿</vt:lpstr>
      <vt:lpstr>多个量词的使用</vt:lpstr>
      <vt:lpstr>多个量词的使用</vt:lpstr>
      <vt:lpstr>多个量词的使用</vt:lpstr>
      <vt:lpstr>消去(添加)量词的规则</vt:lpstr>
      <vt:lpstr>消去(添加)量词的规则</vt:lpstr>
      <vt:lpstr>消去(添加)量词的规则</vt:lpstr>
      <vt:lpstr>自然推理系统NL</vt:lpstr>
      <vt:lpstr>自然推理系统NL</vt:lpstr>
      <vt:lpstr>构造推理证明的实例</vt:lpstr>
      <vt:lpstr>构造推理证明的实例</vt:lpstr>
      <vt:lpstr>构造推理证明的实例</vt:lpstr>
      <vt:lpstr>构造推理证明的实例</vt:lpstr>
      <vt:lpstr>构造推理证明的实例</vt:lpstr>
      <vt:lpstr>例 试找出推证过程中的错误</vt:lpstr>
      <vt:lpstr>苏格拉底三段论</vt:lpstr>
      <vt:lpstr>第五章 一阶逻辑等值演算与推理 （回顾）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Amy</dc:creator>
  <cp:lastModifiedBy>zhenyanliu@bit.edu.cn</cp:lastModifiedBy>
  <cp:revision>484</cp:revision>
  <dcterms:created xsi:type="dcterms:W3CDTF">2007-11-19T20:33:00Z</dcterms:created>
  <dcterms:modified xsi:type="dcterms:W3CDTF">2025-10-21T00:31:58Z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932C5FD0BFCF47C9B72A9A098FFE41C2_12</vt:lpwstr>
  </property>
  <property fmtid="{D5CDD505-2E9C-101B-9397-08002B2CF9AE}" pid="3" name="KSOProductBuildVer">
    <vt:lpwstr>2052-12.1.0.22529</vt:lpwstr>
  </property>
</Properties>
</file>