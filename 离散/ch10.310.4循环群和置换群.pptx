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notesMasterIdLst>
    <p:notesMasterId r:id="rId5"/>
  </p:notesMasterIdLst>
  <p:handoutMasterIdLst>
    <p:handoutMasterId r:id="rId73"/>
  </p:handoutMasterIdLst>
  <p:sldIdLst>
    <p:sldId id="589" r:id="rId4"/>
    <p:sldId id="382" r:id="rId6"/>
    <p:sldId id="575" r:id="rId7"/>
    <p:sldId id="591" r:id="rId8"/>
    <p:sldId id="491" r:id="rId9"/>
    <p:sldId id="568" r:id="rId10"/>
    <p:sldId id="381" r:id="rId11"/>
    <p:sldId id="383" r:id="rId12"/>
    <p:sldId id="384" r:id="rId13"/>
    <p:sldId id="530" r:id="rId14"/>
    <p:sldId id="291" r:id="rId15"/>
    <p:sldId id="386" r:id="rId16"/>
    <p:sldId id="387" r:id="rId17"/>
    <p:sldId id="388" r:id="rId18"/>
    <p:sldId id="604" r:id="rId19"/>
    <p:sldId id="295" r:id="rId20"/>
    <p:sldId id="389" r:id="rId21"/>
    <p:sldId id="391" r:id="rId22"/>
    <p:sldId id="592" r:id="rId23"/>
    <p:sldId id="392" r:id="rId24"/>
    <p:sldId id="593" r:id="rId25"/>
    <p:sldId id="529" r:id="rId26"/>
    <p:sldId id="603" r:id="rId27"/>
    <p:sldId id="394" r:id="rId28"/>
    <p:sldId id="532" r:id="rId29"/>
    <p:sldId id="395" r:id="rId30"/>
    <p:sldId id="533" r:id="rId31"/>
    <p:sldId id="396" r:id="rId32"/>
    <p:sldId id="483" r:id="rId33"/>
    <p:sldId id="398" r:id="rId34"/>
    <p:sldId id="397" r:id="rId35"/>
    <p:sldId id="399" r:id="rId36"/>
    <p:sldId id="400" r:id="rId37"/>
    <p:sldId id="403" r:id="rId38"/>
    <p:sldId id="406" r:id="rId39"/>
    <p:sldId id="580" r:id="rId40"/>
    <p:sldId id="535" r:id="rId41"/>
    <p:sldId id="407" r:id="rId42"/>
    <p:sldId id="534" r:id="rId43"/>
    <p:sldId id="408" r:id="rId44"/>
    <p:sldId id="409" r:id="rId45"/>
    <p:sldId id="605" r:id="rId46"/>
    <p:sldId id="581" r:id="rId47"/>
    <p:sldId id="301" r:id="rId48"/>
    <p:sldId id="299" r:id="rId49"/>
    <p:sldId id="595" r:id="rId50"/>
    <p:sldId id="561" r:id="rId51"/>
    <p:sldId id="597" r:id="rId52"/>
    <p:sldId id="598" r:id="rId53"/>
    <p:sldId id="601" r:id="rId54"/>
    <p:sldId id="588" r:id="rId55"/>
    <p:sldId id="410" r:id="rId56"/>
    <p:sldId id="411" r:id="rId57"/>
    <p:sldId id="413" r:id="rId58"/>
    <p:sldId id="415" r:id="rId59"/>
    <p:sldId id="416" r:id="rId60"/>
    <p:sldId id="417" r:id="rId61"/>
    <p:sldId id="418" r:id="rId62"/>
    <p:sldId id="419" r:id="rId63"/>
    <p:sldId id="596" r:id="rId64"/>
    <p:sldId id="313" r:id="rId65"/>
    <p:sldId id="600" r:id="rId66"/>
    <p:sldId id="585" r:id="rId67"/>
    <p:sldId id="582" r:id="rId68"/>
    <p:sldId id="583" r:id="rId69"/>
    <p:sldId id="584" r:id="rId70"/>
    <p:sldId id="602" r:id="rId71"/>
    <p:sldId id="590" r:id="rId7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0000"/>
    <a:srgbClr val="0000FF"/>
    <a:srgbClr val="0066FF"/>
    <a:srgbClr val="99FF33"/>
    <a:srgbClr val="CC0000"/>
    <a:srgbClr val="D72323"/>
    <a:srgbClr val="AF1D1D"/>
    <a:srgbClr val="CC7900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816" autoAdjust="0"/>
    <p:restoredTop sz="34797" autoAdjust="0"/>
  </p:normalViewPr>
  <p:slideViewPr>
    <p:cSldViewPr showGuides="1">
      <p:cViewPr varScale="1">
        <p:scale>
          <a:sx n="24" d="100"/>
          <a:sy n="24" d="100"/>
        </p:scale>
        <p:origin x="1788" y="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handoutMaster" Target="handoutMasters/handoutMaster1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23E4B63-85AC-4AE9-9F42-F6D3780C3A7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457A8F-1595-4B5F-A2B3-091B2AAA007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C24549-2FD0-45F9-AFC8-2EC8EEB07F28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10.6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，令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={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baseline="30000" dirty="0" err="1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 err="1">
                <a:latin typeface="Arial" panose="020B0604020202020204" pitchFamily="34" charset="0"/>
              </a:rPr>
              <a:t>k</a:t>
            </a:r>
            <a:r>
              <a:rPr lang="en-US" altLang="zh-CN" dirty="0" err="1">
                <a:latin typeface="Arial" panose="020B0604020202020204" pitchFamily="34" charset="0"/>
              </a:rPr>
              <a:t>∈Z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的子群，称为由 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生成的子群</a:t>
            </a:r>
            <a:r>
              <a:rPr lang="zh-CN" altLang="en-US" dirty="0">
                <a:latin typeface="Arial" panose="020B0604020202020204" pitchFamily="34" charset="0"/>
              </a:rPr>
              <a:t>，记作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&gt;.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由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生成的子群最大，为</a:t>
            </a:r>
            <a:r>
              <a:rPr lang="en-US" altLang="zh-CN" dirty="0">
                <a:latin typeface="Arial" panose="020B0604020202020204" pitchFamily="34" charset="0"/>
              </a:rPr>
              <a:t>G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一个一个的检验：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kumimoji="1" lang="en-US" altLang="zh-CN" i="1" dirty="0"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1" lang="en-US" altLang="zh-CN" i="1" baseline="30000" dirty="0"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dirty="0">
                <a:latin typeface="Arial" panose="020B0604020202020204" pitchFamily="34" charset="0"/>
              </a:rPr>
              <a:t>&gt;={</a:t>
            </a:r>
            <a:r>
              <a:rPr kumimoji="1" lang="en-US" altLang="zh-CN" i="1" dirty="0"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1" lang="en-US" altLang="zh-CN" i="1" baseline="30000" dirty="0"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kumimoji="1" lang="en-US" altLang="zh-CN" i="1" dirty="0"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1" lang="en-US" altLang="zh-CN" i="1" baseline="30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</a:rPr>
              <a:t>&gt;={</a:t>
            </a:r>
            <a:r>
              <a:rPr kumimoji="1" lang="en-US" altLang="zh-CN" i="1" dirty="0"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1" lang="en-US" altLang="zh-CN" i="1" baseline="30000" dirty="0"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kumimoji="1" lang="zh-CN" altLang="en-US" i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kumimoji="1" lang="en-US" altLang="zh-CN" i="1" dirty="0">
                <a:latin typeface="Arial" panose="020B0604020202020204" pitchFamily="34" charset="0"/>
                <a:ea typeface="楷体_GB2312" pitchFamily="49" charset="-122"/>
              </a:rPr>
              <a:t>f </a:t>
            </a:r>
            <a:r>
              <a:rPr kumimoji="1" lang="en-US" altLang="zh-CN" i="1" baseline="30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A5002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A50021"/>
                </a:solidFill>
              </a:rPr>
              <a:t>L</a:t>
            </a:r>
            <a:r>
              <a:rPr lang="zh-CN" altLang="en-US" dirty="0">
                <a:solidFill>
                  <a:srgbClr val="A50021"/>
                </a:solidFill>
              </a:rPr>
              <a:t>定理的推论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 </a:t>
            </a:r>
            <a:r>
              <a:rPr lang="zh-CN" altLang="en-US" dirty="0"/>
              <a:t>对阶为素数的群</a:t>
            </a:r>
            <a:r>
              <a:rPr lang="en-US" altLang="zh-CN" i="1" dirty="0"/>
              <a:t>G</a:t>
            </a:r>
            <a:r>
              <a:rPr lang="zh-CN" altLang="en-US" dirty="0"/>
              <a:t>，必存在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使得</a:t>
            </a:r>
            <a:r>
              <a:rPr lang="en-US" altLang="zh-CN" i="1" dirty="0"/>
              <a:t>G </a:t>
            </a:r>
            <a:r>
              <a:rPr lang="en-US" altLang="zh-CN" dirty="0"/>
              <a:t>= 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因此，对于一个群，群阶为素数，则必有生成元，则必是循环群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若不是素数，可能有也可能没有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882AC3F-08BF-40CC-8911-2E96F8C11EBB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思考：如何确定生成元的个数，且快速地找到各个生成元？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8</a:t>
            </a:r>
            <a:r>
              <a:rPr lang="zh-CN" altLang="en-US" dirty="0"/>
              <a:t>互逆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7</a:t>
            </a:r>
            <a:r>
              <a:rPr lang="zh-CN" altLang="en-US" dirty="0"/>
              <a:t>互逆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互逆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没有一个元素可以生成</a:t>
            </a:r>
            <a:r>
              <a:rPr lang="en-US" altLang="zh-CN" dirty="0"/>
              <a:t>G</a:t>
            </a:r>
            <a:r>
              <a:rPr lang="en-US" altLang="zh-CN" kern="0" dirty="0"/>
              <a:t>={</a:t>
            </a:r>
            <a:r>
              <a:rPr lang="en-US" altLang="zh-CN" kern="0" dirty="0" err="1"/>
              <a:t>e,a,b,c</a:t>
            </a:r>
            <a:r>
              <a:rPr lang="en-US" altLang="zh-CN" kern="0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 </a:t>
            </a:r>
            <a:r>
              <a:rPr lang="zh-CN" altLang="en-US" dirty="0"/>
              <a:t>对阶为素数的群</a:t>
            </a:r>
            <a:r>
              <a:rPr lang="en-US" altLang="zh-CN" i="1" dirty="0"/>
              <a:t>G</a:t>
            </a:r>
            <a:r>
              <a:rPr lang="zh-CN" altLang="en-US" dirty="0"/>
              <a:t>，必存在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使得</a:t>
            </a:r>
            <a:r>
              <a:rPr lang="en-US" altLang="zh-CN" i="1" dirty="0"/>
              <a:t>G </a:t>
            </a:r>
            <a:r>
              <a:rPr lang="en-US" altLang="zh-CN" dirty="0"/>
              <a:t>= 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循环群都是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阶有限群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，若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阶元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，则该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群是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阶循环群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【</a:t>
            </a:r>
            <a:r>
              <a:rPr lang="zh-CN" altLang="en-US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原因：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阶有限群。如果群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含有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阶元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，即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|a|=n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，则可以以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为生成元，生成一个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阶循环子群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H={</a:t>
            </a:r>
            <a:r>
              <a:rPr lang="en-US" altLang="zh-CN" sz="1800" i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800" kern="0" baseline="30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800" i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i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800" kern="0" baseline="30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i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800" kern="0" baseline="30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,…,</a:t>
            </a:r>
            <a:r>
              <a:rPr lang="en-US" altLang="zh-CN" sz="1800" i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800" i="1" kern="0" baseline="30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en-US" altLang="zh-CN" sz="1800" kern="0" baseline="30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800" kern="0" baseline="300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（易于验证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中元素各不相同（反证法可证，若存在两个相同的元素，则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|a|&lt;n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，矛盾），且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显然满足作</a:t>
            </a:r>
            <a:r>
              <a:rPr lang="zh-CN" altLang="en-US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群的要求，从而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阶循环子群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而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阶子群只有一个，就是它自己，从而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G=H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，因此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zh-CN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是循环群。</a:t>
            </a:r>
            <a:r>
              <a:rPr lang="en-US" altLang="zh-CN" sz="1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】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A50021"/>
                </a:solidFill>
              </a:rPr>
              <a:t>命题</a:t>
            </a:r>
            <a:r>
              <a:rPr lang="zh-CN" altLang="en-US" dirty="0"/>
              <a:t>：如果群 </a:t>
            </a:r>
            <a:r>
              <a:rPr lang="en-US" altLang="zh-CN" i="1" dirty="0"/>
              <a:t>G </a:t>
            </a:r>
            <a:r>
              <a:rPr lang="zh-CN" altLang="en-US" dirty="0"/>
              <a:t>只含 </a:t>
            </a:r>
            <a:r>
              <a:rPr lang="en-US" altLang="zh-CN" dirty="0"/>
              <a:t>1 </a:t>
            </a:r>
            <a:r>
              <a:rPr lang="zh-CN" altLang="en-US" dirty="0"/>
              <a:t>阶和 </a:t>
            </a:r>
            <a:r>
              <a:rPr lang="en-US" altLang="zh-CN" dirty="0"/>
              <a:t>2 </a:t>
            </a:r>
            <a:r>
              <a:rPr lang="zh-CN" altLang="en-US" dirty="0"/>
              <a:t>阶元，则 </a:t>
            </a:r>
            <a:r>
              <a:rPr lang="en-US" altLang="zh-CN" i="1" dirty="0"/>
              <a:t>G </a:t>
            </a:r>
            <a:r>
              <a:rPr lang="zh-CN" altLang="en-US" dirty="0"/>
              <a:t>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每个有限生成子群都是循环群，生成元阶数就是循环群的阶数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是</a:t>
            </a:r>
            <a:r>
              <a:rPr lang="en-US" altLang="zh-CN" i="1" dirty="0"/>
              <a:t>n </a:t>
            </a:r>
            <a:r>
              <a:rPr lang="zh-CN" altLang="en-US" dirty="0"/>
              <a:t>阶元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10.4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是群，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，使得等式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baseline="30000" dirty="0" err="1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en-US" altLang="zh-CN" i="1" dirty="0">
                <a:latin typeface="Arial" panose="020B0604020202020204" pitchFamily="34" charset="0"/>
              </a:rPr>
              <a:t>e </a:t>
            </a:r>
            <a:r>
              <a:rPr lang="zh-CN" altLang="en-US" dirty="0">
                <a:latin typeface="Arial" panose="020B0604020202020204" pitchFamily="34" charset="0"/>
              </a:rPr>
              <a:t>成立的最小正整数</a:t>
            </a:r>
            <a:r>
              <a:rPr lang="en-US" altLang="zh-CN" i="1" dirty="0">
                <a:latin typeface="Arial" panose="020B0604020202020204" pitchFamily="34" charset="0"/>
              </a:rPr>
              <a:t>k </a:t>
            </a:r>
            <a:r>
              <a:rPr lang="zh-CN" altLang="en-US" dirty="0">
                <a:latin typeface="Arial" panose="020B0604020202020204" pitchFamily="34" charset="0"/>
              </a:rPr>
              <a:t>称为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</a:rPr>
              <a:t>的阶，记作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|=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，称 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</a:rPr>
              <a:t>为 </a:t>
            </a:r>
            <a:r>
              <a:rPr lang="en-US" altLang="zh-CN" i="1" dirty="0">
                <a:solidFill>
                  <a:srgbClr val="A50021"/>
                </a:solidFill>
                <a:latin typeface="Arial" panose="020B0604020202020204" pitchFamily="34" charset="0"/>
              </a:rPr>
              <a:t>k 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阶元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若不存在这样的正整数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，则称 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无限阶元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&lt;Z,+&gt;</a:t>
            </a:r>
            <a:r>
              <a:rPr lang="zh-CN" altLang="en-US" dirty="0">
                <a:latin typeface="Arial" panose="020B0604020202020204" pitchFamily="34" charset="0"/>
              </a:rPr>
              <a:t>中，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阶元，其它整数都是无限阶元。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&lt;Z,+&gt;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en-US" altLang="zh-CN" dirty="0">
                <a:latin typeface="Arial" panose="020B0604020202020204" pitchFamily="34" charset="0"/>
              </a:rPr>
              <a:t>e=0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22B5A2-6A80-46DF-871D-7A0321BCB220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这里强调已经提前已知了这个循环群的一个生成元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若一个也不知道，需要首先至少找到一个，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再由这一个找到其他的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互质是公约数只有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的两个整数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循环群的生成元的逆一定也是生成元（</a:t>
            </a:r>
            <a:r>
              <a:rPr lang="zh-CN" altLang="en-US" dirty="0">
                <a:solidFill>
                  <a:srgbClr val="333333"/>
                </a:solidFill>
                <a:effectLst/>
                <a:sym typeface="+mn-ea"/>
              </a:rPr>
              <a:t>生成元的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逆元仍能通过幂运算生成所有元素）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当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n&gt;2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时，欧拉函数是偶数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&lt;Z</a:t>
            </a:r>
            <a:r>
              <a:rPr lang="en-US" altLang="zh-CN" baseline="-25000" dirty="0">
                <a:latin typeface="Arial" panose="020B0604020202020204" pitchFamily="34" charset="0"/>
              </a:rPr>
              <a:t>12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&gt;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&lt;1&gt; 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12</a:t>
            </a:r>
            <a:r>
              <a:rPr lang="zh-CN" altLang="en-US" dirty="0">
                <a:latin typeface="Arial" panose="020B0604020202020204" pitchFamily="34" charset="0"/>
              </a:rPr>
              <a:t>阶循环群</a:t>
            </a:r>
            <a:r>
              <a:rPr lang="en-US" altLang="zh-CN" dirty="0">
                <a:latin typeface="Arial" panose="020B0604020202020204" pitchFamily="34" charset="0"/>
              </a:rPr>
              <a:t>【</a:t>
            </a:r>
            <a:r>
              <a:rPr lang="zh-CN" altLang="en-US" dirty="0">
                <a:latin typeface="Arial" panose="020B0604020202020204" pitchFamily="34" charset="0"/>
              </a:rPr>
              <a:t>首先确定一个生成元，然后找出剩余的全部</a:t>
            </a:r>
            <a:r>
              <a:rPr lang="en-US" altLang="zh-CN" dirty="0">
                <a:latin typeface="Arial" panose="020B0604020202020204" pitchFamily="34" charset="0"/>
              </a:rPr>
              <a:t>】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是生成元，则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en-US" altLang="zh-CN" baseline="30000" dirty="0"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</a:rPr>
              <a:t>=1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en-US" altLang="zh-CN" baseline="30000" dirty="0">
                <a:latin typeface="Arial" panose="020B0604020202020204" pitchFamily="34" charset="0"/>
              </a:rPr>
              <a:t>5</a:t>
            </a:r>
            <a:r>
              <a:rPr lang="en-US" altLang="zh-CN" dirty="0">
                <a:latin typeface="Arial" panose="020B0604020202020204" pitchFamily="34" charset="0"/>
              </a:rPr>
              <a:t>=5,  1</a:t>
            </a:r>
            <a:r>
              <a:rPr lang="en-US" altLang="zh-CN" baseline="30000" dirty="0">
                <a:latin typeface="Arial" panose="020B0604020202020204" pitchFamily="34" charset="0"/>
              </a:rPr>
              <a:t>7</a:t>
            </a:r>
            <a:r>
              <a:rPr lang="en-US" altLang="zh-CN" dirty="0">
                <a:latin typeface="Arial" panose="020B0604020202020204" pitchFamily="34" charset="0"/>
              </a:rPr>
              <a:t>=7,  1</a:t>
            </a:r>
            <a:r>
              <a:rPr lang="en-US" altLang="zh-CN" baseline="30000" dirty="0">
                <a:latin typeface="Arial" panose="020B0604020202020204" pitchFamily="34" charset="0"/>
              </a:rPr>
              <a:t>11</a:t>
            </a:r>
            <a:r>
              <a:rPr lang="en-US" altLang="zh-CN" dirty="0">
                <a:latin typeface="Arial" panose="020B0604020202020204" pitchFamily="34" charset="0"/>
              </a:rPr>
              <a:t>=11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en-US" altLang="zh-CN" baseline="30000" dirty="0">
                <a:latin typeface="Arial" panose="020B0604020202020204" pitchFamily="34" charset="0"/>
              </a:rPr>
              <a:t>-1</a:t>
            </a:r>
            <a:r>
              <a:rPr lang="zh-CN" altLang="en-US" dirty="0">
                <a:latin typeface="Arial" panose="020B0604020202020204" pitchFamily="34" charset="0"/>
              </a:rPr>
              <a:t>）是生成元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同理，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是生成元，则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en-US" altLang="zh-CN" baseline="30000" dirty="0"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</a:rPr>
              <a:t>=5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en-US" altLang="zh-CN" baseline="30000" dirty="0">
                <a:latin typeface="Arial" panose="020B0604020202020204" pitchFamily="34" charset="0"/>
              </a:rPr>
              <a:t>5</a:t>
            </a:r>
            <a:r>
              <a:rPr lang="en-US" altLang="zh-CN" dirty="0">
                <a:latin typeface="Arial" panose="020B0604020202020204" pitchFamily="34" charset="0"/>
              </a:rPr>
              <a:t>=1,  5</a:t>
            </a:r>
            <a:r>
              <a:rPr lang="en-US" altLang="zh-CN" baseline="30000" dirty="0">
                <a:latin typeface="Arial" panose="020B0604020202020204" pitchFamily="34" charset="0"/>
              </a:rPr>
              <a:t>7</a:t>
            </a:r>
            <a:r>
              <a:rPr lang="en-US" altLang="zh-CN" dirty="0">
                <a:latin typeface="Arial" panose="020B0604020202020204" pitchFamily="34" charset="0"/>
              </a:rPr>
              <a:t>=11,  5</a:t>
            </a:r>
            <a:r>
              <a:rPr lang="en-US" altLang="zh-CN" baseline="30000" dirty="0">
                <a:latin typeface="Arial" panose="020B0604020202020204" pitchFamily="34" charset="0"/>
              </a:rPr>
              <a:t>11</a:t>
            </a:r>
            <a:r>
              <a:rPr lang="en-US" altLang="zh-CN" dirty="0">
                <a:latin typeface="Arial" panose="020B0604020202020204" pitchFamily="34" charset="0"/>
              </a:rPr>
              <a:t>=7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5</a:t>
            </a:r>
            <a:r>
              <a:rPr lang="en-US" altLang="zh-CN" baseline="30000" dirty="0">
                <a:latin typeface="Arial" panose="020B0604020202020204" pitchFamily="34" charset="0"/>
              </a:rPr>
              <a:t>-1</a:t>
            </a:r>
            <a:r>
              <a:rPr lang="zh-CN" altLang="en-US" dirty="0">
                <a:latin typeface="Arial" panose="020B0604020202020204" pitchFamily="34" charset="0"/>
              </a:rPr>
              <a:t>）是生成元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……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AC4F26F-D7BE-4F2E-870F-FE93D28C0464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2AF9340-0349-42AB-BD60-61A7AF69CEEB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kern="0" dirty="0">
                <a:solidFill>
                  <a:srgbClr val="A50021"/>
                </a:solidFill>
              </a:rPr>
              <a:t>1</a:t>
            </a:r>
            <a:r>
              <a:rPr lang="zh-CN" altLang="en-US" kern="0" dirty="0">
                <a:solidFill>
                  <a:srgbClr val="A50021"/>
                </a:solidFill>
              </a:rPr>
              <a:t>先证</a:t>
            </a:r>
            <a:r>
              <a:rPr lang="en-US" altLang="zh-CN" sz="2000" i="1" dirty="0"/>
              <a:t>a</a:t>
            </a:r>
            <a:r>
              <a:rPr lang="en-US" altLang="zh-CN" sz="2000" baseline="30000" dirty="0">
                <a:sym typeface="Symbol" panose="05050102010706020507" pitchFamily="18" charset="2"/>
              </a:rPr>
              <a:t></a:t>
            </a:r>
            <a:r>
              <a:rPr lang="en-US" altLang="zh-CN" sz="2000" baseline="30000" dirty="0"/>
              <a:t>1</a:t>
            </a:r>
            <a:r>
              <a:rPr lang="zh-CN" altLang="en-US" sz="2000" dirty="0"/>
              <a:t>是</a:t>
            </a:r>
            <a:r>
              <a:rPr lang="en-US" altLang="zh-CN" sz="2000" i="1" dirty="0"/>
              <a:t>G</a:t>
            </a:r>
            <a:r>
              <a:rPr lang="zh-CN" altLang="en-US" sz="2000" dirty="0"/>
              <a:t>的生成元</a:t>
            </a:r>
            <a:r>
              <a:rPr lang="zh-CN" altLang="en-US" kern="0" dirty="0">
                <a:solidFill>
                  <a:srgbClr val="A50021"/>
                </a:solidFill>
              </a:rPr>
              <a:t>（</a:t>
            </a:r>
            <a:r>
              <a:rPr lang="zh-CN" altLang="en-US" sz="2000" dirty="0">
                <a:solidFill>
                  <a:srgbClr val="00B050"/>
                </a:solidFill>
              </a:rPr>
              <a:t>即证</a:t>
            </a:r>
            <a:r>
              <a:rPr lang="en-US" altLang="zh-CN" sz="2000" i="1" dirty="0">
                <a:solidFill>
                  <a:srgbClr val="00B050"/>
                </a:solidFill>
              </a:rPr>
              <a:t>G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en-US" altLang="zh-CN" sz="2000" i="1" dirty="0">
                <a:solidFill>
                  <a:srgbClr val="00B050"/>
                </a:solidFill>
              </a:rPr>
              <a:t>a</a:t>
            </a:r>
            <a:r>
              <a:rPr lang="en-US" altLang="zh-CN" sz="2000" baseline="30000" dirty="0">
                <a:solidFill>
                  <a:srgbClr val="00B05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000" baseline="30000" dirty="0">
                <a:solidFill>
                  <a:srgbClr val="00B050"/>
                </a:solidFill>
              </a:rPr>
              <a:t>1</a:t>
            </a:r>
            <a:r>
              <a:rPr lang="en-US" altLang="zh-CN" sz="2000" dirty="0">
                <a:solidFill>
                  <a:srgbClr val="00B050"/>
                </a:solidFill>
              </a:rPr>
              <a:t>&gt;</a:t>
            </a:r>
            <a:r>
              <a:rPr lang="zh-CN" altLang="en-US" sz="2000" dirty="0"/>
              <a:t>，转化为证互包含</a:t>
            </a:r>
            <a:r>
              <a:rPr lang="zh-CN" altLang="en-US" kern="0" dirty="0">
                <a:solidFill>
                  <a:srgbClr val="A50021"/>
                </a:solidFill>
              </a:rPr>
              <a:t>）</a:t>
            </a:r>
            <a:endParaRPr lang="en-US" altLang="zh-CN" kern="0" dirty="0">
              <a:solidFill>
                <a:srgbClr val="A50021"/>
              </a:solidFill>
            </a:endParaRPr>
          </a:p>
          <a:p>
            <a:pPr eaLnBrk="1" hangingPunct="1">
              <a:defRPr/>
            </a:pPr>
            <a:r>
              <a:rPr lang="en-US" altLang="zh-CN" kern="0" dirty="0">
                <a:solidFill>
                  <a:srgbClr val="A50021"/>
                </a:solidFill>
              </a:rPr>
              <a:t>2</a:t>
            </a:r>
            <a:r>
              <a:rPr lang="zh-CN" altLang="en-US" kern="0" dirty="0">
                <a:solidFill>
                  <a:srgbClr val="A50021"/>
                </a:solidFill>
              </a:rPr>
              <a:t>再证只有</a:t>
            </a:r>
            <a:r>
              <a:rPr lang="en-US" altLang="zh-CN" i="1" kern="0" dirty="0"/>
              <a:t>a</a:t>
            </a:r>
            <a:r>
              <a:rPr lang="zh-CN" altLang="en-US" kern="0" dirty="0"/>
              <a:t>和</a:t>
            </a:r>
            <a:r>
              <a:rPr lang="en-US" altLang="zh-CN" i="1" kern="0" dirty="0"/>
              <a:t>a</a:t>
            </a:r>
            <a:r>
              <a:rPr lang="en-US" altLang="zh-CN" kern="0" baseline="30000" dirty="0">
                <a:sym typeface="Symbol" panose="05050102010706020507" pitchFamily="18" charset="2"/>
              </a:rPr>
              <a:t></a:t>
            </a:r>
            <a:r>
              <a:rPr lang="en-US" altLang="zh-CN" kern="0" baseline="30000" dirty="0"/>
              <a:t>1</a:t>
            </a:r>
            <a:endParaRPr lang="en-US" altLang="zh-CN" kern="0" dirty="0">
              <a:solidFill>
                <a:srgbClr val="A50021"/>
              </a:solidFill>
            </a:endParaRPr>
          </a:p>
          <a:p>
            <a:pPr eaLnBrk="1" hangingPunct="1"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dirty="0"/>
              <a:t>显然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r>
              <a:rPr lang="zh-CN" altLang="en-US" dirty="0"/>
              <a:t>是因为生成子群的定义：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，令</a:t>
            </a:r>
            <a:r>
              <a:rPr lang="en-US" altLang="zh-CN" i="1" dirty="0"/>
              <a:t>H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</a:t>
            </a:r>
            <a:r>
              <a:rPr lang="zh-CN" altLang="en-US" dirty="0"/>
              <a:t>，则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的子群，称为由 </a:t>
            </a:r>
            <a:r>
              <a:rPr lang="en-US" altLang="zh-CN" i="1" dirty="0"/>
              <a:t>a </a:t>
            </a:r>
            <a:r>
              <a:rPr lang="zh-CN" altLang="en-US" dirty="0">
                <a:solidFill>
                  <a:srgbClr val="A50021"/>
                </a:solidFill>
              </a:rPr>
              <a:t>生成的子群</a:t>
            </a:r>
            <a:r>
              <a:rPr lang="zh-CN" altLang="en-US" dirty="0"/>
              <a:t>，记作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  <a:endParaRPr lang="en-US" altLang="zh-CN" dirty="0"/>
          </a:p>
          <a:p>
            <a:pPr eaLnBrk="1" hangingPunct="1">
              <a:defRPr/>
            </a:pP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分析：要证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的生成元就是证</a:t>
            </a:r>
            <a:r>
              <a:rPr lang="en-US" altLang="zh-CN" i="1" dirty="0">
                <a:latin typeface="Arial" panose="020B0604020202020204" pitchFamily="34" charset="0"/>
              </a:rPr>
              <a:t>G </a:t>
            </a:r>
            <a:r>
              <a:rPr lang="en-US" altLang="zh-CN" dirty="0">
                <a:latin typeface="Arial" panose="020B0604020202020204" pitchFamily="34" charset="0"/>
              </a:rPr>
              <a:t>= &lt;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baseline="30000" dirty="0" err="1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en-US" dirty="0">
                <a:latin typeface="Arial" panose="020B0604020202020204" pitchFamily="34" charset="0"/>
              </a:rPr>
              <a:t>，转化为证集合的互包含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显然</a:t>
            </a:r>
            <a:r>
              <a:rPr lang="en-US" altLang="zh-CN" sz="2000" dirty="0"/>
              <a:t>&lt;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r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i="1" dirty="0"/>
              <a:t>G</a:t>
            </a:r>
            <a:r>
              <a:rPr lang="zh-CN" altLang="en-US" sz="2000" i="1" dirty="0"/>
              <a:t>，对于</a:t>
            </a:r>
            <a:r>
              <a:rPr lang="en-US" altLang="zh-CN" sz="2000" i="1" dirty="0"/>
              <a:t>G</a:t>
            </a:r>
            <a:r>
              <a:rPr lang="en-US" altLang="zh-CN" sz="2000" dirty="0">
                <a:sym typeface="Symbol" panose="05050102010706020507" pitchFamily="18" charset="2"/>
              </a:rPr>
              <a:t></a:t>
            </a:r>
            <a:r>
              <a:rPr lang="en-US" altLang="zh-CN" sz="2000" dirty="0"/>
              <a:t>&lt;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r</a:t>
            </a:r>
            <a:r>
              <a:rPr lang="en-US" altLang="zh-CN" sz="2000" dirty="0"/>
              <a:t>&gt;</a:t>
            </a:r>
            <a:r>
              <a:rPr lang="zh-CN" altLang="en-US" sz="2000" dirty="0"/>
              <a:t>，转为证任意的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 err="1"/>
              <a:t>∈</a:t>
            </a:r>
            <a:r>
              <a:rPr lang="en-US" altLang="zh-CN" sz="2000" i="1" dirty="0" err="1"/>
              <a:t>G</a:t>
            </a:r>
            <a:r>
              <a:rPr lang="zh-CN" altLang="en-US" sz="2000" i="1" dirty="0"/>
              <a:t>，</a:t>
            </a:r>
            <a:r>
              <a:rPr lang="en-US" altLang="zh-CN" sz="2000" i="1" dirty="0"/>
              <a:t>……</a:t>
            </a:r>
            <a:r>
              <a:rPr lang="zh-CN" altLang="en-US" sz="2000" i="1" dirty="0"/>
              <a:t>，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∈&lt;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zh-CN" altLang="en-US" sz="2000" dirty="0">
                <a:latin typeface="Arial" panose="020B0604020202020204" pitchFamily="34" charset="0"/>
              </a:rPr>
              <a:t>关键是如何把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k</a:t>
            </a:r>
            <a:r>
              <a:rPr lang="zh-CN" altLang="en-US" sz="2000" dirty="0">
                <a:latin typeface="Arial" panose="020B0604020202020204" pitchFamily="34" charset="0"/>
              </a:rPr>
              <a:t>表示为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r</a:t>
            </a:r>
            <a:r>
              <a:rPr lang="zh-CN" altLang="en-US" sz="2000" dirty="0">
                <a:latin typeface="Arial" panose="020B0604020202020204" pitchFamily="34" charset="0"/>
              </a:rPr>
              <a:t>的幂表示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数论中有定理：整数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互质的充要条件是存在整数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y,</a:t>
            </a:r>
            <a:r>
              <a:rPr lang="zh-CN" altLang="en-US" dirty="0">
                <a:latin typeface="Arial" panose="020B0604020202020204" pitchFamily="34" charset="0"/>
              </a:rPr>
              <a:t>使得</a:t>
            </a:r>
            <a:r>
              <a:rPr lang="en-US" altLang="zh-CN" dirty="0" err="1">
                <a:latin typeface="Arial" panose="020B0604020202020204" pitchFamily="34" charset="0"/>
              </a:rPr>
              <a:t>xa+yb</a:t>
            </a:r>
            <a:r>
              <a:rPr lang="en-US" altLang="zh-CN" dirty="0">
                <a:latin typeface="Arial" panose="020B0604020202020204" pitchFamily="34" charset="0"/>
              </a:rPr>
              <a:t>=1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DF5B9D-B023-44A5-B295-4E68795F863A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分析：欲证明</a:t>
            </a:r>
            <a:r>
              <a:rPr lang="en-US" altLang="zh-CN" sz="2000" i="1" dirty="0"/>
              <a:t>r</a:t>
            </a:r>
            <a:r>
              <a:rPr lang="zh-CN" altLang="en-US" sz="2000" dirty="0"/>
              <a:t>与</a:t>
            </a:r>
            <a:r>
              <a:rPr lang="en-US" altLang="zh-CN" sz="2000" i="1" dirty="0"/>
              <a:t>n</a:t>
            </a:r>
            <a:r>
              <a:rPr lang="zh-CN" altLang="en-US" sz="2000" dirty="0"/>
              <a:t>互素</a:t>
            </a:r>
            <a:r>
              <a:rPr lang="en-US" altLang="zh-CN" sz="2000" dirty="0"/>
              <a:t>,</a:t>
            </a:r>
            <a:r>
              <a:rPr lang="zh-CN" altLang="en-US" sz="2000" dirty="0"/>
              <a:t>可等同于证</a:t>
            </a:r>
            <a:r>
              <a:rPr lang="en-US" altLang="zh-CN" sz="2000" i="1" dirty="0"/>
              <a:t>r</a:t>
            </a:r>
            <a:r>
              <a:rPr lang="zh-CN" altLang="en-US" sz="2000" dirty="0"/>
              <a:t>与</a:t>
            </a:r>
            <a:r>
              <a:rPr lang="en-US" altLang="zh-CN" sz="2000" i="1" dirty="0"/>
              <a:t>n</a:t>
            </a:r>
            <a:r>
              <a:rPr lang="zh-CN" altLang="en-US" sz="2000" dirty="0"/>
              <a:t>的最大公约数为</a:t>
            </a:r>
            <a:r>
              <a:rPr lang="en-US" altLang="zh-CN" sz="2000" i="1" dirty="0"/>
              <a:t>d=1</a:t>
            </a:r>
            <a:endParaRPr lang="en-US" altLang="zh-CN" sz="2000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i="1" dirty="0">
                <a:latin typeface="Arial" panose="020B0604020202020204" pitchFamily="34" charset="0"/>
              </a:rPr>
              <a:t>【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两个自然数互素是公约数只有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en-US" altLang="zh-CN" sz="2000" i="1" dirty="0">
                <a:latin typeface="Arial" panose="020B0604020202020204" pitchFamily="34" charset="0"/>
              </a:rPr>
              <a:t>】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也就是要证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整除</a:t>
            </a:r>
            <a:r>
              <a:rPr lang="en-US" altLang="zh-CN" dirty="0">
                <a:latin typeface="Arial" panose="020B0604020202020204" pitchFamily="34" charset="0"/>
              </a:rPr>
              <a:t>n/d</a:t>
            </a:r>
            <a:r>
              <a:rPr lang="zh-CN" altLang="en-US" dirty="0">
                <a:latin typeface="Arial" panose="020B0604020202020204" pitchFamily="34" charset="0"/>
              </a:rPr>
              <a:t>，即因为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i="1" dirty="0" err="1">
                <a:solidFill>
                  <a:srgbClr val="FF0000"/>
                </a:solidFill>
              </a:rPr>
              <a:t>a</a:t>
            </a:r>
            <a:r>
              <a:rPr lang="en-US" altLang="zh-CN" sz="2000" i="1" baseline="30000" dirty="0" err="1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i="1" baseline="30000" dirty="0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= </a:t>
            </a:r>
            <a:r>
              <a:rPr lang="en-US" altLang="zh-CN" sz="2000" i="1" dirty="0">
                <a:solidFill>
                  <a:srgbClr val="FF0000"/>
                </a:solidFill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要证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i="1" dirty="0" err="1">
                <a:solidFill>
                  <a:srgbClr val="FF0000"/>
                </a:solidFill>
              </a:rPr>
              <a:t>a</a:t>
            </a:r>
            <a:r>
              <a:rPr lang="en-US" altLang="zh-CN" sz="2000" i="1" baseline="30000" dirty="0" err="1">
                <a:solidFill>
                  <a:srgbClr val="FF0000"/>
                </a:solidFill>
              </a:rPr>
              <a:t>r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i="1" baseline="30000" dirty="0">
                <a:solidFill>
                  <a:srgbClr val="FF0000"/>
                </a:solidFill>
              </a:rPr>
              <a:t>n/d </a:t>
            </a:r>
            <a:r>
              <a:rPr lang="en-US" altLang="zh-CN" sz="2000" dirty="0">
                <a:solidFill>
                  <a:srgbClr val="FF0000"/>
                </a:solidFill>
              </a:rPr>
              <a:t>= </a:t>
            </a:r>
            <a:r>
              <a:rPr lang="en-US" altLang="zh-CN" sz="2000" i="1" dirty="0">
                <a:solidFill>
                  <a:srgbClr val="FF0000"/>
                </a:solidFill>
              </a:rPr>
              <a:t>e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红色部分利用了：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10.2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且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 =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是整数，则 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baseline="30000" dirty="0" err="1">
                <a:latin typeface="Arial" panose="020B0604020202020204" pitchFamily="34" charset="0"/>
              </a:rPr>
              <a:t>k</a:t>
            </a:r>
            <a:r>
              <a:rPr lang="en-US" altLang="zh-CN" i="1" baseline="30000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当且仅当</a:t>
            </a:r>
            <a:r>
              <a:rPr lang="en-US" altLang="zh-CN" i="1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sz="2000" i="1" dirty="0"/>
              <a:t>n</a:t>
            </a:r>
            <a:r>
              <a:rPr lang="zh-CN" altLang="en-US" sz="2000" dirty="0"/>
              <a:t>整除</a:t>
            </a:r>
            <a:r>
              <a:rPr lang="en-US" altLang="zh-CN" sz="2000" i="1" dirty="0"/>
              <a:t>n/d </a:t>
            </a:r>
            <a:r>
              <a:rPr lang="zh-CN" altLang="en-US" sz="2000" i="1" dirty="0"/>
              <a:t>即：</a:t>
            </a:r>
            <a:r>
              <a:rPr lang="en-US" altLang="zh-CN" sz="2000" i="1" dirty="0"/>
              <a:t>n/d</a:t>
            </a:r>
            <a:r>
              <a:rPr lang="zh-CN" altLang="en-US" sz="2000" i="1" dirty="0"/>
              <a:t>是</a:t>
            </a:r>
            <a:r>
              <a:rPr lang="en-US" altLang="zh-CN" sz="2000" i="1" dirty="0"/>
              <a:t>n</a:t>
            </a:r>
            <a:r>
              <a:rPr lang="zh-CN" altLang="en-US" sz="2000" i="1" dirty="0"/>
              <a:t>整数倍，因此，必是</a:t>
            </a:r>
            <a:r>
              <a:rPr lang="en-US" altLang="zh-CN" sz="2000" i="1" dirty="0"/>
              <a:t>d=1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E3D8C8C-B8A0-4783-87F9-CB3F0013E4F9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一个群若是循环群，则其子群都是循环群，反之不真</a:t>
            </a:r>
            <a:endParaRPr lang="en-US" altLang="zh-CN" dirty="0"/>
          </a:p>
          <a:p>
            <a:r>
              <a:rPr lang="zh-CN" altLang="en-US" dirty="0"/>
              <a:t>比如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={ (1), (1 2), (1 3), (2 3), (1 2 3), (1 3 2) }</a:t>
            </a:r>
            <a:r>
              <a:rPr lang="zh-CN" altLang="en-US" dirty="0"/>
              <a:t>后面会讲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此群的所有元素对应的生成子群都是循环群，但是此群却不是循环群。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告诉我们循环群的子群一定是生成子群</a:t>
            </a:r>
            <a:endParaRPr lang="en-US" altLang="zh-CN" dirty="0"/>
          </a:p>
          <a:p>
            <a:r>
              <a:rPr lang="zh-CN" altLang="en-US" dirty="0"/>
              <a:t>但是，对于一般群，各个元素去生成的子群一定是子群（也即为循环子群），但是还有子群不是由某个元素生成的（就是说有非循环子群）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告诉我们循环群的各阶子群只有一个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通过此例体会定理的证明</a:t>
            </a:r>
            <a:endParaRPr lang="en-US" altLang="zh-CN" dirty="0"/>
          </a:p>
          <a:p>
            <a:r>
              <a:rPr lang="zh-CN" altLang="en-US" dirty="0"/>
              <a:t>此时思考，这些生成子群是全部子群了吗？各阶子群唯一吗？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C687A0-4006-42E6-A7A1-39051D6FF78D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最小正方幂元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指数</a:t>
            </a:r>
            <a:r>
              <a:rPr lang="en-US" altLang="zh-CN" dirty="0">
                <a:latin typeface="Arial" panose="020B0604020202020204" pitchFamily="34" charset="0"/>
              </a:rPr>
              <a:t>【</a:t>
            </a:r>
            <a:r>
              <a:rPr lang="zh-CN" altLang="en-US" dirty="0">
                <a:latin typeface="Arial" panose="020B0604020202020204" pitchFamily="34" charset="0"/>
              </a:rPr>
              <a:t>最小且为正</a:t>
            </a:r>
            <a:r>
              <a:rPr lang="en-US" altLang="zh-CN" dirty="0">
                <a:latin typeface="Arial" panose="020B0604020202020204" pitchFamily="34" charset="0"/>
              </a:rPr>
              <a:t>】</a:t>
            </a:r>
            <a:r>
              <a:rPr lang="zh-CN" altLang="en-US" dirty="0">
                <a:latin typeface="Arial" panose="020B0604020202020204" pitchFamily="34" charset="0"/>
              </a:rPr>
              <a:t>的元素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方幂也就是整数幂的另一种说法（不用</a:t>
            </a:r>
            <a:r>
              <a:rPr lang="en-US" altLang="zh-CN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以旋转群中的</a:t>
            </a:r>
            <a:r>
              <a:rPr lang="en-US" altLang="zh-CN" dirty="0">
                <a:latin typeface="Arial" panose="020B0604020202020204" pitchFamily="34" charset="0"/>
              </a:rPr>
              <a:t>&lt;120&gt;</a:t>
            </a:r>
            <a:r>
              <a:rPr lang="zh-CN" altLang="en-US" dirty="0">
                <a:latin typeface="Arial" panose="020B0604020202020204" pitchFamily="34" charset="0"/>
              </a:rPr>
              <a:t>为例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zh-CN" dirty="0">
                <a:latin typeface="Arial" panose="020B0604020202020204" pitchFamily="34" charset="0"/>
              </a:rPr>
              <a:t>是循环群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Arial" panose="020B0604020202020204" pitchFamily="34" charset="0"/>
              </a:rPr>
              <a:t>)=&lt;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zh-CN" dirty="0">
                <a:latin typeface="Arial" panose="020B0604020202020204" pitchFamily="34" charset="0"/>
              </a:rPr>
              <a:t>的一个子群，则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zh-CN" dirty="0">
                <a:latin typeface="Arial" panose="020B0604020202020204" pitchFamily="34" charset="0"/>
              </a:rPr>
              <a:t>中的元素都可表示成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zh-CN" altLang="zh-CN" dirty="0">
                <a:latin typeface="Arial" panose="020B0604020202020204" pitchFamily="34" charset="0"/>
              </a:rPr>
              <a:t>的一些正方幂。</a:t>
            </a:r>
            <a:endParaRPr lang="zh-CN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m</a:t>
            </a:r>
            <a:r>
              <a:rPr lang="zh-CN" altLang="zh-CN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zh-CN" dirty="0">
                <a:latin typeface="Arial" panose="020B0604020202020204" pitchFamily="34" charset="0"/>
              </a:rPr>
              <a:t>中指数最小的正方幂，我们来证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Arial" panose="020B0604020202020204" pitchFamily="34" charset="0"/>
              </a:rPr>
              <a:t>)=&lt;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m</a:t>
            </a:r>
            <a:r>
              <a:rPr lang="en-US" altLang="zh-CN" dirty="0">
                <a:latin typeface="Arial" panose="020B0604020202020204" pitchFamily="34" charset="0"/>
              </a:rPr>
              <a:t>&gt;</a:t>
            </a:r>
            <a:r>
              <a:rPr lang="zh-CN" altLang="zh-CN" dirty="0">
                <a:latin typeface="Arial" panose="020B0604020202020204" pitchFamily="34" charset="0"/>
              </a:rPr>
              <a:t>。为此只要证明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zh-CN" dirty="0">
                <a:latin typeface="Arial" panose="020B0604020202020204" pitchFamily="34" charset="0"/>
              </a:rPr>
              <a:t>中任一元素都可表示成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m</a:t>
            </a:r>
            <a:r>
              <a:rPr lang="zh-CN" altLang="zh-CN" dirty="0">
                <a:latin typeface="Arial" panose="020B0604020202020204" pitchFamily="34" charset="0"/>
              </a:rPr>
              <a:t>的正方幂即可。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67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D2180F-8674-404B-939E-70C51B636ABF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生成子群的元素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的阶就是生成子群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</a:t>
            </a:r>
            <a:endParaRPr lang="en-US" altLang="zh-CN" sz="2000" dirty="0">
              <a:solidFill>
                <a:srgbClr val="0066FF"/>
              </a:solidFill>
            </a:endParaRPr>
          </a:p>
          <a:p>
            <a:r>
              <a:rPr lang="zh-CN" altLang="en-US" sz="2000" dirty="0">
                <a:solidFill>
                  <a:srgbClr val="0066FF"/>
                </a:solidFill>
              </a:rPr>
              <a:t>（</a:t>
            </a:r>
            <a:r>
              <a:rPr lang="en-US" altLang="zh-CN" sz="2000" dirty="0">
                <a:solidFill>
                  <a:srgbClr val="0066FF"/>
                </a:solidFill>
              </a:rPr>
              <a:t>1</a:t>
            </a:r>
            <a:r>
              <a:rPr lang="zh-CN" altLang="en-US" sz="2000" dirty="0">
                <a:solidFill>
                  <a:srgbClr val="0066FF"/>
                </a:solidFill>
              </a:rPr>
              <a:t>）</a:t>
            </a:r>
            <a:r>
              <a:rPr lang="en-US" altLang="zh-CN" sz="2000" dirty="0">
                <a:solidFill>
                  <a:srgbClr val="0066FF"/>
                </a:solidFill>
              </a:rPr>
              <a:t>&lt;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000" dirty="0">
                <a:solidFill>
                  <a:srgbClr val="0066FF"/>
                </a:solidFill>
              </a:rPr>
              <a:t>&gt;</a:t>
            </a:r>
            <a:r>
              <a:rPr lang="zh-CN" altLang="en-US" sz="2000" dirty="0">
                <a:solidFill>
                  <a:srgbClr val="0066FF"/>
                </a:solidFill>
              </a:rPr>
              <a:t>表示是由元素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zh-CN" altLang="en-US" sz="2000" dirty="0">
                <a:solidFill>
                  <a:srgbClr val="0066FF"/>
                </a:solidFill>
              </a:rPr>
              <a:t>生成的</a:t>
            </a:r>
            <a:r>
              <a:rPr lang="en-US" altLang="zh-CN" sz="2000" dirty="0">
                <a:solidFill>
                  <a:srgbClr val="0066FF"/>
                </a:solidFill>
              </a:rPr>
              <a:t>G</a:t>
            </a:r>
            <a:r>
              <a:rPr lang="zh-CN" altLang="en-US" sz="2000" dirty="0">
                <a:solidFill>
                  <a:srgbClr val="0066FF"/>
                </a:solidFill>
              </a:rPr>
              <a:t>的子群，</a:t>
            </a:r>
            <a:endParaRPr lang="en-US" altLang="zh-CN" sz="2000" dirty="0">
              <a:solidFill>
                <a:srgbClr val="0066FF"/>
              </a:solidFill>
            </a:endParaRPr>
          </a:p>
          <a:p>
            <a:r>
              <a:rPr lang="zh-CN" altLang="en-US" sz="2000" dirty="0">
                <a:solidFill>
                  <a:srgbClr val="0066FF"/>
                </a:solidFill>
              </a:rPr>
              <a:t>因为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的阶与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相等，所以</a:t>
            </a:r>
            <a:r>
              <a:rPr lang="en-US" altLang="zh-CN" sz="2000" dirty="0">
                <a:solidFill>
                  <a:srgbClr val="0066FF"/>
                </a:solidFill>
              </a:rPr>
              <a:t>&lt;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000" dirty="0">
                <a:solidFill>
                  <a:srgbClr val="0066FF"/>
                </a:solidFill>
              </a:rPr>
              <a:t>&gt;</a:t>
            </a:r>
            <a:r>
              <a:rPr lang="zh-CN" altLang="en-US" dirty="0"/>
              <a:t>的阶与</a:t>
            </a:r>
            <a:r>
              <a:rPr lang="en-US" altLang="zh-CN" dirty="0"/>
              <a:t>|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dirty="0"/>
              <a:t>|</a:t>
            </a:r>
            <a:r>
              <a:rPr lang="zh-CN" altLang="en-US" dirty="0"/>
              <a:t>相等</a:t>
            </a:r>
            <a:endParaRPr lang="en-US" altLang="zh-CN" i="1" dirty="0">
              <a:latin typeface="Arial" panose="020B0604020202020204" pitchFamily="34" charset="0"/>
            </a:endParaRPr>
          </a:p>
          <a:p>
            <a:r>
              <a:rPr lang="zh-CN" altLang="en-US" i="1" dirty="0">
                <a:latin typeface="Arial" panose="020B0604020202020204" pitchFamily="34" charset="0"/>
              </a:rPr>
              <a:t>又因为（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n</a:t>
            </a:r>
            <a:r>
              <a:rPr lang="en-US" altLang="zh-CN" baseline="30000" dirty="0">
                <a:latin typeface="Arial" panose="020B0604020202020204" pitchFamily="34" charset="0"/>
              </a:rPr>
              <a:t>/</a:t>
            </a:r>
            <a:r>
              <a:rPr lang="en-US" altLang="zh-CN" i="1" baseline="30000" dirty="0">
                <a:latin typeface="Arial" panose="020B0604020202020204" pitchFamily="34" charset="0"/>
              </a:rPr>
              <a:t>d 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i="1" baseline="30000" dirty="0">
                <a:latin typeface="Arial" panose="020B0604020202020204" pitchFamily="34" charset="0"/>
              </a:rPr>
              <a:t>d</a:t>
            </a:r>
            <a:r>
              <a:rPr lang="en-US" altLang="zh-CN" dirty="0">
                <a:latin typeface="Arial" panose="020B0604020202020204" pitchFamily="34" charset="0"/>
              </a:rPr>
              <a:t>=e</a:t>
            </a:r>
            <a:r>
              <a:rPr lang="zh-CN" altLang="en-US" dirty="0">
                <a:latin typeface="Arial" panose="020B0604020202020204" pitchFamily="34" charset="0"/>
              </a:rPr>
              <a:t>，故</a:t>
            </a:r>
            <a:r>
              <a:rPr lang="en-US" altLang="zh-CN" dirty="0"/>
              <a:t>|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dirty="0"/>
              <a:t>|=d</a:t>
            </a:r>
            <a:r>
              <a:rPr lang="zh-CN" altLang="en-US" dirty="0"/>
              <a:t>，故</a:t>
            </a:r>
            <a:r>
              <a:rPr lang="en-US" altLang="zh-CN" sz="2000" dirty="0">
                <a:solidFill>
                  <a:srgbClr val="0066FF"/>
                </a:solidFill>
              </a:rPr>
              <a:t>&lt;</a:t>
            </a:r>
            <a:r>
              <a:rPr lang="en-US" altLang="zh-CN" sz="2000" i="1" dirty="0">
                <a:solidFill>
                  <a:srgbClr val="0066FF"/>
                </a:solidFill>
              </a:rPr>
              <a:t>a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000" baseline="30000" dirty="0">
                <a:solidFill>
                  <a:srgbClr val="0066FF"/>
                </a:solidFill>
              </a:rPr>
              <a:t>/</a:t>
            </a:r>
            <a:r>
              <a:rPr lang="en-US" altLang="zh-CN" sz="20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000" dirty="0">
                <a:solidFill>
                  <a:srgbClr val="0066FF"/>
                </a:solidFill>
              </a:rPr>
              <a:t>&gt;</a:t>
            </a:r>
            <a:r>
              <a:rPr lang="zh-CN" altLang="en-US" sz="2000" dirty="0">
                <a:solidFill>
                  <a:srgbClr val="0066FF"/>
                </a:solidFill>
              </a:rPr>
              <a:t>是</a:t>
            </a:r>
            <a:r>
              <a:rPr lang="en-US" altLang="zh-CN" sz="2000" i="1" dirty="0">
                <a:solidFill>
                  <a:srgbClr val="0066FF"/>
                </a:solidFill>
              </a:rPr>
              <a:t>G</a:t>
            </a:r>
            <a:r>
              <a:rPr lang="zh-CN" altLang="en-US" sz="2000" dirty="0">
                <a:solidFill>
                  <a:srgbClr val="0066FF"/>
                </a:solidFill>
              </a:rPr>
              <a:t>的</a:t>
            </a:r>
            <a:r>
              <a:rPr lang="en-US" altLang="zh-CN" sz="2000" i="1" dirty="0">
                <a:solidFill>
                  <a:srgbClr val="0066FF"/>
                </a:solidFill>
              </a:rPr>
              <a:t>d </a:t>
            </a:r>
            <a:r>
              <a:rPr lang="zh-CN" altLang="en-US" sz="2000" dirty="0">
                <a:solidFill>
                  <a:srgbClr val="0066FF"/>
                </a:solidFill>
              </a:rPr>
              <a:t>阶子群</a:t>
            </a:r>
            <a:r>
              <a:rPr lang="en-US" altLang="zh-CN" sz="2000" dirty="0">
                <a:solidFill>
                  <a:srgbClr val="0066FF"/>
                </a:solidFill>
              </a:rPr>
              <a:t>(</a:t>
            </a:r>
            <a:r>
              <a:rPr lang="zh-CN" altLang="en-US" sz="2000" dirty="0">
                <a:solidFill>
                  <a:srgbClr val="0066FF"/>
                </a:solidFill>
              </a:rPr>
              <a:t>这里能保证</a:t>
            </a:r>
            <a:r>
              <a:rPr lang="en-US" altLang="zh-CN" sz="2000" dirty="0">
                <a:solidFill>
                  <a:srgbClr val="0066FF"/>
                </a:solidFill>
              </a:rPr>
              <a:t>d</a:t>
            </a:r>
            <a:r>
              <a:rPr lang="zh-CN" altLang="en-US" sz="2000" dirty="0">
                <a:solidFill>
                  <a:srgbClr val="0066FF"/>
                </a:solidFill>
              </a:rPr>
              <a:t>是最小的正整数</a:t>
            </a:r>
            <a:r>
              <a:rPr lang="en-US" altLang="zh-CN" sz="2000" dirty="0">
                <a:solidFill>
                  <a:srgbClr val="0066FF"/>
                </a:solidFill>
              </a:rPr>
              <a:t>)</a:t>
            </a:r>
            <a:endParaRPr lang="en-US" altLang="zh-CN" sz="2000" dirty="0">
              <a:solidFill>
                <a:srgbClr val="0066FF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0066FF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rgbClr val="0066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0066FF"/>
                </a:solidFill>
                <a:latin typeface="Arial" panose="020B0604020202020204" pitchFamily="34" charset="0"/>
              </a:rPr>
              <a:t>）分析：</a:t>
            </a:r>
            <a:r>
              <a:rPr lang="zh-CN" altLang="en-US" sz="2000" dirty="0"/>
              <a:t>假设</a:t>
            </a:r>
            <a:r>
              <a:rPr lang="en-US" altLang="zh-CN" sz="2000" i="1" dirty="0"/>
              <a:t>H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=&lt;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m</a:t>
            </a:r>
            <a:r>
              <a:rPr lang="en-US" altLang="zh-CN" sz="2000" dirty="0"/>
              <a:t>&gt;</a:t>
            </a:r>
            <a:r>
              <a:rPr lang="zh-CN" altLang="en-US" sz="2000" dirty="0"/>
              <a:t>也是</a:t>
            </a:r>
            <a:r>
              <a:rPr lang="en-US" altLang="zh-CN" sz="2000" i="1" dirty="0"/>
              <a:t>G</a:t>
            </a:r>
            <a:r>
              <a:rPr lang="zh-CN" altLang="en-US" sz="2000" dirty="0"/>
              <a:t>的</a:t>
            </a:r>
            <a:r>
              <a:rPr lang="en-US" altLang="zh-CN" sz="2000" i="1" dirty="0"/>
              <a:t>d </a:t>
            </a:r>
            <a:r>
              <a:rPr lang="zh-CN" altLang="en-US" sz="2000" dirty="0"/>
              <a:t>阶子群，</a:t>
            </a:r>
            <a:endParaRPr lang="en-US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/>
              <a:t>证 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</a:rPr>
              <a:t> = 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zh-CN" altLang="en-US" sz="2000" i="1" dirty="0">
                <a:solidFill>
                  <a:schemeClr val="accent2"/>
                </a:solidFill>
              </a:rPr>
              <a:t>即可（</a:t>
            </a:r>
            <a:r>
              <a:rPr lang="en-US" altLang="zh-CN" i="1" dirty="0">
                <a:sym typeface="+mn-ea"/>
              </a:rPr>
              <a:t>r </a:t>
            </a:r>
            <a:r>
              <a:rPr lang="en-US" altLang="zh-CN" dirty="0">
                <a:sym typeface="+mn-ea"/>
              </a:rPr>
              <a:t>| </a:t>
            </a:r>
            <a:r>
              <a:rPr lang="en-US" altLang="zh-CN" i="1" dirty="0">
                <a:sym typeface="+mn-ea"/>
              </a:rPr>
              <a:t>k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表示</a:t>
            </a:r>
            <a:r>
              <a:rPr lang="en-US" altLang="zh-CN" dirty="0">
                <a:sym typeface="+mn-ea"/>
              </a:rPr>
              <a:t>r</a:t>
            </a:r>
            <a:r>
              <a:rPr lang="zh-CN" altLang="en-US" dirty="0">
                <a:sym typeface="+mn-ea"/>
              </a:rPr>
              <a:t>整除</a:t>
            </a:r>
            <a:r>
              <a:rPr lang="en-US" altLang="zh-CN" dirty="0">
                <a:sym typeface="+mn-ea"/>
              </a:rPr>
              <a:t>k, </a:t>
            </a:r>
            <a:r>
              <a:rPr lang="zh-CN" altLang="en-US" dirty="0">
                <a:sym typeface="+mn-ea"/>
              </a:rPr>
              <a:t>即</a:t>
            </a:r>
            <a:r>
              <a:rPr lang="en-US" altLang="zh-CN" dirty="0">
                <a:sym typeface="+mn-ea"/>
              </a:rPr>
              <a:t>k</a:t>
            </a:r>
            <a:r>
              <a:rPr lang="zh-CN" altLang="en-US" dirty="0">
                <a:sym typeface="+mn-ea"/>
              </a:rPr>
              <a:t>是</a:t>
            </a:r>
            <a:r>
              <a:rPr lang="en-US" altLang="zh-CN" dirty="0">
                <a:sym typeface="+mn-ea"/>
              </a:rPr>
              <a:t>r</a:t>
            </a:r>
            <a:r>
              <a:rPr lang="zh-CN" altLang="en-US" dirty="0">
                <a:sym typeface="+mn-ea"/>
              </a:rPr>
              <a:t>的若干倍</a:t>
            </a:r>
            <a:r>
              <a:rPr lang="zh-CN" altLang="en-US" sz="2000" i="1" dirty="0">
                <a:solidFill>
                  <a:schemeClr val="accent2"/>
                </a:solidFill>
              </a:rPr>
              <a:t>）</a:t>
            </a:r>
            <a:endParaRPr lang="en-US" altLang="zh-CN" sz="2000" i="1" dirty="0">
              <a:solidFill>
                <a:schemeClr val="accent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/>
              <a:t>先证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dirty="0"/>
              <a:t>. </a:t>
            </a:r>
            <a:r>
              <a:rPr lang="zh-CN" altLang="en-US" sz="2000" dirty="0"/>
              <a:t>再根据</a:t>
            </a:r>
            <a:r>
              <a:rPr lang="en-US" altLang="zh-CN" sz="2000" dirty="0">
                <a:solidFill>
                  <a:schemeClr val="accent2"/>
                </a:solidFill>
              </a:rPr>
              <a:t>|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</a:rPr>
              <a:t>| = |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dirty="0">
                <a:solidFill>
                  <a:schemeClr val="accent2"/>
                </a:solidFill>
              </a:rPr>
              <a:t>| = </a:t>
            </a:r>
            <a:r>
              <a:rPr lang="en-US" altLang="zh-CN" sz="2000" i="1" dirty="0">
                <a:solidFill>
                  <a:schemeClr val="accent2"/>
                </a:solidFill>
              </a:rPr>
              <a:t>d</a:t>
            </a:r>
            <a:r>
              <a:rPr lang="zh-CN" altLang="en-US" sz="2000" i="1" dirty="0">
                <a:solidFill>
                  <a:schemeClr val="accent2"/>
                </a:solidFill>
              </a:rPr>
              <a:t>得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</a:rPr>
              <a:t> = 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endParaRPr lang="en-US" altLang="zh-CN" sz="2000" i="1" dirty="0">
              <a:solidFill>
                <a:schemeClr val="accent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i="1" dirty="0">
                <a:solidFill>
                  <a:schemeClr val="accent2"/>
                </a:solidFill>
              </a:rPr>
              <a:t>对于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zh-CN" altLang="en-US" sz="2000" i="1" dirty="0">
                <a:solidFill>
                  <a:schemeClr val="accent2"/>
                </a:solidFill>
              </a:rPr>
              <a:t>的证明思路是：对于最小正方幂元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m </a:t>
            </a:r>
            <a:r>
              <a:rPr lang="en-US" altLang="zh-CN" sz="2000" dirty="0"/>
              <a:t>∈</a:t>
            </a:r>
            <a:r>
              <a:rPr lang="en-US" altLang="zh-CN" sz="2000" i="1" dirty="0">
                <a:solidFill>
                  <a:schemeClr val="accent2"/>
                </a:solidFill>
              </a:rPr>
              <a:t>H</a:t>
            </a:r>
            <a:r>
              <a:rPr lang="en-US" altLang="zh-CN" sz="20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</a:rPr>
              <a:t> </a:t>
            </a:r>
            <a:r>
              <a:rPr lang="zh-CN" altLang="en-US" sz="2000" i="1" dirty="0"/>
              <a:t>，</a:t>
            </a:r>
            <a:r>
              <a:rPr lang="en-US" altLang="zh-CN" sz="2000" i="1" dirty="0"/>
              <a:t>……</a:t>
            </a:r>
            <a:r>
              <a:rPr lang="zh-CN" altLang="en-US" sz="2000" i="1" dirty="0"/>
              <a:t>，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m</a:t>
            </a:r>
            <a:r>
              <a:rPr lang="en-US" altLang="zh-CN" sz="2000" dirty="0" err="1"/>
              <a:t>∈</a:t>
            </a:r>
            <a:r>
              <a:rPr lang="en-US" altLang="zh-CN" sz="2000" i="1" dirty="0" err="1">
                <a:solidFill>
                  <a:schemeClr val="accent2"/>
                </a:solidFill>
              </a:rPr>
              <a:t>H</a:t>
            </a:r>
            <a:endParaRPr lang="en-US" altLang="zh-CN" sz="2000" i="1" dirty="0">
              <a:solidFill>
                <a:schemeClr val="accent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i="1" dirty="0">
                <a:solidFill>
                  <a:schemeClr val="accent2"/>
                </a:solidFill>
              </a:rPr>
              <a:t>这里的</a:t>
            </a:r>
            <a:r>
              <a:rPr lang="en-US" altLang="zh-CN" sz="2000" i="1" dirty="0">
                <a:solidFill>
                  <a:schemeClr val="accent2"/>
                </a:solidFill>
              </a:rPr>
              <a:t>…..</a:t>
            </a:r>
            <a:r>
              <a:rPr lang="zh-CN" altLang="en-US" sz="2000" i="1" dirty="0">
                <a:solidFill>
                  <a:schemeClr val="accent2"/>
                </a:solidFill>
              </a:rPr>
              <a:t>需要说明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m</a:t>
            </a:r>
            <a:r>
              <a:rPr lang="en-US" altLang="zh-CN" sz="2000" dirty="0"/>
              <a:t>=(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n/d</a:t>
            </a:r>
            <a:r>
              <a:rPr lang="en-US" altLang="zh-CN" sz="2000" dirty="0"/>
              <a:t>)</a:t>
            </a:r>
            <a:r>
              <a:rPr lang="en-US" altLang="zh-CN" sz="2000" i="1" baseline="30000" dirty="0"/>
              <a:t>l</a:t>
            </a:r>
            <a:r>
              <a:rPr lang="en-US" altLang="zh-CN" sz="2000" dirty="0"/>
              <a:t> </a:t>
            </a:r>
            <a:r>
              <a:rPr lang="zh-CN" altLang="en-US" sz="2000" dirty="0"/>
              <a:t>，即可以表示为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n/d</a:t>
            </a:r>
            <a:r>
              <a:rPr lang="zh-CN" altLang="en-US" sz="2000" i="1" dirty="0">
                <a:solidFill>
                  <a:schemeClr val="accent2"/>
                </a:solidFill>
              </a:rPr>
              <a:t>的</a:t>
            </a:r>
            <a:r>
              <a:rPr lang="en-US" altLang="zh-CN" sz="2000" i="1" dirty="0">
                <a:solidFill>
                  <a:schemeClr val="accent2"/>
                </a:solidFill>
              </a:rPr>
              <a:t>l</a:t>
            </a:r>
            <a:r>
              <a:rPr lang="zh-CN" altLang="en-US" sz="2000" i="1" dirty="0">
                <a:solidFill>
                  <a:schemeClr val="accent2"/>
                </a:solidFill>
              </a:rPr>
              <a:t>次幂，则</a:t>
            </a:r>
            <a:r>
              <a:rPr lang="en-US" altLang="zh-CN" sz="2000" i="1" dirty="0" err="1"/>
              <a:t>a</a:t>
            </a:r>
            <a:r>
              <a:rPr lang="en-US" altLang="zh-CN" sz="2000" i="1" baseline="30000" dirty="0" err="1"/>
              <a:t>m</a:t>
            </a:r>
            <a:r>
              <a:rPr lang="en-US" altLang="zh-CN" sz="2000" dirty="0" err="1"/>
              <a:t>∈</a:t>
            </a:r>
            <a:r>
              <a:rPr lang="en-US" altLang="zh-CN" sz="2000" i="1" dirty="0" err="1">
                <a:solidFill>
                  <a:schemeClr val="accent2"/>
                </a:solidFill>
              </a:rPr>
              <a:t>H</a:t>
            </a:r>
            <a:endParaRPr lang="en-US" altLang="zh-CN" sz="2000" i="1" dirty="0">
              <a:solidFill>
                <a:schemeClr val="accent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i="1" dirty="0">
                <a:solidFill>
                  <a:schemeClr val="accent2"/>
                </a:solidFill>
              </a:rPr>
              <a:t>而</a:t>
            </a:r>
            <a:r>
              <a:rPr lang="en-US" altLang="zh-CN" sz="2000" i="1" dirty="0">
                <a:solidFill>
                  <a:schemeClr val="accent2"/>
                </a:solidFill>
              </a:rPr>
              <a:t>H1</a:t>
            </a:r>
            <a:r>
              <a:rPr lang="zh-CN" altLang="en-US" sz="2000" i="1" dirty="0">
                <a:solidFill>
                  <a:schemeClr val="accent2"/>
                </a:solidFill>
              </a:rPr>
              <a:t>中的任意元素都是由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m</a:t>
            </a:r>
            <a:r>
              <a:rPr lang="zh-CN" altLang="en-US" sz="2000" dirty="0">
                <a:solidFill>
                  <a:srgbClr val="0066FF"/>
                </a:solidFill>
              </a:rPr>
              <a:t>生成的（可以表示为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m</a:t>
            </a:r>
            <a:r>
              <a:rPr lang="zh-CN" altLang="en-US" sz="2000" i="1" dirty="0">
                <a:solidFill>
                  <a:schemeClr val="accent2"/>
                </a:solidFill>
              </a:rPr>
              <a:t>的某次幂</a:t>
            </a:r>
            <a:r>
              <a:rPr lang="zh-CN" altLang="en-US" sz="2000" dirty="0">
                <a:solidFill>
                  <a:srgbClr val="0066FF"/>
                </a:solidFill>
              </a:rPr>
              <a:t>）</a:t>
            </a:r>
            <a:r>
              <a:rPr lang="en-US" altLang="zh-CN" sz="2000" dirty="0">
                <a:solidFill>
                  <a:srgbClr val="0066FF"/>
                </a:solidFill>
              </a:rPr>
              <a:t>,</a:t>
            </a:r>
            <a:r>
              <a:rPr lang="zh-CN" altLang="en-US" sz="2000" dirty="0">
                <a:solidFill>
                  <a:srgbClr val="0066FF"/>
                </a:solidFill>
              </a:rPr>
              <a:t>故也都可以表示为</a:t>
            </a:r>
            <a:r>
              <a:rPr lang="en-US" altLang="zh-CN" sz="2000" i="1" dirty="0"/>
              <a:t>a</a:t>
            </a:r>
            <a:r>
              <a:rPr lang="en-US" altLang="zh-CN" sz="2000" i="1" baseline="30000" dirty="0"/>
              <a:t>n/d</a:t>
            </a:r>
            <a:r>
              <a:rPr lang="zh-CN" altLang="en-US" sz="2000" i="1" dirty="0">
                <a:solidFill>
                  <a:schemeClr val="accent2"/>
                </a:solidFill>
              </a:rPr>
              <a:t>的某次幂</a:t>
            </a:r>
            <a:endParaRPr lang="en-US" altLang="zh-CN" sz="2000" dirty="0"/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CB8B354-6342-491A-A14D-09B140C48536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这里强调是循环群，对于有限循环群，</a:t>
            </a:r>
            <a:r>
              <a:rPr lang="en-US" altLang="zh-CN" dirty="0"/>
              <a:t>【</a:t>
            </a:r>
            <a:r>
              <a:rPr lang="zh-CN" altLang="en-US" dirty="0"/>
              <a:t>群阶的因子</a:t>
            </a:r>
            <a:r>
              <a:rPr lang="en-US" altLang="zh-CN" dirty="0"/>
              <a:t>】</a:t>
            </a:r>
            <a:r>
              <a:rPr lang="zh-CN" altLang="en-US" dirty="0"/>
              <a:t>阶群都存在且唯一</a:t>
            </a:r>
            <a:endParaRPr lang="en-US" altLang="zh-CN" dirty="0"/>
          </a:p>
          <a:p>
            <a:r>
              <a:rPr lang="zh-CN" altLang="en-US" dirty="0"/>
              <a:t>补充：若是一般群，则不一定，比如</a:t>
            </a:r>
            <a:r>
              <a:rPr lang="en-US" altLang="zh-CN" dirty="0"/>
              <a:t>A4</a:t>
            </a:r>
            <a:r>
              <a:rPr lang="zh-CN" altLang="en-US" dirty="0"/>
              <a:t>交错群（</a:t>
            </a:r>
            <a:r>
              <a:rPr lang="en-US" altLang="zh-CN" dirty="0"/>
              <a:t>12</a:t>
            </a:r>
            <a:r>
              <a:rPr lang="zh-CN" altLang="en-US" dirty="0"/>
              <a:t>阶）就没有</a:t>
            </a:r>
            <a:r>
              <a:rPr lang="en-US" altLang="zh-CN" dirty="0"/>
              <a:t>6</a:t>
            </a:r>
            <a:r>
              <a:rPr lang="zh-CN" altLang="en-US" dirty="0"/>
              <a:t>阶子群</a:t>
            </a:r>
            <a:endParaRPr lang="en-US" altLang="zh-CN" dirty="0"/>
          </a:p>
          <a:p>
            <a:r>
              <a:rPr lang="zh-CN" altLang="en-US" dirty="0"/>
              <a:t>根据</a:t>
            </a:r>
            <a:r>
              <a:rPr lang="en-US" altLang="zh-CN" dirty="0"/>
              <a:t>L</a:t>
            </a:r>
            <a:r>
              <a:rPr lang="zh-CN" altLang="en-US" dirty="0"/>
              <a:t>定理，</a:t>
            </a:r>
            <a:r>
              <a:rPr lang="en-US" altLang="zh-CN" dirty="0"/>
              <a:t>A4</a:t>
            </a:r>
            <a:r>
              <a:rPr lang="zh-CN" altLang="en-US" dirty="0"/>
              <a:t>交错群应该有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阶子群</a:t>
            </a:r>
            <a:endParaRPr lang="en-US" altLang="zh-CN" dirty="0"/>
          </a:p>
          <a:p>
            <a:r>
              <a:rPr lang="zh-CN" altLang="en-US" dirty="0"/>
              <a:t>根据希罗定理，对于有限群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p</a:t>
            </a:r>
            <a:r>
              <a:rPr lang="zh-CN" altLang="en-US" dirty="0"/>
              <a:t>为素数，若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i="1" baseline="30000" dirty="0">
                <a:solidFill>
                  <a:srgbClr val="0066FF"/>
                </a:solidFill>
              </a:rPr>
              <a:t>k</a:t>
            </a:r>
            <a:r>
              <a:rPr lang="en-US" altLang="zh-CN" dirty="0">
                <a:solidFill>
                  <a:srgbClr val="0066FF"/>
                </a:solidFill>
              </a:rPr>
              <a:t>||G|</a:t>
            </a:r>
            <a:r>
              <a:rPr lang="zh-CN" altLang="en-US" dirty="0">
                <a:solidFill>
                  <a:srgbClr val="0066FF"/>
                </a:solidFill>
              </a:rPr>
              <a:t>，则必存在一个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i="1" baseline="30000" dirty="0">
                <a:solidFill>
                  <a:srgbClr val="0066FF"/>
                </a:solidFill>
              </a:rPr>
              <a:t>k</a:t>
            </a:r>
            <a:r>
              <a:rPr lang="zh-CN" altLang="en-US" dirty="0">
                <a:solidFill>
                  <a:srgbClr val="0066FF"/>
                </a:solidFill>
              </a:rPr>
              <a:t>阶子群</a:t>
            </a:r>
            <a:endParaRPr lang="en-US" altLang="zh-CN" dirty="0">
              <a:solidFill>
                <a:srgbClr val="0066FF"/>
              </a:solidFill>
            </a:endParaRPr>
          </a:p>
          <a:p>
            <a:r>
              <a:rPr lang="zh-CN" altLang="en-US" dirty="0"/>
              <a:t>因此，</a:t>
            </a:r>
            <a:r>
              <a:rPr lang="en-US" altLang="zh-CN" dirty="0"/>
              <a:t>A4</a:t>
            </a:r>
            <a:r>
              <a:rPr lang="zh-CN" altLang="en-US" dirty="0"/>
              <a:t>交错群必有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阶子群，</a:t>
            </a:r>
            <a:r>
              <a:rPr lang="en-US" altLang="zh-CN" dirty="0"/>
              <a:t>6</a:t>
            </a:r>
            <a:r>
              <a:rPr lang="zh-CN" altLang="en-US" dirty="0"/>
              <a:t>阶子群不一定有（可以证明没有</a:t>
            </a:r>
            <a:r>
              <a:rPr lang="en-US" altLang="zh-CN" dirty="0"/>
              <a:t>6</a:t>
            </a:r>
            <a:r>
              <a:rPr lang="zh-CN" altLang="en-US" dirty="0"/>
              <a:t>阶子群），再加上本身这个平凡子群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是无限循环群，则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的子群，其中</a:t>
            </a:r>
            <a:r>
              <a:rPr lang="en-US" altLang="zh-CN" i="1" dirty="0"/>
              <a:t>m</a:t>
            </a:r>
            <a:r>
              <a:rPr lang="zh-CN" altLang="en-US" dirty="0"/>
              <a:t>是自然数</a:t>
            </a:r>
            <a:r>
              <a:rPr lang="en-US" altLang="zh-CN" dirty="0"/>
              <a:t>, </a:t>
            </a:r>
            <a:r>
              <a:rPr lang="zh-CN" altLang="en-US" dirty="0"/>
              <a:t>并且对于不同的自然数</a:t>
            </a:r>
            <a:r>
              <a:rPr lang="en-US" altLang="zh-CN" i="1" dirty="0"/>
              <a:t>m</a:t>
            </a:r>
            <a:r>
              <a:rPr lang="zh-CN" altLang="en-US" dirty="0"/>
              <a:t>和</a:t>
            </a:r>
            <a:r>
              <a:rPr lang="en-US" altLang="zh-CN" i="1" dirty="0"/>
              <a:t>m</a:t>
            </a:r>
            <a:r>
              <a:rPr lang="en-US" altLang="zh-CN" dirty="0">
                <a:latin typeface="Bahnschrift Condensed" panose="020B0502040204020203" pitchFamily="34" charset="0"/>
              </a:rPr>
              <a:t>’</a:t>
            </a:r>
            <a:r>
              <a:rPr lang="en-US" altLang="zh-CN" dirty="0"/>
              <a:t>, 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>
                <a:latin typeface="Bahnschrift Condensed" panose="020B0502040204020203" pitchFamily="34" charset="0"/>
              </a:rPr>
              <a:t>’</a:t>
            </a:r>
            <a:r>
              <a:rPr lang="en-US" altLang="zh-CN" dirty="0"/>
              <a:t>&gt;</a:t>
            </a:r>
            <a:r>
              <a:rPr lang="zh-CN" altLang="en-US" dirty="0"/>
              <a:t>是不同的子群。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取一个生成元</a:t>
            </a:r>
            <a:r>
              <a:rPr lang="en-US" altLang="zh-CN" dirty="0"/>
              <a:t>a=1,</a:t>
            </a:r>
            <a:r>
              <a:rPr lang="zh-CN" altLang="en-US" dirty="0"/>
              <a:t>由此计算出全部生成元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的生成元当且仅当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是小于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且与 </a:t>
            </a:r>
            <a:r>
              <a:rPr lang="en-US" altLang="zh-CN" i="1" dirty="0">
                <a:solidFill>
                  <a:srgbClr val="0066FF"/>
                </a:solidFill>
              </a:rPr>
              <a:t>n </a:t>
            </a:r>
            <a:r>
              <a:rPr lang="zh-CN" altLang="en-US" dirty="0">
                <a:solidFill>
                  <a:srgbClr val="0066FF"/>
                </a:solidFill>
              </a:rPr>
              <a:t>互素的自然数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/>
              <a:t>有</a:t>
            </a:r>
            <a:r>
              <a:rPr lang="en-US" altLang="zh-CN" dirty="0"/>
              <a:t>1</a:t>
            </a:r>
            <a:r>
              <a:rPr lang="zh-CN" altLang="en-US" dirty="0"/>
              <a:t>，则其逆</a:t>
            </a:r>
            <a:r>
              <a:rPr lang="en-US" altLang="zh-CN" dirty="0"/>
              <a:t>11</a:t>
            </a:r>
            <a:r>
              <a:rPr lang="zh-CN" altLang="en-US" dirty="0"/>
              <a:t>是</a:t>
            </a:r>
            <a:endParaRPr lang="en-US" altLang="zh-CN" dirty="0"/>
          </a:p>
          <a:p>
            <a:r>
              <a:rPr lang="zh-CN" altLang="en-US" dirty="0"/>
              <a:t>有</a:t>
            </a:r>
            <a:r>
              <a:rPr lang="en-US" altLang="zh-CN" dirty="0"/>
              <a:t>5</a:t>
            </a:r>
            <a:r>
              <a:rPr lang="zh-CN" altLang="en-US" dirty="0"/>
              <a:t>，则其逆</a:t>
            </a:r>
            <a:r>
              <a:rPr lang="en-US" altLang="zh-CN" dirty="0"/>
              <a:t>7</a:t>
            </a:r>
            <a:r>
              <a:rPr lang="zh-CN" altLang="en-US" dirty="0"/>
              <a:t>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</a:rPr>
              <a:t>小于</a:t>
            </a:r>
            <a:r>
              <a:rPr lang="en-US" altLang="zh-CN" dirty="0">
                <a:latin typeface="Arial" panose="020B0604020202020204" pitchFamily="34" charset="0"/>
              </a:rPr>
              <a:t>12</a:t>
            </a:r>
            <a:r>
              <a:rPr lang="zh-CN" altLang="en-US" dirty="0">
                <a:latin typeface="Arial" panose="020B0604020202020204" pitchFamily="34" charset="0"/>
              </a:rPr>
              <a:t>且与</a:t>
            </a:r>
            <a:r>
              <a:rPr lang="en-US" altLang="zh-CN" dirty="0">
                <a:latin typeface="Arial" panose="020B0604020202020204" pitchFamily="34" charset="0"/>
              </a:rPr>
              <a:t>12</a:t>
            </a:r>
            <a:r>
              <a:rPr lang="zh-CN" altLang="en-US" dirty="0">
                <a:latin typeface="Arial" panose="020B0604020202020204" pitchFamily="34" charset="0"/>
              </a:rPr>
              <a:t>互素的正整数有</a:t>
            </a:r>
            <a:r>
              <a:rPr lang="en-US" altLang="zh-CN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个</a:t>
            </a:r>
            <a:r>
              <a:rPr lang="en-US" altLang="zh-CN" dirty="0">
                <a:latin typeface="Arial" panose="020B0604020202020204" pitchFamily="34" charset="0"/>
              </a:rPr>
              <a:t>1,5,7,11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</a:rPr>
              <a:t>生成元</a:t>
            </a:r>
            <a:r>
              <a:rPr lang="en-US" altLang="zh-CN" dirty="0">
                <a:latin typeface="Arial" panose="020B0604020202020204" pitchFamily="34" charset="0"/>
              </a:rPr>
              <a:t>:1,5,7,11</a:t>
            </a:r>
            <a:r>
              <a:rPr lang="zh-CN" altLang="en-US" dirty="0">
                <a:latin typeface="Arial" panose="020B0604020202020204" pitchFamily="34" charset="0"/>
              </a:rPr>
              <a:t>，即</a:t>
            </a:r>
            <a:r>
              <a:rPr lang="en-US" altLang="zh-CN" dirty="0">
                <a:latin typeface="Arial" panose="020B0604020202020204" pitchFamily="34" charset="0"/>
              </a:rPr>
              <a:t>a=1,5,7,11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的生成元当且仅当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是小于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且与 </a:t>
            </a:r>
            <a:r>
              <a:rPr lang="en-US" altLang="zh-CN" i="1" dirty="0">
                <a:solidFill>
                  <a:srgbClr val="0066FF"/>
                </a:solidFill>
              </a:rPr>
              <a:t>n </a:t>
            </a:r>
            <a:r>
              <a:rPr lang="zh-CN" altLang="en-US" dirty="0">
                <a:solidFill>
                  <a:srgbClr val="0066FF"/>
                </a:solidFill>
              </a:rPr>
              <a:t>互素的自然数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</a:rPr>
              <a:t>取</a:t>
            </a:r>
            <a:r>
              <a:rPr lang="en-US" altLang="zh-CN" dirty="0">
                <a:latin typeface="Arial" panose="020B0604020202020204" pitchFamily="34" charset="0"/>
              </a:rPr>
              <a:t>a=1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互素，就是互为质数，两个数之间除了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之外没有更多的公约数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阶循环群，则对</a:t>
            </a:r>
            <a:r>
              <a:rPr lang="en-US" altLang="zh-CN" i="1" dirty="0"/>
              <a:t>n</a:t>
            </a:r>
            <a:r>
              <a:rPr lang="zh-CN" altLang="en-US" dirty="0"/>
              <a:t>的每个正因子</a:t>
            </a:r>
            <a:r>
              <a:rPr lang="en-US" altLang="zh-CN" i="1" dirty="0"/>
              <a:t>d</a:t>
            </a:r>
            <a:r>
              <a:rPr lang="zh-CN" altLang="en-US" dirty="0"/>
              <a:t>，</a:t>
            </a:r>
            <a:r>
              <a:rPr lang="en-US" altLang="zh-CN" i="1" dirty="0"/>
              <a:t>G</a:t>
            </a:r>
            <a:r>
              <a:rPr lang="zh-CN" altLang="en-US" dirty="0">
                <a:solidFill>
                  <a:schemeClr val="accent2"/>
                </a:solidFill>
              </a:rPr>
              <a:t>恰好含有一个</a:t>
            </a:r>
            <a:r>
              <a:rPr lang="en-US" altLang="zh-CN" i="1" dirty="0"/>
              <a:t>d </a:t>
            </a:r>
            <a:r>
              <a:rPr lang="zh-CN" altLang="en-US" dirty="0"/>
              <a:t>阶子群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先求出</a:t>
            </a:r>
            <a:r>
              <a:rPr lang="en-US" altLang="zh-CN" dirty="0"/>
              <a:t>n</a:t>
            </a:r>
            <a:r>
              <a:rPr lang="zh-CN" altLang="en-US" dirty="0"/>
              <a:t>的所有正因子，对于每一个正因子</a:t>
            </a:r>
            <a:r>
              <a:rPr lang="en-US" altLang="zh-CN" i="1" dirty="0"/>
              <a:t>d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i="1" baseline="30000" dirty="0">
                <a:solidFill>
                  <a:srgbClr val="0066FF"/>
                </a:solidFill>
              </a:rPr>
              <a:t>n</a:t>
            </a:r>
            <a:r>
              <a:rPr lang="en-US" altLang="zh-CN" baseline="30000" dirty="0">
                <a:solidFill>
                  <a:srgbClr val="0066FF"/>
                </a:solidFill>
              </a:rPr>
              <a:t>/</a:t>
            </a:r>
            <a:r>
              <a:rPr lang="en-US" altLang="zh-CN" i="1" baseline="30000" dirty="0">
                <a:solidFill>
                  <a:srgbClr val="0066FF"/>
                </a:solidFill>
              </a:rPr>
              <a:t>d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的唯一的</a:t>
            </a:r>
            <a:r>
              <a:rPr lang="en-US" altLang="zh-CN" i="1" dirty="0"/>
              <a:t>d</a:t>
            </a:r>
            <a:r>
              <a:rPr lang="zh-CN" altLang="en-US" dirty="0"/>
              <a:t>阶子群</a:t>
            </a:r>
            <a:endParaRPr lang="en-US" altLang="zh-CN" dirty="0"/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2C04683-1FB6-4DD4-873A-065EFEFFAF9B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>
                <a:srgbClr val="8DACD0"/>
              </a:buClr>
              <a:buSzPct val="70000"/>
              <a:buFontTx/>
              <a:buNone/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前面求过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G</a:t>
            </a:r>
            <a:r>
              <a:rPr lang="zh-CN" altLang="en-US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的全部生成子群，有重复的，这个方法可以直接去重，且能保证无遗漏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&lt;60&gt;</a:t>
            </a: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={0,60,120,180,240,300}</a:t>
            </a:r>
            <a:endParaRPr lang="en-US" altLang="zh-CN" sz="20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&lt;120&gt;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&lt;180&gt;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={0,180}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&lt;240&gt;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&lt;300&gt;</a:t>
            </a: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 60,120,180,240,300} </a:t>
            </a:r>
            <a:endParaRPr lang="en-US" altLang="zh-CN" sz="20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从左到右运算</a:t>
            </a:r>
            <a:endParaRPr lang="en-US" altLang="zh-CN" dirty="0"/>
          </a:p>
          <a:p>
            <a:r>
              <a:rPr lang="zh-CN" altLang="en-US" dirty="0"/>
              <a:t>置换的乘积运算不满足交换律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终点又回到起点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B3FCA0-0173-4F32-B3DF-D581F2234A89}" type="slidenum">
              <a:rPr lang="en-US" altLang="zh-CN" sz="1200" smtClean="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奇置换有</a:t>
            </a:r>
            <a:r>
              <a:rPr lang="en-US" altLang="zh-CN" dirty="0"/>
              <a:t>: (1)(23</a:t>
            </a:r>
            <a:r>
              <a:rPr lang="zh-CN" altLang="en-US" dirty="0"/>
              <a:t>）   </a:t>
            </a:r>
            <a:r>
              <a:rPr lang="en-US" altLang="zh-CN" dirty="0"/>
              <a:t>(12)(3)</a:t>
            </a:r>
            <a:r>
              <a:rPr lang="zh-CN" altLang="en-US" dirty="0"/>
              <a:t>     </a:t>
            </a:r>
            <a:r>
              <a:rPr lang="en-US" altLang="zh-CN" dirty="0"/>
              <a:t>(13)(2)</a:t>
            </a:r>
            <a:r>
              <a:rPr lang="zh-CN" altLang="en-US" dirty="0"/>
              <a:t> </a:t>
            </a:r>
            <a:endParaRPr lang="zh-CN" altLang="en-US" dirty="0"/>
          </a:p>
          <a:p>
            <a:r>
              <a:rPr lang="zh-CN" altLang="en-US" dirty="0"/>
              <a:t>偶置换有</a:t>
            </a:r>
            <a:r>
              <a:rPr lang="en-US" altLang="zh-CN" dirty="0"/>
              <a:t>: (1)(2)(3)</a:t>
            </a:r>
            <a:r>
              <a:rPr lang="zh-CN" altLang="en-US" dirty="0"/>
              <a:t>  </a:t>
            </a:r>
            <a:r>
              <a:rPr lang="en-US" altLang="zh-CN" dirty="0"/>
              <a:t>(123)</a:t>
            </a:r>
            <a:r>
              <a:rPr lang="zh-CN" altLang="en-US" dirty="0"/>
              <a:t>      </a:t>
            </a:r>
            <a:r>
              <a:rPr lang="en-US" altLang="zh-CN" dirty="0"/>
              <a:t>(132)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第一个对换分解式可以视为</a:t>
            </a:r>
            <a:r>
              <a:rPr lang="en-US" altLang="zh-CN" dirty="0"/>
              <a:t>4</a:t>
            </a:r>
            <a:r>
              <a:rPr lang="zh-CN" altLang="en-US" dirty="0"/>
              <a:t>不动，</a:t>
            </a:r>
            <a:r>
              <a:rPr lang="en-US" altLang="zh-CN" dirty="0"/>
              <a:t>12</a:t>
            </a:r>
            <a:r>
              <a:rPr lang="zh-CN" altLang="en-US" dirty="0"/>
              <a:t>对换，再</a:t>
            </a:r>
            <a:r>
              <a:rPr lang="en-US" altLang="zh-CN" dirty="0"/>
              <a:t>13</a:t>
            </a:r>
            <a:r>
              <a:rPr lang="zh-CN" altLang="en-US" dirty="0"/>
              <a:t>对换</a:t>
            </a:r>
            <a:endParaRPr lang="en-US" altLang="zh-CN" dirty="0"/>
          </a:p>
          <a:p>
            <a:r>
              <a:rPr lang="zh-CN" altLang="en-US" dirty="0"/>
              <a:t>第二个对换分解式可以视为</a:t>
            </a:r>
            <a:r>
              <a:rPr lang="en-US" altLang="zh-CN" dirty="0"/>
              <a:t>4</a:t>
            </a:r>
            <a:r>
              <a:rPr lang="zh-CN" altLang="en-US" dirty="0"/>
              <a:t>顺时针，先</a:t>
            </a:r>
            <a:r>
              <a:rPr lang="en-US" altLang="zh-CN" dirty="0"/>
              <a:t>14</a:t>
            </a:r>
            <a:r>
              <a:rPr lang="zh-CN" altLang="en-US" dirty="0"/>
              <a:t>对换，</a:t>
            </a:r>
            <a:r>
              <a:rPr lang="en-US" altLang="zh-CN" dirty="0"/>
              <a:t>24</a:t>
            </a:r>
            <a:r>
              <a:rPr lang="zh-CN" altLang="en-US" dirty="0"/>
              <a:t>对换，</a:t>
            </a:r>
            <a:r>
              <a:rPr lang="en-US" altLang="zh-CN" dirty="0"/>
              <a:t>34</a:t>
            </a:r>
            <a:r>
              <a:rPr lang="zh-CN" altLang="en-US" dirty="0"/>
              <a:t>对换，最后</a:t>
            </a:r>
            <a:r>
              <a:rPr lang="en-US" altLang="zh-CN" dirty="0"/>
              <a:t>14</a:t>
            </a:r>
            <a:r>
              <a:rPr lang="zh-CN" altLang="en-US" dirty="0"/>
              <a:t>对换直到复位</a:t>
            </a:r>
            <a:endParaRPr lang="en-US" altLang="zh-CN" dirty="0"/>
          </a:p>
          <a:p>
            <a:r>
              <a:rPr lang="zh-CN" altLang="en-US" dirty="0"/>
              <a:t>一个具有</a:t>
            </a:r>
            <a:r>
              <a:rPr lang="en-US" altLang="zh-CN" dirty="0"/>
              <a:t>n</a:t>
            </a:r>
            <a:r>
              <a:rPr lang="zh-CN" altLang="en-US" dirty="0"/>
              <a:t>个元素的集合上会有</a:t>
            </a:r>
            <a:r>
              <a:rPr lang="en-US" altLang="zh-CN" dirty="0"/>
              <a:t>n!</a:t>
            </a:r>
            <a:r>
              <a:rPr lang="zh-CN" altLang="en-US" dirty="0"/>
              <a:t>个不同的置换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对称变换一般分为：关于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轴或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轴对称、关于某一点对称、关于某条直线对称</a:t>
            </a:r>
            <a:endParaRPr lang="zh-CN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对称群中是全部的置换，其子群是部分置换（称置换群）</a:t>
            </a:r>
            <a:endParaRPr lang="zh-CN" altLang="en-US" dirty="0"/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B7D9E4-BB7A-4B62-8301-E61A91AEFE4E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有不动点的平面刚体运动只有旋转变换和反射变换（翻转）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2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C8ED2F8-6A7B-456D-9E3D-2D3E24FE7BE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元对称群的运算表</a:t>
            </a:r>
            <a:endParaRPr lang="en-US" altLang="zh-CN" dirty="0"/>
          </a:p>
          <a:p>
            <a:r>
              <a:rPr lang="zh-CN" altLang="en-US" dirty="0"/>
              <a:t>所有的旋转变换是</a:t>
            </a:r>
            <a:r>
              <a:rPr lang="en-US" altLang="zh-CN" dirty="0"/>
              <a:t>S3</a:t>
            </a:r>
            <a:r>
              <a:rPr lang="zh-CN" altLang="en-US" dirty="0"/>
              <a:t>的子群</a:t>
            </a:r>
            <a:endParaRPr lang="en-US" altLang="zh-CN" dirty="0"/>
          </a:p>
          <a:p>
            <a:r>
              <a:rPr lang="zh-CN" altLang="en-US" dirty="0"/>
              <a:t>但是所有的翻转变换不是</a:t>
            </a:r>
            <a:r>
              <a:rPr lang="en-US" altLang="zh-CN" dirty="0"/>
              <a:t>S3</a:t>
            </a:r>
            <a:r>
              <a:rPr lang="zh-CN" altLang="en-US" dirty="0"/>
              <a:t>的子群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元置换</a:t>
            </a:r>
            <a:r>
              <a:rPr lang="zh-CN" altLang="en-US" i="1" dirty="0">
                <a:sym typeface="Symbol" panose="05050102010706020507" pitchFamily="18" charset="2"/>
              </a:rPr>
              <a:t> </a:t>
            </a:r>
            <a:r>
              <a:rPr lang="zh-CN" altLang="en-US" dirty="0">
                <a:solidFill>
                  <a:srgbClr val="000000"/>
                </a:solidFill>
              </a:rPr>
              <a:t>可以表示成奇数个对换之积，则称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zh-CN" altLang="en-US" dirty="0">
                <a:solidFill>
                  <a:srgbClr val="A50021"/>
                </a:solidFill>
              </a:rPr>
              <a:t>奇置换</a:t>
            </a:r>
            <a:r>
              <a:rPr lang="zh-CN" altLang="en-US" dirty="0">
                <a:solidFill>
                  <a:srgbClr val="000000"/>
                </a:solidFill>
              </a:rPr>
              <a:t>，否则称为</a:t>
            </a:r>
            <a:r>
              <a:rPr lang="zh-CN" altLang="en-US" dirty="0">
                <a:solidFill>
                  <a:srgbClr val="A50021"/>
                </a:solidFill>
              </a:rPr>
              <a:t>偶置换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恒等置换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零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个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对换</a:t>
            </a:r>
            <a:endParaRPr lang="zh-CN" altLang="en-US" dirty="0">
              <a:solidFill>
                <a:srgbClr val="0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所有的旋转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={ (1), (1 2), (1 3), (2 3), (1 2 3), (1 3 2) }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此群的所有元素对应的生成子群都是循环群，但是此群却不是循环群。</a:t>
            </a:r>
            <a:endParaRPr lang="en-US" altLang="zh-CN" dirty="0"/>
          </a:p>
          <a:p>
            <a:pPr eaLnBrk="1" hangingPunct="1"/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10.8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</a:t>
            </a:r>
            <a:r>
              <a:rPr lang="en-US" altLang="zh-CN" dirty="0"/>
              <a:t>, </a:t>
            </a:r>
            <a:r>
              <a:rPr lang="zh-CN" altLang="en-US" dirty="0"/>
              <a:t>令</a:t>
            </a:r>
            <a:r>
              <a:rPr lang="zh-CN" altLang="en-US" i="1" dirty="0"/>
              <a:t> 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= {</a:t>
            </a:r>
            <a:r>
              <a:rPr lang="en-US" altLang="zh-CN" i="1" dirty="0"/>
              <a:t>H</a:t>
            </a:r>
            <a:r>
              <a:rPr lang="en-US" altLang="zh-CN" dirty="0"/>
              <a:t> | 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/>
            <a:r>
              <a:rPr lang="zh-CN" altLang="en-US" dirty="0"/>
              <a:t>则偏序集</a:t>
            </a:r>
            <a:r>
              <a:rPr lang="en-US" altLang="zh-CN" dirty="0"/>
              <a:t>&lt;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),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&gt;</a:t>
            </a: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子群格。</a:t>
            </a:r>
            <a:endParaRPr lang="en-US" altLang="zh-CN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补充：根据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【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希罗定理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】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6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阶群必有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A50021"/>
                </a:solidFill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阶子群，但是各阶子群不一定唯一</a:t>
            </a:r>
            <a:endParaRPr lang="en-US" altLang="zh-CN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但是对于循环群来说，各阶子群就是唯一的。</a:t>
            </a:r>
            <a:endParaRPr lang="zh-CN" altLang="en-US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讲课顺序是：介绍</a:t>
            </a:r>
            <a:r>
              <a:rPr lang="en-US" altLang="zh-CN" dirty="0" err="1"/>
              <a:t>polya</a:t>
            </a:r>
            <a:r>
              <a:rPr lang="zh-CN" altLang="en-US" dirty="0"/>
              <a:t>定理，</a:t>
            </a:r>
            <a:endParaRPr lang="en-US" altLang="zh-CN" dirty="0"/>
          </a:p>
          <a:p>
            <a:r>
              <a:rPr lang="zh-CN" altLang="en-US" dirty="0"/>
              <a:t>首先，用最简单的例子</a:t>
            </a:r>
            <a:r>
              <a:rPr lang="en-US" altLang="zh-CN" dirty="0"/>
              <a:t>1【</a:t>
            </a:r>
            <a:r>
              <a:rPr lang="zh-CN" altLang="en-US" dirty="0"/>
              <a:t>两种颜色着</a:t>
            </a:r>
            <a:r>
              <a:rPr lang="en-US" altLang="zh-CN" dirty="0"/>
              <a:t>4</a:t>
            </a:r>
            <a:r>
              <a:rPr lang="zh-CN" altLang="en-US" dirty="0"/>
              <a:t>方格，只旋转</a:t>
            </a:r>
            <a:r>
              <a:rPr lang="en-US" altLang="zh-CN" dirty="0"/>
              <a:t>】</a:t>
            </a:r>
            <a:r>
              <a:rPr lang="zh-CN" altLang="en-US" dirty="0"/>
              <a:t>对比用和不用</a:t>
            </a:r>
            <a:r>
              <a:rPr lang="en-US" altLang="zh-CN" dirty="0" err="1"/>
              <a:t>polya</a:t>
            </a:r>
            <a:r>
              <a:rPr lang="zh-CN" altLang="en-US" dirty="0"/>
              <a:t>定理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然后，</a:t>
            </a:r>
            <a:r>
              <a:rPr lang="en-US" altLang="zh-CN" dirty="0"/>
              <a:t>【</a:t>
            </a:r>
            <a:r>
              <a:rPr lang="zh-CN" altLang="en-US" dirty="0"/>
              <a:t>两种颜色着</a:t>
            </a:r>
            <a:r>
              <a:rPr lang="en-US" altLang="zh-CN" dirty="0"/>
              <a:t>9</a:t>
            </a:r>
            <a:r>
              <a:rPr lang="zh-CN" altLang="en-US" dirty="0"/>
              <a:t>方格，旋转</a:t>
            </a:r>
            <a:r>
              <a:rPr lang="en-US" altLang="zh-CN" dirty="0"/>
              <a:t>+</a:t>
            </a:r>
            <a:r>
              <a:rPr lang="zh-CN" altLang="en-US" dirty="0"/>
              <a:t>翻转</a:t>
            </a:r>
            <a:r>
              <a:rPr lang="en-US" altLang="zh-CN" dirty="0"/>
              <a:t>】</a:t>
            </a:r>
            <a:r>
              <a:rPr lang="zh-CN" altLang="en-US" dirty="0"/>
              <a:t>强调只看轮换表示的结构</a:t>
            </a:r>
            <a:endParaRPr lang="en-US" altLang="zh-CN" dirty="0"/>
          </a:p>
          <a:p>
            <a:r>
              <a:rPr lang="zh-CN" altLang="en-US" dirty="0"/>
              <a:t>接下来，用手镯问题讲</a:t>
            </a:r>
            <a:r>
              <a:rPr lang="en-US" altLang="zh-CN" dirty="0"/>
              <a:t>【</a:t>
            </a:r>
            <a:r>
              <a:rPr lang="zh-CN" altLang="en-US" dirty="0"/>
              <a:t>两种颜色着</a:t>
            </a:r>
            <a:r>
              <a:rPr lang="en-US" altLang="zh-CN" dirty="0"/>
              <a:t>5</a:t>
            </a:r>
            <a:r>
              <a:rPr lang="zh-CN" altLang="en-US" dirty="0"/>
              <a:t>粒手镯</a:t>
            </a:r>
            <a:r>
              <a:rPr lang="en-US" altLang="zh-CN" dirty="0"/>
              <a:t>】</a:t>
            </a:r>
            <a:r>
              <a:rPr lang="zh-CN" altLang="en-US" dirty="0"/>
              <a:t>以及</a:t>
            </a:r>
            <a:r>
              <a:rPr lang="en-US" altLang="zh-CN" dirty="0"/>
              <a:t>【</a:t>
            </a:r>
            <a:r>
              <a:rPr lang="zh-CN" altLang="en-US" dirty="0"/>
              <a:t>三种颜色着</a:t>
            </a:r>
            <a:r>
              <a:rPr lang="en-US" altLang="zh-CN" dirty="0"/>
              <a:t>5</a:t>
            </a:r>
            <a:r>
              <a:rPr lang="zh-CN" altLang="en-US" dirty="0"/>
              <a:t>粒手镯</a:t>
            </a:r>
            <a:r>
              <a:rPr lang="en-US" altLang="zh-CN" dirty="0"/>
              <a:t>】</a:t>
            </a:r>
            <a:endParaRPr lang="en-US" altLang="zh-CN" dirty="0"/>
          </a:p>
          <a:p>
            <a:r>
              <a:rPr lang="en-US" altLang="zh-CN" dirty="0"/>
              <a:t>             </a:t>
            </a:r>
            <a:r>
              <a:rPr lang="zh-CN" altLang="en-US" dirty="0"/>
              <a:t>进一步体会用和不用</a:t>
            </a:r>
            <a:r>
              <a:rPr lang="en-US" altLang="zh-CN" dirty="0" err="1"/>
              <a:t>polya</a:t>
            </a:r>
            <a:r>
              <a:rPr lang="zh-CN" altLang="en-US" dirty="0"/>
              <a:t>定理的区别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D389D0-35DD-4A1F-A17F-1588AA4F5376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此题只要求旋转，所以不用考虑翻转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若是不用</a:t>
            </a:r>
            <a:r>
              <a:rPr lang="en-US" altLang="zh-CN" dirty="0" err="1">
                <a:latin typeface="Arial" panose="020B0604020202020204" pitchFamily="34" charset="0"/>
              </a:rPr>
              <a:t>Polya</a:t>
            </a:r>
            <a:r>
              <a:rPr lang="zh-CN" altLang="en-US" dirty="0">
                <a:latin typeface="Arial" panose="020B0604020202020204" pitchFamily="34" charset="0"/>
              </a:rPr>
              <a:t>定理，对于此题（规模较小）可以直接用枚举法：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全黑（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个），全白（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个），一黑三白（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个），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二黑二白（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个），三黑一白（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个）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后三个对应的置换为：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1432   13 24    1234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4321   31 42    2341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元对称群的元素个数：</a:t>
            </a:r>
            <a:r>
              <a:rPr lang="en-US" altLang="zh-CN" dirty="0"/>
              <a:t>9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en-US" dirty="0"/>
              <a:t>允许旋转或者翻转的子群的置换个数是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863D27-D191-4536-8790-D629FA075D7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元对称群的元素个数：</a:t>
            </a:r>
            <a:r>
              <a:rPr lang="en-US" altLang="zh-CN" dirty="0"/>
              <a:t>9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en-US" dirty="0"/>
              <a:t>允许旋转或者翻转形成的置换群中的置换个数是</a:t>
            </a:r>
            <a:r>
              <a:rPr lang="en-US" altLang="zh-CN" dirty="0"/>
              <a:t>8</a:t>
            </a:r>
            <a:endParaRPr lang="zh-CN" altLang="en-US" dirty="0"/>
          </a:p>
          <a:p>
            <a:r>
              <a:rPr lang="zh-CN" altLang="en-US" dirty="0"/>
              <a:t>只允许旋转形成的置换群中的置换个数是</a:t>
            </a:r>
            <a:r>
              <a:rPr lang="en-US" altLang="zh-CN" dirty="0"/>
              <a:t>4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|G|=4         M=1/4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en-US" altLang="zh-CN" baseline="30000" dirty="0">
                <a:latin typeface="Arial" panose="020B0604020202020204" pitchFamily="34" charset="0"/>
              </a:rPr>
              <a:t>9 </a:t>
            </a:r>
            <a:r>
              <a:rPr lang="en-US" altLang="zh-CN" dirty="0">
                <a:latin typeface="Arial" panose="020B0604020202020204" pitchFamily="34" charset="0"/>
              </a:rPr>
              <a:t>+ 2</a:t>
            </a:r>
            <a:r>
              <a:rPr lang="zh-CN" altLang="en-US" sz="1100" dirty="0">
                <a:latin typeface="Arial" panose="020B0604020202020204" pitchFamily="34" charset="0"/>
              </a:rPr>
              <a:t>*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en-US" altLang="zh-CN" sz="2000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en-US" altLang="zh-CN" dirty="0">
                <a:latin typeface="Arial" panose="020B0604020202020204" pitchFamily="34" charset="0"/>
              </a:rPr>
              <a:t>+ </a:t>
            </a:r>
            <a:r>
              <a:rPr lang="en-US" altLang="zh-CN" sz="1100" dirty="0">
                <a:latin typeface="Arial" panose="020B0604020202020204" pitchFamily="34" charset="0"/>
              </a:rPr>
              <a:t>2</a:t>
            </a:r>
            <a:r>
              <a:rPr lang="en-US" altLang="zh-CN" sz="2000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=140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枚举法适用于小规模的问题</a:t>
            </a:r>
            <a:endParaRPr lang="en-US" altLang="zh-CN" dirty="0"/>
          </a:p>
          <a:p>
            <a:r>
              <a:rPr lang="zh-CN" altLang="en-US" dirty="0"/>
              <a:t>轮换结构：</a:t>
            </a:r>
            <a:endParaRPr lang="en-US" altLang="zh-CN" dirty="0"/>
          </a:p>
          <a:p>
            <a:r>
              <a:rPr lang="en-US" altLang="zh-CN" dirty="0"/>
              <a:t>     72             144           216           288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15432</a:t>
            </a:r>
            <a:r>
              <a:rPr lang="zh-CN" altLang="en-US" dirty="0"/>
              <a:t>）（</a:t>
            </a:r>
            <a:r>
              <a:rPr lang="en-US" altLang="zh-CN" dirty="0"/>
              <a:t>14253</a:t>
            </a:r>
            <a:r>
              <a:rPr lang="zh-CN" altLang="en-US" dirty="0"/>
              <a:t>）（</a:t>
            </a:r>
            <a:r>
              <a:rPr lang="en-US" altLang="zh-CN" dirty="0"/>
              <a:t>13524</a:t>
            </a:r>
            <a:r>
              <a:rPr lang="zh-CN" altLang="en-US" dirty="0"/>
              <a:t>）（</a:t>
            </a:r>
            <a:r>
              <a:rPr lang="en-US" altLang="zh-CN" dirty="0"/>
              <a:t>12345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对应的置换：</a:t>
            </a:r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dirty="0"/>
              <a:t>   12345       12345       12345       12345</a:t>
            </a:r>
            <a:endParaRPr lang="en-US" altLang="zh-CN" dirty="0"/>
          </a:p>
          <a:p>
            <a:r>
              <a:rPr lang="en-US" altLang="zh-CN" dirty="0"/>
              <a:t>   51234       45123       34512       23451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15432</a:t>
            </a:r>
            <a:r>
              <a:rPr lang="zh-CN" altLang="en-US" dirty="0"/>
              <a:t>）（</a:t>
            </a:r>
            <a:r>
              <a:rPr lang="en-US" altLang="zh-CN" dirty="0"/>
              <a:t>14253</a:t>
            </a:r>
            <a:r>
              <a:rPr lang="zh-CN" altLang="en-US" dirty="0"/>
              <a:t>）（</a:t>
            </a:r>
            <a:r>
              <a:rPr lang="en-US" altLang="zh-CN" dirty="0"/>
              <a:t>13524</a:t>
            </a:r>
            <a:r>
              <a:rPr lang="zh-CN" altLang="en-US" dirty="0"/>
              <a:t>）（</a:t>
            </a:r>
            <a:r>
              <a:rPr lang="en-US" altLang="zh-CN" dirty="0"/>
              <a:t>12345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i="1" dirty="0"/>
              <a:t>补充</a:t>
            </a:r>
            <a:r>
              <a:rPr lang="en-US" altLang="zh-CN" i="1" dirty="0"/>
              <a:t>S4</a:t>
            </a:r>
            <a:r>
              <a:rPr lang="zh-CN" altLang="en-US" i="1" dirty="0"/>
              <a:t>群的知识，进一步加深对前面知识的理解</a:t>
            </a:r>
            <a:endParaRPr lang="en-US" altLang="zh-CN" i="1" dirty="0"/>
          </a:p>
          <a:p>
            <a:r>
              <a:rPr lang="en-US" altLang="zh-CN" i="1" dirty="0"/>
              <a:t> n</a:t>
            </a:r>
            <a:r>
              <a:rPr lang="zh-CN" altLang="en-US" dirty="0"/>
              <a:t>元对称群的子群叫做</a:t>
            </a:r>
            <a:r>
              <a:rPr lang="en-US" altLang="zh-CN" i="1" dirty="0">
                <a:solidFill>
                  <a:schemeClr val="accent2"/>
                </a:solidFill>
              </a:rPr>
              <a:t>n</a:t>
            </a:r>
            <a:r>
              <a:rPr lang="zh-CN" altLang="en-US" dirty="0">
                <a:solidFill>
                  <a:schemeClr val="accent2"/>
                </a:solidFill>
              </a:rPr>
              <a:t>元置换群</a:t>
            </a:r>
            <a:r>
              <a:rPr lang="zh-CN" altLang="en-US" dirty="0"/>
              <a:t>。</a:t>
            </a:r>
            <a:endParaRPr lang="en-US" altLang="zh-CN" i="1" dirty="0"/>
          </a:p>
          <a:p>
            <a:r>
              <a:rPr lang="en-US" altLang="zh-CN" i="1" dirty="0"/>
              <a:t>S</a:t>
            </a:r>
            <a:r>
              <a:rPr lang="en-US" altLang="zh-CN" baseline="-25000" dirty="0"/>
              <a:t>4</a:t>
            </a:r>
            <a:r>
              <a:rPr lang="zh-CN" altLang="en-US" dirty="0">
                <a:solidFill>
                  <a:srgbClr val="3366FF"/>
                </a:solidFill>
              </a:rPr>
              <a:t>是</a:t>
            </a:r>
            <a:r>
              <a:rPr lang="en-US" altLang="zh-CN" dirty="0">
                <a:solidFill>
                  <a:srgbClr val="3366FF"/>
                </a:solidFill>
              </a:rPr>
              <a:t>24</a:t>
            </a:r>
            <a:r>
              <a:rPr lang="zh-CN" altLang="en-US" dirty="0">
                <a:solidFill>
                  <a:srgbClr val="3366FF"/>
                </a:solidFill>
              </a:rPr>
              <a:t>阶群，其子群只可能是</a:t>
            </a:r>
            <a:r>
              <a:rPr lang="en-US" altLang="zh-CN" dirty="0">
                <a:solidFill>
                  <a:srgbClr val="3366FF"/>
                </a:solidFill>
              </a:rPr>
              <a:t>1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2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3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4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6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8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12</a:t>
            </a:r>
            <a:r>
              <a:rPr lang="zh-CN" altLang="en-US" dirty="0">
                <a:solidFill>
                  <a:srgbClr val="3366FF"/>
                </a:solidFill>
              </a:rPr>
              <a:t>，</a:t>
            </a:r>
            <a:r>
              <a:rPr lang="en-US" altLang="zh-CN" dirty="0">
                <a:solidFill>
                  <a:srgbClr val="3366FF"/>
                </a:solidFill>
              </a:rPr>
              <a:t>24</a:t>
            </a:r>
            <a:r>
              <a:rPr lang="zh-CN" altLang="en-US" dirty="0">
                <a:solidFill>
                  <a:srgbClr val="3366FF"/>
                </a:solidFill>
              </a:rPr>
              <a:t>阶群</a:t>
            </a:r>
            <a:r>
              <a:rPr lang="en-US" altLang="zh-CN" dirty="0">
                <a:solidFill>
                  <a:srgbClr val="3366FF"/>
                </a:solidFill>
              </a:rPr>
              <a:t>【L</a:t>
            </a:r>
            <a:r>
              <a:rPr lang="zh-CN" altLang="en-US" dirty="0">
                <a:solidFill>
                  <a:srgbClr val="3366FF"/>
                </a:solidFill>
              </a:rPr>
              <a:t>定理</a:t>
            </a:r>
            <a:r>
              <a:rPr lang="en-US" altLang="zh-CN" dirty="0">
                <a:solidFill>
                  <a:srgbClr val="3366FF"/>
                </a:solidFill>
              </a:rPr>
              <a:t>】</a:t>
            </a:r>
            <a:endParaRPr lang="en-US" altLang="zh-CN" dirty="0">
              <a:solidFill>
                <a:srgbClr val="3366F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【</a:t>
            </a:r>
            <a:r>
              <a:rPr lang="zh-CN" altLang="en-US" dirty="0"/>
              <a:t>希罗定理</a:t>
            </a:r>
            <a:r>
              <a:rPr lang="en-US" altLang="zh-CN" dirty="0"/>
              <a:t>】</a:t>
            </a:r>
            <a:r>
              <a:rPr lang="zh-CN" altLang="en-US" dirty="0"/>
              <a:t>：对于有限群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p</a:t>
            </a:r>
            <a:r>
              <a:rPr lang="zh-CN" altLang="en-US" dirty="0"/>
              <a:t>为素数，若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i="1" baseline="30000" dirty="0">
                <a:solidFill>
                  <a:srgbClr val="0066FF"/>
                </a:solidFill>
              </a:rPr>
              <a:t>k</a:t>
            </a:r>
            <a:r>
              <a:rPr lang="en-US" altLang="zh-CN" dirty="0">
                <a:solidFill>
                  <a:srgbClr val="0066FF"/>
                </a:solidFill>
              </a:rPr>
              <a:t>||G|</a:t>
            </a:r>
            <a:r>
              <a:rPr lang="zh-CN" altLang="en-US" dirty="0">
                <a:solidFill>
                  <a:srgbClr val="0066FF"/>
                </a:solidFill>
              </a:rPr>
              <a:t>，则必存在一个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i="1" baseline="30000" dirty="0">
                <a:solidFill>
                  <a:srgbClr val="0066FF"/>
                </a:solidFill>
              </a:rPr>
              <a:t>k</a:t>
            </a:r>
            <a:r>
              <a:rPr lang="zh-CN" altLang="en-US" dirty="0">
                <a:solidFill>
                  <a:srgbClr val="0066FF"/>
                </a:solidFill>
              </a:rPr>
              <a:t>阶子群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rgbClr val="3366FF"/>
              </a:solidFill>
            </a:endParaRPr>
          </a:p>
          <a:p>
            <a:r>
              <a:rPr lang="zh-CN" altLang="en-US" dirty="0"/>
              <a:t>根据希罗定理，必有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阶子群，</a:t>
            </a:r>
            <a:r>
              <a:rPr lang="en-US" altLang="zh-CN" dirty="0"/>
              <a:t>6</a:t>
            </a:r>
            <a:r>
              <a:rPr lang="zh-CN" altLang="en-US" dirty="0"/>
              <a:t>和</a:t>
            </a:r>
            <a:r>
              <a:rPr lang="en-US" altLang="zh-CN" dirty="0"/>
              <a:t>12</a:t>
            </a:r>
            <a:r>
              <a:rPr lang="zh-CN" altLang="en-US" dirty="0"/>
              <a:t>阶子群不一定，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A4</a:t>
            </a:r>
            <a:r>
              <a:rPr lang="zh-CN" altLang="en-US" dirty="0"/>
              <a:t>是</a:t>
            </a:r>
            <a:r>
              <a:rPr lang="en-US" altLang="zh-CN" dirty="0"/>
              <a:t>S4</a:t>
            </a:r>
            <a:r>
              <a:rPr lang="zh-CN" altLang="en-US" dirty="0"/>
              <a:t>的子群，</a:t>
            </a:r>
            <a:r>
              <a:rPr lang="en-US" altLang="zh-CN" dirty="0"/>
              <a:t>A4</a:t>
            </a:r>
            <a:r>
              <a:rPr lang="zh-CN" altLang="en-US" dirty="0"/>
              <a:t>是</a:t>
            </a:r>
            <a:r>
              <a:rPr lang="en-US" altLang="zh-CN" dirty="0"/>
              <a:t>12</a:t>
            </a:r>
            <a:r>
              <a:rPr lang="zh-CN" altLang="en-US" dirty="0"/>
              <a:t>阶群，故</a:t>
            </a:r>
            <a:r>
              <a:rPr lang="en-US" altLang="zh-CN" dirty="0"/>
              <a:t>12</a:t>
            </a:r>
            <a:r>
              <a:rPr lang="zh-CN" altLang="en-US" dirty="0"/>
              <a:t>阶子群存在</a:t>
            </a:r>
            <a:endParaRPr lang="en-US" altLang="zh-CN" dirty="0"/>
          </a:p>
          <a:p>
            <a:r>
              <a:rPr lang="zh-CN" altLang="en-US" dirty="0"/>
              <a:t>也能发现</a:t>
            </a:r>
            <a:r>
              <a:rPr lang="en-US" altLang="zh-CN" dirty="0"/>
              <a:t>6</a:t>
            </a:r>
            <a:r>
              <a:rPr lang="zh-CN" altLang="en-US" dirty="0"/>
              <a:t>阶子群存在，但是</a:t>
            </a:r>
            <a:r>
              <a:rPr lang="en-US" altLang="zh-CN" dirty="0"/>
              <a:t>A4</a:t>
            </a:r>
            <a:r>
              <a:rPr lang="zh-CN" altLang="en-US" dirty="0"/>
              <a:t>没有</a:t>
            </a:r>
            <a:r>
              <a:rPr lang="en-US" altLang="zh-CN" dirty="0"/>
              <a:t>6</a:t>
            </a:r>
            <a:r>
              <a:rPr lang="zh-CN" altLang="en-US" dirty="0"/>
              <a:t>阶子群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！</a:t>
            </a:r>
            <a:r>
              <a:rPr lang="en-US" altLang="zh-CN" dirty="0"/>
              <a:t>=24</a:t>
            </a:r>
            <a:r>
              <a:rPr lang="zh-CN" altLang="en-US" dirty="0"/>
              <a:t>，</a:t>
            </a:r>
            <a:r>
              <a:rPr lang="en-US" altLang="zh-CN" i="0" dirty="0"/>
              <a:t>|</a:t>
            </a:r>
            <a:r>
              <a:rPr lang="en-US" altLang="zh-CN" i="1" dirty="0"/>
              <a:t>A</a:t>
            </a:r>
            <a:r>
              <a:rPr lang="pt-BR" altLang="zh-CN" i="1" baseline="-25000" dirty="0"/>
              <a:t>4</a:t>
            </a:r>
            <a:r>
              <a:rPr lang="en-US" altLang="zh-CN" dirty="0"/>
              <a:t>|</a:t>
            </a:r>
            <a:r>
              <a:rPr lang="pt-BR" altLang="zh-CN" dirty="0"/>
              <a:t>=</a:t>
            </a:r>
            <a:r>
              <a:rPr lang="en-US" altLang="zh-CN" dirty="0"/>
              <a:t>24/2=12</a:t>
            </a:r>
            <a:endParaRPr lang="en-US" altLang="zh-CN" dirty="0"/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元置换中奇置换和偶置换各有</a:t>
            </a:r>
            <a:r>
              <a:rPr lang="zh-CN" altLang="en-US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 n!/2 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个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对称群中是全部的置换，其子群有部分置换（称置换群）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回看第一个实例（四个格）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用两种颜色</a:t>
            </a:r>
            <a:r>
              <a:rPr lang="en-US" altLang="zh-CN" dirty="0">
                <a:latin typeface="Arial" panose="020B0604020202020204" pitchFamily="34" charset="0"/>
              </a:rPr>
              <a:t>(m=2)</a:t>
            </a:r>
            <a:r>
              <a:rPr lang="zh-CN" altLang="en-US" dirty="0">
                <a:latin typeface="Arial" panose="020B0604020202020204" pitchFamily="34" charset="0"/>
              </a:rPr>
              <a:t>着色方格图形，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允许旋转和翻转（水平和垂直翻转，对称轴翻转），求不同的方案数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|G|=8  M=1/8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en-US" altLang="zh-CN" baseline="30000" dirty="0">
                <a:latin typeface="Arial" panose="020B0604020202020204" pitchFamily="34" charset="0"/>
              </a:rPr>
              <a:t>4 </a:t>
            </a:r>
            <a:r>
              <a:rPr lang="en-US" altLang="zh-CN" dirty="0">
                <a:latin typeface="Arial" panose="020B0604020202020204" pitchFamily="34" charset="0"/>
              </a:rPr>
              <a:t>+ 2</a:t>
            </a:r>
            <a:r>
              <a:rPr lang="zh-CN" altLang="en-US" sz="1100" dirty="0">
                <a:latin typeface="Arial" panose="020B0604020202020204" pitchFamily="34" charset="0"/>
              </a:rPr>
              <a:t>*</a:t>
            </a:r>
            <a:r>
              <a:rPr lang="en-US" altLang="zh-CN" sz="1100" dirty="0">
                <a:latin typeface="Arial" panose="020B0604020202020204" pitchFamily="34" charset="0"/>
              </a:rPr>
              <a:t>2</a:t>
            </a:r>
            <a:r>
              <a:rPr lang="en-US" altLang="zh-CN" sz="2000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en-US" altLang="zh-CN" dirty="0">
                <a:latin typeface="Arial" panose="020B0604020202020204" pitchFamily="34" charset="0"/>
              </a:rPr>
              <a:t>+ 3</a:t>
            </a:r>
            <a:r>
              <a:rPr lang="zh-CN" altLang="en-US" sz="1100" dirty="0">
                <a:latin typeface="Arial" panose="020B0604020202020204" pitchFamily="34" charset="0"/>
              </a:rPr>
              <a:t>*</a:t>
            </a:r>
            <a:r>
              <a:rPr lang="en-US" altLang="zh-CN" sz="1100" dirty="0">
                <a:latin typeface="Arial" panose="020B0604020202020204" pitchFamily="34" charset="0"/>
              </a:rPr>
              <a:t>2</a:t>
            </a:r>
            <a:r>
              <a:rPr lang="en-US" altLang="zh-CN" sz="2000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lang="en-US" altLang="zh-CN" dirty="0">
                <a:latin typeface="Arial" panose="020B0604020202020204" pitchFamily="34" charset="0"/>
              </a:rPr>
              <a:t>+ 2</a:t>
            </a:r>
            <a:r>
              <a:rPr lang="zh-CN" altLang="en-US" sz="1100" dirty="0">
                <a:latin typeface="Arial" panose="020B0604020202020204" pitchFamily="34" charset="0"/>
              </a:rPr>
              <a:t>*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en-US" altLang="zh-CN" sz="2000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=6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用两种颜色</a:t>
            </a:r>
            <a:r>
              <a:rPr lang="en-US" altLang="zh-CN" dirty="0">
                <a:latin typeface="Arial" panose="020B0604020202020204" pitchFamily="34" charset="0"/>
              </a:rPr>
              <a:t>(m=2)</a:t>
            </a:r>
            <a:r>
              <a:rPr lang="zh-CN" altLang="en-US" dirty="0">
                <a:latin typeface="Arial" panose="020B0604020202020204" pitchFamily="34" charset="0"/>
              </a:rPr>
              <a:t>着色方格图形，只旋转，求不同的方案数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|G|=4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此题结果是一样的，但是对于其他题却不一定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36ED1A-5F0F-4A87-87F0-B39A39771C72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若群</a:t>
            </a:r>
            <a:r>
              <a:rPr lang="en-US" altLang="zh-CN" i="1" dirty="0"/>
              <a:t>G</a:t>
            </a:r>
            <a:r>
              <a:rPr lang="zh-CN" altLang="en-US" dirty="0"/>
              <a:t>中的二元运算是可交换的，则称</a:t>
            </a:r>
            <a:r>
              <a:rPr lang="en-US" altLang="zh-CN" i="1" dirty="0"/>
              <a:t>G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交换群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阿贝尔 </a:t>
            </a:r>
            <a:r>
              <a:rPr lang="en-US" altLang="zh-CN" dirty="0">
                <a:solidFill>
                  <a:srgbClr val="A50021"/>
                </a:solidFill>
              </a:rPr>
              <a:t>(Abel) </a:t>
            </a:r>
            <a:r>
              <a:rPr lang="zh-CN" altLang="en-US" dirty="0">
                <a:solidFill>
                  <a:srgbClr val="A50021"/>
                </a:solidFill>
              </a:rPr>
              <a:t>群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 ∘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&gt;</a:t>
            </a:r>
            <a:r>
              <a:rPr lang="zh-CN" altLang="en-US" dirty="0"/>
              <a:t>是代数系统，∘为二元运算，如果∘运算是</a:t>
            </a:r>
            <a:r>
              <a:rPr lang="zh-CN" altLang="en-US" dirty="0">
                <a:solidFill>
                  <a:srgbClr val="0066FF"/>
                </a:solidFill>
              </a:rPr>
              <a:t>可结合</a:t>
            </a:r>
            <a:r>
              <a:rPr lang="zh-CN" altLang="en-US" dirty="0"/>
              <a:t>的，则称</a:t>
            </a:r>
            <a:r>
              <a:rPr lang="en-US" altLang="zh-CN" i="1" dirty="0"/>
              <a:t>V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半群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环中加法单位元记作 </a:t>
            </a:r>
            <a:r>
              <a:rPr lang="en-US" altLang="zh-CN" dirty="0"/>
              <a:t>0</a:t>
            </a:r>
            <a:endParaRPr lang="en-US" altLang="zh-CN" dirty="0"/>
          </a:p>
          <a:p>
            <a:r>
              <a:rPr lang="zh-CN" altLang="en-US" dirty="0"/>
              <a:t>环中加法的单位元</a:t>
            </a:r>
            <a:r>
              <a:rPr lang="en-US" altLang="zh-CN" dirty="0"/>
              <a:t>0</a:t>
            </a:r>
            <a:r>
              <a:rPr lang="zh-CN" altLang="en-US" dirty="0"/>
              <a:t>一定就是乘法的零元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环中加法单位元记作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endParaRPr lang="zh-CN" altLang="en-US" dirty="0"/>
          </a:p>
          <a:p>
            <a:r>
              <a:rPr lang="zh-CN" altLang="en-US" dirty="0"/>
              <a:t>加法逆元为</a:t>
            </a:r>
            <a:r>
              <a:rPr lang="zh-CN" altLang="en-US" dirty="0">
                <a:solidFill>
                  <a:srgbClr val="A50021"/>
                </a:solidFill>
              </a:rPr>
              <a:t>负元</a:t>
            </a:r>
            <a:endParaRPr lang="en-US" altLang="zh-CN" dirty="0">
              <a:solidFill>
                <a:srgbClr val="A5002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）即证乘法的零元是</a:t>
            </a:r>
            <a:r>
              <a:rPr lang="en-US" altLang="zh-CN" dirty="0"/>
              <a:t>0</a:t>
            </a:r>
            <a:r>
              <a:rPr lang="zh-CN" altLang="en-US" dirty="0"/>
              <a:t>（就是加法的单位元）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      环中分配律成立</a:t>
            </a:r>
            <a:endParaRPr lang="en-US" altLang="zh-CN" dirty="0"/>
          </a:p>
          <a:p>
            <a:r>
              <a:rPr lang="zh-CN" altLang="en-US" dirty="0">
                <a:solidFill>
                  <a:srgbClr val="A50021"/>
                </a:solidFill>
              </a:rPr>
              <a:t>（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zh-CN" altLang="en-US" dirty="0">
                <a:solidFill>
                  <a:srgbClr val="A50021"/>
                </a:solidFill>
              </a:rPr>
              <a:t>）即证</a:t>
            </a:r>
            <a:r>
              <a:rPr lang="en-US" altLang="zh-CN" dirty="0">
                <a:solidFill>
                  <a:srgbClr val="A50021"/>
                </a:solidFill>
              </a:rPr>
              <a:t>ab</a:t>
            </a:r>
            <a:r>
              <a:rPr lang="zh-CN" altLang="en-US" dirty="0">
                <a:solidFill>
                  <a:srgbClr val="A50021"/>
                </a:solidFill>
              </a:rPr>
              <a:t>的负元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200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sz="1200" dirty="0">
                <a:solidFill>
                  <a:srgbClr val="A50021"/>
                </a:solidFill>
                <a:latin typeface="Arial" panose="020B0604020202020204" pitchFamily="34" charset="0"/>
              </a:rPr>
              <a:t>10.14</a:t>
            </a:r>
            <a:r>
              <a:rPr lang="en-US" altLang="zh-CN" sz="1200" dirty="0">
                <a:latin typeface="Arial" panose="020B0604020202020204" pitchFamily="34" charset="0"/>
              </a:rPr>
              <a:t> </a:t>
            </a:r>
            <a:r>
              <a:rPr lang="zh-CN" altLang="en-US" sz="1200" dirty="0">
                <a:latin typeface="Arial" panose="020B0604020202020204" pitchFamily="34" charset="0"/>
              </a:rPr>
              <a:t>设</a:t>
            </a:r>
            <a:r>
              <a:rPr lang="en-US" altLang="zh-CN" sz="1200" dirty="0">
                <a:latin typeface="Arial" panose="020B0604020202020204" pitchFamily="34" charset="0"/>
              </a:rPr>
              <a:t>&lt;</a:t>
            </a:r>
            <a:r>
              <a:rPr lang="en-US" altLang="zh-CN" sz="1200" i="1" dirty="0">
                <a:latin typeface="Arial" panose="020B0604020202020204" pitchFamily="34" charset="0"/>
              </a:rPr>
              <a:t>R</a:t>
            </a:r>
            <a:r>
              <a:rPr lang="en-US" altLang="zh-CN" sz="1200" dirty="0">
                <a:latin typeface="Arial" panose="020B0604020202020204" pitchFamily="34" charset="0"/>
              </a:rPr>
              <a:t>,+,·&gt;</a:t>
            </a:r>
            <a:r>
              <a:rPr lang="zh-CN" altLang="en-US" sz="1200" dirty="0">
                <a:latin typeface="Arial" panose="020B0604020202020204" pitchFamily="34" charset="0"/>
              </a:rPr>
              <a:t>是代数系统，</a:t>
            </a:r>
            <a:r>
              <a:rPr lang="en-US" altLang="zh-CN" sz="1200" dirty="0">
                <a:latin typeface="Arial" panose="020B0604020202020204" pitchFamily="34" charset="0"/>
              </a:rPr>
              <a:t>+</a:t>
            </a:r>
            <a:r>
              <a:rPr lang="zh-CN" altLang="en-US" sz="1200" dirty="0">
                <a:latin typeface="Arial" panose="020B0604020202020204" pitchFamily="34" charset="0"/>
              </a:rPr>
              <a:t>和</a:t>
            </a:r>
            <a:r>
              <a:rPr lang="en-US" altLang="zh-CN" sz="1200" dirty="0">
                <a:latin typeface="Arial" panose="020B0604020202020204" pitchFamily="34" charset="0"/>
              </a:rPr>
              <a:t>·</a:t>
            </a:r>
            <a:r>
              <a:rPr lang="zh-CN" altLang="en-US" sz="1200" dirty="0">
                <a:latin typeface="Arial" panose="020B0604020202020204" pitchFamily="34" charset="0"/>
              </a:rPr>
              <a:t>是二元运算</a:t>
            </a:r>
            <a:r>
              <a:rPr lang="en-US" altLang="zh-CN" sz="1200" dirty="0">
                <a:latin typeface="Arial" panose="020B0604020202020204" pitchFamily="34" charset="0"/>
              </a:rPr>
              <a:t>. </a:t>
            </a:r>
            <a:r>
              <a:rPr lang="zh-CN" altLang="en-US" sz="1200" dirty="0">
                <a:latin typeface="Arial" panose="020B0604020202020204" pitchFamily="34" charset="0"/>
              </a:rPr>
              <a:t>如果满足以下条件</a:t>
            </a:r>
            <a:r>
              <a:rPr lang="en-US" altLang="zh-CN" sz="1200" dirty="0">
                <a:latin typeface="Arial" panose="020B0604020202020204" pitchFamily="34" charset="0"/>
              </a:rPr>
              <a:t>: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(1) &lt;</a:t>
            </a:r>
            <a:r>
              <a:rPr lang="en-US" altLang="zh-CN" sz="1200" i="1" dirty="0">
                <a:latin typeface="Arial" panose="020B0604020202020204" pitchFamily="34" charset="0"/>
              </a:rPr>
              <a:t>R</a:t>
            </a:r>
            <a:r>
              <a:rPr lang="en-US" altLang="zh-CN" sz="1200" dirty="0">
                <a:latin typeface="Arial" panose="020B0604020202020204" pitchFamily="34" charset="0"/>
              </a:rPr>
              <a:t>,+&gt;</a:t>
            </a:r>
            <a:r>
              <a:rPr lang="zh-CN" altLang="en-US" sz="1200" dirty="0">
                <a:latin typeface="Arial" panose="020B0604020202020204" pitchFamily="34" charset="0"/>
              </a:rPr>
              <a:t>构成交换群</a:t>
            </a:r>
            <a:endParaRPr lang="zh-CN" altLang="en-US" sz="12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(2) &lt;</a:t>
            </a:r>
            <a:r>
              <a:rPr lang="en-US" altLang="zh-CN" sz="1200" i="1" dirty="0">
                <a:latin typeface="Arial" panose="020B0604020202020204" pitchFamily="34" charset="0"/>
              </a:rPr>
              <a:t>R</a:t>
            </a:r>
            <a:r>
              <a:rPr lang="en-US" altLang="zh-CN" sz="1200" dirty="0">
                <a:latin typeface="Arial" panose="020B0604020202020204" pitchFamily="34" charset="0"/>
              </a:rPr>
              <a:t>,·&gt;</a:t>
            </a:r>
            <a:r>
              <a:rPr lang="zh-CN" altLang="en-US" sz="1200" dirty="0">
                <a:latin typeface="Arial" panose="020B0604020202020204" pitchFamily="34" charset="0"/>
              </a:rPr>
              <a:t>构成半群（</a:t>
            </a:r>
            <a:r>
              <a:rPr lang="zh-CN" altLang="en-US" sz="1200" dirty="0">
                <a:solidFill>
                  <a:srgbClr val="00B050"/>
                </a:solidFill>
                <a:latin typeface="Arial" panose="020B0604020202020204" pitchFamily="34" charset="0"/>
              </a:rPr>
              <a:t>可结合性</a:t>
            </a:r>
            <a:r>
              <a:rPr lang="zh-CN" altLang="en-US" sz="1200" dirty="0">
                <a:latin typeface="Arial" panose="020B0604020202020204" pitchFamily="34" charset="0"/>
              </a:rPr>
              <a:t>）</a:t>
            </a:r>
            <a:endParaRPr lang="zh-CN" altLang="en-US" sz="12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200" dirty="0">
                <a:latin typeface="Arial" panose="020B0604020202020204" pitchFamily="34" charset="0"/>
              </a:rPr>
              <a:t>(3) · </a:t>
            </a:r>
            <a:r>
              <a:rPr lang="zh-CN" altLang="en-US" sz="1200" dirty="0">
                <a:latin typeface="Arial" panose="020B0604020202020204" pitchFamily="34" charset="0"/>
              </a:rPr>
              <a:t>运算关于</a:t>
            </a:r>
            <a:r>
              <a:rPr lang="en-US" altLang="zh-CN" sz="1200" dirty="0">
                <a:latin typeface="Arial" panose="020B0604020202020204" pitchFamily="34" charset="0"/>
              </a:rPr>
              <a:t>+</a:t>
            </a:r>
            <a:r>
              <a:rPr lang="zh-CN" altLang="en-US" sz="1200" dirty="0">
                <a:latin typeface="Arial" panose="020B0604020202020204" pitchFamily="34" charset="0"/>
              </a:rPr>
              <a:t>运算适合分配律</a:t>
            </a:r>
            <a:endParaRPr lang="zh-CN" altLang="en-US" sz="12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1200" dirty="0">
                <a:latin typeface="Arial" panose="020B0604020202020204" pitchFamily="34" charset="0"/>
              </a:rPr>
              <a:t>则称</a:t>
            </a:r>
            <a:r>
              <a:rPr lang="en-US" altLang="zh-CN" sz="1200" dirty="0">
                <a:latin typeface="Arial" panose="020B0604020202020204" pitchFamily="34" charset="0"/>
              </a:rPr>
              <a:t>&lt;</a:t>
            </a:r>
            <a:r>
              <a:rPr lang="en-US" altLang="zh-CN" sz="1200" i="1" dirty="0">
                <a:latin typeface="Arial" panose="020B0604020202020204" pitchFamily="34" charset="0"/>
              </a:rPr>
              <a:t>R</a:t>
            </a:r>
            <a:r>
              <a:rPr lang="en-US" altLang="zh-CN" sz="1200" dirty="0">
                <a:latin typeface="Arial" panose="020B0604020202020204" pitchFamily="34" charset="0"/>
              </a:rPr>
              <a:t>,+,·&gt;</a:t>
            </a:r>
            <a:r>
              <a:rPr lang="zh-CN" altLang="en-US" sz="1200" dirty="0">
                <a:latin typeface="Arial" panose="020B0604020202020204" pitchFamily="34" charset="0"/>
              </a:rPr>
              <a:t>是一个</a:t>
            </a:r>
            <a:r>
              <a:rPr lang="zh-CN" altLang="en-US" sz="1200" dirty="0">
                <a:solidFill>
                  <a:srgbClr val="A50021"/>
                </a:solidFill>
                <a:latin typeface="Arial" panose="020B0604020202020204" pitchFamily="34" charset="0"/>
              </a:rPr>
              <a:t>环</a:t>
            </a:r>
            <a:r>
              <a:rPr lang="en-US" altLang="zh-CN" sz="1200" dirty="0">
                <a:latin typeface="Arial" panose="020B0604020202020204" pitchFamily="34" charset="0"/>
              </a:rPr>
              <a:t>. 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1200" dirty="0">
              <a:latin typeface="Arial" panose="020B0604020202020204" pitchFamily="34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）任意的两个非零元素不能使乘积为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0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（使乘积为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的两个非零元素都是零因子）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众所周知，在数的普通乘法中，如果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a≠0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b≠0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，则必有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ab≠0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，但这一性质在一般环中不再成立。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环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中一个元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a≠0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，若有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0≠b∈R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使得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ab=0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或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ba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=0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，称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是环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的零因子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）中逆表示的是乘法的逆元（加法的逆用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表示）</a:t>
            </a:r>
            <a:endParaRPr lang="en-US" altLang="zh-CN" sz="16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零元没有逆元</a:t>
            </a:r>
            <a:endParaRPr lang="zh-CN" altLang="en-US" sz="1600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68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DE2CB3F-9732-4D62-B068-609934F90159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对于环与域等定义的区别，只差第</a:t>
            </a:r>
            <a:r>
              <a:rPr lang="en-US" altLang="zh-CN" dirty="0"/>
              <a:t>2</a:t>
            </a:r>
            <a:r>
              <a:rPr lang="zh-CN" altLang="en-US" dirty="0"/>
              <a:t>个条件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332B77-71E2-41CD-8CCE-A5F6822AABE3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(1)</a:t>
            </a:r>
            <a:r>
              <a:rPr lang="zh-CN" altLang="en-US" dirty="0">
                <a:latin typeface="Arial" panose="020B0604020202020204" pitchFamily="34" charset="0"/>
              </a:rPr>
              <a:t>因为除了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之外，其他整数都没有乘法逆元（分数不属于整数）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整数环中的加法的单位元是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，乘法的单位元是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整数环只能构成整环</a:t>
            </a:r>
            <a:r>
              <a:rPr lang="en-US" altLang="zh-CN" dirty="0">
                <a:latin typeface="Arial" panose="020B0604020202020204" pitchFamily="34" charset="0"/>
              </a:rPr>
              <a:t>Z,</a:t>
            </a:r>
            <a:r>
              <a:rPr lang="zh-CN" altLang="en-US" dirty="0">
                <a:latin typeface="Arial" panose="020B0604020202020204" pitchFamily="34" charset="0"/>
              </a:rPr>
              <a:t>而不是域</a:t>
            </a:r>
            <a:r>
              <a:rPr lang="en-US" altLang="zh-CN" dirty="0">
                <a:latin typeface="Arial" panose="020B0604020202020204" pitchFamily="34" charset="0"/>
              </a:rPr>
              <a:t>,</a:t>
            </a:r>
            <a:r>
              <a:rPr lang="zh-CN" altLang="en-US" dirty="0">
                <a:latin typeface="Arial" panose="020B0604020202020204" pitchFamily="34" charset="0"/>
              </a:rPr>
              <a:t>因为并不是对于任意的非零整数</a:t>
            </a:r>
            <a:r>
              <a:rPr lang="en-US" altLang="zh-CN" dirty="0" err="1">
                <a:latin typeface="Arial" panose="020B0604020202020204" pitchFamily="34" charset="0"/>
              </a:rPr>
              <a:t>z∈Z</a:t>
            </a:r>
            <a:r>
              <a:rPr lang="zh-CN" altLang="en-US" dirty="0">
                <a:latin typeface="Arial" panose="020B0604020202020204" pitchFamily="34" charset="0"/>
              </a:rPr>
              <a:t>都有</a:t>
            </a:r>
            <a:r>
              <a:rPr lang="en-US" altLang="zh-CN" dirty="0">
                <a:latin typeface="Arial" panose="020B0604020202020204" pitchFamily="34" charset="0"/>
              </a:rPr>
              <a:t>1/</a:t>
            </a:r>
            <a:r>
              <a:rPr lang="en-US" altLang="zh-CN" dirty="0" err="1">
                <a:latin typeface="Arial" panose="020B0604020202020204" pitchFamily="34" charset="0"/>
              </a:rPr>
              <a:t>z∈Z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(2)</a:t>
            </a:r>
            <a:r>
              <a:rPr lang="zh-CN" altLang="en-US" dirty="0">
                <a:latin typeface="Arial" panose="020B0604020202020204" pitchFamily="34" charset="0"/>
              </a:rPr>
              <a:t>不是含幺环、整环，因为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（乘法的单位元）不在其中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(4)</a:t>
            </a:r>
            <a:r>
              <a:rPr lang="zh-CN" altLang="en-US" dirty="0">
                <a:latin typeface="Arial" panose="020B0604020202020204" pitchFamily="34" charset="0"/>
              </a:rPr>
              <a:t>离散数学课件</a:t>
            </a:r>
            <a:r>
              <a:rPr lang="en-US" altLang="zh-CN" dirty="0">
                <a:latin typeface="Arial" panose="020B0604020202020204" pitchFamily="34" charset="0"/>
              </a:rPr>
              <a:t>--</a:t>
            </a:r>
            <a:r>
              <a:rPr lang="zh-CN" altLang="en-US" dirty="0">
                <a:latin typeface="Arial" panose="020B0604020202020204" pitchFamily="34" charset="0"/>
              </a:rPr>
              <a:t>第十二章 环与域</a:t>
            </a:r>
            <a:r>
              <a:rPr lang="en-US" altLang="zh-CN" dirty="0">
                <a:latin typeface="Arial" panose="020B0604020202020204" pitchFamily="34" charset="0"/>
              </a:rPr>
              <a:t>.._</a:t>
            </a:r>
            <a:r>
              <a:rPr lang="zh-CN" altLang="en-US" dirty="0">
                <a:latin typeface="Arial" panose="020B0604020202020204" pitchFamily="34" charset="0"/>
              </a:rPr>
              <a:t>图文</a:t>
            </a:r>
            <a:r>
              <a:rPr lang="en-US" altLang="zh-CN" dirty="0">
                <a:latin typeface="Arial" panose="020B0604020202020204" pitchFamily="34" charset="0"/>
              </a:rPr>
              <a:t>_</a:t>
            </a:r>
            <a:r>
              <a:rPr lang="zh-CN" altLang="en-US" dirty="0">
                <a:latin typeface="Arial" panose="020B0604020202020204" pitchFamily="34" charset="0"/>
              </a:rPr>
              <a:t>百度文库有更详细的解释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3=0</a:t>
            </a:r>
            <a:r>
              <a:rPr lang="zh-CN" altLang="en-US" dirty="0">
                <a:sym typeface="Symbol" panose="05050102010706020507" pitchFamily="18" charset="2"/>
              </a:rPr>
              <a:t>，但是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都不是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，因此不是无零因子环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把</a:t>
            </a:r>
            <a:r>
              <a:rPr lang="en-US" altLang="zh-CN" dirty="0"/>
              <a:t>Z</a:t>
            </a:r>
            <a:r>
              <a:rPr lang="en-US" altLang="zh-CN" i="1" baseline="-25000" dirty="0"/>
              <a:t>6</a:t>
            </a:r>
            <a:r>
              <a:rPr lang="zh-CN" altLang="en-US" dirty="0"/>
              <a:t>（关于乘法的）画在黑板上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两个非零元素相乘为</a:t>
            </a:r>
            <a:r>
              <a:rPr lang="en-US" altLang="zh-CN" dirty="0"/>
              <a:t>0</a:t>
            </a:r>
            <a:r>
              <a:rPr lang="zh-CN" altLang="en-US" dirty="0"/>
              <a:t>，则这两个非零元素都是零因子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若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latin typeface="Arial" panose="020B0604020202020204" pitchFamily="34" charset="0"/>
              </a:rPr>
              <a:t>ab</a:t>
            </a:r>
            <a:r>
              <a:rPr lang="en-US" altLang="zh-CN" dirty="0">
                <a:latin typeface="Arial" panose="020B0604020202020204" pitchFamily="34" charset="0"/>
              </a:rPr>
              <a:t>=0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=0∨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Arial" panose="020B0604020202020204" pitchFamily="34" charset="0"/>
              </a:rPr>
              <a:t>=0</a:t>
            </a:r>
            <a:r>
              <a:rPr lang="zh-CN" altLang="en-US" dirty="0">
                <a:latin typeface="Arial" panose="020B0604020202020204" pitchFamily="34" charset="0"/>
              </a:rPr>
              <a:t>，则称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无零因子环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必要性中的证明：或者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c=0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或者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a-b=0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，已知</a:t>
            </a:r>
            <a:r>
              <a:rPr lang="en-US" altLang="zh-CN" dirty="0">
                <a:latin typeface="Arial" panose="020B0604020202020204" pitchFamily="34" charset="0"/>
              </a:rPr>
              <a:t>c≠0</a:t>
            </a:r>
            <a:r>
              <a:rPr lang="zh-CN" altLang="en-US" dirty="0">
                <a:latin typeface="Arial" panose="020B0604020202020204" pitchFamily="34" charset="0"/>
              </a:rPr>
              <a:t>，则一定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a-b=0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充分性中的证明：用到了以下定理：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10.16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,+,·&gt;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是环，则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(1) 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 = 0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【</a:t>
            </a:r>
            <a:r>
              <a:rPr lang="zh-CN" altLang="en-US" dirty="0"/>
              <a:t>环中加法单位元记作 </a:t>
            </a:r>
            <a:r>
              <a:rPr lang="en-US" altLang="zh-CN" dirty="0"/>
              <a:t>0</a:t>
            </a:r>
            <a:r>
              <a:rPr lang="zh-CN" altLang="en-US" dirty="0"/>
              <a:t>，加法的单位元</a:t>
            </a:r>
            <a:r>
              <a:rPr lang="en-US" altLang="zh-CN" dirty="0"/>
              <a:t>0</a:t>
            </a:r>
            <a:r>
              <a:rPr lang="zh-CN" altLang="en-US" dirty="0"/>
              <a:t>是乘法的零元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】</a:t>
            </a:r>
            <a:endParaRPr lang="zh-CN" altLang="en-US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063E0B-B5D8-4435-A86D-63E445260E4A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若</a:t>
            </a:r>
            <a:r>
              <a:rPr lang="en-US" altLang="zh-CN" i="1" dirty="0"/>
              <a:t>R</a:t>
            </a:r>
            <a:r>
              <a:rPr lang="zh-CN" altLang="en-US" dirty="0"/>
              <a:t>既是交换环、含幺环、也是无零因子环，则称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整环</a:t>
            </a:r>
            <a:endParaRPr lang="en-US" altLang="zh-CN" dirty="0">
              <a:solidFill>
                <a:srgbClr val="A5002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&lt;</a:t>
            </a:r>
            <a:r>
              <a:rPr lang="en-US" altLang="zh-CN" dirty="0" err="1"/>
              <a:t>Z</a:t>
            </a:r>
            <a:r>
              <a:rPr lang="en-US" altLang="zh-CN" baseline="-25000" dirty="0" err="1"/>
              <a:t>p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/>
              <a:t>&gt;</a:t>
            </a:r>
            <a:r>
              <a:rPr lang="zh-CN" altLang="en-US" dirty="0"/>
              <a:t>把</a:t>
            </a:r>
            <a:r>
              <a:rPr lang="en-US" altLang="zh-CN" dirty="0"/>
              <a:t>Z</a:t>
            </a:r>
            <a:r>
              <a:rPr lang="en-US" altLang="zh-CN" i="1" baseline="-25000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  <a:r>
              <a:rPr lang="en-US" altLang="zh-CN" i="1" baseline="-25000" dirty="0"/>
              <a:t>6</a:t>
            </a:r>
            <a:r>
              <a:rPr lang="zh-CN" altLang="en-US" dirty="0"/>
              <a:t>画在黑板上（关于乘法的）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不是素数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latin typeface="Arial" panose="020B0604020202020204" pitchFamily="34" charset="0"/>
              </a:rPr>
              <a:t>素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定义为在大于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的自然数中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除了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和它本身以外不再有其他因数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这里都是对着乘法来说的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Z</a:t>
            </a:r>
            <a:r>
              <a:rPr lang="en-US" altLang="zh-CN" i="1" baseline="-25000" dirty="0" err="1">
                <a:latin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</a:rPr>
              <a:t>={0,1,2,3,……,p-1}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 err="1">
                <a:latin typeface="Arial" panose="020B0604020202020204" pitchFamily="34" charset="0"/>
              </a:rPr>
              <a:t>i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≠ 0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zh-CN" altLang="en-US" dirty="0">
                <a:latin typeface="Arial" panose="020B0604020202020204" pitchFamily="34" charset="0"/>
              </a:rPr>
              <a:t>可以取</a:t>
            </a:r>
            <a:r>
              <a:rPr lang="en-US" altLang="zh-CN" dirty="0">
                <a:latin typeface="Arial" panose="020B0604020202020204" pitchFamily="34" charset="0"/>
              </a:rPr>
              <a:t>1,2,3,……,p-1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i="1" dirty="0">
                <a:solidFill>
                  <a:srgbClr val="0066FF"/>
                </a:solidFill>
                <a:latin typeface="Arial" panose="020B0604020202020204" pitchFamily="34" charset="0"/>
              </a:rPr>
              <a:t>p |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  <a:latin typeface="Arial" panose="020B0604020202020204" pitchFamily="34" charset="0"/>
              </a:rPr>
              <a:t>ij</a:t>
            </a:r>
            <a:r>
              <a:rPr lang="en-US" altLang="zh-CN" i="1" dirty="0">
                <a:solidFill>
                  <a:srgbClr val="0066FF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表示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整除</a:t>
            </a:r>
            <a:r>
              <a:rPr lang="en-US" altLang="zh-CN" dirty="0" err="1">
                <a:solidFill>
                  <a:srgbClr val="0066FF"/>
                </a:solidFill>
                <a:latin typeface="Arial" panose="020B0604020202020204" pitchFamily="34" charset="0"/>
              </a:rPr>
              <a:t>ij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,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也就是说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整除</a:t>
            </a:r>
            <a:r>
              <a:rPr lang="en-US" altLang="zh-CN" dirty="0" err="1">
                <a:solidFill>
                  <a:srgbClr val="0066FF"/>
                </a:solidFill>
                <a:latin typeface="Arial" panose="020B0604020202020204" pitchFamily="34" charset="0"/>
              </a:rPr>
              <a:t>i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或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整除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j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，已经确定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不整除</a:t>
            </a:r>
            <a:r>
              <a:rPr lang="en-US" altLang="zh-CN" dirty="0" err="1">
                <a:solidFill>
                  <a:srgbClr val="0066FF"/>
                </a:solidFill>
                <a:latin typeface="Arial" panose="020B0604020202020204" pitchFamily="34" charset="0"/>
              </a:rPr>
              <a:t>i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，则只有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整除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j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，因为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j=</a:t>
            </a:r>
            <a:r>
              <a:rPr lang="en-US" altLang="zh-CN" dirty="0">
                <a:latin typeface="Arial" panose="020B0604020202020204" pitchFamily="34" charset="0"/>
              </a:rPr>
              <a:t>0,1,2,3,……,p-1,</a:t>
            </a:r>
            <a:r>
              <a:rPr lang="zh-CN" altLang="en-US" dirty="0">
                <a:latin typeface="Arial" panose="020B0604020202020204" pitchFamily="34" charset="0"/>
              </a:rPr>
              <a:t>故</a:t>
            </a:r>
            <a:r>
              <a:rPr lang="en-US" altLang="zh-CN" dirty="0">
                <a:latin typeface="Arial" panose="020B0604020202020204" pitchFamily="34" charset="0"/>
              </a:rPr>
              <a:t>j=0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01C4B2-DBC3-449C-8AAB-A972C1E55DE4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i="0" dirty="0"/>
              <a:t>证明思路是：为了证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/>
              <a:t>中的每个非零元素</a:t>
            </a:r>
            <a:r>
              <a:rPr lang="en-US" altLang="zh-CN" i="0" dirty="0" err="1"/>
              <a:t>i</a:t>
            </a:r>
            <a:r>
              <a:rPr lang="zh-CN" altLang="en-US" i="0" dirty="0"/>
              <a:t>都有逆元</a:t>
            </a:r>
            <a:endParaRPr lang="en-US" altLang="zh-CN" i="0" dirty="0"/>
          </a:p>
          <a:p>
            <a:r>
              <a:rPr lang="zh-CN" altLang="en-US" i="0" dirty="0"/>
              <a:t>即可转化为证：在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/>
              <a:t>中一定有一个元素</a:t>
            </a:r>
            <a:r>
              <a:rPr lang="en-US" altLang="zh-CN" i="0" dirty="0"/>
              <a:t>j, </a:t>
            </a:r>
            <a:r>
              <a:rPr lang="zh-CN" altLang="en-US" i="0" dirty="0"/>
              <a:t>使得 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 </a:t>
            </a:r>
            <a:r>
              <a:rPr lang="en-US" altLang="zh-CN" i="0" dirty="0"/>
              <a:t>j = 1(</a:t>
            </a:r>
            <a:r>
              <a:rPr lang="zh-CN" altLang="en-US" i="0" dirty="0"/>
              <a:t>乘法的单位元</a:t>
            </a:r>
            <a:r>
              <a:rPr lang="en-US" altLang="zh-CN" i="0" dirty="0"/>
              <a:t>)</a:t>
            </a:r>
            <a:endParaRPr lang="en-US" altLang="zh-CN" i="0" dirty="0"/>
          </a:p>
          <a:p>
            <a:r>
              <a:rPr lang="zh-CN" altLang="en-US" i="0" dirty="0"/>
              <a:t>故：首先证明，</a:t>
            </a:r>
            <a:r>
              <a:rPr lang="en-US" altLang="zh-CN" i="0" dirty="0" err="1"/>
              <a:t>i</a:t>
            </a:r>
            <a:r>
              <a:rPr lang="zh-CN" altLang="en-US" i="0" dirty="0"/>
              <a:t>和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/>
              <a:t>中的的每个元素运算后生成的集合和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/>
              <a:t>是完全相同的</a:t>
            </a:r>
            <a:endParaRPr lang="en-US" altLang="zh-CN" i="0" dirty="0"/>
          </a:p>
          <a:p>
            <a:r>
              <a:rPr lang="zh-CN" altLang="en-US" i="0" dirty="0"/>
              <a:t>然后，因为单位元</a:t>
            </a:r>
            <a:r>
              <a:rPr lang="en-US" altLang="zh-CN" i="0" dirty="0"/>
              <a:t>1</a:t>
            </a:r>
            <a:r>
              <a:rPr lang="zh-CN" altLang="en-US" i="0" dirty="0"/>
              <a:t>必在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/>
              <a:t>中，则对于</a:t>
            </a:r>
            <a:r>
              <a:rPr lang="en-US" altLang="zh-CN" i="0" dirty="0" err="1"/>
              <a:t>i</a:t>
            </a:r>
            <a:r>
              <a:rPr lang="zh-CN" altLang="en-US" i="0" dirty="0"/>
              <a:t>来说，必有一个</a:t>
            </a:r>
            <a:r>
              <a:rPr lang="en-US" altLang="zh-CN" i="0" dirty="0"/>
              <a:t>j,</a:t>
            </a:r>
            <a:r>
              <a:rPr lang="zh-CN" altLang="en-US" i="0" dirty="0"/>
              <a:t>能通过</a:t>
            </a:r>
            <a:r>
              <a:rPr lang="en-US" altLang="zh-CN" i="0" dirty="0" err="1"/>
              <a:t>i</a:t>
            </a:r>
            <a:r>
              <a:rPr lang="zh-CN" altLang="en-US" i="0" dirty="0"/>
              <a:t>和</a:t>
            </a:r>
            <a:r>
              <a:rPr lang="en-US" altLang="zh-CN" i="0" dirty="0"/>
              <a:t>j</a:t>
            </a:r>
            <a:r>
              <a:rPr lang="zh-CN" altLang="en-US" i="0" dirty="0"/>
              <a:t>运算得到</a:t>
            </a:r>
            <a:r>
              <a:rPr lang="en-US" altLang="zh-CN" i="0" dirty="0"/>
              <a:t>1</a:t>
            </a:r>
            <a:endParaRPr lang="en-US" altLang="zh-CN" i="0" dirty="0"/>
          </a:p>
          <a:p>
            <a:endParaRPr lang="en-US" altLang="zh-CN" i="0" dirty="0"/>
          </a:p>
          <a:p>
            <a:r>
              <a:rPr lang="en-US" altLang="zh-CN" i="0" dirty="0"/>
              <a:t>【</a:t>
            </a:r>
            <a:r>
              <a:rPr lang="zh-CN" altLang="en-US" i="0" dirty="0"/>
              <a:t>关于首先证明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en-US" altLang="zh-CN" i="0" dirty="0"/>
              <a:t> = 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en-US" altLang="zh-CN" i="0" dirty="0"/>
              <a:t>】</a:t>
            </a:r>
            <a:r>
              <a:rPr lang="zh-CN" altLang="en-US" i="0" dirty="0"/>
              <a:t>的思路：</a:t>
            </a:r>
            <a:endParaRPr lang="en-US" altLang="zh-CN" i="0" dirty="0"/>
          </a:p>
          <a:p>
            <a:r>
              <a:rPr lang="zh-CN" altLang="en-US" i="0" dirty="0"/>
              <a:t>首先说必等，然后通过反证：若不等会有矛盾，具体如下：</a:t>
            </a:r>
            <a:endParaRPr lang="en-US" altLang="zh-CN" i="0" dirty="0"/>
          </a:p>
          <a:p>
            <a:r>
              <a:rPr lang="zh-CN" altLang="en-US" i="0" dirty="0"/>
              <a:t>若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en-US" altLang="zh-CN" i="0" dirty="0"/>
              <a:t> = 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>
                <a:sym typeface="Symbol" panose="05050102010706020507" pitchFamily="18" charset="2"/>
              </a:rPr>
              <a:t>不成立，则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>
                <a:sym typeface="Symbol" panose="05050102010706020507" pitchFamily="18" charset="2"/>
              </a:rPr>
              <a:t>一定小，即</a:t>
            </a:r>
            <a:r>
              <a:rPr lang="zh-CN" altLang="en-US" i="0" dirty="0">
                <a:solidFill>
                  <a:srgbClr val="7030A0"/>
                </a:solidFill>
                <a:sym typeface="Symbol" panose="05050102010706020507" pitchFamily="18" charset="2"/>
              </a:rPr>
              <a:t> </a:t>
            </a:r>
            <a:r>
              <a:rPr lang="en-US" altLang="zh-CN" i="0" dirty="0">
                <a:solidFill>
                  <a:srgbClr val="7030A0"/>
                </a:solidFill>
              </a:rPr>
              <a:t>j, </a:t>
            </a:r>
            <a:r>
              <a:rPr lang="en-US" altLang="zh-CN" i="0" dirty="0" err="1">
                <a:solidFill>
                  <a:srgbClr val="7030A0"/>
                </a:solidFill>
              </a:rPr>
              <a:t>k∈Z</a:t>
            </a:r>
            <a:r>
              <a:rPr lang="en-US" altLang="zh-CN" i="0" baseline="-25000" dirty="0" err="1">
                <a:solidFill>
                  <a:srgbClr val="7030A0"/>
                </a:solidFill>
              </a:rPr>
              <a:t>p</a:t>
            </a:r>
            <a:r>
              <a:rPr lang="zh-CN" altLang="en-US" i="0" dirty="0">
                <a:solidFill>
                  <a:srgbClr val="7030A0"/>
                </a:solidFill>
              </a:rPr>
              <a:t>，</a:t>
            </a:r>
            <a:r>
              <a:rPr lang="en-US" altLang="zh-CN" dirty="0">
                <a:solidFill>
                  <a:srgbClr val="7030A0"/>
                </a:solidFill>
              </a:rPr>
              <a:t>(</a:t>
            </a:r>
            <a:r>
              <a:rPr lang="en-US" altLang="zh-CN" i="1" dirty="0">
                <a:solidFill>
                  <a:srgbClr val="7030A0"/>
                </a:solidFill>
              </a:rPr>
              <a:t>j </a:t>
            </a:r>
            <a:r>
              <a:rPr lang="en-US" altLang="zh-CN" dirty="0">
                <a:solidFill>
                  <a:srgbClr val="7030A0"/>
                </a:solidFill>
              </a:rPr>
              <a:t>≠ </a:t>
            </a:r>
            <a:r>
              <a:rPr lang="en-US" altLang="zh-CN" i="1" dirty="0">
                <a:solidFill>
                  <a:srgbClr val="7030A0"/>
                </a:solidFill>
              </a:rPr>
              <a:t>k</a:t>
            </a:r>
            <a:r>
              <a:rPr lang="en-US" altLang="zh-CN" dirty="0">
                <a:solidFill>
                  <a:srgbClr val="7030A0"/>
                </a:solidFill>
              </a:rPr>
              <a:t>)</a:t>
            </a:r>
            <a:r>
              <a:rPr lang="zh-CN" altLang="en-US" dirty="0">
                <a:solidFill>
                  <a:srgbClr val="7030A0"/>
                </a:solidFill>
              </a:rPr>
              <a:t>，</a:t>
            </a:r>
            <a:r>
              <a:rPr lang="zh-CN" altLang="en-US" i="0" dirty="0">
                <a:solidFill>
                  <a:srgbClr val="7030A0"/>
                </a:solidFill>
              </a:rPr>
              <a:t>使得 </a:t>
            </a:r>
            <a:r>
              <a:rPr lang="en-US" altLang="zh-CN" i="0" dirty="0" err="1">
                <a:solidFill>
                  <a:srgbClr val="7030A0"/>
                </a:solidFill>
              </a:rPr>
              <a:t>i</a:t>
            </a:r>
            <a:r>
              <a:rPr lang="en-US" altLang="zh-CN" i="0" dirty="0">
                <a:solidFill>
                  <a:srgbClr val="7030A0"/>
                </a:solidFill>
              </a:rPr>
              <a:t> </a:t>
            </a:r>
            <a:r>
              <a:rPr lang="en-US" altLang="zh-CN" i="0" dirty="0">
                <a:solidFill>
                  <a:srgbClr val="7030A0"/>
                </a:solidFill>
                <a:sym typeface="Symbol" panose="05050102010706020507" pitchFamily="18" charset="2"/>
              </a:rPr>
              <a:t> </a:t>
            </a:r>
            <a:r>
              <a:rPr lang="en-US" altLang="zh-CN" i="0" dirty="0">
                <a:solidFill>
                  <a:srgbClr val="7030A0"/>
                </a:solidFill>
              </a:rPr>
              <a:t>j = </a:t>
            </a:r>
            <a:r>
              <a:rPr lang="en-US" altLang="zh-CN" i="0" dirty="0" err="1">
                <a:solidFill>
                  <a:srgbClr val="7030A0"/>
                </a:solidFill>
              </a:rPr>
              <a:t>i</a:t>
            </a:r>
            <a:r>
              <a:rPr lang="en-US" altLang="zh-CN" i="0" dirty="0">
                <a:solidFill>
                  <a:srgbClr val="7030A0"/>
                </a:solidFill>
              </a:rPr>
              <a:t> </a:t>
            </a:r>
            <a:r>
              <a:rPr lang="en-US" altLang="zh-CN" i="0" dirty="0">
                <a:solidFill>
                  <a:srgbClr val="7030A0"/>
                </a:solidFill>
                <a:sym typeface="Symbol" panose="05050102010706020507" pitchFamily="18" charset="2"/>
              </a:rPr>
              <a:t> </a:t>
            </a:r>
            <a:r>
              <a:rPr lang="en-US" altLang="zh-CN" i="0" dirty="0">
                <a:solidFill>
                  <a:srgbClr val="7030A0"/>
                </a:solidFill>
              </a:rPr>
              <a:t>k</a:t>
            </a:r>
            <a:endParaRPr lang="en-US" altLang="zh-CN" i="0" dirty="0">
              <a:solidFill>
                <a:srgbClr val="7030A0"/>
              </a:solidFill>
            </a:endParaRPr>
          </a:p>
          <a:p>
            <a:r>
              <a:rPr lang="zh-CN" altLang="en-US" i="0" dirty="0">
                <a:solidFill>
                  <a:srgbClr val="7030A0"/>
                </a:solidFill>
              </a:rPr>
              <a:t> 根据消去律得：</a:t>
            </a:r>
            <a:r>
              <a:rPr lang="en-US" altLang="zh-CN" i="0" dirty="0">
                <a:solidFill>
                  <a:srgbClr val="7030A0"/>
                </a:solidFill>
              </a:rPr>
              <a:t>j = k</a:t>
            </a:r>
            <a:r>
              <a:rPr lang="zh-CN" altLang="en-US" i="0" dirty="0">
                <a:solidFill>
                  <a:srgbClr val="7030A0"/>
                </a:solidFill>
              </a:rPr>
              <a:t>，表明</a:t>
            </a:r>
            <a:r>
              <a:rPr lang="en-US" altLang="zh-CN" i="0" dirty="0" err="1">
                <a:solidFill>
                  <a:srgbClr val="7030A0"/>
                </a:solidFill>
              </a:rPr>
              <a:t>jk</a:t>
            </a:r>
            <a:r>
              <a:rPr lang="zh-CN" altLang="en-US" i="0" dirty="0">
                <a:solidFill>
                  <a:srgbClr val="7030A0"/>
                </a:solidFill>
              </a:rPr>
              <a:t>相等</a:t>
            </a:r>
            <a:r>
              <a:rPr lang="en-US" altLang="zh-CN" i="0" dirty="0">
                <a:solidFill>
                  <a:srgbClr val="7030A0"/>
                </a:solidFill>
              </a:rPr>
              <a:t>,</a:t>
            </a:r>
            <a:r>
              <a:rPr lang="zh-CN" altLang="en-US" i="0" dirty="0">
                <a:solidFill>
                  <a:srgbClr val="7030A0"/>
                </a:solidFill>
              </a:rPr>
              <a:t>而初设的</a:t>
            </a:r>
            <a:r>
              <a:rPr lang="en-US" altLang="zh-CN" i="0" dirty="0" err="1">
                <a:solidFill>
                  <a:srgbClr val="7030A0"/>
                </a:solidFill>
              </a:rPr>
              <a:t>jk</a:t>
            </a:r>
            <a:r>
              <a:rPr lang="zh-CN" altLang="en-US" i="0" dirty="0">
                <a:solidFill>
                  <a:srgbClr val="7030A0"/>
                </a:solidFill>
              </a:rPr>
              <a:t>不相等</a:t>
            </a:r>
            <a:endParaRPr lang="en-US" altLang="zh-CN" i="0" dirty="0">
              <a:solidFill>
                <a:srgbClr val="7030A0"/>
              </a:solidFill>
            </a:endParaRPr>
          </a:p>
          <a:p>
            <a:r>
              <a:rPr lang="zh-CN" altLang="en-US" i="0" dirty="0"/>
              <a:t>在证明了：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en-US" altLang="zh-CN" i="0" dirty="0"/>
              <a:t> = 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>
                <a:solidFill>
                  <a:srgbClr val="7030A0"/>
                </a:solidFill>
              </a:rPr>
              <a:t>后</a:t>
            </a:r>
            <a:endParaRPr lang="en-US" altLang="zh-CN" i="0" dirty="0">
              <a:solidFill>
                <a:srgbClr val="7030A0"/>
              </a:solidFill>
            </a:endParaRPr>
          </a:p>
          <a:p>
            <a:r>
              <a:rPr lang="zh-CN" altLang="en-US" i="0" dirty="0">
                <a:solidFill>
                  <a:srgbClr val="7030A0"/>
                </a:solidFill>
              </a:rPr>
              <a:t>因为</a:t>
            </a:r>
            <a:r>
              <a:rPr lang="en-US" altLang="zh-CN" i="0" dirty="0">
                <a:solidFill>
                  <a:srgbClr val="7030A0"/>
                </a:solidFill>
              </a:rPr>
              <a:t>1</a:t>
            </a:r>
            <a:r>
              <a:rPr lang="zh-CN" altLang="en-US" i="0" dirty="0">
                <a:solidFill>
                  <a:srgbClr val="7030A0"/>
                </a:solidFill>
              </a:rPr>
              <a:t>是</a:t>
            </a:r>
            <a:r>
              <a:rPr lang="en-US" altLang="zh-CN" i="0" dirty="0" err="1"/>
              <a:t>Z</a:t>
            </a:r>
            <a:r>
              <a:rPr lang="en-US" altLang="zh-CN" i="0" baseline="-25000" dirty="0" err="1"/>
              <a:t>p</a:t>
            </a:r>
            <a:r>
              <a:rPr lang="zh-CN" altLang="en-US" i="0" dirty="0">
                <a:solidFill>
                  <a:srgbClr val="7030A0"/>
                </a:solidFill>
              </a:rPr>
              <a:t>中的元素（且是乘法的单位元），对于任意</a:t>
            </a:r>
            <a:r>
              <a:rPr lang="en-US" altLang="zh-CN" i="0" dirty="0" err="1">
                <a:solidFill>
                  <a:srgbClr val="7030A0"/>
                </a:solidFill>
              </a:rPr>
              <a:t>i</a:t>
            </a:r>
            <a:r>
              <a:rPr lang="zh-CN" altLang="en-US" i="0" dirty="0">
                <a:solidFill>
                  <a:srgbClr val="7030A0"/>
                </a:solidFill>
              </a:rPr>
              <a:t>，必定会有一个</a:t>
            </a:r>
            <a:r>
              <a:rPr lang="en-US" altLang="zh-CN" i="0" dirty="0">
                <a:solidFill>
                  <a:srgbClr val="7030A0"/>
                </a:solidFill>
              </a:rPr>
              <a:t>j,</a:t>
            </a:r>
            <a:r>
              <a:rPr lang="zh-CN" altLang="en-US" i="0" dirty="0">
                <a:solidFill>
                  <a:srgbClr val="7030A0"/>
                </a:solidFill>
              </a:rPr>
              <a:t> </a:t>
            </a:r>
            <a:r>
              <a:rPr lang="zh-CN" altLang="en-US" i="0" dirty="0"/>
              <a:t>使得 </a:t>
            </a:r>
            <a:r>
              <a:rPr lang="en-US" altLang="zh-CN" i="0" dirty="0" err="1"/>
              <a:t>i</a:t>
            </a:r>
            <a:r>
              <a:rPr lang="en-US" altLang="zh-CN" i="0" dirty="0"/>
              <a:t> </a:t>
            </a:r>
            <a:r>
              <a:rPr lang="en-US" altLang="zh-CN" i="0" dirty="0">
                <a:sym typeface="Symbol" panose="05050102010706020507" pitchFamily="18" charset="2"/>
              </a:rPr>
              <a:t> </a:t>
            </a:r>
            <a:r>
              <a:rPr lang="en-US" altLang="zh-CN" i="0" dirty="0"/>
              <a:t>j = 1</a:t>
            </a:r>
            <a:endParaRPr lang="zh-CN" altLang="en-US" i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457A8F-1595-4B5F-A2B3-091B2AAA007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Z</a:t>
            </a:r>
            <a:r>
              <a:rPr lang="en-US" altLang="zh-CN" baseline="-25000" dirty="0"/>
              <a:t>5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的单位元是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1</a:t>
            </a:r>
            <a:endParaRPr lang="en-US" altLang="zh-CN" dirty="0">
              <a:solidFill>
                <a:srgbClr val="0066FF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3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2=1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，故</a:t>
            </a:r>
            <a:r>
              <a:rPr lang="en-US" altLang="zh-CN" dirty="0"/>
              <a:t>3</a:t>
            </a:r>
            <a:r>
              <a:rPr lang="en-US" altLang="zh-CN" baseline="30000" dirty="0"/>
              <a:t>-1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=2</a:t>
            </a:r>
            <a:endParaRPr lang="en-US" altLang="zh-CN" dirty="0">
              <a:solidFill>
                <a:srgbClr val="0066FF"/>
              </a:solidFill>
              <a:latin typeface="Arial" panose="020B0604020202020204" pitchFamily="34" charset="0"/>
            </a:endParaRPr>
          </a:p>
        </p:txBody>
      </p:sp>
      <p:sp>
        <p:nvSpPr>
          <p:cNvPr id="8090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87C1C4-08A1-44FE-9C49-ECD616257D93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24B0AEA-F2D2-45ED-99BC-F962ECAFF192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A3C78-7D6B-4BC8-98A6-6A68806439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8BEDC-BBC9-4E6F-A177-9383404BA6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6304C-5C11-4CDD-B1AE-2AB6E59FB1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08C2C-A109-4A78-9D71-C433A95E44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55817-96BD-4FDE-A934-96046F0B33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B8052-4F85-4A8F-B4FE-30E0297EEF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3D711-70B2-4F25-AD98-BFD6DDE43A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5B3B4-AAA8-45B4-A320-91772B4124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66385-20AC-4BBD-A7E4-0B8B95F344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F12BA-F1CD-4703-AC3E-7F1E9AE386F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326FE-230A-4F16-A141-9C87D75DB2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83029-DAB2-49D7-AB66-AEA9BA324D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88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8F431-A7B2-47EF-9B5C-3EA1C42D3A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DC60F-22BD-4C6A-B2C9-79D543884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8E0D2-86A3-406F-B56A-B790F00A6A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EB8B8-A1B5-4909-8942-1E38F94D13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270000"/>
            <a:ext cx="80010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A37A0-DD15-4197-ACFE-184494FE3D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A96DF-4107-402E-88A3-DD9D9952FD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AD53944-A729-43CF-ADC9-A18C54DA9CD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051F6-14E1-481A-92D9-FB92924A66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C87A6-F5DD-4122-AD4A-1C3E90D732D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8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9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0.bin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3" Type="http://schemas.openxmlformats.org/officeDocument/2006/relationships/notesSlide" Target="../notesSlides/notesSlide41.xml"/><Relationship Id="rId12" Type="http://schemas.openxmlformats.org/officeDocument/2006/relationships/slideLayout" Target="../slideLayouts/slideLayout19.xml"/><Relationship Id="rId11" Type="http://schemas.openxmlformats.org/officeDocument/2006/relationships/image" Target="../media/image35.png"/><Relationship Id="rId10" Type="http://schemas.openxmlformats.org/officeDocument/2006/relationships/image" Target="../media/image26.png"/><Relationship Id="rId1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2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26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wmf"/><Relationship Id="rId1" Type="http://schemas.openxmlformats.org/officeDocument/2006/relationships/oleObject" Target="../embeddings/oleObject13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14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308924-BC56-440B-96FB-3CD04EE6B1C0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  <a:endParaRPr lang="zh-CN" altLang="en-US"/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10.1</a:t>
            </a:r>
            <a:r>
              <a:rPr lang="zh-CN" altLang="en-US"/>
              <a:t>群的定义与性质</a:t>
            </a:r>
            <a:endParaRPr lang="zh-CN" altLang="en-US"/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10.2</a:t>
            </a:r>
            <a:r>
              <a:rPr lang="zh-CN" altLang="en-US"/>
              <a:t>子群与群的陪集分解</a:t>
            </a:r>
            <a:endParaRPr lang="zh-CN" altLang="en-US"/>
          </a:p>
          <a:p>
            <a:pPr lvl="1" eaLnBrk="1" hangingPunct="1">
              <a:buClr>
                <a:srgbClr val="FF9900"/>
              </a:buClr>
            </a:pPr>
            <a:r>
              <a:rPr lang="en-US" altLang="zh-CN">
                <a:solidFill>
                  <a:srgbClr val="FF0000"/>
                </a:solidFill>
              </a:rPr>
              <a:t>10.3</a:t>
            </a:r>
            <a:r>
              <a:rPr lang="zh-CN" altLang="en-US">
                <a:solidFill>
                  <a:srgbClr val="FF0000"/>
                </a:solidFill>
              </a:rPr>
              <a:t>循环群与置换群</a:t>
            </a:r>
            <a:endParaRPr lang="zh-CN" altLang="en-US">
              <a:solidFill>
                <a:srgbClr val="FF0000"/>
              </a:solidFill>
            </a:endParaRP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10.4</a:t>
            </a:r>
            <a:r>
              <a:rPr lang="zh-CN" altLang="en-US"/>
              <a:t>环与域</a:t>
            </a:r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961C9B-CD49-47FA-AA96-24643070C516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10.3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循环群与置换群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10.10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是群，若存在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使得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      </a:t>
            </a:r>
            <a:r>
              <a:rPr lang="en-US" altLang="zh-CN" i="1" dirty="0"/>
              <a:t>G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k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则称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循环群</a:t>
            </a:r>
            <a:r>
              <a:rPr lang="zh-CN" altLang="en-US" dirty="0"/>
              <a:t>，记作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，称 </a:t>
            </a:r>
            <a:r>
              <a:rPr lang="en-US" altLang="zh-CN" i="1" dirty="0"/>
              <a:t>a </a:t>
            </a:r>
            <a:r>
              <a:rPr lang="zh-CN" altLang="en-US" dirty="0"/>
              <a:t>为</a:t>
            </a:r>
            <a:r>
              <a:rPr lang="en-US" altLang="zh-CN" i="1" dirty="0"/>
              <a:t>G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生成元</a:t>
            </a:r>
            <a:r>
              <a:rPr lang="en-US" altLang="zh-CN" dirty="0"/>
              <a:t>. 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583684" name="Rectangle 4"/>
          <p:cNvSpPr>
            <a:spLocks noChangeArrowheads="1"/>
          </p:cNvSpPr>
          <p:nvPr/>
        </p:nvSpPr>
        <p:spPr bwMode="auto">
          <a:xfrm>
            <a:off x="152400" y="3500438"/>
            <a:ext cx="1066800" cy="579437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itchFamily="49" charset="-122"/>
              </a:rPr>
              <a:t>例</a:t>
            </a:r>
            <a:endParaRPr kumimoji="1" lang="zh-CN" altLang="en-US" sz="3200">
              <a:solidFill>
                <a:srgbClr val="FFFFFF"/>
              </a:solidFill>
              <a:ea typeface="楷体_GB2312" pitchFamily="49" charset="-122"/>
            </a:endParaRPr>
          </a:p>
        </p:txBody>
      </p:sp>
      <p:sp>
        <p:nvSpPr>
          <p:cNvPr id="583768" name="Rectangle 88"/>
          <p:cNvSpPr>
            <a:spLocks noChangeArrowheads="1"/>
          </p:cNvSpPr>
          <p:nvPr/>
        </p:nvSpPr>
        <p:spPr bwMode="auto">
          <a:xfrm>
            <a:off x="1807632" y="5588000"/>
            <a:ext cx="2667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ea typeface="楷体_GB2312" pitchFamily="49" charset="-122"/>
              </a:rPr>
              <a:t>生成元</a:t>
            </a:r>
            <a:r>
              <a:rPr kumimoji="1" lang="en-US" altLang="zh-CN" sz="3200" dirty="0">
                <a:ea typeface="楷体_GB2312" pitchFamily="49" charset="-122"/>
              </a:rPr>
              <a:t>: </a:t>
            </a:r>
            <a:r>
              <a:rPr kumimoji="1" lang="en-US" altLang="zh-CN" sz="3200" i="1" dirty="0">
                <a:ea typeface="楷体_GB2312" pitchFamily="49" charset="-122"/>
              </a:rPr>
              <a:t>f </a:t>
            </a:r>
            <a:r>
              <a:rPr kumimoji="1" lang="en-US" altLang="zh-CN" sz="3200" i="1" baseline="30000" dirty="0">
                <a:ea typeface="楷体_GB2312" pitchFamily="49" charset="-122"/>
              </a:rPr>
              <a:t>1</a:t>
            </a:r>
            <a:r>
              <a:rPr kumimoji="1" lang="en-US" altLang="zh-CN" sz="3200" i="1" dirty="0">
                <a:ea typeface="楷体_GB2312" pitchFamily="49" charset="-122"/>
              </a:rPr>
              <a:t>, f </a:t>
            </a:r>
            <a:r>
              <a:rPr kumimoji="1" lang="en-US" altLang="zh-CN" sz="3200" i="1" baseline="30000" dirty="0">
                <a:ea typeface="楷体_GB2312" pitchFamily="49" charset="-122"/>
              </a:rPr>
              <a:t>3</a:t>
            </a:r>
            <a:endParaRPr kumimoji="1" lang="en-US" altLang="zh-CN" sz="3200" i="1" baseline="30000" dirty="0">
              <a:ea typeface="楷体_GB2312" pitchFamily="49" charset="-122"/>
            </a:endParaRPr>
          </a:p>
        </p:txBody>
      </p:sp>
      <p:sp>
        <p:nvSpPr>
          <p:cNvPr id="583825" name="Rectangle 145"/>
          <p:cNvSpPr>
            <a:spLocks noChangeArrowheads="1"/>
          </p:cNvSpPr>
          <p:nvPr/>
        </p:nvSpPr>
        <p:spPr bwMode="auto">
          <a:xfrm>
            <a:off x="5870575" y="5588000"/>
            <a:ext cx="2663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dirty="0">
                <a:ea typeface="楷体_GB2312" pitchFamily="49" charset="-122"/>
              </a:rPr>
              <a:t>生成元</a:t>
            </a:r>
            <a:r>
              <a:rPr kumimoji="1" lang="en-US" altLang="zh-CN" sz="3200" dirty="0">
                <a:ea typeface="楷体_GB2312" pitchFamily="49" charset="-122"/>
              </a:rPr>
              <a:t>: </a:t>
            </a:r>
            <a:r>
              <a:rPr kumimoji="1" lang="en-US" altLang="zh-CN" sz="3200" i="1" dirty="0" err="1">
                <a:ea typeface="楷体_GB2312" pitchFamily="49" charset="-122"/>
              </a:rPr>
              <a:t>b,c</a:t>
            </a:r>
            <a:endParaRPr kumimoji="1" lang="en-US" altLang="zh-CN" sz="3200" i="1" baseline="30000" dirty="0"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719" y="3534300"/>
            <a:ext cx="3362325" cy="1933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3524774"/>
            <a:ext cx="2686050" cy="195262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4" grpId="0" animBg="1" autoUpdateAnimBg="0"/>
      <p:bldP spid="583768" grpId="0" autoUpdateAnimBg="0"/>
      <p:bldP spid="58382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0C0B2E35-4FE6-4353-8526-42F4BA63D12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4288" y="-131763"/>
            <a:ext cx="9144000" cy="686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>
              <a:latin typeface="Arial Narrow" panose="020B0606020202030204" pitchFamily="34" charset="0"/>
            </a:endParaRPr>
          </a:p>
        </p:txBody>
      </p:sp>
      <p:sp>
        <p:nvSpPr>
          <p:cNvPr id="492704" name="Rectangle 160"/>
          <p:cNvSpPr>
            <a:spLocks noChangeArrowheads="1"/>
          </p:cNvSpPr>
          <p:nvPr/>
        </p:nvSpPr>
        <p:spPr bwMode="auto">
          <a:xfrm>
            <a:off x="4981858" y="4126838"/>
            <a:ext cx="3675062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&lt;180&gt;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={0,180}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&lt;240&gt;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&lt;300&gt;</a:t>
            </a: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 60,120,180,240,300} </a:t>
            </a:r>
            <a:endParaRPr lang="en-US" altLang="zh-CN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62" name="Rectangle 4"/>
          <p:cNvSpPr txBox="1">
            <a:spLocks noChangeArrowheads="1"/>
          </p:cNvSpPr>
          <p:nvPr/>
        </p:nvSpPr>
        <p:spPr bwMode="auto">
          <a:xfrm>
            <a:off x="500063" y="285750"/>
            <a:ext cx="7954962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</a:rPr>
              <a:t>回看旋转群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G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的运算表如下：</a:t>
            </a:r>
            <a:endParaRPr lang="zh-CN" altLang="en-US" sz="2800" kern="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65" name="Rectangle 160"/>
          <p:cNvSpPr>
            <a:spLocks noChangeArrowheads="1"/>
          </p:cNvSpPr>
          <p:nvPr/>
        </p:nvSpPr>
        <p:spPr bwMode="auto">
          <a:xfrm>
            <a:off x="1032158" y="4126838"/>
            <a:ext cx="3675062" cy="212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&lt;60&gt;</a:t>
            </a: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={0,60,120,180,240,300}</a:t>
            </a:r>
            <a:endParaRPr lang="en-US" altLang="zh-CN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&lt;120&gt;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08" y="973401"/>
            <a:ext cx="6629400" cy="266700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/>
              <a:t>G=&lt;Z</a:t>
            </a:r>
            <a:r>
              <a:rPr lang="en-US" altLang="zh-CN" sz="2800"/>
              <a:t>9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&gt;</a:t>
            </a:r>
            <a:endParaRPr lang="zh-CN" altLang="en-US"/>
          </a:p>
        </p:txBody>
      </p:sp>
      <p:sp>
        <p:nvSpPr>
          <p:cNvPr id="10243" name="内容占位符 11"/>
          <p:cNvSpPr>
            <a:spLocks noGrp="1" noChangeArrowheads="1"/>
          </p:cNvSpPr>
          <p:nvPr>
            <p:ph idx="1"/>
          </p:nvPr>
        </p:nvSpPr>
        <p:spPr>
          <a:xfrm>
            <a:off x="720725" y="5530850"/>
            <a:ext cx="8001000" cy="836613"/>
          </a:xfrm>
        </p:spPr>
        <p:txBody>
          <a:bodyPr/>
          <a:lstStyle/>
          <a:p>
            <a:r>
              <a:rPr lang="zh-CN" altLang="en-US"/>
              <a:t>生成元：</a:t>
            </a:r>
            <a:r>
              <a:rPr lang="en-US" altLang="zh-CN"/>
              <a:t>1,2,4,5,7,8</a:t>
            </a:r>
            <a:endParaRPr lang="zh-CN" altLang="en-US"/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C9C8F3-B40D-4C9D-88CC-01B4D4B65C3B}" type="slidenum">
              <a:rPr lang="en-US" altLang="zh-CN" smtClean="0"/>
            </a:fld>
            <a:endParaRPr lang="en-US" altLang="zh-CN"/>
          </a:p>
        </p:txBody>
      </p:sp>
      <p:pic>
        <p:nvPicPr>
          <p:cNvPr id="10245" name="图片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861" y="1297781"/>
            <a:ext cx="5832475" cy="398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59BA2F-5CB6-414E-B7A5-2426905219A1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定理</a:t>
            </a:r>
            <a:endParaRPr lang="zh-CN" altLang="en-US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任何一个循环群必定是阿贝尔群。</a:t>
            </a:r>
            <a:endParaRPr lang="zh-CN" altLang="en-US" dirty="0">
              <a:solidFill>
                <a:srgbClr val="000000"/>
              </a:solidFill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743428" name="Rectangle 4"/>
          <p:cNvSpPr>
            <a:spLocks noChangeArrowheads="1"/>
          </p:cNvSpPr>
          <p:nvPr/>
        </p:nvSpPr>
        <p:spPr bwMode="auto">
          <a:xfrm>
            <a:off x="692150" y="2117725"/>
            <a:ext cx="1143000" cy="579438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itchFamily="49" charset="-122"/>
              </a:rPr>
              <a:t>证明</a:t>
            </a:r>
            <a:endParaRPr kumimoji="1" lang="zh-CN" altLang="en-US" sz="3200">
              <a:solidFill>
                <a:srgbClr val="FFFFFF"/>
              </a:solidFill>
              <a:ea typeface="楷体_GB2312" pitchFamily="49" charset="-122"/>
            </a:endParaRPr>
          </a:p>
        </p:txBody>
      </p:sp>
      <p:sp>
        <p:nvSpPr>
          <p:cNvPr id="743429" name="Rectangle 5"/>
          <p:cNvSpPr>
            <a:spLocks noChangeArrowheads="1"/>
          </p:cNvSpPr>
          <p:nvPr/>
        </p:nvSpPr>
        <p:spPr bwMode="auto">
          <a:xfrm>
            <a:off x="2051050" y="2060575"/>
            <a:ext cx="679608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设</a:t>
            </a:r>
            <a:r>
              <a:rPr kumimoji="1" lang="en-US" altLang="zh-CN" sz="3200" dirty="0">
                <a:ea typeface="楷体_GB2312" pitchFamily="49" charset="-122"/>
              </a:rPr>
              <a:t>&lt; </a:t>
            </a:r>
            <a:r>
              <a:rPr kumimoji="1" lang="en-US" altLang="zh-CN" sz="3200" i="1" dirty="0">
                <a:ea typeface="楷体_GB2312" pitchFamily="49" charset="-122"/>
              </a:rPr>
              <a:t>G</a:t>
            </a:r>
            <a:r>
              <a:rPr kumimoji="1" lang="en-US" altLang="zh-CN" sz="3200" dirty="0">
                <a:ea typeface="楷体_GB2312" pitchFamily="49" charset="-122"/>
              </a:rPr>
              <a:t> , </a:t>
            </a:r>
            <a:r>
              <a:rPr kumimoji="1" lang="en-US" altLang="zh-CN" sz="3200" dirty="0"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kumimoji="1" lang="en-US" altLang="zh-CN" sz="3200" dirty="0"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是循环群，它的生成元是</a:t>
            </a:r>
            <a:r>
              <a:rPr kumimoji="1" lang="en-US" altLang="zh-CN" sz="3200" i="1" dirty="0">
                <a:ea typeface="楷体_GB2312" pitchFamily="49" charset="-122"/>
              </a:rPr>
              <a:t>a</a:t>
            </a:r>
            <a:r>
              <a:rPr kumimoji="1" lang="zh-CN" altLang="en-US" sz="3200" dirty="0"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则对任意 </a:t>
            </a:r>
            <a:r>
              <a:rPr kumimoji="1" lang="en-US" altLang="zh-CN" sz="3200" i="1" dirty="0" err="1">
                <a:ea typeface="楷体_GB2312" pitchFamily="49" charset="-122"/>
              </a:rPr>
              <a:t>x,y</a:t>
            </a:r>
            <a:r>
              <a:rPr kumimoji="1" lang="en-US" altLang="zh-CN" sz="3200" dirty="0" err="1"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3200" i="1" dirty="0" err="1">
                <a:ea typeface="楷体_GB2312" pitchFamily="49" charset="-12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，必有</a:t>
            </a:r>
            <a:r>
              <a:rPr kumimoji="1" lang="en-US" altLang="zh-CN" sz="3200" i="1" dirty="0" err="1">
                <a:ea typeface="楷体_GB2312" pitchFamily="49" charset="-122"/>
              </a:rPr>
              <a:t>r,s</a:t>
            </a:r>
            <a:r>
              <a:rPr kumimoji="1" lang="en-US" altLang="zh-CN" sz="3200" dirty="0" err="1"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3200" dirty="0" err="1">
                <a:ea typeface="楷体_GB2312" pitchFamily="49" charset="-122"/>
              </a:rPr>
              <a:t>Z</a:t>
            </a:r>
            <a:r>
              <a:rPr kumimoji="1" lang="zh-CN" altLang="en-US" sz="3200" i="1" dirty="0"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使得</a:t>
            </a:r>
            <a:endParaRPr lang="zh-CN" altLang="en-US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743434" name="Text Box 10"/>
          <p:cNvSpPr txBox="1">
            <a:spLocks noChangeArrowheads="1"/>
          </p:cNvSpPr>
          <p:nvPr/>
        </p:nvSpPr>
        <p:spPr bwMode="auto">
          <a:xfrm>
            <a:off x="2051050" y="5392738"/>
            <a:ext cx="5527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因此群</a:t>
            </a:r>
            <a:r>
              <a:rPr kumimoji="1" lang="en-US" altLang="zh-CN" sz="3200" dirty="0">
                <a:ea typeface="楷体_GB2312" pitchFamily="49" charset="-122"/>
              </a:rPr>
              <a:t>&lt; </a:t>
            </a:r>
            <a:r>
              <a:rPr kumimoji="1" lang="en-US" altLang="zh-CN" sz="3200" i="1" dirty="0">
                <a:ea typeface="楷体_GB2312" pitchFamily="49" charset="-122"/>
              </a:rPr>
              <a:t>G</a:t>
            </a:r>
            <a:r>
              <a:rPr kumimoji="1" lang="en-US" altLang="zh-CN" sz="3200" dirty="0">
                <a:ea typeface="楷体_GB2312" pitchFamily="49" charset="-122"/>
              </a:rPr>
              <a:t> , </a:t>
            </a:r>
            <a:r>
              <a:rPr kumimoji="1" lang="en-US" altLang="zh-CN" sz="3200" dirty="0"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kumimoji="1" lang="en-US" altLang="zh-CN" sz="3200" dirty="0"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是阿贝尔群。</a:t>
            </a:r>
            <a:endParaRPr lang="zh-CN" altLang="en-US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36" y="3182303"/>
            <a:ext cx="2949257" cy="6112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897" y="3955076"/>
            <a:ext cx="5422931" cy="116714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428" grpId="0" animBg="1" autoUpdateAnimBg="0"/>
      <p:bldP spid="743429" grpId="0" autoUpdateAnimBg="0"/>
      <p:bldP spid="74343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850900" y="1447800"/>
            <a:ext cx="7724775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kern="0" dirty="0"/>
              <a:t>例如</a:t>
            </a:r>
            <a:r>
              <a:rPr lang="en-US" altLang="zh-CN" kern="0" dirty="0"/>
              <a:t>: Klein</a:t>
            </a:r>
            <a:r>
              <a:rPr lang="zh-CN" altLang="en-US" kern="0" dirty="0"/>
              <a:t>四元群 </a:t>
            </a:r>
            <a:r>
              <a:rPr lang="en-US" altLang="zh-CN" kern="0" dirty="0"/>
              <a:t>G={</a:t>
            </a:r>
            <a:r>
              <a:rPr lang="en-US" altLang="zh-CN" kern="0" dirty="0" err="1"/>
              <a:t>e,a,b,c</a:t>
            </a:r>
            <a:r>
              <a:rPr lang="en-US" altLang="zh-CN" kern="0" dirty="0"/>
              <a:t>}</a:t>
            </a:r>
            <a:r>
              <a:rPr lang="zh-CN" altLang="en-US" kern="0" dirty="0"/>
              <a:t> ：</a:t>
            </a:r>
            <a:endParaRPr lang="zh-CN" altLang="en-US" kern="0" dirty="0"/>
          </a:p>
          <a:p>
            <a:pPr eaLnBrk="1" hangingPunct="1">
              <a:defRPr/>
            </a:pPr>
            <a:endParaRPr lang="zh-CN" altLang="en-US" kern="0" dirty="0"/>
          </a:p>
          <a:p>
            <a:pPr eaLnBrk="1" hangingPunct="1">
              <a:defRPr/>
            </a:pPr>
            <a:endParaRPr lang="zh-CN" altLang="en-US" kern="0" dirty="0"/>
          </a:p>
          <a:p>
            <a:pPr eaLnBrk="1" hangingPunct="1">
              <a:defRPr/>
            </a:pPr>
            <a:endParaRPr lang="zh-CN" altLang="en-US" kern="0" dirty="0"/>
          </a:p>
          <a:p>
            <a:pPr eaLnBrk="1" hangingPunct="1">
              <a:defRPr/>
            </a:pPr>
            <a:endParaRPr lang="zh-CN" altLang="en-US" kern="0" dirty="0"/>
          </a:p>
          <a:p>
            <a:pPr eaLnBrk="1" hangingPunct="1">
              <a:defRPr/>
            </a:pPr>
            <a:endParaRPr lang="zh-CN" altLang="en-US" kern="0" dirty="0"/>
          </a:p>
          <a:p>
            <a:pPr eaLnBrk="1" hangingPunct="1">
              <a:defRPr/>
            </a:pPr>
            <a:r>
              <a:rPr lang="en-US" altLang="zh-CN" kern="0" dirty="0"/>
              <a:t>&lt;G,*&gt;</a:t>
            </a:r>
            <a:r>
              <a:rPr lang="zh-CN" altLang="en-US" kern="0" dirty="0"/>
              <a:t>是一个阿贝尔群，但不是循环群。</a:t>
            </a:r>
            <a:endParaRPr lang="zh-CN" altLang="en-US" kern="0" dirty="0"/>
          </a:p>
        </p:txBody>
      </p:sp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B6ED3E22-AACA-4581-8D39-7180BF59D238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循环群一定是阿贝尔群，反之则不一定</a:t>
            </a:r>
            <a:endParaRPr lang="zh-CN" altLang="en-US" sz="3600"/>
          </a:p>
        </p:txBody>
      </p:sp>
      <p:graphicFrame>
        <p:nvGraphicFramePr>
          <p:cNvPr id="8" name="Group 4"/>
          <p:cNvGraphicFramePr/>
          <p:nvPr/>
        </p:nvGraphicFramePr>
        <p:xfrm>
          <a:off x="1476375" y="2151063"/>
          <a:ext cx="3095625" cy="2519362"/>
        </p:xfrm>
        <a:graphic>
          <a:graphicData uri="http://schemas.openxmlformats.org/drawingml/2006/table">
            <a:tbl>
              <a:tblPr/>
              <a:tblGrid>
                <a:gridCol w="706437"/>
                <a:gridCol w="2389188"/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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430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713288" y="2532063"/>
            <a:ext cx="2592387" cy="1754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&lt;e&gt;={e} </a:t>
            </a:r>
            <a:endParaRPr lang="en-US" altLang="zh-CN" sz="3000" b="1" dirty="0">
              <a:latin typeface="+mn-lt"/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&lt;a&gt;={</a:t>
            </a:r>
            <a:r>
              <a:rPr lang="en-US" altLang="zh-CN" sz="3000" b="1" dirty="0" err="1">
                <a:latin typeface="+mn-lt"/>
                <a:ea typeface="+mn-ea"/>
              </a:rPr>
              <a:t>e,a</a:t>
            </a:r>
            <a:r>
              <a:rPr lang="en-US" altLang="zh-CN" sz="3000" b="1" dirty="0">
                <a:latin typeface="+mn-lt"/>
                <a:ea typeface="+mn-ea"/>
              </a:rPr>
              <a:t>} </a:t>
            </a:r>
            <a:endParaRPr lang="en-US" altLang="zh-CN" sz="3000" b="1" dirty="0">
              <a:latin typeface="+mn-lt"/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&lt;b&gt;={</a:t>
            </a:r>
            <a:r>
              <a:rPr lang="en-US" altLang="zh-CN" sz="3000" b="1" dirty="0" err="1">
                <a:latin typeface="+mn-lt"/>
                <a:ea typeface="+mn-ea"/>
              </a:rPr>
              <a:t>e,b</a:t>
            </a:r>
            <a:r>
              <a:rPr lang="en-US" altLang="zh-CN" sz="3000" b="1" dirty="0">
                <a:latin typeface="+mn-lt"/>
                <a:ea typeface="+mn-ea"/>
              </a:rPr>
              <a:t>} </a:t>
            </a:r>
            <a:endParaRPr lang="en-US" altLang="zh-CN" sz="3000" b="1" dirty="0">
              <a:latin typeface="+mn-lt"/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&lt;c&gt;={</a:t>
            </a:r>
            <a:r>
              <a:rPr lang="en-US" altLang="zh-CN" sz="3000" b="1" dirty="0" err="1">
                <a:latin typeface="+mn-lt"/>
                <a:ea typeface="+mn-ea"/>
              </a:rPr>
              <a:t>e,c</a:t>
            </a:r>
            <a:r>
              <a:rPr lang="en-US" altLang="zh-CN" sz="3000" b="1" dirty="0">
                <a:latin typeface="+mn-lt"/>
                <a:ea typeface="+mn-ea"/>
              </a:rPr>
              <a:t>}</a:t>
            </a:r>
            <a:endParaRPr lang="en-US" altLang="zh-CN" sz="3000" b="1" dirty="0">
              <a:latin typeface="+mn-lt"/>
              <a:ea typeface="+mn-ea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74190B-2E27-4F37-B64C-BD371C7EACD3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应用实例</a:t>
            </a:r>
            <a:endParaRPr lang="zh-CN" altLang="en-US" dirty="0"/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674" y="1124744"/>
            <a:ext cx="8173789" cy="5428456"/>
          </a:xfrm>
        </p:spPr>
        <p:txBody>
          <a:bodyPr/>
          <a:lstStyle/>
          <a:p>
            <a:pPr eaLnBrk="1" hangingPunct="1"/>
            <a:r>
              <a:rPr lang="zh-CN" altLang="en-US" dirty="0"/>
              <a:t>证明：阶小于</a:t>
            </a:r>
            <a:r>
              <a:rPr lang="en-US" altLang="zh-CN" dirty="0"/>
              <a:t>6 </a:t>
            </a:r>
            <a:r>
              <a:rPr lang="zh-CN" altLang="en-US" dirty="0"/>
              <a:t>的群都是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 </a:t>
            </a:r>
            <a:endParaRPr lang="en-US" altLang="zh-CN" dirty="0"/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证：</a:t>
            </a:r>
            <a:r>
              <a:rPr lang="en-US" altLang="zh-CN" dirty="0"/>
              <a:t>1 </a:t>
            </a:r>
            <a:r>
              <a:rPr lang="zh-CN" altLang="en-US" dirty="0"/>
              <a:t>阶群是平凡的，显然是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2, 3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都是素数，由</a:t>
            </a:r>
            <a:r>
              <a:rPr lang="zh-CN" altLang="en-US" dirty="0">
                <a:solidFill>
                  <a:srgbClr val="C00000"/>
                </a:solidFill>
              </a:rPr>
              <a:t>推论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/>
              <a:t>知素数阶群都是循环群，进而都是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  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4</a:t>
            </a:r>
            <a:r>
              <a:rPr lang="zh-CN" altLang="en-US" dirty="0"/>
              <a:t>阶群</a:t>
            </a:r>
            <a:r>
              <a:rPr lang="en-US" altLang="zh-CN" dirty="0"/>
              <a:t>.  </a:t>
            </a:r>
            <a:endParaRPr lang="en-US" altLang="zh-CN" dirty="0"/>
          </a:p>
          <a:p>
            <a:pPr marL="471170" lvl="1" indent="0" eaLnBrk="1" hangingPunct="1">
              <a:buNone/>
            </a:pPr>
            <a:r>
              <a:rPr lang="zh-CN" altLang="en-US" dirty="0">
                <a:solidFill>
                  <a:srgbClr val="0066FF"/>
                </a:solidFill>
              </a:rPr>
              <a:t>若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中含有</a:t>
            </a:r>
            <a:r>
              <a:rPr lang="en-US" altLang="zh-CN" dirty="0">
                <a:solidFill>
                  <a:srgbClr val="0066FF"/>
                </a:solidFill>
              </a:rPr>
              <a:t>4</a:t>
            </a:r>
            <a:r>
              <a:rPr lang="zh-CN" altLang="en-US" dirty="0">
                <a:solidFill>
                  <a:srgbClr val="0066FF"/>
                </a:solidFill>
              </a:rPr>
              <a:t>阶元</a:t>
            </a:r>
            <a:r>
              <a:rPr lang="zh-CN" altLang="en-US" dirty="0"/>
              <a:t>，比如说</a:t>
            </a:r>
            <a:r>
              <a:rPr lang="en-US" altLang="zh-CN" i="1" dirty="0"/>
              <a:t>a</a:t>
            </a:r>
            <a:r>
              <a:rPr lang="zh-CN" altLang="en-US" dirty="0"/>
              <a:t>，则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en-US" altLang="zh-CN" dirty="0"/>
          </a:p>
          <a:p>
            <a:pPr marL="471170" lvl="1" indent="0" eaLnBrk="1" hangingPunct="1">
              <a:buNone/>
            </a:pPr>
            <a:r>
              <a:rPr lang="en-US" altLang="zh-CN" dirty="0"/>
              <a:t>	</a:t>
            </a:r>
            <a:r>
              <a:rPr lang="zh-CN" altLang="en-US" dirty="0"/>
              <a:t>即</a:t>
            </a:r>
            <a:r>
              <a:rPr lang="en-US" altLang="zh-CN" i="1" dirty="0"/>
              <a:t>G</a:t>
            </a:r>
            <a:r>
              <a:rPr lang="zh-CN" altLang="en-US" dirty="0"/>
              <a:t>是循环群，故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 </a:t>
            </a:r>
            <a:endParaRPr lang="en-US" altLang="zh-CN" dirty="0"/>
          </a:p>
          <a:p>
            <a:pPr marL="471170" lvl="1" indent="0" eaLnBrk="1" hangingPunct="1">
              <a:buNone/>
            </a:pPr>
            <a:r>
              <a:rPr lang="zh-CN" altLang="en-US" dirty="0">
                <a:solidFill>
                  <a:srgbClr val="0066FF"/>
                </a:solidFill>
              </a:rPr>
              <a:t>若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中不含</a:t>
            </a:r>
            <a:r>
              <a:rPr lang="en-US" altLang="zh-CN" dirty="0">
                <a:solidFill>
                  <a:srgbClr val="0066FF"/>
                </a:solidFill>
              </a:rPr>
              <a:t>4</a:t>
            </a:r>
            <a:r>
              <a:rPr lang="zh-CN" altLang="en-US" dirty="0">
                <a:solidFill>
                  <a:srgbClr val="0066FF"/>
                </a:solidFill>
              </a:rPr>
              <a:t>阶元</a:t>
            </a:r>
            <a:r>
              <a:rPr lang="zh-CN" altLang="en-US" dirty="0"/>
              <a:t>，则</a:t>
            </a:r>
            <a:r>
              <a:rPr lang="en-US" altLang="zh-CN" i="1" dirty="0"/>
              <a:t>G</a:t>
            </a:r>
            <a:r>
              <a:rPr lang="zh-CN" altLang="en-US" dirty="0"/>
              <a:t>中只含</a:t>
            </a:r>
            <a:r>
              <a:rPr lang="en-US" altLang="zh-CN" dirty="0"/>
              <a:t>1</a:t>
            </a:r>
            <a:r>
              <a:rPr lang="zh-CN" altLang="en-US" dirty="0"/>
              <a:t>阶和</a:t>
            </a:r>
            <a:r>
              <a:rPr lang="en-US" altLang="zh-CN" dirty="0"/>
              <a:t>2</a:t>
            </a:r>
            <a:r>
              <a:rPr lang="zh-CN" altLang="en-US" dirty="0"/>
              <a:t>阶元，  </a:t>
            </a:r>
            <a:endParaRPr lang="en-US" altLang="zh-CN" dirty="0"/>
          </a:p>
          <a:p>
            <a:pPr marL="471170" lvl="1" indent="0" eaLnBrk="1" hangingPunct="1">
              <a:buNone/>
            </a:pPr>
            <a:r>
              <a:rPr lang="en-US" altLang="zh-CN" dirty="0"/>
              <a:t>    </a:t>
            </a:r>
            <a:endParaRPr lang="en-US" altLang="zh-CN" dirty="0"/>
          </a:p>
          <a:p>
            <a:pPr marL="471170" lvl="1" indent="0" eaLnBrk="1" hangingPunct="1">
              <a:buNone/>
            </a:pPr>
            <a:r>
              <a:rPr lang="zh-CN" altLang="en-US" dirty="0"/>
              <a:t>由</a:t>
            </a:r>
            <a:r>
              <a:rPr lang="zh-CN" altLang="en-US" dirty="0">
                <a:solidFill>
                  <a:srgbClr val="C00000"/>
                </a:solidFill>
              </a:rPr>
              <a:t>命题</a:t>
            </a:r>
            <a:r>
              <a:rPr lang="zh-CN" altLang="en-US" dirty="0"/>
              <a:t>可知</a:t>
            </a:r>
            <a:r>
              <a:rPr lang="en-US" altLang="zh-CN" i="1" dirty="0"/>
              <a:t>G</a:t>
            </a:r>
            <a:r>
              <a:rPr lang="zh-CN" altLang="en-US" dirty="0"/>
              <a:t>也是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97454" y="5661248"/>
            <a:ext cx="4536504" cy="476250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b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</a:rPr>
              <a:t>群中元素的阶是群阶的因子</a:t>
            </a:r>
            <a:endParaRPr lang="en-US" altLang="zh-CN" sz="28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B9E3046-EC85-46F8-9DB0-F73C95F0941A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循环群的分类</a:t>
            </a:r>
            <a:endParaRPr lang="zh-CN" alt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dirty="0"/>
              <a:t>循环群的分类：</a:t>
            </a:r>
            <a:r>
              <a:rPr lang="en-US" altLang="zh-CN" i="1" dirty="0">
                <a:solidFill>
                  <a:srgbClr val="A50021"/>
                </a:solidFill>
              </a:rPr>
              <a:t>n </a:t>
            </a:r>
            <a:r>
              <a:rPr lang="zh-CN" altLang="en-US" dirty="0">
                <a:solidFill>
                  <a:srgbClr val="A50021"/>
                </a:solidFill>
              </a:rPr>
              <a:t>阶循环群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A50021"/>
                </a:solidFill>
              </a:rPr>
              <a:t>无限循环群</a:t>
            </a:r>
            <a:r>
              <a:rPr lang="en-US" altLang="zh-CN" dirty="0"/>
              <a:t>. 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是循环群，若</a:t>
            </a:r>
            <a:r>
              <a:rPr lang="en-US" altLang="zh-CN" i="1" dirty="0"/>
              <a:t>a</a:t>
            </a:r>
            <a:r>
              <a:rPr lang="zh-CN" altLang="en-US" dirty="0"/>
              <a:t>是</a:t>
            </a:r>
            <a:r>
              <a:rPr lang="en-US" altLang="zh-CN" i="1" dirty="0"/>
              <a:t>n </a:t>
            </a:r>
            <a:r>
              <a:rPr lang="zh-CN" altLang="en-US" dirty="0"/>
              <a:t>阶元，则 </a:t>
            </a:r>
            <a:br>
              <a:rPr lang="zh-CN" altLang="en-US" dirty="0"/>
            </a:br>
            <a:r>
              <a:rPr lang="en-US" altLang="zh-CN" i="1" dirty="0"/>
              <a:t>G </a:t>
            </a:r>
            <a:r>
              <a:rPr lang="en-US" altLang="zh-CN" dirty="0"/>
              <a:t>= { </a:t>
            </a:r>
            <a:r>
              <a:rPr lang="en-US" altLang="zh-CN" i="1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=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, … , 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那么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</a:t>
            </a:r>
            <a:r>
              <a:rPr lang="en-US" altLang="zh-CN" i="1" dirty="0"/>
              <a:t>n</a:t>
            </a:r>
            <a:r>
              <a:rPr lang="zh-CN" altLang="en-US" dirty="0"/>
              <a:t>，称 </a:t>
            </a:r>
            <a:r>
              <a:rPr lang="en-US" altLang="zh-CN" i="1" dirty="0"/>
              <a:t>G </a:t>
            </a:r>
            <a:r>
              <a:rPr lang="zh-CN" altLang="en-US" dirty="0"/>
              <a:t>为 </a:t>
            </a:r>
            <a:r>
              <a:rPr lang="en-US" altLang="zh-CN" i="1" dirty="0">
                <a:solidFill>
                  <a:srgbClr val="C00000"/>
                </a:solidFill>
              </a:rPr>
              <a:t>n </a:t>
            </a:r>
            <a:r>
              <a:rPr lang="zh-CN" altLang="en-US" dirty="0">
                <a:solidFill>
                  <a:srgbClr val="C00000"/>
                </a:solidFill>
              </a:rPr>
              <a:t>阶循环群</a:t>
            </a:r>
            <a:r>
              <a:rPr lang="en-US" altLang="zh-CN" dirty="0"/>
              <a:t>. 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0066FF"/>
                </a:solidFill>
              </a:rPr>
              <a:t>若</a:t>
            </a:r>
            <a:r>
              <a:rPr lang="en-US" altLang="zh-CN" i="1" dirty="0">
                <a:solidFill>
                  <a:srgbClr val="0066FF"/>
                </a:solidFill>
              </a:rPr>
              <a:t>a </a:t>
            </a:r>
            <a:r>
              <a:rPr lang="zh-CN" altLang="en-US" dirty="0">
                <a:solidFill>
                  <a:srgbClr val="0066FF"/>
                </a:solidFill>
              </a:rPr>
              <a:t>是无限阶元，则 </a:t>
            </a:r>
            <a:br>
              <a:rPr lang="zh-CN" altLang="en-US" dirty="0">
                <a:solidFill>
                  <a:srgbClr val="0066FF"/>
                </a:solidFill>
              </a:rPr>
            </a:br>
            <a:r>
              <a:rPr lang="en-US" altLang="zh-CN" i="1" dirty="0">
                <a:solidFill>
                  <a:srgbClr val="0066FF"/>
                </a:solidFill>
              </a:rPr>
              <a:t>G </a:t>
            </a:r>
            <a:r>
              <a:rPr lang="en-US" altLang="zh-CN" dirty="0">
                <a:solidFill>
                  <a:srgbClr val="0066FF"/>
                </a:solidFill>
              </a:rPr>
              <a:t>= {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</a:rPr>
              <a:t>0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</a:rPr>
              <a:t>±1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</a:rPr>
              <a:t>±2</a:t>
            </a:r>
            <a:r>
              <a:rPr lang="en-US" altLang="zh-CN" dirty="0">
                <a:solidFill>
                  <a:srgbClr val="0066FF"/>
                </a:solidFill>
              </a:rPr>
              <a:t>, … } </a:t>
            </a:r>
            <a:endParaRPr lang="en-US" altLang="zh-CN" dirty="0">
              <a:solidFill>
                <a:srgbClr val="0066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    称 </a:t>
            </a:r>
            <a:r>
              <a:rPr lang="en-US" altLang="zh-CN" i="1" dirty="0">
                <a:solidFill>
                  <a:srgbClr val="0066FF"/>
                </a:solidFill>
              </a:rPr>
              <a:t>G </a:t>
            </a:r>
            <a:r>
              <a:rPr lang="zh-CN" altLang="en-US" dirty="0">
                <a:solidFill>
                  <a:srgbClr val="0066FF"/>
                </a:solidFill>
              </a:rPr>
              <a:t>为</a:t>
            </a:r>
            <a:r>
              <a:rPr lang="zh-CN" altLang="en-US" dirty="0">
                <a:solidFill>
                  <a:srgbClr val="C00000"/>
                </a:solidFill>
              </a:rPr>
              <a:t>无限循环群</a:t>
            </a:r>
            <a:r>
              <a:rPr lang="en-US" altLang="zh-CN" dirty="0">
                <a:solidFill>
                  <a:srgbClr val="0066FF"/>
                </a:solidFill>
              </a:rPr>
              <a:t>. 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/>
            <a:r>
              <a:rPr lang="zh-CN" altLang="en-US" dirty="0"/>
              <a:t>例如：</a:t>
            </a:r>
            <a:r>
              <a:rPr lang="en-US" altLang="zh-CN" dirty="0"/>
              <a:t>&lt;Z, +&gt; = &lt;1&gt; </a:t>
            </a:r>
            <a:r>
              <a:rPr lang="zh-CN" altLang="en-US" dirty="0"/>
              <a:t>是无限循环群</a:t>
            </a:r>
            <a:endParaRPr lang="zh-CN" altLang="en-US" dirty="0"/>
          </a:p>
          <a:p>
            <a:pPr marL="1143000" lvl="2" indent="-2286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&lt;Z</a:t>
            </a:r>
            <a:r>
              <a:rPr lang="en-US" altLang="zh-CN" baseline="-25000" dirty="0"/>
              <a:t>12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&gt;</a:t>
            </a:r>
            <a:r>
              <a:rPr lang="zh-CN" altLang="en-US" dirty="0"/>
              <a:t> </a:t>
            </a:r>
            <a:r>
              <a:rPr lang="en-US" altLang="zh-CN" dirty="0"/>
              <a:t>= &lt;1&gt; </a:t>
            </a:r>
            <a:r>
              <a:rPr lang="zh-CN" altLang="en-US" dirty="0"/>
              <a:t>是</a:t>
            </a:r>
            <a:r>
              <a:rPr lang="en-US" altLang="zh-CN" dirty="0"/>
              <a:t>12</a:t>
            </a:r>
            <a:r>
              <a:rPr lang="zh-CN" altLang="en-US" dirty="0"/>
              <a:t>阶循环群。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2" name="AutoShape 4" descr="新闻纸"/>
          <p:cNvSpPr>
            <a:spLocks noChangeArrowheads="1"/>
          </p:cNvSpPr>
          <p:nvPr/>
        </p:nvSpPr>
        <p:spPr bwMode="auto">
          <a:xfrm>
            <a:off x="5508625" y="44450"/>
            <a:ext cx="3025775" cy="1204913"/>
          </a:xfrm>
          <a:prstGeom prst="wedgeRoundRectCallout">
            <a:avLst>
              <a:gd name="adj1" fmla="val -10023"/>
              <a:gd name="adj2" fmla="val 198208"/>
              <a:gd name="adj3" fmla="val 16667"/>
            </a:avLst>
          </a:prstGeom>
          <a:blipFill dpi="0" rotWithShape="1">
            <a:blip r:embed="rId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ym typeface="Symbol" panose="05050102010706020507" pitchFamily="18" charset="2"/>
              </a:rPr>
              <a:t>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r>
              <a:rPr lang="zh-CN" altLang="en-US" sz="2400" dirty="0"/>
              <a:t>称为欧拉函数，表示</a:t>
            </a:r>
            <a:r>
              <a:rPr lang="en-US" altLang="zh-CN" sz="2400" dirty="0"/>
              <a:t>{0,1, …</a:t>
            </a:r>
            <a:r>
              <a:rPr lang="en-US" altLang="zh-CN" sz="2400" i="1" dirty="0"/>
              <a:t>n</a:t>
            </a:r>
            <a:r>
              <a:rPr lang="en-US" altLang="zh-CN" sz="2400" dirty="0"/>
              <a:t>-1}</a:t>
            </a:r>
            <a:r>
              <a:rPr lang="zh-CN" altLang="en-US" sz="2400" dirty="0"/>
              <a:t>中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与</a:t>
            </a:r>
            <a:r>
              <a:rPr lang="en-US" altLang="zh-CN" sz="2400" i="1" dirty="0"/>
              <a:t>n</a:t>
            </a:r>
            <a:r>
              <a:rPr lang="zh-CN" altLang="en-US" sz="2400" dirty="0"/>
              <a:t>互素的数的个数</a:t>
            </a:r>
            <a:endParaRPr lang="zh-CN" altLang="en-US" sz="240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66738" y="1270000"/>
            <a:ext cx="8383587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10.13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(1) </a:t>
            </a:r>
            <a:r>
              <a:rPr lang="zh-CN" altLang="en-US" kern="0" dirty="0"/>
              <a:t>若</a:t>
            </a:r>
            <a:r>
              <a:rPr lang="en-US" altLang="zh-CN" i="1" kern="0" dirty="0"/>
              <a:t>G</a:t>
            </a:r>
            <a:r>
              <a:rPr lang="zh-CN" altLang="en-US" kern="0" dirty="0"/>
              <a:t>是无限循环群，则</a:t>
            </a:r>
            <a:r>
              <a:rPr lang="en-US" altLang="zh-CN" i="1" kern="0" dirty="0"/>
              <a:t>G</a:t>
            </a:r>
            <a:r>
              <a:rPr lang="zh-CN" altLang="en-US" kern="0" dirty="0"/>
              <a:t>只有两个生成元，即</a:t>
            </a:r>
            <a:r>
              <a:rPr lang="en-US" altLang="zh-CN" i="1" kern="0" dirty="0"/>
              <a:t>a</a:t>
            </a:r>
            <a:r>
              <a:rPr lang="zh-CN" altLang="en-US" kern="0" dirty="0"/>
              <a:t>和</a:t>
            </a:r>
            <a:r>
              <a:rPr lang="en-US" altLang="zh-CN" i="1" kern="0" dirty="0"/>
              <a:t>a</a:t>
            </a:r>
            <a:r>
              <a:rPr lang="en-US" altLang="zh-CN" kern="0" baseline="30000" dirty="0">
                <a:sym typeface="Symbol" panose="05050102010706020507" pitchFamily="18" charset="2"/>
              </a:rPr>
              <a:t></a:t>
            </a:r>
            <a:r>
              <a:rPr lang="en-US" altLang="zh-CN" kern="0" baseline="30000" dirty="0"/>
              <a:t>1</a:t>
            </a:r>
            <a:r>
              <a:rPr lang="en-US" altLang="zh-CN" kern="0" dirty="0"/>
              <a:t>. 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(2) </a:t>
            </a:r>
            <a:r>
              <a:rPr lang="zh-CN" altLang="en-US" kern="0" dirty="0"/>
              <a:t>若</a:t>
            </a:r>
            <a:r>
              <a:rPr lang="en-US" altLang="zh-CN" i="1" kern="0" dirty="0"/>
              <a:t>G</a:t>
            </a:r>
            <a:r>
              <a:rPr lang="zh-CN" altLang="en-US" kern="0" dirty="0"/>
              <a:t>是 </a:t>
            </a:r>
            <a:r>
              <a:rPr lang="en-US" altLang="zh-CN" i="1" kern="0" dirty="0"/>
              <a:t>n </a:t>
            </a:r>
            <a:r>
              <a:rPr lang="zh-CN" altLang="en-US" kern="0" dirty="0"/>
              <a:t>阶循环群，则</a:t>
            </a:r>
            <a:r>
              <a:rPr lang="en-US" altLang="zh-CN" i="1" kern="0" dirty="0"/>
              <a:t>G</a:t>
            </a:r>
            <a:r>
              <a:rPr lang="zh-CN" altLang="en-US" kern="0" dirty="0"/>
              <a:t>含有</a:t>
            </a:r>
            <a:r>
              <a:rPr lang="zh-CN" altLang="en-US" i="1" kern="0" dirty="0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  <a:r>
              <a:rPr lang="en-US" altLang="zh-CN" kern="0" dirty="0">
                <a:solidFill>
                  <a:schemeClr val="accent2"/>
                </a:solidFill>
              </a:rPr>
              <a:t>(</a:t>
            </a:r>
            <a:r>
              <a:rPr lang="en-US" altLang="zh-CN" i="1" kern="0" dirty="0">
                <a:solidFill>
                  <a:schemeClr val="accent2"/>
                </a:solidFill>
              </a:rPr>
              <a:t>n</a:t>
            </a:r>
            <a:r>
              <a:rPr lang="en-US" altLang="zh-CN" kern="0" dirty="0">
                <a:solidFill>
                  <a:schemeClr val="accent2"/>
                </a:solidFill>
              </a:rPr>
              <a:t>)</a:t>
            </a:r>
            <a:r>
              <a:rPr lang="zh-CN" altLang="en-US" kern="0" dirty="0"/>
              <a:t>个生成元</a:t>
            </a:r>
            <a:r>
              <a:rPr lang="en-US" altLang="zh-CN" kern="0" dirty="0"/>
              <a:t>.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E9896B-BC69-4506-97C8-7F37F23CF437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4718050" cy="747713"/>
          </a:xfrm>
        </p:spPr>
        <p:txBody>
          <a:bodyPr/>
          <a:lstStyle/>
          <a:p>
            <a:pPr algn="l" eaLnBrk="1" hangingPunct="1"/>
            <a:r>
              <a:rPr lang="zh-CN" altLang="en-US"/>
              <a:t>循环群的生成元</a:t>
            </a:r>
            <a:endParaRPr lang="zh-CN" altLang="en-US"/>
          </a:p>
        </p:txBody>
      </p:sp>
      <p:sp>
        <p:nvSpPr>
          <p:cNvPr id="585734" name="Rectangle 6"/>
          <p:cNvSpPr>
            <a:spLocks noChangeArrowheads="1"/>
          </p:cNvSpPr>
          <p:nvPr/>
        </p:nvSpPr>
        <p:spPr bwMode="auto">
          <a:xfrm>
            <a:off x="561975" y="4652963"/>
            <a:ext cx="83883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例如 </a:t>
            </a:r>
            <a:r>
              <a:rPr lang="en-US" altLang="zh-CN" i="1" dirty="0"/>
              <a:t>n</a:t>
            </a:r>
            <a:r>
              <a:rPr lang="en-US" altLang="zh-CN" dirty="0"/>
              <a:t>=12</a:t>
            </a:r>
            <a:r>
              <a:rPr lang="zh-CN" altLang="en-US" dirty="0"/>
              <a:t>，小于</a:t>
            </a:r>
            <a:r>
              <a:rPr lang="en-US" altLang="zh-CN" dirty="0"/>
              <a:t>12</a:t>
            </a:r>
            <a:r>
              <a:rPr lang="zh-CN" altLang="en-US" dirty="0"/>
              <a:t>且与</a:t>
            </a:r>
            <a:r>
              <a:rPr lang="en-US" altLang="zh-CN" dirty="0"/>
              <a:t>12</a:t>
            </a:r>
            <a:r>
              <a:rPr lang="zh-CN" altLang="en-US" dirty="0"/>
              <a:t>互素的正整数有</a:t>
            </a:r>
            <a:r>
              <a:rPr lang="en-US" altLang="zh-CN" dirty="0"/>
              <a:t>4</a:t>
            </a:r>
            <a:r>
              <a:rPr lang="zh-CN" altLang="en-US" dirty="0"/>
              <a:t>个： </a:t>
            </a:r>
            <a:r>
              <a:rPr lang="en-US" altLang="zh-CN" dirty="0"/>
              <a:t>1, 5, 7, 11</a:t>
            </a:r>
            <a:r>
              <a:rPr lang="zh-CN" altLang="en-US" dirty="0"/>
              <a:t>，所以</a:t>
            </a:r>
            <a:r>
              <a:rPr lang="zh-CN" altLang="en-US" i="1" dirty="0">
                <a:sym typeface="Symbol" panose="05050102010706020507" pitchFamily="18" charset="2"/>
              </a:rPr>
              <a:t></a:t>
            </a:r>
            <a:r>
              <a:rPr lang="en-US" altLang="zh-CN" dirty="0"/>
              <a:t>(12)=4.</a:t>
            </a:r>
            <a:endParaRPr lang="en-US" altLang="zh-CN" dirty="0"/>
          </a:p>
        </p:txBody>
      </p:sp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1476375" y="3286125"/>
            <a:ext cx="7343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且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的生成元当且仅当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0066FF"/>
                </a:solidFill>
              </a:rPr>
              <a:t>                   r</a:t>
            </a:r>
            <a:r>
              <a:rPr lang="zh-CN" altLang="en-US" dirty="0">
                <a:solidFill>
                  <a:srgbClr val="0066FF"/>
                </a:solidFill>
              </a:rPr>
              <a:t>是小于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且与 </a:t>
            </a:r>
            <a:r>
              <a:rPr lang="en-US" altLang="zh-CN" i="1" dirty="0">
                <a:solidFill>
                  <a:srgbClr val="0066FF"/>
                </a:solidFill>
              </a:rPr>
              <a:t>n </a:t>
            </a:r>
            <a:r>
              <a:rPr lang="zh-CN" altLang="en-US" dirty="0">
                <a:solidFill>
                  <a:srgbClr val="0066FF"/>
                </a:solidFill>
              </a:rPr>
              <a:t>互素的自然数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endParaRPr lang="zh-CN" altLang="en-US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2" grpId="0" animBg="1"/>
      <p:bldP spid="5857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&lt;Z, +&gt;</a:t>
            </a:r>
            <a:r>
              <a:rPr lang="zh-CN" altLang="en-US"/>
              <a:t>的生成元</a:t>
            </a:r>
            <a:endParaRPr lang="zh-CN" altLang="en-US"/>
          </a:p>
          <a:p>
            <a:pPr lvl="1"/>
            <a:r>
              <a:rPr lang="en-US" altLang="zh-CN"/>
              <a:t>1</a:t>
            </a:r>
            <a:r>
              <a:rPr lang="zh-CN" altLang="en-US"/>
              <a:t>和</a:t>
            </a:r>
            <a:r>
              <a:rPr lang="en-US" altLang="zh-CN"/>
              <a:t>-1</a:t>
            </a:r>
            <a:endParaRPr lang="en-US" altLang="zh-CN"/>
          </a:p>
          <a:p>
            <a:pPr marL="914400" lvl="2" indent="0" eaLnBrk="1" hangingPunct="1">
              <a:buNone/>
            </a:pP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……-2,      -1,      0,      1,      2 ……</a:t>
            </a:r>
            <a:endParaRPr lang="en-US" altLang="zh-CN" sz="2400" b="0" dirty="0">
              <a:latin typeface="Arial" panose="020B0604020202020204" pitchFamily="34" charset="0"/>
            </a:endParaRPr>
          </a:p>
          <a:p>
            <a:pPr marL="914400" lvl="2" indent="0" eaLnBrk="1" hangingPunct="1">
              <a:buNone/>
            </a:pP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……1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-2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    1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-1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    1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0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    1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1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   1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2 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……</a:t>
            </a:r>
            <a:endParaRPr lang="en-US" altLang="zh-CN" sz="2400" b="0" dirty="0">
              <a:latin typeface="Arial" panose="020B0604020202020204" pitchFamily="34" charset="0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……(-1)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2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(-1)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1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(-1)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0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(-1)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-1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, (-1)</a:t>
            </a:r>
            <a:r>
              <a:rPr lang="en-US" altLang="zh-CN" sz="2400" b="0" baseline="30000" dirty="0">
                <a:latin typeface="Arial" panose="020B0604020202020204" pitchFamily="34" charset="0"/>
                <a:sym typeface="+mn-ea"/>
              </a:rPr>
              <a:t>-2 </a:t>
            </a:r>
            <a:r>
              <a:rPr lang="en-US" altLang="zh-CN" sz="2400" b="0" dirty="0">
                <a:latin typeface="Arial" panose="020B0604020202020204" pitchFamily="34" charset="0"/>
                <a:sym typeface="+mn-ea"/>
              </a:rPr>
              <a:t>……</a:t>
            </a:r>
            <a:endParaRPr lang="en-US" altLang="zh-CN" sz="2400" b="0" dirty="0">
              <a:latin typeface="Arial" panose="020B0604020202020204" pitchFamily="34" charset="0"/>
            </a:endParaRPr>
          </a:p>
          <a:p>
            <a:pPr marL="471170" lvl="1" indent="0">
              <a:buNone/>
            </a:pPr>
            <a:endParaRPr lang="en-US" altLang="zh-CN"/>
          </a:p>
          <a:p>
            <a:r>
              <a:rPr lang="en-US" altLang="zh-CN"/>
              <a:t>&lt;Z</a:t>
            </a:r>
            <a:r>
              <a:rPr lang="en-US" altLang="zh-CN" baseline="-25000"/>
              <a:t>12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&gt;</a:t>
            </a:r>
            <a:r>
              <a:rPr lang="zh-CN" altLang="en-US">
                <a:sym typeface="Symbol" panose="05050102010706020507" pitchFamily="18" charset="2"/>
              </a:rPr>
              <a:t>的生成元</a:t>
            </a:r>
            <a:endParaRPr lang="zh-CN" altLang="en-US">
              <a:sym typeface="Symbol" panose="05050102010706020507" pitchFamily="18" charset="2"/>
            </a:endParaRPr>
          </a:p>
          <a:p>
            <a:pPr lvl="1"/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、</a:t>
            </a:r>
            <a:r>
              <a:rPr lang="en-US" altLang="zh-CN">
                <a:sym typeface="Symbol" panose="05050102010706020507" pitchFamily="18" charset="2"/>
              </a:rPr>
              <a:t>5</a:t>
            </a:r>
            <a:r>
              <a:rPr lang="zh-CN" altLang="en-US">
                <a:sym typeface="Symbol" panose="05050102010706020507" pitchFamily="18" charset="2"/>
              </a:rPr>
              <a:t>、</a:t>
            </a:r>
            <a:r>
              <a:rPr lang="en-US" altLang="zh-CN">
                <a:sym typeface="Symbol" panose="05050102010706020507" pitchFamily="18" charset="2"/>
              </a:rPr>
              <a:t>7</a:t>
            </a:r>
            <a:r>
              <a:rPr lang="zh-CN" altLang="en-US">
                <a:sym typeface="Symbol" panose="05050102010706020507" pitchFamily="18" charset="2"/>
              </a:rPr>
              <a:t>、</a:t>
            </a:r>
            <a:r>
              <a:rPr lang="en-US" altLang="zh-CN">
                <a:sym typeface="Symbol" panose="05050102010706020507" pitchFamily="18" charset="2"/>
              </a:rPr>
              <a:t>11</a:t>
            </a:r>
            <a:endParaRPr lang="en-US" altLang="zh-CN">
              <a:sym typeface="Symbol" panose="05050102010706020507" pitchFamily="18" charset="2"/>
            </a:endParaRPr>
          </a:p>
          <a:p>
            <a:pPr lvl="1"/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E6988B-8197-43A3-9DE4-98FC38602118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9925" y="2164620"/>
            <a:ext cx="7744147" cy="4525963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altLang="zh-CN" sz="2400" dirty="0"/>
              <a:t>(1) </a:t>
            </a:r>
            <a:r>
              <a:rPr lang="zh-CN" altLang="en-US" sz="2400" dirty="0">
                <a:solidFill>
                  <a:srgbClr val="00B050"/>
                </a:solidFill>
              </a:rPr>
              <a:t>先证</a:t>
            </a:r>
            <a:r>
              <a:rPr lang="en-US" altLang="zh-CN" sz="2400" i="1" dirty="0">
                <a:solidFill>
                  <a:srgbClr val="00B050"/>
                </a:solidFill>
              </a:rPr>
              <a:t> a</a:t>
            </a:r>
            <a:r>
              <a:rPr lang="en-US" altLang="zh-CN" sz="2400" baseline="30000" dirty="0">
                <a:solidFill>
                  <a:srgbClr val="00B05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是</a:t>
            </a:r>
            <a:r>
              <a:rPr lang="en-US" altLang="zh-CN" sz="2400" i="1" dirty="0">
                <a:solidFill>
                  <a:srgbClr val="00B050"/>
                </a:solidFill>
              </a:rPr>
              <a:t>G</a:t>
            </a:r>
            <a:r>
              <a:rPr lang="zh-CN" altLang="en-US" sz="2400" dirty="0">
                <a:solidFill>
                  <a:srgbClr val="00B050"/>
                </a:solidFill>
              </a:rPr>
              <a:t>的生成元，即证</a:t>
            </a:r>
            <a:r>
              <a:rPr lang="en-US" altLang="zh-CN" sz="2400" i="1" dirty="0">
                <a:solidFill>
                  <a:srgbClr val="00B050"/>
                </a:solidFill>
              </a:rPr>
              <a:t>G</a:t>
            </a:r>
            <a:r>
              <a:rPr lang="en-US" altLang="zh-CN" sz="2400" dirty="0">
                <a:solidFill>
                  <a:srgbClr val="00B05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solidFill>
                  <a:srgbClr val="00B050"/>
                </a:solidFill>
              </a:rPr>
              <a:t>&lt;</a:t>
            </a:r>
            <a:r>
              <a:rPr lang="en-US" altLang="zh-CN" sz="2400" i="1" dirty="0">
                <a:solidFill>
                  <a:srgbClr val="00B050"/>
                </a:solidFill>
              </a:rPr>
              <a:t>a</a:t>
            </a:r>
            <a:r>
              <a:rPr lang="en-US" altLang="zh-CN" sz="2400" baseline="30000" dirty="0">
                <a:solidFill>
                  <a:srgbClr val="00B05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rgbClr val="00B050"/>
                </a:solidFill>
              </a:rPr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&gt;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400" dirty="0"/>
              <a:t>           </a:t>
            </a:r>
            <a:r>
              <a:rPr lang="zh-CN" altLang="en-US" sz="2400" dirty="0"/>
              <a:t>显然</a:t>
            </a:r>
            <a:r>
              <a:rPr lang="en-US" altLang="zh-CN" sz="2400" dirty="0">
                <a:solidFill>
                  <a:srgbClr val="3366FF"/>
                </a:solidFill>
              </a:rPr>
              <a:t>&lt;</a:t>
            </a:r>
            <a:r>
              <a:rPr lang="en-US" altLang="zh-CN" sz="2400" i="1" dirty="0">
                <a:solidFill>
                  <a:srgbClr val="3366FF"/>
                </a:solidFill>
              </a:rPr>
              <a:t>a</a:t>
            </a:r>
            <a:r>
              <a:rPr lang="en-US" altLang="zh-CN" sz="2400" baseline="30000" dirty="0">
                <a:solidFill>
                  <a:srgbClr val="33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rgbClr val="3366FF"/>
                </a:solidFill>
              </a:rPr>
              <a:t>1</a:t>
            </a:r>
            <a:r>
              <a:rPr lang="en-US" altLang="zh-CN" sz="2400" dirty="0">
                <a:solidFill>
                  <a:srgbClr val="3366FF"/>
                </a:solidFill>
              </a:rPr>
              <a:t>&gt;</a:t>
            </a:r>
            <a:r>
              <a:rPr lang="en-US" altLang="zh-CN" sz="2400" dirty="0">
                <a:solidFill>
                  <a:srgbClr val="33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solidFill>
                  <a:srgbClr val="3366FF"/>
                </a:solidFill>
              </a:rPr>
              <a:t>G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anose="05050102010706020507" pitchFamily="18" charset="2"/>
              </a:rPr>
              <a:t>           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k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zh-CN" altLang="en-US" sz="2400" dirty="0"/>
              <a:t>，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k</a:t>
            </a:r>
            <a:r>
              <a:rPr lang="en-US" altLang="zh-CN" sz="2400" dirty="0"/>
              <a:t>=(</a:t>
            </a:r>
            <a:r>
              <a:rPr lang="en-US" altLang="zh-CN" sz="2400" i="1" dirty="0"/>
              <a:t>a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)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i="1" baseline="30000" dirty="0"/>
              <a:t>k</a:t>
            </a:r>
            <a:r>
              <a:rPr lang="en-US" altLang="zh-CN" sz="2400" i="1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a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&gt;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lvl="1" eaLnBrk="1" hangingPunct="1">
              <a:spcBef>
                <a:spcPct val="0"/>
              </a:spcBef>
              <a:buNone/>
              <a:defRPr/>
            </a:pPr>
            <a:r>
              <a:rPr lang="zh-CN" altLang="en-US" sz="2400" dirty="0"/>
              <a:t>     因此</a:t>
            </a:r>
            <a:r>
              <a:rPr lang="en-US" altLang="zh-CN" sz="2400" i="1" dirty="0">
                <a:solidFill>
                  <a:srgbClr val="3366FF"/>
                </a:solidFill>
              </a:rPr>
              <a:t>G</a:t>
            </a:r>
            <a:r>
              <a:rPr lang="en-US" altLang="zh-CN" sz="2400" dirty="0">
                <a:solidFill>
                  <a:srgbClr val="3366FF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rgbClr val="3366FF"/>
                </a:solidFill>
              </a:rPr>
              <a:t>&lt;</a:t>
            </a:r>
            <a:r>
              <a:rPr lang="en-US" altLang="zh-CN" sz="2400" i="1" dirty="0">
                <a:solidFill>
                  <a:srgbClr val="3366FF"/>
                </a:solidFill>
              </a:rPr>
              <a:t>a</a:t>
            </a:r>
            <a:r>
              <a:rPr lang="en-US" altLang="zh-CN" sz="2400" baseline="30000" dirty="0">
                <a:solidFill>
                  <a:srgbClr val="33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rgbClr val="3366FF"/>
                </a:solidFill>
              </a:rPr>
              <a:t>1</a:t>
            </a:r>
            <a:r>
              <a:rPr lang="en-US" altLang="zh-CN" sz="2400" dirty="0">
                <a:solidFill>
                  <a:srgbClr val="3366FF"/>
                </a:solidFill>
              </a:rPr>
              <a:t>&gt;</a:t>
            </a:r>
            <a:r>
              <a:rPr lang="zh-CN" altLang="en-US" sz="2400" dirty="0"/>
              <a:t>，从而</a:t>
            </a:r>
            <a:r>
              <a:rPr lang="en-US" altLang="zh-CN" sz="2400" i="1" dirty="0"/>
              <a:t>G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a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&gt;</a:t>
            </a:r>
            <a:r>
              <a:rPr lang="zh-CN" altLang="en-US" sz="2400" dirty="0"/>
              <a:t>，故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</a:t>
            </a:r>
            <a:r>
              <a:rPr lang="zh-CN" altLang="en-US" sz="2400" dirty="0"/>
              <a:t>的生成元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471170" lvl="1" indent="0" eaLnBrk="1" hangingPunct="1"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00B050"/>
                </a:solidFill>
              </a:rPr>
              <a:t> 再证明</a:t>
            </a:r>
            <a:r>
              <a:rPr lang="en-US" altLang="zh-CN" sz="2400" i="1" dirty="0">
                <a:solidFill>
                  <a:srgbClr val="00B050"/>
                </a:solidFill>
              </a:rPr>
              <a:t>G</a:t>
            </a:r>
            <a:r>
              <a:rPr lang="zh-CN" altLang="en-US" sz="2400" dirty="0">
                <a:solidFill>
                  <a:srgbClr val="00B050"/>
                </a:solidFill>
              </a:rPr>
              <a:t>只有</a:t>
            </a:r>
            <a:r>
              <a:rPr lang="en-US" altLang="zh-CN" sz="2400" i="1" dirty="0">
                <a:solidFill>
                  <a:srgbClr val="00B050"/>
                </a:solidFill>
              </a:rPr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和</a:t>
            </a:r>
            <a:r>
              <a:rPr lang="en-US" altLang="zh-CN" sz="2400" i="1" dirty="0">
                <a:solidFill>
                  <a:srgbClr val="00B050"/>
                </a:solidFill>
              </a:rPr>
              <a:t>a</a:t>
            </a:r>
            <a:r>
              <a:rPr lang="en-US" altLang="zh-CN" sz="2400" baseline="30000" dirty="0">
                <a:solidFill>
                  <a:srgbClr val="00B05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这两个生成元</a:t>
            </a:r>
            <a:r>
              <a:rPr lang="en-US" altLang="zh-CN" sz="2400" dirty="0">
                <a:solidFill>
                  <a:srgbClr val="00B050"/>
                </a:solidFill>
              </a:rPr>
              <a:t>.  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假设 </a:t>
            </a:r>
            <a:r>
              <a:rPr lang="en-US" altLang="zh-CN" sz="2400" i="1" dirty="0"/>
              <a:t>b </a:t>
            </a:r>
            <a:r>
              <a:rPr lang="zh-CN" altLang="en-US" sz="2400" dirty="0"/>
              <a:t>也是</a:t>
            </a:r>
            <a:r>
              <a:rPr lang="en-US" altLang="zh-CN" sz="2400" i="1" dirty="0"/>
              <a:t>G </a:t>
            </a:r>
            <a:r>
              <a:rPr lang="zh-CN" altLang="en-US" sz="2400" dirty="0"/>
              <a:t>的生成元，则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G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b</a:t>
            </a:r>
            <a:r>
              <a:rPr lang="en-US" altLang="zh-CN" sz="2400" dirty="0"/>
              <a:t>&gt;.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由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en-US" altLang="zh-CN" sz="2400" i="1" dirty="0"/>
              <a:t> </a:t>
            </a:r>
            <a:r>
              <a:rPr lang="zh-CN" altLang="en-US" sz="2400" dirty="0"/>
              <a:t>可知：存在整数 </a:t>
            </a:r>
            <a:r>
              <a:rPr lang="en-US" altLang="zh-CN" sz="2400" i="1" dirty="0"/>
              <a:t>t </a:t>
            </a:r>
            <a:r>
              <a:rPr lang="zh-CN" altLang="en-US" sz="2400" dirty="0"/>
              <a:t>使得</a:t>
            </a:r>
            <a:r>
              <a:rPr lang="en-US" altLang="zh-CN" sz="2400" i="1" dirty="0"/>
              <a:t>a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t</a:t>
            </a:r>
            <a:r>
              <a:rPr lang="en-US" altLang="zh-CN" sz="2400" dirty="0" err="1"/>
              <a:t>.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None/>
              <a:defRPr/>
            </a:pPr>
            <a:r>
              <a:rPr lang="zh-CN" altLang="en-US" sz="2400" dirty="0"/>
              <a:t>由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en-US" altLang="zh-CN" sz="2400" i="1" dirty="0"/>
              <a:t> </a:t>
            </a:r>
            <a:r>
              <a:rPr lang="en-US" altLang="zh-CN" sz="2400" dirty="0"/>
              <a:t>= &lt;</a:t>
            </a:r>
            <a:r>
              <a:rPr lang="en-US" altLang="zh-CN" sz="2400" i="1" dirty="0"/>
              <a:t>a</a:t>
            </a:r>
            <a:r>
              <a:rPr lang="en-US" altLang="zh-CN" sz="2400" dirty="0"/>
              <a:t>&gt;</a:t>
            </a:r>
            <a:r>
              <a:rPr lang="zh-CN" altLang="en-US" sz="2400" dirty="0"/>
              <a:t>知：存在整数 </a:t>
            </a:r>
            <a:r>
              <a:rPr lang="en-US" altLang="zh-CN" sz="2400" i="1" dirty="0"/>
              <a:t>m </a:t>
            </a:r>
            <a:r>
              <a:rPr lang="zh-CN" altLang="en-US" sz="2400" dirty="0"/>
              <a:t>使得 </a:t>
            </a:r>
            <a:r>
              <a:rPr lang="en-US" altLang="zh-CN" sz="2400" i="1" dirty="0"/>
              <a:t>b </a:t>
            </a:r>
            <a:r>
              <a:rPr lang="en-US" altLang="zh-CN" sz="2400" dirty="0"/>
              <a:t>=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. 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从而得到  </a:t>
            </a:r>
            <a:r>
              <a:rPr lang="en-US" altLang="zh-CN" sz="2400" i="1" dirty="0">
                <a:solidFill>
                  <a:srgbClr val="3366FF"/>
                </a:solidFill>
              </a:rPr>
              <a:t>a</a:t>
            </a:r>
            <a:r>
              <a:rPr lang="en-US" altLang="zh-CN" sz="2400" i="1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t</a:t>
            </a:r>
            <a:r>
              <a:rPr lang="en-US" altLang="zh-CN" sz="2400" i="1" baseline="30000" dirty="0"/>
              <a:t> </a:t>
            </a:r>
            <a:r>
              <a:rPr lang="en-US" altLang="zh-CN" sz="2400" dirty="0"/>
              <a:t>= (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)</a:t>
            </a:r>
            <a:r>
              <a:rPr lang="en-US" altLang="zh-CN" sz="2400" i="1" baseline="30000" dirty="0"/>
              <a:t>t </a:t>
            </a:r>
            <a:r>
              <a:rPr lang="en-US" altLang="zh-CN" sz="2400" dirty="0"/>
              <a:t>= </a:t>
            </a:r>
            <a:r>
              <a:rPr lang="en-US" altLang="zh-CN" sz="2400" i="1" dirty="0">
                <a:solidFill>
                  <a:srgbClr val="33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3366FF"/>
                </a:solidFill>
              </a:rPr>
              <a:t>mt </a:t>
            </a:r>
            <a:endParaRPr lang="en-US" altLang="zh-CN" sz="2400" i="1" baseline="30000" dirty="0">
              <a:solidFill>
                <a:srgbClr val="3366FF"/>
              </a:solidFill>
            </a:endParaRPr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由</a:t>
            </a:r>
            <a:r>
              <a:rPr lang="en-US" altLang="zh-CN" sz="2400" i="1" dirty="0"/>
              <a:t>G</a:t>
            </a:r>
            <a:r>
              <a:rPr lang="zh-CN" altLang="en-US" sz="2400" dirty="0"/>
              <a:t>中的消去律得 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mt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因为</a:t>
            </a:r>
            <a:r>
              <a:rPr lang="en-US" altLang="zh-CN" sz="2400" i="1" dirty="0"/>
              <a:t>G</a:t>
            </a:r>
            <a:r>
              <a:rPr lang="zh-CN" altLang="en-US" sz="2400" dirty="0"/>
              <a:t>是无限群，必有</a:t>
            </a:r>
            <a:r>
              <a:rPr lang="en-US" altLang="zh-CN" sz="2400" i="1" dirty="0"/>
              <a:t>mt</a:t>
            </a:r>
            <a:r>
              <a:rPr lang="en-US" altLang="zh-CN" sz="2400" dirty="0">
                <a:sym typeface="Symbol" panose="05050102010706020507" pitchFamily="18" charset="2"/>
              </a:rPr>
              <a:t></a:t>
            </a:r>
            <a:r>
              <a:rPr lang="en-US" altLang="zh-CN" sz="2400" dirty="0"/>
              <a:t>1 = 0. </a:t>
            </a:r>
            <a:r>
              <a:rPr lang="zh-CN" altLang="en-US" sz="2400" dirty="0"/>
              <a:t>从而证明了</a:t>
            </a:r>
            <a:endParaRPr lang="zh-CN" altLang="en-US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i="1" dirty="0"/>
              <a:t>m </a:t>
            </a:r>
            <a:r>
              <a:rPr lang="en-US" altLang="zh-CN" sz="2400" dirty="0"/>
              <a:t>= </a:t>
            </a:r>
            <a:r>
              <a:rPr lang="en-US" altLang="zh-CN" sz="2400" i="1" dirty="0"/>
              <a:t>t </a:t>
            </a:r>
            <a:r>
              <a:rPr lang="en-US" altLang="zh-CN" sz="2400" dirty="0"/>
              <a:t>= 1</a:t>
            </a:r>
            <a:r>
              <a:rPr lang="zh-CN" altLang="en-US" sz="2400" dirty="0"/>
              <a:t>或 </a:t>
            </a:r>
            <a:r>
              <a:rPr lang="en-US" altLang="zh-CN" sz="2400" i="1" dirty="0"/>
              <a:t>m </a:t>
            </a:r>
            <a:r>
              <a:rPr lang="en-US" altLang="zh-CN" sz="2400" dirty="0"/>
              <a:t>= </a:t>
            </a:r>
            <a:r>
              <a:rPr lang="en-US" altLang="zh-CN" sz="2400" i="1" dirty="0"/>
              <a:t>t </a:t>
            </a:r>
            <a:r>
              <a:rPr lang="en-US" altLang="zh-CN" sz="2400" dirty="0"/>
              <a:t>= </a:t>
            </a:r>
            <a:r>
              <a:rPr lang="en-US" altLang="zh-CN" sz="2400" dirty="0">
                <a:sym typeface="Symbol" panose="05050102010706020507" pitchFamily="18" charset="2"/>
              </a:rPr>
              <a:t></a:t>
            </a:r>
            <a:r>
              <a:rPr lang="en-US" altLang="zh-CN" sz="2400" dirty="0"/>
              <a:t>1</a:t>
            </a:r>
            <a:r>
              <a:rPr lang="zh-CN" altLang="en-US" sz="2400" dirty="0"/>
              <a:t>，即 </a:t>
            </a:r>
            <a:r>
              <a:rPr lang="en-US" altLang="zh-CN" sz="2400" i="1" dirty="0"/>
              <a:t>b </a:t>
            </a:r>
            <a:r>
              <a:rPr lang="en-US" altLang="zh-CN" sz="2400" dirty="0"/>
              <a:t>= </a:t>
            </a:r>
            <a:r>
              <a:rPr lang="en-US" altLang="zh-CN" sz="2400" i="1" dirty="0"/>
              <a:t>a </a:t>
            </a:r>
            <a:r>
              <a:rPr lang="zh-CN" altLang="en-US" sz="2400" dirty="0"/>
              <a:t>或 </a:t>
            </a:r>
            <a:r>
              <a:rPr lang="en-US" altLang="zh-CN" sz="2400" i="1" dirty="0"/>
              <a:t>b </a:t>
            </a:r>
            <a:r>
              <a:rPr lang="en-US" altLang="zh-CN" sz="2400" dirty="0"/>
              <a:t>= </a:t>
            </a:r>
            <a:r>
              <a:rPr lang="en-US" altLang="zh-CN" sz="2400" i="1" dirty="0"/>
              <a:t>a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endParaRPr lang="en-US" altLang="zh-CN" sz="2400" baseline="300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0206" y="548680"/>
            <a:ext cx="8383587" cy="1151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10.13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(1) </a:t>
            </a:r>
            <a:r>
              <a:rPr lang="zh-CN" altLang="en-US" kern="0" dirty="0"/>
              <a:t>若</a:t>
            </a:r>
            <a:r>
              <a:rPr lang="en-US" altLang="zh-CN" i="1" kern="0" dirty="0"/>
              <a:t>G</a:t>
            </a:r>
            <a:r>
              <a:rPr lang="zh-CN" altLang="en-US" kern="0" dirty="0"/>
              <a:t>是无限循环群，则</a:t>
            </a:r>
            <a:r>
              <a:rPr lang="en-US" altLang="zh-CN" i="1" kern="0" dirty="0"/>
              <a:t>G</a:t>
            </a:r>
            <a:r>
              <a:rPr lang="zh-CN" altLang="en-US" kern="0" dirty="0"/>
              <a:t>只有两个生成元，即</a:t>
            </a:r>
            <a:r>
              <a:rPr lang="en-US" altLang="zh-CN" i="1" kern="0" dirty="0"/>
              <a:t>a</a:t>
            </a:r>
            <a:r>
              <a:rPr lang="zh-CN" altLang="en-US" kern="0" dirty="0"/>
              <a:t>和</a:t>
            </a:r>
            <a:r>
              <a:rPr lang="en-US" altLang="zh-CN" i="1" kern="0" dirty="0"/>
              <a:t>a</a:t>
            </a:r>
            <a:r>
              <a:rPr lang="en-US" altLang="zh-CN" kern="0" baseline="30000" dirty="0">
                <a:sym typeface="Symbol" panose="05050102010706020507" pitchFamily="18" charset="2"/>
              </a:rPr>
              <a:t></a:t>
            </a:r>
            <a:r>
              <a:rPr lang="en-US" altLang="zh-CN" kern="0" baseline="30000" dirty="0"/>
              <a:t>1</a:t>
            </a:r>
            <a:r>
              <a:rPr lang="en-US" altLang="zh-CN" kern="0" dirty="0"/>
              <a:t>.  </a:t>
            </a:r>
            <a:endParaRPr lang="en-US" altLang="zh-CN" kern="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206851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C33989-4C56-4E7B-8903-B102039D9491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847" y="2492896"/>
            <a:ext cx="8001000" cy="3959944"/>
          </a:xfrm>
        </p:spPr>
        <p:txBody>
          <a:bodyPr/>
          <a:lstStyle/>
          <a:p>
            <a:pPr eaLnBrk="1" hangingPunct="1">
              <a:lnSpc>
                <a:spcPts val="1800"/>
              </a:lnSpc>
              <a:defRPr/>
            </a:pPr>
            <a:r>
              <a:rPr lang="en-US" altLang="zh-CN" sz="2400" dirty="0"/>
              <a:t>(2) </a:t>
            </a:r>
            <a:r>
              <a:rPr lang="zh-CN" altLang="en-US" sz="2400" dirty="0"/>
              <a:t>只须证明：对任何自然数 </a:t>
            </a:r>
            <a:r>
              <a:rPr lang="en-US" altLang="zh-CN" sz="2400" i="1" dirty="0"/>
              <a:t>r </a:t>
            </a:r>
            <a:r>
              <a:rPr lang="en-US" altLang="zh-CN" sz="2400" dirty="0"/>
              <a:t>( </a:t>
            </a:r>
            <a:r>
              <a:rPr lang="en-US" altLang="zh-CN" sz="2400" i="1" dirty="0"/>
              <a:t>r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i="1" dirty="0"/>
              <a:t>                         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r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</a:t>
            </a:r>
            <a:r>
              <a:rPr lang="zh-CN" altLang="en-US" sz="2400" dirty="0"/>
              <a:t>的生成元 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  <a:r>
              <a:rPr lang="zh-CN" altLang="en-US" sz="2400" dirty="0"/>
              <a:t> </a:t>
            </a:r>
            <a:r>
              <a:rPr lang="en-US" altLang="zh-CN" sz="2400" i="1" dirty="0"/>
              <a:t>n</a:t>
            </a:r>
            <a:r>
              <a:rPr lang="zh-CN" altLang="en-US" sz="2400" dirty="0"/>
              <a:t>与</a:t>
            </a:r>
            <a:r>
              <a:rPr lang="en-US" altLang="zh-CN" sz="2400" i="1" dirty="0"/>
              <a:t>r</a:t>
            </a:r>
            <a:r>
              <a:rPr lang="zh-CN" altLang="en-US" sz="2400" dirty="0"/>
              <a:t>互素</a:t>
            </a:r>
            <a:r>
              <a:rPr lang="en-US" altLang="zh-CN" sz="2400" dirty="0"/>
              <a:t>.   </a:t>
            </a:r>
            <a:endParaRPr lang="en-US" altLang="zh-CN" sz="2400" dirty="0"/>
          </a:p>
          <a:p>
            <a:pPr lvl="1" eaLnBrk="1" hangingPunct="1">
              <a:lnSpc>
                <a:spcPts val="1800"/>
              </a:lnSpc>
              <a:spcBef>
                <a:spcPct val="40000"/>
              </a:spcBef>
              <a:defRPr/>
            </a:pPr>
            <a:r>
              <a:rPr lang="zh-CN" altLang="en-US" sz="2400" dirty="0">
                <a:solidFill>
                  <a:srgbClr val="0066FF"/>
                </a:solidFill>
              </a:rPr>
              <a:t>充分性     </a:t>
            </a:r>
            <a:r>
              <a:rPr lang="zh-CN" altLang="en-US" sz="2400" dirty="0">
                <a:solidFill>
                  <a:srgbClr val="00B050"/>
                </a:solidFill>
              </a:rPr>
              <a:t>即证</a:t>
            </a:r>
            <a:r>
              <a:rPr lang="en-US" altLang="zh-CN" sz="2400" i="1" dirty="0">
                <a:solidFill>
                  <a:srgbClr val="00B050"/>
                </a:solidFill>
              </a:rPr>
              <a:t>G </a:t>
            </a:r>
            <a:r>
              <a:rPr lang="en-US" altLang="zh-CN" sz="2400" dirty="0">
                <a:solidFill>
                  <a:srgbClr val="00B050"/>
                </a:solidFill>
              </a:rPr>
              <a:t>= &lt;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i="1" baseline="30000" dirty="0" err="1">
                <a:solidFill>
                  <a:srgbClr val="00B050"/>
                </a:solidFill>
              </a:rPr>
              <a:t>r</a:t>
            </a:r>
            <a:r>
              <a:rPr lang="en-US" altLang="zh-CN" sz="2400" dirty="0">
                <a:solidFill>
                  <a:srgbClr val="00B050"/>
                </a:solidFill>
              </a:rPr>
              <a:t>&gt;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471170" lvl="1" indent="0" eaLnBrk="1" hangingPunct="1">
              <a:lnSpc>
                <a:spcPts val="1800"/>
              </a:lnSpc>
              <a:spcBef>
                <a:spcPct val="40000"/>
              </a:spcBef>
              <a:buNone/>
              <a:defRPr/>
            </a:pPr>
            <a:r>
              <a:rPr lang="zh-CN" altLang="en-US" sz="2400" dirty="0"/>
              <a:t>显然有</a:t>
            </a:r>
            <a:r>
              <a:rPr lang="en-US" altLang="zh-CN" sz="2400" dirty="0"/>
              <a:t>&lt;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r</a:t>
            </a:r>
            <a:r>
              <a:rPr lang="en-US" altLang="zh-CN" sz="2400" dirty="0"/>
              <a:t>&gt;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i="1" dirty="0"/>
              <a:t>G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marL="471170" lvl="1" indent="0" eaLnBrk="1" hangingPunct="1">
              <a:lnSpc>
                <a:spcPts val="1800"/>
              </a:lnSpc>
              <a:spcBef>
                <a:spcPct val="40000"/>
              </a:spcBef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设</a:t>
            </a:r>
            <a:r>
              <a:rPr lang="en-US" altLang="zh-CN" sz="2400" i="1" dirty="0">
                <a:solidFill>
                  <a:srgbClr val="0000FF"/>
                </a:solidFill>
              </a:rPr>
              <a:t>r</a:t>
            </a:r>
            <a:r>
              <a:rPr lang="zh-CN" altLang="en-US" sz="2400" dirty="0">
                <a:solidFill>
                  <a:srgbClr val="0000FF"/>
                </a:solidFill>
              </a:rPr>
              <a:t>与</a:t>
            </a:r>
            <a:r>
              <a:rPr lang="en-US" altLang="zh-CN" sz="2400" i="1" dirty="0">
                <a:solidFill>
                  <a:srgbClr val="0000FF"/>
                </a:solidFill>
              </a:rPr>
              <a:t>n</a:t>
            </a:r>
            <a:r>
              <a:rPr lang="zh-CN" altLang="en-US" sz="2400" dirty="0">
                <a:solidFill>
                  <a:srgbClr val="0000FF"/>
                </a:solidFill>
              </a:rPr>
              <a:t>互素，且</a:t>
            </a:r>
            <a:r>
              <a:rPr lang="en-US" altLang="zh-CN" sz="2400" i="1" dirty="0">
                <a:solidFill>
                  <a:srgbClr val="0000FF"/>
                </a:solidFill>
              </a:rPr>
              <a:t>r</a:t>
            </a:r>
            <a:r>
              <a:rPr lang="en-US" altLang="zh-CN" sz="2400" dirty="0">
                <a:solidFill>
                  <a:srgbClr val="0000FF"/>
                </a:solidFill>
              </a:rPr>
              <a:t>&lt;</a:t>
            </a:r>
            <a:r>
              <a:rPr lang="en-US" altLang="zh-CN" sz="2400" i="1" dirty="0">
                <a:solidFill>
                  <a:srgbClr val="0000FF"/>
                </a:solidFill>
              </a:rPr>
              <a:t>n</a:t>
            </a:r>
            <a:r>
              <a:rPr lang="zh-CN" altLang="en-US" sz="2400" dirty="0">
                <a:solidFill>
                  <a:srgbClr val="0000FF"/>
                </a:solidFill>
              </a:rPr>
              <a:t>，那么：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471170" lvl="1" indent="0" eaLnBrk="1" hangingPunct="1">
              <a:lnSpc>
                <a:spcPts val="1800"/>
              </a:lnSpc>
              <a:spcBef>
                <a:spcPct val="4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             </a:t>
            </a:r>
            <a:r>
              <a:rPr lang="zh-CN" altLang="en-US" sz="2400" dirty="0">
                <a:solidFill>
                  <a:srgbClr val="0000FF"/>
                </a:solidFill>
              </a:rPr>
              <a:t>存在整数 </a:t>
            </a:r>
            <a:r>
              <a:rPr lang="en-US" altLang="zh-CN" sz="2400" i="1" dirty="0">
                <a:solidFill>
                  <a:srgbClr val="FF0000"/>
                </a:solidFill>
              </a:rPr>
              <a:t>u</a:t>
            </a:r>
            <a:r>
              <a:rPr lang="en-US" altLang="zh-CN" sz="2400" i="1" dirty="0"/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和</a:t>
            </a:r>
            <a:r>
              <a:rPr lang="zh-CN" altLang="en-US" sz="2400" dirty="0"/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v</a:t>
            </a:r>
            <a:r>
              <a:rPr lang="en-US" altLang="zh-CN" sz="2400" i="1" dirty="0"/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使得</a:t>
            </a:r>
            <a:r>
              <a:rPr lang="zh-CN" altLang="en-US" sz="2400" dirty="0"/>
              <a:t></a:t>
            </a:r>
            <a:r>
              <a:rPr lang="en-US" altLang="zh-CN" sz="2400" i="1" dirty="0" err="1">
                <a:solidFill>
                  <a:srgbClr val="FF0000"/>
                </a:solidFill>
              </a:rPr>
              <a:t>u</a:t>
            </a:r>
            <a:r>
              <a:rPr lang="en-US" altLang="zh-CN" sz="2400" i="1" dirty="0" err="1">
                <a:solidFill>
                  <a:srgbClr val="0000FF"/>
                </a:solidFill>
              </a:rPr>
              <a:t>r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+ </a:t>
            </a:r>
            <a:r>
              <a:rPr lang="en-US" altLang="zh-CN" sz="2400" i="1" dirty="0" err="1">
                <a:solidFill>
                  <a:srgbClr val="FF0000"/>
                </a:solidFill>
              </a:rPr>
              <a:t>v</a:t>
            </a:r>
            <a:r>
              <a:rPr lang="en-US" altLang="zh-CN" sz="2400" i="1" dirty="0" err="1">
                <a:solidFill>
                  <a:srgbClr val="0000FF"/>
                </a:solidFill>
              </a:rPr>
              <a:t>n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= 1 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1800"/>
              </a:lnSpc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从而          </a:t>
            </a:r>
            <a:r>
              <a:rPr lang="en-US" altLang="zh-CN" sz="2400" i="1" dirty="0">
                <a:solidFill>
                  <a:srgbClr val="0000FF"/>
                </a:solidFill>
              </a:rPr>
              <a:t>a </a:t>
            </a:r>
            <a:r>
              <a:rPr lang="en-US" altLang="zh-CN" sz="2400" dirty="0">
                <a:solidFill>
                  <a:srgbClr val="0000FF"/>
                </a:solidFill>
              </a:rPr>
              <a:t>= </a:t>
            </a:r>
            <a:r>
              <a:rPr lang="en-US" altLang="zh-CN" sz="2400" i="1" dirty="0" err="1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 err="1">
                <a:solidFill>
                  <a:srgbClr val="0000FF"/>
                </a:solidFill>
              </a:rPr>
              <a:t>ur</a:t>
            </a:r>
            <a:r>
              <a:rPr lang="en-US" altLang="zh-CN" sz="2400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sz="2400" i="1" baseline="30000" dirty="0" err="1">
                <a:solidFill>
                  <a:srgbClr val="0000FF"/>
                </a:solidFill>
              </a:rPr>
              <a:t>vn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= (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r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u</a:t>
            </a:r>
            <a:r>
              <a:rPr lang="en-US" altLang="zh-CN" sz="2400" dirty="0">
                <a:solidFill>
                  <a:srgbClr val="0000FF"/>
                </a:solidFill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n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v </a:t>
            </a:r>
            <a:r>
              <a:rPr lang="en-US" altLang="zh-CN" sz="2400" dirty="0">
                <a:solidFill>
                  <a:srgbClr val="0000FF"/>
                </a:solidFill>
              </a:rPr>
              <a:t>= (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r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u               </a:t>
            </a:r>
            <a:r>
              <a:rPr lang="en-US" altLang="zh-CN" sz="2400" dirty="0">
                <a:solidFill>
                  <a:srgbClr val="00B050"/>
                </a:solidFill>
              </a:rPr>
              <a:t>/</a:t>
            </a:r>
            <a:r>
              <a:rPr lang="zh-CN" altLang="en-US" sz="2400" dirty="0">
                <a:solidFill>
                  <a:srgbClr val="00B050"/>
                </a:solidFill>
              </a:rPr>
              <a:t>*</a:t>
            </a:r>
            <a:r>
              <a:rPr lang="en-US" altLang="zh-CN" sz="2400" i="1" dirty="0">
                <a:solidFill>
                  <a:srgbClr val="00B050"/>
                </a:solidFill>
              </a:rPr>
              <a:t> a</a:t>
            </a:r>
            <a:r>
              <a:rPr lang="en-US" altLang="zh-CN" sz="2400" i="1" baseline="30000" dirty="0">
                <a:solidFill>
                  <a:srgbClr val="00B050"/>
                </a:solidFill>
              </a:rPr>
              <a:t>n</a:t>
            </a:r>
            <a:r>
              <a:rPr lang="en-US" altLang="zh-CN" sz="2400" dirty="0">
                <a:solidFill>
                  <a:srgbClr val="00B050"/>
                </a:solidFill>
              </a:rPr>
              <a:t> =e </a:t>
            </a:r>
            <a:r>
              <a:rPr lang="zh-CN" altLang="en-US" sz="2400" dirty="0">
                <a:solidFill>
                  <a:srgbClr val="00B050"/>
                </a:solidFill>
              </a:rPr>
              <a:t>*</a:t>
            </a:r>
            <a:r>
              <a:rPr lang="en-US" altLang="zh-CN" sz="2400" dirty="0">
                <a:solidFill>
                  <a:srgbClr val="00B050"/>
                </a:solidFill>
              </a:rPr>
              <a:t>/</a:t>
            </a:r>
            <a:endParaRPr lang="en-US" altLang="zh-CN" sz="2400" i="1" baseline="30000" dirty="0"/>
          </a:p>
          <a:p>
            <a:pPr lvl="1" eaLnBrk="1" hangingPunct="1">
              <a:lnSpc>
                <a:spcPts val="1800"/>
              </a:lnSpc>
              <a:buNone/>
              <a:defRPr/>
            </a:pPr>
            <a:r>
              <a:rPr lang="zh-CN" altLang="en-US" sz="2400" dirty="0">
                <a:sym typeface="Symbol" panose="05050102010706020507" pitchFamily="18" charset="2"/>
              </a:rPr>
              <a:t>对于 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k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zh-CN" altLang="en-US" sz="2400" dirty="0"/>
              <a:t>，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k</a:t>
            </a:r>
            <a:r>
              <a:rPr lang="en-US" altLang="zh-CN" sz="2400" i="1" dirty="0"/>
              <a:t> </a:t>
            </a:r>
            <a:endParaRPr lang="en-US" altLang="zh-CN" sz="2400" i="1" dirty="0"/>
          </a:p>
          <a:p>
            <a:pPr lvl="1" eaLnBrk="1" hangingPunct="1">
              <a:lnSpc>
                <a:spcPts val="1800"/>
              </a:lnSpc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</a:rPr>
              <a:t>                           = (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r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 err="1">
                <a:solidFill>
                  <a:srgbClr val="0000FF"/>
                </a:solidFill>
              </a:rPr>
              <a:t>uk</a:t>
            </a:r>
            <a:endParaRPr lang="en-US" altLang="zh-CN" sz="2400" i="1" baseline="30000" dirty="0">
              <a:solidFill>
                <a:srgbClr val="0000FF"/>
              </a:solidFill>
            </a:endParaRPr>
          </a:p>
          <a:p>
            <a:pPr lvl="1" eaLnBrk="1" hangingPunct="1">
              <a:lnSpc>
                <a:spcPts val="1800"/>
              </a:lnSpc>
              <a:buNone/>
              <a:defRPr/>
            </a:pPr>
            <a:r>
              <a:rPr lang="en-US" altLang="zh-CN" sz="2400" dirty="0"/>
              <a:t>                              ∈&lt;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r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lvl="1" eaLnBrk="1" hangingPunct="1">
              <a:buNone/>
              <a:defRPr/>
            </a:pPr>
            <a:r>
              <a:rPr lang="zh-CN" altLang="en-US" sz="2400" dirty="0"/>
              <a:t>故 </a:t>
            </a:r>
            <a:r>
              <a:rPr lang="en-US" altLang="zh-CN" sz="2400" i="1" dirty="0"/>
              <a:t>G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&lt;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r</a:t>
            </a:r>
            <a:r>
              <a:rPr lang="en-US" altLang="zh-CN" sz="2400" dirty="0"/>
              <a:t>&gt; </a:t>
            </a:r>
            <a:endParaRPr lang="en-US" altLang="zh-CN" sz="2400" dirty="0"/>
          </a:p>
          <a:p>
            <a:pPr lvl="1"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从而 </a:t>
            </a:r>
            <a:r>
              <a:rPr lang="en-US" altLang="zh-CN" sz="2400" i="1" dirty="0"/>
              <a:t>G </a:t>
            </a:r>
            <a:r>
              <a:rPr lang="en-US" altLang="zh-CN" sz="2400" dirty="0"/>
              <a:t>= &lt;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r</a:t>
            </a:r>
            <a:r>
              <a:rPr lang="en-US" altLang="zh-CN" sz="2400" dirty="0"/>
              <a:t>&gt;. </a:t>
            </a:r>
            <a:endParaRPr lang="en-US" altLang="zh-CN" sz="2400" dirty="0"/>
          </a:p>
          <a:p>
            <a:pPr eaLnBrk="1" hangingPunct="1">
              <a:lnSpc>
                <a:spcPts val="1800"/>
              </a:lnSpc>
              <a:defRPr/>
            </a:pPr>
            <a:endParaRPr lang="en-US" altLang="zh-CN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9588" y="549275"/>
            <a:ext cx="8383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10.13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(2) </a:t>
            </a:r>
            <a:r>
              <a:rPr lang="zh-CN" altLang="en-US" kern="0" dirty="0"/>
              <a:t>若</a:t>
            </a:r>
            <a:r>
              <a:rPr lang="en-US" altLang="zh-CN" i="1" kern="0" dirty="0"/>
              <a:t>G</a:t>
            </a:r>
            <a:r>
              <a:rPr lang="zh-CN" altLang="en-US" kern="0" dirty="0"/>
              <a:t>是 </a:t>
            </a:r>
            <a:r>
              <a:rPr lang="en-US" altLang="zh-CN" i="1" kern="0" dirty="0"/>
              <a:t>n </a:t>
            </a:r>
            <a:r>
              <a:rPr lang="zh-CN" altLang="en-US" kern="0" dirty="0"/>
              <a:t>阶循环群，则</a:t>
            </a:r>
            <a:r>
              <a:rPr lang="en-US" altLang="zh-CN" i="1" kern="0" dirty="0"/>
              <a:t>G</a:t>
            </a:r>
            <a:r>
              <a:rPr lang="zh-CN" altLang="en-US" kern="0" dirty="0"/>
              <a:t>含有</a:t>
            </a:r>
            <a:r>
              <a:rPr lang="zh-CN" altLang="en-US" i="1" kern="0" dirty="0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  <a:r>
              <a:rPr lang="en-US" altLang="zh-CN" kern="0" dirty="0">
                <a:solidFill>
                  <a:schemeClr val="accent2"/>
                </a:solidFill>
              </a:rPr>
              <a:t>(</a:t>
            </a:r>
            <a:r>
              <a:rPr lang="en-US" altLang="zh-CN" i="1" kern="0" dirty="0">
                <a:solidFill>
                  <a:schemeClr val="accent2"/>
                </a:solidFill>
              </a:rPr>
              <a:t>n</a:t>
            </a:r>
            <a:r>
              <a:rPr lang="en-US" altLang="zh-CN" kern="0" dirty="0">
                <a:solidFill>
                  <a:schemeClr val="accent2"/>
                </a:solidFill>
              </a:rPr>
              <a:t>)</a:t>
            </a:r>
            <a:r>
              <a:rPr lang="zh-CN" altLang="en-US" kern="0" dirty="0"/>
              <a:t>个生成元</a:t>
            </a:r>
            <a:r>
              <a:rPr lang="en-US" altLang="zh-CN" kern="0" dirty="0"/>
              <a:t>.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09600" y="2420888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486" name="Rectangle 9"/>
          <p:cNvSpPr>
            <a:spLocks noChangeArrowheads="1"/>
          </p:cNvSpPr>
          <p:nvPr/>
        </p:nvSpPr>
        <p:spPr bwMode="auto">
          <a:xfrm>
            <a:off x="1403350" y="1484784"/>
            <a:ext cx="7343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且 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的生成元当且仅当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0066FF"/>
                </a:solidFill>
              </a:rPr>
              <a:t>                   r</a:t>
            </a:r>
            <a:r>
              <a:rPr lang="zh-CN" altLang="en-US" dirty="0">
                <a:solidFill>
                  <a:srgbClr val="0066FF"/>
                </a:solidFill>
              </a:rPr>
              <a:t>是小于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且与 </a:t>
            </a:r>
            <a:r>
              <a:rPr lang="en-US" altLang="zh-CN" i="1" dirty="0">
                <a:solidFill>
                  <a:srgbClr val="0066FF"/>
                </a:solidFill>
              </a:rPr>
              <a:t>n </a:t>
            </a:r>
            <a:r>
              <a:rPr lang="zh-CN" altLang="en-US" dirty="0">
                <a:solidFill>
                  <a:srgbClr val="0066FF"/>
                </a:solidFill>
              </a:rPr>
              <a:t>互素的自然数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2" name="AutoShape 4" descr="新闻纸"/>
          <p:cNvSpPr>
            <a:spLocks noChangeArrowheads="1"/>
          </p:cNvSpPr>
          <p:nvPr/>
        </p:nvSpPr>
        <p:spPr bwMode="auto">
          <a:xfrm>
            <a:off x="6804248" y="1"/>
            <a:ext cx="2339752" cy="1006476"/>
          </a:xfrm>
          <a:prstGeom prst="wedgeRoundRectCallout">
            <a:avLst>
              <a:gd name="adj1" fmla="val -47293"/>
              <a:gd name="adj2" fmla="val 66149"/>
              <a:gd name="adj3" fmla="val 16667"/>
            </a:avLst>
          </a:prstGeom>
          <a:blipFill dpi="0" rotWithShape="1">
            <a:blip r:embed="rId1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>
                <a:sym typeface="Symbol" panose="05050102010706020507" pitchFamily="18" charset="2"/>
              </a:rPr>
              <a:t>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</a:t>
            </a:r>
            <a:r>
              <a:rPr lang="zh-CN" altLang="en-US" sz="1800" dirty="0"/>
              <a:t>称为欧拉函数，表示</a:t>
            </a:r>
            <a:r>
              <a:rPr lang="en-US" altLang="zh-CN" sz="1800" dirty="0"/>
              <a:t>{0,1, …</a:t>
            </a:r>
            <a:r>
              <a:rPr lang="en-US" altLang="zh-CN" sz="1800" i="1" dirty="0"/>
              <a:t>n</a:t>
            </a:r>
            <a:r>
              <a:rPr lang="en-US" altLang="zh-CN" sz="1800" dirty="0"/>
              <a:t>-1}</a:t>
            </a:r>
            <a:r>
              <a:rPr lang="zh-CN" altLang="en-US" sz="1800" dirty="0"/>
              <a:t>中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/>
              <a:t>与</a:t>
            </a:r>
            <a:r>
              <a:rPr lang="en-US" altLang="zh-CN" sz="1800" i="1" dirty="0"/>
              <a:t>n</a:t>
            </a:r>
            <a:r>
              <a:rPr lang="zh-CN" altLang="en-US" sz="1800" dirty="0"/>
              <a:t>互素的数的个数</a:t>
            </a:r>
            <a:endParaRPr lang="zh-CN" altLang="en-US" sz="1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8EFEF7-3F04-4A58-9546-BED390509F19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2636914"/>
            <a:ext cx="8001000" cy="3671811"/>
          </a:xfrm>
        </p:spPr>
        <p:txBody>
          <a:bodyPr/>
          <a:lstStyle/>
          <a:p>
            <a:pPr lvl="1" eaLnBrk="1" hangingPunct="1"/>
            <a:r>
              <a:rPr lang="zh-CN" altLang="en-US" sz="2400" dirty="0">
                <a:solidFill>
                  <a:srgbClr val="0066FF"/>
                </a:solidFill>
              </a:rPr>
              <a:t>必要性 </a:t>
            </a:r>
            <a:r>
              <a:rPr lang="zh-CN" altLang="en-US" sz="2400" dirty="0">
                <a:solidFill>
                  <a:srgbClr val="00B050"/>
                </a:solidFill>
              </a:rPr>
              <a:t>即证</a:t>
            </a:r>
            <a:r>
              <a:rPr lang="en-US" altLang="zh-CN" sz="2400" i="1" dirty="0">
                <a:solidFill>
                  <a:srgbClr val="00B050"/>
                </a:solidFill>
              </a:rPr>
              <a:t>r</a:t>
            </a:r>
            <a:r>
              <a:rPr lang="zh-CN" altLang="en-US" sz="2400" dirty="0">
                <a:solidFill>
                  <a:srgbClr val="00B050"/>
                </a:solidFill>
              </a:rPr>
              <a:t>与</a:t>
            </a:r>
            <a:r>
              <a:rPr lang="en-US" altLang="zh-CN" sz="2400" i="1" dirty="0">
                <a:solidFill>
                  <a:srgbClr val="00B050"/>
                </a:solidFill>
              </a:rPr>
              <a:t>n</a:t>
            </a:r>
            <a:r>
              <a:rPr lang="zh-CN" altLang="en-US" sz="2400" dirty="0">
                <a:solidFill>
                  <a:srgbClr val="00B050"/>
                </a:solidFill>
              </a:rPr>
              <a:t>互素（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rgbClr val="00B050"/>
                </a:solidFill>
              </a:rPr>
              <a:t>r</a:t>
            </a:r>
            <a:r>
              <a:rPr lang="zh-CN" altLang="en-US" sz="2400" dirty="0">
                <a:solidFill>
                  <a:srgbClr val="00B050"/>
                </a:solidFill>
              </a:rPr>
              <a:t>与</a:t>
            </a:r>
            <a:r>
              <a:rPr lang="en-US" altLang="zh-CN" sz="2400" i="1" dirty="0">
                <a:solidFill>
                  <a:srgbClr val="00B050"/>
                </a:solidFill>
              </a:rPr>
              <a:t>n</a:t>
            </a:r>
            <a:r>
              <a:rPr lang="zh-CN" altLang="en-US" sz="2400" dirty="0">
                <a:solidFill>
                  <a:srgbClr val="00B050"/>
                </a:solidFill>
              </a:rPr>
              <a:t>的最大公约数为</a:t>
            </a:r>
            <a:r>
              <a:rPr lang="en-US" altLang="zh-CN" sz="24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）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 eaLnBrk="1" hangingPunct="1">
              <a:buNone/>
            </a:pPr>
            <a:r>
              <a:rPr lang="zh-CN" altLang="en-US" sz="2400" dirty="0"/>
              <a:t>设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r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</a:t>
            </a:r>
            <a:r>
              <a:rPr lang="zh-CN" altLang="en-US" sz="2400" dirty="0"/>
              <a:t>的生成元（</a:t>
            </a:r>
            <a:r>
              <a:rPr lang="en-US" altLang="zh-CN" sz="2400" i="1" dirty="0"/>
              <a:t>r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n </a:t>
            </a:r>
            <a:r>
              <a:rPr lang="zh-CN" altLang="en-US" sz="2400" dirty="0"/>
              <a:t>），则 </a:t>
            </a:r>
            <a:r>
              <a:rPr lang="en-US" altLang="zh-CN" sz="2400" dirty="0">
                <a:solidFill>
                  <a:srgbClr val="FF0000"/>
                </a:solidFill>
              </a:rPr>
              <a:t>|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| = </a:t>
            </a:r>
            <a:r>
              <a:rPr lang="en-US" altLang="zh-CN" sz="2400" i="1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令</a:t>
            </a:r>
            <a:r>
              <a:rPr lang="en-US" altLang="zh-CN" sz="2400" i="1" dirty="0"/>
              <a:t>r</a:t>
            </a:r>
            <a:r>
              <a:rPr lang="zh-CN" altLang="en-US" sz="2400" dirty="0"/>
              <a:t>与</a:t>
            </a:r>
            <a:r>
              <a:rPr lang="en-US" altLang="zh-CN" sz="2400" i="1" dirty="0"/>
              <a:t>n</a:t>
            </a:r>
            <a:r>
              <a:rPr lang="zh-CN" altLang="en-US" sz="2400" dirty="0"/>
              <a:t>的最大公约数为</a:t>
            </a:r>
            <a:r>
              <a:rPr lang="en-US" altLang="zh-CN" sz="2400" i="1" dirty="0"/>
              <a:t>d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则存在正整数 </a:t>
            </a:r>
            <a:r>
              <a:rPr lang="en-US" altLang="zh-CN" sz="2400" i="1" dirty="0">
                <a:solidFill>
                  <a:srgbClr val="0000FF"/>
                </a:solidFill>
              </a:rPr>
              <a:t>t</a:t>
            </a:r>
            <a:r>
              <a:rPr lang="zh-CN" altLang="en-US" sz="2400" dirty="0">
                <a:solidFill>
                  <a:srgbClr val="0000FF"/>
                </a:solidFill>
              </a:rPr>
              <a:t>，使得 </a:t>
            </a:r>
            <a:r>
              <a:rPr lang="en-US" altLang="zh-CN" sz="2400" i="1" dirty="0">
                <a:solidFill>
                  <a:srgbClr val="0000FF"/>
                </a:solidFill>
              </a:rPr>
              <a:t>r </a:t>
            </a:r>
            <a:r>
              <a:rPr lang="en-US" altLang="zh-CN" sz="2400" dirty="0">
                <a:solidFill>
                  <a:srgbClr val="0000FF"/>
                </a:solidFill>
              </a:rPr>
              <a:t>= </a:t>
            </a:r>
            <a:r>
              <a:rPr lang="en-US" altLang="zh-CN" sz="2400" i="1" dirty="0">
                <a:solidFill>
                  <a:srgbClr val="0000FF"/>
                </a:solidFill>
              </a:rPr>
              <a:t>dt</a:t>
            </a:r>
            <a:r>
              <a:rPr lang="en-US" altLang="zh-CN" sz="2400" dirty="0">
                <a:solidFill>
                  <a:srgbClr val="0000FF"/>
                </a:solidFill>
              </a:rPr>
              <a:t>.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 eaLnBrk="1" hangingPunct="1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因此</a:t>
            </a:r>
            <a:r>
              <a:rPr lang="en-US" altLang="zh-CN" sz="2400" dirty="0">
                <a:solidFill>
                  <a:srgbClr val="0000FF"/>
                </a:solidFill>
              </a:rPr>
              <a:t>,  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FF0000"/>
                </a:solidFill>
              </a:rPr>
              <a:t>n/d </a:t>
            </a:r>
            <a:r>
              <a:rPr lang="en-US" altLang="zh-CN" sz="2400" dirty="0">
                <a:solidFill>
                  <a:srgbClr val="0000FF"/>
                </a:solidFill>
              </a:rPr>
              <a:t>= (</a:t>
            </a:r>
            <a:r>
              <a:rPr lang="en-US" altLang="zh-CN" sz="2400" i="1" dirty="0" err="1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 err="1">
                <a:solidFill>
                  <a:srgbClr val="0000FF"/>
                </a:solidFill>
              </a:rPr>
              <a:t>dt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n/d </a:t>
            </a:r>
            <a:r>
              <a:rPr lang="en-US" altLang="zh-CN" sz="2400" dirty="0">
                <a:solidFill>
                  <a:srgbClr val="0000FF"/>
                </a:solidFill>
              </a:rPr>
              <a:t>= (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n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t </a:t>
            </a:r>
            <a:r>
              <a:rPr lang="en-US" altLang="zh-CN" sz="2400" dirty="0">
                <a:solidFill>
                  <a:srgbClr val="FF0000"/>
                </a:solidFill>
              </a:rPr>
              <a:t>= </a:t>
            </a:r>
            <a:r>
              <a:rPr lang="en-US" altLang="zh-CN" sz="2400" i="1" dirty="0">
                <a:solidFill>
                  <a:srgbClr val="FF0000"/>
                </a:solidFill>
              </a:rPr>
              <a:t>e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所以，</a:t>
            </a:r>
            <a:r>
              <a:rPr lang="en-US" altLang="zh-CN" sz="2400" dirty="0">
                <a:solidFill>
                  <a:srgbClr val="0000FF"/>
                </a:solidFill>
              </a:rPr>
              <a:t>|</a:t>
            </a:r>
            <a:r>
              <a:rPr lang="en-US" altLang="zh-CN" sz="2400" i="1" dirty="0">
                <a:solidFill>
                  <a:srgbClr val="0000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00FF"/>
                </a:solidFill>
              </a:rPr>
              <a:t>r</a:t>
            </a:r>
            <a:r>
              <a:rPr lang="en-US" altLang="zh-CN" sz="2400" dirty="0">
                <a:solidFill>
                  <a:srgbClr val="0000FF"/>
                </a:solidFill>
              </a:rPr>
              <a:t>|</a:t>
            </a:r>
            <a:r>
              <a:rPr lang="zh-CN" altLang="en-US" sz="2400" dirty="0">
                <a:solidFill>
                  <a:srgbClr val="0000FF"/>
                </a:solidFill>
              </a:rPr>
              <a:t>是</a:t>
            </a:r>
            <a:r>
              <a:rPr lang="en-US" altLang="zh-CN" sz="2400" i="1" dirty="0">
                <a:solidFill>
                  <a:srgbClr val="0000FF"/>
                </a:solidFill>
              </a:rPr>
              <a:t>n/d</a:t>
            </a:r>
            <a:r>
              <a:rPr lang="zh-CN" altLang="en-US" sz="2400" dirty="0">
                <a:solidFill>
                  <a:srgbClr val="0000FF"/>
                </a:solidFill>
              </a:rPr>
              <a:t>的因子，即</a:t>
            </a:r>
            <a:r>
              <a:rPr lang="en-US" altLang="zh-CN" sz="2400" i="1" dirty="0">
                <a:solidFill>
                  <a:srgbClr val="0000FF"/>
                </a:solidFill>
              </a:rPr>
              <a:t>n</a:t>
            </a:r>
            <a:r>
              <a:rPr lang="zh-CN" altLang="en-US" sz="2400" dirty="0">
                <a:solidFill>
                  <a:srgbClr val="0000FF"/>
                </a:solidFill>
              </a:rPr>
              <a:t>整除</a:t>
            </a:r>
            <a:r>
              <a:rPr lang="en-US" altLang="zh-CN" sz="2400" i="1" dirty="0">
                <a:solidFill>
                  <a:srgbClr val="0000FF"/>
                </a:solidFill>
              </a:rPr>
              <a:t>n/d</a:t>
            </a:r>
            <a:r>
              <a:rPr lang="en-US" altLang="zh-CN" sz="2400" dirty="0">
                <a:solidFill>
                  <a:srgbClr val="0000FF"/>
                </a:solidFill>
              </a:rPr>
              <a:t>.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从而证明了</a:t>
            </a:r>
            <a:r>
              <a:rPr lang="en-US" altLang="zh-CN" sz="2400" i="1" dirty="0"/>
              <a:t>d </a:t>
            </a:r>
            <a:r>
              <a:rPr lang="en-US" altLang="zh-CN" sz="2400" dirty="0"/>
              <a:t>= 1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即</a:t>
            </a:r>
            <a:r>
              <a:rPr lang="en-US" altLang="zh-CN" sz="2400" i="1" dirty="0"/>
              <a:t>r</a:t>
            </a:r>
            <a:r>
              <a:rPr lang="zh-CN" altLang="en-US" sz="2400" dirty="0"/>
              <a:t>与</a:t>
            </a:r>
            <a:r>
              <a:rPr lang="en-US" altLang="zh-CN" sz="2400" i="1" dirty="0"/>
              <a:t>n</a:t>
            </a:r>
            <a:r>
              <a:rPr lang="zh-CN" altLang="en-US" sz="2400" dirty="0"/>
              <a:t>互素。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9588" y="549275"/>
            <a:ext cx="8383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10.13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(2) </a:t>
            </a:r>
            <a:r>
              <a:rPr lang="zh-CN" altLang="en-US" kern="0" dirty="0"/>
              <a:t>若</a:t>
            </a:r>
            <a:r>
              <a:rPr lang="en-US" altLang="zh-CN" i="1" kern="0" dirty="0"/>
              <a:t>G</a:t>
            </a:r>
            <a:r>
              <a:rPr lang="zh-CN" altLang="en-US" kern="0" dirty="0"/>
              <a:t>是 </a:t>
            </a:r>
            <a:r>
              <a:rPr lang="en-US" altLang="zh-CN" i="1" kern="0" dirty="0"/>
              <a:t>n </a:t>
            </a:r>
            <a:r>
              <a:rPr lang="zh-CN" altLang="en-US" kern="0" dirty="0"/>
              <a:t>阶循环群，则</a:t>
            </a:r>
            <a:r>
              <a:rPr lang="en-US" altLang="zh-CN" i="1" kern="0" dirty="0"/>
              <a:t>G</a:t>
            </a:r>
            <a:r>
              <a:rPr lang="zh-CN" altLang="en-US" kern="0" dirty="0"/>
              <a:t>含有</a:t>
            </a:r>
            <a:r>
              <a:rPr lang="zh-CN" altLang="en-US" i="1" kern="0" dirty="0">
                <a:solidFill>
                  <a:schemeClr val="accent2"/>
                </a:solidFill>
                <a:sym typeface="Symbol" panose="05050102010706020507" pitchFamily="18" charset="2"/>
              </a:rPr>
              <a:t></a:t>
            </a:r>
            <a:r>
              <a:rPr lang="en-US" altLang="zh-CN" kern="0" dirty="0">
                <a:solidFill>
                  <a:schemeClr val="accent2"/>
                </a:solidFill>
              </a:rPr>
              <a:t>(</a:t>
            </a:r>
            <a:r>
              <a:rPr lang="en-US" altLang="zh-CN" i="1" kern="0" dirty="0">
                <a:solidFill>
                  <a:schemeClr val="accent2"/>
                </a:solidFill>
              </a:rPr>
              <a:t>n</a:t>
            </a:r>
            <a:r>
              <a:rPr lang="en-US" altLang="zh-CN" kern="0" dirty="0">
                <a:solidFill>
                  <a:schemeClr val="accent2"/>
                </a:solidFill>
              </a:rPr>
              <a:t>)</a:t>
            </a:r>
            <a:r>
              <a:rPr lang="zh-CN" altLang="en-US" kern="0" dirty="0"/>
              <a:t>个生成元</a:t>
            </a:r>
            <a:r>
              <a:rPr lang="en-US" altLang="zh-CN" kern="0" dirty="0"/>
              <a:t>.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09600" y="249396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1403350" y="1535113"/>
            <a:ext cx="7343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且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的生成元当且仅当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0066FF"/>
                </a:solidFill>
              </a:rPr>
              <a:t>                   r</a:t>
            </a:r>
            <a:r>
              <a:rPr lang="zh-CN" altLang="en-US" dirty="0">
                <a:solidFill>
                  <a:srgbClr val="0066FF"/>
                </a:solidFill>
              </a:rPr>
              <a:t>是小于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且与 </a:t>
            </a:r>
            <a:r>
              <a:rPr lang="en-US" altLang="zh-CN" i="1" dirty="0">
                <a:solidFill>
                  <a:srgbClr val="0066FF"/>
                </a:solidFill>
              </a:rPr>
              <a:t>n </a:t>
            </a:r>
            <a:r>
              <a:rPr lang="zh-CN" altLang="en-US" dirty="0">
                <a:solidFill>
                  <a:srgbClr val="0066FF"/>
                </a:solidFill>
              </a:rPr>
              <a:t>互素的自然数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endParaRPr lang="zh-CN" altLang="en-US" dirty="0">
              <a:solidFill>
                <a:srgbClr val="0066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9809" y="5463505"/>
            <a:ext cx="4784191" cy="13944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AutoShape 4" descr="新闻纸"/>
          <p:cNvSpPr>
            <a:spLocks noChangeArrowheads="1"/>
          </p:cNvSpPr>
          <p:nvPr/>
        </p:nvSpPr>
        <p:spPr bwMode="auto">
          <a:xfrm>
            <a:off x="6804248" y="1"/>
            <a:ext cx="2339752" cy="1006476"/>
          </a:xfrm>
          <a:prstGeom prst="wedgeRoundRectCallout">
            <a:avLst>
              <a:gd name="adj1" fmla="val -47293"/>
              <a:gd name="adj2" fmla="val 66149"/>
              <a:gd name="adj3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 dirty="0">
                <a:sym typeface="Symbol" panose="05050102010706020507" pitchFamily="18" charset="2"/>
              </a:rPr>
              <a:t></a:t>
            </a:r>
            <a:r>
              <a:rPr lang="en-US" altLang="zh-CN" sz="1800" dirty="0"/>
              <a:t>(</a:t>
            </a:r>
            <a:r>
              <a:rPr lang="en-US" altLang="zh-CN" sz="1800" i="1" dirty="0"/>
              <a:t>n</a:t>
            </a:r>
            <a:r>
              <a:rPr lang="en-US" altLang="zh-CN" sz="1800" dirty="0"/>
              <a:t>)</a:t>
            </a:r>
            <a:r>
              <a:rPr lang="zh-CN" altLang="en-US" sz="1800" dirty="0"/>
              <a:t>称为欧拉函数，表示</a:t>
            </a:r>
            <a:r>
              <a:rPr lang="en-US" altLang="zh-CN" sz="1800" dirty="0"/>
              <a:t>{0,1, …</a:t>
            </a:r>
            <a:r>
              <a:rPr lang="en-US" altLang="zh-CN" sz="1800" i="1" dirty="0"/>
              <a:t>n</a:t>
            </a:r>
            <a:r>
              <a:rPr lang="en-US" altLang="zh-CN" sz="1800" dirty="0"/>
              <a:t>-1}</a:t>
            </a:r>
            <a:r>
              <a:rPr lang="zh-CN" altLang="en-US" sz="1800" dirty="0"/>
              <a:t>中</a:t>
            </a:r>
            <a:endParaRPr lang="en-US" altLang="zh-CN" sz="180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/>
              <a:t>与</a:t>
            </a:r>
            <a:r>
              <a:rPr lang="en-US" altLang="zh-CN" sz="1800" i="1" dirty="0"/>
              <a:t>n</a:t>
            </a:r>
            <a:r>
              <a:rPr lang="zh-CN" altLang="en-US" sz="1800" dirty="0"/>
              <a:t>互素的数的个数</a:t>
            </a:r>
            <a:endParaRPr lang="zh-CN" altLang="en-US" sz="1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B955AD-AEBF-4D09-8D44-C2D67251088E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循环群的子群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10.14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是循环群</a:t>
            </a:r>
            <a:r>
              <a:rPr lang="en-US" altLang="zh-CN" dirty="0"/>
              <a:t>. 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G</a:t>
            </a:r>
            <a:r>
              <a:rPr lang="zh-CN" altLang="en-US" dirty="0"/>
              <a:t>的子群仍是循环群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是无限循环群，则</a:t>
            </a:r>
            <a:r>
              <a:rPr lang="en-US" altLang="zh-CN" i="1" dirty="0"/>
              <a:t>G</a:t>
            </a:r>
            <a:r>
              <a:rPr lang="zh-CN" altLang="en-US" dirty="0"/>
              <a:t>的子群除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dirty="0"/>
              <a:t>}</a:t>
            </a:r>
            <a:r>
              <a:rPr lang="zh-CN" altLang="en-US" dirty="0"/>
              <a:t>以外都是无限循环群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阶循环群，则对</a:t>
            </a:r>
            <a:r>
              <a:rPr lang="en-US" altLang="zh-CN" i="1" dirty="0"/>
              <a:t>n</a:t>
            </a:r>
            <a:r>
              <a:rPr lang="zh-CN" altLang="en-US" dirty="0"/>
              <a:t>的每个正因子</a:t>
            </a:r>
            <a:r>
              <a:rPr lang="en-US" altLang="zh-CN" i="1" dirty="0"/>
              <a:t>d</a:t>
            </a:r>
            <a:r>
              <a:rPr lang="zh-CN" altLang="en-US" dirty="0"/>
              <a:t>，</a:t>
            </a:r>
            <a:r>
              <a:rPr lang="en-US" altLang="zh-CN" i="1" dirty="0"/>
              <a:t>G</a:t>
            </a:r>
            <a:r>
              <a:rPr lang="zh-CN" altLang="en-US" dirty="0">
                <a:solidFill>
                  <a:schemeClr val="accent2"/>
                </a:solidFill>
              </a:rPr>
              <a:t>恰好含有一个</a:t>
            </a:r>
            <a:r>
              <a:rPr lang="en-US" altLang="zh-CN" i="1" dirty="0"/>
              <a:t>d </a:t>
            </a:r>
            <a:r>
              <a:rPr lang="zh-CN" altLang="en-US" dirty="0"/>
              <a:t>阶子群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0C0B2E35-4FE6-4353-8526-42F4BA63D12E}" type="slidenum">
              <a:rPr lang="zh-CN" altLang="en-US" sz="1400" smtClean="0">
                <a:latin typeface="Times New Roman" panose="02020603050405020304" pitchFamily="18" charset="0"/>
              </a:rPr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4288" y="-131763"/>
            <a:ext cx="9144000" cy="68675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>
              <a:latin typeface="Arial Narrow" panose="020B0606020202030204" pitchFamily="34" charset="0"/>
            </a:endParaRPr>
          </a:p>
        </p:txBody>
      </p:sp>
      <p:sp>
        <p:nvSpPr>
          <p:cNvPr id="492704" name="Rectangle 160"/>
          <p:cNvSpPr>
            <a:spLocks noChangeArrowheads="1"/>
          </p:cNvSpPr>
          <p:nvPr/>
        </p:nvSpPr>
        <p:spPr bwMode="auto">
          <a:xfrm>
            <a:off x="5023329" y="3727304"/>
            <a:ext cx="3675062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&lt;180&gt;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={0,180}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&lt;240&gt;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&lt;300&gt;</a:t>
            </a: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 60,120,180,240,300} </a:t>
            </a:r>
            <a:endParaRPr lang="en-US" altLang="zh-CN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62" name="Rectangle 4"/>
          <p:cNvSpPr txBox="1">
            <a:spLocks noChangeArrowheads="1"/>
          </p:cNvSpPr>
          <p:nvPr/>
        </p:nvSpPr>
        <p:spPr bwMode="auto">
          <a:xfrm>
            <a:off x="500063" y="285750"/>
            <a:ext cx="7954962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</a:rPr>
              <a:t>回看旋转群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G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的运算表如下：</a:t>
            </a:r>
            <a:endParaRPr lang="zh-CN" altLang="en-US" sz="2800" kern="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65" name="Rectangle 160"/>
          <p:cNvSpPr>
            <a:spLocks noChangeArrowheads="1"/>
          </p:cNvSpPr>
          <p:nvPr/>
        </p:nvSpPr>
        <p:spPr bwMode="auto">
          <a:xfrm>
            <a:off x="1073629" y="3727304"/>
            <a:ext cx="3675062" cy="135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&lt;60&gt;</a:t>
            </a: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={0,60,120,180,240,300}</a:t>
            </a:r>
            <a:endParaRPr lang="en-US" altLang="zh-CN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&lt;120&gt;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08" y="973401"/>
            <a:ext cx="6629400" cy="2667000"/>
          </a:xfrm>
          <a:prstGeom prst="rect">
            <a:avLst/>
          </a:prstGeom>
        </p:spPr>
      </p:pic>
      <p:sp>
        <p:nvSpPr>
          <p:cNvPr id="2" name="Rectangle 160"/>
          <p:cNvSpPr>
            <a:spLocks noChangeArrowheads="1"/>
          </p:cNvSpPr>
          <p:nvPr/>
        </p:nvSpPr>
        <p:spPr bwMode="auto">
          <a:xfrm>
            <a:off x="1073627" y="5162036"/>
            <a:ext cx="6810741" cy="13578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={0} </a:t>
            </a:r>
            <a:r>
              <a:rPr lang="en-US" altLang="zh-CN" sz="2400" b="1" dirty="0">
                <a:solidFill>
                  <a:srgbClr val="3366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={e}=H0                              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&lt;180&gt;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={0,180} </a:t>
            </a:r>
            <a:r>
              <a:rPr lang="en-US" altLang="zh-CN" sz="2400" b="1" dirty="0">
                <a:solidFill>
                  <a:srgbClr val="3366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 H1 </a:t>
            </a:r>
            <a:endParaRPr lang="en-US" altLang="zh-CN" sz="2400" b="1" dirty="0">
              <a:solidFill>
                <a:srgbClr val="3366FF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&lt;60&gt;</a:t>
            </a:r>
            <a:r>
              <a:rPr lang="en-US" altLang="zh-CN" sz="24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={0,60,120,180,240,300} </a:t>
            </a:r>
            <a:r>
              <a:rPr lang="en-US" altLang="zh-CN" sz="2400" b="1" dirty="0">
                <a:solidFill>
                  <a:srgbClr val="3366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=G</a:t>
            </a:r>
            <a:endParaRPr lang="en-US" altLang="zh-CN" sz="2400" b="1" dirty="0">
              <a:solidFill>
                <a:srgbClr val="3366FF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&lt;120&gt;</a:t>
            </a:r>
            <a:r>
              <a:rPr lang="en-US" altLang="zh-CN" sz="24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r>
              <a:rPr lang="en-US" altLang="zh-CN" sz="2400" b="1" dirty="0">
                <a:solidFill>
                  <a:srgbClr val="3366FF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=H2</a:t>
            </a:r>
            <a:endParaRPr lang="en-US" altLang="zh-CN" sz="2400" b="1" dirty="0">
              <a:solidFill>
                <a:srgbClr val="3366FF"/>
              </a:solidFill>
              <a:latin typeface="Arial Narrow" panose="020B060602020203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endParaRPr lang="en-US" altLang="zh-CN" sz="24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B52259-1FB0-43C9-A747-706E38163C40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2198688"/>
            <a:ext cx="7848600" cy="403225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defRPr/>
            </a:pPr>
            <a:r>
              <a:rPr lang="en-US" altLang="zh-CN" sz="2400" dirty="0"/>
              <a:t>(1)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H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a</a:t>
            </a:r>
            <a:r>
              <a:rPr lang="en-US" altLang="zh-CN" sz="2400" dirty="0"/>
              <a:t>&gt;</a:t>
            </a:r>
            <a:r>
              <a:rPr lang="zh-CN" altLang="en-US" sz="2400" dirty="0"/>
              <a:t>的子群，若</a:t>
            </a:r>
            <a:r>
              <a:rPr lang="en-US" altLang="zh-CN" sz="2400" i="1" dirty="0"/>
              <a:t>H</a:t>
            </a:r>
            <a:r>
              <a:rPr lang="en-US" altLang="zh-CN" sz="2400" dirty="0"/>
              <a:t>={</a:t>
            </a:r>
            <a:r>
              <a:rPr lang="en-US" altLang="zh-CN" sz="2400" i="1" dirty="0"/>
              <a:t>e</a:t>
            </a:r>
            <a:r>
              <a:rPr lang="en-US" altLang="zh-CN" sz="2400" dirty="0"/>
              <a:t>}</a:t>
            </a:r>
            <a:r>
              <a:rPr lang="zh-CN" altLang="en-US" sz="2400" dirty="0"/>
              <a:t>，显然</a:t>
            </a:r>
            <a:r>
              <a:rPr lang="en-US" altLang="zh-CN" sz="2400" i="1" dirty="0"/>
              <a:t>H</a:t>
            </a:r>
            <a:r>
              <a:rPr lang="zh-CN" altLang="en-US" sz="2400" dirty="0"/>
              <a:t>是循环群，否则取</a:t>
            </a:r>
            <a:r>
              <a:rPr lang="en-US" altLang="zh-CN" sz="2400" i="1" dirty="0"/>
              <a:t>H</a:t>
            </a:r>
            <a:r>
              <a:rPr lang="zh-CN" altLang="en-US" sz="2400" dirty="0"/>
              <a:t>中的最小正方幂元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zh-CN" altLang="en-US" sz="2400" dirty="0"/>
              <a:t>，下面证明</a:t>
            </a:r>
            <a:r>
              <a:rPr lang="en-US" altLang="zh-CN" sz="2400" i="1" dirty="0"/>
              <a:t>H=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&gt;. </a:t>
            </a:r>
            <a:endParaRPr lang="en-US" altLang="zh-CN" sz="2400" dirty="0"/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 </a:t>
            </a:r>
            <a:r>
              <a:rPr lang="zh-CN" altLang="en-US" sz="2400" dirty="0"/>
              <a:t>易见</a:t>
            </a:r>
            <a:r>
              <a:rPr lang="en-US" altLang="zh-CN" sz="2400" dirty="0">
                <a:solidFill>
                  <a:schemeClr val="accent2"/>
                </a:solidFill>
              </a:rPr>
              <a:t>&lt;</a:t>
            </a:r>
            <a:r>
              <a:rPr lang="en-US" altLang="zh-CN" sz="2400" i="1" dirty="0">
                <a:solidFill>
                  <a:schemeClr val="accent2"/>
                </a:solidFill>
              </a:rPr>
              <a:t>a</a:t>
            </a:r>
            <a:r>
              <a:rPr lang="en-US" altLang="zh-CN" sz="2400" i="1" baseline="30000" dirty="0">
                <a:solidFill>
                  <a:schemeClr val="accent2"/>
                </a:solidFill>
              </a:rPr>
              <a:t>m</a:t>
            </a:r>
            <a:r>
              <a:rPr lang="en-US" altLang="zh-CN" sz="2400" dirty="0">
                <a:solidFill>
                  <a:schemeClr val="accent2"/>
                </a:solidFill>
              </a:rPr>
              <a:t>&gt;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 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spcBef>
                <a:spcPct val="10000"/>
              </a:spcBef>
              <a:defRPr/>
            </a:pPr>
            <a:r>
              <a:rPr lang="zh-CN" altLang="en-US" sz="2400" dirty="0"/>
              <a:t>下面证明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solidFill>
                  <a:schemeClr val="accent2"/>
                </a:solidFill>
              </a:rPr>
              <a:t>&lt;</a:t>
            </a:r>
            <a:r>
              <a:rPr lang="en-US" altLang="zh-CN" sz="2400" i="1" dirty="0">
                <a:solidFill>
                  <a:schemeClr val="accent2"/>
                </a:solidFill>
              </a:rPr>
              <a:t>a</a:t>
            </a:r>
            <a:r>
              <a:rPr lang="en-US" altLang="zh-CN" sz="2400" i="1" baseline="30000" dirty="0">
                <a:solidFill>
                  <a:schemeClr val="accent2"/>
                </a:solidFill>
              </a:rPr>
              <a:t>m</a:t>
            </a:r>
            <a:r>
              <a:rPr lang="en-US" altLang="zh-CN" sz="2400" dirty="0">
                <a:solidFill>
                  <a:schemeClr val="accent2"/>
                </a:solidFill>
              </a:rPr>
              <a:t>&gt;</a:t>
            </a:r>
            <a:r>
              <a:rPr lang="en-US" altLang="zh-CN" sz="2400" dirty="0"/>
              <a:t>.  </a:t>
            </a:r>
            <a:endParaRPr lang="en-US" altLang="zh-CN" sz="2400" dirty="0"/>
          </a:p>
          <a:p>
            <a:pPr marL="0" indent="0" eaLnBrk="1" hangingPunct="1">
              <a:spcBef>
                <a:spcPct val="10000"/>
              </a:spcBef>
              <a:buNone/>
              <a:defRPr/>
            </a:pPr>
            <a:r>
              <a:rPr lang="en-US" altLang="zh-CN" sz="2400" dirty="0">
                <a:solidFill>
                  <a:srgbClr val="0066FF"/>
                </a:solidFill>
              </a:rPr>
              <a:t>      </a:t>
            </a:r>
            <a:r>
              <a:rPr lang="zh-CN" altLang="en-US" sz="2400" dirty="0">
                <a:solidFill>
                  <a:srgbClr val="0066FF"/>
                </a:solidFill>
              </a:rPr>
              <a:t>任取</a:t>
            </a:r>
            <a:r>
              <a:rPr lang="en-US" altLang="zh-CN" sz="2400" i="1" dirty="0" err="1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 err="1">
                <a:solidFill>
                  <a:srgbClr val="0066FF"/>
                </a:solidFill>
              </a:rPr>
              <a:t>l</a:t>
            </a:r>
            <a:r>
              <a:rPr lang="en-US" altLang="zh-CN" sz="2400" dirty="0" err="1">
                <a:solidFill>
                  <a:srgbClr val="0066FF"/>
                </a:solidFill>
              </a:rPr>
              <a:t>∈</a:t>
            </a:r>
            <a:r>
              <a:rPr lang="en-US" altLang="zh-CN" sz="2400" i="1" dirty="0" err="1">
                <a:solidFill>
                  <a:srgbClr val="0066FF"/>
                </a:solidFill>
              </a:rPr>
              <a:t>H</a:t>
            </a:r>
            <a:r>
              <a:rPr lang="zh-CN" altLang="en-US" sz="2400" dirty="0"/>
              <a:t>，由除法可知存在整数 </a:t>
            </a:r>
            <a:r>
              <a:rPr lang="en-US" altLang="zh-CN" sz="2400" i="1" dirty="0"/>
              <a:t>q </a:t>
            </a:r>
            <a:r>
              <a:rPr lang="zh-CN" altLang="en-US" sz="2400" dirty="0"/>
              <a:t>和 </a:t>
            </a:r>
            <a:r>
              <a:rPr lang="en-US" altLang="zh-CN" sz="2400" i="1" dirty="0"/>
              <a:t>r</a:t>
            </a:r>
            <a:r>
              <a:rPr lang="zh-CN" altLang="en-US" sz="2400" dirty="0"/>
              <a:t>，使</a:t>
            </a:r>
            <a:r>
              <a:rPr lang="en-US" altLang="zh-CN" sz="2400" i="1" dirty="0"/>
              <a:t>l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qm</a:t>
            </a:r>
            <a:r>
              <a:rPr lang="en-US" altLang="zh-CN" sz="2400" dirty="0" err="1"/>
              <a:t>+</a:t>
            </a:r>
            <a:r>
              <a:rPr lang="en-US" altLang="zh-CN" sz="2400" i="1" dirty="0" err="1"/>
              <a:t>r</a:t>
            </a:r>
            <a:r>
              <a:rPr lang="zh-CN" altLang="en-US" sz="2400" dirty="0"/>
              <a:t>，   </a:t>
            </a:r>
            <a:endParaRPr lang="en-US" altLang="zh-CN" sz="2400" dirty="0"/>
          </a:p>
          <a:p>
            <a:pPr marL="0" indent="0" eaLnBrk="1" hangingPunct="1">
              <a:spcBef>
                <a:spcPct val="10000"/>
              </a:spcBef>
              <a:buNone/>
              <a:defRPr/>
            </a:pPr>
            <a:r>
              <a:rPr lang="en-US" altLang="zh-CN" sz="2400" dirty="0"/>
              <a:t>                            </a:t>
            </a:r>
            <a:r>
              <a:rPr lang="zh-CN" altLang="en-US" sz="2400" dirty="0"/>
              <a:t>其中 </a:t>
            </a:r>
            <a:r>
              <a:rPr lang="en-US" altLang="zh-CN" sz="2400" dirty="0"/>
              <a:t>0≤</a:t>
            </a:r>
            <a:r>
              <a:rPr lang="en-US" altLang="zh-CN" sz="2400" i="1" dirty="0"/>
              <a:t>r</a:t>
            </a:r>
            <a:r>
              <a:rPr lang="en-US" altLang="zh-CN" sz="2400" dirty="0"/>
              <a:t>≤</a:t>
            </a:r>
            <a:r>
              <a:rPr lang="en-US" altLang="zh-CN" sz="2400" i="1" dirty="0"/>
              <a:t>m</a:t>
            </a:r>
            <a:r>
              <a:rPr lang="en-US" altLang="zh-CN" sz="2400" dirty="0">
                <a:sym typeface="Symbol" panose="05050102010706020507" pitchFamily="18" charset="2"/>
              </a:rPr>
              <a:t>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pPr marL="1143000" lvl="2" indent="-228600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i="1" dirty="0"/>
              <a:t>    a</a:t>
            </a:r>
            <a:r>
              <a:rPr lang="en-US" altLang="zh-CN" sz="2400" i="1" baseline="30000" dirty="0"/>
              <a:t>r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l</a:t>
            </a:r>
            <a:r>
              <a:rPr lang="en-US" altLang="zh-CN" sz="2400" baseline="30000" dirty="0" err="1">
                <a:sym typeface="Symbol" panose="05050102010706020507" pitchFamily="18" charset="2"/>
              </a:rPr>
              <a:t></a:t>
            </a:r>
            <a:r>
              <a:rPr lang="en-US" altLang="zh-CN" sz="2400" i="1" baseline="30000" dirty="0" err="1"/>
              <a:t>qm</a:t>
            </a:r>
            <a:r>
              <a:rPr lang="en-US" altLang="zh-CN" sz="2400" i="1" baseline="30000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l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)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i="1" baseline="30000" dirty="0"/>
              <a:t>q  </a:t>
            </a:r>
            <a:endParaRPr lang="en-US" altLang="zh-CN" sz="2400" i="1" baseline="30000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由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l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</a:t>
            </a:r>
            <a:r>
              <a:rPr lang="en-US" altLang="zh-CN" sz="2400" i="1" dirty="0"/>
              <a:t> </a:t>
            </a:r>
            <a:r>
              <a:rPr lang="zh-CN" altLang="en-US" sz="2400" dirty="0"/>
              <a:t>且 </a:t>
            </a:r>
            <a:r>
              <a:rPr lang="en-US" altLang="zh-CN" sz="2400" i="1" dirty="0"/>
              <a:t>H 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 </a:t>
            </a:r>
            <a:r>
              <a:rPr lang="zh-CN" altLang="en-US" sz="2400" dirty="0"/>
              <a:t>的子群可知</a:t>
            </a:r>
            <a:r>
              <a:rPr lang="en-US" altLang="zh-CN" sz="2400" i="1" dirty="0" err="1"/>
              <a:t>a</a:t>
            </a:r>
            <a:r>
              <a:rPr lang="en-US" altLang="zh-CN" sz="2400" i="1" baseline="30000" dirty="0" err="1"/>
              <a:t>r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因为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zh-CN" altLang="en-US" sz="2400" dirty="0"/>
              <a:t>是</a:t>
            </a:r>
            <a:r>
              <a:rPr lang="en-US" altLang="zh-CN" sz="2400" i="1" dirty="0"/>
              <a:t>H</a:t>
            </a:r>
            <a:r>
              <a:rPr lang="zh-CN" altLang="en-US" sz="2400" dirty="0"/>
              <a:t>中最小正方幂元，</a:t>
            </a:r>
            <a:endParaRPr lang="en-US" altLang="zh-CN" sz="2400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又</a:t>
            </a:r>
            <a:r>
              <a:rPr lang="en-US" altLang="zh-CN" sz="2400" i="1" dirty="0"/>
              <a:t>r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m</a:t>
            </a:r>
            <a:r>
              <a:rPr lang="zh-CN" altLang="en-US" sz="2400" dirty="0"/>
              <a:t>，则必有</a:t>
            </a:r>
            <a:r>
              <a:rPr lang="en-US" altLang="zh-CN" sz="2400" i="1" dirty="0"/>
              <a:t>r </a:t>
            </a:r>
            <a:r>
              <a:rPr lang="en-US" altLang="zh-CN" sz="2400" dirty="0"/>
              <a:t>= 0. </a:t>
            </a:r>
            <a:endParaRPr lang="en-US" altLang="zh-CN" sz="2400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推出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l</a:t>
            </a:r>
            <a:r>
              <a:rPr lang="en-US" altLang="zh-CN" sz="2400" i="1" dirty="0">
                <a:solidFill>
                  <a:srgbClr val="0066FF"/>
                </a:solidFill>
              </a:rPr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= (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m</a:t>
            </a:r>
            <a:r>
              <a:rPr lang="en-US" altLang="zh-CN" sz="2400" dirty="0">
                <a:solidFill>
                  <a:srgbClr val="0066FF"/>
                </a:solidFill>
              </a:rPr>
              <a:t>)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q</a:t>
            </a:r>
            <a:r>
              <a:rPr lang="en-US" altLang="zh-CN" sz="2400" dirty="0">
                <a:solidFill>
                  <a:srgbClr val="0066FF"/>
                </a:solidFill>
              </a:rPr>
              <a:t>∈&lt;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m</a:t>
            </a:r>
            <a:r>
              <a:rPr lang="en-US" altLang="zh-CN" sz="2400" dirty="0">
                <a:solidFill>
                  <a:srgbClr val="0066FF"/>
                </a:solidFill>
              </a:rPr>
              <a:t>&gt;</a:t>
            </a:r>
            <a:endParaRPr lang="en-US" altLang="zh-CN" sz="2400" dirty="0">
              <a:solidFill>
                <a:srgbClr val="0066FF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9588" y="549275"/>
            <a:ext cx="8383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10.14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(1) 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zh-CN" altLang="en-US" dirty="0"/>
              <a:t>的子群仍是循环群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 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09600" y="206851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3FE088-8711-47B1-9E81-02446C374229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420888"/>
            <a:ext cx="7391400" cy="2879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/>
              <a:t>(2)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G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a</a:t>
            </a:r>
            <a:r>
              <a:rPr lang="en-US" altLang="zh-CN" sz="2400" dirty="0"/>
              <a:t>&gt;</a:t>
            </a:r>
            <a:r>
              <a:rPr lang="zh-CN" altLang="en-US" sz="2400" dirty="0"/>
              <a:t>是无限循环群，</a:t>
            </a:r>
            <a:r>
              <a:rPr lang="en-US" altLang="zh-CN" sz="2400" i="1" dirty="0"/>
              <a:t>H</a:t>
            </a:r>
            <a:r>
              <a:rPr lang="zh-CN" altLang="en-US" sz="2400" dirty="0"/>
              <a:t>是</a:t>
            </a:r>
            <a:r>
              <a:rPr lang="en-US" altLang="zh-CN" sz="2400" i="1" dirty="0"/>
              <a:t>G </a:t>
            </a:r>
            <a:r>
              <a:rPr lang="zh-CN" altLang="en-US" sz="2400" dirty="0"/>
              <a:t>的子群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</a:t>
            </a:r>
            <a:r>
              <a:rPr lang="zh-CN" altLang="en-US" sz="2400" dirty="0"/>
              <a:t>若</a:t>
            </a:r>
            <a:r>
              <a:rPr lang="en-US" altLang="zh-CN" sz="2400" i="1" dirty="0"/>
              <a:t>H</a:t>
            </a:r>
            <a:r>
              <a:rPr lang="en-US" altLang="zh-CN" sz="2400" dirty="0"/>
              <a:t>≠{</a:t>
            </a:r>
            <a:r>
              <a:rPr lang="en-US" altLang="zh-CN" sz="2400" i="1" dirty="0"/>
              <a:t>e</a:t>
            </a:r>
            <a:r>
              <a:rPr lang="en-US" altLang="zh-CN" sz="2400" dirty="0"/>
              <a:t>}</a:t>
            </a:r>
            <a:r>
              <a:rPr lang="zh-CN" altLang="en-US" sz="2400" dirty="0"/>
              <a:t>可知</a:t>
            </a:r>
            <a:r>
              <a:rPr lang="en-US" altLang="zh-CN" sz="2400" i="1" dirty="0"/>
              <a:t>H 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&gt;</a:t>
            </a:r>
            <a:r>
              <a:rPr lang="zh-CN" altLang="en-US" sz="2400" dirty="0"/>
              <a:t>，其中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zh-CN" altLang="en-US" sz="2400" dirty="0"/>
              <a:t>为</a:t>
            </a:r>
            <a:r>
              <a:rPr lang="en-US" altLang="zh-CN" sz="2400" i="1" dirty="0"/>
              <a:t>H</a:t>
            </a:r>
            <a:r>
              <a:rPr lang="zh-CN" altLang="en-US" sz="2400" dirty="0"/>
              <a:t>中最小正方幂元</a:t>
            </a:r>
            <a:r>
              <a:rPr lang="en-US" altLang="zh-CN" sz="2400" dirty="0"/>
              <a:t>.  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</a:t>
            </a:r>
            <a:r>
              <a:rPr lang="zh-CN" altLang="en-US" sz="2400" dirty="0"/>
              <a:t>假若 </a:t>
            </a:r>
            <a:r>
              <a:rPr lang="en-US" altLang="zh-CN" sz="2400" dirty="0"/>
              <a:t>|</a:t>
            </a:r>
            <a:r>
              <a:rPr lang="en-US" altLang="zh-CN" sz="2400" i="1" dirty="0"/>
              <a:t>H</a:t>
            </a:r>
            <a:r>
              <a:rPr lang="en-US" altLang="zh-CN" sz="2400" dirty="0"/>
              <a:t>|=</a:t>
            </a:r>
            <a:r>
              <a:rPr lang="en-US" altLang="zh-CN" sz="2400" i="1" dirty="0"/>
              <a:t>t</a:t>
            </a:r>
            <a:r>
              <a:rPr lang="zh-CN" altLang="en-US" sz="2400" dirty="0"/>
              <a:t>，则 </a:t>
            </a:r>
            <a:r>
              <a:rPr lang="en-US" altLang="zh-CN" sz="2400" dirty="0"/>
              <a:t>|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|=</a:t>
            </a:r>
            <a:r>
              <a:rPr lang="en-US" altLang="zh-CN" sz="2400" i="1" dirty="0"/>
              <a:t>t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</a:t>
            </a:r>
            <a:r>
              <a:rPr lang="zh-CN" altLang="en-US" sz="2400" dirty="0"/>
              <a:t>从而得到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mt</a:t>
            </a:r>
            <a:r>
              <a:rPr lang="en-US" altLang="zh-CN" sz="2400" i="1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e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</a:t>
            </a:r>
            <a:r>
              <a:rPr lang="zh-CN" altLang="en-US" sz="2400" dirty="0"/>
              <a:t>这与</a:t>
            </a:r>
            <a:r>
              <a:rPr lang="en-US" altLang="zh-CN" sz="2400" i="1" dirty="0"/>
              <a:t>a</a:t>
            </a:r>
            <a:r>
              <a:rPr lang="zh-CN" altLang="en-US" sz="2400" dirty="0"/>
              <a:t>为无限阶元矛盾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defRPr/>
            </a:pPr>
            <a:endParaRPr lang="en-US" altLang="zh-CN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9588" y="549275"/>
            <a:ext cx="8383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10.14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是无限循环群，则</a:t>
            </a:r>
            <a:r>
              <a:rPr lang="en-US" altLang="zh-CN" i="1" dirty="0"/>
              <a:t>G</a:t>
            </a:r>
            <a:r>
              <a:rPr lang="zh-CN" altLang="en-US" dirty="0"/>
              <a:t>的子群除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dirty="0"/>
              <a:t>}</a:t>
            </a:r>
            <a:r>
              <a:rPr lang="zh-CN" altLang="en-US" dirty="0"/>
              <a:t>以外都是无限循环群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 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09600" y="206851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8605D4-81EF-44F6-8759-E53E856E3BE2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4680" y="2383155"/>
            <a:ext cx="8378825" cy="3455670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altLang="zh-CN" sz="2400" dirty="0"/>
              <a:t>(3) </a:t>
            </a:r>
            <a:r>
              <a:rPr lang="zh-CN" altLang="en-US" sz="2400" dirty="0"/>
              <a:t>设</a:t>
            </a:r>
            <a:r>
              <a:rPr lang="en-US" altLang="zh-CN" sz="2400" i="1" dirty="0"/>
              <a:t>G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a</a:t>
            </a:r>
            <a:r>
              <a:rPr lang="en-US" altLang="zh-CN" sz="2400" dirty="0"/>
              <a:t>&gt;</a:t>
            </a:r>
            <a:r>
              <a:rPr lang="zh-CN" altLang="en-US" sz="2400" dirty="0"/>
              <a:t>是 </a:t>
            </a:r>
            <a:r>
              <a:rPr lang="en-US" altLang="zh-CN" sz="2400" i="1" dirty="0"/>
              <a:t>n </a:t>
            </a:r>
            <a:r>
              <a:rPr lang="zh-CN" altLang="en-US" sz="2400" dirty="0"/>
              <a:t>阶循环群，则  </a:t>
            </a:r>
            <a:r>
              <a:rPr lang="en-US" altLang="zh-CN" sz="2400" i="1" dirty="0"/>
              <a:t>G </a:t>
            </a:r>
            <a:r>
              <a:rPr lang="en-US" altLang="zh-CN" sz="2400" dirty="0"/>
              <a:t>= {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=</a:t>
            </a:r>
            <a:r>
              <a:rPr lang="en-US" altLang="zh-CN" sz="2400" i="1" dirty="0"/>
              <a:t>e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, … ,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 </a:t>
            </a:r>
            <a:r>
              <a:rPr lang="en-US" altLang="zh-CN" sz="2400" dirty="0"/>
              <a:t>},    </a:t>
            </a:r>
            <a:r>
              <a:rPr lang="zh-CN" altLang="en-US" sz="2400" dirty="0"/>
              <a:t>下面证明对于</a:t>
            </a:r>
            <a:r>
              <a:rPr lang="en-US" altLang="zh-CN" sz="2400" i="1" dirty="0"/>
              <a:t>n</a:t>
            </a:r>
            <a:r>
              <a:rPr lang="zh-CN" altLang="en-US" sz="2400" dirty="0"/>
              <a:t>的每个正因子</a:t>
            </a:r>
            <a:r>
              <a:rPr lang="en-US" altLang="zh-CN" sz="2400" i="1" dirty="0"/>
              <a:t>d</a:t>
            </a:r>
            <a:r>
              <a:rPr lang="zh-CN" altLang="en-US" sz="2400" dirty="0"/>
              <a:t>都恰好存在一个</a:t>
            </a:r>
            <a:r>
              <a:rPr lang="en-US" altLang="zh-CN" sz="2400" i="1" dirty="0"/>
              <a:t>d</a:t>
            </a:r>
            <a:r>
              <a:rPr lang="zh-CN" altLang="en-US" sz="2400" dirty="0"/>
              <a:t>阶子群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 eaLnBrk="1" hangingPunct="1">
              <a:spcBef>
                <a:spcPct val="0"/>
              </a:spcBef>
              <a:defRPr/>
            </a:pPr>
            <a:r>
              <a:rPr lang="zh-CN" altLang="en-US" sz="2400" dirty="0">
                <a:solidFill>
                  <a:srgbClr val="0066FF"/>
                </a:solidFill>
              </a:rPr>
              <a:t>易见</a:t>
            </a:r>
            <a:r>
              <a:rPr lang="en-US" altLang="zh-CN" sz="2400" i="1" dirty="0">
                <a:solidFill>
                  <a:srgbClr val="0066FF"/>
                </a:solidFill>
              </a:rPr>
              <a:t>H</a:t>
            </a:r>
            <a:r>
              <a:rPr lang="zh-CN" altLang="en-US" sz="2400" dirty="0">
                <a:solidFill>
                  <a:srgbClr val="0066FF"/>
                </a:solidFill>
              </a:rPr>
              <a:t>＝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dirty="0">
                <a:solidFill>
                  <a:srgbClr val="0066FF"/>
                </a:solidFill>
              </a:rPr>
              <a:t>&gt;</a:t>
            </a:r>
            <a:r>
              <a:rPr lang="zh-CN" altLang="en-US" sz="2400" dirty="0">
                <a:solidFill>
                  <a:srgbClr val="0066FF"/>
                </a:solidFill>
              </a:rPr>
              <a:t>是</a:t>
            </a:r>
            <a:r>
              <a:rPr lang="en-US" altLang="zh-CN" sz="2400" i="1" dirty="0">
                <a:solidFill>
                  <a:srgbClr val="0066FF"/>
                </a:solidFill>
              </a:rPr>
              <a:t>G</a:t>
            </a:r>
            <a:r>
              <a:rPr lang="zh-CN" altLang="en-US" sz="2400" dirty="0">
                <a:solidFill>
                  <a:srgbClr val="0066FF"/>
                </a:solidFill>
              </a:rPr>
              <a:t>的</a:t>
            </a:r>
            <a:r>
              <a:rPr lang="en-US" altLang="zh-CN" sz="2400" i="1" dirty="0">
                <a:solidFill>
                  <a:srgbClr val="0066FF"/>
                </a:solidFill>
              </a:rPr>
              <a:t>d </a:t>
            </a:r>
            <a:r>
              <a:rPr lang="zh-CN" altLang="en-US" sz="2400" dirty="0">
                <a:solidFill>
                  <a:srgbClr val="0066FF"/>
                </a:solidFill>
              </a:rPr>
              <a:t>阶子群</a:t>
            </a:r>
            <a:r>
              <a:rPr lang="en-US" altLang="zh-CN" sz="2400" dirty="0">
                <a:solidFill>
                  <a:srgbClr val="0066FF"/>
                </a:solidFill>
              </a:rPr>
              <a:t>.  </a:t>
            </a:r>
            <a:endParaRPr lang="en-US" altLang="zh-CN" sz="2400" dirty="0">
              <a:solidFill>
                <a:srgbClr val="0066FF"/>
              </a:solidFill>
            </a:endParaRPr>
          </a:p>
          <a:p>
            <a:pPr lvl="1" eaLnBrk="1" hangingPunct="1">
              <a:spcBef>
                <a:spcPct val="0"/>
              </a:spcBef>
              <a:defRPr/>
            </a:pPr>
            <a:r>
              <a:rPr lang="zh-CN" altLang="en-US" sz="2400" dirty="0"/>
              <a:t>假设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=&lt;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&gt;</a:t>
            </a:r>
            <a:r>
              <a:rPr lang="zh-CN" altLang="en-US" sz="2400" dirty="0"/>
              <a:t>也是</a:t>
            </a:r>
            <a:r>
              <a:rPr lang="en-US" altLang="zh-CN" sz="2400" i="1" dirty="0"/>
              <a:t>G</a:t>
            </a:r>
            <a:r>
              <a:rPr lang="zh-CN" altLang="en-US" sz="2400" dirty="0"/>
              <a:t>的</a:t>
            </a:r>
            <a:r>
              <a:rPr lang="en-US" altLang="zh-CN" sz="2400" i="1" dirty="0"/>
              <a:t>d </a:t>
            </a:r>
            <a:r>
              <a:rPr lang="zh-CN" altLang="en-US" sz="2400" dirty="0"/>
              <a:t>阶子群，（</a:t>
            </a:r>
            <a:r>
              <a:rPr lang="zh-CN" altLang="en-US" sz="2400" dirty="0">
                <a:solidFill>
                  <a:srgbClr val="00B050"/>
                </a:solidFill>
              </a:rPr>
              <a:t>证唯一性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471170" lvl="1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              </a:t>
            </a:r>
            <a:r>
              <a:rPr lang="zh-CN" altLang="en-US" sz="2400" dirty="0"/>
              <a:t>其中 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 </a:t>
            </a:r>
            <a:r>
              <a:rPr lang="zh-CN" altLang="en-US" sz="2400" dirty="0"/>
              <a:t>为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中的最小正方幂元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则由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)</a:t>
            </a:r>
            <a:r>
              <a:rPr lang="en-US" altLang="zh-CN" sz="2400" i="1" baseline="30000" dirty="0"/>
              <a:t>d </a:t>
            </a:r>
            <a:r>
              <a:rPr lang="en-US" altLang="zh-CN" sz="2400" dirty="0"/>
              <a:t>= </a:t>
            </a:r>
            <a:r>
              <a:rPr lang="en-US" altLang="zh-CN" sz="2400" i="1" dirty="0"/>
              <a:t>e</a:t>
            </a:r>
            <a:r>
              <a:rPr lang="en-US" altLang="zh-CN" sz="2400" dirty="0"/>
              <a:t> </a:t>
            </a:r>
            <a:r>
              <a:rPr lang="zh-CN" altLang="en-US" sz="2400" dirty="0"/>
              <a:t>可知</a:t>
            </a:r>
            <a:r>
              <a:rPr lang="en-US" altLang="zh-CN" sz="2400" dirty="0"/>
              <a:t>:</a:t>
            </a:r>
            <a:endParaRPr lang="zh-CN" altLang="en-US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</a:t>
            </a:r>
            <a:r>
              <a:rPr lang="en-US" altLang="zh-CN" sz="2400" i="1" dirty="0"/>
              <a:t>n </a:t>
            </a:r>
            <a:r>
              <a:rPr lang="zh-CN" altLang="en-US" sz="2400" dirty="0"/>
              <a:t>整除</a:t>
            </a:r>
            <a:r>
              <a:rPr lang="en-US" altLang="zh-CN" sz="2400" i="1" dirty="0"/>
              <a:t>md</a:t>
            </a:r>
            <a:r>
              <a:rPr lang="en-US" altLang="zh-CN" sz="2400" dirty="0"/>
              <a:t>(</a:t>
            </a:r>
            <a:r>
              <a:rPr lang="en-US" altLang="zh-CN" sz="2400" i="1" dirty="0">
                <a:solidFill>
                  <a:srgbClr val="00B050"/>
                </a:solidFill>
                <a:sym typeface="+mn-ea"/>
              </a:rPr>
              <a:t>n|</a:t>
            </a:r>
            <a:r>
              <a:rPr lang="en-US" altLang="zh-CN" sz="2400" i="1" dirty="0">
                <a:solidFill>
                  <a:srgbClr val="00B050"/>
                </a:solidFill>
                <a:sym typeface="+mn-ea"/>
              </a:rPr>
              <a:t>md</a:t>
            </a:r>
            <a:r>
              <a:rPr lang="en-US" altLang="zh-CN" sz="2400" dirty="0"/>
              <a:t>)</a:t>
            </a:r>
            <a:r>
              <a:rPr lang="zh-CN" altLang="en-US" sz="2400" dirty="0"/>
              <a:t>，即 </a:t>
            </a:r>
            <a:r>
              <a:rPr lang="en-US" altLang="zh-CN" sz="2400" i="1" dirty="0"/>
              <a:t>n</a:t>
            </a:r>
            <a:r>
              <a:rPr lang="en-US" altLang="zh-CN" sz="2400" dirty="0"/>
              <a:t>/</a:t>
            </a:r>
            <a:r>
              <a:rPr lang="en-US" altLang="zh-CN" sz="2400" i="1" dirty="0"/>
              <a:t>d </a:t>
            </a:r>
            <a:r>
              <a:rPr lang="zh-CN" altLang="en-US" sz="2400" dirty="0"/>
              <a:t>整除 </a:t>
            </a:r>
            <a:r>
              <a:rPr lang="en-US" altLang="zh-CN" sz="2400" i="1" dirty="0"/>
              <a:t>m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i="1" dirty="0">
                <a:solidFill>
                  <a:srgbClr val="00B050"/>
                </a:solidFill>
                <a:sym typeface="+mn-ea"/>
              </a:rPr>
              <a:t>n</a:t>
            </a:r>
            <a:r>
              <a:rPr lang="en-US" altLang="zh-CN" sz="2400" dirty="0">
                <a:solidFill>
                  <a:srgbClr val="00B050"/>
                </a:solidFill>
                <a:sym typeface="+mn-ea"/>
              </a:rPr>
              <a:t>/</a:t>
            </a:r>
            <a:r>
              <a:rPr lang="en-US" altLang="zh-CN" sz="2400" i="1" dirty="0">
                <a:solidFill>
                  <a:srgbClr val="00B050"/>
                </a:solidFill>
                <a:sym typeface="+mn-ea"/>
              </a:rPr>
              <a:t>d|m</a:t>
            </a:r>
            <a:r>
              <a:rPr lang="en-US" altLang="zh-CN" sz="2400" dirty="0">
                <a:sym typeface="+mn-ea"/>
              </a:rPr>
              <a:t>)</a:t>
            </a:r>
            <a:r>
              <a:rPr lang="en-US" altLang="zh-CN" sz="2400" dirty="0"/>
              <a:t>. 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令</a:t>
            </a:r>
            <a:r>
              <a:rPr lang="en-US" altLang="zh-CN" sz="2400" i="1" dirty="0"/>
              <a:t>m </a:t>
            </a:r>
            <a:r>
              <a:rPr lang="en-US" altLang="zh-CN" sz="2400" dirty="0"/>
              <a:t>= (</a:t>
            </a:r>
            <a:r>
              <a:rPr lang="en-US" altLang="zh-CN" sz="2400" i="1" dirty="0"/>
              <a:t>n</a:t>
            </a:r>
            <a:r>
              <a:rPr lang="en-US" altLang="zh-CN" sz="2400" dirty="0"/>
              <a:t>/</a:t>
            </a:r>
            <a:r>
              <a:rPr lang="en-US" altLang="zh-CN" sz="2400" i="1" dirty="0"/>
              <a:t>d</a:t>
            </a:r>
            <a:r>
              <a:rPr lang="en-US" altLang="zh-CN" sz="2400" dirty="0"/>
              <a:t>)·</a:t>
            </a:r>
            <a:r>
              <a:rPr lang="en-US" altLang="zh-CN" sz="2400" i="1" dirty="0"/>
              <a:t>l</a:t>
            </a:r>
            <a:r>
              <a:rPr lang="zh-CN" altLang="en-US" sz="2400" dirty="0"/>
              <a:t>，</a:t>
            </a:r>
            <a:r>
              <a:rPr lang="en-US" altLang="zh-CN" sz="2400" i="1" dirty="0"/>
              <a:t>l</a:t>
            </a:r>
            <a:r>
              <a:rPr lang="zh-CN" altLang="en-US" sz="2400" dirty="0"/>
              <a:t>是整数，则有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=(</a:t>
            </a:r>
            <a:r>
              <a:rPr lang="en-US" altLang="zh-CN" sz="2400" i="1" dirty="0"/>
              <a:t>a</a:t>
            </a:r>
            <a:r>
              <a:rPr lang="en-US" altLang="zh-CN" sz="2400" i="1" baseline="30000" dirty="0"/>
              <a:t>n/d</a:t>
            </a:r>
            <a:r>
              <a:rPr lang="en-US" altLang="zh-CN" sz="2400" dirty="0"/>
              <a:t>)</a:t>
            </a:r>
            <a:r>
              <a:rPr lang="en-US" altLang="zh-CN" sz="2400" i="1" baseline="30000" dirty="0"/>
              <a:t>l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这就推出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2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又由于 </a:t>
            </a:r>
            <a:r>
              <a:rPr lang="en-US" altLang="zh-CN" sz="2400" dirty="0">
                <a:solidFill>
                  <a:schemeClr val="accent2"/>
                </a:solidFill>
              </a:rPr>
              <a:t>|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</a:rPr>
              <a:t>| = |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dirty="0">
                <a:solidFill>
                  <a:schemeClr val="accent2"/>
                </a:solidFill>
              </a:rPr>
              <a:t>| = </a:t>
            </a:r>
            <a:r>
              <a:rPr lang="en-US" altLang="zh-CN" sz="2400" i="1" dirty="0">
                <a:solidFill>
                  <a:schemeClr val="accent2"/>
                </a:solidFill>
              </a:rPr>
              <a:t>d</a:t>
            </a:r>
            <a:r>
              <a:rPr lang="zh-CN" altLang="en-US" sz="2400" dirty="0"/>
              <a:t>，得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</a:rPr>
              <a:t> = 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9588" y="549275"/>
            <a:ext cx="838358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</a:t>
            </a:r>
            <a:r>
              <a:rPr lang="zh-CN" altLang="en-US" kern="0" dirty="0">
                <a:solidFill>
                  <a:srgbClr val="A50021"/>
                </a:solidFill>
              </a:rPr>
              <a:t>定理</a:t>
            </a:r>
            <a:r>
              <a:rPr lang="en-US" altLang="zh-CN" kern="0" dirty="0">
                <a:solidFill>
                  <a:srgbClr val="A50021"/>
                </a:solidFill>
              </a:rPr>
              <a:t>10.14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en-US" altLang="zh-CN" kern="0" dirty="0"/>
              <a:t>=&lt;</a:t>
            </a:r>
            <a:r>
              <a:rPr lang="en-US" altLang="zh-CN" i="1" kern="0" dirty="0"/>
              <a:t>a</a:t>
            </a:r>
            <a:r>
              <a:rPr lang="en-US" altLang="zh-CN" kern="0" dirty="0"/>
              <a:t>&gt;</a:t>
            </a:r>
            <a:r>
              <a:rPr lang="zh-CN" altLang="en-US" kern="0" dirty="0"/>
              <a:t>是循环群</a:t>
            </a:r>
            <a:r>
              <a:rPr lang="en-US" altLang="zh-CN" kern="0" dirty="0"/>
              <a:t>.  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阶循环群，则对</a:t>
            </a:r>
            <a:r>
              <a:rPr lang="en-US" altLang="zh-CN" i="1" dirty="0"/>
              <a:t>n</a:t>
            </a:r>
            <a:r>
              <a:rPr lang="zh-CN" altLang="en-US" dirty="0"/>
              <a:t>的每个正因子</a:t>
            </a:r>
            <a:r>
              <a:rPr lang="en-US" altLang="zh-CN" i="1" dirty="0"/>
              <a:t>d</a:t>
            </a:r>
            <a:r>
              <a:rPr lang="zh-CN" altLang="en-US" dirty="0"/>
              <a:t>，</a:t>
            </a:r>
            <a:r>
              <a:rPr lang="en-US" altLang="zh-CN" i="1" dirty="0"/>
              <a:t>G</a:t>
            </a:r>
            <a:r>
              <a:rPr lang="zh-CN" altLang="en-US" dirty="0">
                <a:solidFill>
                  <a:schemeClr val="accent2"/>
                </a:solidFill>
              </a:rPr>
              <a:t>恰好含有一个</a:t>
            </a:r>
            <a:r>
              <a:rPr lang="en-US" altLang="zh-CN" i="1" dirty="0"/>
              <a:t>d </a:t>
            </a:r>
            <a:r>
              <a:rPr lang="zh-CN" altLang="en-US" dirty="0"/>
              <a:t>阶子群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  </a:t>
            </a:r>
            <a:endParaRPr lang="en-US" altLang="zh-CN" kern="0" dirty="0"/>
          </a:p>
          <a:p>
            <a:pPr eaLnBrk="1" hangingPunct="1">
              <a:defRPr/>
            </a:pPr>
            <a:endParaRPr lang="en-US" altLang="zh-CN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609600" y="206851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求循环子群的方法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 noChangeArrowheads="1"/>
          </p:cNvSpPr>
          <p:nvPr>
            <p:ph idx="1"/>
          </p:nvPr>
        </p:nvSpPr>
        <p:spPr>
          <a:xfrm>
            <a:off x="566738" y="1270000"/>
            <a:ext cx="7749678" cy="4822825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en-US" altLang="zh-CN" i="1" dirty="0"/>
              <a:t>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是无限循环群，则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的子群，其中</a:t>
            </a:r>
            <a:r>
              <a:rPr lang="en-US" altLang="zh-CN" i="1" dirty="0"/>
              <a:t>m</a:t>
            </a:r>
            <a:r>
              <a:rPr lang="zh-CN" altLang="en-US" dirty="0"/>
              <a:t>是自然数</a:t>
            </a:r>
            <a:r>
              <a:rPr lang="en-US" altLang="zh-CN" dirty="0"/>
              <a:t>, </a:t>
            </a:r>
            <a:r>
              <a:rPr lang="zh-CN" altLang="en-US" dirty="0"/>
              <a:t>并且对于不同的自然数</a:t>
            </a:r>
            <a:r>
              <a:rPr lang="en-US" altLang="zh-CN" i="1" dirty="0"/>
              <a:t>m</a:t>
            </a:r>
            <a:r>
              <a:rPr lang="zh-CN" altLang="en-US" dirty="0"/>
              <a:t>和</a:t>
            </a:r>
            <a:r>
              <a:rPr lang="en-US" altLang="zh-CN" i="1" dirty="0"/>
              <a:t>m</a:t>
            </a:r>
            <a:r>
              <a:rPr lang="en-US" altLang="zh-CN" dirty="0">
                <a:latin typeface="Bahnschrift Condensed" panose="020B0502040204020203" pitchFamily="34" charset="0"/>
              </a:rPr>
              <a:t>’</a:t>
            </a:r>
            <a:r>
              <a:rPr lang="en-US" altLang="zh-CN" dirty="0"/>
              <a:t>, 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>
                <a:latin typeface="Bahnschrift Condensed" panose="020B0502040204020203" pitchFamily="34" charset="0"/>
              </a:rPr>
              <a:t>’</a:t>
            </a:r>
            <a:r>
              <a:rPr lang="en-US" altLang="zh-CN" dirty="0"/>
              <a:t>&gt;</a:t>
            </a:r>
            <a:r>
              <a:rPr lang="zh-CN" altLang="en-US" dirty="0"/>
              <a:t>是不同的子群。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若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 </a:t>
            </a:r>
            <a:r>
              <a:rPr lang="en-US" altLang="zh-CN" i="1" dirty="0"/>
              <a:t>n </a:t>
            </a:r>
            <a:r>
              <a:rPr lang="zh-CN" altLang="en-US" dirty="0"/>
              <a:t>阶循环群，则先求出</a:t>
            </a:r>
            <a:r>
              <a:rPr lang="en-US" altLang="zh-CN" dirty="0"/>
              <a:t>n</a:t>
            </a:r>
            <a:r>
              <a:rPr lang="zh-CN" altLang="en-US" dirty="0"/>
              <a:t>的所有正因子，对于每一个正因子</a:t>
            </a:r>
            <a:r>
              <a:rPr lang="en-US" altLang="zh-CN" i="1" dirty="0"/>
              <a:t>d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0066FF"/>
                </a:solidFill>
              </a:rPr>
              <a:t> &lt;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i="1" baseline="30000" dirty="0">
                <a:solidFill>
                  <a:srgbClr val="0066FF"/>
                </a:solidFill>
              </a:rPr>
              <a:t>n</a:t>
            </a:r>
            <a:r>
              <a:rPr lang="en-US" altLang="zh-CN" baseline="30000" dirty="0">
                <a:solidFill>
                  <a:srgbClr val="0066FF"/>
                </a:solidFill>
              </a:rPr>
              <a:t>/</a:t>
            </a:r>
            <a:r>
              <a:rPr lang="en-US" altLang="zh-CN" i="1" baseline="30000" dirty="0">
                <a:solidFill>
                  <a:srgbClr val="0066FF"/>
                </a:solidFill>
              </a:rPr>
              <a:t>d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的唯一的</a:t>
            </a:r>
            <a:r>
              <a:rPr lang="en-US" altLang="zh-CN" i="1" dirty="0"/>
              <a:t>d</a:t>
            </a:r>
            <a:r>
              <a:rPr lang="zh-CN" altLang="en-US" dirty="0"/>
              <a:t>阶子群。</a:t>
            </a:r>
            <a:endParaRPr lang="zh-CN" altLang="en-US" dirty="0"/>
          </a:p>
        </p:txBody>
      </p:sp>
      <p:sp>
        <p:nvSpPr>
          <p:cNvPr id="3174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AA07291-4AB8-436A-A19F-21EBB23EEF1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A9B86B-A230-42CA-A3A8-2117D4A7EA52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975" cy="4822825"/>
          </a:xfrm>
        </p:spPr>
        <p:txBody>
          <a:bodyPr/>
          <a:lstStyle/>
          <a:p>
            <a:pPr eaLnBrk="1" hangingPunct="1"/>
            <a:r>
              <a:rPr lang="en-US" altLang="zh-CN" dirty="0"/>
              <a:t>(1)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=&lt;Z,+&gt;</a:t>
            </a:r>
            <a:r>
              <a:rPr lang="zh-CN" altLang="en-US" dirty="0"/>
              <a:t>是整数加群，求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的所有子群。</a:t>
            </a:r>
            <a:endParaRPr lang="zh-CN" altLang="en-US" dirty="0"/>
          </a:p>
          <a:p>
            <a:pPr eaLnBrk="1" hangingPunct="1"/>
            <a:r>
              <a:rPr lang="zh-CN" altLang="en-US" dirty="0"/>
              <a:t>解： 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=&lt;Z,+&gt;</a:t>
            </a:r>
            <a:r>
              <a:rPr lang="zh-CN" altLang="en-US" dirty="0"/>
              <a:t>是无限循环群，其生成元为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1. </a:t>
            </a:r>
            <a:endParaRPr lang="en-US" altLang="zh-CN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</a:rPr>
              <a:t>&lt;0&gt; = {0}</a:t>
            </a:r>
            <a:r>
              <a:rPr lang="zh-CN" altLang="en-US" dirty="0">
                <a:solidFill>
                  <a:schemeClr val="accent2"/>
                </a:solidFill>
              </a:rPr>
              <a:t>是有限子群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对于正整数</a:t>
            </a:r>
            <a:r>
              <a:rPr lang="en-US" altLang="zh-CN" i="1" dirty="0" err="1"/>
              <a:t>m</a:t>
            </a:r>
            <a:r>
              <a:rPr lang="en-US" altLang="zh-CN" dirty="0" err="1"/>
              <a:t>∈Z</a:t>
            </a:r>
            <a:r>
              <a:rPr lang="en-US" altLang="zh-CN" baseline="30000" dirty="0"/>
              <a:t>+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的</a:t>
            </a:r>
            <a:r>
              <a:rPr lang="en-US" altLang="zh-CN" i="1" dirty="0"/>
              <a:t>m</a:t>
            </a:r>
            <a:r>
              <a:rPr lang="zh-CN" altLang="en-US" dirty="0"/>
              <a:t>次幂是</a:t>
            </a:r>
            <a:r>
              <a:rPr lang="en-US" altLang="zh-CN" i="1" dirty="0"/>
              <a:t>m</a:t>
            </a:r>
            <a:r>
              <a:rPr lang="zh-CN" altLang="en-US" dirty="0"/>
              <a:t>，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m</a:t>
            </a:r>
            <a:r>
              <a:rPr lang="zh-CN" altLang="en-US" dirty="0"/>
              <a:t>生成的子群是</a:t>
            </a:r>
            <a:r>
              <a:rPr lang="en-US" altLang="zh-CN" i="1" dirty="0" err="1"/>
              <a:t>m</a:t>
            </a:r>
            <a:r>
              <a:rPr lang="en-US" altLang="zh-CN" dirty="0" err="1"/>
              <a:t>Z</a:t>
            </a:r>
            <a:r>
              <a:rPr lang="zh-CN" altLang="en-US" dirty="0"/>
              <a:t>，</a:t>
            </a:r>
            <a:r>
              <a:rPr lang="en-US" altLang="zh-CN" i="1" dirty="0" err="1"/>
              <a:t>m</a:t>
            </a:r>
            <a:r>
              <a:rPr lang="en-US" altLang="zh-CN" dirty="0" err="1"/>
              <a:t>∈Z</a:t>
            </a:r>
            <a:r>
              <a:rPr lang="en-US" altLang="zh-CN" baseline="30000" dirty="0"/>
              <a:t>+</a:t>
            </a:r>
            <a:r>
              <a:rPr lang="en-US" altLang="zh-CN" dirty="0"/>
              <a:t>. </a:t>
            </a:r>
            <a:r>
              <a:rPr lang="zh-CN" altLang="en-US" dirty="0"/>
              <a:t>即</a:t>
            </a:r>
            <a:endParaRPr lang="zh-CN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2"/>
                </a:solidFill>
              </a:rPr>
              <a:t>&lt;</a:t>
            </a:r>
            <a:r>
              <a:rPr lang="en-US" altLang="zh-CN" i="1" dirty="0">
                <a:solidFill>
                  <a:schemeClr val="accent2"/>
                </a:solidFill>
              </a:rPr>
              <a:t>m</a:t>
            </a:r>
            <a:r>
              <a:rPr lang="en-US" altLang="zh-CN" dirty="0">
                <a:solidFill>
                  <a:schemeClr val="accent2"/>
                </a:solidFill>
              </a:rPr>
              <a:t>&gt; = {</a:t>
            </a:r>
            <a:r>
              <a:rPr lang="en-US" altLang="zh-CN" i="1" dirty="0" err="1">
                <a:solidFill>
                  <a:schemeClr val="accent2"/>
                </a:solidFill>
              </a:rPr>
              <a:t>mz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chemeClr val="accent2"/>
                </a:solidFill>
              </a:rPr>
              <a:t>| </a:t>
            </a:r>
            <a:r>
              <a:rPr lang="en-US" altLang="zh-CN" i="1" dirty="0" err="1">
                <a:solidFill>
                  <a:schemeClr val="accent2"/>
                </a:solidFill>
              </a:rPr>
              <a:t>z</a:t>
            </a:r>
            <a:r>
              <a:rPr lang="en-US" altLang="zh-CN" dirty="0" err="1">
                <a:solidFill>
                  <a:schemeClr val="accent2"/>
                </a:solidFill>
              </a:rPr>
              <a:t>∈Z</a:t>
            </a:r>
            <a:r>
              <a:rPr lang="en-US" altLang="zh-CN" dirty="0">
                <a:solidFill>
                  <a:schemeClr val="accent2"/>
                </a:solidFill>
              </a:rPr>
              <a:t>, </a:t>
            </a:r>
            <a:r>
              <a:rPr lang="en-US" altLang="zh-CN" i="1" dirty="0" err="1">
                <a:solidFill>
                  <a:schemeClr val="accent2"/>
                </a:solidFill>
              </a:rPr>
              <a:t>m</a:t>
            </a:r>
            <a:r>
              <a:rPr lang="en-US" altLang="zh-CN" dirty="0" err="1">
                <a:solidFill>
                  <a:schemeClr val="accent2"/>
                </a:solidFill>
              </a:rPr>
              <a:t>∈Z</a:t>
            </a:r>
            <a:r>
              <a:rPr lang="en-US" altLang="zh-CN" baseline="30000" dirty="0">
                <a:solidFill>
                  <a:schemeClr val="accent2"/>
                </a:solidFill>
              </a:rPr>
              <a:t>+</a:t>
            </a:r>
            <a:r>
              <a:rPr lang="en-US" altLang="zh-CN" dirty="0">
                <a:solidFill>
                  <a:schemeClr val="accent2"/>
                </a:solidFill>
              </a:rPr>
              <a:t>}</a:t>
            </a:r>
            <a:r>
              <a:rPr lang="zh-CN" altLang="en-US" dirty="0">
                <a:solidFill>
                  <a:schemeClr val="accent2"/>
                </a:solidFill>
              </a:rPr>
              <a:t>是无限子群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实例：</a:t>
            </a:r>
            <a:r>
              <a:rPr lang="en-US" altLang="zh-CN" sz="2800"/>
              <a:t>(2) </a:t>
            </a:r>
            <a:r>
              <a:rPr lang="zh-CN" altLang="en-US" sz="2800"/>
              <a:t>设</a:t>
            </a:r>
            <a:r>
              <a:rPr lang="en-US" altLang="zh-CN" sz="2800" i="1"/>
              <a:t>G</a:t>
            </a:r>
            <a:r>
              <a:rPr lang="en-US" altLang="zh-CN" sz="2800" baseline="-25000"/>
              <a:t>2</a:t>
            </a:r>
            <a:r>
              <a:rPr lang="en-US" altLang="zh-CN" sz="2800"/>
              <a:t>=&lt;Z</a:t>
            </a:r>
            <a:r>
              <a:rPr lang="en-US" altLang="zh-CN" sz="2800" baseline="-25000"/>
              <a:t>12</a:t>
            </a:r>
            <a:r>
              <a:rPr lang="en-US" altLang="zh-CN" sz="2800"/>
              <a:t>, </a:t>
            </a:r>
            <a:r>
              <a:rPr lang="en-US" altLang="zh-CN" sz="2800">
                <a:sym typeface="Symbol" panose="05050102010706020507" pitchFamily="18" charset="2"/>
              </a:rPr>
              <a:t>&gt;</a:t>
            </a:r>
            <a:r>
              <a:rPr lang="zh-CN" altLang="en-US" sz="2800"/>
              <a:t>，求</a:t>
            </a:r>
            <a:r>
              <a:rPr lang="en-US" altLang="zh-CN" sz="2800" i="1"/>
              <a:t>G</a:t>
            </a:r>
            <a:r>
              <a:rPr lang="en-US" altLang="zh-CN" sz="2800" baseline="-25000"/>
              <a:t>2</a:t>
            </a:r>
            <a:r>
              <a:rPr lang="zh-CN" altLang="en-US" sz="2800"/>
              <a:t>的所有子群。</a:t>
            </a:r>
            <a:endParaRPr lang="zh-CN" altLang="en-US" sz="2800"/>
          </a:p>
        </p:txBody>
      </p:sp>
      <p:sp>
        <p:nvSpPr>
          <p:cNvPr id="337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9F48007-ED4E-4212-96B9-6CEE89A4ACE3}" type="slidenum">
              <a:rPr lang="en-US" altLang="zh-CN" smtClean="0"/>
            </a:fld>
            <a:endParaRPr lang="en-US" altLang="zh-CN"/>
          </a:p>
        </p:txBody>
      </p:sp>
      <p:pic>
        <p:nvPicPr>
          <p:cNvPr id="33796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1379538"/>
            <a:ext cx="6599237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261473" y="6243638"/>
            <a:ext cx="6180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小于</a:t>
            </a: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r>
              <a:rPr lang="zh-CN" altLang="en-US" sz="2400" b="1" dirty="0">
                <a:latin typeface="Arial" panose="020B0604020202020204" pitchFamily="34" charset="0"/>
              </a:rPr>
              <a:t>且与</a:t>
            </a:r>
            <a:r>
              <a:rPr lang="en-US" altLang="zh-CN" sz="2400" b="1" dirty="0">
                <a:latin typeface="Arial" panose="020B0604020202020204" pitchFamily="34" charset="0"/>
              </a:rPr>
              <a:t>12</a:t>
            </a:r>
            <a:r>
              <a:rPr lang="zh-CN" altLang="en-US" sz="2400" b="1" dirty="0">
                <a:latin typeface="Arial" panose="020B0604020202020204" pitchFamily="34" charset="0"/>
              </a:rPr>
              <a:t>互素的正整数有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个：</a:t>
            </a:r>
            <a:r>
              <a:rPr lang="en-US" altLang="zh-CN" sz="2400" b="1" dirty="0">
                <a:latin typeface="Arial" panose="020B0604020202020204" pitchFamily="34" charset="0"/>
              </a:rPr>
              <a:t>1,5,7,11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D9FD7C-4CFC-4640-A8A2-45890605DC80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017" y="1313656"/>
            <a:ext cx="9036495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解：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=&lt;Z</a:t>
            </a:r>
            <a:r>
              <a:rPr lang="en-US" altLang="zh-CN" baseline="-25000" dirty="0"/>
              <a:t>12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&gt;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>
                <a:sym typeface="Symbol" panose="05050102010706020507" pitchFamily="18" charset="2"/>
              </a:rPr>
              <a:t>12</a:t>
            </a:r>
            <a:r>
              <a:rPr lang="zh-CN" altLang="en-US" dirty="0"/>
              <a:t>阶循环群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dirty="0"/>
              <a:t>            生成元是</a:t>
            </a:r>
            <a:r>
              <a:rPr lang="en-US" altLang="zh-CN" dirty="0"/>
              <a:t>1,5,7,11</a:t>
            </a:r>
            <a:r>
              <a:rPr lang="zh-CN" altLang="en-US" dirty="0"/>
              <a:t>，取</a:t>
            </a:r>
            <a:r>
              <a:rPr lang="en-US" altLang="zh-CN" sz="3200" i="1" dirty="0">
                <a:solidFill>
                  <a:srgbClr val="3366FF"/>
                </a:solidFill>
              </a:rPr>
              <a:t>a</a:t>
            </a:r>
            <a:r>
              <a:rPr lang="en-US" altLang="zh-CN" dirty="0">
                <a:solidFill>
                  <a:srgbClr val="3366FF"/>
                </a:solidFill>
              </a:rPr>
              <a:t>=1</a:t>
            </a:r>
            <a:endParaRPr lang="en-US" altLang="zh-CN" dirty="0">
              <a:solidFill>
                <a:srgbClr val="3366FF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12</a:t>
            </a:r>
            <a:r>
              <a:rPr lang="zh-CN" altLang="en-US" dirty="0"/>
              <a:t>正因子是</a:t>
            </a:r>
            <a:r>
              <a:rPr lang="en-US" altLang="zh-CN" dirty="0">
                <a:solidFill>
                  <a:srgbClr val="FF0000"/>
                </a:solidFill>
              </a:rPr>
              <a:t>1,2,3,4,6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zh-CN" altLang="en-US" dirty="0"/>
              <a:t>，则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zh-CN" altLang="en-US" dirty="0"/>
              <a:t>的子群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12/1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&lt;12&gt;=&lt;0&gt;={0}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 1</a:t>
            </a:r>
            <a:r>
              <a:rPr lang="zh-CN" altLang="en-US" sz="2800" dirty="0"/>
              <a:t>阶子群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12/2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&lt;6&gt;={0,6}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阶子群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12/3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&lt;4&gt;={0,4,8}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/>
              <a:t>阶子群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12/4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&lt;3&gt;={0,3,6,9}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zh-CN" altLang="en-US" sz="2800" dirty="0"/>
              <a:t>阶子群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6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12/6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&lt;2&gt;={0,2,4,6,8,10}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6</a:t>
            </a:r>
            <a:r>
              <a:rPr lang="zh-CN" altLang="en-US" sz="2800" dirty="0"/>
              <a:t>阶子群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当</a:t>
            </a:r>
            <a:r>
              <a:rPr lang="en-US" altLang="zh-CN" sz="2800" dirty="0"/>
              <a:t>d=</a:t>
            </a:r>
            <a:r>
              <a:rPr lang="en-US" altLang="zh-CN" sz="2800" dirty="0">
                <a:solidFill>
                  <a:srgbClr val="FF0000"/>
                </a:solidFill>
              </a:rPr>
              <a:t>12</a:t>
            </a:r>
            <a:r>
              <a:rPr lang="zh-CN" altLang="en-US" sz="2800" dirty="0"/>
              <a:t>时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&lt;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800" baseline="30000" dirty="0">
                <a:solidFill>
                  <a:srgbClr val="0066FF"/>
                </a:solidFill>
              </a:rPr>
              <a:t>/</a:t>
            </a:r>
            <a:r>
              <a:rPr lang="en-US" altLang="zh-CN" sz="28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800" dirty="0">
                <a:solidFill>
                  <a:srgbClr val="0066FF"/>
                </a:solidFill>
              </a:rPr>
              <a:t>&gt; =&lt;1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12/12</a:t>
            </a:r>
            <a:r>
              <a:rPr lang="en-US" altLang="zh-CN" sz="2800" dirty="0">
                <a:solidFill>
                  <a:srgbClr val="0066FF"/>
                </a:solidFill>
              </a:rPr>
              <a:t>&gt;=</a:t>
            </a:r>
            <a:r>
              <a:rPr lang="en-US" altLang="zh-CN" sz="2800" dirty="0"/>
              <a:t>&lt;1&gt;=Z</a:t>
            </a:r>
            <a:r>
              <a:rPr lang="en-US" altLang="zh-CN" sz="2800" baseline="-25000" dirty="0"/>
              <a:t>12</a:t>
            </a:r>
            <a:r>
              <a:rPr lang="zh-CN" altLang="en-US" sz="2800" dirty="0"/>
              <a:t>是</a:t>
            </a:r>
            <a:r>
              <a:rPr lang="en-US" altLang="zh-CN" sz="2800" dirty="0">
                <a:solidFill>
                  <a:srgbClr val="FF0000"/>
                </a:solidFill>
              </a:rPr>
              <a:t>12</a:t>
            </a:r>
            <a:r>
              <a:rPr lang="zh-CN" altLang="en-US" sz="2800" dirty="0"/>
              <a:t>阶子群</a:t>
            </a:r>
            <a:endParaRPr lang="en-US" altLang="zh-CN" sz="2800" dirty="0"/>
          </a:p>
        </p:txBody>
      </p:sp>
      <p:sp>
        <p:nvSpPr>
          <p:cNvPr id="34820" name="标题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实例：</a:t>
            </a:r>
            <a:r>
              <a:rPr lang="en-US" altLang="zh-CN" sz="2800" dirty="0"/>
              <a:t>(2) </a:t>
            </a:r>
            <a:r>
              <a:rPr lang="zh-CN" altLang="en-US" sz="2800" dirty="0"/>
              <a:t>设</a:t>
            </a:r>
            <a:r>
              <a:rPr lang="en-US" altLang="zh-CN" sz="2800" i="1" dirty="0"/>
              <a:t>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=&lt;Z</a:t>
            </a:r>
            <a:r>
              <a:rPr lang="en-US" altLang="zh-CN" sz="2800" baseline="-25000" dirty="0"/>
              <a:t>12</a:t>
            </a:r>
            <a:r>
              <a:rPr lang="en-US" altLang="zh-CN" sz="2800" dirty="0"/>
              <a:t>, </a:t>
            </a:r>
            <a:r>
              <a:rPr lang="en-US" altLang="zh-CN" sz="2800" dirty="0">
                <a:sym typeface="Symbol" panose="05050102010706020507" pitchFamily="18" charset="2"/>
              </a:rPr>
              <a:t>&gt;</a:t>
            </a:r>
            <a:r>
              <a:rPr lang="zh-CN" altLang="en-US" sz="2800" dirty="0"/>
              <a:t>，求</a:t>
            </a:r>
            <a:r>
              <a:rPr lang="en-US" altLang="zh-CN" sz="2800" i="1" dirty="0"/>
              <a:t>G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的所有子群。</a:t>
            </a:r>
            <a:endParaRPr lang="zh-CN" altLang="en-US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回看旋转群</a:t>
            </a:r>
            <a:r>
              <a:rPr lang="en-US" altLang="zh-CN" dirty="0"/>
              <a:t>&lt;</a:t>
            </a:r>
            <a:r>
              <a:rPr lang="en-US" altLang="zh-CN" sz="4000" i="1" dirty="0"/>
              <a:t>G</a:t>
            </a:r>
            <a:r>
              <a:rPr lang="en-US" altLang="zh-CN" dirty="0"/>
              <a:t>,</a:t>
            </a:r>
            <a:r>
              <a:rPr lang="zh-CN" altLang="en-US" dirty="0"/>
              <a:t>*</a:t>
            </a:r>
            <a:r>
              <a:rPr lang="en-US" altLang="zh-CN" dirty="0"/>
              <a:t>&gt;</a:t>
            </a:r>
            <a:r>
              <a:rPr lang="zh-CN" altLang="en-US" dirty="0"/>
              <a:t>，求其所有子群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3200" y="1144563"/>
            <a:ext cx="2174256" cy="134833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解：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i="1" dirty="0"/>
              <a:t>G</a:t>
            </a:r>
            <a:r>
              <a:rPr lang="en-US" altLang="zh-CN" sz="2400" dirty="0"/>
              <a:t>=&lt;60&gt;</a:t>
            </a:r>
            <a:r>
              <a:rPr lang="zh-CN" altLang="en-US" sz="2400" dirty="0"/>
              <a:t>是</a:t>
            </a:r>
            <a:r>
              <a:rPr lang="en-US" altLang="zh-CN" sz="2400" dirty="0"/>
              <a:t>6</a:t>
            </a:r>
            <a:r>
              <a:rPr lang="zh-CN" altLang="en-US" sz="2400" dirty="0"/>
              <a:t>阶循环群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2953"/>
          <a:stretch>
            <a:fillRect/>
          </a:stretch>
        </p:blipFill>
        <p:spPr>
          <a:xfrm>
            <a:off x="342503" y="1169589"/>
            <a:ext cx="6181725" cy="2366392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 bwMode="auto">
          <a:xfrm>
            <a:off x="342503" y="3627121"/>
            <a:ext cx="7834834" cy="311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 dirty="0"/>
              <a:t>小于</a:t>
            </a:r>
            <a:r>
              <a:rPr lang="en-US" altLang="zh-CN" sz="2400" kern="0" dirty="0"/>
              <a:t>6</a:t>
            </a:r>
            <a:r>
              <a:rPr lang="zh-CN" altLang="en-US" sz="2400" kern="0" dirty="0"/>
              <a:t>且与</a:t>
            </a:r>
            <a:r>
              <a:rPr lang="en-US" altLang="zh-CN" sz="2400" kern="0" dirty="0"/>
              <a:t>6</a:t>
            </a:r>
            <a:r>
              <a:rPr lang="zh-CN" altLang="en-US" sz="2400" kern="0" dirty="0"/>
              <a:t>互素的正整数有</a:t>
            </a:r>
            <a:r>
              <a:rPr lang="en-US" altLang="zh-CN" sz="2400" kern="0" dirty="0"/>
              <a:t>2</a:t>
            </a:r>
            <a:r>
              <a:rPr lang="zh-CN" altLang="en-US" sz="2400" kern="0" dirty="0"/>
              <a:t>个： </a:t>
            </a:r>
            <a:r>
              <a:rPr lang="en-US" altLang="zh-CN" sz="2400" kern="0" dirty="0"/>
              <a:t>1,5</a:t>
            </a:r>
            <a:r>
              <a:rPr lang="zh-CN" altLang="en-US" sz="2400" kern="0" dirty="0"/>
              <a:t>，所以</a:t>
            </a:r>
            <a:r>
              <a:rPr lang="zh-CN" altLang="en-US" sz="2400" i="1" kern="0" dirty="0">
                <a:sym typeface="Symbol" panose="05050102010706020507" pitchFamily="18" charset="2"/>
              </a:rPr>
              <a:t></a:t>
            </a:r>
            <a:r>
              <a:rPr lang="en-US" altLang="zh-CN" sz="2400" kern="0" dirty="0"/>
              <a:t>(6)=2</a:t>
            </a:r>
            <a:endParaRPr lang="en-US" altLang="zh-CN" sz="2400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 dirty="0"/>
              <a:t>有</a:t>
            </a:r>
            <a:r>
              <a:rPr lang="en-US" altLang="zh-CN" sz="2400" kern="0" dirty="0"/>
              <a:t>2</a:t>
            </a:r>
            <a:r>
              <a:rPr lang="zh-CN" altLang="en-US" sz="2400" kern="0" dirty="0"/>
              <a:t>个生成元：</a:t>
            </a:r>
            <a:r>
              <a:rPr lang="en-US" altLang="zh-CN" sz="2400" kern="0" dirty="0"/>
              <a:t>60</a:t>
            </a:r>
            <a:r>
              <a:rPr lang="zh-CN" altLang="en-US" sz="2400" kern="0" dirty="0"/>
              <a:t>和</a:t>
            </a:r>
            <a:r>
              <a:rPr lang="en-US" altLang="zh-CN" sz="2400" kern="0" dirty="0"/>
              <a:t>300. </a:t>
            </a:r>
            <a:endParaRPr lang="en-US" altLang="zh-CN" sz="2400" kern="0" dirty="0"/>
          </a:p>
          <a:p>
            <a:pPr marL="0" indent="0">
              <a:buNone/>
            </a:pPr>
            <a:r>
              <a:rPr lang="en-US" altLang="zh-CN" sz="2400" kern="0" dirty="0"/>
              <a:t>6</a:t>
            </a:r>
            <a:r>
              <a:rPr lang="zh-CN" altLang="en-US" sz="2400" kern="0" dirty="0"/>
              <a:t>的正因子是</a:t>
            </a:r>
            <a:r>
              <a:rPr lang="en-US" altLang="zh-CN" sz="2400" kern="0" dirty="0">
                <a:solidFill>
                  <a:srgbClr val="FF0000"/>
                </a:solidFill>
              </a:rPr>
              <a:t>1,2,3,6</a:t>
            </a:r>
            <a:r>
              <a:rPr lang="zh-CN" altLang="en-US" sz="2400" kern="0" dirty="0"/>
              <a:t>，则</a:t>
            </a:r>
            <a:r>
              <a:rPr lang="en-US" altLang="zh-CN" sz="2400" i="1" kern="0" dirty="0"/>
              <a:t>G</a:t>
            </a:r>
            <a:r>
              <a:rPr lang="zh-CN" altLang="en-US" sz="2400" kern="0" dirty="0"/>
              <a:t>的子群（取</a:t>
            </a:r>
            <a:r>
              <a:rPr lang="en-US" altLang="zh-CN" sz="2400" kern="0" dirty="0"/>
              <a:t>a=60</a:t>
            </a:r>
            <a:r>
              <a:rPr lang="zh-CN" altLang="en-US" sz="2400" kern="0" dirty="0"/>
              <a:t>）：</a:t>
            </a:r>
            <a:endParaRPr lang="en-US" altLang="zh-CN" sz="2400" kern="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d=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/>
              <a:t>时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dirty="0">
                <a:solidFill>
                  <a:srgbClr val="0066FF"/>
                </a:solidFill>
              </a:rPr>
              <a:t>&gt; =&lt;60</a:t>
            </a:r>
            <a:r>
              <a:rPr lang="en-US" altLang="zh-CN" sz="2400" baseline="30000" dirty="0">
                <a:solidFill>
                  <a:srgbClr val="0066FF"/>
                </a:solidFill>
              </a:rPr>
              <a:t>6/1</a:t>
            </a:r>
            <a:r>
              <a:rPr lang="en-US" altLang="zh-CN" sz="2400" dirty="0">
                <a:solidFill>
                  <a:srgbClr val="0066FF"/>
                </a:solidFill>
              </a:rPr>
              <a:t>&gt;=</a:t>
            </a:r>
            <a:r>
              <a:rPr lang="en-US" altLang="zh-CN" sz="2400" dirty="0"/>
              <a:t>&lt;0&gt;={0}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 1</a:t>
            </a:r>
            <a:r>
              <a:rPr lang="zh-CN" altLang="en-US" sz="2400" dirty="0"/>
              <a:t>阶子群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d=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时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dirty="0">
                <a:solidFill>
                  <a:srgbClr val="0066FF"/>
                </a:solidFill>
              </a:rPr>
              <a:t>&gt; =&lt;60</a:t>
            </a:r>
            <a:r>
              <a:rPr lang="en-US" altLang="zh-CN" sz="2400" baseline="30000" dirty="0">
                <a:solidFill>
                  <a:srgbClr val="0066FF"/>
                </a:solidFill>
              </a:rPr>
              <a:t>6/2</a:t>
            </a:r>
            <a:r>
              <a:rPr lang="en-US" altLang="zh-CN" sz="2400" dirty="0">
                <a:solidFill>
                  <a:srgbClr val="0066FF"/>
                </a:solidFill>
              </a:rPr>
              <a:t>&gt;=</a:t>
            </a:r>
            <a:r>
              <a:rPr lang="en-US" altLang="zh-CN" sz="2400" dirty="0"/>
              <a:t>&lt;180&gt;={0,180}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阶子群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d=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/>
              <a:t>时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dirty="0">
                <a:solidFill>
                  <a:srgbClr val="0066FF"/>
                </a:solidFill>
              </a:rPr>
              <a:t>&gt; =&lt;60</a:t>
            </a:r>
            <a:r>
              <a:rPr lang="en-US" altLang="zh-CN" sz="2400" baseline="30000" dirty="0">
                <a:solidFill>
                  <a:srgbClr val="0066FF"/>
                </a:solidFill>
              </a:rPr>
              <a:t>6/3</a:t>
            </a:r>
            <a:r>
              <a:rPr lang="en-US" altLang="zh-CN" sz="2400" dirty="0">
                <a:solidFill>
                  <a:srgbClr val="0066FF"/>
                </a:solidFill>
              </a:rPr>
              <a:t>&gt;=</a:t>
            </a:r>
            <a:r>
              <a:rPr lang="en-US" altLang="zh-CN" sz="2400" dirty="0"/>
              <a:t>&lt;120&gt;={0,120,240}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/>
              <a:t>阶子群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en-US" altLang="zh-CN" sz="2400" dirty="0"/>
              <a:t>d=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zh-CN" altLang="en-US" sz="2400" dirty="0"/>
              <a:t>时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n</a:t>
            </a:r>
            <a:r>
              <a:rPr lang="en-US" altLang="zh-CN" sz="2400" baseline="30000" dirty="0">
                <a:solidFill>
                  <a:srgbClr val="0066FF"/>
                </a:solidFill>
              </a:rPr>
              <a:t>/</a:t>
            </a:r>
            <a:r>
              <a:rPr lang="en-US" altLang="zh-CN" sz="2400" i="1" baseline="30000" dirty="0">
                <a:solidFill>
                  <a:srgbClr val="0066FF"/>
                </a:solidFill>
              </a:rPr>
              <a:t>d</a:t>
            </a:r>
            <a:r>
              <a:rPr lang="en-US" altLang="zh-CN" sz="2400" dirty="0">
                <a:solidFill>
                  <a:srgbClr val="0066FF"/>
                </a:solidFill>
              </a:rPr>
              <a:t>&gt; =&lt;60</a:t>
            </a:r>
            <a:r>
              <a:rPr lang="en-US" altLang="zh-CN" sz="2400" baseline="30000" dirty="0">
                <a:solidFill>
                  <a:srgbClr val="0066FF"/>
                </a:solidFill>
              </a:rPr>
              <a:t>6/6</a:t>
            </a:r>
            <a:r>
              <a:rPr lang="en-US" altLang="zh-CN" sz="2400" dirty="0">
                <a:solidFill>
                  <a:srgbClr val="0066FF"/>
                </a:solidFill>
              </a:rPr>
              <a:t>&gt;=</a:t>
            </a:r>
            <a:r>
              <a:rPr lang="en-US" altLang="zh-CN" sz="2400" dirty="0"/>
              <a:t>&lt;60&gt;=</a:t>
            </a:r>
            <a:r>
              <a:rPr lang="en-US" altLang="zh-CN" sz="2400" i="1" dirty="0"/>
              <a:t>G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r>
              <a:rPr lang="zh-CN" altLang="en-US" sz="2400" dirty="0"/>
              <a:t>阶子群</a:t>
            </a:r>
            <a:endParaRPr lang="en-US" altLang="zh-CN" sz="2400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356DA9-F272-450B-BF0C-3D022E267CCD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n </a:t>
            </a:r>
            <a:r>
              <a:rPr lang="zh-CN" altLang="en-US"/>
              <a:t>元置换</a:t>
            </a:r>
            <a:endParaRPr lang="zh-CN" alt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10.11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S </a:t>
            </a:r>
            <a:r>
              <a:rPr lang="en-US" altLang="zh-CN" dirty="0"/>
              <a:t>= {1, 2, …, </a:t>
            </a:r>
            <a:r>
              <a:rPr lang="en-US" altLang="zh-CN" i="1" dirty="0"/>
              <a:t>n</a:t>
            </a:r>
            <a:r>
              <a:rPr lang="en-US" altLang="zh-CN" dirty="0"/>
              <a:t>}, </a:t>
            </a:r>
            <a:r>
              <a:rPr lang="en-US" altLang="zh-CN" i="1" dirty="0"/>
              <a:t>S</a:t>
            </a:r>
            <a:r>
              <a:rPr lang="zh-CN" altLang="en-US" dirty="0"/>
              <a:t>上的任何双射函数</a:t>
            </a:r>
            <a:r>
              <a:rPr lang="en-US" altLang="zh-CN" i="1" dirty="0"/>
              <a:t>σ</a:t>
            </a:r>
            <a:r>
              <a:rPr lang="en-US" altLang="zh-CN" dirty="0"/>
              <a:t>:</a:t>
            </a:r>
            <a:r>
              <a:rPr lang="en-US" altLang="zh-CN" i="1" dirty="0"/>
              <a:t>S</a:t>
            </a:r>
            <a:r>
              <a:rPr lang="en-US" altLang="zh-CN" dirty="0"/>
              <a:t>→</a:t>
            </a:r>
            <a:r>
              <a:rPr lang="en-US" altLang="zh-CN" i="1" dirty="0"/>
              <a:t>S </a:t>
            </a:r>
            <a:r>
              <a:rPr lang="zh-CN" altLang="en-US" dirty="0"/>
              <a:t>称为</a:t>
            </a:r>
            <a:r>
              <a:rPr lang="en-US" altLang="zh-CN" i="1" dirty="0"/>
              <a:t>S</a:t>
            </a:r>
            <a:r>
              <a:rPr lang="zh-CN" altLang="en-US" dirty="0"/>
              <a:t>上的</a:t>
            </a:r>
            <a:r>
              <a:rPr lang="en-US" altLang="zh-CN" i="1" dirty="0">
                <a:solidFill>
                  <a:srgbClr val="A50021"/>
                </a:solidFill>
              </a:rPr>
              <a:t>n</a:t>
            </a:r>
            <a:r>
              <a:rPr lang="zh-CN" altLang="en-US" dirty="0">
                <a:solidFill>
                  <a:srgbClr val="A50021"/>
                </a:solidFill>
              </a:rPr>
              <a:t>元置换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zh-CN" altLang="en-US" dirty="0"/>
              <a:t>例如 </a:t>
            </a:r>
            <a:r>
              <a:rPr lang="en-US" altLang="zh-CN" i="1" dirty="0"/>
              <a:t>S</a:t>
            </a:r>
            <a:r>
              <a:rPr lang="en-US" altLang="zh-CN" dirty="0"/>
              <a:t>={1, 2, 3, 4, 5}, </a:t>
            </a:r>
            <a:r>
              <a:rPr lang="zh-CN" altLang="en-US" dirty="0"/>
              <a:t>下述为</a:t>
            </a:r>
            <a:r>
              <a:rPr lang="en-US" altLang="zh-CN" dirty="0"/>
              <a:t>5</a:t>
            </a:r>
            <a:r>
              <a:rPr lang="zh-CN" altLang="en-US" dirty="0"/>
              <a:t>元置换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598022" name="Object 6"/>
          <p:cNvGraphicFramePr>
            <a:graphicFrameLocks noChangeAspect="1"/>
          </p:cNvGraphicFramePr>
          <p:nvPr/>
        </p:nvGraphicFramePr>
        <p:xfrm>
          <a:off x="1187450" y="3141663"/>
          <a:ext cx="69850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2540000" imgH="469900" progId="Equation.3">
                  <p:embed/>
                </p:oleObj>
              </mc:Choice>
              <mc:Fallback>
                <p:oleObj name="公式" r:id="rId1" imgW="25400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141663"/>
                        <a:ext cx="69850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10"/>
          <p:cNvSpPr>
            <a:spLocks noChangeArrowheads="1"/>
          </p:cNvSpPr>
          <p:nvPr/>
        </p:nvSpPr>
        <p:spPr bwMode="auto">
          <a:xfrm>
            <a:off x="539750" y="4868863"/>
            <a:ext cx="611981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/>
              <a:t>n</a:t>
            </a:r>
            <a:r>
              <a:rPr lang="zh-CN" altLang="en-US"/>
              <a:t>元置换一共有</a:t>
            </a:r>
            <a:r>
              <a:rPr lang="en-US" altLang="zh-CN" i="1"/>
              <a:t>n</a:t>
            </a:r>
            <a:r>
              <a:rPr lang="en-US" altLang="zh-CN"/>
              <a:t>!</a:t>
            </a:r>
            <a:r>
              <a:rPr lang="zh-CN" altLang="en-US"/>
              <a:t>个。</a:t>
            </a:r>
            <a:endParaRPr lang="zh-CN" altLang="en-US"/>
          </a:p>
          <a:p>
            <a:pPr eaLnBrk="1" hangingPunct="1"/>
            <a:r>
              <a:rPr lang="zh-CN" altLang="en-US"/>
              <a:t>恒等置换：</a:t>
            </a:r>
            <a:r>
              <a:rPr lang="en-US" altLang="zh-CN" i="1"/>
              <a:t>S</a:t>
            </a:r>
            <a:r>
              <a:rPr lang="zh-CN" altLang="en-US"/>
              <a:t>上的恒等函数。</a:t>
            </a:r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群的性质</a:t>
            </a:r>
            <a:r>
              <a:rPr lang="en-US" altLang="zh-CN"/>
              <a:t>——</a:t>
            </a:r>
            <a:r>
              <a:rPr lang="zh-CN" altLang="en-US"/>
              <a:t>置换性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定理：</a:t>
            </a:r>
            <a:r>
              <a:rPr lang="zh-CN" altLang="en-US" sz="2900">
                <a:solidFill>
                  <a:srgbClr val="000000"/>
                </a:solidFill>
              </a:rPr>
              <a:t>群</a:t>
            </a:r>
            <a:r>
              <a:rPr lang="en-US" altLang="zh-CN" sz="2900">
                <a:solidFill>
                  <a:srgbClr val="000000"/>
                </a:solidFill>
              </a:rPr>
              <a:t>&lt; </a:t>
            </a:r>
            <a:r>
              <a:rPr lang="en-US" altLang="zh-CN" sz="2900" i="1">
                <a:solidFill>
                  <a:srgbClr val="000000"/>
                </a:solidFill>
              </a:rPr>
              <a:t>G</a:t>
            </a:r>
            <a:r>
              <a:rPr lang="en-US" altLang="zh-CN" sz="2900">
                <a:solidFill>
                  <a:srgbClr val="000000"/>
                </a:solidFill>
              </a:rPr>
              <a:t> , </a:t>
            </a:r>
            <a:r>
              <a:rPr lang="en-US" altLang="zh-CN" sz="290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900">
                <a:solidFill>
                  <a:srgbClr val="000000"/>
                </a:solidFill>
              </a:rPr>
              <a:t>的运算表中的每一行或每一列都是 </a:t>
            </a:r>
            <a:r>
              <a:rPr lang="en-US" altLang="zh-CN" sz="2900" i="1">
                <a:solidFill>
                  <a:srgbClr val="000000"/>
                </a:solidFill>
              </a:rPr>
              <a:t>G </a:t>
            </a:r>
            <a:r>
              <a:rPr lang="zh-CN" altLang="en-US" sz="2900">
                <a:solidFill>
                  <a:srgbClr val="000000"/>
                </a:solidFill>
              </a:rPr>
              <a:t>的元素的一个置换。</a:t>
            </a:r>
            <a:endParaRPr lang="zh-CN" altLang="en-US" sz="2900">
              <a:solidFill>
                <a:srgbClr val="000000"/>
              </a:solidFill>
            </a:endParaRPr>
          </a:p>
          <a:p>
            <a:endParaRPr lang="zh-CN" altLang="en-US"/>
          </a:p>
        </p:txBody>
      </p:sp>
      <p:sp>
        <p:nvSpPr>
          <p:cNvPr id="199684" name="Rectangle 4"/>
          <p:cNvSpPr>
            <a:spLocks noChangeArrowheads="1"/>
          </p:cNvSpPr>
          <p:nvPr/>
        </p:nvSpPr>
        <p:spPr bwMode="auto">
          <a:xfrm>
            <a:off x="400050" y="2428875"/>
            <a:ext cx="642938" cy="1190625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FFFF"/>
                </a:solidFill>
                <a:ea typeface="楷体_GB2312" pitchFamily="49" charset="-122"/>
              </a:rPr>
              <a:t>证明</a:t>
            </a:r>
            <a:endParaRPr kumimoji="1" lang="zh-CN" altLang="en-US" sz="3600">
              <a:solidFill>
                <a:srgbClr val="FFFFFF"/>
              </a:solidFill>
              <a:ea typeface="楷体_GB2312" pitchFamily="49" charset="-122"/>
            </a:endParaRPr>
          </a:p>
        </p:txBody>
      </p:sp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1038225" y="2205038"/>
            <a:ext cx="7926388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对于任意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dirty="0" err="1">
                <a:solidFill>
                  <a:srgbClr val="0066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G</a:t>
            </a:r>
            <a:r>
              <a:rPr kumimoji="1" lang="zh-CN" altLang="en-US" sz="2800" i="1" dirty="0">
                <a:solidFill>
                  <a:srgbClr val="0066FF"/>
                </a:solidFill>
                <a:ea typeface="楷体_GB2312" pitchFamily="49" charset="-122"/>
              </a:rPr>
              <a:t>，</a:t>
            </a:r>
            <a:endParaRPr kumimoji="1" lang="zh-CN" altLang="en-US" sz="2800" dirty="0">
              <a:solidFill>
                <a:srgbClr val="0066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900" dirty="0">
                <a:solidFill>
                  <a:srgbClr val="0066FF"/>
                </a:solidFill>
                <a:latin typeface="+mn-lt"/>
                <a:ea typeface="+mn-ea"/>
              </a:rPr>
              <a:t>1. 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考察对应于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dirty="0" err="1">
                <a:solidFill>
                  <a:srgbClr val="0066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G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的那一行，设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是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G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中的任一元素，由于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=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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(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baseline="30000" dirty="0">
                <a:solidFill>
                  <a:srgbClr val="0066FF"/>
                </a:solidFill>
                <a:ea typeface="楷体_GB2312" pitchFamily="49" charset="-122"/>
              </a:rPr>
              <a:t>-1 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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 ,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所以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必定出现在对应于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的那一行中。</a:t>
            </a:r>
            <a:endParaRPr lang="zh-CN" altLang="en-US" sz="2900" dirty="0">
              <a:solidFill>
                <a:srgbClr val="0066FF"/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900" dirty="0">
                <a:solidFill>
                  <a:srgbClr val="0066FF"/>
                </a:solidFill>
                <a:latin typeface="+mn-lt"/>
                <a:ea typeface="+mn-ea"/>
              </a:rPr>
              <a:t>2. 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若对应于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dirty="0" err="1">
                <a:solidFill>
                  <a:srgbClr val="0066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 i="1" dirty="0" err="1">
                <a:solidFill>
                  <a:srgbClr val="0066FF"/>
                </a:solidFill>
                <a:ea typeface="楷体_GB2312" pitchFamily="49" charset="-122"/>
              </a:rPr>
              <a:t>G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的那一行中有两个元素都是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c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,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则有</a:t>
            </a:r>
            <a:r>
              <a:rPr kumimoji="1" lang="zh-CN" altLang="en-US" sz="2800" baseline="300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a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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kumimoji="1" lang="en-US" altLang="zh-CN" sz="2800" baseline="-25000" dirty="0">
                <a:solidFill>
                  <a:srgbClr val="0066FF"/>
                </a:solidFill>
                <a:ea typeface="楷体_GB2312" pitchFamily="49" charset="-122"/>
              </a:rPr>
              <a:t>1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 = a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  <a:sym typeface="Symbol" panose="05050102010706020507" pitchFamily="18" charset="2"/>
              </a:rPr>
              <a:t>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kumimoji="1" lang="en-US" altLang="zh-CN" sz="2800" baseline="-25000" dirty="0">
                <a:solidFill>
                  <a:srgbClr val="0066FF"/>
                </a:solidFill>
                <a:ea typeface="楷体_GB2312" pitchFamily="49" charset="-122"/>
              </a:rPr>
              <a:t>2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=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c 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且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kumimoji="1" lang="en-US" altLang="zh-CN" sz="2800" baseline="-25000" dirty="0">
                <a:solidFill>
                  <a:srgbClr val="0066FF"/>
                </a:solidFill>
                <a:ea typeface="楷体_GB2312" pitchFamily="49" charset="-122"/>
              </a:rPr>
              <a:t>1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rgbClr val="0066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1" lang="en-US" altLang="zh-CN" sz="2800" dirty="0">
                <a:solidFill>
                  <a:srgbClr val="0066FF"/>
                </a:solidFill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rgbClr val="0066FF"/>
                </a:solidFill>
                <a:ea typeface="楷体_GB2312" pitchFamily="49" charset="-122"/>
              </a:rPr>
              <a:t>b</a:t>
            </a:r>
            <a:r>
              <a:rPr kumimoji="1" lang="en-US" altLang="zh-CN" sz="2800" baseline="-25000" dirty="0">
                <a:solidFill>
                  <a:srgbClr val="0066FF"/>
                </a:solidFill>
                <a:ea typeface="楷体_GB2312" pitchFamily="49" charset="-122"/>
              </a:rPr>
              <a:t>2</a:t>
            </a:r>
            <a:r>
              <a:rPr kumimoji="1" lang="zh-CN" altLang="en-US" sz="2800" dirty="0">
                <a:solidFill>
                  <a:srgbClr val="0066FF"/>
                </a:solidFill>
                <a:ea typeface="楷体_GB2312" pitchFamily="49" charset="-122"/>
              </a:rPr>
              <a:t>，</a:t>
            </a:r>
            <a:r>
              <a:rPr lang="zh-CN" altLang="en-US" sz="2900" dirty="0">
                <a:solidFill>
                  <a:srgbClr val="0066FF"/>
                </a:solidFill>
                <a:latin typeface="+mn-lt"/>
                <a:ea typeface="+mn-ea"/>
              </a:rPr>
              <a:t>这与消去律矛盾。</a:t>
            </a:r>
            <a:endParaRPr lang="zh-CN" altLang="en-US" sz="2900" dirty="0">
              <a:solidFill>
                <a:srgbClr val="0066FF"/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900" dirty="0">
                <a:solidFill>
                  <a:srgbClr val="002060"/>
                </a:solidFill>
                <a:latin typeface="+mn-lt"/>
                <a:ea typeface="+mn-ea"/>
              </a:rPr>
              <a:t>综上所述，群</a:t>
            </a:r>
            <a:r>
              <a:rPr kumimoji="1" lang="en-US" altLang="zh-CN" sz="2800" dirty="0">
                <a:solidFill>
                  <a:srgbClr val="002060"/>
                </a:solidFill>
                <a:ea typeface="楷体_GB2312" pitchFamily="49" charset="-122"/>
              </a:rPr>
              <a:t>&lt; </a:t>
            </a:r>
            <a:r>
              <a:rPr kumimoji="1" lang="en-US" altLang="zh-CN" sz="2800" i="1" dirty="0">
                <a:solidFill>
                  <a:srgbClr val="002060"/>
                </a:solidFill>
                <a:ea typeface="楷体_GB2312" pitchFamily="49" charset="-122"/>
              </a:rPr>
              <a:t>G</a:t>
            </a:r>
            <a:r>
              <a:rPr kumimoji="1" lang="en-US" altLang="zh-CN" sz="2800" dirty="0">
                <a:solidFill>
                  <a:srgbClr val="002060"/>
                </a:solidFill>
                <a:ea typeface="楷体_GB2312" pitchFamily="49" charset="-122"/>
              </a:rPr>
              <a:t> , </a:t>
            </a:r>
            <a:r>
              <a:rPr kumimoji="1" lang="en-US" altLang="zh-CN" sz="2800" dirty="0">
                <a:solidFill>
                  <a:srgbClr val="002060"/>
                </a:solidFill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lang="zh-CN" altLang="en-US" sz="2900" dirty="0">
                <a:solidFill>
                  <a:srgbClr val="002060"/>
                </a:solidFill>
                <a:latin typeface="+mn-lt"/>
                <a:ea typeface="+mn-ea"/>
              </a:rPr>
              <a:t>的运算表中的每一行都是 </a:t>
            </a:r>
            <a:r>
              <a:rPr lang="en-US" altLang="zh-CN" sz="2900" dirty="0">
                <a:solidFill>
                  <a:srgbClr val="002060"/>
                </a:solidFill>
                <a:latin typeface="+mn-lt"/>
                <a:ea typeface="+mn-ea"/>
              </a:rPr>
              <a:t>G </a:t>
            </a:r>
            <a:r>
              <a:rPr lang="zh-CN" altLang="en-US" sz="2900" dirty="0">
                <a:solidFill>
                  <a:srgbClr val="002060"/>
                </a:solidFill>
                <a:latin typeface="+mn-lt"/>
                <a:ea typeface="+mn-ea"/>
              </a:rPr>
              <a:t>的元素的一个置换。</a:t>
            </a:r>
            <a:endParaRPr lang="zh-CN" altLang="en-US" sz="2900" dirty="0">
              <a:solidFill>
                <a:srgbClr val="002060"/>
              </a:solidFill>
              <a:latin typeface="+mn-lt"/>
              <a:ea typeface="+mn-ea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sz="2900" dirty="0">
                <a:solidFill>
                  <a:srgbClr val="002060"/>
                </a:solidFill>
                <a:latin typeface="+mn-lt"/>
                <a:ea typeface="+mn-ea"/>
              </a:rPr>
              <a:t>对于列同理可证，所以定理成立。</a:t>
            </a:r>
            <a:endParaRPr lang="zh-CN" altLang="en-US" sz="2900" dirty="0">
              <a:solidFill>
                <a:srgbClr val="002060"/>
              </a:solidFill>
              <a:latin typeface="+mn-lt"/>
              <a:ea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9600" y="2204864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19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199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199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199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199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nimBg="1" autoUpdateAnimBg="0"/>
      <p:bldP spid="19968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716CDE-3112-4E41-AF37-D39DF34436D8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置换的乘法</a:t>
            </a:r>
            <a:endParaRPr lang="zh-CN" altLang="en-US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10.12</a:t>
            </a: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σ,τ</a:t>
            </a:r>
            <a:r>
              <a:rPr lang="zh-CN" altLang="en-US">
                <a:solidFill>
                  <a:srgbClr val="000000"/>
                </a:solidFill>
              </a:rPr>
              <a:t>是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zh-CN" altLang="en-US">
                <a:solidFill>
                  <a:srgbClr val="000000"/>
                </a:solidFill>
              </a:rPr>
              <a:t>元置换</a:t>
            </a:r>
            <a:r>
              <a:rPr lang="en-US" altLang="zh-CN">
                <a:solidFill>
                  <a:srgbClr val="000000"/>
                </a:solidFill>
              </a:rPr>
              <a:t>,  </a:t>
            </a:r>
            <a:r>
              <a:rPr lang="en-US" altLang="zh-CN" i="1">
                <a:solidFill>
                  <a:srgbClr val="000000"/>
                </a:solidFill>
              </a:rPr>
              <a:t>σ</a:t>
            </a:r>
            <a:r>
              <a:rPr lang="zh-CN" altLang="en-US">
                <a:solidFill>
                  <a:srgbClr val="000000"/>
                </a:solidFill>
              </a:rPr>
              <a:t>和</a:t>
            </a:r>
            <a:r>
              <a:rPr lang="en-US" altLang="zh-CN" i="1">
                <a:solidFill>
                  <a:srgbClr val="000000"/>
                </a:solidFill>
              </a:rPr>
              <a:t>τ</a:t>
            </a:r>
            <a:r>
              <a:rPr lang="zh-CN" altLang="en-US">
                <a:solidFill>
                  <a:srgbClr val="000000"/>
                </a:solidFill>
              </a:rPr>
              <a:t>的复合</a:t>
            </a:r>
            <a:r>
              <a:rPr lang="en-US" altLang="zh-CN" i="1">
                <a:solidFill>
                  <a:srgbClr val="000000"/>
                </a:solidFill>
              </a:rPr>
              <a:t>σ </a:t>
            </a:r>
            <a:r>
              <a:rPr lang="en-US" altLang="zh-CN"/>
              <a:t>∘</a:t>
            </a:r>
            <a:r>
              <a:rPr lang="en-US" altLang="zh-CN" i="1">
                <a:solidFill>
                  <a:srgbClr val="000000"/>
                </a:solidFill>
              </a:rPr>
              <a:t>τ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也是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元置换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称为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σ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与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τ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的乘积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记作</a:t>
            </a:r>
            <a:r>
              <a:rPr lang="en-US" altLang="zh-CN" i="1">
                <a:solidFill>
                  <a:srgbClr val="000000"/>
                </a:solidFill>
                <a:sym typeface="Symbol" panose="05050102010706020507" pitchFamily="18" charset="2"/>
              </a:rPr>
              <a:t>στ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.   </a:t>
            </a:r>
            <a:endParaRPr lang="en-US" altLang="zh-CN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例如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/>
            <a:endParaRPr lang="en-US" altLang="zh-CN"/>
          </a:p>
        </p:txBody>
      </p:sp>
      <p:graphicFrame>
        <p:nvGraphicFramePr>
          <p:cNvPr id="600071" name="Object 7"/>
          <p:cNvGraphicFramePr>
            <a:graphicFrameLocks noChangeAspect="1"/>
          </p:cNvGraphicFramePr>
          <p:nvPr/>
        </p:nvGraphicFramePr>
        <p:xfrm>
          <a:off x="1187450" y="4538663"/>
          <a:ext cx="6911975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2540000" imgH="469900" progId="Equation.3">
                  <p:embed/>
                </p:oleObj>
              </mc:Choice>
              <mc:Fallback>
                <p:oleObj name="公式" r:id="rId1" imgW="25400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38663"/>
                        <a:ext cx="6911975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0074" name="Object 10"/>
          <p:cNvGraphicFramePr>
            <a:graphicFrameLocks noChangeAspect="1"/>
          </p:cNvGraphicFramePr>
          <p:nvPr/>
        </p:nvGraphicFramePr>
        <p:xfrm>
          <a:off x="1187450" y="3141663"/>
          <a:ext cx="69850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2540000" imgH="469900" progId="Equation.3">
                  <p:embed/>
                </p:oleObj>
              </mc:Choice>
              <mc:Fallback>
                <p:oleObj name="公式" r:id="rId3" imgW="25400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141663"/>
                        <a:ext cx="69850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轮换与对换</a:t>
            </a:r>
            <a:endParaRPr lang="zh-CN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定义</a:t>
            </a:r>
            <a:r>
              <a:rPr lang="en-US" altLang="zh-CN">
                <a:solidFill>
                  <a:schemeClr val="accent2"/>
                </a:solidFill>
              </a:rPr>
              <a:t>10.13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zh-CN" altLang="en-US">
                <a:sym typeface="Symbol" panose="05050102010706020507" pitchFamily="18" charset="2"/>
              </a:rPr>
              <a:t>是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>
                <a:sym typeface="Symbol" panose="05050102010706020507" pitchFamily="18" charset="2"/>
              </a:rPr>
              <a:t>={1,2, …, 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上的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元置换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若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baseline="-25000"/>
              <a:t>1</a:t>
            </a:r>
            <a:r>
              <a:rPr lang="en-US" altLang="zh-CN"/>
              <a:t>) = 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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baseline="-25000"/>
              <a:t>2</a:t>
            </a:r>
            <a:r>
              <a:rPr lang="en-US" altLang="zh-CN"/>
              <a:t>) = </a:t>
            </a:r>
            <a:r>
              <a:rPr lang="en-US" altLang="zh-CN" i="1"/>
              <a:t>i</a:t>
            </a:r>
            <a:r>
              <a:rPr lang="en-US" altLang="zh-CN" baseline="-25000"/>
              <a:t>3</a:t>
            </a:r>
            <a:r>
              <a:rPr lang="en-US" altLang="zh-CN"/>
              <a:t>, …, </a:t>
            </a:r>
            <a:r>
              <a:rPr lang="en-US" altLang="zh-CN">
                <a:sym typeface="Symbol" panose="05050102010706020507" pitchFamily="18" charset="2"/>
              </a:rPr>
              <a:t>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i="1" baseline="-25000"/>
              <a:t>k</a:t>
            </a:r>
            <a:r>
              <a:rPr lang="en-US" altLang="zh-CN" baseline="-25000">
                <a:sym typeface="Symbol" panose="05050102010706020507" pitchFamily="18" charset="2"/>
              </a:rPr>
              <a:t></a:t>
            </a:r>
            <a:r>
              <a:rPr lang="en-US" altLang="zh-CN" baseline="-25000"/>
              <a:t>1</a:t>
            </a:r>
            <a:r>
              <a:rPr lang="en-US" altLang="zh-CN"/>
              <a:t>) = </a:t>
            </a:r>
            <a:r>
              <a:rPr lang="en-US" altLang="zh-CN" i="1"/>
              <a:t>i</a:t>
            </a:r>
            <a:r>
              <a:rPr lang="en-US" altLang="zh-CN" i="1" baseline="-25000"/>
              <a:t>k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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i="1" baseline="-25000"/>
              <a:t>k</a:t>
            </a:r>
            <a:r>
              <a:rPr lang="en-US" altLang="zh-CN"/>
              <a:t>) = </a:t>
            </a:r>
            <a:r>
              <a:rPr lang="en-US" altLang="zh-CN" i="1"/>
              <a:t>i</a:t>
            </a:r>
            <a:r>
              <a:rPr lang="en-US" altLang="zh-CN" baseline="-25000"/>
              <a:t>1,</a:t>
            </a:r>
            <a:br>
              <a:rPr lang="en-US" altLang="zh-CN" baseline="-25000"/>
            </a:br>
            <a:r>
              <a:rPr lang="zh-CN" altLang="en-US"/>
              <a:t>且保持</a:t>
            </a:r>
            <a:r>
              <a:rPr lang="en-US" altLang="zh-CN" i="1"/>
              <a:t>S</a:t>
            </a:r>
            <a:r>
              <a:rPr lang="zh-CN" altLang="en-US"/>
              <a:t>中其他元素不变，则称</a:t>
            </a:r>
            <a:r>
              <a:rPr lang="zh-CN" altLang="en-US">
                <a:sym typeface="Symbol" panose="05050102010706020507" pitchFamily="18" charset="2"/>
              </a:rPr>
              <a:t>是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zh-CN" altLang="en-US">
                <a:sym typeface="Symbol" panose="05050102010706020507" pitchFamily="18" charset="2"/>
              </a:rPr>
              <a:t>上的</a:t>
            </a:r>
            <a:r>
              <a:rPr lang="en-US" altLang="zh-CN" i="1">
                <a:solidFill>
                  <a:schemeClr val="accent2"/>
                </a:solidFill>
                <a:sym typeface="Symbol" panose="05050102010706020507" pitchFamily="18" charset="2"/>
              </a:rPr>
              <a:t>k</a:t>
            </a:r>
            <a:r>
              <a:rPr lang="zh-CN" altLang="en-US">
                <a:solidFill>
                  <a:schemeClr val="accent2"/>
                </a:solidFill>
                <a:sym typeface="Symbol" panose="05050102010706020507" pitchFamily="18" charset="2"/>
              </a:rPr>
              <a:t>阶轮换</a:t>
            </a:r>
            <a:r>
              <a:rPr lang="zh-CN" altLang="en-US">
                <a:sym typeface="Symbol" panose="05050102010706020507" pitchFamily="18" charset="2"/>
              </a:rPr>
              <a:t>，记作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/>
              <a:t>i</a:t>
            </a:r>
            <a:r>
              <a:rPr lang="en-US" altLang="zh-CN" baseline="-25000"/>
              <a:t>1 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 baseline="-25000"/>
              <a:t>2 </a:t>
            </a:r>
            <a:r>
              <a:rPr lang="en-US" altLang="zh-CN"/>
              <a:t>, …, </a:t>
            </a:r>
            <a:r>
              <a:rPr lang="en-US" altLang="zh-CN" i="1"/>
              <a:t>i</a:t>
            </a:r>
            <a:r>
              <a:rPr lang="en-US" altLang="zh-CN" i="1" baseline="-25000"/>
              <a:t>k</a:t>
            </a:r>
            <a:r>
              <a:rPr lang="en-US" altLang="zh-CN"/>
              <a:t>) .</a:t>
            </a:r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 i="1"/>
              <a:t>k</a:t>
            </a:r>
            <a:r>
              <a:rPr lang="en-US" altLang="zh-CN"/>
              <a:t>=2</a:t>
            </a:r>
            <a:r>
              <a:rPr lang="zh-CN" altLang="en-US"/>
              <a:t>，则称</a:t>
            </a:r>
            <a:r>
              <a:rPr lang="en-US" altLang="zh-CN">
                <a:sym typeface="Symbol" panose="05050102010706020507" pitchFamily="18" charset="2"/>
              </a:rPr>
              <a:t>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zh-CN" altLang="en-US">
                <a:sym typeface="Symbol" panose="05050102010706020507" pitchFamily="18" charset="2"/>
              </a:rPr>
              <a:t>上的</a:t>
            </a:r>
            <a:r>
              <a:rPr lang="zh-CN" altLang="en-US">
                <a:solidFill>
                  <a:schemeClr val="accent2"/>
                </a:solidFill>
                <a:sym typeface="Symbol" panose="05050102010706020507" pitchFamily="18" charset="2"/>
              </a:rPr>
              <a:t>对换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191EE4-E12B-47B4-B20E-D1B577484571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 dirty="0"/>
              <a:t>n</a:t>
            </a:r>
            <a:r>
              <a:rPr lang="zh-CN" altLang="en-US" dirty="0"/>
              <a:t>元置换的轮换表示</a:t>
            </a:r>
            <a:endParaRPr lang="zh-CN" altLang="en-US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设 </a:t>
            </a:r>
            <a:r>
              <a:rPr lang="en-US" altLang="zh-CN" i="1" dirty="0"/>
              <a:t>S </a:t>
            </a:r>
            <a:r>
              <a:rPr lang="en-US" altLang="zh-CN" dirty="0"/>
              <a:t>= {1, 2, …, </a:t>
            </a:r>
            <a:r>
              <a:rPr lang="en-US" altLang="zh-CN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，对于任何</a:t>
            </a:r>
            <a:r>
              <a:rPr lang="en-US" altLang="zh-CN" i="1" dirty="0"/>
              <a:t>S</a:t>
            </a:r>
            <a:r>
              <a:rPr lang="zh-CN" altLang="en-US" dirty="0"/>
              <a:t>上的 </a:t>
            </a:r>
            <a:r>
              <a:rPr lang="en-US" altLang="zh-CN" i="1" dirty="0"/>
              <a:t>n </a:t>
            </a:r>
            <a:r>
              <a:rPr lang="zh-CN" altLang="en-US" dirty="0"/>
              <a:t>元置换 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i="1" dirty="0"/>
              <a:t>, </a:t>
            </a:r>
            <a:r>
              <a:rPr lang="zh-CN" altLang="en-US" dirty="0"/>
              <a:t>存在着一个有限序列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dirty="0"/>
              <a:t>≥1, (</a:t>
            </a:r>
            <a:r>
              <a:rPr lang="zh-CN" altLang="en-US" dirty="0"/>
              <a:t>可以取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=1) </a:t>
            </a:r>
            <a:r>
              <a:rPr lang="zh-CN" altLang="en-US" dirty="0"/>
              <a:t>使得 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dirty="0"/>
              <a:t>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) =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dirty="0"/>
              <a:t>(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) =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, …,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dirty="0"/>
              <a:t>(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k</a:t>
            </a:r>
            <a:r>
              <a:rPr lang="en-US" altLang="zh-CN" baseline="-25000" dirty="0">
                <a:sym typeface="Symbol" panose="05050102010706020507" pitchFamily="18" charset="2"/>
              </a:rPr>
              <a:t></a:t>
            </a:r>
            <a:r>
              <a:rPr lang="en-US" altLang="zh-CN" baseline="-25000" dirty="0"/>
              <a:t>1</a:t>
            </a:r>
            <a:r>
              <a:rPr lang="en-US" altLang="zh-CN" dirty="0"/>
              <a:t>) =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dirty="0"/>
              <a:t>(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) = 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endParaRPr lang="en-US" altLang="zh-CN" baseline="-25000" dirty="0"/>
          </a:p>
          <a:p>
            <a:pPr lvl="1" eaLnBrk="1" hangingPunct="1"/>
            <a:r>
              <a:rPr lang="zh-CN" altLang="en-US" dirty="0"/>
              <a:t>令 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1 </a:t>
            </a:r>
            <a:r>
              <a:rPr lang="en-US" altLang="zh-CN" dirty="0"/>
              <a:t>= 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/>
              <a:t>i</a:t>
            </a:r>
            <a:r>
              <a:rPr lang="en-US" altLang="zh-CN" baseline="-25000" dirty="0"/>
              <a:t>2 </a:t>
            </a:r>
            <a:r>
              <a:rPr lang="en-US" altLang="zh-CN" dirty="0"/>
              <a:t>…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), </a:t>
            </a:r>
            <a:r>
              <a:rPr lang="zh-CN" altLang="en-US" dirty="0"/>
              <a:t>是 </a:t>
            </a:r>
            <a:r>
              <a:rPr lang="zh-CN" altLang="en-US" dirty="0">
                <a:sym typeface="Symbol" panose="05050102010706020507" pitchFamily="18" charset="2"/>
              </a:rPr>
              <a:t> </a:t>
            </a:r>
            <a:r>
              <a:rPr lang="zh-CN" altLang="en-US" dirty="0"/>
              <a:t>分解的第一个轮换</a:t>
            </a:r>
            <a:r>
              <a:rPr lang="en-US" altLang="zh-CN" dirty="0"/>
              <a:t>. </a:t>
            </a:r>
            <a:r>
              <a:rPr lang="zh-CN" altLang="en-US" dirty="0"/>
              <a:t>将 </a:t>
            </a:r>
            <a:r>
              <a:rPr lang="zh-CN" altLang="en-US" dirty="0">
                <a:sym typeface="Symbol" panose="05050102010706020507" pitchFamily="18" charset="2"/>
              </a:rPr>
              <a:t> </a:t>
            </a:r>
            <a:r>
              <a:rPr lang="zh-CN" altLang="en-US" dirty="0"/>
              <a:t>写作 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,</a:t>
            </a:r>
            <a:r>
              <a:rPr lang="en-US" altLang="zh-CN" dirty="0"/>
              <a:t> </a:t>
            </a:r>
            <a:r>
              <a:rPr lang="zh-CN" altLang="en-US" dirty="0"/>
              <a:t>继续对 </a:t>
            </a:r>
            <a:r>
              <a:rPr lang="zh-CN" altLang="en-US" dirty="0">
                <a:sym typeface="Symbol" panose="05050102010706020507" pitchFamily="18" charset="2"/>
              </a:rPr>
              <a:t> </a:t>
            </a:r>
            <a:r>
              <a:rPr lang="zh-CN" altLang="en-US" dirty="0"/>
              <a:t>分解</a:t>
            </a:r>
            <a:r>
              <a:rPr lang="en-US" altLang="zh-CN" dirty="0"/>
              <a:t>. </a:t>
            </a:r>
            <a:r>
              <a:rPr lang="zh-CN" altLang="en-US" dirty="0"/>
              <a:t>由于</a:t>
            </a:r>
            <a:r>
              <a:rPr lang="en-US" altLang="zh-CN" i="1" dirty="0"/>
              <a:t>S </a:t>
            </a:r>
            <a:r>
              <a:rPr lang="zh-CN" altLang="en-US" dirty="0"/>
              <a:t>只有</a:t>
            </a:r>
            <a:r>
              <a:rPr lang="en-US" altLang="zh-CN" i="1" dirty="0"/>
              <a:t>n  </a:t>
            </a:r>
            <a:r>
              <a:rPr lang="zh-CN" altLang="en-US" dirty="0"/>
              <a:t>个元素</a:t>
            </a:r>
            <a:r>
              <a:rPr lang="en-US" altLang="zh-CN" dirty="0"/>
              <a:t>, </a:t>
            </a:r>
            <a:r>
              <a:rPr lang="zh-CN" altLang="en-US" dirty="0"/>
              <a:t>经过有限步得到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	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zh-CN" altLang="en-US" i="1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dirty="0"/>
              <a:t> </a:t>
            </a:r>
            <a:r>
              <a:rPr lang="en-US" altLang="zh-CN" baseline="-25000" dirty="0"/>
              <a:t>1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dirty="0"/>
              <a:t> </a:t>
            </a:r>
            <a:r>
              <a:rPr lang="en-US" altLang="zh-CN" baseline="-25000" dirty="0"/>
              <a:t>2</a:t>
            </a:r>
            <a:r>
              <a:rPr lang="en-US" altLang="zh-CN" dirty="0"/>
              <a:t> …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dirty="0"/>
              <a:t> </a:t>
            </a:r>
            <a:r>
              <a:rPr lang="en-US" altLang="zh-CN" i="1" baseline="-25000" dirty="0"/>
              <a:t>t</a:t>
            </a:r>
            <a:endParaRPr lang="en-US" altLang="zh-CN" i="1" baseline="-250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24C94F-6614-46B2-869F-B1C760DC6798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925763"/>
            <a:ext cx="4365625" cy="29511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(1)=5, (5)=4, (4)=1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第一个轮换</a:t>
            </a:r>
            <a:r>
              <a:rPr lang="en-US" altLang="zh-CN" dirty="0">
                <a:solidFill>
                  <a:srgbClr val="3366FF"/>
                </a:solidFill>
                <a:sym typeface="Symbol" panose="05050102010706020507" pitchFamily="18" charset="2"/>
              </a:rPr>
              <a:t>(1 5 4)</a:t>
            </a:r>
            <a:endParaRPr lang="en-US" altLang="zh-CN" dirty="0">
              <a:solidFill>
                <a:srgbClr val="3366FF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(2)=3, (3)=2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第二个轮换</a:t>
            </a:r>
            <a:r>
              <a:rPr lang="en-US" altLang="zh-CN" dirty="0">
                <a:solidFill>
                  <a:srgbClr val="3366FF"/>
                </a:solidFill>
                <a:sym typeface="Symbol" panose="05050102010706020507" pitchFamily="18" charset="2"/>
              </a:rPr>
              <a:t>(2 3)</a:t>
            </a:r>
            <a:endParaRPr lang="en-US" altLang="zh-CN" dirty="0">
              <a:solidFill>
                <a:srgbClr val="3366FF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=(1 5 4)(2 3)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3013" name="Object 7"/>
          <p:cNvGraphicFramePr>
            <a:graphicFrameLocks noChangeAspect="1"/>
          </p:cNvGraphicFramePr>
          <p:nvPr/>
        </p:nvGraphicFramePr>
        <p:xfrm>
          <a:off x="684213" y="1341438"/>
          <a:ext cx="7488237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2540000" imgH="469900" progId="Equation.3">
                  <p:embed/>
                </p:oleObj>
              </mc:Choice>
              <mc:Fallback>
                <p:oleObj name="公式" r:id="rId1" imgW="25400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341438"/>
                        <a:ext cx="7488237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0" name="Rectangle 8"/>
          <p:cNvSpPr>
            <a:spLocks noChangeArrowheads="1"/>
          </p:cNvSpPr>
          <p:nvPr/>
        </p:nvSpPr>
        <p:spPr bwMode="auto">
          <a:xfrm>
            <a:off x="4356100" y="2925763"/>
            <a:ext cx="47879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(1)=4, (4)=2, (2)=3,(3)=1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第一个轮换</a:t>
            </a:r>
            <a:r>
              <a:rPr lang="en-US" altLang="zh-CN" dirty="0">
                <a:solidFill>
                  <a:srgbClr val="3366FF"/>
                </a:solidFill>
                <a:sym typeface="Symbol" panose="05050102010706020507" pitchFamily="18" charset="2"/>
              </a:rPr>
              <a:t>(1 4 2 3)</a:t>
            </a:r>
            <a:endParaRPr lang="en-US" altLang="zh-CN" dirty="0">
              <a:solidFill>
                <a:srgbClr val="3366FF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(5)=5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第二个轮换</a:t>
            </a:r>
            <a:r>
              <a:rPr lang="en-US" altLang="zh-CN" dirty="0">
                <a:solidFill>
                  <a:srgbClr val="3366FF"/>
                </a:solidFill>
                <a:sym typeface="Symbol" panose="05050102010706020507" pitchFamily="18" charset="2"/>
              </a:rPr>
              <a:t>(5)</a:t>
            </a:r>
            <a:endParaRPr lang="en-US" altLang="zh-CN" dirty="0">
              <a:solidFill>
                <a:srgbClr val="3366FF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 =(1 4 2 3)(5)=(1 4 2 3)</a:t>
            </a:r>
            <a:endParaRPr lang="en-US" altLang="zh-CN" dirty="0">
              <a:solidFill>
                <a:srgbClr val="0066FF"/>
              </a:solidFill>
              <a:sym typeface="Symbol" panose="05050102010706020507" pitchFamily="18" charset="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68312" y="4077072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68312" y="5157192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0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0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0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0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  <p:bldP spid="73012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CA463B-3FD6-461F-B3C7-D6C7407E5647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S </a:t>
            </a:r>
            <a:r>
              <a:rPr lang="en-US" altLang="zh-CN">
                <a:solidFill>
                  <a:srgbClr val="000000"/>
                </a:solidFill>
              </a:rPr>
              <a:t>= {1, 2, … , 8},</a:t>
            </a:r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604164" name="Object 4"/>
          <p:cNvGraphicFramePr>
            <a:graphicFrameLocks noChangeAspect="1"/>
          </p:cNvGraphicFramePr>
          <p:nvPr/>
        </p:nvGraphicFramePr>
        <p:xfrm>
          <a:off x="1835150" y="1844675"/>
          <a:ext cx="4321175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752600" imgH="952500" progId="Equation.3">
                  <p:embed/>
                </p:oleObj>
              </mc:Choice>
              <mc:Fallback>
                <p:oleObj name="公式" r:id="rId1" imgW="1752600" imgH="952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844675"/>
                        <a:ext cx="4321175" cy="23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65" name="Rectangle 5"/>
          <p:cNvSpPr>
            <a:spLocks noChangeArrowheads="1"/>
          </p:cNvSpPr>
          <p:nvPr/>
        </p:nvSpPr>
        <p:spPr bwMode="auto">
          <a:xfrm>
            <a:off x="539750" y="4178300"/>
            <a:ext cx="814546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则 轮换分解式为：</a:t>
            </a:r>
            <a:endParaRPr lang="zh-CN" altLang="en-US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i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i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= (1 5 2 3 6) (4) (7 8) = (1 5 2 3 6) (7 8)</a:t>
            </a:r>
            <a:b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en-US" altLang="zh-CN" i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i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= (1 8 3 4 2) (5 6 7)</a:t>
            </a:r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B27EED-85E5-446C-A3AD-20ABA208F2F1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轮换分解式的特征</a:t>
            </a:r>
            <a:endParaRPr lang="zh-CN" altLang="en-US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ct val="10000"/>
              </a:spcAft>
            </a:pPr>
            <a:r>
              <a:rPr lang="zh-CN" altLang="en-US" dirty="0">
                <a:solidFill>
                  <a:schemeClr val="accent2"/>
                </a:solidFill>
              </a:rPr>
              <a:t>定理</a:t>
            </a:r>
            <a:r>
              <a:rPr lang="zh-CN" altLang="en-US" dirty="0"/>
              <a:t>：任意置换都可以唯一地表示成不相交的轮换乘积。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spcAft>
                <a:spcPct val="10000"/>
              </a:spcAft>
            </a:pPr>
            <a:r>
              <a:rPr lang="zh-CN" altLang="en-US" dirty="0"/>
              <a:t>轮换的不交性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spcAft>
                <a:spcPct val="10000"/>
              </a:spcAft>
            </a:pPr>
            <a:r>
              <a:rPr lang="zh-CN" altLang="en-US" dirty="0"/>
              <a:t>分解的惟一性 </a:t>
            </a:r>
            <a:endParaRPr lang="en-US" altLang="zh-CN" dirty="0"/>
          </a:p>
          <a:p>
            <a:pPr marL="1143000" lvl="2" indent="-228600" eaLnBrk="1" hangingPunct="1"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zh-CN" altLang="en-US" i="1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2 </a:t>
            </a:r>
            <a:r>
              <a:rPr lang="en-US" altLang="zh-CN" dirty="0"/>
              <a:t>…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baseline="-25000" dirty="0"/>
              <a:t>t</a:t>
            </a:r>
            <a:r>
              <a:rPr lang="en-US" altLang="zh-CN" baseline="-25000" dirty="0"/>
              <a:t> </a:t>
            </a:r>
            <a:r>
              <a:rPr lang="zh-CN" altLang="en-US" dirty="0"/>
              <a:t>和 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zh-CN" altLang="en-US" i="1" dirty="0"/>
              <a:t> </a:t>
            </a:r>
            <a:r>
              <a:rPr lang="en-US" altLang="zh-CN" dirty="0"/>
              <a:t>= 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baseline="-25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baseline="-25000" dirty="0"/>
              <a:t>2</a:t>
            </a:r>
            <a:r>
              <a:rPr lang="en-US" altLang="zh-CN" dirty="0"/>
              <a:t> …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i="1" baseline="-25000" dirty="0"/>
              <a:t>s </a:t>
            </a:r>
            <a:r>
              <a:rPr lang="en-US" altLang="zh-CN" baseline="-25000" dirty="0"/>
              <a:t> </a:t>
            </a:r>
            <a:endParaRPr lang="en-US" altLang="zh-CN" dirty="0"/>
          </a:p>
          <a:p>
            <a:pPr marL="1143000" lvl="2" indent="-228600" eaLnBrk="1" hangingPunct="1">
              <a:spcBef>
                <a:spcPct val="0"/>
              </a:spcBef>
              <a:spcAft>
                <a:spcPct val="10000"/>
              </a:spcAft>
              <a:buFont typeface="Wingdings" panose="05000000000000000000" pitchFamily="2" charset="2"/>
              <a:buNone/>
            </a:pPr>
            <a:r>
              <a:rPr lang="zh-CN" altLang="en-US" dirty="0"/>
              <a:t>则</a:t>
            </a:r>
            <a:r>
              <a:rPr lang="en-US" altLang="zh-CN" dirty="0"/>
              <a:t>{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baseline="-25000" dirty="0"/>
              <a:t>t </a:t>
            </a:r>
            <a:r>
              <a:rPr lang="en-US" altLang="zh-CN" dirty="0"/>
              <a:t>} = {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i="1" dirty="0"/>
              <a:t> </a:t>
            </a:r>
            <a:r>
              <a:rPr lang="en-US" altLang="zh-CN" baseline="-25000" dirty="0"/>
              <a:t>2</a:t>
            </a:r>
            <a:r>
              <a:rPr lang="en-US" altLang="zh-CN" dirty="0"/>
              <a:t>, …,</a:t>
            </a:r>
            <a:r>
              <a:rPr lang="en-US" altLang="zh-CN" i="1" dirty="0">
                <a:sym typeface="Symbol" panose="05050102010706020507" pitchFamily="18" charset="2"/>
              </a:rPr>
              <a:t></a:t>
            </a:r>
            <a:r>
              <a:rPr lang="en-US" altLang="zh-CN" i="1" baseline="-25000" dirty="0"/>
              <a:t>s 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>
              <a:spcBef>
                <a:spcPct val="0"/>
              </a:spcBef>
              <a:spcAft>
                <a:spcPct val="10000"/>
              </a:spcAft>
            </a:pPr>
            <a:r>
              <a:rPr lang="zh-CN" altLang="en-US" dirty="0"/>
              <a:t>通常省略轮换分解式中的</a:t>
            </a:r>
            <a:r>
              <a:rPr lang="en-US" altLang="zh-CN" dirty="0"/>
              <a:t>1</a:t>
            </a:r>
            <a:r>
              <a:rPr lang="zh-CN" altLang="en-US" dirty="0"/>
              <a:t>阶轮换，如果其中全是</a:t>
            </a:r>
            <a:r>
              <a:rPr lang="en-US" altLang="zh-CN" dirty="0"/>
              <a:t>1</a:t>
            </a:r>
            <a:r>
              <a:rPr lang="zh-CN" altLang="en-US" dirty="0"/>
              <a:t>阶轮换，则需要保留一个</a:t>
            </a:r>
            <a:r>
              <a:rPr lang="en-US" altLang="zh-CN" dirty="0"/>
              <a:t>1</a:t>
            </a:r>
            <a:r>
              <a:rPr lang="zh-CN" altLang="en-US" dirty="0"/>
              <a:t>阶轮换。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spcAft>
                <a:spcPct val="10000"/>
              </a:spcAft>
            </a:pPr>
            <a:r>
              <a:rPr lang="zh-CN" altLang="en-US" dirty="0"/>
              <a:t>如恒等置换</a:t>
            </a:r>
            <a:r>
              <a:rPr lang="en-US" altLang="zh-CN" dirty="0"/>
              <a:t>(1)(2)(3)(4)(5)</a:t>
            </a:r>
            <a:r>
              <a:rPr lang="zh-CN" altLang="en-US" dirty="0"/>
              <a:t>简记为</a:t>
            </a:r>
            <a:r>
              <a:rPr lang="en-US" altLang="zh-CN" dirty="0"/>
              <a:t>(1).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C7C4DD-7A05-4179-9784-3658716A7A7C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置换的对换分解</a:t>
            </a:r>
            <a:endParaRPr lang="zh-CN" altLang="en-US" dirty="0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7" y="1270000"/>
            <a:ext cx="8008937" cy="4822825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S </a:t>
            </a:r>
            <a:r>
              <a:rPr lang="en-US" altLang="zh-CN" dirty="0"/>
              <a:t>= {1,2,…,</a:t>
            </a:r>
            <a:r>
              <a:rPr lang="en-US" altLang="zh-CN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i="1" dirty="0"/>
              <a:t> </a:t>
            </a:r>
            <a:r>
              <a:rPr lang="en-US" altLang="zh-CN" dirty="0"/>
              <a:t>= 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…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) 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zh-CN" altLang="en-US" dirty="0"/>
              <a:t>上的 </a:t>
            </a:r>
            <a:r>
              <a:rPr lang="en-US" altLang="zh-CN" i="1" dirty="0"/>
              <a:t>k </a:t>
            </a:r>
            <a:r>
              <a:rPr lang="zh-CN" altLang="en-US" dirty="0"/>
              <a:t>阶轮换， </a:t>
            </a:r>
            <a:r>
              <a:rPr lang="zh-CN" altLang="en-US" i="1" dirty="0">
                <a:sym typeface="Symbol" panose="05050102010706020507" pitchFamily="18" charset="2"/>
              </a:rPr>
              <a:t> </a:t>
            </a:r>
            <a:r>
              <a:rPr lang="zh-CN" altLang="en-US" dirty="0"/>
              <a:t>可以进一步表示成对换之积，即</a:t>
            </a:r>
            <a:br>
              <a:rPr lang="zh-CN" altLang="en-US" dirty="0"/>
            </a:br>
            <a:r>
              <a:rPr lang="en-US" altLang="zh-CN" dirty="0"/>
              <a:t>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 …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) =(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/>
              <a:t>i</a:t>
            </a:r>
            <a:r>
              <a:rPr lang="en-US" altLang="zh-CN" baseline="-25000" dirty="0"/>
              <a:t>2</a:t>
            </a:r>
            <a:r>
              <a:rPr lang="en-US" altLang="zh-CN" dirty="0"/>
              <a:t>) (</a:t>
            </a:r>
            <a:r>
              <a:rPr lang="en-US" altLang="zh-CN" i="1" dirty="0"/>
              <a:t>i</a:t>
            </a:r>
            <a:r>
              <a:rPr lang="en-US" altLang="zh-CN" baseline="-25000" dirty="0"/>
              <a:t>1 </a:t>
            </a:r>
            <a:r>
              <a:rPr lang="en-US" altLang="zh-CN" i="1" dirty="0"/>
              <a:t>i</a:t>
            </a:r>
            <a:r>
              <a:rPr lang="en-US" altLang="zh-CN" baseline="-25000" dirty="0"/>
              <a:t>3</a:t>
            </a:r>
            <a:r>
              <a:rPr lang="en-US" altLang="zh-CN" dirty="0"/>
              <a:t>) … (</a:t>
            </a:r>
            <a:r>
              <a:rPr lang="en-US" altLang="zh-CN" i="1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)     </a:t>
            </a:r>
            <a:endParaRPr lang="en-US" altLang="zh-CN" dirty="0"/>
          </a:p>
        </p:txBody>
      </p:sp>
      <p:graphicFrame>
        <p:nvGraphicFramePr>
          <p:cNvPr id="1843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71550" y="3351213"/>
          <a:ext cx="3529013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676400" imgH="457200" progId="Equation.3">
                  <p:embed/>
                </p:oleObj>
              </mc:Choice>
              <mc:Fallback>
                <p:oleObj name="公式" r:id="rId1" imgW="1676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351213"/>
                        <a:ext cx="3529013" cy="122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75238" y="2852738"/>
          <a:ext cx="3384550" cy="306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435100" imgH="1168400" progId="Equation.3">
                  <p:embed/>
                </p:oleObj>
              </mc:Choice>
              <mc:Fallback>
                <p:oleObj name="公式" r:id="rId3" imgW="1435100" imgH="116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2852738"/>
                        <a:ext cx="3384550" cy="306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ldLvl="3" build="p"/>
      <p:bldP spid="18434" grpId="0" bldLvl="3" build="p"/>
      <p:bldP spid="18435" grpId="0" bldLvl="3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0B03A6-A799-483F-9F88-E006CEAA4303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spcBef>
                <a:spcPct val="55000"/>
              </a:spcBef>
            </a:pPr>
            <a:r>
              <a:rPr lang="zh-CN" altLang="en-US"/>
              <a:t>例如 </a:t>
            </a:r>
            <a:r>
              <a:rPr lang="en-US" altLang="zh-CN"/>
              <a:t>8 </a:t>
            </a:r>
            <a:r>
              <a:rPr lang="zh-CN" altLang="en-US"/>
              <a:t>元置换    </a:t>
            </a:r>
            <a:endParaRPr lang="zh-CN" altLang="en-US"/>
          </a:p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zh-CN" altLang="en-US"/>
              <a:t>  </a:t>
            </a:r>
            <a:r>
              <a:rPr lang="zh-CN" altLang="en-US">
                <a:sym typeface="Symbol" panose="05050102010706020507" pitchFamily="18" charset="2"/>
              </a:rPr>
              <a:t></a:t>
            </a:r>
            <a:r>
              <a:rPr lang="zh-CN" altLang="en-US"/>
              <a:t> </a:t>
            </a:r>
            <a:r>
              <a:rPr lang="en-US" altLang="zh-CN"/>
              <a:t>= (1 5 2 3 6) (7 8) = (1 5) (1 2) (1 3) (1 6) (7 8)</a:t>
            </a:r>
            <a:endParaRPr lang="en-US" altLang="zh-CN">
              <a:sym typeface="Symbol" panose="05050102010706020507" pitchFamily="18" charset="2"/>
            </a:endParaRPr>
          </a:p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  </a:t>
            </a:r>
            <a:r>
              <a:rPr lang="en-US" altLang="zh-CN"/>
              <a:t> = (1 8 3 4 2) (5 6 7) </a:t>
            </a:r>
            <a:endParaRPr lang="en-US" altLang="zh-CN"/>
          </a:p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n-US" altLang="zh-CN"/>
              <a:t>     = (1 8) (1 3) (1 4) (1 2) (5 6) (5 7)</a:t>
            </a:r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79C8D4-798F-49F9-9D89-E068DCF5668D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对换分解的特征</a:t>
            </a:r>
            <a:endParaRPr lang="zh-CN" altLang="en-US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对换分解式中</a:t>
            </a:r>
            <a:r>
              <a:rPr lang="zh-CN" altLang="en-US" dirty="0">
                <a:solidFill>
                  <a:srgbClr val="0066FF"/>
                </a:solidFill>
              </a:rPr>
              <a:t>对换</a:t>
            </a:r>
            <a:r>
              <a:rPr lang="zh-CN" altLang="en-US" dirty="0">
                <a:solidFill>
                  <a:srgbClr val="000000"/>
                </a:solidFill>
              </a:rPr>
              <a:t>之间可以有交，分解式也不惟一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</a:endParaRPr>
          </a:p>
        </p:txBody>
      </p:sp>
      <p:graphicFrame>
        <p:nvGraphicFramePr>
          <p:cNvPr id="611335" name="Object 7"/>
          <p:cNvGraphicFramePr>
            <a:graphicFrameLocks noChangeAspect="1"/>
          </p:cNvGraphicFramePr>
          <p:nvPr/>
        </p:nvGraphicFramePr>
        <p:xfrm>
          <a:off x="1187450" y="2205038"/>
          <a:ext cx="3024188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079500" imgH="469900" progId="Equation.3">
                  <p:embed/>
                </p:oleObj>
              </mc:Choice>
              <mc:Fallback>
                <p:oleObj name="公式" r:id="rId1" imgW="10795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05038"/>
                        <a:ext cx="3024188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1337" name="Rectangle 9"/>
          <p:cNvSpPr>
            <a:spLocks noChangeArrowheads="1"/>
          </p:cNvSpPr>
          <p:nvPr/>
        </p:nvSpPr>
        <p:spPr bwMode="auto">
          <a:xfrm>
            <a:off x="582613" y="3500438"/>
            <a:ext cx="80645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元置换</a:t>
            </a:r>
            <a:r>
              <a:rPr lang="zh-CN" altLang="en-US" i="1" dirty="0">
                <a:sym typeface="Symbol" panose="05050102010706020507" pitchFamily="18" charset="2"/>
              </a:rPr>
              <a:t> </a:t>
            </a:r>
            <a:r>
              <a:rPr lang="zh-CN" altLang="en-US" dirty="0">
                <a:solidFill>
                  <a:srgbClr val="000000"/>
                </a:solidFill>
              </a:rPr>
              <a:t>可以表示成奇数个对换之积，则称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zh-CN" altLang="en-US" dirty="0">
                <a:solidFill>
                  <a:srgbClr val="A50021"/>
                </a:solidFill>
              </a:rPr>
              <a:t>奇置换</a:t>
            </a:r>
            <a:r>
              <a:rPr lang="zh-CN" altLang="en-US" dirty="0">
                <a:solidFill>
                  <a:srgbClr val="000000"/>
                </a:solidFill>
              </a:rPr>
              <a:t>，否则称为</a:t>
            </a:r>
            <a:r>
              <a:rPr lang="zh-CN" altLang="en-US" dirty="0">
                <a:solidFill>
                  <a:srgbClr val="A50021"/>
                </a:solidFill>
              </a:rPr>
              <a:t>偶置换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zh-CN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</a:rPr>
              <a:t>表示式中所含对换个数的奇偶性是不变的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可以证明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元置换中奇置换和偶置换各有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000000"/>
                </a:solidFill>
              </a:rPr>
              <a:t>    n</a:t>
            </a:r>
            <a:r>
              <a:rPr lang="en-US" altLang="zh-CN" dirty="0">
                <a:solidFill>
                  <a:srgbClr val="000000"/>
                </a:solidFill>
              </a:rPr>
              <a:t>!/2</a:t>
            </a:r>
            <a:r>
              <a:rPr lang="zh-CN" altLang="en-US" dirty="0">
                <a:solidFill>
                  <a:srgbClr val="000000"/>
                </a:solidFill>
              </a:rPr>
              <a:t>个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4067175" y="2205038"/>
            <a:ext cx="460851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(1 2) (1 3)</a:t>
            </a:r>
            <a:endParaRPr lang="zh-CN" altLang="en-US" dirty="0">
              <a:solidFill>
                <a:srgbClr val="00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(1 4) (2 4) (3 4) (1 4)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1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1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11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7" grpId="0" bldLvl="2" uiExpand="1" build="p"/>
      <p:bldP spid="19465" grpId="0" bldLvl="2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dirty="0"/>
              <a:t>所有的 </a:t>
            </a:r>
            <a:r>
              <a:rPr lang="en-US" altLang="zh-CN" i="1" dirty="0"/>
              <a:t>n</a:t>
            </a:r>
            <a:r>
              <a:rPr lang="zh-CN" altLang="en-US" dirty="0"/>
              <a:t>元置换构成的集合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zh-CN" altLang="en-US" dirty="0"/>
              <a:t>关于置换乘法构成群，称为</a:t>
            </a:r>
            <a:r>
              <a:rPr lang="en-US" altLang="zh-CN" i="1" dirty="0">
                <a:solidFill>
                  <a:schemeClr val="accent2"/>
                </a:solidFill>
              </a:rPr>
              <a:t>n</a:t>
            </a:r>
            <a:r>
              <a:rPr lang="zh-CN" altLang="en-US" dirty="0">
                <a:solidFill>
                  <a:schemeClr val="accent2"/>
                </a:solidFill>
              </a:rPr>
              <a:t>元对称群</a:t>
            </a:r>
            <a:r>
              <a:rPr lang="en-US" altLang="zh-CN" dirty="0"/>
              <a:t>. </a:t>
            </a:r>
            <a:endParaRPr lang="en-US" altLang="zh-CN" dirty="0"/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n</a:t>
            </a:r>
            <a:r>
              <a:rPr lang="zh-CN" altLang="en-US" dirty="0"/>
              <a:t>元对称群的子群叫做</a:t>
            </a:r>
            <a:r>
              <a:rPr lang="en-US" altLang="zh-CN" i="1" dirty="0">
                <a:solidFill>
                  <a:schemeClr val="accent2"/>
                </a:solidFill>
              </a:rPr>
              <a:t>n</a:t>
            </a:r>
            <a:r>
              <a:rPr lang="zh-CN" altLang="en-US" dirty="0">
                <a:solidFill>
                  <a:schemeClr val="accent2"/>
                </a:solidFill>
              </a:rPr>
              <a:t>元置换群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A50021"/>
                </a:solidFill>
              </a:rPr>
              <a:t>例 </a:t>
            </a:r>
            <a:r>
              <a:rPr lang="zh-CN" altLang="en-US" dirty="0"/>
              <a:t>设 </a:t>
            </a:r>
            <a:r>
              <a:rPr lang="en-US" altLang="zh-CN" i="1" dirty="0"/>
              <a:t>S </a:t>
            </a:r>
            <a:r>
              <a:rPr lang="en-US" altLang="zh-CN" dirty="0"/>
              <a:t>= {1, 2, 3}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元对称群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={ (1), (1 2), (1 3), (2 3), (1 2 3), (1 3 2) }</a:t>
            </a:r>
            <a:endParaRPr lang="en-US" altLang="zh-CN" dirty="0"/>
          </a:p>
        </p:txBody>
      </p:sp>
      <p:sp>
        <p:nvSpPr>
          <p:cNvPr id="4915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C0E175-EFC2-4280-912F-4A254ADC33DC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n</a:t>
            </a:r>
            <a:r>
              <a:rPr lang="zh-CN" altLang="en-US"/>
              <a:t>元对称群</a:t>
            </a:r>
            <a:endParaRPr lang="zh-CN" altLang="en-US"/>
          </a:p>
        </p:txBody>
      </p:sp>
      <p:grpSp>
        <p:nvGrpSpPr>
          <p:cNvPr id="2" name="Group 67"/>
          <p:cNvGrpSpPr/>
          <p:nvPr/>
        </p:nvGrpSpPr>
        <p:grpSpPr bwMode="auto">
          <a:xfrm>
            <a:off x="971550" y="3644900"/>
            <a:ext cx="1798638" cy="1454150"/>
            <a:chOff x="612" y="2296"/>
            <a:chExt cx="1133" cy="916"/>
          </a:xfrm>
        </p:grpSpPr>
        <p:sp>
          <p:nvSpPr>
            <p:cNvPr id="49197" name="AutoShape 7"/>
            <p:cNvSpPr>
              <a:spLocks noChangeArrowheads="1"/>
            </p:cNvSpPr>
            <p:nvPr/>
          </p:nvSpPr>
          <p:spPr bwMode="auto">
            <a:xfrm>
              <a:off x="801" y="2519"/>
              <a:ext cx="743" cy="53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Verdana" panose="020B0604030504040204" pitchFamily="34" charset="0"/>
              </a:endParaRPr>
            </a:p>
          </p:txBody>
        </p:sp>
        <p:sp>
          <p:nvSpPr>
            <p:cNvPr id="49198" name="Text Box 8"/>
            <p:cNvSpPr txBox="1">
              <a:spLocks noChangeArrowheads="1"/>
            </p:cNvSpPr>
            <p:nvPr/>
          </p:nvSpPr>
          <p:spPr bwMode="auto">
            <a:xfrm>
              <a:off x="1066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99" name="Text Box 9"/>
            <p:cNvSpPr txBox="1">
              <a:spLocks noChangeArrowheads="1"/>
            </p:cNvSpPr>
            <p:nvPr/>
          </p:nvSpPr>
          <p:spPr bwMode="auto">
            <a:xfrm>
              <a:off x="612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200" name="Text Box 10"/>
            <p:cNvSpPr txBox="1">
              <a:spLocks noChangeArrowheads="1"/>
            </p:cNvSpPr>
            <p:nvPr/>
          </p:nvSpPr>
          <p:spPr bwMode="auto">
            <a:xfrm>
              <a:off x="1533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3" name="Group 68"/>
          <p:cNvGrpSpPr/>
          <p:nvPr/>
        </p:nvGrpSpPr>
        <p:grpSpPr bwMode="auto">
          <a:xfrm>
            <a:off x="2843213" y="3659188"/>
            <a:ext cx="1798637" cy="1454150"/>
            <a:chOff x="1791" y="2305"/>
            <a:chExt cx="1133" cy="916"/>
          </a:xfrm>
        </p:grpSpPr>
        <p:grpSp>
          <p:nvGrpSpPr>
            <p:cNvPr id="49191" name="Group 47"/>
            <p:cNvGrpSpPr/>
            <p:nvPr/>
          </p:nvGrpSpPr>
          <p:grpSpPr bwMode="auto">
            <a:xfrm>
              <a:off x="1973" y="2533"/>
              <a:ext cx="807" cy="571"/>
              <a:chOff x="3757" y="233"/>
              <a:chExt cx="1034" cy="824"/>
            </a:xfrm>
          </p:grpSpPr>
          <p:sp>
            <p:nvSpPr>
              <p:cNvPr id="49195" name="AutoShape 4"/>
              <p:cNvSpPr>
                <a:spLocks noChangeArrowheads="1"/>
              </p:cNvSpPr>
              <p:nvPr/>
            </p:nvSpPr>
            <p:spPr bwMode="auto">
              <a:xfrm>
                <a:off x="3757" y="233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49196" name="Freeform 5"/>
              <p:cNvSpPr/>
              <p:nvPr/>
            </p:nvSpPr>
            <p:spPr bwMode="auto">
              <a:xfrm>
                <a:off x="3856" y="529"/>
                <a:ext cx="935" cy="528"/>
              </a:xfrm>
              <a:custGeom>
                <a:avLst/>
                <a:gdLst>
                  <a:gd name="T0" fmla="*/ 0 w 935"/>
                  <a:gd name="T1" fmla="*/ 0 h 528"/>
                  <a:gd name="T2" fmla="*/ 935 w 935"/>
                  <a:gd name="T3" fmla="*/ 528 h 528"/>
                  <a:gd name="T4" fmla="*/ 0 60000 65536"/>
                  <a:gd name="T5" fmla="*/ 0 60000 65536"/>
                  <a:gd name="T6" fmla="*/ 0 w 935"/>
                  <a:gd name="T7" fmla="*/ 0 h 528"/>
                  <a:gd name="T8" fmla="*/ 935 w 935"/>
                  <a:gd name="T9" fmla="*/ 528 h 52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35" h="528">
                    <a:moveTo>
                      <a:pt x="0" y="0"/>
                    </a:moveTo>
                    <a:lnTo>
                      <a:pt x="935" y="528"/>
                    </a:lnTo>
                  </a:path>
                </a:pathLst>
              </a:cu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92" name="Text Box 8"/>
            <p:cNvSpPr txBox="1">
              <a:spLocks noChangeArrowheads="1"/>
            </p:cNvSpPr>
            <p:nvPr/>
          </p:nvSpPr>
          <p:spPr bwMode="auto">
            <a:xfrm>
              <a:off x="2245" y="23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93" name="Text Box 9"/>
            <p:cNvSpPr txBox="1">
              <a:spLocks noChangeArrowheads="1"/>
            </p:cNvSpPr>
            <p:nvPr/>
          </p:nvSpPr>
          <p:spPr bwMode="auto">
            <a:xfrm>
              <a:off x="1791" y="293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94" name="Text Box 10"/>
            <p:cNvSpPr txBox="1">
              <a:spLocks noChangeArrowheads="1"/>
            </p:cNvSpPr>
            <p:nvPr/>
          </p:nvSpPr>
          <p:spPr bwMode="auto">
            <a:xfrm>
              <a:off x="2712" y="291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" name="Group 69"/>
          <p:cNvGrpSpPr/>
          <p:nvPr/>
        </p:nvGrpSpPr>
        <p:grpSpPr bwMode="auto">
          <a:xfrm>
            <a:off x="4760913" y="3644900"/>
            <a:ext cx="1798637" cy="1454150"/>
            <a:chOff x="2999" y="2296"/>
            <a:chExt cx="1133" cy="916"/>
          </a:xfrm>
        </p:grpSpPr>
        <p:grpSp>
          <p:nvGrpSpPr>
            <p:cNvPr id="49185" name="Group 48"/>
            <p:cNvGrpSpPr/>
            <p:nvPr/>
          </p:nvGrpSpPr>
          <p:grpSpPr bwMode="auto">
            <a:xfrm>
              <a:off x="3061" y="2523"/>
              <a:ext cx="862" cy="590"/>
              <a:chOff x="478" y="1589"/>
              <a:chExt cx="1104" cy="852"/>
            </a:xfrm>
          </p:grpSpPr>
          <p:sp>
            <p:nvSpPr>
              <p:cNvPr id="49189" name="AutoShape 13"/>
              <p:cNvSpPr>
                <a:spLocks noChangeArrowheads="1"/>
              </p:cNvSpPr>
              <p:nvPr/>
            </p:nvSpPr>
            <p:spPr bwMode="auto">
              <a:xfrm>
                <a:off x="630" y="1589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49190" name="Freeform 14"/>
              <p:cNvSpPr/>
              <p:nvPr/>
            </p:nvSpPr>
            <p:spPr bwMode="auto">
              <a:xfrm>
                <a:off x="478" y="1892"/>
                <a:ext cx="1010" cy="549"/>
              </a:xfrm>
              <a:custGeom>
                <a:avLst/>
                <a:gdLst>
                  <a:gd name="T0" fmla="*/ 0 w 1010"/>
                  <a:gd name="T1" fmla="*/ 549 h 549"/>
                  <a:gd name="T2" fmla="*/ 1010 w 1010"/>
                  <a:gd name="T3" fmla="*/ 0 h 549"/>
                  <a:gd name="T4" fmla="*/ 0 60000 65536"/>
                  <a:gd name="T5" fmla="*/ 0 60000 65536"/>
                  <a:gd name="T6" fmla="*/ 0 w 1010"/>
                  <a:gd name="T7" fmla="*/ 0 h 549"/>
                  <a:gd name="T8" fmla="*/ 1010 w 1010"/>
                  <a:gd name="T9" fmla="*/ 549 h 5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10" h="549">
                    <a:moveTo>
                      <a:pt x="0" y="549"/>
                    </a:moveTo>
                    <a:lnTo>
                      <a:pt x="1010" y="0"/>
                    </a:lnTo>
                  </a:path>
                </a:pathLst>
              </a:cu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6" name="Text Box 8"/>
            <p:cNvSpPr txBox="1">
              <a:spLocks noChangeArrowheads="1"/>
            </p:cNvSpPr>
            <p:nvPr/>
          </p:nvSpPr>
          <p:spPr bwMode="auto">
            <a:xfrm>
              <a:off x="3453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87" name="Text Box 9"/>
            <p:cNvSpPr txBox="1">
              <a:spLocks noChangeArrowheads="1"/>
            </p:cNvSpPr>
            <p:nvPr/>
          </p:nvSpPr>
          <p:spPr bwMode="auto">
            <a:xfrm>
              <a:off x="2999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88" name="Text Box 10"/>
            <p:cNvSpPr txBox="1">
              <a:spLocks noChangeArrowheads="1"/>
            </p:cNvSpPr>
            <p:nvPr/>
          </p:nvSpPr>
          <p:spPr bwMode="auto">
            <a:xfrm>
              <a:off x="3920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7" name="Group 70"/>
          <p:cNvGrpSpPr/>
          <p:nvPr/>
        </p:nvGrpSpPr>
        <p:grpSpPr bwMode="auto">
          <a:xfrm>
            <a:off x="6575425" y="3644900"/>
            <a:ext cx="1798638" cy="1454150"/>
            <a:chOff x="4142" y="2296"/>
            <a:chExt cx="1133" cy="916"/>
          </a:xfrm>
        </p:grpSpPr>
        <p:grpSp>
          <p:nvGrpSpPr>
            <p:cNvPr id="49179" name="Group 49"/>
            <p:cNvGrpSpPr/>
            <p:nvPr/>
          </p:nvGrpSpPr>
          <p:grpSpPr bwMode="auto">
            <a:xfrm>
              <a:off x="4332" y="2387"/>
              <a:ext cx="743" cy="785"/>
              <a:chOff x="3767" y="1389"/>
              <a:chExt cx="952" cy="1134"/>
            </a:xfrm>
          </p:grpSpPr>
          <p:sp>
            <p:nvSpPr>
              <p:cNvPr id="49183" name="AutoShape 15"/>
              <p:cNvSpPr>
                <a:spLocks noChangeArrowheads="1"/>
              </p:cNvSpPr>
              <p:nvPr/>
            </p:nvSpPr>
            <p:spPr bwMode="auto">
              <a:xfrm>
                <a:off x="3767" y="1589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49184" name="Line 16"/>
              <p:cNvSpPr>
                <a:spLocks noChangeShapeType="1"/>
              </p:cNvSpPr>
              <p:nvPr/>
            </p:nvSpPr>
            <p:spPr bwMode="auto">
              <a:xfrm>
                <a:off x="4239" y="1389"/>
                <a:ext cx="1" cy="1134"/>
              </a:xfrm>
              <a:prstGeom prst="line">
                <a:avLst/>
              </a:pr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0" name="Text Box 8"/>
            <p:cNvSpPr txBox="1">
              <a:spLocks noChangeArrowheads="1"/>
            </p:cNvSpPr>
            <p:nvPr/>
          </p:nvSpPr>
          <p:spPr bwMode="auto">
            <a:xfrm>
              <a:off x="4596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81" name="Text Box 9"/>
            <p:cNvSpPr txBox="1">
              <a:spLocks noChangeArrowheads="1"/>
            </p:cNvSpPr>
            <p:nvPr/>
          </p:nvSpPr>
          <p:spPr bwMode="auto">
            <a:xfrm>
              <a:off x="4142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82" name="Text Box 10"/>
            <p:cNvSpPr txBox="1">
              <a:spLocks noChangeArrowheads="1"/>
            </p:cNvSpPr>
            <p:nvPr/>
          </p:nvSpPr>
          <p:spPr bwMode="auto">
            <a:xfrm>
              <a:off x="5063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9" name="Group 72"/>
          <p:cNvGrpSpPr/>
          <p:nvPr/>
        </p:nvGrpSpPr>
        <p:grpSpPr bwMode="auto">
          <a:xfrm>
            <a:off x="4787900" y="4941888"/>
            <a:ext cx="2014538" cy="1454150"/>
            <a:chOff x="3016" y="3113"/>
            <a:chExt cx="1269" cy="916"/>
          </a:xfrm>
        </p:grpSpPr>
        <p:grpSp>
          <p:nvGrpSpPr>
            <p:cNvPr id="49171" name="Group 46"/>
            <p:cNvGrpSpPr/>
            <p:nvPr/>
          </p:nvGrpSpPr>
          <p:grpSpPr bwMode="auto">
            <a:xfrm>
              <a:off x="3016" y="3203"/>
              <a:ext cx="1063" cy="691"/>
              <a:chOff x="3352" y="2794"/>
              <a:chExt cx="1361" cy="998"/>
            </a:xfrm>
          </p:grpSpPr>
          <p:sp>
            <p:nvSpPr>
              <p:cNvPr id="49175" name="AutoShape 20"/>
              <p:cNvSpPr>
                <a:spLocks noChangeArrowheads="1"/>
              </p:cNvSpPr>
              <p:nvPr/>
            </p:nvSpPr>
            <p:spPr bwMode="auto">
              <a:xfrm>
                <a:off x="3761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49176" name="Group 26"/>
              <p:cNvGrpSpPr/>
              <p:nvPr/>
            </p:nvGrpSpPr>
            <p:grpSpPr bwMode="auto">
              <a:xfrm>
                <a:off x="3352" y="2794"/>
                <a:ext cx="862" cy="462"/>
                <a:chOff x="2426" y="2251"/>
                <a:chExt cx="862" cy="462"/>
              </a:xfrm>
            </p:grpSpPr>
            <p:sp>
              <p:nvSpPr>
                <p:cNvPr id="49177" name="Freeform 27"/>
                <p:cNvSpPr/>
                <p:nvPr/>
              </p:nvSpPr>
              <p:spPr bwMode="auto">
                <a:xfrm>
                  <a:off x="2925" y="2350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7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426" y="2251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120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9172" name="Text Box 8"/>
            <p:cNvSpPr txBox="1">
              <a:spLocks noChangeArrowheads="1"/>
            </p:cNvSpPr>
            <p:nvPr/>
          </p:nvSpPr>
          <p:spPr bwMode="auto">
            <a:xfrm>
              <a:off x="3606" y="31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73" name="Text Box 9"/>
            <p:cNvSpPr txBox="1">
              <a:spLocks noChangeArrowheads="1"/>
            </p:cNvSpPr>
            <p:nvPr/>
          </p:nvSpPr>
          <p:spPr bwMode="auto">
            <a:xfrm>
              <a:off x="3152" y="374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74" name="Text Box 10"/>
            <p:cNvSpPr txBox="1">
              <a:spLocks noChangeArrowheads="1"/>
            </p:cNvSpPr>
            <p:nvPr/>
          </p:nvSpPr>
          <p:spPr bwMode="auto">
            <a:xfrm>
              <a:off x="4073" y="372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12" name="Group 71"/>
          <p:cNvGrpSpPr/>
          <p:nvPr/>
        </p:nvGrpSpPr>
        <p:grpSpPr bwMode="auto">
          <a:xfrm>
            <a:off x="2195513" y="4984750"/>
            <a:ext cx="1957387" cy="1454150"/>
            <a:chOff x="1383" y="3140"/>
            <a:chExt cx="1233" cy="916"/>
          </a:xfrm>
        </p:grpSpPr>
        <p:grpSp>
          <p:nvGrpSpPr>
            <p:cNvPr id="49163" name="Group 45"/>
            <p:cNvGrpSpPr/>
            <p:nvPr/>
          </p:nvGrpSpPr>
          <p:grpSpPr bwMode="auto">
            <a:xfrm>
              <a:off x="1383" y="3234"/>
              <a:ext cx="1027" cy="660"/>
              <a:chOff x="262" y="2839"/>
              <a:chExt cx="1315" cy="953"/>
            </a:xfrm>
          </p:grpSpPr>
          <p:sp>
            <p:nvSpPr>
              <p:cNvPr id="49167" name="AutoShape 19"/>
              <p:cNvSpPr>
                <a:spLocks noChangeArrowheads="1"/>
              </p:cNvSpPr>
              <p:nvPr/>
            </p:nvSpPr>
            <p:spPr bwMode="auto">
              <a:xfrm>
                <a:off x="625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49168" name="Group 23"/>
              <p:cNvGrpSpPr/>
              <p:nvPr/>
            </p:nvGrpSpPr>
            <p:grpSpPr bwMode="auto">
              <a:xfrm>
                <a:off x="262" y="2839"/>
                <a:ext cx="862" cy="462"/>
                <a:chOff x="839" y="2296"/>
                <a:chExt cx="862" cy="462"/>
              </a:xfrm>
            </p:grpSpPr>
            <p:sp>
              <p:nvSpPr>
                <p:cNvPr id="49169" name="Freeform 24"/>
                <p:cNvSpPr/>
                <p:nvPr/>
              </p:nvSpPr>
              <p:spPr bwMode="auto">
                <a:xfrm>
                  <a:off x="1338" y="2296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7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39" y="2342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240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9164" name="Text Box 8"/>
            <p:cNvSpPr txBox="1">
              <a:spLocks noChangeArrowheads="1"/>
            </p:cNvSpPr>
            <p:nvPr/>
          </p:nvSpPr>
          <p:spPr bwMode="auto">
            <a:xfrm>
              <a:off x="1937" y="31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65" name="Text Box 9"/>
            <p:cNvSpPr txBox="1">
              <a:spLocks noChangeArrowheads="1"/>
            </p:cNvSpPr>
            <p:nvPr/>
          </p:nvSpPr>
          <p:spPr bwMode="auto">
            <a:xfrm>
              <a:off x="1483" y="37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49166" name="Text Box 10"/>
            <p:cNvSpPr txBox="1">
              <a:spLocks noChangeArrowheads="1"/>
            </p:cNvSpPr>
            <p:nvPr/>
          </p:nvSpPr>
          <p:spPr bwMode="auto">
            <a:xfrm>
              <a:off x="2404" y="374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7" name="Freeform 5"/>
          <p:cNvSpPr/>
          <p:nvPr/>
        </p:nvSpPr>
        <p:spPr bwMode="auto">
          <a:xfrm>
            <a:off x="6121400" y="839788"/>
            <a:ext cx="1484313" cy="838200"/>
          </a:xfrm>
          <a:custGeom>
            <a:avLst/>
            <a:gdLst>
              <a:gd name="T0" fmla="*/ 0 w 935"/>
              <a:gd name="T1" fmla="*/ 0 h 528"/>
              <a:gd name="T2" fmla="*/ 2147483646 w 935"/>
              <a:gd name="T3" fmla="*/ 2147483646 h 528"/>
              <a:gd name="T4" fmla="*/ 0 60000 65536"/>
              <a:gd name="T5" fmla="*/ 0 60000 65536"/>
              <a:gd name="T6" fmla="*/ 0 w 935"/>
              <a:gd name="T7" fmla="*/ 0 h 528"/>
              <a:gd name="T8" fmla="*/ 935 w 935"/>
              <a:gd name="T9" fmla="*/ 528 h 5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35" h="528">
                <a:moveTo>
                  <a:pt x="0" y="0"/>
                </a:moveTo>
                <a:lnTo>
                  <a:pt x="935" y="528"/>
                </a:lnTo>
              </a:path>
            </a:pathLst>
          </a:custGeom>
          <a:noFill/>
          <a:ln w="38100">
            <a:solidFill>
              <a:srgbClr val="993366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"/>
          <p:cNvGrpSpPr/>
          <p:nvPr/>
        </p:nvGrpSpPr>
        <p:grpSpPr bwMode="auto">
          <a:xfrm>
            <a:off x="612775" y="-100013"/>
            <a:ext cx="2303463" cy="1944688"/>
            <a:chOff x="204" y="709"/>
            <a:chExt cx="1451" cy="1225"/>
          </a:xfrm>
        </p:grpSpPr>
        <p:sp>
          <p:nvSpPr>
            <p:cNvPr id="51245" name="AutoShape 7"/>
            <p:cNvSpPr>
              <a:spLocks noChangeArrowheads="1"/>
            </p:cNvSpPr>
            <p:nvPr/>
          </p:nvSpPr>
          <p:spPr bwMode="auto">
            <a:xfrm>
              <a:off x="446" y="1004"/>
              <a:ext cx="952" cy="771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51246" name="Text Box 8"/>
            <p:cNvSpPr txBox="1">
              <a:spLocks noChangeArrowheads="1"/>
            </p:cNvSpPr>
            <p:nvPr/>
          </p:nvSpPr>
          <p:spPr bwMode="auto">
            <a:xfrm>
              <a:off x="794" y="709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47" name="Text Box 9"/>
            <p:cNvSpPr txBox="1">
              <a:spLocks noChangeArrowheads="1"/>
            </p:cNvSpPr>
            <p:nvPr/>
          </p:nvSpPr>
          <p:spPr bwMode="auto">
            <a:xfrm>
              <a:off x="204" y="1588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48" name="Text Box 10"/>
            <p:cNvSpPr txBox="1">
              <a:spLocks noChangeArrowheads="1"/>
            </p:cNvSpPr>
            <p:nvPr/>
          </p:nvSpPr>
          <p:spPr bwMode="auto">
            <a:xfrm>
              <a:off x="1383" y="1562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</p:grpSp>
      <p:sp>
        <p:nvSpPr>
          <p:cNvPr id="812043" name="Text Box 11"/>
          <p:cNvSpPr txBox="1">
            <a:spLocks noChangeArrowheads="1"/>
          </p:cNvSpPr>
          <p:nvPr/>
        </p:nvSpPr>
        <p:spPr bwMode="auto">
          <a:xfrm>
            <a:off x="107950" y="1700213"/>
            <a:ext cx="4210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f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dirty="0">
                <a:solidFill>
                  <a:schemeClr val="accent2"/>
                </a:solidFill>
              </a:rPr>
              <a:t>={&lt;1,1&gt;,&lt;2,2&gt;,&lt;3,3&gt;} </a:t>
            </a:r>
            <a:r>
              <a:rPr lang="en-US" altLang="zh-CN" sz="2800" dirty="0">
                <a:solidFill>
                  <a:srgbClr val="0066FF"/>
                </a:solidFill>
              </a:rPr>
              <a:t>(1)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812044" name="Text Box 12"/>
          <p:cNvSpPr txBox="1">
            <a:spLocks noChangeArrowheads="1"/>
          </p:cNvSpPr>
          <p:nvPr/>
        </p:nvSpPr>
        <p:spPr bwMode="auto">
          <a:xfrm>
            <a:off x="4716463" y="1700213"/>
            <a:ext cx="4427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 dirty="0">
                <a:solidFill>
                  <a:schemeClr val="accent2"/>
                </a:solidFill>
              </a:rPr>
              <a:t>f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dirty="0">
                <a:solidFill>
                  <a:schemeClr val="accent2"/>
                </a:solidFill>
              </a:rPr>
              <a:t>={&lt;1,2&gt;,&lt;2,1&gt;,&lt;3,3&gt;} </a:t>
            </a:r>
            <a:r>
              <a:rPr lang="en-US" altLang="zh-CN" sz="2800" dirty="0">
                <a:solidFill>
                  <a:srgbClr val="0066FF"/>
                </a:solidFill>
              </a:rPr>
              <a:t>(1 2)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  <p:sp>
        <p:nvSpPr>
          <p:cNvPr id="812046" name="Freeform 14"/>
          <p:cNvSpPr/>
          <p:nvPr/>
        </p:nvSpPr>
        <p:spPr bwMode="auto">
          <a:xfrm>
            <a:off x="758825" y="3003550"/>
            <a:ext cx="1603375" cy="871538"/>
          </a:xfrm>
          <a:custGeom>
            <a:avLst/>
            <a:gdLst>
              <a:gd name="T0" fmla="*/ 0 w 1010"/>
              <a:gd name="T1" fmla="*/ 2147483646 h 549"/>
              <a:gd name="T2" fmla="*/ 2147483646 w 1010"/>
              <a:gd name="T3" fmla="*/ 0 h 549"/>
              <a:gd name="T4" fmla="*/ 0 60000 65536"/>
              <a:gd name="T5" fmla="*/ 0 60000 65536"/>
              <a:gd name="T6" fmla="*/ 0 w 1010"/>
              <a:gd name="T7" fmla="*/ 0 h 549"/>
              <a:gd name="T8" fmla="*/ 1010 w 1010"/>
              <a:gd name="T9" fmla="*/ 549 h 5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0" h="549">
                <a:moveTo>
                  <a:pt x="0" y="549"/>
                </a:moveTo>
                <a:lnTo>
                  <a:pt x="1010" y="0"/>
                </a:lnTo>
              </a:path>
            </a:pathLst>
          </a:custGeom>
          <a:noFill/>
          <a:ln w="38100">
            <a:solidFill>
              <a:srgbClr val="993366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2048" name="Line 16"/>
          <p:cNvSpPr>
            <a:spLocks noChangeShapeType="1"/>
          </p:cNvSpPr>
          <p:nvPr/>
        </p:nvSpPr>
        <p:spPr bwMode="auto">
          <a:xfrm>
            <a:off x="6729413" y="2205038"/>
            <a:ext cx="1587" cy="1800225"/>
          </a:xfrm>
          <a:prstGeom prst="line">
            <a:avLst/>
          </a:prstGeom>
          <a:noFill/>
          <a:ln w="38100">
            <a:solidFill>
              <a:srgbClr val="993366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2049" name="Text Box 17"/>
          <p:cNvSpPr txBox="1">
            <a:spLocks noChangeArrowheads="1"/>
          </p:cNvSpPr>
          <p:nvPr/>
        </p:nvSpPr>
        <p:spPr bwMode="auto">
          <a:xfrm>
            <a:off x="107950" y="3846513"/>
            <a:ext cx="4459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3</a:t>
            </a:r>
            <a:r>
              <a:rPr lang="en-US" altLang="zh-CN" sz="2800">
                <a:solidFill>
                  <a:schemeClr val="accent2"/>
                </a:solidFill>
              </a:rPr>
              <a:t>={&lt;1,3&gt;,&lt;2,2&gt;,&lt;3,1&gt;} </a:t>
            </a:r>
            <a:r>
              <a:rPr lang="en-US" altLang="zh-CN" sz="2800">
                <a:solidFill>
                  <a:srgbClr val="0066FF"/>
                </a:solidFill>
              </a:rPr>
              <a:t>(1 3)</a:t>
            </a:r>
            <a:endParaRPr lang="en-US" altLang="zh-CN" sz="2800">
              <a:solidFill>
                <a:srgbClr val="0066FF"/>
              </a:solidFill>
            </a:endParaRPr>
          </a:p>
        </p:txBody>
      </p:sp>
      <p:sp>
        <p:nvSpPr>
          <p:cNvPr id="812050" name="Text Box 18"/>
          <p:cNvSpPr txBox="1">
            <a:spLocks noChangeArrowheads="1"/>
          </p:cNvSpPr>
          <p:nvPr/>
        </p:nvSpPr>
        <p:spPr bwMode="auto">
          <a:xfrm>
            <a:off x="4787900" y="3846513"/>
            <a:ext cx="4294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4</a:t>
            </a:r>
            <a:r>
              <a:rPr lang="en-US" altLang="zh-CN" sz="2800">
                <a:solidFill>
                  <a:schemeClr val="accent2"/>
                </a:solidFill>
              </a:rPr>
              <a:t>={&lt;1,1&gt;,&lt;2,3&gt;,&lt;3,2&gt;} </a:t>
            </a:r>
            <a:r>
              <a:rPr lang="en-US" altLang="zh-CN" sz="2800">
                <a:solidFill>
                  <a:srgbClr val="0066FF"/>
                </a:solidFill>
              </a:rPr>
              <a:t>(2 3)</a:t>
            </a:r>
            <a:endParaRPr lang="en-US" altLang="zh-CN" sz="2800">
              <a:solidFill>
                <a:srgbClr val="0066FF"/>
              </a:solidFill>
            </a:endParaRPr>
          </a:p>
        </p:txBody>
      </p:sp>
      <p:sp>
        <p:nvSpPr>
          <p:cNvPr id="812053" name="Text Box 21"/>
          <p:cNvSpPr txBox="1">
            <a:spLocks noChangeArrowheads="1"/>
          </p:cNvSpPr>
          <p:nvPr/>
        </p:nvSpPr>
        <p:spPr bwMode="auto">
          <a:xfrm>
            <a:off x="34925" y="6067425"/>
            <a:ext cx="460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5</a:t>
            </a:r>
            <a:r>
              <a:rPr lang="en-US" altLang="zh-CN" sz="2800">
                <a:solidFill>
                  <a:schemeClr val="accent2"/>
                </a:solidFill>
              </a:rPr>
              <a:t>={&lt;1,2&gt;,&lt;2,3&gt;,&lt;3,1&gt;} </a:t>
            </a:r>
            <a:r>
              <a:rPr lang="en-US" altLang="zh-CN" sz="2800">
                <a:solidFill>
                  <a:srgbClr val="0066FF"/>
                </a:solidFill>
              </a:rPr>
              <a:t>(1 2 3)</a:t>
            </a:r>
            <a:endParaRPr lang="en-US" altLang="zh-CN" sz="2800">
              <a:solidFill>
                <a:srgbClr val="0066FF"/>
              </a:solidFill>
            </a:endParaRPr>
          </a:p>
        </p:txBody>
      </p:sp>
      <p:sp>
        <p:nvSpPr>
          <p:cNvPr id="812054" name="Text Box 22"/>
          <p:cNvSpPr txBox="1">
            <a:spLocks noChangeArrowheads="1"/>
          </p:cNvSpPr>
          <p:nvPr/>
        </p:nvSpPr>
        <p:spPr bwMode="auto">
          <a:xfrm>
            <a:off x="4643438" y="6067425"/>
            <a:ext cx="4608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6</a:t>
            </a:r>
            <a:r>
              <a:rPr lang="en-US" altLang="zh-CN" sz="2800">
                <a:solidFill>
                  <a:schemeClr val="accent2"/>
                </a:solidFill>
              </a:rPr>
              <a:t>={&lt;1,3&gt;,&lt;2,1&gt;,&lt;3,2&gt;}</a:t>
            </a:r>
            <a:r>
              <a:rPr lang="en-US" altLang="zh-CN" sz="2800">
                <a:solidFill>
                  <a:srgbClr val="0066FF"/>
                </a:solidFill>
              </a:rPr>
              <a:t>(1 3 2)</a:t>
            </a:r>
            <a:endParaRPr lang="en-US" altLang="zh-CN" sz="2800">
              <a:solidFill>
                <a:srgbClr val="0066FF"/>
              </a:solidFill>
            </a:endParaRPr>
          </a:p>
        </p:txBody>
      </p:sp>
      <p:grpSp>
        <p:nvGrpSpPr>
          <p:cNvPr id="3" name="Group 23"/>
          <p:cNvGrpSpPr/>
          <p:nvPr/>
        </p:nvGrpSpPr>
        <p:grpSpPr bwMode="auto">
          <a:xfrm>
            <a:off x="415925" y="4506913"/>
            <a:ext cx="1368425" cy="622300"/>
            <a:chOff x="839" y="2296"/>
            <a:chExt cx="862" cy="392"/>
          </a:xfrm>
        </p:grpSpPr>
        <p:sp>
          <p:nvSpPr>
            <p:cNvPr id="51243" name="Freeform 24"/>
            <p:cNvSpPr/>
            <p:nvPr/>
          </p:nvSpPr>
          <p:spPr bwMode="auto">
            <a:xfrm>
              <a:off x="1338" y="2296"/>
              <a:ext cx="363" cy="363"/>
            </a:xfrm>
            <a:custGeom>
              <a:avLst/>
              <a:gdLst>
                <a:gd name="T0" fmla="*/ 363 w 363"/>
                <a:gd name="T1" fmla="*/ 0 h 363"/>
                <a:gd name="T2" fmla="*/ 91 w 363"/>
                <a:gd name="T3" fmla="*/ 91 h 363"/>
                <a:gd name="T4" fmla="*/ 0 w 363"/>
                <a:gd name="T5" fmla="*/ 363 h 363"/>
                <a:gd name="T6" fmla="*/ 0 60000 65536"/>
                <a:gd name="T7" fmla="*/ 0 60000 65536"/>
                <a:gd name="T8" fmla="*/ 0 60000 65536"/>
                <a:gd name="T9" fmla="*/ 0 w 363"/>
                <a:gd name="T10" fmla="*/ 0 h 363"/>
                <a:gd name="T11" fmla="*/ 363 w 363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63">
                  <a:moveTo>
                    <a:pt x="363" y="0"/>
                  </a:moveTo>
                  <a:cubicBezTo>
                    <a:pt x="257" y="15"/>
                    <a:pt x="151" y="31"/>
                    <a:pt x="91" y="91"/>
                  </a:cubicBezTo>
                  <a:cubicBezTo>
                    <a:pt x="31" y="151"/>
                    <a:pt x="8" y="318"/>
                    <a:pt x="0" y="3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4" name="Text Box 25"/>
            <p:cNvSpPr txBox="1">
              <a:spLocks noChangeArrowheads="1"/>
            </p:cNvSpPr>
            <p:nvPr/>
          </p:nvSpPr>
          <p:spPr bwMode="auto">
            <a:xfrm>
              <a:off x="839" y="2342"/>
              <a:ext cx="63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240</a:t>
              </a: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</a:rPr>
                <a:t>º</a:t>
              </a:r>
              <a:endParaRPr lang="en-US" altLang="zh-CN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26"/>
          <p:cNvGrpSpPr/>
          <p:nvPr/>
        </p:nvGrpSpPr>
        <p:grpSpPr bwMode="auto">
          <a:xfrm>
            <a:off x="5321300" y="4435475"/>
            <a:ext cx="1368425" cy="733425"/>
            <a:chOff x="2426" y="2251"/>
            <a:chExt cx="862" cy="462"/>
          </a:xfrm>
        </p:grpSpPr>
        <p:sp>
          <p:nvSpPr>
            <p:cNvPr id="51241" name="Freeform 27"/>
            <p:cNvSpPr/>
            <p:nvPr/>
          </p:nvSpPr>
          <p:spPr bwMode="auto">
            <a:xfrm>
              <a:off x="2925" y="2350"/>
              <a:ext cx="363" cy="363"/>
            </a:xfrm>
            <a:custGeom>
              <a:avLst/>
              <a:gdLst>
                <a:gd name="T0" fmla="*/ 363 w 363"/>
                <a:gd name="T1" fmla="*/ 0 h 363"/>
                <a:gd name="T2" fmla="*/ 91 w 363"/>
                <a:gd name="T3" fmla="*/ 91 h 363"/>
                <a:gd name="T4" fmla="*/ 0 w 363"/>
                <a:gd name="T5" fmla="*/ 363 h 363"/>
                <a:gd name="T6" fmla="*/ 0 60000 65536"/>
                <a:gd name="T7" fmla="*/ 0 60000 65536"/>
                <a:gd name="T8" fmla="*/ 0 60000 65536"/>
                <a:gd name="T9" fmla="*/ 0 w 363"/>
                <a:gd name="T10" fmla="*/ 0 h 363"/>
                <a:gd name="T11" fmla="*/ 363 w 363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63">
                  <a:moveTo>
                    <a:pt x="363" y="0"/>
                  </a:moveTo>
                  <a:cubicBezTo>
                    <a:pt x="257" y="15"/>
                    <a:pt x="151" y="31"/>
                    <a:pt x="91" y="91"/>
                  </a:cubicBezTo>
                  <a:cubicBezTo>
                    <a:pt x="31" y="151"/>
                    <a:pt x="8" y="318"/>
                    <a:pt x="0" y="3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2" name="Text Box 28"/>
            <p:cNvSpPr txBox="1">
              <a:spLocks noChangeArrowheads="1"/>
            </p:cNvSpPr>
            <p:nvPr/>
          </p:nvSpPr>
          <p:spPr bwMode="auto">
            <a:xfrm>
              <a:off x="2426" y="2251"/>
              <a:ext cx="63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120</a:t>
              </a: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</a:rPr>
                <a:t>º</a:t>
              </a:r>
              <a:endParaRPr lang="en-US" altLang="zh-CN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4"/>
          <p:cNvGrpSpPr/>
          <p:nvPr/>
        </p:nvGrpSpPr>
        <p:grpSpPr bwMode="auto">
          <a:xfrm>
            <a:off x="5653088" y="-100013"/>
            <a:ext cx="2303462" cy="1944688"/>
            <a:chOff x="5652913" y="-99392"/>
            <a:chExt cx="2303463" cy="1944688"/>
          </a:xfrm>
        </p:grpSpPr>
        <p:sp>
          <p:nvSpPr>
            <p:cNvPr id="51237" name="AutoShape 4"/>
            <p:cNvSpPr>
              <a:spLocks noChangeArrowheads="1"/>
            </p:cNvSpPr>
            <p:nvPr/>
          </p:nvSpPr>
          <p:spPr bwMode="auto">
            <a:xfrm>
              <a:off x="5964238" y="36988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51238" name="Text Box 8"/>
            <p:cNvSpPr txBox="1">
              <a:spLocks noChangeArrowheads="1"/>
            </p:cNvSpPr>
            <p:nvPr/>
          </p:nvSpPr>
          <p:spPr bwMode="auto">
            <a:xfrm>
              <a:off x="6589538" y="-99392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39" name="Text Box 9"/>
            <p:cNvSpPr txBox="1">
              <a:spLocks noChangeArrowheads="1"/>
            </p:cNvSpPr>
            <p:nvPr/>
          </p:nvSpPr>
          <p:spPr bwMode="auto">
            <a:xfrm>
              <a:off x="5652913" y="1296021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40" name="Text Box 10"/>
            <p:cNvSpPr txBox="1">
              <a:spLocks noChangeArrowheads="1"/>
            </p:cNvSpPr>
            <p:nvPr/>
          </p:nvSpPr>
          <p:spPr bwMode="auto">
            <a:xfrm>
              <a:off x="7524576" y="125474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</p:grpSp>
      <p:grpSp>
        <p:nvGrpSpPr>
          <p:cNvPr id="6" name="组合 49"/>
          <p:cNvGrpSpPr/>
          <p:nvPr/>
        </p:nvGrpSpPr>
        <p:grpSpPr bwMode="auto">
          <a:xfrm>
            <a:off x="612775" y="2060575"/>
            <a:ext cx="2303463" cy="1944688"/>
            <a:chOff x="612353" y="2060848"/>
            <a:chExt cx="2303463" cy="1944688"/>
          </a:xfrm>
        </p:grpSpPr>
        <p:sp>
          <p:nvSpPr>
            <p:cNvPr id="51232" name="AutoShape 13"/>
            <p:cNvSpPr>
              <a:spLocks noChangeArrowheads="1"/>
            </p:cNvSpPr>
            <p:nvPr/>
          </p:nvSpPr>
          <p:spPr bwMode="auto">
            <a:xfrm>
              <a:off x="1000125" y="25225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grpSp>
          <p:nvGrpSpPr>
            <p:cNvPr id="51233" name="组合 45"/>
            <p:cNvGrpSpPr/>
            <p:nvPr/>
          </p:nvGrpSpPr>
          <p:grpSpPr bwMode="auto">
            <a:xfrm>
              <a:off x="612353" y="2060848"/>
              <a:ext cx="2303463" cy="1944688"/>
              <a:chOff x="612353" y="2060848"/>
              <a:chExt cx="2303463" cy="1944688"/>
            </a:xfrm>
          </p:grpSpPr>
          <p:sp>
            <p:nvSpPr>
              <p:cNvPr id="51234" name="Text Box 8"/>
              <p:cNvSpPr txBox="1">
                <a:spLocks noChangeArrowheads="1"/>
              </p:cNvSpPr>
              <p:nvPr/>
            </p:nvSpPr>
            <p:spPr bwMode="auto">
              <a:xfrm>
                <a:off x="1548978" y="2060848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3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  <p:sp>
            <p:nvSpPr>
              <p:cNvPr id="51235" name="Text Box 9"/>
              <p:cNvSpPr txBox="1">
                <a:spLocks noChangeArrowheads="1"/>
              </p:cNvSpPr>
              <p:nvPr/>
            </p:nvSpPr>
            <p:spPr bwMode="auto">
              <a:xfrm>
                <a:off x="612353" y="3456261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2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  <p:sp>
            <p:nvSpPr>
              <p:cNvPr id="51236" name="Text Box 10"/>
              <p:cNvSpPr txBox="1">
                <a:spLocks noChangeArrowheads="1"/>
              </p:cNvSpPr>
              <p:nvPr/>
            </p:nvSpPr>
            <p:spPr bwMode="auto">
              <a:xfrm>
                <a:off x="2484016" y="3414986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1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</p:grpSp>
      </p:grpSp>
      <p:grpSp>
        <p:nvGrpSpPr>
          <p:cNvPr id="8" name="组合 50"/>
          <p:cNvGrpSpPr/>
          <p:nvPr/>
        </p:nvGrpSpPr>
        <p:grpSpPr bwMode="auto">
          <a:xfrm>
            <a:off x="5651500" y="2060575"/>
            <a:ext cx="2232025" cy="1944688"/>
            <a:chOff x="5652120" y="2060848"/>
            <a:chExt cx="2232000" cy="1944688"/>
          </a:xfrm>
        </p:grpSpPr>
        <p:sp>
          <p:nvSpPr>
            <p:cNvPr id="51227" name="AutoShape 15"/>
            <p:cNvSpPr>
              <a:spLocks noChangeArrowheads="1"/>
            </p:cNvSpPr>
            <p:nvPr/>
          </p:nvSpPr>
          <p:spPr bwMode="auto">
            <a:xfrm>
              <a:off x="5980113" y="25225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grpSp>
          <p:nvGrpSpPr>
            <p:cNvPr id="51228" name="组合 46"/>
            <p:cNvGrpSpPr/>
            <p:nvPr/>
          </p:nvGrpSpPr>
          <p:grpSpPr bwMode="auto">
            <a:xfrm>
              <a:off x="5652120" y="2060848"/>
              <a:ext cx="2232000" cy="1944688"/>
              <a:chOff x="5652120" y="2060848"/>
              <a:chExt cx="2232000" cy="1944688"/>
            </a:xfrm>
          </p:grpSpPr>
          <p:sp>
            <p:nvSpPr>
              <p:cNvPr id="51229" name="Text Box 8"/>
              <p:cNvSpPr txBox="1">
                <a:spLocks noChangeArrowheads="1"/>
              </p:cNvSpPr>
              <p:nvPr/>
            </p:nvSpPr>
            <p:spPr bwMode="auto">
              <a:xfrm>
                <a:off x="6661546" y="2060848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1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  <p:sp>
            <p:nvSpPr>
              <p:cNvPr id="51230" name="Text Box 9"/>
              <p:cNvSpPr txBox="1">
                <a:spLocks noChangeArrowheads="1"/>
              </p:cNvSpPr>
              <p:nvPr/>
            </p:nvSpPr>
            <p:spPr bwMode="auto">
              <a:xfrm>
                <a:off x="5652120" y="3456261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3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  <p:sp>
            <p:nvSpPr>
              <p:cNvPr id="51231" name="Text Box 10"/>
              <p:cNvSpPr txBox="1">
                <a:spLocks noChangeArrowheads="1"/>
              </p:cNvSpPr>
              <p:nvPr/>
            </p:nvSpPr>
            <p:spPr bwMode="auto">
              <a:xfrm>
                <a:off x="7452320" y="3414986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2</a:t>
                </a:r>
                <a:endParaRPr lang="en-US" altLang="zh-CN">
                  <a:solidFill>
                    <a:srgbClr val="993366"/>
                  </a:solidFill>
                </a:endParaRPr>
              </a:p>
            </p:txBody>
          </p:sp>
        </p:grpSp>
      </p:grpSp>
      <p:grpSp>
        <p:nvGrpSpPr>
          <p:cNvPr id="10" name="组合 47"/>
          <p:cNvGrpSpPr/>
          <p:nvPr/>
        </p:nvGrpSpPr>
        <p:grpSpPr bwMode="auto">
          <a:xfrm>
            <a:off x="611188" y="4292600"/>
            <a:ext cx="2303462" cy="1944688"/>
            <a:chOff x="611039" y="4293096"/>
            <a:chExt cx="2303463" cy="1944688"/>
          </a:xfrm>
        </p:grpSpPr>
        <p:sp>
          <p:nvSpPr>
            <p:cNvPr id="51223" name="AutoShape 19"/>
            <p:cNvSpPr>
              <a:spLocks noChangeArrowheads="1"/>
            </p:cNvSpPr>
            <p:nvPr/>
          </p:nvSpPr>
          <p:spPr bwMode="auto">
            <a:xfrm>
              <a:off x="992188" y="47958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51224" name="Text Box 8"/>
            <p:cNvSpPr txBox="1">
              <a:spLocks noChangeArrowheads="1"/>
            </p:cNvSpPr>
            <p:nvPr/>
          </p:nvSpPr>
          <p:spPr bwMode="auto">
            <a:xfrm>
              <a:off x="1547664" y="429309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25" name="Text Box 9"/>
            <p:cNvSpPr txBox="1">
              <a:spLocks noChangeArrowheads="1"/>
            </p:cNvSpPr>
            <p:nvPr/>
          </p:nvSpPr>
          <p:spPr bwMode="auto">
            <a:xfrm>
              <a:off x="611039" y="5688509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26" name="Text Box 10"/>
            <p:cNvSpPr txBox="1">
              <a:spLocks noChangeArrowheads="1"/>
            </p:cNvSpPr>
            <p:nvPr/>
          </p:nvSpPr>
          <p:spPr bwMode="auto">
            <a:xfrm>
              <a:off x="2482702" y="5647234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</p:grpSp>
      <p:grpSp>
        <p:nvGrpSpPr>
          <p:cNvPr id="11" name="组合 48"/>
          <p:cNvGrpSpPr/>
          <p:nvPr/>
        </p:nvGrpSpPr>
        <p:grpSpPr bwMode="auto">
          <a:xfrm>
            <a:off x="5580063" y="4292600"/>
            <a:ext cx="2303462" cy="1944688"/>
            <a:chOff x="5579591" y="4293096"/>
            <a:chExt cx="2303463" cy="1944688"/>
          </a:xfrm>
        </p:grpSpPr>
        <p:sp>
          <p:nvSpPr>
            <p:cNvPr id="51219" name="AutoShape 20"/>
            <p:cNvSpPr>
              <a:spLocks noChangeArrowheads="1"/>
            </p:cNvSpPr>
            <p:nvPr/>
          </p:nvSpPr>
          <p:spPr bwMode="auto">
            <a:xfrm>
              <a:off x="5970588" y="47958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51220" name="Text Box 8"/>
            <p:cNvSpPr txBox="1">
              <a:spLocks noChangeArrowheads="1"/>
            </p:cNvSpPr>
            <p:nvPr/>
          </p:nvSpPr>
          <p:spPr bwMode="auto">
            <a:xfrm>
              <a:off x="6516216" y="429309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21" name="Text Box 9"/>
            <p:cNvSpPr txBox="1">
              <a:spLocks noChangeArrowheads="1"/>
            </p:cNvSpPr>
            <p:nvPr/>
          </p:nvSpPr>
          <p:spPr bwMode="auto">
            <a:xfrm>
              <a:off x="5579591" y="5688509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  <p:sp>
          <p:nvSpPr>
            <p:cNvPr id="51222" name="Text Box 10"/>
            <p:cNvSpPr txBox="1">
              <a:spLocks noChangeArrowheads="1"/>
            </p:cNvSpPr>
            <p:nvPr/>
          </p:nvSpPr>
          <p:spPr bwMode="auto">
            <a:xfrm>
              <a:off x="7451254" y="5647234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  <a:endParaRPr lang="en-US" altLang="zh-CN">
                <a:solidFill>
                  <a:srgbClr val="993366"/>
                </a:solidFill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43" grpId="0"/>
      <p:bldP spid="812044" grpId="0"/>
      <p:bldP spid="812049" grpId="0"/>
      <p:bldP spid="812050" grpId="0"/>
      <p:bldP spid="812053" grpId="0"/>
      <p:bldP spid="8120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44208" y="5372100"/>
            <a:ext cx="2556917" cy="92394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47664" y="3645024"/>
            <a:ext cx="4748361" cy="17270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2829" name="Group 77"/>
          <p:cNvGraphicFramePr>
            <a:graphicFrameLocks noGrp="1"/>
          </p:cNvGraphicFramePr>
          <p:nvPr/>
        </p:nvGraphicFramePr>
        <p:xfrm>
          <a:off x="179512" y="3140968"/>
          <a:ext cx="8893175" cy="3179779"/>
        </p:xfrm>
        <a:graphic>
          <a:graphicData uri="http://schemas.openxmlformats.org/drawingml/2006/table">
            <a:tbl>
              <a:tblPr/>
              <a:tblGrid>
                <a:gridCol w="1374775"/>
                <a:gridCol w="7518400"/>
              </a:tblGrid>
              <a:tr h="528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◦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5" marB="45675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(1)       (1 2)       (1 3)      (2 3)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 2 3)     (1 3 2)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675" marB="4567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651653">
                <a:tc>
                  <a:txBody>
                    <a:bodyPr/>
                    <a:lstStyle/>
                    <a:p>
                      <a:pPr marL="0" marR="0" lvl="0" indent="666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5" marB="45675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463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     (1 2)       (1 3)      (2 3)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 2 3)     (1 3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4635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(1 2)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 2 3)    (1 3 2)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   (1 3)        (2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4635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3)     (1 3 2)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    (1 2 3)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(2 3)        (1 2)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4635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(2 3)     (1 2 3)   (1 3 2)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2)        (1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4635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 3)    (2 3)      (1 2)      (1 3)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(1 3 2) 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4635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 2)    (1 3)      (2 3)      (1 2) 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 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(1 2 3)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5" marB="4567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3261" name="Group 29"/>
          <p:cNvGrpSpPr/>
          <p:nvPr/>
        </p:nvGrpSpPr>
        <p:grpSpPr bwMode="auto">
          <a:xfrm>
            <a:off x="1044575" y="188913"/>
            <a:ext cx="1798638" cy="1454150"/>
            <a:chOff x="612" y="2296"/>
            <a:chExt cx="1133" cy="916"/>
          </a:xfrm>
        </p:grpSpPr>
        <p:sp>
          <p:nvSpPr>
            <p:cNvPr id="53301" name="AutoShape 7"/>
            <p:cNvSpPr>
              <a:spLocks noChangeArrowheads="1"/>
            </p:cNvSpPr>
            <p:nvPr/>
          </p:nvSpPr>
          <p:spPr bwMode="auto">
            <a:xfrm>
              <a:off x="801" y="2519"/>
              <a:ext cx="743" cy="53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Verdana" panose="020B0604030504040204" pitchFamily="34" charset="0"/>
              </a:endParaRPr>
            </a:p>
          </p:txBody>
        </p:sp>
        <p:sp>
          <p:nvSpPr>
            <p:cNvPr id="53302" name="Text Box 8"/>
            <p:cNvSpPr txBox="1">
              <a:spLocks noChangeArrowheads="1"/>
            </p:cNvSpPr>
            <p:nvPr/>
          </p:nvSpPr>
          <p:spPr bwMode="auto">
            <a:xfrm>
              <a:off x="1066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303" name="Text Box 9"/>
            <p:cNvSpPr txBox="1">
              <a:spLocks noChangeArrowheads="1"/>
            </p:cNvSpPr>
            <p:nvPr/>
          </p:nvSpPr>
          <p:spPr bwMode="auto">
            <a:xfrm>
              <a:off x="612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304" name="Text Box 10"/>
            <p:cNvSpPr txBox="1">
              <a:spLocks noChangeArrowheads="1"/>
            </p:cNvSpPr>
            <p:nvPr/>
          </p:nvSpPr>
          <p:spPr bwMode="auto">
            <a:xfrm>
              <a:off x="1533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3262" name="Group 34"/>
          <p:cNvGrpSpPr/>
          <p:nvPr/>
        </p:nvGrpSpPr>
        <p:grpSpPr bwMode="auto">
          <a:xfrm>
            <a:off x="2916238" y="203200"/>
            <a:ext cx="1798637" cy="1454150"/>
            <a:chOff x="1791" y="2305"/>
            <a:chExt cx="1133" cy="916"/>
          </a:xfrm>
        </p:grpSpPr>
        <p:grpSp>
          <p:nvGrpSpPr>
            <p:cNvPr id="53295" name="Group 35"/>
            <p:cNvGrpSpPr/>
            <p:nvPr/>
          </p:nvGrpSpPr>
          <p:grpSpPr bwMode="auto">
            <a:xfrm>
              <a:off x="1973" y="2533"/>
              <a:ext cx="807" cy="571"/>
              <a:chOff x="3757" y="233"/>
              <a:chExt cx="1034" cy="824"/>
            </a:xfrm>
          </p:grpSpPr>
          <p:sp>
            <p:nvSpPr>
              <p:cNvPr id="53299" name="AutoShape 4"/>
              <p:cNvSpPr>
                <a:spLocks noChangeArrowheads="1"/>
              </p:cNvSpPr>
              <p:nvPr/>
            </p:nvSpPr>
            <p:spPr bwMode="auto">
              <a:xfrm>
                <a:off x="3757" y="233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3300" name="Freeform 5"/>
              <p:cNvSpPr/>
              <p:nvPr/>
            </p:nvSpPr>
            <p:spPr bwMode="auto">
              <a:xfrm>
                <a:off x="3856" y="529"/>
                <a:ext cx="935" cy="528"/>
              </a:xfrm>
              <a:custGeom>
                <a:avLst/>
                <a:gdLst>
                  <a:gd name="T0" fmla="*/ 0 w 935"/>
                  <a:gd name="T1" fmla="*/ 0 h 528"/>
                  <a:gd name="T2" fmla="*/ 935 w 935"/>
                  <a:gd name="T3" fmla="*/ 528 h 528"/>
                  <a:gd name="T4" fmla="*/ 0 60000 65536"/>
                  <a:gd name="T5" fmla="*/ 0 60000 65536"/>
                  <a:gd name="T6" fmla="*/ 0 w 935"/>
                  <a:gd name="T7" fmla="*/ 0 h 528"/>
                  <a:gd name="T8" fmla="*/ 935 w 935"/>
                  <a:gd name="T9" fmla="*/ 528 h 52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35" h="528">
                    <a:moveTo>
                      <a:pt x="0" y="0"/>
                    </a:moveTo>
                    <a:lnTo>
                      <a:pt x="935" y="528"/>
                    </a:lnTo>
                  </a:path>
                </a:pathLst>
              </a:cu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6" name="Text Box 8"/>
            <p:cNvSpPr txBox="1">
              <a:spLocks noChangeArrowheads="1"/>
            </p:cNvSpPr>
            <p:nvPr/>
          </p:nvSpPr>
          <p:spPr bwMode="auto">
            <a:xfrm>
              <a:off x="2245" y="23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97" name="Text Box 9"/>
            <p:cNvSpPr txBox="1">
              <a:spLocks noChangeArrowheads="1"/>
            </p:cNvSpPr>
            <p:nvPr/>
          </p:nvSpPr>
          <p:spPr bwMode="auto">
            <a:xfrm>
              <a:off x="1791" y="293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98" name="Text Box 10"/>
            <p:cNvSpPr txBox="1">
              <a:spLocks noChangeArrowheads="1"/>
            </p:cNvSpPr>
            <p:nvPr/>
          </p:nvSpPr>
          <p:spPr bwMode="auto">
            <a:xfrm>
              <a:off x="2712" y="291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3263" name="Group 41"/>
          <p:cNvGrpSpPr/>
          <p:nvPr/>
        </p:nvGrpSpPr>
        <p:grpSpPr bwMode="auto">
          <a:xfrm>
            <a:off x="4833938" y="188913"/>
            <a:ext cx="1798637" cy="1454150"/>
            <a:chOff x="2999" y="2296"/>
            <a:chExt cx="1133" cy="916"/>
          </a:xfrm>
        </p:grpSpPr>
        <p:grpSp>
          <p:nvGrpSpPr>
            <p:cNvPr id="53289" name="Group 42"/>
            <p:cNvGrpSpPr/>
            <p:nvPr/>
          </p:nvGrpSpPr>
          <p:grpSpPr bwMode="auto">
            <a:xfrm>
              <a:off x="3061" y="2523"/>
              <a:ext cx="862" cy="590"/>
              <a:chOff x="478" y="1589"/>
              <a:chExt cx="1104" cy="852"/>
            </a:xfrm>
          </p:grpSpPr>
          <p:sp>
            <p:nvSpPr>
              <p:cNvPr id="53293" name="AutoShape 13"/>
              <p:cNvSpPr>
                <a:spLocks noChangeArrowheads="1"/>
              </p:cNvSpPr>
              <p:nvPr/>
            </p:nvSpPr>
            <p:spPr bwMode="auto">
              <a:xfrm>
                <a:off x="630" y="1589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3294" name="Freeform 14"/>
              <p:cNvSpPr/>
              <p:nvPr/>
            </p:nvSpPr>
            <p:spPr bwMode="auto">
              <a:xfrm>
                <a:off x="478" y="1892"/>
                <a:ext cx="1010" cy="549"/>
              </a:xfrm>
              <a:custGeom>
                <a:avLst/>
                <a:gdLst>
                  <a:gd name="T0" fmla="*/ 0 w 1010"/>
                  <a:gd name="T1" fmla="*/ 549 h 549"/>
                  <a:gd name="T2" fmla="*/ 1010 w 1010"/>
                  <a:gd name="T3" fmla="*/ 0 h 549"/>
                  <a:gd name="T4" fmla="*/ 0 60000 65536"/>
                  <a:gd name="T5" fmla="*/ 0 60000 65536"/>
                  <a:gd name="T6" fmla="*/ 0 w 1010"/>
                  <a:gd name="T7" fmla="*/ 0 h 549"/>
                  <a:gd name="T8" fmla="*/ 1010 w 1010"/>
                  <a:gd name="T9" fmla="*/ 549 h 54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10" h="549">
                    <a:moveTo>
                      <a:pt x="0" y="549"/>
                    </a:moveTo>
                    <a:lnTo>
                      <a:pt x="1010" y="0"/>
                    </a:lnTo>
                  </a:path>
                </a:pathLst>
              </a:cu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90" name="Text Box 8"/>
            <p:cNvSpPr txBox="1">
              <a:spLocks noChangeArrowheads="1"/>
            </p:cNvSpPr>
            <p:nvPr/>
          </p:nvSpPr>
          <p:spPr bwMode="auto">
            <a:xfrm>
              <a:off x="3453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993366"/>
                  </a:solidFill>
                </a:rPr>
                <a:t>1</a:t>
              </a:r>
              <a:endParaRPr lang="en-US" altLang="zh-CN" sz="2400" dirty="0">
                <a:solidFill>
                  <a:srgbClr val="993366"/>
                </a:solidFill>
              </a:endParaRPr>
            </a:p>
          </p:txBody>
        </p:sp>
        <p:sp>
          <p:nvSpPr>
            <p:cNvPr id="53291" name="Text Box 9"/>
            <p:cNvSpPr txBox="1">
              <a:spLocks noChangeArrowheads="1"/>
            </p:cNvSpPr>
            <p:nvPr/>
          </p:nvSpPr>
          <p:spPr bwMode="auto">
            <a:xfrm>
              <a:off x="2999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92" name="Text Box 10"/>
            <p:cNvSpPr txBox="1">
              <a:spLocks noChangeArrowheads="1"/>
            </p:cNvSpPr>
            <p:nvPr/>
          </p:nvSpPr>
          <p:spPr bwMode="auto">
            <a:xfrm>
              <a:off x="3920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3264" name="Group 48"/>
          <p:cNvGrpSpPr/>
          <p:nvPr/>
        </p:nvGrpSpPr>
        <p:grpSpPr bwMode="auto">
          <a:xfrm>
            <a:off x="6648450" y="188913"/>
            <a:ext cx="1798638" cy="1454150"/>
            <a:chOff x="4142" y="2296"/>
            <a:chExt cx="1133" cy="916"/>
          </a:xfrm>
        </p:grpSpPr>
        <p:grpSp>
          <p:nvGrpSpPr>
            <p:cNvPr id="53283" name="Group 49"/>
            <p:cNvGrpSpPr/>
            <p:nvPr/>
          </p:nvGrpSpPr>
          <p:grpSpPr bwMode="auto">
            <a:xfrm>
              <a:off x="4332" y="2387"/>
              <a:ext cx="743" cy="785"/>
              <a:chOff x="3767" y="1389"/>
              <a:chExt cx="952" cy="1134"/>
            </a:xfrm>
          </p:grpSpPr>
          <p:sp>
            <p:nvSpPr>
              <p:cNvPr id="53287" name="AutoShape 15"/>
              <p:cNvSpPr>
                <a:spLocks noChangeArrowheads="1"/>
              </p:cNvSpPr>
              <p:nvPr/>
            </p:nvSpPr>
            <p:spPr bwMode="auto">
              <a:xfrm>
                <a:off x="3767" y="1589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3288" name="Line 16"/>
              <p:cNvSpPr>
                <a:spLocks noChangeShapeType="1"/>
              </p:cNvSpPr>
              <p:nvPr/>
            </p:nvSpPr>
            <p:spPr bwMode="auto">
              <a:xfrm>
                <a:off x="4239" y="1389"/>
                <a:ext cx="1" cy="1134"/>
              </a:xfrm>
              <a:prstGeom prst="line">
                <a:avLst/>
              </a:prstGeom>
              <a:noFill/>
              <a:ln w="38100">
                <a:solidFill>
                  <a:srgbClr val="993366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84" name="Text Box 8"/>
            <p:cNvSpPr txBox="1">
              <a:spLocks noChangeArrowheads="1"/>
            </p:cNvSpPr>
            <p:nvPr/>
          </p:nvSpPr>
          <p:spPr bwMode="auto">
            <a:xfrm>
              <a:off x="4596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85" name="Text Box 9"/>
            <p:cNvSpPr txBox="1">
              <a:spLocks noChangeArrowheads="1"/>
            </p:cNvSpPr>
            <p:nvPr/>
          </p:nvSpPr>
          <p:spPr bwMode="auto">
            <a:xfrm>
              <a:off x="4142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86" name="Text Box 10"/>
            <p:cNvSpPr txBox="1">
              <a:spLocks noChangeArrowheads="1"/>
            </p:cNvSpPr>
            <p:nvPr/>
          </p:nvSpPr>
          <p:spPr bwMode="auto">
            <a:xfrm>
              <a:off x="5063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3265" name="Group 55"/>
          <p:cNvGrpSpPr/>
          <p:nvPr/>
        </p:nvGrpSpPr>
        <p:grpSpPr bwMode="auto">
          <a:xfrm>
            <a:off x="4860925" y="1485900"/>
            <a:ext cx="2014538" cy="1454150"/>
            <a:chOff x="3016" y="3113"/>
            <a:chExt cx="1269" cy="916"/>
          </a:xfrm>
        </p:grpSpPr>
        <p:grpSp>
          <p:nvGrpSpPr>
            <p:cNvPr id="53275" name="Group 56"/>
            <p:cNvGrpSpPr/>
            <p:nvPr/>
          </p:nvGrpSpPr>
          <p:grpSpPr bwMode="auto">
            <a:xfrm>
              <a:off x="3016" y="3203"/>
              <a:ext cx="1063" cy="691"/>
              <a:chOff x="3352" y="2794"/>
              <a:chExt cx="1361" cy="998"/>
            </a:xfrm>
          </p:grpSpPr>
          <p:sp>
            <p:nvSpPr>
              <p:cNvPr id="53279" name="AutoShape 20"/>
              <p:cNvSpPr>
                <a:spLocks noChangeArrowheads="1"/>
              </p:cNvSpPr>
              <p:nvPr/>
            </p:nvSpPr>
            <p:spPr bwMode="auto">
              <a:xfrm>
                <a:off x="3761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53280" name="Group 26"/>
              <p:cNvGrpSpPr/>
              <p:nvPr/>
            </p:nvGrpSpPr>
            <p:grpSpPr bwMode="auto">
              <a:xfrm>
                <a:off x="3352" y="2794"/>
                <a:ext cx="862" cy="462"/>
                <a:chOff x="2426" y="2251"/>
                <a:chExt cx="862" cy="462"/>
              </a:xfrm>
            </p:grpSpPr>
            <p:sp>
              <p:nvSpPr>
                <p:cNvPr id="53281" name="Freeform 27"/>
                <p:cNvSpPr/>
                <p:nvPr/>
              </p:nvSpPr>
              <p:spPr bwMode="auto">
                <a:xfrm>
                  <a:off x="2925" y="2350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426" y="2251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120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3276" name="Text Box 8"/>
            <p:cNvSpPr txBox="1">
              <a:spLocks noChangeArrowheads="1"/>
            </p:cNvSpPr>
            <p:nvPr/>
          </p:nvSpPr>
          <p:spPr bwMode="auto">
            <a:xfrm>
              <a:off x="3606" y="31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77" name="Text Box 9"/>
            <p:cNvSpPr txBox="1">
              <a:spLocks noChangeArrowheads="1"/>
            </p:cNvSpPr>
            <p:nvPr/>
          </p:nvSpPr>
          <p:spPr bwMode="auto">
            <a:xfrm>
              <a:off x="3152" y="374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78" name="Text Box 10"/>
            <p:cNvSpPr txBox="1">
              <a:spLocks noChangeArrowheads="1"/>
            </p:cNvSpPr>
            <p:nvPr/>
          </p:nvSpPr>
          <p:spPr bwMode="auto">
            <a:xfrm>
              <a:off x="4073" y="372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53266" name="Group 64"/>
          <p:cNvGrpSpPr/>
          <p:nvPr/>
        </p:nvGrpSpPr>
        <p:grpSpPr bwMode="auto">
          <a:xfrm>
            <a:off x="2268538" y="1528763"/>
            <a:ext cx="1957387" cy="1454150"/>
            <a:chOff x="1383" y="3140"/>
            <a:chExt cx="1233" cy="916"/>
          </a:xfrm>
        </p:grpSpPr>
        <p:grpSp>
          <p:nvGrpSpPr>
            <p:cNvPr id="53267" name="Group 65"/>
            <p:cNvGrpSpPr/>
            <p:nvPr/>
          </p:nvGrpSpPr>
          <p:grpSpPr bwMode="auto">
            <a:xfrm>
              <a:off x="1383" y="3234"/>
              <a:ext cx="1027" cy="660"/>
              <a:chOff x="262" y="2839"/>
              <a:chExt cx="1315" cy="953"/>
            </a:xfrm>
          </p:grpSpPr>
          <p:sp>
            <p:nvSpPr>
              <p:cNvPr id="53271" name="AutoShape 19"/>
              <p:cNvSpPr>
                <a:spLocks noChangeArrowheads="1"/>
              </p:cNvSpPr>
              <p:nvPr/>
            </p:nvSpPr>
            <p:spPr bwMode="auto">
              <a:xfrm>
                <a:off x="625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53272" name="Group 23"/>
              <p:cNvGrpSpPr/>
              <p:nvPr/>
            </p:nvGrpSpPr>
            <p:grpSpPr bwMode="auto">
              <a:xfrm>
                <a:off x="262" y="2839"/>
                <a:ext cx="862" cy="462"/>
                <a:chOff x="839" y="2296"/>
                <a:chExt cx="862" cy="462"/>
              </a:xfrm>
            </p:grpSpPr>
            <p:sp>
              <p:nvSpPr>
                <p:cNvPr id="53273" name="Freeform 24"/>
                <p:cNvSpPr/>
                <p:nvPr/>
              </p:nvSpPr>
              <p:spPr bwMode="auto">
                <a:xfrm>
                  <a:off x="1338" y="2296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7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39" y="2342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240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3268" name="Text Box 8"/>
            <p:cNvSpPr txBox="1">
              <a:spLocks noChangeArrowheads="1"/>
            </p:cNvSpPr>
            <p:nvPr/>
          </p:nvSpPr>
          <p:spPr bwMode="auto">
            <a:xfrm>
              <a:off x="1937" y="31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69" name="Text Box 9"/>
            <p:cNvSpPr txBox="1">
              <a:spLocks noChangeArrowheads="1"/>
            </p:cNvSpPr>
            <p:nvPr/>
          </p:nvSpPr>
          <p:spPr bwMode="auto">
            <a:xfrm>
              <a:off x="1483" y="37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3270" name="Text Box 10"/>
            <p:cNvSpPr txBox="1">
              <a:spLocks noChangeArrowheads="1"/>
            </p:cNvSpPr>
            <p:nvPr/>
          </p:nvSpPr>
          <p:spPr bwMode="auto">
            <a:xfrm>
              <a:off x="2404" y="374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28162" y="549276"/>
            <a:ext cx="575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(1)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911634" y="521441"/>
            <a:ext cx="836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(1 2)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811653" y="521441"/>
            <a:ext cx="836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(1 3)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508977" y="521441"/>
            <a:ext cx="836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(2 3)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02309" y="2144018"/>
            <a:ext cx="104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(1 2 3)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581328" y="2109977"/>
            <a:ext cx="104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66FF"/>
                </a:solidFill>
              </a:rPr>
              <a:t>(1 3 2)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45728A-0BC4-4B34-8F8F-DD0D1674E057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n</a:t>
            </a:r>
            <a:r>
              <a:rPr lang="zh-CN" altLang="en-US"/>
              <a:t>元交错群</a:t>
            </a:r>
            <a:endParaRPr lang="zh-CN" altLang="en-US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en-US" altLang="zh-CN" i="1" dirty="0">
                <a:solidFill>
                  <a:schemeClr val="accent2"/>
                </a:solidFill>
              </a:rPr>
              <a:t>n</a:t>
            </a:r>
            <a:r>
              <a:rPr lang="zh-CN" altLang="en-US" dirty="0">
                <a:solidFill>
                  <a:schemeClr val="accent2"/>
                </a:solidFill>
              </a:rPr>
              <a:t>元交错群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zh-CN" altLang="en-US" dirty="0"/>
              <a:t>的子群，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是所有的</a:t>
            </a:r>
            <a:r>
              <a:rPr lang="en-US" altLang="zh-CN" i="1" dirty="0"/>
              <a:t>n</a:t>
            </a:r>
            <a:r>
              <a:rPr lang="zh-CN" altLang="en-US" dirty="0"/>
              <a:t>元偶置换的集合</a:t>
            </a:r>
            <a:r>
              <a:rPr lang="en-US" altLang="zh-CN" dirty="0"/>
              <a:t>.</a:t>
            </a:r>
            <a:endParaRPr lang="en-US" altLang="zh-CN" dirty="0"/>
          </a:p>
          <a:p>
            <a:pPr marL="571500" indent="-571500" eaLnBrk="1" hangingPunct="1">
              <a:spcBef>
                <a:spcPct val="55000"/>
              </a:spcBef>
            </a:pPr>
            <a:r>
              <a:rPr lang="zh-CN" altLang="en-US" dirty="0"/>
              <a:t>证  恒等置换</a:t>
            </a:r>
            <a:r>
              <a:rPr lang="en-US" altLang="zh-CN" dirty="0"/>
              <a:t>(1) </a:t>
            </a:r>
            <a:r>
              <a:rPr lang="zh-CN" altLang="en-US" dirty="0"/>
              <a:t>是偶置换，所以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非空</a:t>
            </a:r>
            <a:r>
              <a:rPr lang="en-US" altLang="zh-CN" dirty="0"/>
              <a:t>. </a:t>
            </a:r>
            <a:endParaRPr lang="en-US" altLang="zh-CN" dirty="0"/>
          </a:p>
          <a:p>
            <a:pPr marL="1043305" lvl="1" indent="-57150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50"/>
                </a:solidFill>
              </a:rPr>
              <a:t>根据判定定理三，只需证明封闭性</a:t>
            </a:r>
            <a:r>
              <a:rPr lang="zh-CN" altLang="en-US" dirty="0"/>
              <a:t>：</a:t>
            </a:r>
            <a:endParaRPr lang="zh-CN" altLang="en-US" dirty="0"/>
          </a:p>
          <a:p>
            <a:pPr marL="1043305" lvl="1" indent="-571500" eaLnBrk="1" hangingPunct="1"/>
            <a:r>
              <a:rPr lang="zh-CN" altLang="en-US" dirty="0"/>
              <a:t>任取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en-US" altLang="zh-CN" dirty="0"/>
              <a:t>,</a:t>
            </a:r>
            <a:r>
              <a:rPr lang="en-US" altLang="zh-CN" i="1" dirty="0">
                <a:ea typeface="Batang" panose="02030600000101010101" pitchFamily="18" charset="-127"/>
                <a:sym typeface="Symbol" panose="05050102010706020507" pitchFamily="18" charset="2"/>
              </a:rPr>
              <a:t> </a:t>
            </a:r>
            <a:r>
              <a:rPr lang="en-US" altLang="zh-CN" dirty="0"/>
              <a:t>∈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， 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en-US" altLang="zh-CN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en-US" altLang="zh-CN" i="1" dirty="0">
                <a:ea typeface="Batang" panose="02030600000101010101" pitchFamily="18" charset="-127"/>
                <a:sym typeface="Symbol" panose="05050102010706020507" pitchFamily="18" charset="2"/>
              </a:rPr>
              <a:t></a:t>
            </a:r>
            <a:r>
              <a:rPr lang="en-US" altLang="zh-CN" i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zh-CN" altLang="en-US" dirty="0"/>
              <a:t>都可以表成偶数个对换之积，那么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i="1" dirty="0">
                <a:ea typeface="Batang" panose="02030600000101010101" pitchFamily="18" charset="-127"/>
              </a:rPr>
              <a:t> </a:t>
            </a:r>
            <a:r>
              <a:rPr lang="zh-CN" altLang="en-US" i="1" dirty="0">
                <a:ea typeface="Batang" panose="02030600000101010101" pitchFamily="18" charset="-127"/>
                <a:sym typeface="Symbol" panose="05050102010706020507" pitchFamily="18" charset="2"/>
              </a:rPr>
              <a:t></a:t>
            </a:r>
            <a:r>
              <a:rPr lang="zh-CN" altLang="en-US" dirty="0"/>
              <a:t>也可以表成偶数个对换之积，所以</a:t>
            </a:r>
            <a:r>
              <a:rPr lang="zh-CN" altLang="en-US" i="1" dirty="0">
                <a:sym typeface="Symbol" panose="05050102010706020507" pitchFamily="18" charset="2"/>
              </a:rPr>
              <a:t></a:t>
            </a:r>
            <a:r>
              <a:rPr lang="zh-CN" altLang="en-US" i="1" dirty="0">
                <a:ea typeface="Batang" panose="02030600000101010101" pitchFamily="18" charset="-127"/>
              </a:rPr>
              <a:t> </a:t>
            </a:r>
            <a:r>
              <a:rPr lang="zh-CN" altLang="en-US" i="1" dirty="0">
                <a:ea typeface="Batang" panose="02030600000101010101" pitchFamily="18" charset="-127"/>
                <a:sym typeface="Symbol" panose="05050102010706020507" pitchFamily="18" charset="2"/>
              </a:rPr>
              <a:t> </a:t>
            </a:r>
            <a:r>
              <a:rPr lang="zh-CN" altLang="en-US" dirty="0"/>
              <a:t>∈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. </a:t>
            </a:r>
            <a:endParaRPr lang="en-US" altLang="zh-CN" dirty="0"/>
          </a:p>
          <a:p>
            <a:pPr marL="571500" indent="-571500"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 </a:t>
            </a:r>
            <a:r>
              <a:rPr lang="en-US" altLang="zh-CN" i="1" dirty="0"/>
              <a:t>S </a:t>
            </a:r>
            <a:r>
              <a:rPr lang="en-US" altLang="zh-CN" dirty="0"/>
              <a:t>= {1, 2, 3}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元交错群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={ (1), (1 2 3), (1 3 2) }</a:t>
            </a:r>
            <a:endParaRPr lang="zh-CN" altLang="en-US" dirty="0"/>
          </a:p>
        </p:txBody>
      </p:sp>
      <p:graphicFrame>
        <p:nvGraphicFramePr>
          <p:cNvPr id="201808" name="Group 80"/>
          <p:cNvGraphicFramePr>
            <a:graphicFrameLocks noGrp="1"/>
          </p:cNvGraphicFramePr>
          <p:nvPr/>
        </p:nvGraphicFramePr>
        <p:xfrm>
          <a:off x="1289154" y="3972393"/>
          <a:ext cx="5948259" cy="2133261"/>
        </p:xfrm>
        <a:graphic>
          <a:graphicData uri="http://schemas.openxmlformats.org/drawingml/2006/table">
            <a:tbl>
              <a:tblPr/>
              <a:tblGrid>
                <a:gridCol w="1323967"/>
                <a:gridCol w="4624292"/>
              </a:tblGrid>
              <a:tr h="539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◦</a:t>
                      </a:r>
                      <a:endParaRPr kumimoji="0" lang="zh-CN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33" marB="4573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 (1)      (1 2 3)     (1 3 2) 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5845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(1)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(1 2 3)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(1 3 2)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 (1)       (1 2 3)     (1 3 2)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2 3)   (1 3 2)        (1)</a:t>
                      </a:r>
                      <a:endParaRPr kumimoji="0" lang="zh-CN" altLang="en-US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(1 3 2)      (1)        (1 2 3) 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56"/>
          <p:cNvGrpSpPr/>
          <p:nvPr/>
        </p:nvGrpSpPr>
        <p:grpSpPr bwMode="auto">
          <a:xfrm>
            <a:off x="1044575" y="2335213"/>
            <a:ext cx="1798638" cy="1454150"/>
            <a:chOff x="612" y="2296"/>
            <a:chExt cx="1133" cy="916"/>
          </a:xfrm>
        </p:grpSpPr>
        <p:sp>
          <p:nvSpPr>
            <p:cNvPr id="55330" name="AutoShape 7"/>
            <p:cNvSpPr>
              <a:spLocks noChangeArrowheads="1"/>
            </p:cNvSpPr>
            <p:nvPr/>
          </p:nvSpPr>
          <p:spPr bwMode="auto">
            <a:xfrm>
              <a:off x="801" y="2519"/>
              <a:ext cx="743" cy="53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b="0">
                <a:latin typeface="Verdana" panose="020B0604030504040204" pitchFamily="34" charset="0"/>
              </a:endParaRPr>
            </a:p>
          </p:txBody>
        </p:sp>
        <p:sp>
          <p:nvSpPr>
            <p:cNvPr id="55331" name="Text Box 8"/>
            <p:cNvSpPr txBox="1">
              <a:spLocks noChangeArrowheads="1"/>
            </p:cNvSpPr>
            <p:nvPr/>
          </p:nvSpPr>
          <p:spPr bwMode="auto">
            <a:xfrm>
              <a:off x="1066" y="22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32" name="Text Box 9"/>
            <p:cNvSpPr txBox="1">
              <a:spLocks noChangeArrowheads="1"/>
            </p:cNvSpPr>
            <p:nvPr/>
          </p:nvSpPr>
          <p:spPr bwMode="auto">
            <a:xfrm>
              <a:off x="612" y="29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33" name="Text Box 10"/>
            <p:cNvSpPr txBox="1">
              <a:spLocks noChangeArrowheads="1"/>
            </p:cNvSpPr>
            <p:nvPr/>
          </p:nvSpPr>
          <p:spPr bwMode="auto">
            <a:xfrm>
              <a:off x="1533" y="290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3" name="Group 61"/>
          <p:cNvGrpSpPr/>
          <p:nvPr/>
        </p:nvGrpSpPr>
        <p:grpSpPr bwMode="auto">
          <a:xfrm>
            <a:off x="5581650" y="2292350"/>
            <a:ext cx="2014538" cy="1454150"/>
            <a:chOff x="3016" y="3113"/>
            <a:chExt cx="1269" cy="916"/>
          </a:xfrm>
        </p:grpSpPr>
        <p:grpSp>
          <p:nvGrpSpPr>
            <p:cNvPr id="55322" name="Group 62"/>
            <p:cNvGrpSpPr/>
            <p:nvPr/>
          </p:nvGrpSpPr>
          <p:grpSpPr bwMode="auto">
            <a:xfrm>
              <a:off x="3016" y="3203"/>
              <a:ext cx="1063" cy="691"/>
              <a:chOff x="3352" y="2794"/>
              <a:chExt cx="1361" cy="998"/>
            </a:xfrm>
          </p:grpSpPr>
          <p:sp>
            <p:nvSpPr>
              <p:cNvPr id="55326" name="AutoShape 20"/>
              <p:cNvSpPr>
                <a:spLocks noChangeArrowheads="1"/>
              </p:cNvSpPr>
              <p:nvPr/>
            </p:nvSpPr>
            <p:spPr bwMode="auto">
              <a:xfrm>
                <a:off x="3761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55327" name="Group 26"/>
              <p:cNvGrpSpPr/>
              <p:nvPr/>
            </p:nvGrpSpPr>
            <p:grpSpPr bwMode="auto">
              <a:xfrm>
                <a:off x="3352" y="2794"/>
                <a:ext cx="862" cy="462"/>
                <a:chOff x="2426" y="2251"/>
                <a:chExt cx="862" cy="462"/>
              </a:xfrm>
            </p:grpSpPr>
            <p:sp>
              <p:nvSpPr>
                <p:cNvPr id="55328" name="Freeform 27"/>
                <p:cNvSpPr/>
                <p:nvPr/>
              </p:nvSpPr>
              <p:spPr bwMode="auto">
                <a:xfrm>
                  <a:off x="2925" y="2350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2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426" y="2251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120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5323" name="Text Box 8"/>
            <p:cNvSpPr txBox="1">
              <a:spLocks noChangeArrowheads="1"/>
            </p:cNvSpPr>
            <p:nvPr/>
          </p:nvSpPr>
          <p:spPr bwMode="auto">
            <a:xfrm>
              <a:off x="3606" y="311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24" name="Text Box 9"/>
            <p:cNvSpPr txBox="1">
              <a:spLocks noChangeArrowheads="1"/>
            </p:cNvSpPr>
            <p:nvPr/>
          </p:nvSpPr>
          <p:spPr bwMode="auto">
            <a:xfrm>
              <a:off x="3152" y="374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25" name="Text Box 10"/>
            <p:cNvSpPr txBox="1">
              <a:spLocks noChangeArrowheads="1"/>
            </p:cNvSpPr>
            <p:nvPr/>
          </p:nvSpPr>
          <p:spPr bwMode="auto">
            <a:xfrm>
              <a:off x="4073" y="372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  <p:grpSp>
        <p:nvGrpSpPr>
          <p:cNvPr id="6" name="Group 70"/>
          <p:cNvGrpSpPr/>
          <p:nvPr/>
        </p:nvGrpSpPr>
        <p:grpSpPr bwMode="auto">
          <a:xfrm>
            <a:off x="3190875" y="2335213"/>
            <a:ext cx="1957388" cy="1454150"/>
            <a:chOff x="1383" y="3140"/>
            <a:chExt cx="1233" cy="916"/>
          </a:xfrm>
        </p:grpSpPr>
        <p:grpSp>
          <p:nvGrpSpPr>
            <p:cNvPr id="55314" name="Group 71"/>
            <p:cNvGrpSpPr/>
            <p:nvPr/>
          </p:nvGrpSpPr>
          <p:grpSpPr bwMode="auto">
            <a:xfrm>
              <a:off x="1383" y="3234"/>
              <a:ext cx="1027" cy="660"/>
              <a:chOff x="262" y="2839"/>
              <a:chExt cx="1315" cy="953"/>
            </a:xfrm>
          </p:grpSpPr>
          <p:sp>
            <p:nvSpPr>
              <p:cNvPr id="55318" name="AutoShape 19"/>
              <p:cNvSpPr>
                <a:spLocks noChangeArrowheads="1"/>
              </p:cNvSpPr>
              <p:nvPr/>
            </p:nvSpPr>
            <p:spPr bwMode="auto">
              <a:xfrm>
                <a:off x="625" y="3021"/>
                <a:ext cx="952" cy="77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grpSp>
            <p:nvGrpSpPr>
              <p:cNvPr id="55319" name="Group 23"/>
              <p:cNvGrpSpPr/>
              <p:nvPr/>
            </p:nvGrpSpPr>
            <p:grpSpPr bwMode="auto">
              <a:xfrm>
                <a:off x="262" y="2839"/>
                <a:ext cx="862" cy="462"/>
                <a:chOff x="839" y="2296"/>
                <a:chExt cx="862" cy="462"/>
              </a:xfrm>
            </p:grpSpPr>
            <p:sp>
              <p:nvSpPr>
                <p:cNvPr id="55320" name="Freeform 24"/>
                <p:cNvSpPr/>
                <p:nvPr/>
              </p:nvSpPr>
              <p:spPr bwMode="auto">
                <a:xfrm>
                  <a:off x="1338" y="2296"/>
                  <a:ext cx="363" cy="363"/>
                </a:xfrm>
                <a:custGeom>
                  <a:avLst/>
                  <a:gdLst>
                    <a:gd name="T0" fmla="*/ 363 w 363"/>
                    <a:gd name="T1" fmla="*/ 0 h 363"/>
                    <a:gd name="T2" fmla="*/ 91 w 363"/>
                    <a:gd name="T3" fmla="*/ 91 h 363"/>
                    <a:gd name="T4" fmla="*/ 0 w 363"/>
                    <a:gd name="T5" fmla="*/ 363 h 363"/>
                    <a:gd name="T6" fmla="*/ 0 60000 65536"/>
                    <a:gd name="T7" fmla="*/ 0 60000 65536"/>
                    <a:gd name="T8" fmla="*/ 0 60000 65536"/>
                    <a:gd name="T9" fmla="*/ 0 w 363"/>
                    <a:gd name="T10" fmla="*/ 0 h 363"/>
                    <a:gd name="T11" fmla="*/ 363 w 363"/>
                    <a:gd name="T12" fmla="*/ 363 h 3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3" h="363">
                      <a:moveTo>
                        <a:pt x="363" y="0"/>
                      </a:moveTo>
                      <a:cubicBezTo>
                        <a:pt x="257" y="15"/>
                        <a:pt x="151" y="31"/>
                        <a:pt x="91" y="91"/>
                      </a:cubicBezTo>
                      <a:cubicBezTo>
                        <a:pt x="31" y="151"/>
                        <a:pt x="8" y="318"/>
                        <a:pt x="0" y="363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2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39" y="2342"/>
                  <a:ext cx="635" cy="4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solidFill>
                        <a:schemeClr val="accent2"/>
                      </a:solidFill>
                    </a:rPr>
                    <a:t>240</a:t>
                  </a:r>
                  <a:r>
                    <a:rPr lang="en-US" altLang="zh-CN" sz="2400">
                      <a:solidFill>
                        <a:schemeClr val="accent2"/>
                      </a:solidFill>
                      <a:cs typeface="Times New Roman" panose="02020603050405020304" pitchFamily="18" charset="0"/>
                    </a:rPr>
                    <a:t>º</a:t>
                  </a:r>
                  <a:endParaRPr lang="en-US" altLang="zh-CN" sz="2400">
                    <a:solidFill>
                      <a:schemeClr val="accent2"/>
                    </a:solidFill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5315" name="Text Box 8"/>
            <p:cNvSpPr txBox="1">
              <a:spLocks noChangeArrowheads="1"/>
            </p:cNvSpPr>
            <p:nvPr/>
          </p:nvSpPr>
          <p:spPr bwMode="auto">
            <a:xfrm>
              <a:off x="1937" y="31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1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16" name="Text Box 9"/>
            <p:cNvSpPr txBox="1">
              <a:spLocks noChangeArrowheads="1"/>
            </p:cNvSpPr>
            <p:nvPr/>
          </p:nvSpPr>
          <p:spPr bwMode="auto">
            <a:xfrm>
              <a:off x="1483" y="37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2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  <p:sp>
          <p:nvSpPr>
            <p:cNvPr id="55317" name="Text Box 10"/>
            <p:cNvSpPr txBox="1">
              <a:spLocks noChangeArrowheads="1"/>
            </p:cNvSpPr>
            <p:nvPr/>
          </p:nvSpPr>
          <p:spPr bwMode="auto">
            <a:xfrm>
              <a:off x="2404" y="374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993366"/>
                  </a:solidFill>
                </a:rPr>
                <a:t>3</a:t>
              </a:r>
              <a:endParaRPr lang="en-US" altLang="zh-CN" sz="2400">
                <a:solidFill>
                  <a:srgbClr val="993366"/>
                </a:solidFill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56B74D-4770-421B-AD6F-CF83FAF241F9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实例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zh-CN" altLang="en-US" dirty="0"/>
              <a:t>的子群格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dirty="0"/>
              <a:t>6</a:t>
            </a:r>
            <a:r>
              <a:rPr lang="zh-CN" altLang="en-US" dirty="0"/>
              <a:t>阶群，根据拉格朗日定理，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zh-CN" altLang="en-US" dirty="0"/>
              <a:t>的子群的阶数只能是</a:t>
            </a:r>
            <a:r>
              <a:rPr lang="en-US" altLang="zh-CN" dirty="0"/>
              <a:t>1,2,3,6 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1</a:t>
            </a:r>
            <a:r>
              <a:rPr lang="zh-CN" altLang="en-US" dirty="0"/>
              <a:t>阶：</a:t>
            </a:r>
            <a:r>
              <a:rPr lang="en-US" altLang="zh-CN" dirty="0"/>
              <a:t>{(1)}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2</a:t>
            </a:r>
            <a:r>
              <a:rPr lang="zh-CN" altLang="en-US" dirty="0"/>
              <a:t>阶：</a:t>
            </a:r>
            <a:r>
              <a:rPr lang="en-US" altLang="zh-CN" dirty="0"/>
              <a:t>{(1), (12)}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{(1), (13)}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{(1), (23)}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阶：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 ={(1), (123), (132)}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6</a:t>
            </a:r>
            <a:r>
              <a:rPr lang="zh-CN" altLang="en-US" dirty="0"/>
              <a:t>阶：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endParaRPr lang="en-US" altLang="zh-CN" dirty="0"/>
          </a:p>
        </p:txBody>
      </p:sp>
      <p:pic>
        <p:nvPicPr>
          <p:cNvPr id="619524" name="Picture 4" descr="图形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384" y="2524348"/>
            <a:ext cx="5472112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2418D7-19C5-4AC9-8556-258ED27D6041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/>
              <a:t>Polya</a:t>
            </a:r>
            <a:r>
              <a:rPr lang="zh-CN" altLang="en-US" dirty="0"/>
              <a:t>定理</a:t>
            </a:r>
            <a:endParaRPr lang="zh-CN" altLang="en-US" dirty="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N</a:t>
            </a:r>
            <a:r>
              <a:rPr lang="en-US" altLang="zh-CN" dirty="0"/>
              <a:t>={1,2,…,</a:t>
            </a:r>
            <a:r>
              <a:rPr lang="en-US" altLang="zh-CN" i="1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是被着色物体的集合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={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baseline="-25000" dirty="0"/>
              <a:t>2</a:t>
            </a:r>
            <a:r>
              <a:rPr lang="en-US" altLang="zh-CN" dirty="0"/>
              <a:t>,  … , 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baseline="-25000" dirty="0"/>
              <a:t>g</a:t>
            </a:r>
            <a:r>
              <a:rPr lang="en-US" altLang="zh-CN" dirty="0"/>
              <a:t>}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0066FF"/>
                </a:solidFill>
              </a:rPr>
              <a:t>置换群</a:t>
            </a:r>
            <a:r>
              <a:rPr lang="en-US" altLang="zh-CN" dirty="0"/>
              <a:t>. </a:t>
            </a:r>
            <a:r>
              <a:rPr lang="zh-CN" altLang="en-US" dirty="0"/>
              <a:t>用</a:t>
            </a:r>
            <a:r>
              <a:rPr lang="en-US" altLang="zh-CN" i="1" dirty="0"/>
              <a:t>m</a:t>
            </a:r>
            <a:r>
              <a:rPr lang="zh-CN" altLang="en-US" dirty="0"/>
              <a:t>种颜色对</a:t>
            </a:r>
            <a:r>
              <a:rPr lang="en-US" altLang="zh-CN" i="1" dirty="0"/>
              <a:t>N</a:t>
            </a:r>
            <a:r>
              <a:rPr lang="zh-CN" altLang="en-US" dirty="0"/>
              <a:t>中的元素进行着色，则在</a:t>
            </a:r>
            <a:r>
              <a:rPr lang="en-US" altLang="zh-CN" i="1" dirty="0"/>
              <a:t>G</a:t>
            </a:r>
            <a:r>
              <a:rPr lang="zh-CN" altLang="en-US" dirty="0"/>
              <a:t>的作用下不同的着色方案数是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620550" name="Object 6"/>
          <p:cNvGraphicFramePr>
            <a:graphicFrameLocks noChangeAspect="1"/>
          </p:cNvGraphicFramePr>
          <p:nvPr/>
        </p:nvGraphicFramePr>
        <p:xfrm>
          <a:off x="3090863" y="3218240"/>
          <a:ext cx="295275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193800" imgH="444500" progId="Equation.3">
                  <p:embed/>
                </p:oleObj>
              </mc:Choice>
              <mc:Fallback>
                <p:oleObj name="公式" r:id="rId1" imgW="1193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218240"/>
                        <a:ext cx="295275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0552" name="Rectangle 8"/>
          <p:cNvSpPr>
            <a:spLocks noChangeArrowheads="1"/>
          </p:cNvSpPr>
          <p:nvPr/>
        </p:nvSpPr>
        <p:spPr bwMode="auto">
          <a:xfrm>
            <a:off x="934641" y="4305677"/>
            <a:ext cx="763309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dirty="0"/>
              <a:t>其中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</a:t>
            </a:r>
            <a:r>
              <a:rPr lang="en-US" altLang="zh-CN" i="1" baseline="-25000" dirty="0"/>
              <a:t>k</a:t>
            </a:r>
            <a:r>
              <a:rPr lang="en-US" altLang="zh-CN" dirty="0"/>
              <a:t>)</a:t>
            </a:r>
            <a:r>
              <a:rPr lang="zh-CN" altLang="en-US" dirty="0"/>
              <a:t>是置换</a:t>
            </a:r>
            <a:r>
              <a:rPr lang="zh-CN" altLang="en-US" dirty="0">
                <a:sym typeface="Symbol" panose="05050102010706020507" pitchFamily="18" charset="2"/>
              </a:rPr>
              <a:t></a:t>
            </a:r>
            <a:r>
              <a:rPr lang="en-US" altLang="zh-CN" i="1" baseline="-25000" dirty="0"/>
              <a:t>k</a:t>
            </a:r>
            <a:r>
              <a:rPr lang="zh-CN" altLang="en-US" dirty="0"/>
              <a:t>的轮换表示中（包含</a:t>
            </a:r>
            <a:r>
              <a:rPr lang="en-US" altLang="zh-CN" dirty="0"/>
              <a:t>1</a:t>
            </a:r>
            <a:r>
              <a:rPr lang="zh-CN" altLang="en-US" dirty="0"/>
              <a:t>阶轮换在内）的轮换个数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53535" y="5538827"/>
            <a:ext cx="820896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/>
              <a:t>Polya</a:t>
            </a:r>
            <a:r>
              <a:rPr lang="zh-CN" altLang="en-US" dirty="0"/>
              <a:t>定理主要用于等价类的计数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0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52" grpId="0" build="p"/>
      <p:bldP spid="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001000" cy="747713"/>
          </a:xfrm>
          <a:noFill/>
        </p:spPr>
        <p:txBody>
          <a:bodyPr/>
          <a:lstStyle/>
          <a:p>
            <a:pPr eaLnBrk="1" hangingPunct="1"/>
            <a:r>
              <a:rPr lang="en-US" altLang="zh-CN" dirty="0" err="1"/>
              <a:t>Polya</a:t>
            </a:r>
            <a:r>
              <a:rPr lang="zh-CN" altLang="en-US" dirty="0"/>
              <a:t>定理在组合计数中的应用</a:t>
            </a:r>
            <a:endParaRPr lang="zh-CN" altLang="en-US" dirty="0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68313" y="1196975"/>
            <a:ext cx="64087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dirty="0">
                <a:latin typeface="Arial" panose="020B0604020202020204" pitchFamily="34" charset="0"/>
              </a:rPr>
              <a:t>用两种颜色着色方格图形，允许方格绕中心转动，求不同的方案数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2492896"/>
            <a:ext cx="7143750" cy="27622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" t="5453" r="2966" b="37277"/>
          <a:stretch>
            <a:fillRect/>
          </a:stretch>
        </p:blipFill>
        <p:spPr bwMode="auto">
          <a:xfrm>
            <a:off x="900113" y="5516563"/>
            <a:ext cx="727233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箭头: 右弧形 15"/>
          <p:cNvSpPr/>
          <p:nvPr/>
        </p:nvSpPr>
        <p:spPr>
          <a:xfrm>
            <a:off x="8172450" y="3717032"/>
            <a:ext cx="792038" cy="216024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7" name="Rectangle 11"/>
          <p:cNvSpPr>
            <a:spLocks noChangeArrowheads="1"/>
          </p:cNvSpPr>
          <p:nvPr/>
        </p:nvSpPr>
        <p:spPr bwMode="auto">
          <a:xfrm>
            <a:off x="468313" y="2276475"/>
            <a:ext cx="820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accent2"/>
                </a:solidFill>
              </a:rPr>
              <a:t>解：</a:t>
            </a:r>
            <a:r>
              <a:rPr lang="zh-CN" altLang="en-US"/>
              <a:t>群</a:t>
            </a:r>
            <a:r>
              <a:rPr lang="en-US" altLang="zh-CN" i="1"/>
              <a:t>G</a:t>
            </a:r>
            <a:r>
              <a:rPr lang="zh-CN" altLang="en-US"/>
              <a:t>中的所有置换是（每次顺时针转</a:t>
            </a:r>
            <a:r>
              <a:rPr lang="en-US" altLang="zh-CN"/>
              <a:t>90</a:t>
            </a:r>
            <a:r>
              <a:rPr lang="en-US" altLang="zh-CN">
                <a:sym typeface="Symbol" panose="05050102010706020507" pitchFamily="18" charset="2"/>
              </a:rPr>
              <a:t></a:t>
            </a:r>
            <a:r>
              <a:rPr lang="zh-CN" altLang="en-US">
                <a:sym typeface="Symbol" panose="05050102010706020507" pitchFamily="18" charset="2"/>
              </a:rPr>
              <a:t>）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583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CFBFE-D334-45E2-826F-236EC6566D4E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err="1"/>
              <a:t>Polya</a:t>
            </a:r>
            <a:r>
              <a:rPr lang="zh-CN" altLang="en-US" dirty="0"/>
              <a:t>定理在组合计数中的应用</a:t>
            </a:r>
            <a:endParaRPr lang="zh-CN" altLang="en-US" dirty="0"/>
          </a:p>
        </p:txBody>
      </p:sp>
      <p:sp>
        <p:nvSpPr>
          <p:cNvPr id="58373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graphicFrame>
        <p:nvGraphicFramePr>
          <p:cNvPr id="475144" name="Object 8"/>
          <p:cNvGraphicFramePr>
            <a:graphicFrameLocks noChangeAspect="1"/>
          </p:cNvGraphicFramePr>
          <p:nvPr/>
        </p:nvGraphicFramePr>
        <p:xfrm>
          <a:off x="4067175" y="4535488"/>
          <a:ext cx="43195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802765" imgH="406400" progId="Equation.3">
                  <p:embed/>
                </p:oleObj>
              </mc:Choice>
              <mc:Fallback>
                <p:oleObj name="公式" r:id="rId1" imgW="1802765" imgH="406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535488"/>
                        <a:ext cx="4319588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10"/>
          <p:cNvSpPr>
            <a:spLocks noChangeArrowheads="1"/>
          </p:cNvSpPr>
          <p:nvPr/>
        </p:nvSpPr>
        <p:spPr bwMode="auto">
          <a:xfrm>
            <a:off x="468313" y="1196975"/>
            <a:ext cx="64087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dirty="0">
                <a:latin typeface="Arial" panose="020B0604020202020204" pitchFamily="34" charset="0"/>
              </a:rPr>
              <a:t>用两种颜色着色方格图形，允许方格绕中心转动，求不同的方案数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7018338" y="1125538"/>
            <a:ext cx="1298575" cy="1149350"/>
            <a:chOff x="4558" y="845"/>
            <a:chExt cx="817" cy="725"/>
          </a:xfrm>
        </p:grpSpPr>
        <p:grpSp>
          <p:nvGrpSpPr>
            <p:cNvPr id="58419" name="Group 3"/>
            <p:cNvGrpSpPr/>
            <p:nvPr/>
          </p:nvGrpSpPr>
          <p:grpSpPr bwMode="auto">
            <a:xfrm>
              <a:off x="4558" y="845"/>
              <a:ext cx="817" cy="725"/>
              <a:chOff x="4422" y="1026"/>
              <a:chExt cx="907" cy="907"/>
            </a:xfrm>
          </p:grpSpPr>
          <p:sp>
            <p:nvSpPr>
              <p:cNvPr id="58424" name="Rectangle 4"/>
              <p:cNvSpPr>
                <a:spLocks noChangeArrowheads="1"/>
              </p:cNvSpPr>
              <p:nvPr/>
            </p:nvSpPr>
            <p:spPr bwMode="auto">
              <a:xfrm>
                <a:off x="4422" y="1026"/>
                <a:ext cx="907" cy="907"/>
              </a:xfrm>
              <a:prstGeom prst="rect">
                <a:avLst/>
              </a:prstGeom>
              <a:solidFill>
                <a:schemeClr val="accent1">
                  <a:alpha val="5098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8425" name="Line 5"/>
              <p:cNvSpPr>
                <a:spLocks noChangeShapeType="1"/>
              </p:cNvSpPr>
              <p:nvPr/>
            </p:nvSpPr>
            <p:spPr bwMode="auto">
              <a:xfrm>
                <a:off x="4422" y="1480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26" name="Line 6"/>
              <p:cNvSpPr>
                <a:spLocks noChangeShapeType="1"/>
              </p:cNvSpPr>
              <p:nvPr/>
            </p:nvSpPr>
            <p:spPr bwMode="auto">
              <a:xfrm>
                <a:off x="4876" y="102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420" name="Text Box 14"/>
            <p:cNvSpPr txBox="1">
              <a:spLocks noChangeArrowheads="1"/>
            </p:cNvSpPr>
            <p:nvPr/>
          </p:nvSpPr>
          <p:spPr bwMode="auto">
            <a:xfrm>
              <a:off x="4604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21" name="Text Box 15"/>
            <p:cNvSpPr txBox="1">
              <a:spLocks noChangeArrowheads="1"/>
            </p:cNvSpPr>
            <p:nvPr/>
          </p:nvSpPr>
          <p:spPr bwMode="auto">
            <a:xfrm>
              <a:off x="5012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22" name="Text Box 16"/>
            <p:cNvSpPr txBox="1">
              <a:spLocks noChangeArrowheads="1"/>
            </p:cNvSpPr>
            <p:nvPr/>
          </p:nvSpPr>
          <p:spPr bwMode="auto">
            <a:xfrm>
              <a:off x="4604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23" name="Text Box 17"/>
            <p:cNvSpPr txBox="1">
              <a:spLocks noChangeArrowheads="1"/>
            </p:cNvSpPr>
            <p:nvPr/>
          </p:nvSpPr>
          <p:spPr bwMode="auto">
            <a:xfrm>
              <a:off x="5012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4" name="Group 19"/>
          <p:cNvGrpSpPr/>
          <p:nvPr/>
        </p:nvGrpSpPr>
        <p:grpSpPr bwMode="auto">
          <a:xfrm>
            <a:off x="900113" y="2998788"/>
            <a:ext cx="1296987" cy="1150937"/>
            <a:chOff x="4558" y="845"/>
            <a:chExt cx="817" cy="725"/>
          </a:xfrm>
        </p:grpSpPr>
        <p:grpSp>
          <p:nvGrpSpPr>
            <p:cNvPr id="58411" name="Group 3"/>
            <p:cNvGrpSpPr/>
            <p:nvPr/>
          </p:nvGrpSpPr>
          <p:grpSpPr bwMode="auto">
            <a:xfrm>
              <a:off x="4558" y="845"/>
              <a:ext cx="817" cy="725"/>
              <a:chOff x="4422" y="1026"/>
              <a:chExt cx="907" cy="907"/>
            </a:xfrm>
          </p:grpSpPr>
          <p:sp>
            <p:nvSpPr>
              <p:cNvPr id="58416" name="Rectangle 4"/>
              <p:cNvSpPr>
                <a:spLocks noChangeArrowheads="1"/>
              </p:cNvSpPr>
              <p:nvPr/>
            </p:nvSpPr>
            <p:spPr bwMode="auto">
              <a:xfrm>
                <a:off x="4422" y="1026"/>
                <a:ext cx="907" cy="907"/>
              </a:xfrm>
              <a:prstGeom prst="rect">
                <a:avLst/>
              </a:prstGeom>
              <a:solidFill>
                <a:schemeClr val="accent1">
                  <a:alpha val="5098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8417" name="Line 5"/>
              <p:cNvSpPr>
                <a:spLocks noChangeShapeType="1"/>
              </p:cNvSpPr>
              <p:nvPr/>
            </p:nvSpPr>
            <p:spPr bwMode="auto">
              <a:xfrm>
                <a:off x="4422" y="1480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8" name="Line 6"/>
              <p:cNvSpPr>
                <a:spLocks noChangeShapeType="1"/>
              </p:cNvSpPr>
              <p:nvPr/>
            </p:nvSpPr>
            <p:spPr bwMode="auto">
              <a:xfrm>
                <a:off x="4876" y="102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412" name="Text Box 14"/>
            <p:cNvSpPr txBox="1">
              <a:spLocks noChangeArrowheads="1"/>
            </p:cNvSpPr>
            <p:nvPr/>
          </p:nvSpPr>
          <p:spPr bwMode="auto">
            <a:xfrm>
              <a:off x="4604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13" name="Text Box 15"/>
            <p:cNvSpPr txBox="1">
              <a:spLocks noChangeArrowheads="1"/>
            </p:cNvSpPr>
            <p:nvPr/>
          </p:nvSpPr>
          <p:spPr bwMode="auto">
            <a:xfrm>
              <a:off x="5012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14" name="Text Box 16"/>
            <p:cNvSpPr txBox="1">
              <a:spLocks noChangeArrowheads="1"/>
            </p:cNvSpPr>
            <p:nvPr/>
          </p:nvSpPr>
          <p:spPr bwMode="auto">
            <a:xfrm>
              <a:off x="4604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15" name="Text Box 17"/>
            <p:cNvSpPr txBox="1">
              <a:spLocks noChangeArrowheads="1"/>
            </p:cNvSpPr>
            <p:nvPr/>
          </p:nvSpPr>
          <p:spPr bwMode="auto">
            <a:xfrm>
              <a:off x="5012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6" name="Group 19"/>
          <p:cNvGrpSpPr/>
          <p:nvPr/>
        </p:nvGrpSpPr>
        <p:grpSpPr bwMode="auto">
          <a:xfrm>
            <a:off x="7019925" y="2997200"/>
            <a:ext cx="1296988" cy="1150938"/>
            <a:chOff x="4558" y="845"/>
            <a:chExt cx="817" cy="725"/>
          </a:xfrm>
        </p:grpSpPr>
        <p:grpSp>
          <p:nvGrpSpPr>
            <p:cNvPr id="58403" name="Group 3"/>
            <p:cNvGrpSpPr/>
            <p:nvPr/>
          </p:nvGrpSpPr>
          <p:grpSpPr bwMode="auto">
            <a:xfrm>
              <a:off x="4558" y="845"/>
              <a:ext cx="817" cy="725"/>
              <a:chOff x="4422" y="1026"/>
              <a:chExt cx="907" cy="907"/>
            </a:xfrm>
          </p:grpSpPr>
          <p:sp>
            <p:nvSpPr>
              <p:cNvPr id="58408" name="Rectangle 4"/>
              <p:cNvSpPr>
                <a:spLocks noChangeArrowheads="1"/>
              </p:cNvSpPr>
              <p:nvPr/>
            </p:nvSpPr>
            <p:spPr bwMode="auto">
              <a:xfrm>
                <a:off x="4422" y="1026"/>
                <a:ext cx="907" cy="907"/>
              </a:xfrm>
              <a:prstGeom prst="rect">
                <a:avLst/>
              </a:prstGeom>
              <a:solidFill>
                <a:schemeClr val="accent1">
                  <a:alpha val="5098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8409" name="Line 5"/>
              <p:cNvSpPr>
                <a:spLocks noChangeShapeType="1"/>
              </p:cNvSpPr>
              <p:nvPr/>
            </p:nvSpPr>
            <p:spPr bwMode="auto">
              <a:xfrm>
                <a:off x="4422" y="1480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0" name="Line 6"/>
              <p:cNvSpPr>
                <a:spLocks noChangeShapeType="1"/>
              </p:cNvSpPr>
              <p:nvPr/>
            </p:nvSpPr>
            <p:spPr bwMode="auto">
              <a:xfrm>
                <a:off x="4876" y="102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404" name="Text Box 14"/>
            <p:cNvSpPr txBox="1">
              <a:spLocks noChangeArrowheads="1"/>
            </p:cNvSpPr>
            <p:nvPr/>
          </p:nvSpPr>
          <p:spPr bwMode="auto">
            <a:xfrm>
              <a:off x="4604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05" name="Text Box 15"/>
            <p:cNvSpPr txBox="1">
              <a:spLocks noChangeArrowheads="1"/>
            </p:cNvSpPr>
            <p:nvPr/>
          </p:nvSpPr>
          <p:spPr bwMode="auto">
            <a:xfrm>
              <a:off x="5012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06" name="Text Box 16"/>
            <p:cNvSpPr txBox="1">
              <a:spLocks noChangeArrowheads="1"/>
            </p:cNvSpPr>
            <p:nvPr/>
          </p:nvSpPr>
          <p:spPr bwMode="auto">
            <a:xfrm>
              <a:off x="4604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407" name="Text Box 17"/>
            <p:cNvSpPr txBox="1">
              <a:spLocks noChangeArrowheads="1"/>
            </p:cNvSpPr>
            <p:nvPr/>
          </p:nvSpPr>
          <p:spPr bwMode="auto">
            <a:xfrm>
              <a:off x="5012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8" name="Group 19"/>
          <p:cNvGrpSpPr/>
          <p:nvPr/>
        </p:nvGrpSpPr>
        <p:grpSpPr bwMode="auto">
          <a:xfrm>
            <a:off x="5003800" y="2997200"/>
            <a:ext cx="1296988" cy="1150938"/>
            <a:chOff x="4558" y="845"/>
            <a:chExt cx="817" cy="725"/>
          </a:xfrm>
        </p:grpSpPr>
        <p:grpSp>
          <p:nvGrpSpPr>
            <p:cNvPr id="58395" name="Group 3"/>
            <p:cNvGrpSpPr/>
            <p:nvPr/>
          </p:nvGrpSpPr>
          <p:grpSpPr bwMode="auto">
            <a:xfrm>
              <a:off x="4558" y="845"/>
              <a:ext cx="817" cy="725"/>
              <a:chOff x="4422" y="1026"/>
              <a:chExt cx="907" cy="907"/>
            </a:xfrm>
          </p:grpSpPr>
          <p:sp>
            <p:nvSpPr>
              <p:cNvPr id="58400" name="Rectangle 4"/>
              <p:cNvSpPr>
                <a:spLocks noChangeArrowheads="1"/>
              </p:cNvSpPr>
              <p:nvPr/>
            </p:nvSpPr>
            <p:spPr bwMode="auto">
              <a:xfrm>
                <a:off x="4422" y="1026"/>
                <a:ext cx="907" cy="907"/>
              </a:xfrm>
              <a:prstGeom prst="rect">
                <a:avLst/>
              </a:prstGeom>
              <a:solidFill>
                <a:schemeClr val="accent1">
                  <a:alpha val="5098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8401" name="Line 5"/>
              <p:cNvSpPr>
                <a:spLocks noChangeShapeType="1"/>
              </p:cNvSpPr>
              <p:nvPr/>
            </p:nvSpPr>
            <p:spPr bwMode="auto">
              <a:xfrm>
                <a:off x="4422" y="1480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02" name="Line 6"/>
              <p:cNvSpPr>
                <a:spLocks noChangeShapeType="1"/>
              </p:cNvSpPr>
              <p:nvPr/>
            </p:nvSpPr>
            <p:spPr bwMode="auto">
              <a:xfrm>
                <a:off x="4876" y="102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396" name="Text Box 14"/>
            <p:cNvSpPr txBox="1">
              <a:spLocks noChangeArrowheads="1"/>
            </p:cNvSpPr>
            <p:nvPr/>
          </p:nvSpPr>
          <p:spPr bwMode="auto">
            <a:xfrm>
              <a:off x="4604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97" name="Text Box 15"/>
            <p:cNvSpPr txBox="1">
              <a:spLocks noChangeArrowheads="1"/>
            </p:cNvSpPr>
            <p:nvPr/>
          </p:nvSpPr>
          <p:spPr bwMode="auto">
            <a:xfrm>
              <a:off x="5012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98" name="Text Box 16"/>
            <p:cNvSpPr txBox="1">
              <a:spLocks noChangeArrowheads="1"/>
            </p:cNvSpPr>
            <p:nvPr/>
          </p:nvSpPr>
          <p:spPr bwMode="auto">
            <a:xfrm>
              <a:off x="4604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99" name="Text Box 17"/>
            <p:cNvSpPr txBox="1">
              <a:spLocks noChangeArrowheads="1"/>
            </p:cNvSpPr>
            <p:nvPr/>
          </p:nvSpPr>
          <p:spPr bwMode="auto">
            <a:xfrm>
              <a:off x="5012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10" name="Group 19"/>
          <p:cNvGrpSpPr/>
          <p:nvPr/>
        </p:nvGrpSpPr>
        <p:grpSpPr bwMode="auto">
          <a:xfrm>
            <a:off x="2987675" y="2997200"/>
            <a:ext cx="1296988" cy="1150938"/>
            <a:chOff x="4558" y="845"/>
            <a:chExt cx="817" cy="725"/>
          </a:xfrm>
        </p:grpSpPr>
        <p:grpSp>
          <p:nvGrpSpPr>
            <p:cNvPr id="58387" name="Group 3"/>
            <p:cNvGrpSpPr/>
            <p:nvPr/>
          </p:nvGrpSpPr>
          <p:grpSpPr bwMode="auto">
            <a:xfrm>
              <a:off x="4558" y="845"/>
              <a:ext cx="817" cy="725"/>
              <a:chOff x="4422" y="1026"/>
              <a:chExt cx="907" cy="907"/>
            </a:xfrm>
          </p:grpSpPr>
          <p:sp>
            <p:nvSpPr>
              <p:cNvPr id="58392" name="Rectangle 4"/>
              <p:cNvSpPr>
                <a:spLocks noChangeArrowheads="1"/>
              </p:cNvSpPr>
              <p:nvPr/>
            </p:nvSpPr>
            <p:spPr bwMode="auto">
              <a:xfrm>
                <a:off x="4422" y="1026"/>
                <a:ext cx="907" cy="907"/>
              </a:xfrm>
              <a:prstGeom prst="rect">
                <a:avLst/>
              </a:prstGeom>
              <a:solidFill>
                <a:schemeClr val="accent1">
                  <a:alpha val="50980"/>
                </a:schemeClr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8393" name="Line 5"/>
              <p:cNvSpPr>
                <a:spLocks noChangeShapeType="1"/>
              </p:cNvSpPr>
              <p:nvPr/>
            </p:nvSpPr>
            <p:spPr bwMode="auto">
              <a:xfrm>
                <a:off x="4422" y="1480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394" name="Line 6"/>
              <p:cNvSpPr>
                <a:spLocks noChangeShapeType="1"/>
              </p:cNvSpPr>
              <p:nvPr/>
            </p:nvSpPr>
            <p:spPr bwMode="auto">
              <a:xfrm>
                <a:off x="4876" y="102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388" name="Text Box 14"/>
            <p:cNvSpPr txBox="1">
              <a:spLocks noChangeArrowheads="1"/>
            </p:cNvSpPr>
            <p:nvPr/>
          </p:nvSpPr>
          <p:spPr bwMode="auto">
            <a:xfrm>
              <a:off x="4604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89" name="Text Box 15"/>
            <p:cNvSpPr txBox="1">
              <a:spLocks noChangeArrowheads="1"/>
            </p:cNvSpPr>
            <p:nvPr/>
          </p:nvSpPr>
          <p:spPr bwMode="auto">
            <a:xfrm>
              <a:off x="5012" y="890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90" name="Text Box 16"/>
            <p:cNvSpPr txBox="1">
              <a:spLocks noChangeArrowheads="1"/>
            </p:cNvSpPr>
            <p:nvPr/>
          </p:nvSpPr>
          <p:spPr bwMode="auto">
            <a:xfrm>
              <a:off x="4604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8391" name="Text Box 17"/>
            <p:cNvSpPr txBox="1">
              <a:spLocks noChangeArrowheads="1"/>
            </p:cNvSpPr>
            <p:nvPr/>
          </p:nvSpPr>
          <p:spPr bwMode="auto">
            <a:xfrm>
              <a:off x="5012" y="1253"/>
              <a:ext cx="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40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971550" y="4098925"/>
            <a:ext cx="121443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=(1)</a:t>
            </a: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2709863" y="4098925"/>
            <a:ext cx="17907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=(1432)</a:t>
            </a: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56" name="矩形 55"/>
          <p:cNvSpPr>
            <a:spLocks noChangeArrowheads="1"/>
          </p:cNvSpPr>
          <p:nvPr/>
        </p:nvSpPr>
        <p:spPr bwMode="auto">
          <a:xfrm>
            <a:off x="4684713" y="4098925"/>
            <a:ext cx="20478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=(13)(24)</a:t>
            </a: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6716713" y="4098925"/>
            <a:ext cx="188753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</a:t>
            </a:r>
            <a:r>
              <a:rPr lang="en-US" altLang="zh-CN" baseline="-25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=(1234) </a:t>
            </a: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971550" y="4706938"/>
            <a:ext cx="303688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代入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Polya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定理得</a:t>
            </a:r>
            <a:endParaRPr lang="zh-CN" altLang="en-US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pic>
        <p:nvPicPr>
          <p:cNvPr id="60" name="图片 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" t="5453" r="2966" b="37277"/>
          <a:stretch>
            <a:fillRect/>
          </a:stretch>
        </p:blipFill>
        <p:spPr bwMode="auto">
          <a:xfrm>
            <a:off x="900113" y="5516563"/>
            <a:ext cx="727233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5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7" grpId="0" build="p"/>
      <p:bldP spid="54" grpId="0"/>
      <p:bldP spid="55" grpId="0"/>
      <p:bldP spid="56" grpId="0"/>
      <p:bldP spid="57" grpId="0"/>
      <p:bldP spid="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" y="2232862"/>
            <a:ext cx="5703570" cy="23817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6354"/>
          <a:stretch>
            <a:fillRect/>
          </a:stretch>
        </p:blipFill>
        <p:spPr>
          <a:xfrm>
            <a:off x="290513" y="1145620"/>
            <a:ext cx="8562975" cy="95869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567" y="4957796"/>
            <a:ext cx="7053433" cy="190020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11135" y="352502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(1793)(2486)(5)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5" y="3525023"/>
                <a:ext cx="2868286" cy="575157"/>
              </a:xfrm>
              <a:prstGeom prst="rect">
                <a:avLst/>
              </a:prstGeom>
              <a:blipFill rotWithShape="1">
                <a:blip r:embed="rId1"/>
                <a:stretch>
                  <a:fillRect t="-2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1135" y="429464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(19)(28)(37)(46)(5)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5" y="4294643"/>
                <a:ext cx="2868286" cy="575157"/>
              </a:xfrm>
              <a:prstGeom prst="rect">
                <a:avLst/>
              </a:prstGeom>
              <a:blipFill rotWithShape="1">
                <a:blip r:embed="rId2"/>
                <a:stretch>
                  <a:fillRect t="-2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1135" y="512522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(1397)(2684)(5)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5" y="5125223"/>
                <a:ext cx="2868286" cy="575157"/>
              </a:xfrm>
              <a:prstGeom prst="rect">
                <a:avLst/>
              </a:prstGeom>
              <a:blipFill rotWithShape="1">
                <a:blip r:embed="rId3"/>
                <a:stretch>
                  <a:fillRect t="-24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951220" y="270206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(13)(46)(79)(2)(5)(8)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2702063"/>
                <a:ext cx="2868286" cy="575157"/>
              </a:xfrm>
              <a:prstGeom prst="rect">
                <a:avLst/>
              </a:prstGeom>
              <a:blipFill rotWithShape="1">
                <a:blip r:embed="rId4"/>
                <a:stretch>
                  <a:fillRect t="-24" r="22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951220" y="352502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(17)(28)(39)(4)(5)(6)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3525023"/>
                <a:ext cx="2868286" cy="575157"/>
              </a:xfrm>
              <a:prstGeom prst="rect">
                <a:avLst/>
              </a:prstGeom>
              <a:blipFill rotWithShape="1">
                <a:blip r:embed="rId5"/>
                <a:stretch>
                  <a:fillRect t="-24" r="22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951220" y="434798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(24)(37)(68)(1)(5)(9)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4347983"/>
                <a:ext cx="2868286" cy="575157"/>
              </a:xfrm>
              <a:prstGeom prst="rect">
                <a:avLst/>
              </a:prstGeom>
              <a:blipFill rotWithShape="1">
                <a:blip r:embed="rId6"/>
                <a:stretch>
                  <a:fillRect t="-24" r="22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951220" y="5125223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(19)(26)(48)(3)(5)(7)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5125223"/>
                <a:ext cx="2868286" cy="575157"/>
              </a:xfrm>
              <a:prstGeom prst="rect">
                <a:avLst/>
              </a:prstGeom>
              <a:blipFill rotWithShape="1">
                <a:blip r:embed="rId7"/>
                <a:stretch>
                  <a:fillRect t="-24" r="22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11135" y="2731152"/>
                <a:ext cx="2868286" cy="5751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35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3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35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e>
                                      <m:r>
                                        <a:rPr lang="en-US" altLang="zh-CN" sz="135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350" dirty="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    = (1)(2)(3)(4)(5)(6)(7)(8)(9)</a:t>
                </a:r>
                <a:endParaRPr lang="zh-CN" altLang="en-US" sz="135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35" y="2731152"/>
                <a:ext cx="2868286" cy="575157"/>
              </a:xfrm>
              <a:prstGeom prst="rect">
                <a:avLst/>
              </a:prstGeom>
              <a:blipFill rotWithShape="1">
                <a:blip r:embed="rId8"/>
                <a:stretch>
                  <a:fillRect t="-3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111134" y="5843885"/>
            <a:ext cx="4460866" cy="98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25" algn="just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恒等置换：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zh-CN" sz="105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0025" algn="just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绕中心转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90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270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度：（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zh-CN" sz="105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00025" algn="just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绕中心转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180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度：（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zh-CN" sz="105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72000" y="5832849"/>
            <a:ext cx="4572000" cy="364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25" algn="just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翻转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180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度：（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）（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zh-CN" sz="105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72000" y="6281122"/>
            <a:ext cx="4247506" cy="364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0025" algn="just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带入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Polya</a:t>
            </a:r>
            <a:r>
              <a:rPr lang="zh-CN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定理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 :  M=(2</a:t>
            </a:r>
            <a:r>
              <a:rPr lang="fr-FR" altLang="zh-CN" sz="1350" kern="1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+2*2</a:t>
            </a:r>
            <a:r>
              <a:rPr lang="fr-FR" altLang="zh-CN" sz="1350" kern="1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+2</a:t>
            </a:r>
            <a:r>
              <a:rPr lang="fr-FR" altLang="zh-CN" sz="1350" kern="1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+4*2</a:t>
            </a:r>
            <a:r>
              <a:rPr lang="fr-FR" altLang="zh-CN" sz="1350" kern="1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fr-FR" altLang="zh-CN" sz="135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)/8=102</a:t>
            </a:r>
            <a:endParaRPr lang="zh-CN" altLang="zh-CN" sz="105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085" y="118212"/>
            <a:ext cx="5703570" cy="238176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6329" y="48204"/>
            <a:ext cx="3106971" cy="837022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11134" y="2499980"/>
            <a:ext cx="89921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5103" y="2583730"/>
            <a:ext cx="2533794" cy="324528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39552" y="237465"/>
            <a:ext cx="8326437" cy="672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1800" kern="0" dirty="0">
                <a:solidFill>
                  <a:srgbClr val="C00000"/>
                </a:solidFill>
              </a:rPr>
              <a:t>例：</a:t>
            </a:r>
            <a:r>
              <a:rPr lang="zh-CN" altLang="en-US" sz="1800" kern="0" dirty="0"/>
              <a:t>考察从红、黄两种颜色的珠子中选取</a:t>
            </a:r>
            <a:r>
              <a:rPr lang="en-US" altLang="zh-CN" sz="1800" kern="0" dirty="0"/>
              <a:t>5</a:t>
            </a:r>
            <a:r>
              <a:rPr lang="zh-CN" altLang="en-US" sz="1800" kern="0" dirty="0"/>
              <a:t>粒串成手镯，如果</a:t>
            </a:r>
            <a:r>
              <a:rPr lang="zh-CN" altLang="en-US" sz="1800" kern="0" dirty="0">
                <a:solidFill>
                  <a:srgbClr val="0066FF"/>
                </a:solidFill>
              </a:rPr>
              <a:t>将一只手镯经过顺时针旋转得到另一只手镯看作是没有区别的手镯，并称这两只手镯是旋转等价的</a:t>
            </a:r>
            <a:r>
              <a:rPr lang="zh-CN" altLang="en-US" sz="1800" kern="0" dirty="0"/>
              <a:t>，那么，在考虑旋转等价的条件下，不同手镯的数目是多少？</a:t>
            </a:r>
            <a:endParaRPr lang="zh-CN" altLang="en-US" sz="1800" kern="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1243975"/>
            <a:ext cx="5010413" cy="2639632"/>
          </a:xfrm>
          <a:prstGeom prst="rect">
            <a:avLst/>
          </a:prstGeom>
        </p:spPr>
      </p:pic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814660" y="3968428"/>
            <a:ext cx="8326437" cy="1793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kern="0" dirty="0"/>
              <a:t>解：围绕中心旋转的置换为：</a:t>
            </a:r>
            <a:endParaRPr lang="zh-CN" altLang="en-US" sz="2400" kern="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/>
              <a:t>0 </a:t>
            </a:r>
            <a:r>
              <a:rPr lang="en-US" altLang="zh-CN" sz="2400" kern="0" dirty="0">
                <a:sym typeface="Symbol" panose="05050102010706020507" pitchFamily="18" charset="2"/>
              </a:rPr>
              <a:t></a:t>
            </a:r>
            <a:r>
              <a:rPr lang="zh-CN" altLang="en-US" sz="2400" kern="0" dirty="0"/>
              <a:t>： </a:t>
            </a:r>
            <a:r>
              <a:rPr lang="en-US" altLang="zh-CN" sz="2400" kern="0" dirty="0"/>
              <a:t>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) 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) 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) 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) 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) 	1</a:t>
            </a:r>
            <a:r>
              <a:rPr lang="zh-CN" altLang="en-US" sz="2400" kern="0" dirty="0"/>
              <a:t>个</a:t>
            </a:r>
            <a:endParaRPr lang="zh-CN" altLang="en-US" sz="2400" kern="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kern="0" dirty="0"/>
              <a:t>72</a:t>
            </a:r>
            <a:r>
              <a:rPr lang="en-US" altLang="zh-CN" sz="2400" kern="0" dirty="0">
                <a:sym typeface="Symbol" panose="05050102010706020507" pitchFamily="18" charset="2"/>
              </a:rPr>
              <a:t></a:t>
            </a:r>
            <a:r>
              <a:rPr lang="zh-CN" altLang="en-US" sz="2400" kern="0" dirty="0"/>
              <a:t>、</a:t>
            </a:r>
            <a:r>
              <a:rPr lang="en-US" altLang="zh-CN" sz="2400" kern="0" dirty="0"/>
              <a:t>144</a:t>
            </a:r>
            <a:r>
              <a:rPr lang="en-US" altLang="zh-CN" sz="2400" kern="0" dirty="0">
                <a:sym typeface="Symbol" panose="05050102010706020507" pitchFamily="18" charset="2"/>
              </a:rPr>
              <a:t></a:t>
            </a:r>
            <a:r>
              <a:rPr lang="zh-CN" altLang="en-US" sz="2400" kern="0" dirty="0"/>
              <a:t>、</a:t>
            </a:r>
            <a:r>
              <a:rPr lang="en-US" altLang="zh-CN" sz="2400" kern="0" dirty="0"/>
              <a:t>216</a:t>
            </a:r>
            <a:r>
              <a:rPr lang="en-US" altLang="zh-CN" sz="2400" kern="0" dirty="0">
                <a:sym typeface="Symbol" panose="05050102010706020507" pitchFamily="18" charset="2"/>
              </a:rPr>
              <a:t></a:t>
            </a:r>
            <a:r>
              <a:rPr lang="zh-CN" altLang="en-US" sz="2400" kern="0" dirty="0"/>
              <a:t>、</a:t>
            </a:r>
            <a:r>
              <a:rPr lang="en-US" altLang="zh-CN" sz="2400" kern="0" dirty="0"/>
              <a:t>288</a:t>
            </a:r>
            <a:r>
              <a:rPr lang="en-US" altLang="zh-CN" sz="2400" kern="0" dirty="0">
                <a:sym typeface="Symbol" panose="05050102010706020507" pitchFamily="18" charset="2"/>
              </a:rPr>
              <a:t></a:t>
            </a:r>
            <a:r>
              <a:rPr lang="zh-CN" altLang="en-US" sz="2400" kern="0" dirty="0"/>
              <a:t>：</a:t>
            </a:r>
            <a:r>
              <a:rPr lang="en-US" altLang="zh-CN" sz="2400" kern="0" dirty="0"/>
              <a:t>(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 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 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 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 </a:t>
            </a:r>
            <a:r>
              <a:rPr lang="en-US" altLang="zh-CN" sz="2400" kern="0" dirty="0">
                <a:sym typeface="Symbol" panose="05050102010706020507" pitchFamily="18" charset="2"/>
              </a:rPr>
              <a:t></a:t>
            </a:r>
            <a:r>
              <a:rPr lang="en-US" altLang="zh-CN" sz="2400" kern="0" dirty="0"/>
              <a:t> )  	4</a:t>
            </a:r>
            <a:r>
              <a:rPr lang="zh-CN" altLang="en-US" sz="2400" kern="0" dirty="0"/>
              <a:t>个</a:t>
            </a:r>
            <a:endParaRPr lang="zh-CN" altLang="en-US" sz="2400" kern="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kern="0" dirty="0"/>
              <a:t>根据</a:t>
            </a:r>
            <a:r>
              <a:rPr lang="en-US" altLang="zh-CN" sz="2400" kern="0" dirty="0" err="1"/>
              <a:t>Polya</a:t>
            </a:r>
            <a:r>
              <a:rPr lang="zh-CN" altLang="en-US" sz="2400" kern="0" dirty="0"/>
              <a:t>定理，不同的着色方案数是：</a:t>
            </a:r>
            <a:endParaRPr lang="zh-CN" altLang="en-US" sz="2400" kern="0" dirty="0"/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1672803" y="5503626"/>
          <a:ext cx="5784180" cy="98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2" imgW="56997600" imgH="9753600" progId="Equation.3">
                  <p:embed/>
                </p:oleObj>
              </mc:Choice>
              <mc:Fallback>
                <p:oleObj name="公式" r:id="rId2" imgW="56997600" imgH="9753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803" y="5503626"/>
                        <a:ext cx="5784180" cy="98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Polya</a:t>
            </a:r>
            <a:r>
              <a:rPr lang="zh-CN" altLang="en-US" dirty="0"/>
              <a:t>定理练习</a:t>
            </a:r>
            <a:endParaRPr lang="zh-CN" altLang="en-US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326437" cy="48228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考察从蓝、黄、白三种颜色的珠子中选取</a:t>
            </a:r>
            <a:r>
              <a:rPr lang="en-US" altLang="zh-CN" dirty="0"/>
              <a:t>5</a:t>
            </a:r>
            <a:r>
              <a:rPr lang="zh-CN" altLang="en-US" dirty="0"/>
              <a:t>粒串成手镯，如果</a:t>
            </a:r>
            <a:r>
              <a:rPr lang="zh-CN" altLang="en-US" dirty="0">
                <a:solidFill>
                  <a:srgbClr val="0066FF"/>
                </a:solidFill>
              </a:rPr>
              <a:t>将一只手镯经过顺时针旋转得到另一只手镯看作是没有区别的手镯，并称这两只手镯是旋转等价的</a:t>
            </a:r>
            <a:r>
              <a:rPr lang="zh-CN" altLang="en-US" dirty="0"/>
              <a:t>，那么，在考虑旋转等价的条件下，不同手镯的数目是多少？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解：围绕中心旋转的置换为：</a:t>
            </a:r>
            <a:endParaRPr lang="zh-CN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0 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：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) 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) 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) 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) 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) 	1</a:t>
            </a:r>
            <a:r>
              <a:rPr lang="zh-CN" altLang="en-US" dirty="0"/>
              <a:t>个</a:t>
            </a:r>
            <a:endParaRPr lang="zh-CN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72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、</a:t>
            </a:r>
            <a:r>
              <a:rPr lang="en-US" altLang="zh-CN" dirty="0"/>
              <a:t>144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、</a:t>
            </a:r>
            <a:r>
              <a:rPr lang="en-US" altLang="zh-CN" dirty="0"/>
              <a:t>216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、</a:t>
            </a:r>
            <a:r>
              <a:rPr lang="en-US" altLang="zh-CN" dirty="0"/>
              <a:t>288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：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)  	4</a:t>
            </a:r>
            <a:r>
              <a:rPr lang="zh-CN" altLang="en-US" dirty="0"/>
              <a:t>个</a:t>
            </a:r>
            <a:endParaRPr lang="zh-CN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根据</a:t>
            </a:r>
            <a:r>
              <a:rPr lang="en-US" altLang="zh-CN" dirty="0" err="1"/>
              <a:t>Polya</a:t>
            </a:r>
            <a:r>
              <a:rPr lang="zh-CN" altLang="en-US" dirty="0"/>
              <a:t>定理，不同的着色方案数是</a:t>
            </a:r>
            <a:endParaRPr lang="zh-CN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1331913" y="5373688"/>
          <a:ext cx="597693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2019300" imgH="393700" progId="Equation.3">
                  <p:embed/>
                </p:oleObj>
              </mc:Choice>
              <mc:Fallback>
                <p:oleObj name="公式" r:id="rId1" imgW="20193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73688"/>
                        <a:ext cx="5976937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</a:t>
            </a:r>
            <a:r>
              <a:rPr lang="en-US" altLang="zh-CN" baseline="-25000" dirty="0"/>
              <a:t>4</a:t>
            </a:r>
            <a:r>
              <a:rPr lang="zh-CN" altLang="en-US" dirty="0"/>
              <a:t>相关（补充）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91547"/>
            <a:ext cx="8928992" cy="4822825"/>
          </a:xfrm>
        </p:spPr>
        <p:txBody>
          <a:bodyPr/>
          <a:lstStyle/>
          <a:p>
            <a:r>
              <a:rPr lang="zh-CN" altLang="en-US" dirty="0"/>
              <a:t>设 </a:t>
            </a:r>
            <a:r>
              <a:rPr lang="en-US" altLang="zh-CN" dirty="0"/>
              <a:t>S = {1, 2, 3, 4}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元对称群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S</a:t>
            </a:r>
            <a:r>
              <a:rPr lang="en-US" altLang="zh-CN" baseline="-25000" dirty="0"/>
              <a:t>4</a:t>
            </a:r>
            <a:r>
              <a:rPr lang="en-US" altLang="zh-CN" dirty="0"/>
              <a:t>={ </a:t>
            </a:r>
            <a:r>
              <a:rPr lang="en-US" altLang="zh-CN" dirty="0">
                <a:solidFill>
                  <a:srgbClr val="0066FF"/>
                </a:solidFill>
              </a:rPr>
              <a:t>(1)</a:t>
            </a:r>
            <a:r>
              <a:rPr lang="en-US" altLang="zh-CN" dirty="0"/>
              <a:t>, (12),(13),(14),(23),(24),(34),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(123),(124),(132),(134),(142),(143),(234),(243),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(12)(34),(14)(23),(13)(24),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(1234),(1243),(1324),(1342),(1423),(1432)}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>
                <a:solidFill>
                  <a:srgbClr val="3366FF"/>
                </a:solidFill>
              </a:rPr>
              <a:t>n</a:t>
            </a:r>
            <a:r>
              <a:rPr lang="zh-CN" altLang="en-US" dirty="0">
                <a:solidFill>
                  <a:srgbClr val="3366FF"/>
                </a:solidFill>
              </a:rPr>
              <a:t>元交错群</a:t>
            </a:r>
            <a:r>
              <a:rPr lang="en-US" altLang="zh-CN" i="1" dirty="0">
                <a:solidFill>
                  <a:srgbClr val="3366FF"/>
                </a:solidFill>
              </a:rPr>
              <a:t>A</a:t>
            </a:r>
            <a:r>
              <a:rPr lang="en-US" altLang="zh-CN" i="1" baseline="-25000" dirty="0">
                <a:solidFill>
                  <a:srgbClr val="3366FF"/>
                </a:solidFill>
              </a:rPr>
              <a:t>n</a:t>
            </a:r>
            <a:r>
              <a:rPr lang="zh-CN" altLang="en-US" dirty="0">
                <a:solidFill>
                  <a:srgbClr val="3366FF"/>
                </a:solidFill>
              </a:rPr>
              <a:t>是</a:t>
            </a:r>
            <a:r>
              <a:rPr lang="en-US" altLang="zh-CN" dirty="0">
                <a:solidFill>
                  <a:srgbClr val="3366FF"/>
                </a:solidFill>
              </a:rPr>
              <a:t>S</a:t>
            </a:r>
            <a:r>
              <a:rPr lang="en-US" altLang="zh-CN" i="1" baseline="-25000" dirty="0">
                <a:solidFill>
                  <a:srgbClr val="3366FF"/>
                </a:solidFill>
              </a:rPr>
              <a:t>n</a:t>
            </a:r>
            <a:r>
              <a:rPr lang="zh-CN" altLang="en-US" dirty="0">
                <a:solidFill>
                  <a:srgbClr val="3366FF"/>
                </a:solidFill>
              </a:rPr>
              <a:t>的子群，</a:t>
            </a:r>
            <a:endParaRPr lang="zh-CN" altLang="en-US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altLang="zh-CN" i="1" dirty="0">
                <a:solidFill>
                  <a:srgbClr val="3366FF"/>
                </a:solidFill>
              </a:rPr>
              <a:t>A</a:t>
            </a:r>
            <a:r>
              <a:rPr lang="en-US" altLang="zh-CN" i="1" baseline="-25000" dirty="0">
                <a:solidFill>
                  <a:srgbClr val="3366FF"/>
                </a:solidFill>
              </a:rPr>
              <a:t>n</a:t>
            </a:r>
            <a:r>
              <a:rPr lang="zh-CN" altLang="en-US" dirty="0">
                <a:solidFill>
                  <a:srgbClr val="3366FF"/>
                </a:solidFill>
              </a:rPr>
              <a:t>是所有的</a:t>
            </a:r>
            <a:r>
              <a:rPr lang="en-US" altLang="zh-CN" i="1" dirty="0">
                <a:solidFill>
                  <a:srgbClr val="3366FF"/>
                </a:solidFill>
              </a:rPr>
              <a:t>n</a:t>
            </a:r>
            <a:r>
              <a:rPr lang="zh-CN" altLang="en-US" dirty="0">
                <a:solidFill>
                  <a:srgbClr val="3366FF"/>
                </a:solidFill>
              </a:rPr>
              <a:t>元偶置换的集合</a:t>
            </a:r>
            <a:r>
              <a:rPr lang="en-US" altLang="zh-CN" dirty="0">
                <a:solidFill>
                  <a:srgbClr val="3366FF"/>
                </a:solidFill>
              </a:rPr>
              <a:t>.</a:t>
            </a:r>
            <a:endParaRPr lang="pt-BR" altLang="zh-CN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altLang="zh-CN" i="1" dirty="0">
                <a:solidFill>
                  <a:srgbClr val="3366FF"/>
                </a:solidFill>
              </a:rPr>
              <a:t>A</a:t>
            </a:r>
            <a:r>
              <a:rPr lang="pt-BR" altLang="zh-CN" i="1" baseline="-25000" dirty="0">
                <a:solidFill>
                  <a:srgbClr val="3366FF"/>
                </a:solidFill>
              </a:rPr>
              <a:t>4</a:t>
            </a:r>
            <a:r>
              <a:rPr lang="pt-BR" altLang="zh-CN" dirty="0">
                <a:solidFill>
                  <a:srgbClr val="3366FF"/>
                </a:solidFill>
              </a:rPr>
              <a:t>={(1),(123),(124),(132),(134),(142),(143),(234),(243),(12)(34),(14)(23),(13)(24) }</a:t>
            </a:r>
            <a:endParaRPr lang="zh-CN" altLang="en-US" dirty="0">
              <a:solidFill>
                <a:srgbClr val="3366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012160" y="4549349"/>
            <a:ext cx="2880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0" dirty="0">
                <a:solidFill>
                  <a:srgbClr val="FF0000"/>
                </a:solidFill>
              </a:rPr>
              <a:t>|</a:t>
            </a:r>
            <a:r>
              <a:rPr kumimoji="0" lang="en-US" altLang="zh-CN" sz="3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A</a:t>
            </a:r>
            <a:r>
              <a:rPr lang="pt-BR" altLang="zh-CN" sz="2400" i="1" baseline="-25000" dirty="0">
                <a:solidFill>
                  <a:srgbClr val="FF0000"/>
                </a:solidFill>
              </a:rPr>
              <a:t>4</a:t>
            </a:r>
            <a:r>
              <a:rPr lang="en-US" altLang="zh-CN" sz="2400" dirty="0">
                <a:solidFill>
                  <a:srgbClr val="FF0000"/>
                </a:solidFill>
              </a:rPr>
              <a:t>|</a:t>
            </a:r>
            <a:r>
              <a:rPr lang="pt-BR" altLang="zh-CN" sz="2400" dirty="0">
                <a:solidFill>
                  <a:srgbClr val="FF0000"/>
                </a:solidFill>
              </a:rPr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4!/2=12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88946" y="1191547"/>
            <a:ext cx="17097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0" dirty="0">
                <a:solidFill>
                  <a:srgbClr val="FF0000"/>
                </a:solidFill>
              </a:rPr>
              <a:t>|</a:t>
            </a:r>
            <a:r>
              <a:rPr kumimoji="0" lang="en-US" altLang="zh-CN" sz="3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</a:t>
            </a:r>
            <a:r>
              <a:rPr lang="pt-BR" altLang="zh-CN" sz="2400" i="1" baseline="-25000" dirty="0">
                <a:solidFill>
                  <a:srgbClr val="FF0000"/>
                </a:solidFill>
              </a:rPr>
              <a:t>4</a:t>
            </a:r>
            <a:r>
              <a:rPr lang="en-US" altLang="zh-CN" sz="2400" dirty="0">
                <a:solidFill>
                  <a:srgbClr val="FF0000"/>
                </a:solidFill>
              </a:rPr>
              <a:t>|</a:t>
            </a:r>
            <a:r>
              <a:rPr lang="pt-BR" altLang="zh-CN" sz="2400" dirty="0">
                <a:solidFill>
                  <a:srgbClr val="FF0000"/>
                </a:solidFill>
              </a:rPr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4!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pPr algn="l"/>
            <a:r>
              <a:rPr lang="en-US" altLang="zh-CN" dirty="0"/>
              <a:t>S</a:t>
            </a:r>
            <a:r>
              <a:rPr lang="en-US" altLang="zh-CN" baseline="-25000" dirty="0"/>
              <a:t>4</a:t>
            </a:r>
            <a:r>
              <a:rPr lang="zh-CN" altLang="en-US" dirty="0"/>
              <a:t>相关（补充）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29" y="1340768"/>
            <a:ext cx="9042428" cy="482475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899" y="4932137"/>
            <a:ext cx="3865072" cy="6573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54" y="44624"/>
            <a:ext cx="4827746" cy="130060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571" y="702593"/>
            <a:ext cx="5105400" cy="63817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116632"/>
            <a:ext cx="8001000" cy="747713"/>
          </a:xfrm>
        </p:spPr>
        <p:txBody>
          <a:bodyPr/>
          <a:lstStyle/>
          <a:p>
            <a:r>
              <a:rPr lang="en-US" altLang="zh-CN" kern="0" dirty="0"/>
              <a:t>10.3</a:t>
            </a:r>
            <a:r>
              <a:rPr lang="zh-CN" altLang="en-US" kern="0" dirty="0"/>
              <a:t>循环群与置换群（回顾）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90" y="878802"/>
            <a:ext cx="9144000" cy="5951764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98728A-3D97-437B-905E-E0E207F65F07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2684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/>
              <a:t>主要内容</a:t>
            </a:r>
            <a:endParaRPr lang="zh-CN" altLang="en-US" kern="0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10.1</a:t>
            </a:r>
            <a:r>
              <a:rPr lang="zh-CN" altLang="en-US" kern="0" dirty="0"/>
              <a:t>群的定义与性质</a:t>
            </a:r>
            <a:endParaRPr lang="zh-CN" altLang="en-US" kern="0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10.2</a:t>
            </a:r>
            <a:r>
              <a:rPr lang="zh-CN" altLang="en-US" kern="0" dirty="0"/>
              <a:t>子群与群的陪集分解</a:t>
            </a:r>
            <a:endParaRPr lang="zh-CN" altLang="en-US" kern="0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10.3</a:t>
            </a:r>
            <a:r>
              <a:rPr lang="zh-CN" altLang="en-US" kern="0" dirty="0"/>
              <a:t>循环群与置换群</a:t>
            </a:r>
            <a:endParaRPr lang="zh-CN" altLang="en-US" kern="0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>
                <a:solidFill>
                  <a:srgbClr val="FF0000"/>
                </a:solidFill>
              </a:rPr>
              <a:t>10.4</a:t>
            </a:r>
            <a:r>
              <a:rPr lang="zh-CN" altLang="en-US" kern="0" dirty="0">
                <a:solidFill>
                  <a:srgbClr val="FF0000"/>
                </a:solidFill>
              </a:rPr>
              <a:t>环与域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D4019C-DAA9-4EF8-A641-852EDBFAB20A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10.4  </a:t>
            </a:r>
            <a:r>
              <a:rPr lang="zh-CN" altLang="en-US">
                <a:latin typeface="华文中宋" panose="02010600040101010101" pitchFamily="2" charset="-122"/>
              </a:rPr>
              <a:t>环与域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1422400"/>
            <a:ext cx="9073008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10.14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R</a:t>
            </a:r>
            <a:r>
              <a:rPr lang="en-US" altLang="zh-CN" dirty="0"/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&gt;</a:t>
            </a:r>
            <a:r>
              <a:rPr lang="zh-CN" altLang="en-US" dirty="0"/>
              <a:t>是代数系统，</a:t>
            </a:r>
            <a:r>
              <a:rPr lang="en-US" altLang="zh-CN" dirty="0"/>
              <a:t>+</a:t>
            </a:r>
            <a:r>
              <a:rPr lang="zh-CN" altLang="en-US" dirty="0"/>
              <a:t>和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zh-CN" altLang="en-US" dirty="0"/>
              <a:t>是二元运算</a:t>
            </a:r>
            <a:r>
              <a:rPr lang="en-US" altLang="zh-CN" dirty="0"/>
              <a:t>. </a:t>
            </a:r>
            <a:r>
              <a:rPr lang="zh-CN" altLang="en-US" dirty="0"/>
              <a:t>如果满足以下条件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&lt;</a:t>
            </a:r>
            <a:r>
              <a:rPr lang="en-US" altLang="zh-CN" i="1" dirty="0"/>
              <a:t>R</a:t>
            </a:r>
            <a:r>
              <a:rPr lang="en-US" altLang="zh-CN" dirty="0"/>
              <a:t>,+&gt;</a:t>
            </a:r>
            <a:r>
              <a:rPr lang="zh-CN" altLang="en-US" dirty="0"/>
              <a:t>构成交换群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&lt;</a:t>
            </a:r>
            <a:r>
              <a:rPr lang="en-US" altLang="zh-CN" i="1" dirty="0"/>
              <a:t>R</a:t>
            </a:r>
            <a:r>
              <a:rPr lang="en-US" altLang="zh-CN" dirty="0"/>
              <a:t>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&gt;</a:t>
            </a:r>
            <a:r>
              <a:rPr lang="zh-CN" altLang="en-US" dirty="0"/>
              <a:t>构成半群（</a:t>
            </a:r>
            <a:r>
              <a:rPr lang="zh-CN" altLang="en-US" dirty="0">
                <a:solidFill>
                  <a:srgbClr val="00B050"/>
                </a:solidFill>
              </a:rPr>
              <a:t>可结合性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zh-CN" altLang="en-US" dirty="0"/>
              <a:t>运算关于</a:t>
            </a:r>
            <a:r>
              <a:rPr lang="en-US" altLang="zh-CN" dirty="0"/>
              <a:t>+</a:t>
            </a:r>
            <a:r>
              <a:rPr lang="zh-CN" altLang="en-US" dirty="0"/>
              <a:t>运算适合分配律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则称</a:t>
            </a:r>
            <a:r>
              <a:rPr lang="en-US" altLang="zh-CN" dirty="0"/>
              <a:t>&lt;</a:t>
            </a:r>
            <a:r>
              <a:rPr lang="en-US" altLang="zh-CN" i="1" dirty="0"/>
              <a:t>R</a:t>
            </a:r>
            <a:r>
              <a:rPr lang="en-US" altLang="zh-CN" dirty="0"/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&gt;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A50021"/>
                </a:solidFill>
              </a:rPr>
              <a:t>环</a:t>
            </a:r>
            <a:r>
              <a:rPr lang="en-US" altLang="zh-CN" dirty="0"/>
              <a:t>.  </a:t>
            </a:r>
            <a:endParaRPr lang="en-US" altLang="zh-CN" dirty="0"/>
          </a:p>
          <a:p>
            <a:pPr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284752-242C-4A2D-9134-58F11D917A52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726" cy="4822825"/>
          </a:xfrm>
        </p:spPr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zh-CN" altLang="en-US" dirty="0"/>
              <a:t>通常称</a:t>
            </a:r>
            <a:r>
              <a:rPr lang="en-US" altLang="zh-CN" dirty="0"/>
              <a:t>+</a:t>
            </a:r>
            <a:r>
              <a:rPr lang="zh-CN" altLang="en-US" dirty="0"/>
              <a:t>运算为环中的</a:t>
            </a:r>
            <a:r>
              <a:rPr lang="zh-CN" altLang="en-US" dirty="0">
                <a:solidFill>
                  <a:srgbClr val="A50021"/>
                </a:solidFill>
              </a:rPr>
              <a:t>加法</a:t>
            </a:r>
            <a:r>
              <a:rPr lang="zh-CN" altLang="en-US" dirty="0"/>
              <a:t>，</a:t>
            </a:r>
            <a:r>
              <a:rPr lang="en-US" altLang="zh-CN" sz="3200" dirty="0">
                <a:sym typeface="Symbol" panose="05050102010706020507" pitchFamily="18" charset="2"/>
              </a:rPr>
              <a:t> </a:t>
            </a:r>
            <a:r>
              <a:rPr lang="zh-CN" altLang="en-US" dirty="0"/>
              <a:t>运算为环中的</a:t>
            </a:r>
            <a:r>
              <a:rPr lang="zh-CN" altLang="en-US" dirty="0">
                <a:solidFill>
                  <a:srgbClr val="A50021"/>
                </a:solidFill>
              </a:rPr>
              <a:t>乘法</a:t>
            </a:r>
            <a:r>
              <a:rPr lang="zh-CN" altLang="en-US" dirty="0"/>
              <a:t>，通常可以省略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zh-CN" altLang="en-US" dirty="0"/>
              <a:t>环中加法单位元记作 </a:t>
            </a:r>
            <a:r>
              <a:rPr lang="en-US" altLang="zh-CN" dirty="0"/>
              <a:t>0</a:t>
            </a:r>
            <a:r>
              <a:rPr lang="zh-CN" altLang="en-US" dirty="0"/>
              <a:t>，乘法单位元（如果存在）记作</a:t>
            </a:r>
            <a:r>
              <a:rPr lang="en-US" altLang="zh-CN" dirty="0"/>
              <a:t>1. </a:t>
            </a:r>
            <a:endParaRPr lang="en-US" altLang="zh-CN" dirty="0"/>
          </a:p>
          <a:p>
            <a:pPr eaLnBrk="1" hangingPunct="1"/>
            <a:r>
              <a:rPr lang="zh-CN" altLang="en-US" dirty="0"/>
              <a:t>对任何元素 </a:t>
            </a:r>
            <a:r>
              <a:rPr lang="en-US" altLang="zh-CN" i="1" dirty="0"/>
              <a:t>x</a:t>
            </a:r>
            <a:r>
              <a:rPr lang="zh-CN" altLang="en-US" dirty="0"/>
              <a:t>，称 </a:t>
            </a:r>
            <a:r>
              <a:rPr lang="en-US" altLang="zh-CN" i="1" dirty="0"/>
              <a:t>x </a:t>
            </a:r>
            <a:r>
              <a:rPr lang="zh-CN" altLang="en-US" dirty="0"/>
              <a:t>的加法逆元为</a:t>
            </a:r>
            <a:r>
              <a:rPr lang="zh-CN" altLang="en-US" dirty="0">
                <a:solidFill>
                  <a:srgbClr val="A50021"/>
                </a:solidFill>
              </a:rPr>
              <a:t>负元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记作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x</a:t>
            </a:r>
            <a:r>
              <a:rPr lang="en-US" altLang="zh-CN" dirty="0"/>
              <a:t>, (</a:t>
            </a:r>
            <a:r>
              <a:rPr lang="en-US" altLang="zh-CN" i="1" dirty="0"/>
              <a:t>x</a:t>
            </a:r>
            <a:r>
              <a:rPr lang="en-US" altLang="zh-CN" dirty="0"/>
              <a:t>-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zh-CN" altLang="en-US" dirty="0"/>
              <a:t>表示</a:t>
            </a:r>
            <a:r>
              <a:rPr lang="en-US" altLang="zh-CN" i="1" dirty="0"/>
              <a:t>x</a:t>
            </a:r>
            <a:r>
              <a:rPr lang="en-US" altLang="zh-CN" dirty="0"/>
              <a:t>+(-</a:t>
            </a:r>
            <a:r>
              <a:rPr lang="en-US" altLang="zh-CN" i="1" dirty="0"/>
              <a:t>y</a:t>
            </a:r>
            <a:r>
              <a:rPr lang="en-US" altLang="zh-CN" dirty="0"/>
              <a:t>). 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若 </a:t>
            </a:r>
            <a:r>
              <a:rPr lang="en-US" altLang="zh-CN" i="1" dirty="0"/>
              <a:t>x </a:t>
            </a:r>
            <a:r>
              <a:rPr lang="zh-CN" altLang="en-US" dirty="0"/>
              <a:t>存在乘法逆元，则称之为</a:t>
            </a:r>
            <a:r>
              <a:rPr lang="zh-CN" altLang="en-US" dirty="0">
                <a:solidFill>
                  <a:srgbClr val="A50021"/>
                </a:solidFill>
              </a:rPr>
              <a:t>逆元</a:t>
            </a:r>
            <a:r>
              <a:rPr lang="zh-CN" altLang="en-US" dirty="0"/>
              <a:t>，记作</a:t>
            </a:r>
            <a:r>
              <a:rPr lang="en-US" altLang="zh-CN" i="1" dirty="0"/>
              <a:t>x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i="1" dirty="0" err="1"/>
              <a:t>nx</a:t>
            </a:r>
            <a:r>
              <a:rPr lang="zh-CN" altLang="en-US" dirty="0"/>
              <a:t>表示</a:t>
            </a:r>
            <a:r>
              <a:rPr lang="en-US" altLang="zh-CN" i="1" dirty="0"/>
              <a:t>n</a:t>
            </a:r>
            <a:r>
              <a:rPr lang="zh-CN" altLang="en-US" dirty="0"/>
              <a:t>个</a:t>
            </a:r>
            <a:r>
              <a:rPr lang="en-US" altLang="zh-CN" i="1" dirty="0"/>
              <a:t>x</a:t>
            </a:r>
            <a:r>
              <a:rPr lang="zh-CN" altLang="en-US" dirty="0"/>
              <a:t>相加，</a:t>
            </a:r>
            <a:r>
              <a:rPr lang="en-US" altLang="zh-CN" i="1" dirty="0" err="1"/>
              <a:t>x</a:t>
            </a:r>
            <a:r>
              <a:rPr lang="en-US" altLang="zh-CN" i="1" baseline="30000" dirty="0" err="1"/>
              <a:t>n</a:t>
            </a:r>
            <a:r>
              <a:rPr lang="zh-CN" altLang="en-US" dirty="0"/>
              <a:t>表示</a:t>
            </a:r>
            <a:r>
              <a:rPr lang="en-US" altLang="zh-CN" i="1" dirty="0"/>
              <a:t>n</a:t>
            </a:r>
            <a:r>
              <a:rPr lang="zh-CN" altLang="en-US" dirty="0"/>
              <a:t>个</a:t>
            </a:r>
            <a:r>
              <a:rPr lang="en-US" altLang="zh-CN" i="1" dirty="0"/>
              <a:t>x</a:t>
            </a:r>
            <a:r>
              <a:rPr lang="zh-CN" altLang="en-US" dirty="0"/>
              <a:t>相乘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62B6C2-CD04-4A49-BFA6-6FC4BD502EE0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环的实例</a:t>
            </a:r>
            <a:endParaRPr lang="zh-CN" altLang="en-US"/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整数集、有理数集、实数集和复数集关于普通的加法和乘法构成环，分别称为</a:t>
            </a:r>
            <a:r>
              <a:rPr lang="zh-CN" altLang="en-US" dirty="0">
                <a:solidFill>
                  <a:srgbClr val="A50021"/>
                </a:solidFill>
              </a:rPr>
              <a:t>整数环</a:t>
            </a:r>
            <a:r>
              <a:rPr lang="en-US" altLang="zh-CN" dirty="0">
                <a:solidFill>
                  <a:srgbClr val="A50021"/>
                </a:solidFill>
              </a:rPr>
              <a:t>Z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A50021"/>
                </a:solidFill>
              </a:rPr>
              <a:t>有理数环</a:t>
            </a:r>
            <a:r>
              <a:rPr lang="en-US" altLang="zh-CN" dirty="0">
                <a:solidFill>
                  <a:srgbClr val="A50021"/>
                </a:solidFill>
              </a:rPr>
              <a:t>Q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A50021"/>
                </a:solidFill>
              </a:rPr>
              <a:t>实数环</a:t>
            </a:r>
            <a:r>
              <a:rPr lang="en-US" altLang="zh-CN" dirty="0">
                <a:solidFill>
                  <a:srgbClr val="A50021"/>
                </a:solidFill>
              </a:rPr>
              <a:t>R</a:t>
            </a:r>
            <a:r>
              <a:rPr lang="en-US" altLang="zh-CN" i="1" dirty="0"/>
              <a:t> 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A50021"/>
                </a:solidFill>
              </a:rPr>
              <a:t>复数环</a:t>
            </a:r>
            <a:r>
              <a:rPr lang="en-US" altLang="zh-CN" dirty="0">
                <a:solidFill>
                  <a:srgbClr val="A50021"/>
                </a:solidFill>
              </a:rPr>
              <a:t>C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(2)</a:t>
            </a:r>
            <a:r>
              <a:rPr lang="zh-CN" altLang="en-US" dirty="0"/>
              <a:t>设</a:t>
            </a:r>
            <a:r>
              <a:rPr lang="en-US" altLang="zh-CN" dirty="0"/>
              <a:t>Z</a:t>
            </a:r>
            <a:r>
              <a:rPr lang="en-US" altLang="zh-CN" i="1" baseline="-25000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{0,1, ... , </a:t>
            </a:r>
            <a:r>
              <a:rPr lang="en-US" altLang="zh-CN" i="1" dirty="0"/>
              <a:t>n</a:t>
            </a:r>
            <a:r>
              <a:rPr lang="zh-CN" altLang="en-US" i="1" dirty="0"/>
              <a:t>－</a:t>
            </a:r>
            <a:r>
              <a:rPr lang="en-US" altLang="zh-CN" dirty="0"/>
              <a:t>1}</a:t>
            </a:r>
            <a:r>
              <a:rPr lang="zh-CN" altLang="en-US" dirty="0"/>
              <a:t>，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</a:t>
            </a:r>
            <a:r>
              <a:rPr lang="zh-CN" altLang="en-US" dirty="0"/>
              <a:t>分别表示模</a:t>
            </a:r>
            <a:r>
              <a:rPr lang="en-US" altLang="zh-CN" i="1" dirty="0"/>
              <a:t>n</a:t>
            </a:r>
            <a:r>
              <a:rPr lang="zh-CN" altLang="en-US" dirty="0"/>
              <a:t>的加法和乘法，则</a:t>
            </a:r>
            <a:r>
              <a:rPr lang="en-US" altLang="zh-CN" dirty="0"/>
              <a:t>&lt;Z</a:t>
            </a:r>
            <a:r>
              <a:rPr lang="en-US" altLang="zh-CN" i="1" baseline="-25000" dirty="0"/>
              <a:t>n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/>
              <a:t>&gt;</a:t>
            </a:r>
            <a:r>
              <a:rPr lang="zh-CN" altLang="en-US" dirty="0"/>
              <a:t>构成环，称为</a:t>
            </a:r>
            <a:r>
              <a:rPr lang="zh-CN" altLang="en-US" dirty="0">
                <a:solidFill>
                  <a:srgbClr val="A50021"/>
                </a:solidFill>
              </a:rPr>
              <a:t>模 </a:t>
            </a:r>
            <a:r>
              <a:rPr lang="en-US" altLang="zh-CN" i="1" dirty="0">
                <a:solidFill>
                  <a:srgbClr val="A50021"/>
                </a:solidFill>
              </a:rPr>
              <a:t>n</a:t>
            </a:r>
            <a:r>
              <a:rPr lang="zh-CN" altLang="en-US" dirty="0">
                <a:solidFill>
                  <a:srgbClr val="A50021"/>
                </a:solidFill>
              </a:rPr>
              <a:t>的整数环</a:t>
            </a:r>
            <a:r>
              <a:rPr lang="en-US" altLang="zh-CN" dirty="0"/>
              <a:t>. </a:t>
            </a:r>
            <a:endParaRPr lang="en-US" altLang="zh-CN" dirty="0"/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≥2)</a:t>
            </a:r>
            <a:r>
              <a:rPr lang="zh-CN" altLang="en-US" dirty="0"/>
              <a:t>阶实矩阵的集合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(R)</a:t>
            </a:r>
            <a:r>
              <a:rPr lang="zh-CN" altLang="en-US" dirty="0"/>
              <a:t>关于矩阵的加法和乘法构成环，称为 </a:t>
            </a:r>
            <a:r>
              <a:rPr lang="en-US" altLang="zh-CN" i="1" dirty="0">
                <a:solidFill>
                  <a:srgbClr val="A50021"/>
                </a:solidFill>
              </a:rPr>
              <a:t>n </a:t>
            </a:r>
            <a:r>
              <a:rPr lang="zh-CN" altLang="en-US" dirty="0">
                <a:solidFill>
                  <a:srgbClr val="A50021"/>
                </a:solidFill>
              </a:rPr>
              <a:t>阶实矩阵环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(4)</a:t>
            </a:r>
            <a:r>
              <a:rPr lang="zh-CN" altLang="en-US" dirty="0"/>
              <a:t>集合的幂集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关于集合的对称差运算和交运算构成环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9A924C-5BF2-4AA5-8A52-8F317C06A92B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环的运算性质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10.16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&lt;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  </a:t>
            </a:r>
            <a:r>
              <a:rPr lang="en-US" altLang="zh-CN" dirty="0">
                <a:solidFill>
                  <a:srgbClr val="000000"/>
                </a:solidFill>
              </a:rPr>
              <a:t>&gt;</a:t>
            </a:r>
            <a:r>
              <a:rPr lang="zh-CN" altLang="en-US" dirty="0">
                <a:solidFill>
                  <a:srgbClr val="000000"/>
                </a:solidFill>
              </a:rPr>
              <a:t>是环，则</a:t>
            </a:r>
            <a:endParaRPr lang="zh-CN" altLang="en-US" dirty="0">
              <a:solidFill>
                <a:srgbClr val="00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(1) 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0 = 0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= 0</a:t>
            </a:r>
            <a:endParaRPr lang="en-US" altLang="zh-CN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(2)  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(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(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 = </a:t>
            </a:r>
            <a:r>
              <a:rPr lang="en-US" altLang="zh-CN" i="1" dirty="0">
                <a:solidFill>
                  <a:srgbClr val="000000"/>
                </a:solidFill>
              </a:rPr>
              <a:t>ab</a:t>
            </a:r>
            <a:endParaRPr lang="en-US" altLang="zh-CN" i="1" dirty="0">
              <a:solidFill>
                <a:srgbClr val="00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(3)  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 = 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ab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0000"/>
                </a:solidFill>
              </a:rPr>
              <a:t>ac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 </a:t>
            </a:r>
            <a:endParaRPr lang="zh-CN" altLang="en-US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0000"/>
                </a:solidFill>
              </a:rPr>
              <a:t>c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= 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ba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0000"/>
                </a:solidFill>
              </a:rPr>
              <a:t>ca</a:t>
            </a:r>
            <a:b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(4)  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,...,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,...,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en-US" altLang="zh-CN" i="1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≥2)</a:t>
            </a:r>
            <a:endParaRPr lang="en-US" altLang="zh-CN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627718" name="Object 6"/>
          <p:cNvGraphicFramePr>
            <a:graphicFrameLocks noChangeAspect="1"/>
          </p:cNvGraphicFramePr>
          <p:nvPr/>
        </p:nvGraphicFramePr>
        <p:xfrm>
          <a:off x="2195513" y="4437063"/>
          <a:ext cx="40322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828800" imgH="444500" progId="Equation.3">
                  <p:embed/>
                </p:oleObj>
              </mc:Choice>
              <mc:Fallback>
                <p:oleObj name="公式" r:id="rId1" imgW="18288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437063"/>
                        <a:ext cx="403225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226455-7185-4AC8-91F5-EC448798B833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证明</a:t>
            </a:r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8325" y="1295293"/>
            <a:ext cx="8001000" cy="5184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kern="0" dirty="0"/>
              <a:t>(1)</a:t>
            </a:r>
            <a:r>
              <a:rPr lang="en-US" altLang="zh-CN" kern="0" dirty="0">
                <a:solidFill>
                  <a:srgbClr val="0066FF"/>
                </a:solidFill>
              </a:rPr>
              <a:t> 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66FF"/>
                </a:solidFill>
              </a:rPr>
              <a:t>a</a:t>
            </a:r>
            <a:r>
              <a:rPr lang="en-US" altLang="zh-CN" kern="0" dirty="0" err="1">
                <a:solidFill>
                  <a:srgbClr val="0066FF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kern="0" dirty="0" err="1">
                <a:solidFill>
                  <a:srgbClr val="0066FF"/>
                </a:solidFill>
                <a:sym typeface="Symbol" panose="05050102010706020507" pitchFamily="18" charset="2"/>
              </a:rPr>
              <a:t>R</a:t>
            </a:r>
            <a:r>
              <a:rPr lang="zh-CN" altLang="en-US" kern="0" dirty="0">
                <a:solidFill>
                  <a:srgbClr val="0066FF"/>
                </a:solidFill>
                <a:sym typeface="Symbol" panose="05050102010706020507" pitchFamily="18" charset="2"/>
              </a:rPr>
              <a:t>，</a:t>
            </a:r>
            <a:r>
              <a:rPr lang="en-US" altLang="zh-CN" i="1" kern="0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0 = 0</a:t>
            </a:r>
            <a:r>
              <a:rPr lang="en-US" altLang="zh-CN" i="1" kern="0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 = 0</a:t>
            </a:r>
            <a:endParaRPr lang="en-US" altLang="zh-CN" kern="0" dirty="0">
              <a:solidFill>
                <a:srgbClr val="0066FF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证明： </a:t>
            </a:r>
            <a:r>
              <a:rPr lang="en-US" altLang="zh-CN" kern="0" dirty="0">
                <a:sym typeface="Symbol" panose="05050102010706020507" pitchFamily="18" charset="2"/>
              </a:rPr>
              <a:t>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∈</a:t>
            </a:r>
            <a:r>
              <a:rPr lang="en-US" altLang="zh-CN" i="1" kern="0" dirty="0" err="1"/>
              <a:t>R</a:t>
            </a:r>
            <a:r>
              <a:rPr lang="zh-CN" altLang="en-US" kern="0" dirty="0"/>
              <a:t>有    </a:t>
            </a:r>
            <a:r>
              <a:rPr lang="en-US" altLang="zh-CN" i="1" kern="0" dirty="0"/>
              <a:t>a</a:t>
            </a:r>
            <a:r>
              <a:rPr lang="en-US" altLang="zh-CN" kern="0" dirty="0"/>
              <a:t>0 = </a:t>
            </a:r>
            <a:r>
              <a:rPr lang="en-US" altLang="zh-CN" i="1" kern="0" dirty="0"/>
              <a:t>a</a:t>
            </a:r>
            <a:r>
              <a:rPr lang="en-US" altLang="zh-CN" kern="0" dirty="0"/>
              <a:t>(0+0) = </a:t>
            </a:r>
            <a:r>
              <a:rPr lang="en-US" altLang="zh-CN" i="1" kern="0" dirty="0"/>
              <a:t>a</a:t>
            </a:r>
            <a:r>
              <a:rPr lang="en-US" altLang="zh-CN" kern="0" dirty="0"/>
              <a:t>0+</a:t>
            </a:r>
            <a:r>
              <a:rPr lang="en-US" altLang="zh-CN" i="1" kern="0" dirty="0"/>
              <a:t>a</a:t>
            </a:r>
            <a:r>
              <a:rPr lang="en-US" altLang="zh-CN" kern="0" dirty="0"/>
              <a:t>0</a:t>
            </a:r>
            <a:br>
              <a:rPr lang="en-US" altLang="zh-CN" kern="0" dirty="0"/>
            </a:br>
            <a:r>
              <a:rPr lang="zh-CN" altLang="en-US" kern="0" dirty="0"/>
              <a:t>由环中加法的消去律得</a:t>
            </a:r>
            <a:r>
              <a:rPr lang="en-US" altLang="zh-CN" i="1" kern="0" dirty="0"/>
              <a:t>a</a:t>
            </a:r>
            <a:r>
              <a:rPr lang="en-US" altLang="zh-CN" kern="0" dirty="0"/>
              <a:t>0=0. </a:t>
            </a:r>
            <a:r>
              <a:rPr lang="zh-CN" altLang="en-US" kern="0" dirty="0"/>
              <a:t>同理可证</a:t>
            </a:r>
            <a:r>
              <a:rPr lang="en-US" altLang="zh-CN" kern="0" dirty="0"/>
              <a:t>0</a:t>
            </a:r>
            <a:r>
              <a:rPr lang="en-US" altLang="zh-CN" i="1" kern="0" dirty="0"/>
              <a:t>a</a:t>
            </a:r>
            <a:r>
              <a:rPr lang="en-US" altLang="zh-CN" kern="0" dirty="0"/>
              <a:t>=0.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(2) 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66FF"/>
                </a:solidFill>
              </a:rPr>
              <a:t>a</a:t>
            </a:r>
            <a:r>
              <a:rPr lang="en-US" altLang="zh-CN" kern="0" dirty="0" err="1">
                <a:solidFill>
                  <a:srgbClr val="0066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kern="0" dirty="0" err="1">
                <a:solidFill>
                  <a:srgbClr val="0066FF"/>
                </a:solidFill>
                <a:sym typeface="Symbol" panose="05050102010706020507" pitchFamily="18" charset="2"/>
              </a:rPr>
              <a:t>b</a:t>
            </a:r>
            <a:r>
              <a:rPr lang="en-US" altLang="zh-CN" kern="0" dirty="0" err="1">
                <a:solidFill>
                  <a:srgbClr val="0066FF"/>
                </a:solidFill>
                <a:sym typeface="Symbol" panose="05050102010706020507" pitchFamily="18" charset="2"/>
              </a:rPr>
              <a:t>∈</a:t>
            </a:r>
            <a:r>
              <a:rPr lang="en-US" altLang="zh-CN" i="1" kern="0" dirty="0" err="1">
                <a:solidFill>
                  <a:srgbClr val="0066FF"/>
                </a:solidFill>
                <a:sym typeface="Symbol" panose="05050102010706020507" pitchFamily="18" charset="2"/>
              </a:rPr>
              <a:t>R</a:t>
            </a:r>
            <a:r>
              <a:rPr lang="zh-CN" altLang="en-US" kern="0" dirty="0">
                <a:solidFill>
                  <a:srgbClr val="0066FF"/>
                </a:solidFill>
                <a:sym typeface="Symbol" panose="05050102010706020507" pitchFamily="18" charset="2"/>
              </a:rPr>
              <a:t>，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(</a:t>
            </a:r>
            <a:r>
              <a:rPr lang="en-US" altLang="zh-CN" i="1" kern="0" dirty="0">
                <a:solidFill>
                  <a:srgbClr val="0066FF"/>
                </a:solidFill>
              </a:rPr>
              <a:t>a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)</a:t>
            </a:r>
            <a:r>
              <a:rPr lang="en-US" altLang="zh-CN" i="1" kern="0" dirty="0">
                <a:solidFill>
                  <a:srgbClr val="0066FF"/>
                </a:solidFill>
                <a:sym typeface="Symbol" panose="05050102010706020507" pitchFamily="18" charset="2"/>
              </a:rPr>
              <a:t>b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 = </a:t>
            </a:r>
            <a:r>
              <a:rPr lang="en-US" altLang="zh-CN" i="1" kern="0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(</a:t>
            </a:r>
            <a:r>
              <a:rPr lang="en-US" altLang="zh-CN" i="1" kern="0" dirty="0">
                <a:solidFill>
                  <a:srgbClr val="0066FF"/>
                </a:solidFill>
              </a:rPr>
              <a:t>b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) = </a:t>
            </a:r>
            <a:r>
              <a:rPr lang="en-US" altLang="zh-CN" i="1" kern="0" dirty="0">
                <a:solidFill>
                  <a:srgbClr val="0066FF"/>
                </a:solidFill>
              </a:rPr>
              <a:t>ab</a:t>
            </a:r>
            <a:endParaRPr lang="en-US" altLang="zh-CN" kern="0" dirty="0">
              <a:solidFill>
                <a:srgbClr val="0066FF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ym typeface="Symbol" panose="05050102010706020507" pitchFamily="18" charset="2"/>
              </a:rPr>
              <a:t>     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,</a:t>
            </a:r>
            <a:r>
              <a:rPr lang="en-US" altLang="zh-CN" i="1" kern="0" dirty="0" err="1"/>
              <a:t>b</a:t>
            </a:r>
            <a:r>
              <a:rPr lang="en-US" altLang="zh-CN" kern="0" dirty="0" err="1"/>
              <a:t>∈</a:t>
            </a:r>
            <a:r>
              <a:rPr lang="en-US" altLang="zh-CN" i="1" kern="0" dirty="0" err="1"/>
              <a:t>R</a:t>
            </a:r>
            <a:r>
              <a:rPr lang="zh-CN" altLang="en-US" kern="0" dirty="0"/>
              <a:t>，有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/>
              <a:t>               </a:t>
            </a:r>
            <a:r>
              <a:rPr lang="en-US" altLang="zh-CN" kern="0" dirty="0">
                <a:solidFill>
                  <a:srgbClr val="0066FF"/>
                </a:solidFill>
              </a:rPr>
              <a:t>(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kern="0" dirty="0">
                <a:solidFill>
                  <a:srgbClr val="0066FF"/>
                </a:solidFill>
              </a:rPr>
              <a:t>a</a:t>
            </a:r>
            <a:r>
              <a:rPr lang="en-US" altLang="zh-CN" kern="0" dirty="0">
                <a:solidFill>
                  <a:srgbClr val="0066FF"/>
                </a:solidFill>
              </a:rPr>
              <a:t>)</a:t>
            </a:r>
            <a:r>
              <a:rPr lang="en-US" altLang="zh-CN" i="1" kern="0" dirty="0" err="1">
                <a:solidFill>
                  <a:srgbClr val="0066FF"/>
                </a:solidFill>
              </a:rPr>
              <a:t>b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ab</a:t>
            </a:r>
            <a:r>
              <a:rPr lang="en-US" altLang="zh-CN" kern="0" dirty="0"/>
              <a:t> =(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a</a:t>
            </a:r>
            <a:r>
              <a:rPr lang="en-US" altLang="zh-CN" kern="0" dirty="0"/>
              <a:t>)</a:t>
            </a:r>
            <a:r>
              <a:rPr lang="en-US" altLang="zh-CN" i="1" kern="0" dirty="0"/>
              <a:t>b</a:t>
            </a:r>
            <a:r>
              <a:rPr lang="en-US" altLang="zh-CN" kern="0" dirty="0"/>
              <a:t> = 0</a:t>
            </a:r>
            <a:r>
              <a:rPr lang="en-US" altLang="zh-CN" i="1" kern="0" dirty="0"/>
              <a:t>b</a:t>
            </a:r>
            <a:r>
              <a:rPr lang="en-US" altLang="zh-CN" kern="0" dirty="0"/>
              <a:t> = 0</a:t>
            </a:r>
            <a:br>
              <a:rPr lang="en-US" altLang="zh-CN" kern="0" dirty="0"/>
            </a:br>
            <a:r>
              <a:rPr lang="en-US" altLang="zh-CN" kern="0" dirty="0"/>
              <a:t>               </a:t>
            </a:r>
            <a:r>
              <a:rPr lang="en-US" altLang="zh-CN" i="1" kern="0" dirty="0"/>
              <a:t>ab</a:t>
            </a:r>
            <a:r>
              <a:rPr lang="en-US" altLang="zh-CN" kern="0" dirty="0"/>
              <a:t>+</a:t>
            </a:r>
            <a:r>
              <a:rPr lang="en-US" altLang="zh-CN" kern="0" dirty="0">
                <a:solidFill>
                  <a:srgbClr val="0066FF"/>
                </a:solidFill>
              </a:rPr>
              <a:t>(</a:t>
            </a:r>
            <a:r>
              <a:rPr lang="en-US" altLang="zh-CN" kern="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kern="0" dirty="0">
                <a:solidFill>
                  <a:srgbClr val="0066FF"/>
                </a:solidFill>
              </a:rPr>
              <a:t>a</a:t>
            </a:r>
            <a:r>
              <a:rPr lang="en-US" altLang="zh-CN" kern="0" dirty="0">
                <a:solidFill>
                  <a:srgbClr val="0066FF"/>
                </a:solidFill>
              </a:rPr>
              <a:t>)</a:t>
            </a:r>
            <a:r>
              <a:rPr lang="en-US" altLang="zh-CN" i="1" kern="0" dirty="0">
                <a:solidFill>
                  <a:srgbClr val="0066FF"/>
                </a:solidFill>
              </a:rPr>
              <a:t>b</a:t>
            </a:r>
            <a:r>
              <a:rPr lang="en-US" altLang="zh-CN" kern="0" dirty="0">
                <a:solidFill>
                  <a:srgbClr val="0066FF"/>
                </a:solidFill>
              </a:rPr>
              <a:t> </a:t>
            </a:r>
            <a:r>
              <a:rPr lang="en-US" altLang="zh-CN" kern="0" dirty="0"/>
              <a:t>=(</a:t>
            </a:r>
            <a:r>
              <a:rPr lang="en-US" altLang="zh-CN" i="1" kern="0" dirty="0"/>
              <a:t>a</a:t>
            </a:r>
            <a:r>
              <a:rPr lang="en-US" altLang="zh-CN" kern="0" dirty="0"/>
              <a:t>+(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</a:t>
            </a:r>
            <a:r>
              <a:rPr lang="en-US" altLang="zh-CN" kern="0" dirty="0"/>
              <a:t>))</a:t>
            </a:r>
            <a:r>
              <a:rPr lang="en-US" altLang="zh-CN" i="1" kern="0" dirty="0"/>
              <a:t>b</a:t>
            </a:r>
            <a:r>
              <a:rPr lang="en-US" altLang="zh-CN" kern="0" dirty="0"/>
              <a:t> = 0</a:t>
            </a:r>
            <a:r>
              <a:rPr lang="en-US" altLang="zh-CN" i="1" kern="0" dirty="0"/>
              <a:t>b</a:t>
            </a:r>
            <a:r>
              <a:rPr lang="en-US" altLang="zh-CN" kern="0" dirty="0"/>
              <a:t> = 0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</a:t>
            </a:r>
            <a:r>
              <a:rPr lang="zh-CN" altLang="en-US" kern="0" dirty="0"/>
              <a:t>故：</a:t>
            </a:r>
            <a:r>
              <a:rPr lang="en-US" altLang="zh-CN" kern="0" dirty="0"/>
              <a:t> (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</a:t>
            </a:r>
            <a:r>
              <a:rPr lang="en-US" altLang="zh-CN" kern="0" dirty="0"/>
              <a:t>)</a:t>
            </a:r>
            <a:r>
              <a:rPr lang="en-US" altLang="zh-CN" i="1" kern="0" dirty="0"/>
              <a:t>b</a:t>
            </a:r>
            <a:r>
              <a:rPr lang="zh-CN" altLang="en-US" kern="0" dirty="0"/>
              <a:t>是</a:t>
            </a:r>
            <a:r>
              <a:rPr lang="en-US" altLang="zh-CN" i="1" kern="0" dirty="0"/>
              <a:t>ab</a:t>
            </a:r>
            <a:r>
              <a:rPr lang="zh-CN" altLang="en-US" kern="0" dirty="0"/>
              <a:t>的负元</a:t>
            </a:r>
            <a:r>
              <a:rPr lang="en-US" altLang="zh-CN" kern="0" dirty="0"/>
              <a:t>. </a:t>
            </a:r>
            <a:endParaRPr lang="en-US" altLang="zh-CN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</a:t>
            </a:r>
            <a:r>
              <a:rPr lang="zh-CN" altLang="en-US" kern="0" dirty="0"/>
              <a:t>由负元惟一性</a:t>
            </a:r>
            <a:endParaRPr lang="zh-CN" altLang="en-US" kern="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(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</a:t>
            </a:r>
            <a:r>
              <a:rPr lang="en-US" altLang="zh-CN" kern="0" dirty="0"/>
              <a:t>)</a:t>
            </a:r>
            <a:r>
              <a:rPr lang="en-US" altLang="zh-CN" i="1" kern="0" dirty="0"/>
              <a:t>b</a:t>
            </a:r>
            <a:r>
              <a:rPr lang="en-US" altLang="zh-CN" kern="0" dirty="0"/>
              <a:t>= 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ab</a:t>
            </a:r>
            <a:r>
              <a:rPr lang="zh-CN" altLang="en-US" kern="0" dirty="0"/>
              <a:t>，同理</a:t>
            </a:r>
            <a:r>
              <a:rPr lang="en-US" altLang="zh-CN" i="1" kern="0" dirty="0"/>
              <a:t>a</a:t>
            </a:r>
            <a:r>
              <a:rPr lang="en-US" altLang="zh-CN" kern="0" dirty="0"/>
              <a:t>(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b</a:t>
            </a:r>
            <a:r>
              <a:rPr lang="en-US" altLang="zh-CN" kern="0" dirty="0"/>
              <a:t>)= 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ab</a:t>
            </a:r>
            <a:endParaRPr lang="en-US" altLang="zh-CN" i="1" kern="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74675" y="2852936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236296" y="3933056"/>
            <a:ext cx="1512168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kern="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36296" y="4437112"/>
            <a:ext cx="1512168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kern="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altLang="zh-CN" sz="2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49A392-A97E-4654-8BCE-E8CB62A8DEC6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证明</a:t>
            </a:r>
            <a:endParaRPr lang="zh-CN" altLang="en-US"/>
          </a:p>
        </p:txBody>
      </p:sp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2484438" y="1844675"/>
          <a:ext cx="28797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193800" imgH="431800" progId="Equation.3">
                  <p:embed/>
                </p:oleObj>
              </mc:Choice>
              <mc:Fallback>
                <p:oleObj name="公式" r:id="rId1" imgW="1193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844675"/>
                        <a:ext cx="28797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2627313" y="3513138"/>
          <a:ext cx="2665412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93800" imgH="444500" progId="Equation.3">
                  <p:embed/>
                </p:oleObj>
              </mc:Choice>
              <mc:Fallback>
                <p:oleObj name="公式" r:id="rId3" imgW="11938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513138"/>
                        <a:ext cx="2665412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1692275" y="4508500"/>
          <a:ext cx="54006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2565400" imgH="444500" progId="Equation.3">
                  <p:embed/>
                </p:oleObj>
              </mc:Choice>
              <mc:Fallback>
                <p:oleObj name="公式" r:id="rId5" imgW="25654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508500"/>
                        <a:ext cx="540067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538163" y="2921000"/>
            <a:ext cx="6049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同理可证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30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30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..., </a:t>
            </a:r>
            <a:r>
              <a:rPr lang="en-US" altLang="zh-CN" i="1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i="1" baseline="-30000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dirty="0">
                <a:solidFill>
                  <a:srgbClr val="0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endParaRPr lang="zh-CN" altLang="en-US" dirty="0">
              <a:solidFill>
                <a:srgbClr val="000000"/>
              </a:solidFill>
              <a:ea typeface="华文中宋" panose="02010600040101010101" pitchFamily="2" charset="-122"/>
              <a:cs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8616" name="Rectangle 9"/>
          <p:cNvSpPr>
            <a:spLocks noChangeArrowheads="1"/>
          </p:cNvSpPr>
          <p:nvPr/>
        </p:nvSpPr>
        <p:spPr bwMode="auto">
          <a:xfrm>
            <a:off x="323850" y="1341438"/>
            <a:ext cx="82089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(4)  </a:t>
            </a:r>
            <a:r>
              <a:rPr lang="zh-CN" altLang="en-US" dirty="0">
                <a:solidFill>
                  <a:srgbClr val="000000"/>
                </a:solidFill>
              </a:rPr>
              <a:t>证明思路：用归纳法证明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, ... ,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n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有</a:t>
            </a:r>
            <a:endParaRPr lang="zh-CN" altLang="en-US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68617" name="Rectangle 10"/>
          <p:cNvSpPr>
            <a:spLocks noChangeArrowheads="1"/>
          </p:cNvSpPr>
          <p:nvPr/>
        </p:nvSpPr>
        <p:spPr bwMode="auto">
          <a:xfrm>
            <a:off x="539750" y="4724400"/>
            <a:ext cx="11525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于是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/>
      <p:bldP spid="68616" grpId="0"/>
      <p:bldP spid="6861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C9A404-DA12-4E40-829D-38950D624588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A50021"/>
                </a:solidFill>
              </a:rPr>
              <a:t>例：</a:t>
            </a:r>
            <a:r>
              <a:rPr lang="zh-CN" altLang="en-US" kern="0" dirty="0"/>
              <a:t>在环中计算</a:t>
            </a:r>
            <a:r>
              <a:rPr lang="en-US" altLang="zh-CN" kern="0" dirty="0"/>
              <a:t>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</a:t>
            </a:r>
            <a:r>
              <a:rPr lang="en-US" altLang="zh-CN" kern="0" baseline="30000" dirty="0"/>
              <a:t>3</a:t>
            </a:r>
            <a:r>
              <a:rPr lang="en-US" altLang="zh-CN" kern="0" dirty="0"/>
              <a:t>, (</a:t>
            </a:r>
            <a:r>
              <a:rPr lang="en-US" altLang="zh-CN" i="1" kern="0" dirty="0" err="1"/>
              <a:t>a</a:t>
            </a:r>
            <a:r>
              <a:rPr lang="en-US" altLang="zh-CN" kern="0" dirty="0" err="1">
                <a:sym typeface="Symbol" panose="05050102010706020507" pitchFamily="18" charset="2"/>
              </a:rPr>
              <a:t>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</a:t>
            </a:r>
            <a:r>
              <a:rPr lang="en-US" altLang="zh-CN" kern="0" baseline="30000" dirty="0"/>
              <a:t>2</a:t>
            </a:r>
            <a:endParaRPr lang="en-US" altLang="zh-CN" kern="0" baseline="30000" dirty="0"/>
          </a:p>
          <a:p>
            <a:pPr eaLnBrk="1" hangingPunct="1"/>
            <a:r>
              <a:rPr lang="zh-CN" altLang="en-US" kern="0" dirty="0"/>
              <a:t>解 </a:t>
            </a:r>
            <a:r>
              <a:rPr lang="en-US" altLang="zh-CN" kern="0" dirty="0"/>
              <a:t>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</a:t>
            </a:r>
            <a:r>
              <a:rPr lang="en-US" altLang="zh-CN" kern="0" baseline="30000" dirty="0"/>
              <a:t>3</a:t>
            </a:r>
            <a:r>
              <a:rPr lang="en-US" altLang="zh-CN" kern="0" dirty="0"/>
              <a:t> = 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</a:t>
            </a:r>
            <a:endParaRPr lang="en-US" altLang="zh-CN" kern="0" baseline="30000" dirty="0"/>
          </a:p>
          <a:p>
            <a:pPr eaLnBrk="1" hangingPunct="1">
              <a:lnSpc>
                <a:spcPct val="130000"/>
              </a:lnSpc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kern="0" dirty="0"/>
              <a:t>			 = (</a:t>
            </a:r>
            <a:r>
              <a:rPr lang="en-US" altLang="zh-CN" i="1" kern="0" dirty="0"/>
              <a:t>a</a:t>
            </a:r>
            <a:r>
              <a:rPr lang="en-US" altLang="zh-CN" kern="0" baseline="30000" dirty="0"/>
              <a:t>2</a:t>
            </a:r>
            <a:r>
              <a:rPr lang="en-US" altLang="zh-CN" kern="0" dirty="0"/>
              <a:t>+</a:t>
            </a:r>
            <a:r>
              <a:rPr lang="en-US" altLang="zh-CN" i="1" kern="0" dirty="0"/>
              <a:t>ba</a:t>
            </a:r>
            <a:r>
              <a:rPr lang="en-US" altLang="zh-CN" kern="0" dirty="0"/>
              <a:t>+</a:t>
            </a:r>
            <a:r>
              <a:rPr lang="en-US" altLang="zh-CN" i="1" kern="0" dirty="0"/>
              <a:t>ab</a:t>
            </a:r>
            <a:r>
              <a:rPr lang="en-US" altLang="zh-CN" kern="0" dirty="0"/>
              <a:t>+</a:t>
            </a:r>
            <a:r>
              <a:rPr lang="en-US" altLang="zh-CN" i="1" kern="0" dirty="0"/>
              <a:t>b</a:t>
            </a:r>
            <a:r>
              <a:rPr lang="en-US" altLang="zh-CN" kern="0" baseline="30000" dirty="0"/>
              <a:t>2</a:t>
            </a:r>
            <a:r>
              <a:rPr lang="en-US" altLang="zh-CN" kern="0" dirty="0"/>
              <a:t>)(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+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 </a:t>
            </a:r>
            <a:br>
              <a:rPr lang="en-US" altLang="zh-CN" kern="0" dirty="0"/>
            </a:br>
            <a:r>
              <a:rPr lang="en-US" altLang="zh-CN" kern="0" dirty="0"/>
              <a:t>		 = </a:t>
            </a:r>
            <a:r>
              <a:rPr lang="en-US" altLang="zh-CN" i="1" kern="0" dirty="0"/>
              <a:t>a</a:t>
            </a:r>
            <a:r>
              <a:rPr lang="en-US" altLang="zh-CN" kern="0" baseline="30000" dirty="0"/>
              <a:t>3</a:t>
            </a:r>
            <a:r>
              <a:rPr lang="en-US" altLang="zh-CN" kern="0" dirty="0"/>
              <a:t>+</a:t>
            </a:r>
            <a:r>
              <a:rPr lang="en-US" altLang="zh-CN" i="1" kern="0" dirty="0"/>
              <a:t>ba</a:t>
            </a:r>
            <a:r>
              <a:rPr lang="en-US" altLang="zh-CN" kern="0" baseline="30000" dirty="0"/>
              <a:t>2</a:t>
            </a:r>
            <a:r>
              <a:rPr lang="en-US" altLang="zh-CN" kern="0" dirty="0"/>
              <a:t>+</a:t>
            </a:r>
            <a:r>
              <a:rPr lang="en-US" altLang="zh-CN" i="1" kern="0" dirty="0"/>
              <a:t>aba</a:t>
            </a:r>
            <a:r>
              <a:rPr lang="en-US" altLang="zh-CN" kern="0" dirty="0"/>
              <a:t>+</a:t>
            </a:r>
            <a:r>
              <a:rPr lang="en-US" altLang="zh-CN" i="1" kern="0" dirty="0"/>
              <a:t>b</a:t>
            </a:r>
            <a:r>
              <a:rPr lang="en-US" altLang="zh-CN" kern="0" baseline="30000" dirty="0"/>
              <a:t>2</a:t>
            </a:r>
            <a:r>
              <a:rPr lang="en-US" altLang="zh-CN" i="1" kern="0" dirty="0"/>
              <a:t>a</a:t>
            </a:r>
            <a:r>
              <a:rPr lang="en-US" altLang="zh-CN" kern="0" dirty="0"/>
              <a:t>+</a:t>
            </a:r>
            <a:r>
              <a:rPr lang="en-US" altLang="zh-CN" i="1" kern="0" dirty="0"/>
              <a:t>a</a:t>
            </a:r>
            <a:r>
              <a:rPr lang="en-US" altLang="zh-CN" kern="0" baseline="30000" dirty="0"/>
              <a:t>2</a:t>
            </a:r>
            <a:r>
              <a:rPr lang="en-US" altLang="zh-CN" i="1" kern="0" dirty="0"/>
              <a:t>b</a:t>
            </a:r>
            <a:r>
              <a:rPr lang="en-US" altLang="zh-CN" kern="0" dirty="0"/>
              <a:t>+</a:t>
            </a:r>
            <a:r>
              <a:rPr lang="en-US" altLang="zh-CN" i="1" kern="0" dirty="0"/>
              <a:t>bab</a:t>
            </a:r>
            <a:r>
              <a:rPr lang="en-US" altLang="zh-CN" kern="0" dirty="0"/>
              <a:t>+</a:t>
            </a:r>
            <a:r>
              <a:rPr lang="en-US" altLang="zh-CN" i="1" kern="0" dirty="0"/>
              <a:t>ab</a:t>
            </a:r>
            <a:r>
              <a:rPr lang="en-US" altLang="zh-CN" kern="0" baseline="30000" dirty="0"/>
              <a:t>2</a:t>
            </a:r>
            <a:r>
              <a:rPr lang="en-US" altLang="zh-CN" kern="0" dirty="0"/>
              <a:t>+</a:t>
            </a:r>
            <a:r>
              <a:rPr lang="en-US" altLang="zh-CN" i="1" kern="0" dirty="0"/>
              <a:t>b</a:t>
            </a:r>
            <a:r>
              <a:rPr lang="en-US" altLang="zh-CN" kern="0" baseline="30000" dirty="0"/>
              <a:t>3</a:t>
            </a:r>
            <a:endParaRPr lang="en-US" altLang="zh-CN" kern="0" baseline="30000" dirty="0"/>
          </a:p>
          <a:p>
            <a:pPr eaLnBrk="1" hangingPunct="1">
              <a:lnSpc>
                <a:spcPct val="130000"/>
              </a:lnSpc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kern="0" dirty="0"/>
              <a:t> </a:t>
            </a:r>
            <a:br>
              <a:rPr lang="en-US" altLang="zh-CN" kern="0" dirty="0"/>
            </a:br>
            <a:r>
              <a:rPr lang="en-US" altLang="zh-CN" kern="0" dirty="0"/>
              <a:t>    (</a:t>
            </a:r>
            <a:r>
              <a:rPr lang="en-US" altLang="zh-CN" i="1" kern="0" dirty="0" err="1"/>
              <a:t>a</a:t>
            </a:r>
            <a:r>
              <a:rPr lang="en-US" altLang="zh-CN" kern="0" dirty="0" err="1">
                <a:sym typeface="Symbol" panose="05050102010706020507" pitchFamily="18" charset="2"/>
              </a:rPr>
              <a:t>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</a:t>
            </a:r>
            <a:r>
              <a:rPr lang="en-US" altLang="zh-CN" kern="0" baseline="30000" dirty="0"/>
              <a:t>2</a:t>
            </a:r>
            <a:r>
              <a:rPr lang="en-US" altLang="zh-CN" kern="0" dirty="0"/>
              <a:t> = (</a:t>
            </a:r>
            <a:r>
              <a:rPr lang="en-US" altLang="zh-CN" i="1" kern="0" dirty="0" err="1"/>
              <a:t>a</a:t>
            </a:r>
            <a:r>
              <a:rPr lang="en-US" altLang="zh-CN" kern="0" dirty="0" err="1">
                <a:sym typeface="Symbol" panose="05050102010706020507" pitchFamily="18" charset="2"/>
              </a:rPr>
              <a:t>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)(</a:t>
            </a:r>
            <a:r>
              <a:rPr lang="en-US" altLang="zh-CN" i="1" kern="0" dirty="0" err="1"/>
              <a:t>a</a:t>
            </a:r>
            <a:r>
              <a:rPr lang="en-US" altLang="zh-CN" kern="0" dirty="0" err="1">
                <a:sym typeface="Symbol" panose="05050102010706020507" pitchFamily="18" charset="2"/>
              </a:rPr>
              <a:t></a:t>
            </a:r>
            <a:r>
              <a:rPr lang="en-US" altLang="zh-CN" i="1" kern="0" dirty="0" err="1"/>
              <a:t>b</a:t>
            </a:r>
            <a:r>
              <a:rPr lang="en-US" altLang="zh-CN" kern="0" dirty="0"/>
              <a:t>) = </a:t>
            </a:r>
            <a:r>
              <a:rPr lang="en-US" altLang="zh-CN" i="1" kern="0" dirty="0"/>
              <a:t>a</a:t>
            </a:r>
            <a:r>
              <a:rPr lang="en-US" altLang="zh-CN" kern="0" baseline="30000" dirty="0"/>
              <a:t>2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ba</a:t>
            </a:r>
            <a:r>
              <a:rPr lang="en-US" altLang="zh-CN" kern="0" dirty="0">
                <a:sym typeface="Symbol" panose="05050102010706020507" pitchFamily="18" charset="2"/>
              </a:rPr>
              <a:t></a:t>
            </a:r>
            <a:r>
              <a:rPr lang="en-US" altLang="zh-CN" i="1" kern="0" dirty="0"/>
              <a:t>ab</a:t>
            </a:r>
            <a:r>
              <a:rPr lang="en-US" altLang="zh-CN" kern="0" dirty="0"/>
              <a:t>+</a:t>
            </a:r>
            <a:r>
              <a:rPr lang="en-US" altLang="zh-CN" i="1" kern="0" dirty="0"/>
              <a:t>b</a:t>
            </a:r>
            <a:r>
              <a:rPr lang="en-US" altLang="zh-CN" kern="0" baseline="30000" dirty="0"/>
              <a:t>2</a:t>
            </a:r>
            <a:r>
              <a:rPr lang="en-US" altLang="zh-CN" b="0" kern="0" dirty="0"/>
              <a:t> </a:t>
            </a:r>
            <a:endParaRPr lang="en-US" altLang="zh-CN" b="0" kern="0" dirty="0"/>
          </a:p>
          <a:p>
            <a:pPr eaLnBrk="1" hangingPunct="1"/>
            <a:endParaRPr lang="en-US" altLang="zh-CN" kern="0" baseline="300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74675" y="1844824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74675" y="4077072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BB7663-0C64-41C3-BCC0-8AC493E4B0A7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特殊的环</a:t>
            </a:r>
            <a:endParaRPr lang="zh-CN" altLang="en-US" dirty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10.15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R</a:t>
            </a:r>
            <a:r>
              <a:rPr lang="en-US" altLang="zh-CN" dirty="0"/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&gt;</a:t>
            </a:r>
            <a:r>
              <a:rPr lang="zh-CN" altLang="en-US" dirty="0"/>
              <a:t>是环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(1) </a:t>
            </a:r>
            <a:r>
              <a:rPr lang="zh-CN" altLang="en-US" dirty="0"/>
              <a:t>若环中乘法 </a:t>
            </a:r>
            <a:r>
              <a:rPr lang="en-US" altLang="zh-CN" sz="28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zh-CN" altLang="en-US" dirty="0"/>
              <a:t>适合交换律，则称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交换环</a:t>
            </a:r>
            <a:endParaRPr lang="zh-CN" altLang="en-US" dirty="0">
              <a:solidFill>
                <a:srgbClr val="A5002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(2) </a:t>
            </a:r>
            <a:r>
              <a:rPr lang="zh-CN" altLang="en-US" dirty="0"/>
              <a:t>若环中乘法 </a:t>
            </a:r>
            <a:r>
              <a:rPr lang="en-US" altLang="zh-CN" sz="2800" dirty="0">
                <a:sym typeface="Symbol" panose="05050102010706020507" pitchFamily="18" charset="2"/>
              </a:rPr>
              <a:t></a:t>
            </a:r>
            <a:r>
              <a:rPr lang="en-US" altLang="zh-CN" dirty="0"/>
              <a:t> </a:t>
            </a:r>
            <a:r>
              <a:rPr lang="zh-CN" altLang="en-US" dirty="0"/>
              <a:t>存在单位元，则称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含幺环</a:t>
            </a:r>
            <a:endParaRPr lang="zh-CN" altLang="en-US" dirty="0">
              <a:solidFill>
                <a:srgbClr val="A5002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ab</a:t>
            </a:r>
            <a:r>
              <a:rPr lang="en-US" altLang="zh-CN" dirty="0"/>
              <a:t>=0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=0∨</a:t>
            </a:r>
            <a:r>
              <a:rPr lang="en-US" altLang="zh-CN" i="1" dirty="0"/>
              <a:t>b</a:t>
            </a:r>
            <a:r>
              <a:rPr lang="en-US" altLang="zh-CN" dirty="0"/>
              <a:t>=0</a:t>
            </a:r>
            <a:r>
              <a:rPr lang="zh-CN" altLang="en-US" dirty="0"/>
              <a:t>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A50021"/>
                </a:solidFill>
              </a:rPr>
              <a:t>     </a:t>
            </a:r>
            <a:r>
              <a:rPr lang="zh-CN" altLang="en-US" dirty="0">
                <a:solidFill>
                  <a:srgbClr val="A50021"/>
                </a:solidFill>
              </a:rPr>
              <a:t>无零因子环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没有零因子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若</a:t>
            </a:r>
            <a:r>
              <a:rPr lang="en-US" altLang="zh-CN" i="1" dirty="0"/>
              <a:t>R</a:t>
            </a:r>
            <a:r>
              <a:rPr lang="zh-CN" altLang="en-US" dirty="0"/>
              <a:t>既是交换环、含幺环、也是无零因子环，则称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整环</a:t>
            </a:r>
            <a:endParaRPr lang="zh-CN" altLang="en-US" dirty="0">
              <a:solidFill>
                <a:srgbClr val="A5002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(5)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是整环，且</a:t>
            </a:r>
            <a:r>
              <a:rPr lang="en-US" altLang="zh-CN" i="1" dirty="0"/>
              <a:t>R</a:t>
            </a:r>
            <a:r>
              <a:rPr lang="zh-CN" altLang="en-US" dirty="0"/>
              <a:t>中至少含有两个元素</a:t>
            </a:r>
            <a:r>
              <a:rPr lang="en-US" altLang="zh-CN" dirty="0"/>
              <a:t>.     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∈</a:t>
            </a:r>
            <a:r>
              <a:rPr lang="en-US" altLang="zh-CN" i="1" dirty="0"/>
              <a:t>R</a:t>
            </a:r>
            <a:r>
              <a:rPr lang="en-US" altLang="zh-CN" dirty="0"/>
              <a:t>*</a:t>
            </a:r>
            <a:r>
              <a:rPr lang="zh-CN" altLang="en-US" dirty="0"/>
              <a:t>，其中</a:t>
            </a:r>
            <a:r>
              <a:rPr lang="en-US" altLang="zh-CN" i="1" dirty="0"/>
              <a:t>R</a:t>
            </a:r>
            <a:r>
              <a:rPr lang="en-US" altLang="zh-CN" dirty="0"/>
              <a:t>*=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{0}</a:t>
            </a:r>
            <a:r>
              <a:rPr lang="zh-CN" altLang="en-US" dirty="0"/>
              <a:t>，都有</a:t>
            </a:r>
            <a:r>
              <a:rPr lang="en-US" altLang="zh-CN" i="1" dirty="0"/>
              <a:t>a</a:t>
            </a:r>
            <a:r>
              <a:rPr lang="zh-CN" altLang="en-US" baseline="30000" dirty="0"/>
              <a:t>－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R</a:t>
            </a:r>
            <a:r>
              <a:rPr lang="zh-CN" altLang="en-US" dirty="0"/>
              <a:t>，则称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域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域的定义（补充）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0992" y="1268760"/>
            <a:ext cx="9073008" cy="3302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rgbClr val="A50021"/>
                </a:solidFill>
              </a:rPr>
              <a:t>定义</a:t>
            </a:r>
            <a:r>
              <a:rPr lang="en-US" altLang="zh-CN" kern="0" dirty="0">
                <a:solidFill>
                  <a:srgbClr val="A50021"/>
                </a:solidFill>
              </a:rPr>
              <a:t>10.15</a:t>
            </a:r>
            <a:r>
              <a:rPr lang="en-US" altLang="zh-CN" kern="0" baseline="30000" dirty="0">
                <a:solidFill>
                  <a:srgbClr val="A50021"/>
                </a:solidFill>
              </a:rPr>
              <a:t>+</a:t>
            </a:r>
            <a:r>
              <a:rPr lang="en-US" altLang="zh-CN" kern="0" dirty="0"/>
              <a:t> </a:t>
            </a:r>
            <a:r>
              <a:rPr lang="zh-CN" altLang="en-US" kern="0" dirty="0"/>
              <a:t>设</a:t>
            </a:r>
            <a:r>
              <a:rPr lang="en-US" altLang="zh-CN" kern="0" dirty="0"/>
              <a:t>&lt;</a:t>
            </a:r>
            <a:r>
              <a:rPr lang="en-US" altLang="zh-CN" i="1" kern="0" dirty="0"/>
              <a:t>R</a:t>
            </a:r>
            <a:r>
              <a:rPr lang="en-US" altLang="zh-CN" kern="0" dirty="0"/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kern="0" dirty="0"/>
              <a:t>&gt;</a:t>
            </a:r>
            <a:r>
              <a:rPr lang="zh-CN" altLang="en-US" kern="0" dirty="0"/>
              <a:t>是代数系统，</a:t>
            </a:r>
            <a:r>
              <a:rPr lang="en-US" altLang="zh-CN" kern="0" dirty="0"/>
              <a:t>+</a:t>
            </a:r>
            <a:r>
              <a:rPr lang="zh-CN" altLang="en-US" kern="0" dirty="0"/>
              <a:t>和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zh-CN" altLang="en-US" kern="0" dirty="0"/>
              <a:t>是二元运算</a:t>
            </a:r>
            <a:r>
              <a:rPr lang="en-US" altLang="zh-CN" kern="0" dirty="0"/>
              <a:t>. </a:t>
            </a:r>
            <a:r>
              <a:rPr lang="zh-CN" altLang="en-US" kern="0" dirty="0"/>
              <a:t>如果满足以下条件</a:t>
            </a:r>
            <a:r>
              <a:rPr lang="en-US" altLang="zh-CN" kern="0" dirty="0"/>
              <a:t>:</a:t>
            </a:r>
            <a:endParaRPr lang="en-US" altLang="zh-CN" kern="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kern="0" dirty="0"/>
              <a:t>(1) &lt;</a:t>
            </a:r>
            <a:r>
              <a:rPr lang="en-US" altLang="zh-CN" i="1" kern="0" dirty="0"/>
              <a:t>R</a:t>
            </a:r>
            <a:r>
              <a:rPr lang="en-US" altLang="zh-CN" kern="0" dirty="0"/>
              <a:t>,+&gt;</a:t>
            </a:r>
            <a:r>
              <a:rPr lang="zh-CN" altLang="en-US" kern="0" dirty="0"/>
              <a:t>构成交换群</a:t>
            </a:r>
            <a:endParaRPr lang="zh-CN" altLang="en-US" kern="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66FF"/>
                </a:solidFill>
              </a:rPr>
              <a:t>(2) &lt;</a:t>
            </a:r>
            <a:r>
              <a:rPr lang="en-US" altLang="zh-CN" i="1" kern="0" dirty="0">
                <a:solidFill>
                  <a:srgbClr val="0066FF"/>
                </a:solidFill>
              </a:rPr>
              <a:t>R-</a:t>
            </a:r>
            <a:r>
              <a:rPr lang="en-US" altLang="zh-CN" kern="0" dirty="0">
                <a:solidFill>
                  <a:srgbClr val="0066FF"/>
                </a:solidFill>
              </a:rPr>
              <a:t>{0},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0066FF"/>
                </a:solidFill>
                <a:sym typeface="Symbol" panose="05050102010706020507" pitchFamily="18" charset="2"/>
              </a:rPr>
              <a:t></a:t>
            </a:r>
            <a:r>
              <a:rPr lang="en-US" altLang="zh-CN" kern="0" dirty="0">
                <a:solidFill>
                  <a:srgbClr val="0066FF"/>
                </a:solidFill>
              </a:rPr>
              <a:t>&gt;</a:t>
            </a:r>
            <a:r>
              <a:rPr lang="zh-CN" altLang="en-US" kern="0" dirty="0">
                <a:solidFill>
                  <a:srgbClr val="0066FF"/>
                </a:solidFill>
              </a:rPr>
              <a:t>构成交换群</a:t>
            </a:r>
            <a:endParaRPr lang="zh-CN" altLang="en-US" kern="0" dirty="0">
              <a:solidFill>
                <a:srgbClr val="0066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kern="0" dirty="0"/>
              <a:t>(3) 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kern="0" dirty="0"/>
              <a:t> </a:t>
            </a:r>
            <a:r>
              <a:rPr lang="zh-CN" altLang="en-US" kern="0" dirty="0"/>
              <a:t>运算关于</a:t>
            </a:r>
            <a:r>
              <a:rPr lang="en-US" altLang="zh-CN" kern="0" dirty="0"/>
              <a:t>+</a:t>
            </a:r>
            <a:r>
              <a:rPr lang="zh-CN" altLang="en-US" kern="0" dirty="0"/>
              <a:t>运算适合分配律</a:t>
            </a:r>
            <a:endParaRPr lang="zh-CN" altLang="en-US" kern="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kern="0" dirty="0"/>
              <a:t>则称</a:t>
            </a:r>
            <a:r>
              <a:rPr lang="en-US" altLang="zh-CN" kern="0" dirty="0"/>
              <a:t>&lt;</a:t>
            </a:r>
            <a:r>
              <a:rPr lang="en-US" altLang="zh-CN" i="1" kern="0" dirty="0"/>
              <a:t>R</a:t>
            </a:r>
            <a:r>
              <a:rPr lang="en-US" altLang="zh-CN" kern="0" dirty="0"/>
              <a:t>,+,</a:t>
            </a:r>
            <a:r>
              <a:rPr lang="en-US" altLang="zh-CN" sz="3200" dirty="0">
                <a:sym typeface="Symbol" panose="05050102010706020507" pitchFamily="18" charset="2"/>
              </a:rPr>
              <a:t></a:t>
            </a:r>
            <a:r>
              <a:rPr lang="en-US" altLang="zh-CN" kern="0" dirty="0"/>
              <a:t>&gt;</a:t>
            </a:r>
            <a:r>
              <a:rPr lang="zh-CN" altLang="en-US" kern="0" dirty="0"/>
              <a:t>是一个</a:t>
            </a:r>
            <a:r>
              <a:rPr lang="zh-CN" altLang="en-US" kern="0" dirty="0">
                <a:solidFill>
                  <a:srgbClr val="A50021"/>
                </a:solidFill>
              </a:rPr>
              <a:t>域</a:t>
            </a:r>
            <a:r>
              <a:rPr lang="en-US" altLang="zh-CN" kern="0" dirty="0"/>
              <a:t>  </a:t>
            </a:r>
            <a:endParaRPr lang="en-US" altLang="zh-CN" kern="0" dirty="0"/>
          </a:p>
          <a:p>
            <a:pPr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kern="0" dirty="0"/>
              <a:t>     </a:t>
            </a:r>
            <a:endParaRPr lang="en-US" altLang="zh-CN" kern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868" y="4571504"/>
            <a:ext cx="5786636" cy="225228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4309A8-164B-4B54-B665-13E32B1CE4D6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整数环</a:t>
            </a:r>
            <a:r>
              <a:rPr lang="en-US" altLang="zh-CN" dirty="0"/>
              <a:t>Z</a:t>
            </a:r>
            <a:r>
              <a:rPr lang="zh-CN" altLang="en-US" dirty="0"/>
              <a:t>、有理数环</a:t>
            </a:r>
            <a:r>
              <a:rPr lang="en-US" altLang="zh-CN" dirty="0"/>
              <a:t>Q</a:t>
            </a:r>
            <a:r>
              <a:rPr lang="zh-CN" altLang="en-US" dirty="0"/>
              <a:t>、实数环</a:t>
            </a:r>
            <a:r>
              <a:rPr lang="en-US" altLang="zh-CN" dirty="0"/>
              <a:t>R</a:t>
            </a:r>
            <a:r>
              <a:rPr lang="zh-CN" altLang="en-US" dirty="0"/>
              <a:t>、复数环</a:t>
            </a:r>
            <a:r>
              <a:rPr lang="en-US" altLang="zh-CN" dirty="0"/>
              <a:t>C</a:t>
            </a:r>
            <a:endParaRPr lang="zh-CN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zh-CN" altLang="en-US" dirty="0"/>
              <a:t>交换环、含幺环、无零因子环、整环</a:t>
            </a:r>
            <a:r>
              <a:rPr lang="en-US" altLang="zh-CN" dirty="0"/>
              <a:t>. </a:t>
            </a:r>
            <a:br>
              <a:rPr lang="en-US" altLang="zh-CN" dirty="0"/>
            </a:br>
            <a:r>
              <a:rPr lang="zh-CN" altLang="en-US" dirty="0"/>
              <a:t>除了整数环以外都是域</a:t>
            </a:r>
            <a:r>
              <a:rPr lang="en-US" altLang="zh-CN" dirty="0"/>
              <a:t>.  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(2) 2Z={2</a:t>
            </a:r>
            <a:r>
              <a:rPr lang="en-US" altLang="zh-CN" i="1" dirty="0"/>
              <a:t>z </a:t>
            </a:r>
            <a:r>
              <a:rPr lang="en-US" altLang="zh-CN" dirty="0"/>
              <a:t>| </a:t>
            </a:r>
            <a:r>
              <a:rPr lang="en-US" altLang="zh-CN" i="1" dirty="0" err="1"/>
              <a:t>z</a:t>
            </a:r>
            <a:r>
              <a:rPr lang="en-US" altLang="zh-CN" dirty="0" err="1"/>
              <a:t>∈Z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/>
              <a:t>&lt;2Z,+,·&gt;</a:t>
            </a:r>
            <a:endParaRPr lang="en-US" altLang="zh-CN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zh-CN" altLang="en-US" dirty="0"/>
              <a:t>交换环、无零因子环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设</a:t>
            </a:r>
            <a:r>
              <a:rPr lang="en-US" altLang="zh-CN" i="1" dirty="0" err="1"/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Z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2, </a:t>
            </a:r>
            <a:r>
              <a:rPr lang="zh-CN" altLang="en-US" dirty="0"/>
              <a:t>则</a:t>
            </a:r>
            <a:r>
              <a:rPr lang="en-US" altLang="zh-CN" i="1" dirty="0"/>
              <a:t>n</a:t>
            </a:r>
            <a:r>
              <a:rPr lang="zh-CN" altLang="en-US" dirty="0"/>
              <a:t>阶实矩阵的集合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(R)</a:t>
            </a:r>
            <a:r>
              <a:rPr lang="zh-CN" altLang="en-US" dirty="0"/>
              <a:t>关于矩阵加法和乘法</a:t>
            </a:r>
            <a:endParaRPr lang="zh-CN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zh-CN" altLang="en-US" dirty="0"/>
              <a:t>含幺环 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(4) &lt;Z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/>
              <a:t>&gt;</a:t>
            </a:r>
            <a:endParaRPr lang="en-US" altLang="zh-CN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zh-CN" altLang="en-US" dirty="0"/>
              <a:t>交换环、含幺环</a:t>
            </a:r>
            <a:endParaRPr lang="en-US" altLang="zh-CN" dirty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zh-CN" altLang="en-US" dirty="0"/>
              <a:t>实例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096" y="4467151"/>
            <a:ext cx="2515158" cy="20161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13593"/>
            <a:ext cx="8784976" cy="6430813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2000" dirty="0"/>
              <a:t>设</a:t>
            </a:r>
            <a:r>
              <a:rPr lang="en-US" altLang="zh-CN" sz="2000" i="1" dirty="0"/>
              <a:t>R</a:t>
            </a:r>
            <a:r>
              <a:rPr lang="en-US" altLang="zh-CN" sz="2000" dirty="0"/>
              <a:t>=Z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dirty="0"/>
              <a:t>Z</a:t>
            </a:r>
            <a:r>
              <a:rPr lang="zh-CN" altLang="en-US" sz="2000" dirty="0"/>
              <a:t>，定义</a:t>
            </a:r>
            <a:r>
              <a:rPr lang="en-US" altLang="zh-CN" sz="2000" i="1" dirty="0"/>
              <a:t>R</a:t>
            </a:r>
            <a:r>
              <a:rPr lang="zh-CN" altLang="en-US" sz="2000" dirty="0"/>
              <a:t>上的加法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  <a:r>
              <a:rPr lang="zh-CN" altLang="en-US" sz="2000" dirty="0"/>
              <a:t>运算和乘法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zh-CN" altLang="en-US" sz="2000" dirty="0"/>
              <a:t>运算如下：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对于任意：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/>
              <a:t>，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                 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+ 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 = &lt;</a:t>
            </a:r>
            <a:r>
              <a:rPr lang="en-US" altLang="zh-CN" sz="2000" i="1" dirty="0"/>
              <a:t> 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+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+ 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                 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 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 = &lt;</a:t>
            </a:r>
            <a:r>
              <a:rPr lang="en-US" altLang="zh-CN" sz="2000" i="1" dirty="0"/>
              <a:t> x</a:t>
            </a:r>
            <a:r>
              <a:rPr lang="en-US" altLang="zh-CN" sz="2000" baseline="-25000" dirty="0"/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证明：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R</a:t>
            </a:r>
            <a:r>
              <a:rPr lang="en-US" altLang="zh-CN" sz="2000" dirty="0"/>
              <a:t>, +, 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sz="2000" dirty="0"/>
              <a:t>&gt;</a:t>
            </a:r>
            <a:r>
              <a:rPr lang="zh-CN" altLang="en-US" sz="2000" dirty="0"/>
              <a:t>是环，并</a:t>
            </a:r>
            <a:r>
              <a:rPr lang="zh-CN" altLang="en-US" sz="2000" dirty="0">
                <a:solidFill>
                  <a:srgbClr val="00B050"/>
                </a:solidFill>
              </a:rPr>
              <a:t>求出该环的所有零因子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证</a:t>
            </a:r>
            <a:r>
              <a:rPr lang="zh-CN" altLang="en-US" sz="2000" dirty="0"/>
              <a:t>  </a:t>
            </a:r>
            <a:r>
              <a:rPr lang="en-US" altLang="zh-CN" sz="2000" dirty="0"/>
              <a:t>(</a:t>
            </a:r>
            <a:r>
              <a:rPr lang="zh-CN" altLang="en-US" sz="2000" dirty="0"/>
              <a:t>一</a:t>
            </a:r>
            <a:r>
              <a:rPr lang="en-US" altLang="zh-CN" sz="2000" dirty="0"/>
              <a:t>).【&lt;</a:t>
            </a:r>
            <a:r>
              <a:rPr lang="en-US" altLang="zh-CN" sz="2000" i="1" dirty="0"/>
              <a:t>R</a:t>
            </a:r>
            <a:r>
              <a:rPr lang="en-US" altLang="zh-CN" sz="2000" dirty="0"/>
              <a:t>, +, 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sz="2000" dirty="0"/>
              <a:t>&gt;</a:t>
            </a:r>
            <a:r>
              <a:rPr lang="zh-CN" altLang="en-US" sz="2000" dirty="0"/>
              <a:t>是环</a:t>
            </a:r>
            <a:r>
              <a:rPr lang="en-US" altLang="zh-CN" sz="2000" dirty="0"/>
              <a:t>】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(1) </a:t>
            </a:r>
            <a:r>
              <a:rPr lang="zh-CN" altLang="en-US" sz="2000" dirty="0"/>
              <a:t>根据已知条件知，运算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  <a:r>
              <a:rPr lang="zh-CN" altLang="en-US" sz="2000" dirty="0"/>
              <a:t>是</a:t>
            </a:r>
            <a:r>
              <a:rPr lang="en-US" altLang="zh-CN" sz="2000" i="1" dirty="0"/>
              <a:t>R</a:t>
            </a:r>
            <a:r>
              <a:rPr lang="zh-CN" altLang="en-US" sz="2000" dirty="0"/>
              <a:t>上的</a:t>
            </a:r>
            <a:r>
              <a:rPr lang="zh-CN" altLang="en-US" sz="2000" dirty="0">
                <a:solidFill>
                  <a:srgbClr val="FF0000"/>
                </a:solidFill>
              </a:rPr>
              <a:t>封闭</a:t>
            </a:r>
            <a:r>
              <a:rPr lang="zh-CN" altLang="en-US" sz="2000" dirty="0"/>
              <a:t>运算且满足</a:t>
            </a:r>
            <a:r>
              <a:rPr lang="zh-CN" altLang="en-US" sz="2000" dirty="0">
                <a:solidFill>
                  <a:srgbClr val="FF0000"/>
                </a:solidFill>
              </a:rPr>
              <a:t>交换律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结合律 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</a:t>
            </a:r>
            <a:r>
              <a:rPr lang="zh-CN" altLang="en-US" sz="2000" dirty="0"/>
              <a:t>其</a:t>
            </a:r>
            <a:r>
              <a:rPr lang="zh-CN" altLang="en-US" sz="2000" dirty="0">
                <a:solidFill>
                  <a:srgbClr val="FF0000"/>
                </a:solidFill>
              </a:rPr>
              <a:t>加法单位元是</a:t>
            </a:r>
            <a:r>
              <a:rPr lang="en-US" altLang="zh-CN" sz="2000" dirty="0">
                <a:solidFill>
                  <a:srgbClr val="FF0000"/>
                </a:solidFill>
              </a:rPr>
              <a:t>&lt;0,0</a:t>
            </a:r>
            <a:r>
              <a:rPr lang="en-US" altLang="zh-CN" sz="2000" dirty="0"/>
              <a:t>&gt;,</a:t>
            </a:r>
            <a:r>
              <a:rPr lang="zh-CN" altLang="en-US" sz="2000" dirty="0"/>
              <a:t>任意</a:t>
            </a:r>
            <a:r>
              <a:rPr lang="en-US" altLang="zh-CN" sz="2000" dirty="0"/>
              <a:t>&lt;</a:t>
            </a:r>
            <a:r>
              <a:rPr lang="en-US" altLang="zh-CN" sz="2000" i="1" dirty="0" err="1"/>
              <a:t>x</a:t>
            </a:r>
            <a:r>
              <a:rPr lang="en-US" altLang="zh-CN" sz="2000" dirty="0" err="1"/>
              <a:t>,</a:t>
            </a:r>
            <a:r>
              <a:rPr lang="en-US" altLang="zh-CN" sz="2000" i="1" dirty="0" err="1"/>
              <a:t>y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>
                <a:solidFill>
                  <a:srgbClr val="FF0000"/>
                </a:solidFill>
              </a:rPr>
              <a:t>关于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zh-CN" altLang="en-US" sz="2000" dirty="0">
                <a:solidFill>
                  <a:srgbClr val="FF0000"/>
                </a:solidFill>
              </a:rPr>
              <a:t>的逆元为</a:t>
            </a:r>
            <a:r>
              <a:rPr lang="en-US" altLang="zh-CN" sz="2000" dirty="0">
                <a:solidFill>
                  <a:srgbClr val="FF0000"/>
                </a:solidFill>
              </a:rPr>
              <a:t>&lt;-</a:t>
            </a:r>
            <a:r>
              <a:rPr lang="en-US" altLang="zh-CN" sz="2000" i="1" dirty="0">
                <a:solidFill>
                  <a:srgbClr val="FF0000"/>
                </a:solidFill>
              </a:rPr>
              <a:t>x</a:t>
            </a:r>
            <a:r>
              <a:rPr lang="en-US" altLang="zh-CN" sz="2000" dirty="0">
                <a:solidFill>
                  <a:srgbClr val="FF0000"/>
                </a:solidFill>
              </a:rPr>
              <a:t>, -</a:t>
            </a:r>
            <a:r>
              <a:rPr lang="en-US" altLang="zh-CN" sz="2000" i="1" dirty="0">
                <a:solidFill>
                  <a:srgbClr val="FF0000"/>
                </a:solidFill>
              </a:rPr>
              <a:t>y</a:t>
            </a:r>
            <a:r>
              <a:rPr lang="en-US" altLang="zh-CN" sz="2000" dirty="0">
                <a:solidFill>
                  <a:srgbClr val="FF0000"/>
                </a:solidFill>
              </a:rPr>
              <a:t>&gt; 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</a:t>
            </a:r>
            <a:r>
              <a:rPr lang="zh-CN" altLang="en-US" sz="2000" dirty="0"/>
              <a:t>因此</a:t>
            </a:r>
            <a:r>
              <a:rPr lang="en-US" altLang="zh-CN" sz="2000" dirty="0"/>
              <a:t>, &lt;</a:t>
            </a:r>
            <a:r>
              <a:rPr lang="en-US" altLang="zh-CN" sz="2000" i="1" dirty="0"/>
              <a:t>R</a:t>
            </a:r>
            <a:r>
              <a:rPr lang="en-US" altLang="zh-CN" sz="2000" dirty="0"/>
              <a:t>, +&gt; </a:t>
            </a:r>
            <a:r>
              <a:rPr lang="zh-CN" altLang="en-US" sz="2000" dirty="0"/>
              <a:t>是交换群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</a:t>
            </a:r>
            <a:r>
              <a:rPr lang="en-US" altLang="zh-CN" sz="2000" dirty="0"/>
              <a:t>(2) </a:t>
            </a:r>
            <a:r>
              <a:rPr lang="zh-CN" altLang="en-US" sz="2000" dirty="0"/>
              <a:t>由于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zh-CN" altLang="en-US" sz="2000" dirty="0"/>
              <a:t>运算是</a:t>
            </a:r>
            <a:r>
              <a:rPr lang="en-US" altLang="zh-CN" sz="2000" i="1" dirty="0"/>
              <a:t>R</a:t>
            </a:r>
            <a:r>
              <a:rPr lang="zh-CN" altLang="en-US" sz="2000" dirty="0"/>
              <a:t>上的</a:t>
            </a:r>
            <a:r>
              <a:rPr lang="zh-CN" altLang="en-US" sz="2000" dirty="0">
                <a:solidFill>
                  <a:srgbClr val="3366FF"/>
                </a:solidFill>
              </a:rPr>
              <a:t>封闭</a:t>
            </a:r>
            <a:r>
              <a:rPr lang="zh-CN" altLang="en-US" sz="2000" dirty="0"/>
              <a:t>运算且满足</a:t>
            </a:r>
            <a:r>
              <a:rPr lang="zh-CN" altLang="en-US" sz="2000" dirty="0">
                <a:solidFill>
                  <a:srgbClr val="3366FF"/>
                </a:solidFill>
              </a:rPr>
              <a:t>结合律</a:t>
            </a:r>
            <a:r>
              <a:rPr lang="zh-CN" altLang="en-US" sz="2000" dirty="0"/>
              <a:t>，于是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R</a:t>
            </a:r>
            <a:r>
              <a:rPr lang="en-US" altLang="zh-CN" sz="2000" dirty="0"/>
              <a:t>, +&gt;</a:t>
            </a:r>
            <a:r>
              <a:rPr lang="zh-CN" altLang="en-US" sz="2000" dirty="0"/>
              <a:t>是半群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</a:t>
            </a:r>
            <a:r>
              <a:rPr lang="en-US" altLang="zh-CN" sz="2000" dirty="0"/>
              <a:t>(3) </a:t>
            </a:r>
            <a:r>
              <a:rPr lang="zh-CN" altLang="en-US" sz="2000" dirty="0"/>
              <a:t>对于任意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/>
              <a:t>，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/>
              <a:t>，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i="1" dirty="0"/>
              <a:t>R</a:t>
            </a:r>
            <a:r>
              <a:rPr lang="zh-CN" altLang="en-US" sz="2000" dirty="0"/>
              <a:t> ，有：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    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  (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 +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&gt;) =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  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&gt; + 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&gt;</a:t>
            </a:r>
            <a:r>
              <a:rPr lang="en-US" altLang="zh-CN" sz="2000" dirty="0">
                <a:sym typeface="Symbol" panose="05050102010706020507" pitchFamily="18" charset="2"/>
              </a:rPr>
              <a:t>  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,</a:t>
            </a:r>
            <a:r>
              <a:rPr lang="en-US" altLang="zh-CN" sz="2000" i="1" dirty="0"/>
              <a:t>y</a:t>
            </a:r>
            <a:r>
              <a:rPr lang="en-US" altLang="zh-CN" sz="2000" baseline="-25000" dirty="0"/>
              <a:t>3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 即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zh-CN" altLang="en-US" sz="2000" dirty="0"/>
              <a:t>运算对</a:t>
            </a:r>
            <a:r>
              <a:rPr lang="en-US" altLang="zh-CN" sz="2000" dirty="0"/>
              <a:t>+</a:t>
            </a:r>
            <a:r>
              <a:rPr lang="zh-CN" altLang="en-US" sz="2000" dirty="0"/>
              <a:t>运算</a:t>
            </a:r>
            <a:r>
              <a:rPr lang="zh-CN" altLang="en-US" sz="2000" dirty="0">
                <a:solidFill>
                  <a:srgbClr val="3366FF"/>
                </a:solidFill>
              </a:rPr>
              <a:t>可分配</a:t>
            </a:r>
            <a:r>
              <a:rPr lang="en-US" altLang="zh-CN" sz="2000" dirty="0"/>
              <a:t>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综上所述，</a:t>
            </a:r>
            <a:r>
              <a:rPr lang="en-US" altLang="zh-CN" sz="2000" dirty="0"/>
              <a:t> &lt;</a:t>
            </a:r>
            <a:r>
              <a:rPr lang="en-US" altLang="zh-CN" sz="2000" i="1" dirty="0"/>
              <a:t>R</a:t>
            </a:r>
            <a:r>
              <a:rPr lang="en-US" altLang="zh-CN" sz="2000" dirty="0"/>
              <a:t>, +, </a:t>
            </a:r>
            <a:r>
              <a:rPr lang="en-US" altLang="zh-CN" sz="2000" dirty="0">
                <a:sym typeface="Symbol" panose="05050102010706020507" pitchFamily="18" charset="2"/>
              </a:rPr>
              <a:t></a:t>
            </a:r>
            <a:r>
              <a:rPr lang="en-US" altLang="zh-CN" sz="2000" dirty="0"/>
              <a:t>&gt;</a:t>
            </a:r>
            <a:r>
              <a:rPr lang="zh-CN" altLang="en-US" sz="2000" dirty="0"/>
              <a:t>是环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solidFill>
                  <a:srgbClr val="00B050"/>
                </a:solidFill>
              </a:rPr>
              <a:t>        </a:t>
            </a:r>
            <a:r>
              <a:rPr lang="en-US" altLang="zh-CN" sz="2000" dirty="0"/>
              <a:t>(</a:t>
            </a:r>
            <a:r>
              <a:rPr lang="zh-CN" altLang="en-US" sz="2000" dirty="0"/>
              <a:t>二</a:t>
            </a:r>
            <a:r>
              <a:rPr lang="en-US" altLang="zh-CN" sz="2000" dirty="0"/>
              <a:t>).</a:t>
            </a:r>
            <a:r>
              <a:rPr lang="en-US" altLang="zh-CN" sz="2000" dirty="0">
                <a:solidFill>
                  <a:srgbClr val="00B050"/>
                </a:solidFill>
              </a:rPr>
              <a:t>【</a:t>
            </a:r>
            <a:r>
              <a:rPr lang="zh-CN" altLang="en-US" sz="2000" dirty="0">
                <a:solidFill>
                  <a:srgbClr val="00B050"/>
                </a:solidFill>
              </a:rPr>
              <a:t>求出该环的所有零因子</a:t>
            </a:r>
            <a:r>
              <a:rPr lang="en-US" altLang="zh-CN" sz="2000" dirty="0">
                <a:solidFill>
                  <a:srgbClr val="00B050"/>
                </a:solidFill>
              </a:rPr>
              <a:t>】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      </a:t>
            </a:r>
            <a:r>
              <a:rPr lang="zh-CN" altLang="en-US" sz="2000" dirty="0">
                <a:solidFill>
                  <a:srgbClr val="00B050"/>
                </a:solidFill>
              </a:rPr>
              <a:t>对于任意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en-US" altLang="zh-CN" sz="2000" i="1" dirty="0">
                <a:solidFill>
                  <a:srgbClr val="00B050"/>
                </a:solidFill>
              </a:rPr>
              <a:t>x</a:t>
            </a:r>
            <a:r>
              <a:rPr lang="en-US" altLang="zh-CN" sz="2000" dirty="0">
                <a:solidFill>
                  <a:srgbClr val="00B050"/>
                </a:solidFill>
              </a:rPr>
              <a:t>,0&gt;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solidFill>
                  <a:srgbClr val="00B050"/>
                </a:solidFill>
              </a:rPr>
              <a:t>R</a:t>
            </a:r>
            <a:r>
              <a:rPr lang="en-US" altLang="zh-CN" sz="2000" dirty="0">
                <a:solidFill>
                  <a:srgbClr val="00B050"/>
                </a:solidFill>
              </a:rPr>
              <a:t>(</a:t>
            </a:r>
            <a:r>
              <a:rPr lang="en-US" altLang="zh-CN" sz="2000" i="1" dirty="0">
                <a:solidFill>
                  <a:srgbClr val="00B050"/>
                </a:solidFill>
              </a:rPr>
              <a:t>x 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0</a:t>
            </a:r>
            <a:r>
              <a:rPr lang="en-US" altLang="zh-CN" sz="2000" dirty="0">
                <a:solidFill>
                  <a:srgbClr val="00B050"/>
                </a:solidFill>
              </a:rPr>
              <a:t>)</a:t>
            </a:r>
            <a:r>
              <a:rPr lang="zh-CN" altLang="en-US" sz="2000" dirty="0">
                <a:solidFill>
                  <a:srgbClr val="00B050"/>
                </a:solidFill>
              </a:rPr>
              <a:t>及</a:t>
            </a:r>
            <a:r>
              <a:rPr lang="en-US" altLang="zh-CN" sz="2000" dirty="0">
                <a:solidFill>
                  <a:srgbClr val="00B050"/>
                </a:solidFill>
              </a:rPr>
              <a:t>&lt;0, </a:t>
            </a:r>
            <a:r>
              <a:rPr lang="en-US" altLang="zh-CN" sz="2000" i="1" dirty="0">
                <a:solidFill>
                  <a:srgbClr val="00B050"/>
                </a:solidFill>
              </a:rPr>
              <a:t>y</a:t>
            </a:r>
            <a:r>
              <a:rPr lang="en-US" altLang="zh-CN" sz="2000" dirty="0">
                <a:solidFill>
                  <a:srgbClr val="00B050"/>
                </a:solidFill>
              </a:rPr>
              <a:t>&gt;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solidFill>
                  <a:srgbClr val="00B050"/>
                </a:solidFill>
              </a:rPr>
              <a:t>R</a:t>
            </a:r>
            <a:r>
              <a:rPr lang="en-US" altLang="zh-CN" sz="2000" dirty="0">
                <a:solidFill>
                  <a:srgbClr val="00B050"/>
                </a:solidFill>
              </a:rPr>
              <a:t>(</a:t>
            </a:r>
            <a:r>
              <a:rPr lang="en-US" altLang="zh-CN" sz="2000" i="1" dirty="0">
                <a:solidFill>
                  <a:srgbClr val="00B050"/>
                </a:solidFill>
              </a:rPr>
              <a:t>y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0</a:t>
            </a:r>
            <a:r>
              <a:rPr lang="en-US" altLang="zh-CN" sz="2000" dirty="0">
                <a:solidFill>
                  <a:srgbClr val="00B050"/>
                </a:solidFill>
              </a:rPr>
              <a:t>) </a:t>
            </a:r>
            <a:r>
              <a:rPr lang="zh-CN" altLang="en-US" sz="2000" dirty="0">
                <a:solidFill>
                  <a:srgbClr val="00B050"/>
                </a:solidFill>
              </a:rPr>
              <a:t>，由于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en-US" altLang="zh-CN" sz="2000" i="1" dirty="0">
                <a:solidFill>
                  <a:srgbClr val="00B050"/>
                </a:solidFill>
              </a:rPr>
              <a:t>x</a:t>
            </a:r>
            <a:r>
              <a:rPr lang="en-US" altLang="zh-CN" sz="2000" dirty="0">
                <a:solidFill>
                  <a:srgbClr val="00B050"/>
                </a:solidFill>
              </a:rPr>
              <a:t>,0&gt;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  </a:t>
            </a:r>
            <a:r>
              <a:rPr lang="en-US" altLang="zh-CN" sz="2000" dirty="0">
                <a:solidFill>
                  <a:srgbClr val="00B050"/>
                </a:solidFill>
              </a:rPr>
              <a:t>&lt;0, </a:t>
            </a:r>
            <a:r>
              <a:rPr lang="en-US" altLang="zh-CN" sz="2000" i="1" dirty="0">
                <a:solidFill>
                  <a:srgbClr val="00B050"/>
                </a:solidFill>
              </a:rPr>
              <a:t>y</a:t>
            </a:r>
            <a:r>
              <a:rPr lang="en-US" altLang="zh-CN" sz="2000" dirty="0">
                <a:solidFill>
                  <a:srgbClr val="00B050"/>
                </a:solidFill>
              </a:rPr>
              <a:t>&gt;=&lt;0,0&gt; </a:t>
            </a:r>
            <a:r>
              <a:rPr lang="zh-CN" altLang="en-US" sz="2000" dirty="0">
                <a:solidFill>
                  <a:srgbClr val="00B050"/>
                </a:solidFill>
              </a:rPr>
              <a:t>，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      </a:t>
            </a:r>
            <a:r>
              <a:rPr lang="zh-CN" altLang="en-US" sz="2000" dirty="0">
                <a:solidFill>
                  <a:srgbClr val="00B050"/>
                </a:solidFill>
              </a:rPr>
              <a:t>所以任意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en-US" altLang="zh-CN" sz="2000" i="1" dirty="0">
                <a:solidFill>
                  <a:srgbClr val="00B050"/>
                </a:solidFill>
              </a:rPr>
              <a:t>x</a:t>
            </a:r>
            <a:r>
              <a:rPr lang="en-US" altLang="zh-CN" sz="2000" dirty="0">
                <a:solidFill>
                  <a:srgbClr val="00B050"/>
                </a:solidFill>
              </a:rPr>
              <a:t>,0&gt;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solidFill>
                  <a:srgbClr val="00B050"/>
                </a:solidFill>
              </a:rPr>
              <a:t>R</a:t>
            </a:r>
            <a:r>
              <a:rPr lang="en-US" altLang="zh-CN" sz="2000" dirty="0">
                <a:solidFill>
                  <a:srgbClr val="00B050"/>
                </a:solidFill>
              </a:rPr>
              <a:t>(</a:t>
            </a:r>
            <a:r>
              <a:rPr lang="en-US" altLang="zh-CN" sz="2000" i="1" dirty="0">
                <a:solidFill>
                  <a:srgbClr val="00B050"/>
                </a:solidFill>
              </a:rPr>
              <a:t>x 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0</a:t>
            </a:r>
            <a:r>
              <a:rPr lang="en-US" altLang="zh-CN" sz="2000" dirty="0">
                <a:solidFill>
                  <a:srgbClr val="00B050"/>
                </a:solidFill>
              </a:rPr>
              <a:t>)</a:t>
            </a:r>
            <a:r>
              <a:rPr lang="zh-CN" altLang="en-US" sz="2000" dirty="0">
                <a:solidFill>
                  <a:srgbClr val="00B050"/>
                </a:solidFill>
              </a:rPr>
              <a:t>和</a:t>
            </a:r>
            <a:r>
              <a:rPr lang="en-US" altLang="zh-CN" sz="2000" dirty="0">
                <a:solidFill>
                  <a:srgbClr val="00B050"/>
                </a:solidFill>
              </a:rPr>
              <a:t>&lt;0, </a:t>
            </a:r>
            <a:r>
              <a:rPr lang="en-US" altLang="zh-CN" sz="2000" i="1" dirty="0">
                <a:solidFill>
                  <a:srgbClr val="00B050"/>
                </a:solidFill>
              </a:rPr>
              <a:t>y</a:t>
            </a:r>
            <a:r>
              <a:rPr lang="en-US" altLang="zh-CN" sz="2000" dirty="0">
                <a:solidFill>
                  <a:srgbClr val="00B050"/>
                </a:solidFill>
              </a:rPr>
              <a:t>&gt;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000" i="1" dirty="0">
                <a:solidFill>
                  <a:srgbClr val="00B050"/>
                </a:solidFill>
              </a:rPr>
              <a:t>R</a:t>
            </a:r>
            <a:r>
              <a:rPr lang="en-US" altLang="zh-CN" sz="2000" dirty="0">
                <a:solidFill>
                  <a:srgbClr val="00B050"/>
                </a:solidFill>
              </a:rPr>
              <a:t>(</a:t>
            </a:r>
            <a:r>
              <a:rPr lang="en-US" altLang="zh-CN" sz="2000" i="1" dirty="0">
                <a:solidFill>
                  <a:srgbClr val="00B050"/>
                </a:solidFill>
              </a:rPr>
              <a:t>y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0</a:t>
            </a:r>
            <a:r>
              <a:rPr lang="en-US" altLang="zh-CN" sz="2000" dirty="0">
                <a:solidFill>
                  <a:srgbClr val="00B050"/>
                </a:solidFill>
              </a:rPr>
              <a:t>)</a:t>
            </a:r>
            <a:r>
              <a:rPr lang="zh-CN" altLang="en-US" sz="2000" dirty="0">
                <a:solidFill>
                  <a:srgbClr val="00B050"/>
                </a:solidFill>
              </a:rPr>
              <a:t>是环</a:t>
            </a:r>
            <a:r>
              <a:rPr lang="en-US" altLang="zh-CN" sz="2000" dirty="0">
                <a:solidFill>
                  <a:srgbClr val="00B050"/>
                </a:solidFill>
              </a:rPr>
              <a:t>&lt;</a:t>
            </a:r>
            <a:r>
              <a:rPr lang="en-US" altLang="zh-CN" sz="2000" i="1" dirty="0">
                <a:solidFill>
                  <a:srgbClr val="00B050"/>
                </a:solidFill>
              </a:rPr>
              <a:t>R</a:t>
            </a:r>
            <a:r>
              <a:rPr lang="en-US" altLang="zh-CN" sz="2000" dirty="0">
                <a:solidFill>
                  <a:srgbClr val="00B050"/>
                </a:solidFill>
              </a:rPr>
              <a:t>, +, </a:t>
            </a:r>
            <a:r>
              <a:rPr lang="en-US" altLang="zh-CN" sz="2000" dirty="0">
                <a:solidFill>
                  <a:srgbClr val="00B050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000" dirty="0">
                <a:solidFill>
                  <a:srgbClr val="00B050"/>
                </a:solidFill>
              </a:rPr>
              <a:t>&gt;</a:t>
            </a:r>
            <a:r>
              <a:rPr lang="zh-CN" altLang="en-US" sz="2000" dirty="0">
                <a:solidFill>
                  <a:srgbClr val="00B050"/>
                </a:solidFill>
              </a:rPr>
              <a:t>的所有零因子</a:t>
            </a:r>
            <a:r>
              <a:rPr lang="en-US" altLang="zh-CN" sz="2000" dirty="0">
                <a:solidFill>
                  <a:srgbClr val="00B050"/>
                </a:solidFill>
              </a:rPr>
              <a:t>.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7290925" y="213593"/>
            <a:ext cx="1699419" cy="747713"/>
          </a:xfrm>
          <a:noFill/>
        </p:spPr>
        <p:txBody>
          <a:bodyPr anchor="ctr"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实例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定理（补充）</a:t>
            </a:r>
            <a:endParaRPr lang="zh-CN" altLang="en-US"/>
          </a:p>
        </p:txBody>
      </p:sp>
      <p:sp>
        <p:nvSpPr>
          <p:cNvPr id="71683" name="内容占位符 2"/>
          <p:cNvSpPr>
            <a:spLocks noGrp="1" noChangeArrowheads="1"/>
          </p:cNvSpPr>
          <p:nvPr>
            <p:ph idx="1"/>
          </p:nvPr>
        </p:nvSpPr>
        <p:spPr>
          <a:xfrm>
            <a:off x="566738" y="1196975"/>
            <a:ext cx="8108950" cy="5111750"/>
          </a:xfrm>
        </p:spPr>
        <p:txBody>
          <a:bodyPr/>
          <a:lstStyle/>
          <a:p>
            <a:pPr>
              <a:defRPr/>
            </a:pPr>
            <a:r>
              <a:rPr lang="zh-CN" altLang="zh-CN" dirty="0">
                <a:solidFill>
                  <a:srgbClr val="0066FF"/>
                </a:solidFill>
              </a:rPr>
              <a:t>在环</a:t>
            </a:r>
            <a:r>
              <a:rPr lang="en-US" altLang="zh-CN" dirty="0">
                <a:solidFill>
                  <a:srgbClr val="0066FF"/>
                </a:solidFill>
              </a:rPr>
              <a:t>&lt;A,+,</a:t>
            </a:r>
            <a:r>
              <a:rPr lang="en-US" altLang="zh-CN" sz="3200" dirty="0">
                <a:solidFill>
                  <a:srgbClr val="3366FF"/>
                </a:solidFill>
                <a:sym typeface="Symbol" panose="05050102010706020507" pitchFamily="18" charset="2"/>
              </a:rPr>
              <a:t>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zh-CN" dirty="0">
                <a:solidFill>
                  <a:srgbClr val="0066FF"/>
                </a:solidFill>
              </a:rPr>
              <a:t>中无零因子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zh-CN" altLang="en-US" dirty="0"/>
              <a:t>当且仅当</a:t>
            </a:r>
            <a:r>
              <a:rPr lang="zh-CN" altLang="en-US" dirty="0">
                <a:solidFill>
                  <a:srgbClr val="0066FF"/>
                </a:solidFill>
              </a:rPr>
              <a:t> </a:t>
            </a:r>
            <a:r>
              <a:rPr lang="zh-CN" altLang="zh-CN" dirty="0">
                <a:solidFill>
                  <a:srgbClr val="0066FF"/>
                </a:solidFill>
              </a:rPr>
              <a:t>乘法</a:t>
            </a:r>
            <a:r>
              <a:rPr lang="zh-CN" altLang="en-US" dirty="0">
                <a:solidFill>
                  <a:srgbClr val="0066FF"/>
                </a:solidFill>
              </a:rPr>
              <a:t>满足</a:t>
            </a:r>
            <a:r>
              <a:rPr lang="zh-CN" altLang="zh-CN" dirty="0">
                <a:solidFill>
                  <a:srgbClr val="0066FF"/>
                </a:solidFill>
              </a:rPr>
              <a:t>消去律</a:t>
            </a:r>
            <a:r>
              <a:rPr lang="zh-CN" altLang="en-US" dirty="0">
                <a:solidFill>
                  <a:srgbClr val="0066FF"/>
                </a:solidFill>
              </a:rPr>
              <a:t>（</a:t>
            </a:r>
            <a:r>
              <a:rPr lang="zh-CN" altLang="zh-CN" dirty="0">
                <a:solidFill>
                  <a:srgbClr val="0066FF"/>
                </a:solidFill>
              </a:rPr>
              <a:t>即对于</a:t>
            </a:r>
            <a:r>
              <a:rPr lang="en-US" altLang="zh-CN" dirty="0">
                <a:solidFill>
                  <a:srgbClr val="0066FF"/>
                </a:solidFill>
              </a:rPr>
              <a:t> c≠0 </a:t>
            </a:r>
            <a:r>
              <a:rPr lang="zh-CN" altLang="zh-CN" dirty="0">
                <a:solidFill>
                  <a:srgbClr val="0066FF"/>
                </a:solidFill>
              </a:rPr>
              <a:t>和</a:t>
            </a:r>
            <a:r>
              <a:rPr lang="en-US" altLang="zh-CN" dirty="0">
                <a:solidFill>
                  <a:srgbClr val="0066FF"/>
                </a:solidFill>
              </a:rPr>
              <a:t> c</a:t>
            </a:r>
            <a:r>
              <a:rPr lang="en-US" altLang="zh-CN" dirty="0">
                <a:solidFill>
                  <a:srgbClr val="3366FF"/>
                </a:solidFill>
              </a:rPr>
              <a:t>a=</a:t>
            </a:r>
            <a:r>
              <a:rPr lang="en-US" altLang="zh-CN" dirty="0" err="1">
                <a:solidFill>
                  <a:srgbClr val="3366FF"/>
                </a:solidFill>
              </a:rPr>
              <a:t>c</a:t>
            </a:r>
            <a:r>
              <a:rPr lang="en-US" altLang="zh-CN" dirty="0" err="1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zh-CN" dirty="0">
                <a:solidFill>
                  <a:srgbClr val="0066FF"/>
                </a:solidFill>
              </a:rPr>
              <a:t>必有</a:t>
            </a:r>
            <a:r>
              <a:rPr lang="en-US" altLang="zh-CN" dirty="0">
                <a:solidFill>
                  <a:srgbClr val="0066FF"/>
                </a:solidFill>
              </a:rPr>
              <a:t>a=b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  <a:endParaRPr lang="zh-CN" altLang="zh-CN" dirty="0">
              <a:solidFill>
                <a:srgbClr val="0066FF"/>
              </a:solidFill>
            </a:endParaRPr>
          </a:p>
          <a:p>
            <a:pPr>
              <a:defRPr/>
            </a:pPr>
            <a:r>
              <a:rPr lang="zh-CN" altLang="zh-CN" dirty="0"/>
              <a:t>证明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zh-CN" altLang="en-US" dirty="0"/>
              <a:t>必要性：</a:t>
            </a:r>
            <a:r>
              <a:rPr lang="zh-CN" altLang="zh-CN" dirty="0"/>
              <a:t>若无零因子并设</a:t>
            </a:r>
            <a:r>
              <a:rPr lang="en-US" altLang="zh-CN" dirty="0"/>
              <a:t> c≠0 </a:t>
            </a:r>
            <a:r>
              <a:rPr lang="zh-CN" altLang="zh-CN" dirty="0"/>
              <a:t>和</a:t>
            </a:r>
            <a:r>
              <a:rPr lang="en-US" altLang="zh-CN" dirty="0"/>
              <a:t> ca=</a:t>
            </a:r>
            <a:r>
              <a:rPr lang="en-US" altLang="zh-CN" dirty="0" err="1"/>
              <a:t>cb</a:t>
            </a:r>
            <a:r>
              <a:rPr lang="zh-CN" altLang="zh-CN" dirty="0"/>
              <a:t>，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        </a:t>
            </a:r>
            <a:r>
              <a:rPr lang="zh-CN" altLang="zh-CN" dirty="0"/>
              <a:t>则有</a:t>
            </a:r>
            <a:r>
              <a:rPr lang="zh-CN" altLang="en-US" dirty="0"/>
              <a:t>：</a:t>
            </a:r>
            <a:r>
              <a:rPr lang="en-US" altLang="zh-CN" dirty="0"/>
              <a:t>ca-</a:t>
            </a:r>
            <a:r>
              <a:rPr lang="en-US" altLang="zh-CN" dirty="0" err="1"/>
              <a:t>cb</a:t>
            </a:r>
            <a:r>
              <a:rPr lang="en-US" altLang="zh-CN" dirty="0"/>
              <a:t>=c(a-b)</a:t>
            </a:r>
            <a:r>
              <a:rPr lang="zh-CN" altLang="zh-CN" dirty="0"/>
              <a:t>＝</a:t>
            </a:r>
            <a:r>
              <a:rPr lang="en-US" altLang="zh-CN" dirty="0"/>
              <a:t>0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</a:t>
            </a:r>
            <a:r>
              <a:rPr lang="zh-CN" altLang="zh-CN" dirty="0"/>
              <a:t>所以，必有</a:t>
            </a:r>
            <a:r>
              <a:rPr lang="en-US" altLang="zh-CN" dirty="0"/>
              <a:t>a=b</a:t>
            </a:r>
            <a:r>
              <a:rPr lang="zh-CN" altLang="en-US" dirty="0"/>
              <a:t>，即乘法满足消去律</a:t>
            </a:r>
            <a:r>
              <a:rPr lang="zh-CN" altLang="zh-CN" dirty="0"/>
              <a:t>。</a:t>
            </a:r>
            <a:endParaRPr lang="zh-CN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充分性：</a:t>
            </a:r>
            <a:r>
              <a:rPr lang="zh-CN" altLang="zh-CN" dirty="0"/>
              <a:t>若乘法</a:t>
            </a:r>
            <a:r>
              <a:rPr lang="zh-CN" altLang="en-US" dirty="0"/>
              <a:t>满足</a:t>
            </a:r>
            <a:r>
              <a:rPr lang="zh-CN" altLang="zh-CN" dirty="0"/>
              <a:t>消去律，</a:t>
            </a: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        </a:t>
            </a:r>
            <a:r>
              <a:rPr lang="zh-CN" altLang="zh-CN" dirty="0"/>
              <a:t>设</a:t>
            </a:r>
            <a:r>
              <a:rPr lang="en-US" altLang="zh-CN" dirty="0"/>
              <a:t>a≠0</a:t>
            </a:r>
            <a:r>
              <a:rPr lang="zh-CN" altLang="zh-CN" dirty="0"/>
              <a:t>，</a:t>
            </a:r>
            <a:r>
              <a:rPr lang="en-US" altLang="zh-CN" dirty="0"/>
              <a:t>ab=0</a:t>
            </a:r>
            <a:r>
              <a:rPr lang="zh-CN" altLang="zh-CN" dirty="0"/>
              <a:t>则</a:t>
            </a:r>
            <a:r>
              <a:rPr lang="en-US" altLang="zh-CN" dirty="0"/>
              <a:t>ab=a0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</a:t>
            </a:r>
            <a:r>
              <a:rPr lang="zh-CN" altLang="zh-CN" dirty="0"/>
              <a:t>消去</a:t>
            </a:r>
            <a:r>
              <a:rPr lang="en-US" altLang="zh-CN" dirty="0"/>
              <a:t>a</a:t>
            </a:r>
            <a:r>
              <a:rPr lang="zh-CN" altLang="zh-CN" dirty="0"/>
              <a:t>即得</a:t>
            </a:r>
            <a:r>
              <a:rPr lang="en-US" altLang="zh-CN" dirty="0"/>
              <a:t>b=0</a:t>
            </a:r>
            <a:r>
              <a:rPr lang="zh-CN" altLang="en-US" dirty="0"/>
              <a:t>，即无零因子。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C13647-7233-4E7F-8ECF-6B4670767BBD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2204864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09600" y="4509120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F14043A-DCF5-49CA-AD64-96E7451A157E}" type="slidenum">
              <a:rPr lang="zh-CN" altLang="en-US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en-US" altLang="zh-CN"/>
          </a:p>
        </p:txBody>
      </p:sp>
      <p:sp>
        <p:nvSpPr>
          <p:cNvPr id="159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270000"/>
            <a:ext cx="8685782" cy="4822825"/>
          </a:xfrm>
        </p:spPr>
        <p:txBody>
          <a:bodyPr/>
          <a:lstStyle/>
          <a:p>
            <a:r>
              <a:rPr lang="zh-CN" altLang="en-US" dirty="0"/>
              <a:t>设 </a:t>
            </a:r>
            <a:r>
              <a:rPr lang="en-US" altLang="zh-CN" i="1" dirty="0"/>
              <a:t>p</a:t>
            </a:r>
            <a:r>
              <a:rPr lang="zh-CN" altLang="en-US" dirty="0"/>
              <a:t>为素数，证明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是域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66FF"/>
                </a:solidFill>
              </a:rPr>
              <a:t>【</a:t>
            </a:r>
            <a:r>
              <a:rPr lang="zh-CN" altLang="en-US" dirty="0">
                <a:solidFill>
                  <a:srgbClr val="0066FF"/>
                </a:solidFill>
              </a:rPr>
              <a:t>证明思路：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66FF"/>
                </a:solidFill>
              </a:rPr>
              <a:t>    先证</a:t>
            </a:r>
            <a:r>
              <a:rPr lang="en-US" altLang="zh-CN" dirty="0" err="1">
                <a:solidFill>
                  <a:srgbClr val="0066FF"/>
                </a:solidFill>
              </a:rPr>
              <a:t>Z</a:t>
            </a:r>
            <a:r>
              <a:rPr lang="en-US" altLang="zh-CN" i="1" baseline="-25000" dirty="0" err="1">
                <a:solidFill>
                  <a:srgbClr val="0066FF"/>
                </a:solidFill>
              </a:rPr>
              <a:t>p</a:t>
            </a:r>
            <a:r>
              <a:rPr lang="zh-CN" altLang="en-US" dirty="0">
                <a:solidFill>
                  <a:srgbClr val="0066FF"/>
                </a:solidFill>
              </a:rPr>
              <a:t>为整环，再证每个非零元素都有逆元</a:t>
            </a:r>
            <a:r>
              <a:rPr lang="en-US" altLang="zh-CN" dirty="0">
                <a:solidFill>
                  <a:srgbClr val="0066FF"/>
                </a:solidFill>
              </a:rPr>
              <a:t>】</a:t>
            </a:r>
            <a:endParaRPr lang="en-US" altLang="zh-CN" dirty="0"/>
          </a:p>
          <a:p>
            <a:r>
              <a:rPr lang="zh-CN" altLang="en-US" dirty="0"/>
              <a:t>证  </a:t>
            </a:r>
            <a:r>
              <a:rPr lang="en-US" altLang="zh-CN" dirty="0">
                <a:solidFill>
                  <a:srgbClr val="0066FF"/>
                </a:solidFill>
              </a:rPr>
              <a:t>【</a:t>
            </a:r>
            <a:r>
              <a:rPr lang="zh-CN" altLang="en-US" dirty="0">
                <a:solidFill>
                  <a:srgbClr val="0066FF"/>
                </a:solidFill>
              </a:rPr>
              <a:t>先证</a:t>
            </a:r>
            <a:r>
              <a:rPr lang="en-US" altLang="zh-CN" dirty="0" err="1">
                <a:solidFill>
                  <a:srgbClr val="0066FF"/>
                </a:solidFill>
              </a:rPr>
              <a:t>Z</a:t>
            </a:r>
            <a:r>
              <a:rPr lang="en-US" altLang="zh-CN" i="1" baseline="-25000" dirty="0" err="1">
                <a:solidFill>
                  <a:srgbClr val="0066FF"/>
                </a:solidFill>
              </a:rPr>
              <a:t>p</a:t>
            </a:r>
            <a:r>
              <a:rPr lang="zh-CN" altLang="en-US" dirty="0">
                <a:solidFill>
                  <a:srgbClr val="0066FF"/>
                </a:solidFill>
              </a:rPr>
              <a:t>为整环</a:t>
            </a:r>
            <a:r>
              <a:rPr lang="en-US" altLang="zh-CN" dirty="0">
                <a:solidFill>
                  <a:srgbClr val="0066FF"/>
                </a:solidFill>
              </a:rPr>
              <a:t>】</a:t>
            </a:r>
            <a:r>
              <a:rPr lang="zh-CN" altLang="en-US" dirty="0">
                <a:solidFill>
                  <a:srgbClr val="0066FF"/>
                </a:solidFill>
              </a:rPr>
              <a:t> 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 </a:t>
            </a:r>
            <a:r>
              <a:rPr lang="en-US" altLang="zh-CN" i="1" dirty="0"/>
              <a:t>p</a:t>
            </a:r>
            <a:r>
              <a:rPr lang="zh-CN" altLang="en-US" dirty="0"/>
              <a:t>为素数，所以 </a:t>
            </a:r>
            <a:r>
              <a:rPr lang="en-US" altLang="zh-CN" dirty="0"/>
              <a:t>|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dirty="0"/>
              <a:t>|≥2.  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易见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关于乘法可交换，单位元是</a:t>
            </a:r>
            <a:r>
              <a:rPr lang="en-US" altLang="zh-CN" dirty="0"/>
              <a:t>1.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对于任意的 </a:t>
            </a:r>
            <a:r>
              <a:rPr lang="en-US" altLang="zh-CN" i="1" dirty="0" err="1"/>
              <a:t>i</a:t>
            </a:r>
            <a:r>
              <a:rPr lang="en-US" altLang="zh-CN" dirty="0"/>
              <a:t>, </a:t>
            </a:r>
            <a:r>
              <a:rPr lang="en-US" altLang="zh-CN" i="1" dirty="0" err="1"/>
              <a:t>j</a:t>
            </a:r>
            <a:r>
              <a:rPr lang="en-US" altLang="zh-CN" dirty="0" err="1"/>
              <a:t>∈Z</a:t>
            </a:r>
            <a:r>
              <a:rPr lang="en-US" altLang="zh-CN" i="1" baseline="-25000" dirty="0" err="1"/>
              <a:t>p</a:t>
            </a:r>
            <a:r>
              <a:rPr lang="en-US" altLang="zh-CN" dirty="0"/>
              <a:t>, </a:t>
            </a:r>
            <a:r>
              <a:rPr lang="zh-CN" altLang="en-US" dirty="0"/>
              <a:t>设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≠ 0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 </a:t>
            </a:r>
            <a:r>
              <a:rPr lang="en-US" altLang="zh-CN" i="1" dirty="0"/>
              <a:t>j </a:t>
            </a:r>
            <a:r>
              <a:rPr lang="en-US" altLang="zh-CN" dirty="0"/>
              <a:t>= 0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p |</a:t>
            </a:r>
            <a:r>
              <a:rPr lang="zh-CN" altLang="en-US" dirty="0">
                <a:solidFill>
                  <a:srgbClr val="0066FF"/>
                </a:solidFill>
              </a:rPr>
              <a:t> </a:t>
            </a:r>
            <a:r>
              <a:rPr lang="en-US" altLang="zh-CN" i="1" dirty="0" err="1">
                <a:solidFill>
                  <a:srgbClr val="0066FF"/>
                </a:solidFill>
              </a:rPr>
              <a:t>ij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dirty="0">
                <a:solidFill>
                  <a:srgbClr val="0066FF"/>
                </a:solidFill>
              </a:rPr>
              <a:t>| </a:t>
            </a:r>
            <a:r>
              <a:rPr lang="en-US" altLang="zh-CN" i="1" dirty="0">
                <a:solidFill>
                  <a:srgbClr val="0066FF"/>
                </a:solidFill>
              </a:rPr>
              <a:t>j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j </a:t>
            </a:r>
            <a:r>
              <a:rPr lang="en-US" altLang="zh-CN" dirty="0"/>
              <a:t>= 0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所以 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i="1" dirty="0"/>
              <a:t> </a:t>
            </a:r>
            <a:r>
              <a:rPr lang="zh-CN" altLang="en-US" dirty="0"/>
              <a:t>中无零因子，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为整环</a:t>
            </a:r>
            <a:r>
              <a:rPr lang="en-US" altLang="zh-CN" dirty="0"/>
              <a:t>.  </a:t>
            </a:r>
            <a:endParaRPr lang="en-US" altLang="zh-CN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574675" y="1844824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9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9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9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9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9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9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bldLvl="3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804160A-6AFB-4F55-BF3A-4A5BE2B50EA0}" type="slidenum">
              <a:rPr lang="zh-CN" altLang="en-US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/>
              <a:t>实例（续）</a:t>
            </a:r>
            <a:endParaRPr lang="zh-CN" altLang="en-US"/>
          </a:p>
        </p:txBody>
      </p:sp>
      <p:sp>
        <p:nvSpPr>
          <p:cNvPr id="160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270000"/>
            <a:ext cx="8577262" cy="48228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【</a:t>
            </a:r>
            <a:r>
              <a:rPr lang="zh-CN" altLang="en-US" dirty="0">
                <a:solidFill>
                  <a:srgbClr val="0066FF"/>
                </a:solidFill>
              </a:rPr>
              <a:t>再证每个非零元素都有逆元</a:t>
            </a:r>
            <a:r>
              <a:rPr lang="en-US" altLang="zh-CN" dirty="0">
                <a:solidFill>
                  <a:srgbClr val="0066FF"/>
                </a:solidFill>
              </a:rPr>
              <a:t>】</a:t>
            </a:r>
            <a:endParaRPr lang="en-US" altLang="zh-CN" dirty="0">
              <a:solidFill>
                <a:srgbClr val="0066FF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已知：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i="1" dirty="0"/>
              <a:t> </a:t>
            </a:r>
            <a:r>
              <a:rPr lang="zh-CN" altLang="en-US" dirty="0"/>
              <a:t>是有限半群</a:t>
            </a:r>
            <a:r>
              <a:rPr lang="en-US" altLang="zh-CN" dirty="0"/>
              <a:t>, </a:t>
            </a:r>
            <a:r>
              <a:rPr lang="zh-CN" altLang="en-US" dirty="0"/>
              <a:t>且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关于</a:t>
            </a:r>
            <a:r>
              <a:rPr lang="zh-CN" altLang="en-US" dirty="0">
                <a:sym typeface="Symbol" panose="05050102010706020507" pitchFamily="18" charset="2"/>
              </a:rPr>
              <a:t>适合消去律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任取 </a:t>
            </a:r>
            <a:r>
              <a:rPr lang="en-US" altLang="zh-CN" i="1" dirty="0" err="1"/>
              <a:t>i</a:t>
            </a:r>
            <a:r>
              <a:rPr lang="en-US" altLang="zh-CN" dirty="0" err="1"/>
              <a:t>∈Z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，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≠ 0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令 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i="1" dirty="0"/>
              <a:t> </a:t>
            </a:r>
            <a:r>
              <a:rPr lang="en-US" altLang="zh-CN" dirty="0"/>
              <a:t>= {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i="1" dirty="0"/>
              <a:t>j </a:t>
            </a:r>
            <a:r>
              <a:rPr lang="en-US" altLang="zh-CN" dirty="0"/>
              <a:t>| </a:t>
            </a:r>
            <a:r>
              <a:rPr lang="en-US" altLang="zh-CN" i="1" dirty="0" err="1"/>
              <a:t>j</a:t>
            </a:r>
            <a:r>
              <a:rPr lang="en-US" altLang="zh-CN" dirty="0" err="1"/>
              <a:t>∈Z</a:t>
            </a:r>
            <a:r>
              <a:rPr lang="en-US" altLang="zh-CN" i="1" baseline="-25000" dirty="0" err="1"/>
              <a:t>p</a:t>
            </a:r>
            <a:r>
              <a:rPr lang="en-US" altLang="zh-CN" dirty="0"/>
              <a:t>}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则 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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Z</a:t>
            </a:r>
            <a:r>
              <a:rPr lang="en-US" altLang="zh-CN" i="1" baseline="-25000" dirty="0" err="1"/>
              <a:t>p</a:t>
            </a:r>
            <a:endParaRPr lang="zh-CN" altLang="en-US" dirty="0"/>
          </a:p>
          <a:p>
            <a:pPr>
              <a:buNone/>
            </a:pPr>
            <a:r>
              <a:rPr lang="zh-CN" altLang="en-US" dirty="0">
                <a:solidFill>
                  <a:srgbClr val="7030A0"/>
                </a:solidFill>
              </a:rPr>
              <a:t>否则，</a:t>
            </a:r>
            <a:r>
              <a:rPr lang="zh-CN" altLang="en-US" dirty="0">
                <a:solidFill>
                  <a:srgbClr val="7030A0"/>
                </a:solidFill>
                <a:sym typeface="Symbol" panose="05050102010706020507" pitchFamily="18" charset="2"/>
              </a:rPr>
              <a:t> </a:t>
            </a:r>
            <a:r>
              <a:rPr lang="en-US" altLang="zh-CN" i="1" dirty="0">
                <a:solidFill>
                  <a:srgbClr val="7030A0"/>
                </a:solidFill>
              </a:rPr>
              <a:t>j</a:t>
            </a:r>
            <a:r>
              <a:rPr lang="en-US" altLang="zh-CN" dirty="0">
                <a:solidFill>
                  <a:srgbClr val="7030A0"/>
                </a:solidFill>
              </a:rPr>
              <a:t>, </a:t>
            </a:r>
            <a:r>
              <a:rPr lang="en-US" altLang="zh-CN" i="1" dirty="0" err="1">
                <a:solidFill>
                  <a:srgbClr val="7030A0"/>
                </a:solidFill>
              </a:rPr>
              <a:t>k</a:t>
            </a:r>
            <a:r>
              <a:rPr lang="en-US" altLang="zh-CN" dirty="0" err="1">
                <a:solidFill>
                  <a:srgbClr val="7030A0"/>
                </a:solidFill>
              </a:rPr>
              <a:t>∈Z</a:t>
            </a:r>
            <a:r>
              <a:rPr lang="en-US" altLang="zh-CN" i="1" baseline="-25000" dirty="0" err="1">
                <a:solidFill>
                  <a:srgbClr val="7030A0"/>
                </a:solidFill>
              </a:rPr>
              <a:t>p</a:t>
            </a:r>
            <a:r>
              <a:rPr lang="zh-CN" altLang="en-US" dirty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(</a:t>
            </a:r>
            <a:r>
              <a:rPr lang="en-US" altLang="zh-CN" i="1" dirty="0">
                <a:solidFill>
                  <a:srgbClr val="7030A0"/>
                </a:solidFill>
              </a:rPr>
              <a:t>j </a:t>
            </a:r>
            <a:r>
              <a:rPr lang="en-US" altLang="zh-CN" dirty="0">
                <a:solidFill>
                  <a:srgbClr val="7030A0"/>
                </a:solidFill>
              </a:rPr>
              <a:t>≠ </a:t>
            </a:r>
            <a:r>
              <a:rPr lang="en-US" altLang="zh-CN" i="1" dirty="0">
                <a:solidFill>
                  <a:srgbClr val="7030A0"/>
                </a:solidFill>
              </a:rPr>
              <a:t>k</a:t>
            </a:r>
            <a:r>
              <a:rPr lang="en-US" altLang="zh-CN" dirty="0">
                <a:solidFill>
                  <a:srgbClr val="7030A0"/>
                </a:solidFill>
              </a:rPr>
              <a:t>)</a:t>
            </a:r>
            <a:r>
              <a:rPr lang="zh-CN" altLang="en-US" dirty="0">
                <a:solidFill>
                  <a:srgbClr val="7030A0"/>
                </a:solidFill>
              </a:rPr>
              <a:t> ，使得 </a:t>
            </a:r>
            <a:r>
              <a:rPr lang="en-US" altLang="zh-CN" i="1" dirty="0" err="1">
                <a:solidFill>
                  <a:srgbClr val="7030A0"/>
                </a:solidFill>
              </a:rPr>
              <a:t>i</a:t>
            </a:r>
            <a:r>
              <a:rPr lang="en-US" altLang="zh-CN" i="1" dirty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 </a:t>
            </a:r>
            <a:r>
              <a:rPr lang="en-US" altLang="zh-CN" i="1" dirty="0">
                <a:solidFill>
                  <a:srgbClr val="7030A0"/>
                </a:solidFill>
              </a:rPr>
              <a:t>j </a:t>
            </a:r>
            <a:r>
              <a:rPr lang="en-US" altLang="zh-CN" dirty="0">
                <a:solidFill>
                  <a:srgbClr val="7030A0"/>
                </a:solidFill>
              </a:rPr>
              <a:t>= </a:t>
            </a:r>
            <a:r>
              <a:rPr lang="en-US" altLang="zh-CN" i="1" dirty="0" err="1">
                <a:solidFill>
                  <a:srgbClr val="7030A0"/>
                </a:solidFill>
              </a:rPr>
              <a:t>i</a:t>
            </a:r>
            <a:r>
              <a:rPr lang="en-US" altLang="zh-CN" i="1" dirty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 </a:t>
            </a:r>
            <a:r>
              <a:rPr lang="en-US" altLang="zh-CN" i="1" dirty="0">
                <a:solidFill>
                  <a:srgbClr val="7030A0"/>
                </a:solidFill>
              </a:rPr>
              <a:t>k</a:t>
            </a:r>
            <a:r>
              <a:rPr lang="zh-CN" altLang="en-US" dirty="0">
                <a:solidFill>
                  <a:srgbClr val="7030A0"/>
                </a:solidFill>
              </a:rPr>
              <a:t>，</a:t>
            </a:r>
            <a:endParaRPr lang="zh-CN" alt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7030A0"/>
                </a:solidFill>
              </a:rPr>
              <a:t>而由消去律得 </a:t>
            </a:r>
            <a:r>
              <a:rPr lang="en-US" altLang="zh-CN" i="1" dirty="0">
                <a:solidFill>
                  <a:srgbClr val="7030A0"/>
                </a:solidFill>
              </a:rPr>
              <a:t>j </a:t>
            </a:r>
            <a:r>
              <a:rPr lang="en-US" altLang="zh-CN" dirty="0">
                <a:solidFill>
                  <a:srgbClr val="7030A0"/>
                </a:solidFill>
              </a:rPr>
              <a:t>= </a:t>
            </a:r>
            <a:r>
              <a:rPr lang="en-US" altLang="zh-CN" i="1" dirty="0">
                <a:solidFill>
                  <a:srgbClr val="7030A0"/>
                </a:solidFill>
              </a:rPr>
              <a:t>k</a:t>
            </a:r>
            <a:r>
              <a:rPr lang="en-US" altLang="zh-CN" dirty="0">
                <a:solidFill>
                  <a:srgbClr val="7030A0"/>
                </a:solidFill>
              </a:rPr>
              <a:t>, </a:t>
            </a:r>
            <a:r>
              <a:rPr lang="zh-CN" altLang="en-US" dirty="0">
                <a:solidFill>
                  <a:srgbClr val="7030A0"/>
                </a:solidFill>
              </a:rPr>
              <a:t>这是矛盾的。</a:t>
            </a:r>
            <a:endParaRPr lang="en-US" altLang="zh-CN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由</a:t>
            </a:r>
            <a:r>
              <a:rPr lang="en-US" altLang="zh-CN" dirty="0"/>
              <a:t>1∈Z</a:t>
            </a:r>
            <a:r>
              <a:rPr lang="en-US" altLang="zh-CN" i="1" baseline="-25000" dirty="0"/>
              <a:t>p</a:t>
            </a:r>
            <a:r>
              <a:rPr lang="zh-CN" altLang="en-US" dirty="0"/>
              <a:t>，存在 </a:t>
            </a:r>
            <a:r>
              <a:rPr lang="en-US" altLang="zh-CN" i="1" dirty="0" err="1"/>
              <a:t>j</a:t>
            </a:r>
            <a:r>
              <a:rPr lang="en-US" altLang="zh-CN" dirty="0" err="1"/>
              <a:t>∈Z</a:t>
            </a:r>
            <a:r>
              <a:rPr lang="en-US" altLang="zh-CN" i="1" baseline="-25000" dirty="0" err="1"/>
              <a:t>p</a:t>
            </a:r>
            <a:r>
              <a:rPr lang="zh-CN" altLang="en-US" dirty="0"/>
              <a:t>，使得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 </a:t>
            </a:r>
            <a:r>
              <a:rPr lang="en-US" altLang="zh-CN" i="1" dirty="0"/>
              <a:t>j </a:t>
            </a:r>
            <a:r>
              <a:rPr lang="en-US" altLang="zh-CN" dirty="0"/>
              <a:t>= 1.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由于交换性可知 </a:t>
            </a:r>
            <a:r>
              <a:rPr lang="en-US" altLang="zh-CN" i="1" dirty="0"/>
              <a:t>j </a:t>
            </a:r>
            <a:r>
              <a:rPr lang="zh-CN" altLang="en-US" dirty="0"/>
              <a:t>就是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zh-CN" altLang="en-US" dirty="0"/>
              <a:t>的逆元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380" y="1"/>
            <a:ext cx="2203124" cy="1766656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0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0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0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0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 bldLvl="3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解域方程</a:t>
            </a:r>
            <a:endParaRPr lang="en-US" altLang="zh-CN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在域</a:t>
            </a:r>
            <a:r>
              <a:rPr lang="en-US" altLang="zh-CN" dirty="0"/>
              <a:t>Z</a:t>
            </a:r>
            <a:r>
              <a:rPr lang="en-US" altLang="zh-CN" baseline="-25000" dirty="0"/>
              <a:t>5</a:t>
            </a:r>
            <a:r>
              <a:rPr lang="zh-CN" altLang="en-US" dirty="0"/>
              <a:t>中解方程：</a:t>
            </a:r>
            <a:r>
              <a:rPr lang="en-US" altLang="zh-CN" dirty="0"/>
              <a:t>3</a:t>
            </a:r>
            <a:r>
              <a:rPr lang="en-US" altLang="zh-CN" i="1" dirty="0"/>
              <a:t>x</a:t>
            </a:r>
            <a:r>
              <a:rPr lang="en-US" altLang="zh-CN" dirty="0"/>
              <a:t>=2</a:t>
            </a:r>
            <a:endParaRPr lang="en-US" altLang="zh-CN" dirty="0"/>
          </a:p>
          <a:p>
            <a:r>
              <a:rPr lang="zh-CN" altLang="en-US" dirty="0"/>
              <a:t>解：     </a:t>
            </a:r>
            <a:r>
              <a:rPr lang="en-US" altLang="zh-CN" i="1" dirty="0"/>
              <a:t>x </a:t>
            </a:r>
            <a:r>
              <a:rPr lang="en-US" altLang="zh-CN" dirty="0"/>
              <a:t>= 3</a:t>
            </a:r>
            <a:r>
              <a:rPr lang="en-US" altLang="zh-CN" baseline="30000" dirty="0"/>
              <a:t>-1 </a:t>
            </a:r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en-US" altLang="zh-CN" baseline="30000" dirty="0"/>
              <a:t> </a:t>
            </a:r>
            <a:r>
              <a:rPr lang="en-US" altLang="zh-CN" dirty="0"/>
              <a:t>2= 2</a:t>
            </a:r>
            <a:r>
              <a:rPr lang="en-US" altLang="zh-CN" dirty="0">
                <a:sym typeface="Symbol" panose="05050102010706020507" pitchFamily="18" charset="2"/>
              </a:rPr>
              <a:t></a:t>
            </a:r>
            <a:r>
              <a:rPr lang="en-US" altLang="zh-CN" dirty="0"/>
              <a:t>2=4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2877501"/>
            <a:ext cx="3365501" cy="2698751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10.4</a:t>
            </a:r>
            <a:r>
              <a:rPr lang="zh-CN" altLang="en-US" dirty="0"/>
              <a:t>环与域（回顾）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BEDC-BBC9-4E6F-A177-9383404BA6E0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15" y="1484784"/>
            <a:ext cx="8003126" cy="4608512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DC51F7-8D13-49F8-BB6F-4F5F244A65EC}" type="slidenum">
              <a:rPr lang="en-US" altLang="zh-CN" sz="1200" b="0" smtClean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群与环（回顾）</a:t>
            </a:r>
            <a:endParaRPr lang="zh-CN" altLang="en-US">
              <a:latin typeface="华文中宋" panose="02010600040101010101" pitchFamily="2" charset="-122"/>
            </a:endParaRP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10.1</a:t>
            </a:r>
            <a:r>
              <a:rPr lang="zh-CN" altLang="en-US" dirty="0"/>
              <a:t>群的定义与性质</a:t>
            </a:r>
            <a:endParaRPr lang="zh-CN" altLang="en-US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10.2</a:t>
            </a:r>
            <a:r>
              <a:rPr lang="zh-CN" altLang="en-US" dirty="0"/>
              <a:t>子群与群的陪集分解</a:t>
            </a:r>
            <a:endParaRPr lang="zh-CN" altLang="en-US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10.3</a:t>
            </a:r>
            <a:r>
              <a:rPr lang="zh-CN" altLang="en-US" dirty="0"/>
              <a:t>循环群与置换群</a:t>
            </a:r>
            <a:endParaRPr lang="zh-CN" altLang="en-US" dirty="0"/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10.4</a:t>
            </a:r>
            <a:r>
              <a:rPr lang="zh-CN" altLang="en-US" dirty="0"/>
              <a:t>环与域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12702</Words>
  <Application>WPS 演示</Application>
  <PresentationFormat>全屏显示(4:3)</PresentationFormat>
  <Paragraphs>1049</Paragraphs>
  <Slides>68</Slides>
  <Notes>58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68</vt:i4>
      </vt:variant>
    </vt:vector>
  </HeadingPairs>
  <TitlesOfParts>
    <vt:vector size="110" baseType="lpstr">
      <vt:lpstr>Arial</vt:lpstr>
      <vt:lpstr>宋体</vt:lpstr>
      <vt:lpstr>Wingdings</vt:lpstr>
      <vt:lpstr>Verdana</vt:lpstr>
      <vt:lpstr>Times New Roman</vt:lpstr>
      <vt:lpstr>华文中宋</vt:lpstr>
      <vt:lpstr>楷体_GB2312</vt:lpstr>
      <vt:lpstr>新宋体</vt:lpstr>
      <vt:lpstr>Arial Narrow</vt:lpstr>
      <vt:lpstr>Symbol</vt:lpstr>
      <vt:lpstr>等线</vt:lpstr>
      <vt:lpstr>-apple-system</vt:lpstr>
      <vt:lpstr>Docktrin</vt:lpstr>
      <vt:lpstr>微软雅黑</vt:lpstr>
      <vt:lpstr>Arial Unicode MS</vt:lpstr>
      <vt:lpstr>Bahnschrift Condensed</vt:lpstr>
      <vt:lpstr>Batang</vt:lpstr>
      <vt:lpstr>Constantia</vt:lpstr>
      <vt:lpstr>Cambria Math</vt:lpstr>
      <vt:lpstr>Times New Roman</vt:lpstr>
      <vt:lpstr>等线 Light</vt:lpstr>
      <vt:lpstr>Wonder Arial</vt:lpstr>
      <vt:lpstr>Be Happy</vt:lpstr>
      <vt:lpstr>Bakery</vt:lpstr>
      <vt:lpstr>Profile</vt:lpstr>
      <vt:lpstr>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第十章  群与环</vt:lpstr>
      <vt:lpstr>10.3 循环群与置换群</vt:lpstr>
      <vt:lpstr>PowerPoint 演示文稿</vt:lpstr>
      <vt:lpstr>G=&lt;Z9,&gt;</vt:lpstr>
      <vt:lpstr>定理</vt:lpstr>
      <vt:lpstr>循环群一定是阿贝尔群，反之则不一定</vt:lpstr>
      <vt:lpstr>应用实例</vt:lpstr>
      <vt:lpstr>循环群的分类</vt:lpstr>
      <vt:lpstr>循环群的生成元</vt:lpstr>
      <vt:lpstr>实例</vt:lpstr>
      <vt:lpstr>PowerPoint 演示文稿</vt:lpstr>
      <vt:lpstr>PowerPoint 演示文稿</vt:lpstr>
      <vt:lpstr>PowerPoint 演示文稿</vt:lpstr>
      <vt:lpstr>循环群的子群</vt:lpstr>
      <vt:lpstr>PowerPoint 演示文稿</vt:lpstr>
      <vt:lpstr>PowerPoint 演示文稿</vt:lpstr>
      <vt:lpstr>PowerPoint 演示文稿</vt:lpstr>
      <vt:lpstr>PowerPoint 演示文稿</vt:lpstr>
      <vt:lpstr>求循环子群的方法</vt:lpstr>
      <vt:lpstr>实例</vt:lpstr>
      <vt:lpstr>实例：(2) 设G2=&lt;Z12, &gt;，求G2的所有子群。</vt:lpstr>
      <vt:lpstr>实例：(2) 设G2=&lt;Z12, &gt;，求G2的所有子群。</vt:lpstr>
      <vt:lpstr>回看旋转群&lt;G,*&gt;，求其所有子群</vt:lpstr>
      <vt:lpstr>n 元置换</vt:lpstr>
      <vt:lpstr>群的性质——置换性</vt:lpstr>
      <vt:lpstr>置换的乘法</vt:lpstr>
      <vt:lpstr>轮换与对换</vt:lpstr>
      <vt:lpstr>n元置换的轮换表示</vt:lpstr>
      <vt:lpstr>实例</vt:lpstr>
      <vt:lpstr>实例</vt:lpstr>
      <vt:lpstr>轮换分解式的特征</vt:lpstr>
      <vt:lpstr>置换的对换分解</vt:lpstr>
      <vt:lpstr>实例</vt:lpstr>
      <vt:lpstr>对换分解的特征</vt:lpstr>
      <vt:lpstr>n元对称群</vt:lpstr>
      <vt:lpstr>PowerPoint 演示文稿</vt:lpstr>
      <vt:lpstr>PowerPoint 演示文稿</vt:lpstr>
      <vt:lpstr>n元交错群</vt:lpstr>
      <vt:lpstr>实例</vt:lpstr>
      <vt:lpstr>实例</vt:lpstr>
      <vt:lpstr>Polya定理</vt:lpstr>
      <vt:lpstr>Polya定理在组合计数中的应用</vt:lpstr>
      <vt:lpstr>Polya定理在组合计数中的应用</vt:lpstr>
      <vt:lpstr>PowerPoint 演示文稿</vt:lpstr>
      <vt:lpstr>PowerPoint 演示文稿</vt:lpstr>
      <vt:lpstr>PowerPoint 演示文稿</vt:lpstr>
      <vt:lpstr>Polya定理练习</vt:lpstr>
      <vt:lpstr>S4相关（补充）</vt:lpstr>
      <vt:lpstr>S4相关（补充）</vt:lpstr>
      <vt:lpstr>10.3循环群与置换群（回顾）</vt:lpstr>
      <vt:lpstr>第十章  群与环</vt:lpstr>
      <vt:lpstr>10.4  环与域</vt:lpstr>
      <vt:lpstr>说明</vt:lpstr>
      <vt:lpstr>环的实例</vt:lpstr>
      <vt:lpstr>环的运算性质</vt:lpstr>
      <vt:lpstr>证明</vt:lpstr>
      <vt:lpstr>证明</vt:lpstr>
      <vt:lpstr>实例</vt:lpstr>
      <vt:lpstr>特殊的环</vt:lpstr>
      <vt:lpstr>域的定义（补充）</vt:lpstr>
      <vt:lpstr>实例</vt:lpstr>
      <vt:lpstr>实例</vt:lpstr>
      <vt:lpstr>定理（补充）</vt:lpstr>
      <vt:lpstr>实例</vt:lpstr>
      <vt:lpstr>实例（续）</vt:lpstr>
      <vt:lpstr>解域方程</vt:lpstr>
      <vt:lpstr>10.4环与域（回顾）</vt:lpstr>
      <vt:lpstr>第十章  群与环（回顾）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Youyou</cp:lastModifiedBy>
  <cp:revision>690</cp:revision>
  <dcterms:created xsi:type="dcterms:W3CDTF">2007-11-19T20:33:00Z</dcterms:created>
  <dcterms:modified xsi:type="dcterms:W3CDTF">2025-11-27T01:20:20Z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2E419640F46D41DA80D1A1E7563DC7FE_12</vt:lpwstr>
  </property>
  <property fmtid="{D5CDD505-2E9C-101B-9397-08002B2CF9AE}" pid="3" name="KSOProductBuildVer">
    <vt:lpwstr>2052-12.1.0.23542</vt:lpwstr>
  </property>
</Properties>
</file>